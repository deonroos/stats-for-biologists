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6"/>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342" r:id="rId15"/>
    <p:sldId id="283" r:id="rId16"/>
    <p:sldId id="270" r:id="rId17"/>
    <p:sldId id="328" r:id="rId18"/>
    <p:sldId id="306" r:id="rId19"/>
    <p:sldId id="324" r:id="rId20"/>
    <p:sldId id="287" r:id="rId21"/>
    <p:sldId id="326" r:id="rId22"/>
    <p:sldId id="305" r:id="rId23"/>
    <p:sldId id="257" r:id="rId24"/>
    <p:sldId id="325"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337" autoAdjust="0"/>
  </p:normalViewPr>
  <p:slideViewPr>
    <p:cSldViewPr snapToGrid="0">
      <p:cViewPr varScale="1">
        <p:scale>
          <a:sx n="109" d="100"/>
          <a:sy n="109" d="100"/>
        </p:scale>
        <p:origin x="13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04/07/2024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04/07/2024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04/07/2024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04/07/2024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0.png"/><Relationship Id="rId4" Type="http://schemas.openxmlformats.org/officeDocument/2006/relationships/image" Target="../media/image2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Often some form of:</a:t>
                </a:r>
              </a:p>
              <a:p>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tall tower&#10;&#10;Description automatically generated with medium confidence">
            <a:extLst>
              <a:ext uri="{FF2B5EF4-FFF2-40B4-BE49-F238E27FC236}">
                <a16:creationId xmlns:a16="http://schemas.microsoft.com/office/drawing/2014/main" id="{1BB32E3C-2F26-70EF-B981-D365E2D606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if we were going to randomly generate new values</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r>
                      <a:rPr lang="en-GB" b="0" i="1" smtClean="0">
                        <a:solidFill>
                          <a:srgbClr val="FFFF00"/>
                        </a:solidFill>
                        <a:latin typeface="Cambria Math" panose="02040503050406030204" pitchFamily="18" charset="0"/>
                      </a:rPr>
                      <m:t>𝜇</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r>
                      <a:rPr lang="en-GB" b="0" i="1" smtClean="0">
                        <a:solidFill>
                          <a:srgbClr val="FFFF00"/>
                        </a:solidFill>
                        <a:latin typeface="Cambria Math" panose="02040503050406030204" pitchFamily="18" charset="0"/>
                      </a:rPr>
                      <m:t>𝐴𝑣𝑒𝑟𝑎𝑔𝑒</m:t>
                    </m:r>
                    <m:r>
                      <a:rPr lang="en-GB" b="0" i="1" smtClean="0">
                        <a:solidFill>
                          <a:srgbClr val="FFFF00"/>
                        </a:solidFill>
                        <a:latin typeface="Cambria Math" panose="02040503050406030204" pitchFamily="18" charset="0"/>
                      </a:rPr>
                      <m:t> </m:t>
                    </m:r>
                    <m:r>
                      <a:rPr lang="en-GB" b="0" i="1" smtClean="0">
                        <a:solidFill>
                          <a:srgbClr val="FFFF00"/>
                        </a:solidFill>
                        <a:latin typeface="Cambria Math" panose="02040503050406030204" pitchFamily="18" charset="0"/>
                      </a:rPr>
                      <m:t>h𝑒𝑖𝑔h</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𝑡</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4"/>
                <a:stretch>
                  <a:fillRect l="-1770"/>
                </a:stretch>
              </a:blipFill>
            </p:spPr>
            <p:txBody>
              <a:bodyPr/>
              <a:lstStyle/>
              <a:p>
                <a:r>
                  <a:rPr lang="en-GB">
                    <a:noFill/>
                  </a:rPr>
                  <a:t> </a:t>
                </a:r>
              </a:p>
            </p:txBody>
          </p:sp>
        </mc:Fallback>
      </mc:AlternateContent>
      <p:cxnSp>
        <p:nvCxnSpPr>
          <p:cNvPr id="11" name="Straight Connector 10">
            <a:extLst>
              <a:ext uri="{FF2B5EF4-FFF2-40B4-BE49-F238E27FC236}">
                <a16:creationId xmlns:a16="http://schemas.microsoft.com/office/drawing/2014/main" id="{D4B4B051-C113-D5A8-8B35-283874A073BB}"/>
              </a:ext>
            </a:extLst>
          </p:cNvPr>
          <p:cNvCxnSpPr/>
          <p:nvPr/>
        </p:nvCxnSpPr>
        <p:spPr>
          <a:xfrm>
            <a:off x="7670800" y="292100"/>
            <a:ext cx="673100"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898911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par>
                                <p:cTn id="42" presetID="10" presetClass="exit" presetSubtype="0" fill="hold" nodeType="withEffect">
                                  <p:stCondLst>
                                    <p:cond delay="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fontScale="85000" lnSpcReduction="20000"/>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dirty="0"/>
                  <a:t>Where:</a:t>
                </a:r>
              </a:p>
              <a:p>
                <a14:m>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oMath>
                </a14:m>
                <a:r>
                  <a:rPr lang="en-GB" dirty="0"/>
                  <a:t> is the height of child </a:t>
                </a:r>
                <a14:m>
                  <m:oMath xmlns:m="http://schemas.openxmlformats.org/officeDocument/2006/math">
                    <m:r>
                      <a:rPr lang="en-GB" b="0" i="1" smtClean="0">
                        <a:latin typeface="Cambria Math" panose="02040503050406030204" pitchFamily="18" charset="0"/>
                      </a:rPr>
                      <m:t>𝑖</m:t>
                    </m:r>
                  </m:oMath>
                </a14:m>
                <a:endParaRPr lang="en-GB" dirty="0"/>
              </a:p>
              <a:p>
                <a:r>
                  <a:rPr lang="en-GB" b="0" dirty="0"/>
                  <a:t>“</a:t>
                </a:r>
                <a14:m>
                  <m:oMath xmlns:m="http://schemas.openxmlformats.org/officeDocument/2006/math">
                    <m:r>
                      <a:rPr lang="en-GB" b="0" i="1" smtClean="0">
                        <a:latin typeface="Cambria Math" panose="02040503050406030204" pitchFamily="18" charset="0"/>
                      </a:rPr>
                      <m:t>~</m:t>
                    </m:r>
                  </m:oMath>
                </a14:m>
                <a:r>
                  <a:rPr lang="en-GB" dirty="0"/>
                  <a:t>” means “generated according to…”</a:t>
                </a:r>
              </a:p>
              <a:p>
                <a14:m>
                  <m:oMath xmlns:m="http://schemas.openxmlformats.org/officeDocument/2006/math">
                    <m:r>
                      <a:rPr lang="en-GB" b="0" i="1" smtClean="0">
                        <a:latin typeface="Cambria Math" panose="02040503050406030204" pitchFamily="18" charset="0"/>
                      </a:rPr>
                      <m:t>𝑁𝑜𝑟𝑚𝑎𝑙</m:t>
                    </m:r>
                  </m:oMath>
                </a14:m>
                <a:r>
                  <a:rPr lang="en-GB" dirty="0"/>
                  <a:t> is the distribution we assume generated the </a:t>
                </a:r>
                <a14:m>
                  <m:oMath xmlns:m="http://schemas.openxmlformats.org/officeDocument/2006/math">
                    <m:r>
                      <a:rPr lang="en-GB" b="0" i="1" smtClean="0">
                        <a:latin typeface="Cambria Math" panose="02040503050406030204" pitchFamily="18" charset="0"/>
                      </a:rPr>
                      <m:t>𝐻𝑒𝑖𝑔h𝑡</m:t>
                    </m:r>
                  </m:oMath>
                </a14:m>
                <a:r>
                  <a:rPr lang="en-GB" dirty="0"/>
                  <a:t> values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oMath>
                </a14:m>
                <a:r>
                  <a:rPr lang="en-GB" dirty="0"/>
                  <a:t> is the average </a:t>
                </a:r>
                <a14:m>
                  <m:oMath xmlns:m="http://schemas.openxmlformats.org/officeDocument/2006/math">
                    <m:r>
                      <a:rPr lang="en-GB" b="0" i="1" smtClean="0">
                        <a:latin typeface="Cambria Math" panose="02040503050406030204" pitchFamily="18" charset="0"/>
                      </a:rPr>
                      <m:t>𝐻𝑒𝑖𝑔h𝑡</m:t>
                    </m:r>
                  </m:oMath>
                </a14:m>
                <a:r>
                  <a:rPr lang="en-GB" dirty="0"/>
                  <a:t> we would expect for child </a:t>
                </a:r>
                <a14:m>
                  <m:oMath xmlns:m="http://schemas.openxmlformats.org/officeDocument/2006/math">
                    <m:r>
                      <a:rPr lang="en-GB" b="0" i="1" smtClean="0">
                        <a:latin typeface="Cambria Math" panose="02040503050406030204" pitchFamily="18" charset="0"/>
                      </a:rPr>
                      <m:t>𝑖</m:t>
                    </m:r>
                  </m:oMath>
                </a14:m>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oMath>
                </a14:m>
                <a:r>
                  <a:rPr lang="en-GB" dirty="0"/>
                  <a:t> is the standard deviation in </a:t>
                </a:r>
                <a14:m>
                  <m:oMath xmlns:m="http://schemas.openxmlformats.org/officeDocument/2006/math">
                    <m:r>
                      <a:rPr lang="en-GB" b="0" i="1" smtClean="0">
                        <a:latin typeface="Cambria Math" panose="02040503050406030204" pitchFamily="18" charset="0"/>
                      </a:rPr>
                      <m:t>𝐻𝑒𝑖𝑔h𝑡</m:t>
                    </m:r>
                  </m:oMath>
                </a14:m>
                <a:r>
                  <a:rPr lang="en-GB" dirty="0"/>
                  <a:t> we expect for child </a:t>
                </a:r>
                <a14:m>
                  <m:oMath xmlns:m="http://schemas.openxmlformats.org/officeDocument/2006/math">
                    <m:r>
                      <a:rPr lang="en-GB" b="0" i="1" smtClean="0">
                        <a:latin typeface="Cambria Math" panose="02040503050406030204" pitchFamily="18" charset="0"/>
                      </a:rPr>
                      <m:t>𝑖</m:t>
                    </m:r>
                  </m:oMath>
                </a14:m>
                <a:endParaRPr lang="en-GB" dirty="0"/>
              </a:p>
              <a:p>
                <a:r>
                  <a:rPr lang="en-GB" dirty="0"/>
                  <a:t>Where the average (</a:t>
                </a:r>
                <a14:m>
                  <m:oMath xmlns:m="http://schemas.openxmlformats.org/officeDocument/2006/math">
                    <m:r>
                      <a:rPr lang="en-GB" b="0" i="1" smtClean="0">
                        <a:latin typeface="Cambria Math" panose="02040503050406030204" pitchFamily="18" charset="0"/>
                      </a:rPr>
                      <m:t>𝜇</m:t>
                    </m:r>
                  </m:oMath>
                </a14:m>
                <a:r>
                  <a:rPr lang="en-GB" dirty="0"/>
                  <a:t>) is:</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oMath>
                </a14:m>
                <a:r>
                  <a:rPr lang="en-GB" dirty="0"/>
                  <a:t> (height at age 0)</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oMath>
                </a14:m>
                <a:r>
                  <a:rPr lang="en-GB" dirty="0"/>
                  <a:t> (how many cm a child grows each year)</a:t>
                </a:r>
              </a:p>
              <a:p>
                <a:endParaRPr lang="en-GB" dirty="0"/>
              </a:p>
            </p:txBody>
          </p:sp>
        </mc:Choice>
        <mc:Fallback>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475" t="-4419" r="-787" b="-40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response variable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334"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marL="514350" indent="-514350">
              <a:buFont typeface="+mj-lt"/>
              <a:buAutoNum type="arabicPeriod" startAt="5"/>
            </a:pPr>
            <a:r>
              <a:rPr lang="en-GB" b="1" dirty="0">
                <a:solidFill>
                  <a:srgbClr val="FFFF00"/>
                </a:solidFill>
                <a:latin typeface="Bahnschrift Light" panose="020B0502040204020203" pitchFamily="34" charset="0"/>
              </a:rPr>
              <a:t>Plus</a:t>
            </a:r>
            <a:r>
              <a:rPr lang="en-GB" dirty="0">
                <a:latin typeface="Bahnschrift Light" panose="020B0502040204020203" pitchFamily="34" charset="0"/>
              </a:rPr>
              <a:t> some assumptions that are specific to certain distributions</a:t>
            </a:r>
          </a:p>
          <a:p>
            <a:endParaRPr lang="en-GB" dirty="0"/>
          </a:p>
        </p:txBody>
      </p:sp>
    </p:spTree>
    <p:extLst>
      <p:ext uri="{BB962C8B-B14F-4D97-AF65-F5344CB8AC3E}">
        <p14:creationId xmlns:p14="http://schemas.microsoft.com/office/powerpoint/2010/main" val="416477337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6">
                                            <p:txEl>
                                              <p:pRg st="10" end="10"/>
                                            </p:txEl>
                                          </p:spTgt>
                                        </p:tgtEl>
                                        <p:attrNameLst>
                                          <p:attrName>style.visibility</p:attrName>
                                        </p:attrNameLst>
                                      </p:cBhvr>
                                      <p:to>
                                        <p:strVal val="visible"/>
                                      </p:to>
                                    </p:set>
                                    <p:animEffect transition="in" filter="fade">
                                      <p:cBhvr>
                                        <p:cTn id="99" dur="500"/>
                                        <p:tgtEl>
                                          <p:spTgt spid="6">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1780</TotalTime>
  <Words>1571</Words>
  <Application>Microsoft Office PowerPoint</Application>
  <PresentationFormat>Widescreen</PresentationFormat>
  <Paragraphs>217</Paragraphs>
  <Slides>24</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The Normal distribution</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5</cp:revision>
  <dcterms:created xsi:type="dcterms:W3CDTF">2024-06-28T13:38:41Z</dcterms:created>
  <dcterms:modified xsi:type="dcterms:W3CDTF">2024-07-04T13:34:32Z</dcterms:modified>
</cp:coreProperties>
</file>