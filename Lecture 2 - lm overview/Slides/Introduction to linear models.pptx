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25"/>
  </p:notesMasterIdLst>
  <p:sldIdLst>
    <p:sldId id="256" r:id="rId2"/>
    <p:sldId id="333" r:id="rId3"/>
    <p:sldId id="334" r:id="rId4"/>
    <p:sldId id="336" r:id="rId5"/>
    <p:sldId id="335" r:id="rId6"/>
    <p:sldId id="288" r:id="rId7"/>
    <p:sldId id="338" r:id="rId8"/>
    <p:sldId id="339" r:id="rId9"/>
    <p:sldId id="340" r:id="rId10"/>
    <p:sldId id="329" r:id="rId11"/>
    <p:sldId id="330" r:id="rId12"/>
    <p:sldId id="331" r:id="rId13"/>
    <p:sldId id="332" r:id="rId14"/>
    <p:sldId id="283" r:id="rId15"/>
    <p:sldId id="270" r:id="rId16"/>
    <p:sldId id="328" r:id="rId17"/>
    <p:sldId id="306" r:id="rId18"/>
    <p:sldId id="324" r:id="rId19"/>
    <p:sldId id="287" r:id="rId20"/>
    <p:sldId id="326" r:id="rId21"/>
    <p:sldId id="305" r:id="rId22"/>
    <p:sldId id="257" r:id="rId23"/>
    <p:sldId id="32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5" d="100"/>
          <a:sy n="85" d="100"/>
        </p:scale>
        <p:origin x="2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5B79C3-63BD-4260-B39C-A21BDBFD3EC2}" type="datetimeFigureOut">
              <a:rPr lang="en-GB" smtClean="0"/>
              <a:t>02/07/2024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3BAC34-CF53-4E66-B782-0A417FCABA64}" type="slidenum">
              <a:rPr lang="en-GB" smtClean="0"/>
              <a:t>‹#›</a:t>
            </a:fld>
            <a:endParaRPr lang="en-GB"/>
          </a:p>
        </p:txBody>
      </p:sp>
    </p:spTree>
    <p:extLst>
      <p:ext uri="{BB962C8B-B14F-4D97-AF65-F5344CB8AC3E}">
        <p14:creationId xmlns:p14="http://schemas.microsoft.com/office/powerpoint/2010/main" val="114059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7414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7565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8911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4218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99b185d4a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99b185d4a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0637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EF085-90BA-6B79-A198-AE27F69DC1AB}"/>
              </a:ext>
            </a:extLst>
          </p:cNvPr>
          <p:cNvSpPr>
            <a:spLocks noGrp="1"/>
          </p:cNvSpPr>
          <p:nvPr>
            <p:ph type="ctrTitle"/>
          </p:nvPr>
        </p:nvSpPr>
        <p:spPr>
          <a:xfrm>
            <a:off x="174567" y="565410"/>
            <a:ext cx="6096000" cy="2863589"/>
          </a:xfrm>
        </p:spPr>
        <p:txBody>
          <a:bodyPr anchor="ctr"/>
          <a:lstStyle>
            <a:lvl1pPr algn="ctr">
              <a:defRPr sz="60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E2960FB6-F389-7EDD-D9DB-A406B89F355E}"/>
              </a:ext>
            </a:extLst>
          </p:cNvPr>
          <p:cNvSpPr>
            <a:spLocks noGrp="1"/>
          </p:cNvSpPr>
          <p:nvPr>
            <p:ph type="subTitle" idx="1"/>
          </p:nvPr>
        </p:nvSpPr>
        <p:spPr>
          <a:xfrm>
            <a:off x="174567" y="3552161"/>
            <a:ext cx="6096000" cy="2607569"/>
          </a:xfrm>
        </p:spPr>
        <p:txBody>
          <a:bodyPr anchor="ct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8" name="Picture Placeholder 7">
            <a:extLst>
              <a:ext uri="{FF2B5EF4-FFF2-40B4-BE49-F238E27FC236}">
                <a16:creationId xmlns:a16="http://schemas.microsoft.com/office/drawing/2014/main" id="{E001CD27-4DF4-05EC-92B4-C7555C3D0189}"/>
              </a:ext>
            </a:extLst>
          </p:cNvPr>
          <p:cNvSpPr>
            <a:spLocks noGrp="1"/>
          </p:cNvSpPr>
          <p:nvPr>
            <p:ph type="pic" sz="quarter" idx="13"/>
          </p:nvPr>
        </p:nvSpPr>
        <p:spPr>
          <a:xfrm>
            <a:off x="6450677" y="0"/>
            <a:ext cx="5741324" cy="6858000"/>
          </a:xfrm>
        </p:spPr>
        <p:txBody>
          <a:bodyPr/>
          <a:lstStyle/>
          <a:p>
            <a:r>
              <a:rPr lang="en-US"/>
              <a:t>Click icon to add picture</a:t>
            </a:r>
            <a:endParaRPr lang="en-GB"/>
          </a:p>
        </p:txBody>
      </p:sp>
      <p:cxnSp>
        <p:nvCxnSpPr>
          <p:cNvPr id="5" name="Straight Connector 4">
            <a:extLst>
              <a:ext uri="{FF2B5EF4-FFF2-40B4-BE49-F238E27FC236}">
                <a16:creationId xmlns:a16="http://schemas.microsoft.com/office/drawing/2014/main" id="{B5E048B3-2145-631D-3138-1DF0AD6D38F2}"/>
              </a:ext>
            </a:extLst>
          </p:cNvPr>
          <p:cNvCxnSpPr/>
          <p:nvPr/>
        </p:nvCxnSpPr>
        <p:spPr>
          <a:xfrm>
            <a:off x="1313411" y="3491345"/>
            <a:ext cx="375735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6094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30639-2CA7-2272-840E-F8F595ABC7E3}"/>
              </a:ext>
            </a:extLst>
          </p:cNvPr>
          <p:cNvSpPr>
            <a:spLocks noGrp="1"/>
          </p:cNvSpPr>
          <p:nvPr>
            <p:ph type="title"/>
          </p:nvPr>
        </p:nvSpPr>
        <p:spPr>
          <a:xfrm>
            <a:off x="0" y="0"/>
            <a:ext cx="6201295" cy="1325563"/>
          </a:xfrm>
        </p:spPr>
        <p:txBody>
          <a:bodyPr/>
          <a:lstStyle>
            <a:lvl1pPr algn="ctr">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3D59DF2-E981-9079-7762-2C88651F5B6B}"/>
              </a:ext>
            </a:extLst>
          </p:cNvPr>
          <p:cNvSpPr>
            <a:spLocks noGrp="1"/>
          </p:cNvSpPr>
          <p:nvPr>
            <p:ph idx="1"/>
          </p:nvPr>
        </p:nvSpPr>
        <p:spPr>
          <a:xfrm>
            <a:off x="0" y="1426613"/>
            <a:ext cx="6201295" cy="524019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Picture Placeholder 7">
            <a:extLst>
              <a:ext uri="{FF2B5EF4-FFF2-40B4-BE49-F238E27FC236}">
                <a16:creationId xmlns:a16="http://schemas.microsoft.com/office/drawing/2014/main" id="{BEC5A3C4-A2EA-7545-B99B-E8F489810FE2}"/>
              </a:ext>
            </a:extLst>
          </p:cNvPr>
          <p:cNvSpPr>
            <a:spLocks noGrp="1"/>
          </p:cNvSpPr>
          <p:nvPr>
            <p:ph type="pic" sz="quarter" idx="10"/>
          </p:nvPr>
        </p:nvSpPr>
        <p:spPr>
          <a:xfrm>
            <a:off x="6359525" y="0"/>
            <a:ext cx="5832475" cy="6858000"/>
          </a:xfrm>
        </p:spPr>
        <p:txBody>
          <a:bodyPr/>
          <a:lstStyle/>
          <a:p>
            <a:r>
              <a:rPr lang="en-US"/>
              <a:t>Click icon to add picture</a:t>
            </a:r>
            <a:endParaRPr lang="en-GB"/>
          </a:p>
        </p:txBody>
      </p:sp>
    </p:spTree>
    <p:extLst>
      <p:ext uri="{BB962C8B-B14F-4D97-AF65-F5344CB8AC3E}">
        <p14:creationId xmlns:p14="http://schemas.microsoft.com/office/powerpoint/2010/main" val="3511473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0B9374-2DD6-FA11-BF6F-AE419E0A6BB0}"/>
              </a:ext>
            </a:extLst>
          </p:cNvPr>
          <p:cNvSpPr>
            <a:spLocks noGrp="1"/>
          </p:cNvSpPr>
          <p:nvPr>
            <p:ph sz="half" idx="1"/>
          </p:nvPr>
        </p:nvSpPr>
        <p:spPr>
          <a:xfrm>
            <a:off x="0" y="1426614"/>
            <a:ext cx="5893724" cy="51622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17FA4DDC-5EE8-4D0D-208A-D5A4CC40A54B}"/>
              </a:ext>
            </a:extLst>
          </p:cNvPr>
          <p:cNvSpPr>
            <a:spLocks noGrp="1"/>
          </p:cNvSpPr>
          <p:nvPr>
            <p:ph sz="half" idx="2"/>
          </p:nvPr>
        </p:nvSpPr>
        <p:spPr>
          <a:xfrm>
            <a:off x="6201295" y="0"/>
            <a:ext cx="5990705" cy="5162204"/>
          </a:xfrm>
        </p:spPr>
        <p:txBody>
          <a:bodyPr anchor="ct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itle 1">
            <a:extLst>
              <a:ext uri="{FF2B5EF4-FFF2-40B4-BE49-F238E27FC236}">
                <a16:creationId xmlns:a16="http://schemas.microsoft.com/office/drawing/2014/main" id="{896FFCEF-D528-27F4-CF96-A8F674BCA083}"/>
              </a:ext>
            </a:extLst>
          </p:cNvPr>
          <p:cNvSpPr txBox="1">
            <a:spLocks/>
          </p:cNvSpPr>
          <p:nvPr/>
        </p:nvSpPr>
        <p:spPr>
          <a:xfrm>
            <a:off x="0" y="0"/>
            <a:ext cx="620129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Click to edit Master title style</a:t>
            </a:r>
            <a:endParaRPr lang="en-GB" dirty="0"/>
          </a:p>
        </p:txBody>
      </p:sp>
      <p:sp>
        <p:nvSpPr>
          <p:cNvPr id="12" name="Text Placeholder 11">
            <a:extLst>
              <a:ext uri="{FF2B5EF4-FFF2-40B4-BE49-F238E27FC236}">
                <a16:creationId xmlns:a16="http://schemas.microsoft.com/office/drawing/2014/main" id="{4E6B47C7-8888-2E6B-0D7C-CF46BFD9A309}"/>
              </a:ext>
            </a:extLst>
          </p:cNvPr>
          <p:cNvSpPr>
            <a:spLocks noGrp="1"/>
          </p:cNvSpPr>
          <p:nvPr>
            <p:ph type="body" sz="quarter" idx="10"/>
          </p:nvPr>
        </p:nvSpPr>
        <p:spPr>
          <a:xfrm>
            <a:off x="6201295" y="5162204"/>
            <a:ext cx="5990705" cy="16957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063066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FACB-206F-5777-5BAD-5BF8E966915A}"/>
              </a:ext>
            </a:extLst>
          </p:cNvPr>
          <p:cNvSpPr>
            <a:spLocks noGrp="1"/>
          </p:cNvSpPr>
          <p:nvPr>
            <p:ph type="title"/>
          </p:nvPr>
        </p:nvSpPr>
        <p:spPr>
          <a:xfrm>
            <a:off x="0" y="5104015"/>
            <a:ext cx="10515600" cy="1753985"/>
          </a:xfrm>
        </p:spPr>
        <p:txBody>
          <a:bodyPr anchor="b"/>
          <a:lstStyle>
            <a:lvl1pPr>
              <a:defRPr sz="6000"/>
            </a:lvl1pPr>
          </a:lstStyle>
          <a:p>
            <a:r>
              <a:rPr lang="en-US"/>
              <a:t>Click to edit Master title style</a:t>
            </a:r>
            <a:endParaRPr lang="en-GB" dirty="0"/>
          </a:p>
        </p:txBody>
      </p:sp>
    </p:spTree>
    <p:extLst>
      <p:ext uri="{BB962C8B-B14F-4D97-AF65-F5344CB8AC3E}">
        <p14:creationId xmlns:p14="http://schemas.microsoft.com/office/powerpoint/2010/main" val="3101453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958E7-8733-1588-CE76-0710036CC17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043C91-73BF-C49E-46BA-834638FC0B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FDC1F7-08BE-633D-0E8D-18F30CEE5A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24D961F-706F-451E-ABF3-F672C1F454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36AEAE-47C4-6C9C-5B4C-F6E31977E8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D72731F-9715-FADD-FEBD-65D90CABA4D5}"/>
              </a:ext>
            </a:extLst>
          </p:cNvPr>
          <p:cNvSpPr>
            <a:spLocks noGrp="1"/>
          </p:cNvSpPr>
          <p:nvPr>
            <p:ph type="dt" sz="half" idx="10"/>
          </p:nvPr>
        </p:nvSpPr>
        <p:spPr/>
        <p:txBody>
          <a:bodyPr/>
          <a:lstStyle/>
          <a:p>
            <a:fld id="{D5AA5DBE-9C56-419A-B106-42B06CF5E6CF}" type="datetimeFigureOut">
              <a:rPr lang="en-GB" smtClean="0"/>
              <a:t>02/07/2024</a:t>
            </a:fld>
            <a:endParaRPr lang="en-GB"/>
          </a:p>
        </p:txBody>
      </p:sp>
      <p:sp>
        <p:nvSpPr>
          <p:cNvPr id="8" name="Footer Placeholder 7">
            <a:extLst>
              <a:ext uri="{FF2B5EF4-FFF2-40B4-BE49-F238E27FC236}">
                <a16:creationId xmlns:a16="http://schemas.microsoft.com/office/drawing/2014/main" id="{45E7A07B-AF32-2EA1-F513-0D1F38BAB0D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EB01B04-63C5-991E-FD0F-2ED9257DC0D7}"/>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159588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3767-1669-64A9-2C16-1A1F6165D8E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A1F01AD-E823-7B4D-D421-EF7BE290C00F}"/>
              </a:ext>
            </a:extLst>
          </p:cNvPr>
          <p:cNvSpPr>
            <a:spLocks noGrp="1"/>
          </p:cNvSpPr>
          <p:nvPr>
            <p:ph type="dt" sz="half" idx="10"/>
          </p:nvPr>
        </p:nvSpPr>
        <p:spPr/>
        <p:txBody>
          <a:bodyPr/>
          <a:lstStyle/>
          <a:p>
            <a:fld id="{D5AA5DBE-9C56-419A-B106-42B06CF5E6CF}" type="datetimeFigureOut">
              <a:rPr lang="en-GB" smtClean="0"/>
              <a:t>02/07/2024</a:t>
            </a:fld>
            <a:endParaRPr lang="en-GB"/>
          </a:p>
        </p:txBody>
      </p:sp>
      <p:sp>
        <p:nvSpPr>
          <p:cNvPr id="4" name="Footer Placeholder 3">
            <a:extLst>
              <a:ext uri="{FF2B5EF4-FFF2-40B4-BE49-F238E27FC236}">
                <a16:creationId xmlns:a16="http://schemas.microsoft.com/office/drawing/2014/main" id="{9313AC7F-2C26-3190-A705-5FC5DD18BF4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6DF203F-F57C-7145-B743-4A084B3A5F25}"/>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546038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E02D19-147D-AD60-6ACC-2F7283CEE9CB}"/>
              </a:ext>
            </a:extLst>
          </p:cNvPr>
          <p:cNvSpPr>
            <a:spLocks noGrp="1"/>
          </p:cNvSpPr>
          <p:nvPr>
            <p:ph type="dt" sz="half" idx="10"/>
          </p:nvPr>
        </p:nvSpPr>
        <p:spPr/>
        <p:txBody>
          <a:bodyPr/>
          <a:lstStyle/>
          <a:p>
            <a:fld id="{D5AA5DBE-9C56-419A-B106-42B06CF5E6CF}" type="datetimeFigureOut">
              <a:rPr lang="en-GB" smtClean="0"/>
              <a:t>02/07/2024</a:t>
            </a:fld>
            <a:endParaRPr lang="en-GB"/>
          </a:p>
        </p:txBody>
      </p:sp>
      <p:sp>
        <p:nvSpPr>
          <p:cNvPr id="3" name="Footer Placeholder 2">
            <a:extLst>
              <a:ext uri="{FF2B5EF4-FFF2-40B4-BE49-F238E27FC236}">
                <a16:creationId xmlns:a16="http://schemas.microsoft.com/office/drawing/2014/main" id="{94CF569D-7098-9B6D-B851-1B18E6DB650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518D08F-69F0-C410-CAC9-DF16A0BF9AD9}"/>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3854080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2567-4A48-3F47-EF88-E32A67EDD9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5F90797-1FEC-B310-9CA0-6642F4FE7D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5BDC1EB-E335-7190-8BFD-48E25C309A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154E58-0B6A-491E-7CE0-88114C1411B9}"/>
              </a:ext>
            </a:extLst>
          </p:cNvPr>
          <p:cNvSpPr>
            <a:spLocks noGrp="1"/>
          </p:cNvSpPr>
          <p:nvPr>
            <p:ph type="dt" sz="half" idx="10"/>
          </p:nvPr>
        </p:nvSpPr>
        <p:spPr/>
        <p:txBody>
          <a:bodyPr/>
          <a:lstStyle/>
          <a:p>
            <a:fld id="{D5AA5DBE-9C56-419A-B106-42B06CF5E6CF}" type="datetimeFigureOut">
              <a:rPr lang="en-GB" smtClean="0"/>
              <a:t>02/07/2024</a:t>
            </a:fld>
            <a:endParaRPr lang="en-GB"/>
          </a:p>
        </p:txBody>
      </p:sp>
      <p:sp>
        <p:nvSpPr>
          <p:cNvPr id="6" name="Footer Placeholder 5">
            <a:extLst>
              <a:ext uri="{FF2B5EF4-FFF2-40B4-BE49-F238E27FC236}">
                <a16:creationId xmlns:a16="http://schemas.microsoft.com/office/drawing/2014/main" id="{E8198572-7396-BEBC-0D56-24BE2A95E1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2279F2-BB85-6763-45F1-D73C041BD23E}"/>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481869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83E09-8249-AC15-7FC0-A0BAD598E2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DC329DF-266D-F8F8-A195-53A7576BBF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C1CFA6F2-3F6B-26F9-74E6-E4E35007E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14BCDB-42E3-AB80-31A3-907D1B597590}"/>
              </a:ext>
            </a:extLst>
          </p:cNvPr>
          <p:cNvSpPr>
            <a:spLocks noGrp="1"/>
          </p:cNvSpPr>
          <p:nvPr>
            <p:ph type="dt" sz="half" idx="10"/>
          </p:nvPr>
        </p:nvSpPr>
        <p:spPr/>
        <p:txBody>
          <a:bodyPr/>
          <a:lstStyle/>
          <a:p>
            <a:fld id="{D5AA5DBE-9C56-419A-B106-42B06CF5E6CF}" type="datetimeFigureOut">
              <a:rPr lang="en-GB" smtClean="0"/>
              <a:t>02/07/2024</a:t>
            </a:fld>
            <a:endParaRPr lang="en-GB"/>
          </a:p>
        </p:txBody>
      </p:sp>
      <p:sp>
        <p:nvSpPr>
          <p:cNvPr id="6" name="Footer Placeholder 5">
            <a:extLst>
              <a:ext uri="{FF2B5EF4-FFF2-40B4-BE49-F238E27FC236}">
                <a16:creationId xmlns:a16="http://schemas.microsoft.com/office/drawing/2014/main" id="{196EC699-83D3-6581-966B-8882D2158B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7550ABE-17BA-CEDA-390B-2BA6E004B278}"/>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430921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1BF0F-4D20-22A7-227D-78B4DDCA7B7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6010818-F611-B1A2-8A19-C3130A329F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8543987-925F-B621-E68B-A3BED9350544}"/>
              </a:ext>
            </a:extLst>
          </p:cNvPr>
          <p:cNvSpPr>
            <a:spLocks noGrp="1"/>
          </p:cNvSpPr>
          <p:nvPr>
            <p:ph type="dt" sz="half" idx="10"/>
          </p:nvPr>
        </p:nvSpPr>
        <p:spPr/>
        <p:txBody>
          <a:bodyPr/>
          <a:lstStyle/>
          <a:p>
            <a:fld id="{D5AA5DBE-9C56-419A-B106-42B06CF5E6CF}" type="datetimeFigureOut">
              <a:rPr lang="en-GB" smtClean="0"/>
              <a:t>02/07/2024</a:t>
            </a:fld>
            <a:endParaRPr lang="en-GB"/>
          </a:p>
        </p:txBody>
      </p:sp>
      <p:sp>
        <p:nvSpPr>
          <p:cNvPr id="5" name="Footer Placeholder 4">
            <a:extLst>
              <a:ext uri="{FF2B5EF4-FFF2-40B4-BE49-F238E27FC236}">
                <a16:creationId xmlns:a16="http://schemas.microsoft.com/office/drawing/2014/main" id="{3D52031D-ADF7-744B-5905-8C84ADA49B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7D02BB-73AF-8339-0B3A-B736F5E386A3}"/>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626328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A4840D-0D28-B8EB-88E1-65CDAE3316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43A8637-D9F6-1719-1804-4B3705C901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A50F13-C53E-CA05-E313-C1579E84EBA3}"/>
              </a:ext>
            </a:extLst>
          </p:cNvPr>
          <p:cNvSpPr>
            <a:spLocks noGrp="1"/>
          </p:cNvSpPr>
          <p:nvPr>
            <p:ph type="dt" sz="half" idx="10"/>
          </p:nvPr>
        </p:nvSpPr>
        <p:spPr/>
        <p:txBody>
          <a:bodyPr/>
          <a:lstStyle/>
          <a:p>
            <a:fld id="{D5AA5DBE-9C56-419A-B106-42B06CF5E6CF}" type="datetimeFigureOut">
              <a:rPr lang="en-GB" smtClean="0"/>
              <a:t>02/07/2024</a:t>
            </a:fld>
            <a:endParaRPr lang="en-GB"/>
          </a:p>
        </p:txBody>
      </p:sp>
      <p:sp>
        <p:nvSpPr>
          <p:cNvPr id="5" name="Footer Placeholder 4">
            <a:extLst>
              <a:ext uri="{FF2B5EF4-FFF2-40B4-BE49-F238E27FC236}">
                <a16:creationId xmlns:a16="http://schemas.microsoft.com/office/drawing/2014/main" id="{E5909B7E-626E-8018-4CBE-414FB0F1D8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20D0C27-06BF-1AD4-3587-FD26F1D7BA4A}"/>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1390951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03A581-97F1-435E-8E5A-5972AAEF871B}" type="datetimeFigureOut">
              <a:rPr lang="en-GB" smtClean="0"/>
              <a:t>02/07/2024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D2B2F5-627E-4743-AC48-679479976A1B}" type="slidenum">
              <a:rPr lang="en-GB" smtClean="0"/>
              <a:t>‹#›</a:t>
            </a:fld>
            <a:endParaRPr lang="en-GB"/>
          </a:p>
        </p:txBody>
      </p:sp>
    </p:spTree>
    <p:extLst>
      <p:ext uri="{BB962C8B-B14F-4D97-AF65-F5344CB8AC3E}">
        <p14:creationId xmlns:p14="http://schemas.microsoft.com/office/powerpoint/2010/main" val="2370924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1C78-9441-7FAC-0D26-EAF1B21DA8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9855972-6453-1350-4E7A-11D6C7BA87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31D2E60-C581-170F-14E4-C05E19E224D9}"/>
              </a:ext>
            </a:extLst>
          </p:cNvPr>
          <p:cNvSpPr>
            <a:spLocks noGrp="1"/>
          </p:cNvSpPr>
          <p:nvPr>
            <p:ph type="dt" sz="half" idx="10"/>
          </p:nvPr>
        </p:nvSpPr>
        <p:spPr/>
        <p:txBody>
          <a:bodyPr/>
          <a:lstStyle/>
          <a:p>
            <a:fld id="{D5AA5DBE-9C56-419A-B106-42B06CF5E6CF}" type="datetimeFigureOut">
              <a:rPr lang="en-GB" smtClean="0"/>
              <a:t>02/07/2024</a:t>
            </a:fld>
            <a:endParaRPr lang="en-GB"/>
          </a:p>
        </p:txBody>
      </p:sp>
      <p:sp>
        <p:nvSpPr>
          <p:cNvPr id="5" name="Footer Placeholder 4">
            <a:extLst>
              <a:ext uri="{FF2B5EF4-FFF2-40B4-BE49-F238E27FC236}">
                <a16:creationId xmlns:a16="http://schemas.microsoft.com/office/drawing/2014/main" id="{F7BFEF6C-F504-7187-A644-EB22FC4976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693D89-C005-30A7-71D3-615AE97C4343}"/>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3513184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81803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246E56-8908-0E6A-4E62-88CF6D3590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D1896B-C040-3D2C-A619-0B877E3383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0B1AC1E-960F-82DB-0E5A-2F328EAC2C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AA5DBE-9C56-419A-B106-42B06CF5E6CF}" type="datetimeFigureOut">
              <a:rPr lang="en-GB" smtClean="0"/>
              <a:t>02/07/2024</a:t>
            </a:fld>
            <a:endParaRPr lang="en-GB"/>
          </a:p>
        </p:txBody>
      </p:sp>
      <p:sp>
        <p:nvSpPr>
          <p:cNvPr id="5" name="Footer Placeholder 4">
            <a:extLst>
              <a:ext uri="{FF2B5EF4-FFF2-40B4-BE49-F238E27FC236}">
                <a16:creationId xmlns:a16="http://schemas.microsoft.com/office/drawing/2014/main" id="{2CCFF5B2-21B1-9528-920D-DD4BF8C0BD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CD16DDC-4E03-310B-1091-75EB5EDC36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072C08-6C83-4620-A4F2-7F5A9B51037D}" type="slidenum">
              <a:rPr lang="en-GB" smtClean="0"/>
              <a:t>‹#›</a:t>
            </a:fld>
            <a:endParaRPr lang="en-GB"/>
          </a:p>
        </p:txBody>
      </p:sp>
    </p:spTree>
    <p:extLst>
      <p:ext uri="{BB962C8B-B14F-4D97-AF65-F5344CB8AC3E}">
        <p14:creationId xmlns:p14="http://schemas.microsoft.com/office/powerpoint/2010/main" val="3826861216"/>
      </p:ext>
    </p:extLst>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30.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220.png"/><Relationship Id="rId5" Type="http://schemas.openxmlformats.org/officeDocument/2006/relationships/image" Target="../media/image210.png"/><Relationship Id="rId4" Type="http://schemas.openxmlformats.org/officeDocument/2006/relationships/image" Target="../media/image20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50F4C-DD8F-9CED-692A-76E780A05B55}"/>
              </a:ext>
            </a:extLst>
          </p:cNvPr>
          <p:cNvSpPr>
            <a:spLocks noGrp="1"/>
          </p:cNvSpPr>
          <p:nvPr>
            <p:ph type="ctrTitle"/>
          </p:nvPr>
        </p:nvSpPr>
        <p:spPr/>
        <p:txBody>
          <a:bodyPr/>
          <a:lstStyle/>
          <a:p>
            <a:r>
              <a:rPr lang="en-GB" dirty="0"/>
              <a:t>Introduction to linear models</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CBC810B5-A6DA-0BFD-FE9D-E376DD9EAA40}"/>
                  </a:ext>
                </a:extLst>
              </p:cNvPr>
              <p:cNvSpPr>
                <a:spLocks noGrp="1"/>
              </p:cNvSpPr>
              <p:nvPr>
                <p:ph type="subTitle" idx="1"/>
              </p:nvPr>
            </p:nvSpPr>
            <p:spPr/>
            <p:txBody>
              <a:bodyPr/>
              <a:lstStyle/>
              <a:p>
                <a:r>
                  <a:rPr lang="en-GB" dirty="0"/>
                  <a:t>Of course I’m </a:t>
                </a:r>
                <a14:m>
                  <m:oMath xmlns:m="http://schemas.openxmlformats.org/officeDocument/2006/math">
                    <m:r>
                      <a:rPr lang="en-GB" i="1" dirty="0" smtClean="0">
                        <a:latin typeface="Cambria Math" panose="02040503050406030204" pitchFamily="18" charset="0"/>
                      </a:rPr>
                      <m:t>𝑁𝑜𝑟𝑚𝑎𝑙</m:t>
                    </m:r>
                  </m:oMath>
                </a14:m>
                <a:endParaRPr lang="en-GB" dirty="0"/>
              </a:p>
            </p:txBody>
          </p:sp>
        </mc:Choice>
        <mc:Fallback xmlns="">
          <p:sp>
            <p:nvSpPr>
              <p:cNvPr id="3" name="Subtitle 2">
                <a:extLst>
                  <a:ext uri="{FF2B5EF4-FFF2-40B4-BE49-F238E27FC236}">
                    <a16:creationId xmlns:a16="http://schemas.microsoft.com/office/drawing/2014/main" id="{CBC810B5-A6DA-0BFD-FE9D-E376DD9EAA40}"/>
                  </a:ext>
                </a:extLst>
              </p:cNvPr>
              <p:cNvSpPr>
                <a:spLocks noGrp="1" noRot="1" noChangeAspect="1" noMove="1" noResize="1" noEditPoints="1" noAdjustHandles="1" noChangeArrowheads="1" noChangeShapeType="1" noTextEdit="1"/>
              </p:cNvSpPr>
              <p:nvPr>
                <p:ph type="subTitle" idx="1"/>
              </p:nvPr>
            </p:nvSpPr>
            <p:spPr>
              <a:blipFill>
                <a:blip r:embed="rId2"/>
                <a:stretch>
                  <a:fillRect t="-5515"/>
                </a:stretch>
              </a:blipFill>
            </p:spPr>
            <p:txBody>
              <a:bodyPr/>
              <a:lstStyle/>
              <a:p>
                <a:r>
                  <a:rPr lang="en-GB">
                    <a:noFill/>
                  </a:rPr>
                  <a:t> </a:t>
                </a:r>
              </a:p>
            </p:txBody>
          </p:sp>
        </mc:Fallback>
      </mc:AlternateContent>
    </p:spTree>
    <p:extLst>
      <p:ext uri="{BB962C8B-B14F-4D97-AF65-F5344CB8AC3E}">
        <p14:creationId xmlns:p14="http://schemas.microsoft.com/office/powerpoint/2010/main" val="3934468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3E61-6D7A-D6E8-1910-13732FD50B3F}"/>
              </a:ext>
            </a:extLst>
          </p:cNvPr>
          <p:cNvSpPr>
            <a:spLocks noGrp="1"/>
          </p:cNvSpPr>
          <p:nvPr>
            <p:ph type="title"/>
          </p:nvPr>
        </p:nvSpPr>
        <p:spPr>
          <a:xfrm>
            <a:off x="0" y="0"/>
            <a:ext cx="12192000" cy="1325563"/>
          </a:xfrm>
        </p:spPr>
        <p:txBody>
          <a:bodyPr>
            <a:normAutofit/>
          </a:bodyPr>
          <a:lstStyle/>
          <a:p>
            <a:r>
              <a:rPr lang="en-GB" dirty="0"/>
              <a:t>Stats: making the simple seem complicated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A962950-2D54-62EB-A8D7-806F8AD3A3E3}"/>
                  </a:ext>
                </a:extLst>
              </p:cNvPr>
              <p:cNvSpPr>
                <a:spLocks noGrp="1"/>
              </p:cNvSpPr>
              <p:nvPr>
                <p:ph idx="1"/>
              </p:nvPr>
            </p:nvSpPr>
            <p:spPr/>
            <p:txBody>
              <a:bodyPr/>
              <a:lstStyle/>
              <a:p>
                <a:r>
                  <a:rPr lang="en-GB" dirty="0"/>
                  <a:t>Statistics is all about finding associations</a:t>
                </a:r>
              </a:p>
              <a:p>
                <a:pPr lvl="1"/>
                <a:r>
                  <a:rPr lang="en-GB" dirty="0"/>
                  <a:t>When temperature increases, what happens to survival?</a:t>
                </a:r>
              </a:p>
              <a:p>
                <a:pPr lvl="1"/>
                <a:r>
                  <a:rPr lang="en-GB" dirty="0"/>
                  <a:t>What is the average number of kittiwakes in Site A and Site B?</a:t>
                </a:r>
              </a:p>
              <a:p>
                <a:r>
                  <a:rPr lang="en-GB" dirty="0"/>
                  <a:t>The maths is pretty simple</a:t>
                </a:r>
              </a:p>
              <a:p>
                <a:pPr lvl="1"/>
                <a:r>
                  <a:rPr lang="en-GB" dirty="0"/>
                  <a:t>Intercepts and slopes</a:t>
                </a:r>
              </a:p>
              <a:p>
                <a:pPr lvl="1"/>
                <a:r>
                  <a:rPr lang="en-GB" dirty="0"/>
                  <a:t>Or multiple averages</a:t>
                </a:r>
              </a:p>
              <a:p>
                <a:r>
                  <a:rPr lang="en-GB" dirty="0"/>
                  <a:t>Often some form of:</a:t>
                </a:r>
              </a:p>
              <a:p>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𝑚𝑥</m:t>
                    </m:r>
                    <m:r>
                      <a:rPr lang="en-GB" b="0" i="1" smtClean="0">
                        <a:latin typeface="Cambria Math" panose="02040503050406030204" pitchFamily="18" charset="0"/>
                      </a:rPr>
                      <m:t>+</m:t>
                    </m:r>
                    <m:r>
                      <a:rPr lang="en-GB" b="0" i="1" smtClean="0">
                        <a:latin typeface="Cambria Math" panose="02040503050406030204" pitchFamily="18" charset="0"/>
                      </a:rPr>
                      <m:t>𝑐</m:t>
                    </m:r>
                  </m:oMath>
                </a14:m>
                <a:endParaRPr lang="en-GB" dirty="0"/>
              </a:p>
            </p:txBody>
          </p:sp>
        </mc:Choice>
        <mc:Fallback>
          <p:sp>
            <p:nvSpPr>
              <p:cNvPr id="3" name="Content Placeholder 2">
                <a:extLst>
                  <a:ext uri="{FF2B5EF4-FFF2-40B4-BE49-F238E27FC236}">
                    <a16:creationId xmlns:a16="http://schemas.microsoft.com/office/drawing/2014/main" id="{8A962950-2D54-62EB-A8D7-806F8AD3A3E3}"/>
                  </a:ext>
                </a:extLst>
              </p:cNvPr>
              <p:cNvSpPr>
                <a:spLocks noGrp="1" noRot="1" noChangeAspect="1" noMove="1" noResize="1" noEditPoints="1" noAdjustHandles="1" noChangeArrowheads="1" noChangeShapeType="1" noTextEdit="1"/>
              </p:cNvSpPr>
              <p:nvPr>
                <p:ph idx="1"/>
              </p:nvPr>
            </p:nvSpPr>
            <p:spPr>
              <a:blipFill>
                <a:blip r:embed="rId2"/>
                <a:stretch>
                  <a:fillRect l="-1770"/>
                </a:stretch>
              </a:blipFill>
            </p:spPr>
            <p:txBody>
              <a:bodyPr/>
              <a:lstStyle/>
              <a:p>
                <a:r>
                  <a:rPr lang="en-GB">
                    <a:noFill/>
                  </a:rPr>
                  <a:t> </a:t>
                </a:r>
              </a:p>
            </p:txBody>
          </p:sp>
        </mc:Fallback>
      </mc:AlternateContent>
      <p:pic>
        <p:nvPicPr>
          <p:cNvPr id="5" name="Google Shape;372;p39">
            <a:extLst>
              <a:ext uri="{FF2B5EF4-FFF2-40B4-BE49-F238E27FC236}">
                <a16:creationId xmlns:a16="http://schemas.microsoft.com/office/drawing/2014/main" id="{DEBF7F62-B3BD-F6EE-3692-6FA3F0189EF0}"/>
              </a:ext>
            </a:extLst>
          </p:cNvPr>
          <p:cNvPicPr preferRelativeResize="0">
            <a:picLocks noGrp="1"/>
          </p:cNvPicPr>
          <p:nvPr>
            <p:ph type="pic" sz="quarter" idx="10"/>
          </p:nvPr>
        </p:nvPicPr>
        <p:blipFill rotWithShape="1">
          <a:blip r:embed="rId3">
            <a:alphaModFix/>
          </a:blip>
          <a:srcRect l="-511" t="-36890" b="-12820"/>
          <a:stretch/>
        </p:blipFill>
        <p:spPr>
          <a:xfrm>
            <a:off x="6201295" y="416688"/>
            <a:ext cx="5832475" cy="6858000"/>
          </a:xfrm>
          <a:prstGeom prst="rect">
            <a:avLst/>
          </a:prstGeom>
          <a:noFill/>
          <a:ln>
            <a:noFill/>
          </a:ln>
        </p:spPr>
      </p:pic>
    </p:spTree>
    <p:extLst>
      <p:ext uri="{BB962C8B-B14F-4D97-AF65-F5344CB8AC3E}">
        <p14:creationId xmlns:p14="http://schemas.microsoft.com/office/powerpoint/2010/main" val="572482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7"/>
          <p:cNvSpPr txBox="1">
            <a:spLocks noGrp="1"/>
          </p:cNvSpPr>
          <p:nvPr>
            <p:ph type="title"/>
          </p:nvPr>
        </p:nvSpPr>
        <p:spPr>
          <a:xfrm>
            <a:off x="0" y="0"/>
            <a:ext cx="12192000" cy="967033"/>
          </a:xfrm>
          <a:prstGeom prst="rect">
            <a:avLst/>
          </a:prstGeom>
        </p:spPr>
        <p:txBody>
          <a:bodyPr spcFirstLastPara="1" vert="horz" wrap="square" lIns="121900" tIns="121900" rIns="121900" bIns="121900" rtlCol="0" anchor="ctr" anchorCtr="0">
            <a:noAutofit/>
          </a:bodyPr>
          <a:lstStyle/>
          <a:p>
            <a:pPr algn="ctr"/>
            <a:r>
              <a:rPr lang="en-GB" dirty="0"/>
              <a:t>Statistics and data</a:t>
            </a:r>
            <a:endParaRPr dirty="0"/>
          </a:p>
        </p:txBody>
      </p:sp>
      <p:cxnSp>
        <p:nvCxnSpPr>
          <p:cNvPr id="406" name="Google Shape;406;p27"/>
          <p:cNvCxnSpPr>
            <a:stCxn id="407" idx="6"/>
            <a:endCxn id="408" idx="2"/>
          </p:cNvCxnSpPr>
          <p:nvPr/>
        </p:nvCxnSpPr>
        <p:spPr>
          <a:xfrm>
            <a:off x="3158551" y="4985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cxnSp>
        <p:nvCxnSpPr>
          <p:cNvPr id="409" name="Google Shape;409;p27"/>
          <p:cNvCxnSpPr>
            <a:stCxn id="407" idx="6"/>
            <a:endCxn id="410" idx="2"/>
          </p:cNvCxnSpPr>
          <p:nvPr/>
        </p:nvCxnSpPr>
        <p:spPr>
          <a:xfrm rot="10800000" flipH="1">
            <a:off x="3158551" y="3737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grpSp>
        <p:nvGrpSpPr>
          <p:cNvPr id="423" name="Google Shape;423;p27"/>
          <p:cNvGrpSpPr/>
          <p:nvPr/>
        </p:nvGrpSpPr>
        <p:grpSpPr>
          <a:xfrm>
            <a:off x="4094852" y="3524229"/>
            <a:ext cx="1968727" cy="425600"/>
            <a:chOff x="2678825" y="1476150"/>
            <a:chExt cx="1476545" cy="319200"/>
          </a:xfrm>
        </p:grpSpPr>
        <p:sp>
          <p:nvSpPr>
            <p:cNvPr id="412" name="Google Shape;412;p27"/>
            <p:cNvSpPr/>
            <p:nvPr/>
          </p:nvSpPr>
          <p:spPr>
            <a:xfrm>
              <a:off x="2852825" y="1476150"/>
              <a:ext cx="1302545"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Observed</a:t>
              </a:r>
              <a:endParaRPr sz="2400" dirty="0">
                <a:latin typeface="Roboto"/>
                <a:ea typeface="Roboto"/>
                <a:cs typeface="Roboto"/>
                <a:sym typeface="Roboto"/>
              </a:endParaRPr>
            </a:p>
          </p:txBody>
        </p:sp>
        <p:sp>
          <p:nvSpPr>
            <p:cNvPr id="410" name="Google Shape;410;p27"/>
            <p:cNvSpPr/>
            <p:nvPr/>
          </p:nvSpPr>
          <p:spPr>
            <a:xfrm>
              <a:off x="2678825" y="1548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4" name="Google Shape;424;p27"/>
          <p:cNvGrpSpPr/>
          <p:nvPr/>
        </p:nvGrpSpPr>
        <p:grpSpPr>
          <a:xfrm>
            <a:off x="1342185" y="4772229"/>
            <a:ext cx="1816367" cy="425600"/>
            <a:chOff x="614325" y="2412150"/>
            <a:chExt cx="1362275" cy="319200"/>
          </a:xfrm>
        </p:grpSpPr>
        <p:sp>
          <p:nvSpPr>
            <p:cNvPr id="425" name="Google Shape;425;p27"/>
            <p:cNvSpPr/>
            <p:nvPr/>
          </p:nvSpPr>
          <p:spPr>
            <a:xfrm>
              <a:off x="614325" y="2412150"/>
              <a:ext cx="1182300" cy="319200"/>
            </a:xfrm>
            <a:prstGeom prst="roundRect">
              <a:avLst>
                <a:gd name="adj" fmla="val 16667"/>
              </a:avLst>
            </a:prstGeom>
            <a:noFill/>
            <a:ln>
              <a:noFill/>
            </a:ln>
          </p:spPr>
          <p:txBody>
            <a:bodyPr spcFirstLastPara="1" wrap="square" lIns="121900" tIns="121900" rIns="121900" bIns="121900" anchor="ctr" anchorCtr="0">
              <a:noAutofit/>
            </a:bodyPr>
            <a:lstStyle/>
            <a:p>
              <a:pPr algn="r"/>
              <a:r>
                <a:rPr lang="en-GB" sz="2400" dirty="0">
                  <a:latin typeface="Roboto"/>
                  <a:ea typeface="Roboto"/>
                  <a:cs typeface="Roboto"/>
                  <a:sym typeface="Roboto"/>
                </a:rPr>
                <a:t>Data</a:t>
              </a:r>
              <a:endParaRPr sz="2400" dirty="0">
                <a:latin typeface="Roboto"/>
                <a:ea typeface="Roboto"/>
                <a:cs typeface="Roboto"/>
                <a:sym typeface="Roboto"/>
              </a:endParaRPr>
            </a:p>
          </p:txBody>
        </p:sp>
        <p:sp>
          <p:nvSpPr>
            <p:cNvPr id="407" name="Google Shape;407;p27"/>
            <p:cNvSpPr/>
            <p:nvPr/>
          </p:nvSpPr>
          <p:spPr>
            <a:xfrm>
              <a:off x="1802600" y="2484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6" name="Google Shape;426;p27"/>
          <p:cNvGrpSpPr/>
          <p:nvPr/>
        </p:nvGrpSpPr>
        <p:grpSpPr>
          <a:xfrm>
            <a:off x="4094850" y="6020229"/>
            <a:ext cx="2223905" cy="425600"/>
            <a:chOff x="2678825" y="3348150"/>
            <a:chExt cx="1667929" cy="319200"/>
          </a:xfrm>
        </p:grpSpPr>
        <p:sp>
          <p:nvSpPr>
            <p:cNvPr id="417" name="Google Shape;417;p27"/>
            <p:cNvSpPr/>
            <p:nvPr/>
          </p:nvSpPr>
          <p:spPr>
            <a:xfrm>
              <a:off x="2852824" y="3348150"/>
              <a:ext cx="1493930"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Unobserved</a:t>
              </a:r>
              <a:endParaRPr sz="2400" dirty="0">
                <a:solidFill>
                  <a:srgbClr val="FFFF00"/>
                </a:solidFill>
                <a:latin typeface="Roboto"/>
                <a:ea typeface="Roboto"/>
                <a:cs typeface="Roboto"/>
                <a:sym typeface="Roboto"/>
              </a:endParaRPr>
            </a:p>
          </p:txBody>
        </p:sp>
        <p:sp>
          <p:nvSpPr>
            <p:cNvPr id="408" name="Google Shape;408;p27"/>
            <p:cNvSpPr/>
            <p:nvPr/>
          </p:nvSpPr>
          <p:spPr>
            <a:xfrm>
              <a:off x="2678825" y="3420750"/>
              <a:ext cx="174000" cy="174000"/>
            </a:xfrm>
            <a:prstGeom prst="ellipse">
              <a:avLst/>
            </a:prstGeom>
            <a:solidFill>
              <a:srgbClr val="FFFF00"/>
            </a:solidFill>
            <a:ln>
              <a:noFill/>
            </a:ln>
          </p:spPr>
          <p:txBody>
            <a:bodyPr spcFirstLastPara="1" wrap="square" lIns="121900" tIns="121900" rIns="121900" bIns="121900" anchor="ctr" anchorCtr="0">
              <a:noAutofit/>
            </a:bodyPr>
            <a:lstStyle/>
            <a:p>
              <a:endParaRPr sz="2267"/>
            </a:p>
          </p:txBody>
        </p:sp>
      </p:grpSp>
      <p:cxnSp>
        <p:nvCxnSpPr>
          <p:cNvPr id="433" name="Google Shape;433;p27"/>
          <p:cNvCxnSpPr>
            <a:cxnSpLocks/>
            <a:endCxn id="434" idx="2"/>
          </p:cNvCxnSpPr>
          <p:nvPr/>
        </p:nvCxnSpPr>
        <p:spPr>
          <a:xfrm flipV="1">
            <a:off x="5856550" y="3164396"/>
            <a:ext cx="781499" cy="6096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435" name="Google Shape;435;p27"/>
          <p:cNvCxnSpPr>
            <a:cxnSpLocks/>
            <a:endCxn id="436" idx="2"/>
          </p:cNvCxnSpPr>
          <p:nvPr/>
        </p:nvCxnSpPr>
        <p:spPr>
          <a:xfrm>
            <a:off x="5856550" y="3773996"/>
            <a:ext cx="781499" cy="587200"/>
          </a:xfrm>
          <a:prstGeom prst="bentConnector3">
            <a:avLst>
              <a:gd name="adj1" fmla="val 50000"/>
            </a:avLst>
          </a:prstGeom>
          <a:noFill/>
          <a:ln w="9525" cap="flat" cmpd="sng">
            <a:solidFill>
              <a:srgbClr val="C2C2C2"/>
            </a:solidFill>
            <a:prstDash val="solid"/>
            <a:round/>
            <a:headEnd type="none" w="sm" len="sm"/>
            <a:tailEnd type="none" w="sm" len="sm"/>
          </a:ln>
        </p:spPr>
      </p:cxnSp>
      <p:grpSp>
        <p:nvGrpSpPr>
          <p:cNvPr id="437" name="Google Shape;437;p27"/>
          <p:cNvGrpSpPr/>
          <p:nvPr/>
        </p:nvGrpSpPr>
        <p:grpSpPr>
          <a:xfrm>
            <a:off x="6638049" y="2951596"/>
            <a:ext cx="2178479" cy="425600"/>
            <a:chOff x="6563750" y="561750"/>
            <a:chExt cx="1633860" cy="319200"/>
          </a:xfrm>
        </p:grpSpPr>
        <p:sp>
          <p:nvSpPr>
            <p:cNvPr id="438" name="Google Shape;438;p27"/>
            <p:cNvSpPr/>
            <p:nvPr/>
          </p:nvSpPr>
          <p:spPr>
            <a:xfrm>
              <a:off x="6737749" y="561750"/>
              <a:ext cx="1459861"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Continuous </a:t>
              </a:r>
              <a:r>
                <a:rPr lang="en-GB" dirty="0">
                  <a:latin typeface="Roboto"/>
                  <a:ea typeface="Roboto"/>
                  <a:cs typeface="Roboto"/>
                  <a:sym typeface="Roboto"/>
                </a:rPr>
                <a:t>(e.g. height)</a:t>
              </a:r>
              <a:endParaRPr sz="2400" dirty="0">
                <a:latin typeface="Roboto"/>
                <a:ea typeface="Roboto"/>
                <a:cs typeface="Roboto"/>
                <a:sym typeface="Roboto"/>
              </a:endParaRPr>
            </a:p>
          </p:txBody>
        </p:sp>
        <p:sp>
          <p:nvSpPr>
            <p:cNvPr id="434" name="Google Shape;434;p27"/>
            <p:cNvSpPr/>
            <p:nvPr/>
          </p:nvSpPr>
          <p:spPr>
            <a:xfrm>
              <a:off x="6563750" y="6343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grpSp>
        <p:nvGrpSpPr>
          <p:cNvPr id="439" name="Google Shape;439;p27"/>
          <p:cNvGrpSpPr/>
          <p:nvPr/>
        </p:nvGrpSpPr>
        <p:grpSpPr>
          <a:xfrm>
            <a:off x="6638049" y="4170796"/>
            <a:ext cx="2285687" cy="425600"/>
            <a:chOff x="6563750" y="1476150"/>
            <a:chExt cx="1356300" cy="319200"/>
          </a:xfrm>
        </p:grpSpPr>
        <p:sp>
          <p:nvSpPr>
            <p:cNvPr id="440" name="Google Shape;440;p27"/>
            <p:cNvSpPr/>
            <p:nvPr/>
          </p:nvSpPr>
          <p:spPr>
            <a:xfrm>
              <a:off x="6701416" y="1476150"/>
              <a:ext cx="1218634"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Grouped</a:t>
              </a:r>
            </a:p>
            <a:p>
              <a:r>
                <a:rPr lang="en-GB" dirty="0">
                  <a:latin typeface="Roboto"/>
                  <a:ea typeface="Roboto"/>
                  <a:cs typeface="Roboto"/>
                  <a:sym typeface="Roboto"/>
                </a:rPr>
                <a:t>(e.g. eye colour)</a:t>
              </a:r>
              <a:endParaRPr dirty="0">
                <a:latin typeface="Roboto"/>
                <a:ea typeface="Roboto"/>
                <a:cs typeface="Roboto"/>
                <a:sym typeface="Roboto"/>
              </a:endParaRPr>
            </a:p>
          </p:txBody>
        </p:sp>
        <p:sp>
          <p:nvSpPr>
            <p:cNvPr id="436" name="Google Shape;436;p27"/>
            <p:cNvSpPr/>
            <p:nvPr/>
          </p:nvSpPr>
          <p:spPr>
            <a:xfrm>
              <a:off x="6563750" y="1534050"/>
              <a:ext cx="137666" cy="1698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cxnSp>
        <p:nvCxnSpPr>
          <p:cNvPr id="441" name="Google Shape;441;p27"/>
          <p:cNvCxnSpPr>
            <a:cxnSpLocks/>
            <a:endCxn id="442" idx="2"/>
          </p:cNvCxnSpPr>
          <p:nvPr/>
        </p:nvCxnSpPr>
        <p:spPr>
          <a:xfrm>
            <a:off x="6253185" y="6233029"/>
            <a:ext cx="781600" cy="800"/>
          </a:xfrm>
          <a:prstGeom prst="bentConnector3">
            <a:avLst>
              <a:gd name="adj1" fmla="val 49994"/>
            </a:avLst>
          </a:prstGeom>
          <a:noFill/>
          <a:ln w="9525" cap="flat" cmpd="sng">
            <a:solidFill>
              <a:srgbClr val="C2C2C2"/>
            </a:solidFill>
            <a:prstDash val="solid"/>
            <a:round/>
            <a:headEnd type="none" w="sm" len="sm"/>
            <a:tailEnd type="none" w="sm" len="sm"/>
          </a:ln>
        </p:spPr>
      </p:cxnSp>
      <p:grpSp>
        <p:nvGrpSpPr>
          <p:cNvPr id="443" name="Google Shape;443;p27"/>
          <p:cNvGrpSpPr/>
          <p:nvPr/>
        </p:nvGrpSpPr>
        <p:grpSpPr>
          <a:xfrm>
            <a:off x="7034684" y="6020229"/>
            <a:ext cx="2296489" cy="425600"/>
            <a:chOff x="6563750" y="3805350"/>
            <a:chExt cx="1722367" cy="319200"/>
          </a:xfrm>
        </p:grpSpPr>
        <p:sp>
          <p:nvSpPr>
            <p:cNvPr id="444" name="Google Shape;444;p27"/>
            <p:cNvSpPr/>
            <p:nvPr/>
          </p:nvSpPr>
          <p:spPr>
            <a:xfrm>
              <a:off x="6737749" y="3805350"/>
              <a:ext cx="1548368"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“Parameter”</a:t>
              </a:r>
              <a:endParaRPr sz="2400" dirty="0">
                <a:solidFill>
                  <a:srgbClr val="FFFF00"/>
                </a:solidFill>
                <a:latin typeface="Roboto"/>
                <a:ea typeface="Roboto"/>
                <a:cs typeface="Roboto"/>
                <a:sym typeface="Roboto"/>
              </a:endParaRPr>
            </a:p>
          </p:txBody>
        </p:sp>
        <p:sp>
          <p:nvSpPr>
            <p:cNvPr id="442" name="Google Shape;442;p27"/>
            <p:cNvSpPr/>
            <p:nvPr/>
          </p:nvSpPr>
          <p:spPr>
            <a:xfrm>
              <a:off x="6563750" y="3877950"/>
              <a:ext cx="174000" cy="174000"/>
            </a:xfrm>
            <a:prstGeom prst="ellipse">
              <a:avLst/>
            </a:prstGeom>
            <a:solidFill>
              <a:srgbClr val="FFC000"/>
            </a:solidFill>
            <a:ln>
              <a:noFill/>
            </a:ln>
          </p:spPr>
          <p:txBody>
            <a:bodyPr spcFirstLastPara="1" wrap="square" lIns="121900" tIns="121900" rIns="121900" bIns="121900" anchor="ctr" anchorCtr="0">
              <a:noAutofit/>
            </a:bodyPr>
            <a:lstStyle/>
            <a:p>
              <a:endParaRPr sz="2267"/>
            </a:p>
          </p:txBody>
        </p:sp>
      </p:gr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62ED906-816D-49FC-8DE2-404E8B018681}"/>
                  </a:ext>
                </a:extLst>
              </p:cNvPr>
              <p:cNvSpPr txBox="1"/>
              <p:nvPr/>
            </p:nvSpPr>
            <p:spPr>
              <a:xfrm>
                <a:off x="4563851" y="1176448"/>
                <a:ext cx="2867003"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4000" b="0" i="1" smtClean="0">
                          <a:latin typeface="Cambria Math" panose="02040503050406030204" pitchFamily="18" charset="0"/>
                        </a:rPr>
                        <m:t>𝑦</m:t>
                      </m:r>
                      <m:r>
                        <a:rPr lang="en-GB" sz="4000" b="0" i="1" smtClean="0">
                          <a:latin typeface="Cambria Math" panose="02040503050406030204" pitchFamily="18" charset="0"/>
                        </a:rPr>
                        <m:t>=</m:t>
                      </m:r>
                      <m:r>
                        <a:rPr lang="en-GB" sz="4000" b="0" i="1" smtClean="0">
                          <a:solidFill>
                            <a:srgbClr val="FFFF00"/>
                          </a:solidFill>
                          <a:latin typeface="Cambria Math" panose="02040503050406030204" pitchFamily="18" charset="0"/>
                        </a:rPr>
                        <m:t>𝑚</m:t>
                      </m:r>
                      <m:r>
                        <a:rPr lang="en-GB" sz="4000" b="0" i="1" smtClean="0">
                          <a:solidFill>
                            <a:schemeClr val="tx1"/>
                          </a:solidFill>
                          <a:latin typeface="Cambria Math" panose="02040503050406030204" pitchFamily="18" charset="0"/>
                        </a:rPr>
                        <m:t>𝑥</m:t>
                      </m:r>
                      <m:r>
                        <a:rPr lang="en-GB" sz="4000" b="0" i="1" smtClean="0">
                          <a:latin typeface="Cambria Math" panose="02040503050406030204" pitchFamily="18" charset="0"/>
                        </a:rPr>
                        <m:t>+</m:t>
                      </m:r>
                      <m:r>
                        <a:rPr lang="en-GB" sz="4000" b="0" i="1" smtClean="0">
                          <a:solidFill>
                            <a:srgbClr val="FFFF00"/>
                          </a:solidFill>
                          <a:latin typeface="Cambria Math" panose="02040503050406030204" pitchFamily="18" charset="0"/>
                        </a:rPr>
                        <m:t>𝑐</m:t>
                      </m:r>
                    </m:oMath>
                  </m:oMathPara>
                </a14:m>
                <a:endParaRPr lang="en-GB" sz="2800" dirty="0"/>
              </a:p>
            </p:txBody>
          </p:sp>
        </mc:Choice>
        <mc:Fallback>
          <p:sp>
            <p:nvSpPr>
              <p:cNvPr id="6" name="TextBox 5">
                <a:extLst>
                  <a:ext uri="{FF2B5EF4-FFF2-40B4-BE49-F238E27FC236}">
                    <a16:creationId xmlns:a16="http://schemas.microsoft.com/office/drawing/2014/main" id="{F62ED906-816D-49FC-8DE2-404E8B018681}"/>
                  </a:ext>
                </a:extLst>
              </p:cNvPr>
              <p:cNvSpPr txBox="1">
                <a:spLocks noRot="1" noChangeAspect="1" noMove="1" noResize="1" noEditPoints="1" noAdjustHandles="1" noChangeArrowheads="1" noChangeShapeType="1" noTextEdit="1"/>
              </p:cNvSpPr>
              <p:nvPr/>
            </p:nvSpPr>
            <p:spPr>
              <a:xfrm>
                <a:off x="4563851" y="1176448"/>
                <a:ext cx="2867003" cy="707886"/>
              </a:xfrm>
              <a:prstGeom prst="rect">
                <a:avLst/>
              </a:prstGeom>
              <a:blipFill>
                <a:blip r:embed="rId3"/>
                <a:stretch>
                  <a:fillRect/>
                </a:stretch>
              </a:blipFill>
            </p:spPr>
            <p:txBody>
              <a:bodyPr/>
              <a:lstStyle/>
              <a:p>
                <a:r>
                  <a:rPr lang="en-GB">
                    <a:noFill/>
                  </a:rPr>
                  <a:t> </a:t>
                </a:r>
              </a:p>
            </p:txBody>
          </p:sp>
        </mc:Fallback>
      </mc:AlternateContent>
      <p:sp>
        <p:nvSpPr>
          <p:cNvPr id="4" name="Freeform: Shape 3">
            <a:extLst>
              <a:ext uri="{FF2B5EF4-FFF2-40B4-BE49-F238E27FC236}">
                <a16:creationId xmlns:a16="http://schemas.microsoft.com/office/drawing/2014/main" id="{57EA2591-CE9C-4D19-BCBB-E0FE31B4D499}"/>
              </a:ext>
            </a:extLst>
          </p:cNvPr>
          <p:cNvSpPr/>
          <p:nvPr/>
        </p:nvSpPr>
        <p:spPr>
          <a:xfrm>
            <a:off x="4202289" y="1835856"/>
            <a:ext cx="711200" cy="1790700"/>
          </a:xfrm>
          <a:custGeom>
            <a:avLst/>
            <a:gdLst>
              <a:gd name="connsiteX0" fmla="*/ 0 w 711200"/>
              <a:gd name="connsiteY0" fmla="*/ 1790700 h 1790700"/>
              <a:gd name="connsiteX1" fmla="*/ 190500 w 711200"/>
              <a:gd name="connsiteY1" fmla="*/ 1092200 h 1790700"/>
              <a:gd name="connsiteX2" fmla="*/ 622300 w 711200"/>
              <a:gd name="connsiteY2" fmla="*/ 469900 h 1790700"/>
              <a:gd name="connsiteX3" fmla="*/ 711200 w 711200"/>
              <a:gd name="connsiteY3" fmla="*/ 0 h 1790700"/>
            </a:gdLst>
            <a:ahLst/>
            <a:cxnLst>
              <a:cxn ang="0">
                <a:pos x="connsiteX0" y="connsiteY0"/>
              </a:cxn>
              <a:cxn ang="0">
                <a:pos x="connsiteX1" y="connsiteY1"/>
              </a:cxn>
              <a:cxn ang="0">
                <a:pos x="connsiteX2" y="connsiteY2"/>
              </a:cxn>
              <a:cxn ang="0">
                <a:pos x="connsiteX3" y="connsiteY3"/>
              </a:cxn>
            </a:cxnLst>
            <a:rect l="l" t="t" r="r" b="b"/>
            <a:pathLst>
              <a:path w="711200" h="1790700">
                <a:moveTo>
                  <a:pt x="0" y="1790700"/>
                </a:moveTo>
                <a:cubicBezTo>
                  <a:pt x="43391" y="1551516"/>
                  <a:pt x="86783" y="1312333"/>
                  <a:pt x="190500" y="1092200"/>
                </a:cubicBezTo>
                <a:cubicBezTo>
                  <a:pt x="294217" y="872067"/>
                  <a:pt x="535517" y="651933"/>
                  <a:pt x="622300" y="469900"/>
                </a:cubicBezTo>
                <a:cubicBezTo>
                  <a:pt x="709083" y="287867"/>
                  <a:pt x="710141" y="143933"/>
                  <a:pt x="711200"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Freeform: Shape 4">
            <a:extLst>
              <a:ext uri="{FF2B5EF4-FFF2-40B4-BE49-F238E27FC236}">
                <a16:creationId xmlns:a16="http://schemas.microsoft.com/office/drawing/2014/main" id="{C8C8F9B6-05F2-4251-A572-A7A50D41DE9F}"/>
              </a:ext>
            </a:extLst>
          </p:cNvPr>
          <p:cNvSpPr/>
          <p:nvPr/>
        </p:nvSpPr>
        <p:spPr>
          <a:xfrm>
            <a:off x="4202290" y="1797756"/>
            <a:ext cx="2070340" cy="1828800"/>
          </a:xfrm>
          <a:custGeom>
            <a:avLst/>
            <a:gdLst>
              <a:gd name="connsiteX0" fmla="*/ 0 w 3390900"/>
              <a:gd name="connsiteY0" fmla="*/ 1828800 h 1828800"/>
              <a:gd name="connsiteX1" fmla="*/ 342900 w 3390900"/>
              <a:gd name="connsiteY1" fmla="*/ 1257300 h 1828800"/>
              <a:gd name="connsiteX2" fmla="*/ 1257300 w 3390900"/>
              <a:gd name="connsiteY2" fmla="*/ 850900 h 1828800"/>
              <a:gd name="connsiteX3" fmla="*/ 2679700 w 3390900"/>
              <a:gd name="connsiteY3" fmla="*/ 838200 h 1828800"/>
              <a:gd name="connsiteX4" fmla="*/ 3390900 w 3390900"/>
              <a:gd name="connsiteY4" fmla="*/ 0 h 1828800"/>
              <a:gd name="connsiteX5" fmla="*/ 3390900 w 3390900"/>
              <a:gd name="connsiteY5"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0900" h="1828800">
                <a:moveTo>
                  <a:pt x="0" y="1828800"/>
                </a:moveTo>
                <a:cubicBezTo>
                  <a:pt x="66675" y="1624541"/>
                  <a:pt x="133350" y="1420283"/>
                  <a:pt x="342900" y="1257300"/>
                </a:cubicBezTo>
                <a:cubicBezTo>
                  <a:pt x="552450" y="1094317"/>
                  <a:pt x="867833" y="920750"/>
                  <a:pt x="1257300" y="850900"/>
                </a:cubicBezTo>
                <a:cubicBezTo>
                  <a:pt x="1646767" y="781050"/>
                  <a:pt x="2324100" y="980017"/>
                  <a:pt x="2679700" y="838200"/>
                </a:cubicBezTo>
                <a:cubicBezTo>
                  <a:pt x="3035300" y="696383"/>
                  <a:pt x="3390900" y="0"/>
                  <a:pt x="3390900" y="0"/>
                </a:cubicBezTo>
                <a:lnTo>
                  <a:pt x="3390900" y="0"/>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11" name="Group 10">
            <a:extLst>
              <a:ext uri="{FF2B5EF4-FFF2-40B4-BE49-F238E27FC236}">
                <a16:creationId xmlns:a16="http://schemas.microsoft.com/office/drawing/2014/main" id="{48643BDD-C08F-0B0B-30DB-16819FFA9CDE}"/>
              </a:ext>
            </a:extLst>
          </p:cNvPr>
          <p:cNvGrpSpPr/>
          <p:nvPr/>
        </p:nvGrpSpPr>
        <p:grpSpPr>
          <a:xfrm>
            <a:off x="5870222" y="1749778"/>
            <a:ext cx="3543725" cy="4368800"/>
            <a:chOff x="5452533" y="1907822"/>
            <a:chExt cx="3543725" cy="4368800"/>
          </a:xfrm>
        </p:grpSpPr>
        <p:sp>
          <p:nvSpPr>
            <p:cNvPr id="9" name="Freeform: Shape 8">
              <a:extLst>
                <a:ext uri="{FF2B5EF4-FFF2-40B4-BE49-F238E27FC236}">
                  <a16:creationId xmlns:a16="http://schemas.microsoft.com/office/drawing/2014/main" id="{0CEBF911-A388-3FDE-1425-8AC049404DFA}"/>
                </a:ext>
              </a:extLst>
            </p:cNvPr>
            <p:cNvSpPr/>
            <p:nvPr/>
          </p:nvSpPr>
          <p:spPr>
            <a:xfrm>
              <a:off x="5452533" y="1907822"/>
              <a:ext cx="3543725" cy="4368800"/>
            </a:xfrm>
            <a:custGeom>
              <a:avLst/>
              <a:gdLst>
                <a:gd name="connsiteX0" fmla="*/ 1343378 w 3543725"/>
                <a:gd name="connsiteY0" fmla="*/ 4368800 h 4368800"/>
                <a:gd name="connsiteX1" fmla="*/ 1614311 w 3543725"/>
                <a:gd name="connsiteY1" fmla="*/ 3736622 h 4368800"/>
                <a:gd name="connsiteX2" fmla="*/ 2336800 w 3543725"/>
                <a:gd name="connsiteY2" fmla="*/ 3420534 h 4368800"/>
                <a:gd name="connsiteX3" fmla="*/ 3239911 w 3543725"/>
                <a:gd name="connsiteY3" fmla="*/ 3048000 h 4368800"/>
                <a:gd name="connsiteX4" fmla="*/ 3488267 w 3543725"/>
                <a:gd name="connsiteY4" fmla="*/ 2223911 h 4368800"/>
                <a:gd name="connsiteX5" fmla="*/ 3510845 w 3543725"/>
                <a:gd name="connsiteY5" fmla="*/ 1332089 h 4368800"/>
                <a:gd name="connsiteX6" fmla="*/ 3104445 w 3543725"/>
                <a:gd name="connsiteY6" fmla="*/ 903111 h 4368800"/>
                <a:gd name="connsiteX7" fmla="*/ 2562578 w 3543725"/>
                <a:gd name="connsiteY7" fmla="*/ 745067 h 4368800"/>
                <a:gd name="connsiteX8" fmla="*/ 2032000 w 3543725"/>
                <a:gd name="connsiteY8" fmla="*/ 666045 h 4368800"/>
                <a:gd name="connsiteX9" fmla="*/ 1207911 w 3543725"/>
                <a:gd name="connsiteY9" fmla="*/ 587022 h 4368800"/>
                <a:gd name="connsiteX10" fmla="*/ 349956 w 3543725"/>
                <a:gd name="connsiteY10" fmla="*/ 541867 h 4368800"/>
                <a:gd name="connsiteX11" fmla="*/ 79023 w 3543725"/>
                <a:gd name="connsiteY11" fmla="*/ 372534 h 4368800"/>
                <a:gd name="connsiteX12" fmla="*/ 0 w 3543725"/>
                <a:gd name="connsiteY12" fmla="*/ 0 h 436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3725" h="4368800">
                  <a:moveTo>
                    <a:pt x="1343378" y="4368800"/>
                  </a:moveTo>
                  <a:cubicBezTo>
                    <a:pt x="1396059" y="4131733"/>
                    <a:pt x="1448741" y="3894666"/>
                    <a:pt x="1614311" y="3736622"/>
                  </a:cubicBezTo>
                  <a:cubicBezTo>
                    <a:pt x="1779881" y="3578578"/>
                    <a:pt x="2065867" y="3535304"/>
                    <a:pt x="2336800" y="3420534"/>
                  </a:cubicBezTo>
                  <a:cubicBezTo>
                    <a:pt x="2607733" y="3305764"/>
                    <a:pt x="3048000" y="3247437"/>
                    <a:pt x="3239911" y="3048000"/>
                  </a:cubicBezTo>
                  <a:cubicBezTo>
                    <a:pt x="3431822" y="2848563"/>
                    <a:pt x="3443111" y="2509896"/>
                    <a:pt x="3488267" y="2223911"/>
                  </a:cubicBezTo>
                  <a:cubicBezTo>
                    <a:pt x="3533423" y="1937926"/>
                    <a:pt x="3574815" y="1552222"/>
                    <a:pt x="3510845" y="1332089"/>
                  </a:cubicBezTo>
                  <a:cubicBezTo>
                    <a:pt x="3446875" y="1111956"/>
                    <a:pt x="3262489" y="1000948"/>
                    <a:pt x="3104445" y="903111"/>
                  </a:cubicBezTo>
                  <a:cubicBezTo>
                    <a:pt x="2946401" y="805274"/>
                    <a:pt x="2741319" y="784578"/>
                    <a:pt x="2562578" y="745067"/>
                  </a:cubicBezTo>
                  <a:cubicBezTo>
                    <a:pt x="2383837" y="705556"/>
                    <a:pt x="2257778" y="692386"/>
                    <a:pt x="2032000" y="666045"/>
                  </a:cubicBezTo>
                  <a:cubicBezTo>
                    <a:pt x="1806222" y="639704"/>
                    <a:pt x="1488252" y="607718"/>
                    <a:pt x="1207911" y="587022"/>
                  </a:cubicBezTo>
                  <a:cubicBezTo>
                    <a:pt x="927570" y="566326"/>
                    <a:pt x="538104" y="577615"/>
                    <a:pt x="349956" y="541867"/>
                  </a:cubicBezTo>
                  <a:cubicBezTo>
                    <a:pt x="161808" y="506119"/>
                    <a:pt x="137349" y="462845"/>
                    <a:pt x="79023" y="372534"/>
                  </a:cubicBezTo>
                  <a:cubicBezTo>
                    <a:pt x="20697" y="282223"/>
                    <a:pt x="10348" y="141111"/>
                    <a:pt x="0"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1179627A-5996-C679-9E0F-5B45064D7150}"/>
                </a:ext>
              </a:extLst>
            </p:cNvPr>
            <p:cNvSpPr/>
            <p:nvPr/>
          </p:nvSpPr>
          <p:spPr>
            <a:xfrm>
              <a:off x="6616994" y="1930400"/>
              <a:ext cx="1770649" cy="801511"/>
            </a:xfrm>
            <a:custGeom>
              <a:avLst/>
              <a:gdLst>
                <a:gd name="connsiteX0" fmla="*/ 2121252 w 2121252"/>
                <a:gd name="connsiteY0" fmla="*/ 801511 h 801511"/>
                <a:gd name="connsiteX1" fmla="*/ 845608 w 2121252"/>
                <a:gd name="connsiteY1" fmla="*/ 485422 h 801511"/>
                <a:gd name="connsiteX2" fmla="*/ 89252 w 2121252"/>
                <a:gd name="connsiteY2" fmla="*/ 237067 h 801511"/>
                <a:gd name="connsiteX3" fmla="*/ 44097 w 2121252"/>
                <a:gd name="connsiteY3" fmla="*/ 0 h 801511"/>
              </a:gdLst>
              <a:ahLst/>
              <a:cxnLst>
                <a:cxn ang="0">
                  <a:pos x="connsiteX0" y="connsiteY0"/>
                </a:cxn>
                <a:cxn ang="0">
                  <a:pos x="connsiteX1" y="connsiteY1"/>
                </a:cxn>
                <a:cxn ang="0">
                  <a:pos x="connsiteX2" y="connsiteY2"/>
                </a:cxn>
                <a:cxn ang="0">
                  <a:pos x="connsiteX3" y="connsiteY3"/>
                </a:cxn>
              </a:cxnLst>
              <a:rect l="l" t="t" r="r" b="b"/>
              <a:pathLst>
                <a:path w="2121252" h="801511">
                  <a:moveTo>
                    <a:pt x="2121252" y="801511"/>
                  </a:moveTo>
                  <a:cubicBezTo>
                    <a:pt x="1652763" y="690503"/>
                    <a:pt x="1184275" y="579496"/>
                    <a:pt x="845608" y="485422"/>
                  </a:cubicBezTo>
                  <a:cubicBezTo>
                    <a:pt x="506941" y="391348"/>
                    <a:pt x="222837" y="317971"/>
                    <a:pt x="89252" y="237067"/>
                  </a:cubicBezTo>
                  <a:cubicBezTo>
                    <a:pt x="-44333" y="156163"/>
                    <a:pt x="-118" y="78081"/>
                    <a:pt x="44097"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09075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fade">
                                      <p:cBhvr>
                                        <p:cTn id="7" dur="1000"/>
                                        <p:tgtEl>
                                          <p:spTgt spid="4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9"/>
                                        </p:tgtEl>
                                        <p:attrNameLst>
                                          <p:attrName>style.visibility</p:attrName>
                                        </p:attrNameLst>
                                      </p:cBhvr>
                                      <p:to>
                                        <p:strVal val="visible"/>
                                      </p:to>
                                    </p:set>
                                    <p:animEffect transition="in" filter="fade">
                                      <p:cBhvr>
                                        <p:cTn id="12" dur="1000"/>
                                        <p:tgtEl>
                                          <p:spTgt spid="409"/>
                                        </p:tgtEl>
                                      </p:cBhvr>
                                    </p:animEffect>
                                  </p:childTnLst>
                                </p:cTn>
                              </p:par>
                              <p:par>
                                <p:cTn id="13" presetID="10" presetClass="entr" presetSubtype="0" fill="hold" nodeType="withEffect">
                                  <p:stCondLst>
                                    <p:cond delay="0"/>
                                  </p:stCondLst>
                                  <p:childTnLst>
                                    <p:set>
                                      <p:cBhvr>
                                        <p:cTn id="14" dur="1" fill="hold">
                                          <p:stCondLst>
                                            <p:cond delay="0"/>
                                          </p:stCondLst>
                                        </p:cTn>
                                        <p:tgtEl>
                                          <p:spTgt spid="423"/>
                                        </p:tgtEl>
                                        <p:attrNameLst>
                                          <p:attrName>style.visibility</p:attrName>
                                        </p:attrNameLst>
                                      </p:cBhvr>
                                      <p:to>
                                        <p:strVal val="visible"/>
                                      </p:to>
                                    </p:set>
                                    <p:animEffect transition="in" filter="fade">
                                      <p:cBhvr>
                                        <p:cTn id="15" dur="1000"/>
                                        <p:tgtEl>
                                          <p:spTgt spid="4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33"/>
                                        </p:tgtEl>
                                        <p:attrNameLst>
                                          <p:attrName>style.visibility</p:attrName>
                                        </p:attrNameLst>
                                      </p:cBhvr>
                                      <p:to>
                                        <p:strVal val="visible"/>
                                      </p:to>
                                    </p:set>
                                    <p:animEffect transition="in" filter="fade">
                                      <p:cBhvr>
                                        <p:cTn id="20" dur="1000"/>
                                        <p:tgtEl>
                                          <p:spTgt spid="433"/>
                                        </p:tgtEl>
                                      </p:cBhvr>
                                    </p:animEffect>
                                  </p:childTnLst>
                                </p:cTn>
                              </p:par>
                              <p:par>
                                <p:cTn id="21" presetID="10" presetClass="entr" presetSubtype="0" fill="hold" nodeType="withEffect">
                                  <p:stCondLst>
                                    <p:cond delay="0"/>
                                  </p:stCondLst>
                                  <p:childTnLst>
                                    <p:set>
                                      <p:cBhvr>
                                        <p:cTn id="22" dur="1" fill="hold">
                                          <p:stCondLst>
                                            <p:cond delay="0"/>
                                          </p:stCondLst>
                                        </p:cTn>
                                        <p:tgtEl>
                                          <p:spTgt spid="435"/>
                                        </p:tgtEl>
                                        <p:attrNameLst>
                                          <p:attrName>style.visibility</p:attrName>
                                        </p:attrNameLst>
                                      </p:cBhvr>
                                      <p:to>
                                        <p:strVal val="visible"/>
                                      </p:to>
                                    </p:set>
                                    <p:animEffect transition="in" filter="fade">
                                      <p:cBhvr>
                                        <p:cTn id="23" dur="1000"/>
                                        <p:tgtEl>
                                          <p:spTgt spid="435"/>
                                        </p:tgtEl>
                                      </p:cBhvr>
                                    </p:animEffect>
                                  </p:childTnLst>
                                </p:cTn>
                              </p:par>
                              <p:par>
                                <p:cTn id="24" presetID="10" presetClass="entr" presetSubtype="0" fill="hold" nodeType="withEffect">
                                  <p:stCondLst>
                                    <p:cond delay="0"/>
                                  </p:stCondLst>
                                  <p:childTnLst>
                                    <p:set>
                                      <p:cBhvr>
                                        <p:cTn id="25" dur="1" fill="hold">
                                          <p:stCondLst>
                                            <p:cond delay="0"/>
                                          </p:stCondLst>
                                        </p:cTn>
                                        <p:tgtEl>
                                          <p:spTgt spid="437"/>
                                        </p:tgtEl>
                                        <p:attrNameLst>
                                          <p:attrName>style.visibility</p:attrName>
                                        </p:attrNameLst>
                                      </p:cBhvr>
                                      <p:to>
                                        <p:strVal val="visible"/>
                                      </p:to>
                                    </p:set>
                                    <p:animEffect transition="in" filter="fade">
                                      <p:cBhvr>
                                        <p:cTn id="26" dur="1000"/>
                                        <p:tgtEl>
                                          <p:spTgt spid="437"/>
                                        </p:tgtEl>
                                      </p:cBhvr>
                                    </p:animEffect>
                                  </p:childTnLst>
                                </p:cTn>
                              </p:par>
                              <p:par>
                                <p:cTn id="27" presetID="10" presetClass="entr" presetSubtype="0" fill="hold" nodeType="withEffect">
                                  <p:stCondLst>
                                    <p:cond delay="0"/>
                                  </p:stCondLst>
                                  <p:childTnLst>
                                    <p:set>
                                      <p:cBhvr>
                                        <p:cTn id="28" dur="1" fill="hold">
                                          <p:stCondLst>
                                            <p:cond delay="0"/>
                                          </p:stCondLst>
                                        </p:cTn>
                                        <p:tgtEl>
                                          <p:spTgt spid="439"/>
                                        </p:tgtEl>
                                        <p:attrNameLst>
                                          <p:attrName>style.visibility</p:attrName>
                                        </p:attrNameLst>
                                      </p:cBhvr>
                                      <p:to>
                                        <p:strVal val="visible"/>
                                      </p:to>
                                    </p:set>
                                    <p:animEffect transition="in" filter="fade">
                                      <p:cBhvr>
                                        <p:cTn id="29" dur="1000"/>
                                        <p:tgtEl>
                                          <p:spTgt spid="43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26"/>
                                        </p:tgtEl>
                                        <p:attrNameLst>
                                          <p:attrName>style.visibility</p:attrName>
                                        </p:attrNameLst>
                                      </p:cBhvr>
                                      <p:to>
                                        <p:strVal val="visible"/>
                                      </p:to>
                                    </p:set>
                                    <p:animEffect transition="in" filter="fade">
                                      <p:cBhvr>
                                        <p:cTn id="34" dur="1000"/>
                                        <p:tgtEl>
                                          <p:spTgt spid="426"/>
                                        </p:tgtEl>
                                      </p:cBhvr>
                                    </p:animEffect>
                                  </p:childTnLst>
                                </p:cTn>
                              </p:par>
                              <p:par>
                                <p:cTn id="35" presetID="10" presetClass="entr" presetSubtype="0" fill="hold" nodeType="withEffect">
                                  <p:stCondLst>
                                    <p:cond delay="0"/>
                                  </p:stCondLst>
                                  <p:childTnLst>
                                    <p:set>
                                      <p:cBhvr>
                                        <p:cTn id="36" dur="1" fill="hold">
                                          <p:stCondLst>
                                            <p:cond delay="0"/>
                                          </p:stCondLst>
                                        </p:cTn>
                                        <p:tgtEl>
                                          <p:spTgt spid="406"/>
                                        </p:tgtEl>
                                        <p:attrNameLst>
                                          <p:attrName>style.visibility</p:attrName>
                                        </p:attrNameLst>
                                      </p:cBhvr>
                                      <p:to>
                                        <p:strVal val="visible"/>
                                      </p:to>
                                    </p:set>
                                    <p:animEffect transition="in" filter="fade">
                                      <p:cBhvr>
                                        <p:cTn id="37" dur="1"/>
                                        <p:tgtEl>
                                          <p:spTgt spid="40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1"/>
                                        </p:tgtEl>
                                        <p:attrNameLst>
                                          <p:attrName>style.visibility</p:attrName>
                                        </p:attrNameLst>
                                      </p:cBhvr>
                                      <p:to>
                                        <p:strVal val="visible"/>
                                      </p:to>
                                    </p:set>
                                    <p:animEffect transition="in" filter="fade">
                                      <p:cBhvr>
                                        <p:cTn id="42" dur="1000"/>
                                        <p:tgtEl>
                                          <p:spTgt spid="441"/>
                                        </p:tgtEl>
                                      </p:cBhvr>
                                    </p:animEffect>
                                  </p:childTnLst>
                                </p:cTn>
                              </p:par>
                              <p:par>
                                <p:cTn id="43" presetID="10" presetClass="entr" presetSubtype="0" fill="hold" nodeType="withEffect">
                                  <p:stCondLst>
                                    <p:cond delay="0"/>
                                  </p:stCondLst>
                                  <p:childTnLst>
                                    <p:set>
                                      <p:cBhvr>
                                        <p:cTn id="44" dur="1" fill="hold">
                                          <p:stCondLst>
                                            <p:cond delay="0"/>
                                          </p:stCondLst>
                                        </p:cTn>
                                        <p:tgtEl>
                                          <p:spTgt spid="443"/>
                                        </p:tgtEl>
                                        <p:attrNameLst>
                                          <p:attrName>style.visibility</p:attrName>
                                        </p:attrNameLst>
                                      </p:cBhvr>
                                      <p:to>
                                        <p:strVal val="visible"/>
                                      </p:to>
                                    </p:set>
                                    <p:animEffect transition="in" filter="fade">
                                      <p:cBhvr>
                                        <p:cTn id="45" dur="1000"/>
                                        <p:tgtEl>
                                          <p:spTgt spid="443"/>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7"/>
          <p:cNvSpPr txBox="1">
            <a:spLocks noGrp="1"/>
          </p:cNvSpPr>
          <p:nvPr>
            <p:ph type="title"/>
          </p:nvPr>
        </p:nvSpPr>
        <p:spPr>
          <a:xfrm>
            <a:off x="0" y="0"/>
            <a:ext cx="12192000" cy="967033"/>
          </a:xfrm>
          <a:prstGeom prst="rect">
            <a:avLst/>
          </a:prstGeom>
        </p:spPr>
        <p:txBody>
          <a:bodyPr spcFirstLastPara="1" vert="horz" wrap="square" lIns="121900" tIns="121900" rIns="121900" bIns="121900" rtlCol="0" anchor="ctr" anchorCtr="0">
            <a:noAutofit/>
          </a:bodyPr>
          <a:lstStyle/>
          <a:p>
            <a:pPr algn="ctr"/>
            <a:r>
              <a:rPr lang="en-GB" dirty="0"/>
              <a:t>Statistics and data</a:t>
            </a:r>
            <a:endParaRPr dirty="0"/>
          </a:p>
        </p:txBody>
      </p:sp>
      <p:cxnSp>
        <p:nvCxnSpPr>
          <p:cNvPr id="406" name="Google Shape;406;p27"/>
          <p:cNvCxnSpPr>
            <a:stCxn id="407" idx="6"/>
            <a:endCxn id="408" idx="2"/>
          </p:cNvCxnSpPr>
          <p:nvPr/>
        </p:nvCxnSpPr>
        <p:spPr>
          <a:xfrm>
            <a:off x="3158551" y="4985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cxnSp>
        <p:nvCxnSpPr>
          <p:cNvPr id="409" name="Google Shape;409;p27"/>
          <p:cNvCxnSpPr>
            <a:stCxn id="407" idx="6"/>
            <a:endCxn id="410" idx="2"/>
          </p:cNvCxnSpPr>
          <p:nvPr/>
        </p:nvCxnSpPr>
        <p:spPr>
          <a:xfrm rot="10800000" flipH="1">
            <a:off x="3158551" y="3737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grpSp>
        <p:nvGrpSpPr>
          <p:cNvPr id="423" name="Google Shape;423;p27"/>
          <p:cNvGrpSpPr/>
          <p:nvPr/>
        </p:nvGrpSpPr>
        <p:grpSpPr>
          <a:xfrm>
            <a:off x="4094852" y="3524229"/>
            <a:ext cx="1968727" cy="425600"/>
            <a:chOff x="2678825" y="1476150"/>
            <a:chExt cx="1476545" cy="319200"/>
          </a:xfrm>
        </p:grpSpPr>
        <p:sp>
          <p:nvSpPr>
            <p:cNvPr id="412" name="Google Shape;412;p27"/>
            <p:cNvSpPr/>
            <p:nvPr/>
          </p:nvSpPr>
          <p:spPr>
            <a:xfrm>
              <a:off x="2852825" y="1476150"/>
              <a:ext cx="1302545"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Observed</a:t>
              </a:r>
              <a:endParaRPr sz="2400" dirty="0">
                <a:latin typeface="Roboto"/>
                <a:ea typeface="Roboto"/>
                <a:cs typeface="Roboto"/>
                <a:sym typeface="Roboto"/>
              </a:endParaRPr>
            </a:p>
          </p:txBody>
        </p:sp>
        <p:sp>
          <p:nvSpPr>
            <p:cNvPr id="410" name="Google Shape;410;p27"/>
            <p:cNvSpPr/>
            <p:nvPr/>
          </p:nvSpPr>
          <p:spPr>
            <a:xfrm>
              <a:off x="2678825" y="1548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4" name="Google Shape;424;p27"/>
          <p:cNvGrpSpPr/>
          <p:nvPr/>
        </p:nvGrpSpPr>
        <p:grpSpPr>
          <a:xfrm>
            <a:off x="1342185" y="4772229"/>
            <a:ext cx="1816367" cy="425600"/>
            <a:chOff x="614325" y="2412150"/>
            <a:chExt cx="1362275" cy="319200"/>
          </a:xfrm>
        </p:grpSpPr>
        <p:sp>
          <p:nvSpPr>
            <p:cNvPr id="425" name="Google Shape;425;p27"/>
            <p:cNvSpPr/>
            <p:nvPr/>
          </p:nvSpPr>
          <p:spPr>
            <a:xfrm>
              <a:off x="614325" y="2412150"/>
              <a:ext cx="1182300" cy="319200"/>
            </a:xfrm>
            <a:prstGeom prst="roundRect">
              <a:avLst>
                <a:gd name="adj" fmla="val 16667"/>
              </a:avLst>
            </a:prstGeom>
            <a:noFill/>
            <a:ln>
              <a:noFill/>
            </a:ln>
          </p:spPr>
          <p:txBody>
            <a:bodyPr spcFirstLastPara="1" wrap="square" lIns="121900" tIns="121900" rIns="121900" bIns="121900" anchor="ctr" anchorCtr="0">
              <a:noAutofit/>
            </a:bodyPr>
            <a:lstStyle/>
            <a:p>
              <a:pPr algn="r"/>
              <a:r>
                <a:rPr lang="en-GB" sz="2400" dirty="0">
                  <a:latin typeface="Roboto"/>
                  <a:ea typeface="Roboto"/>
                  <a:cs typeface="Roboto"/>
                  <a:sym typeface="Roboto"/>
                </a:rPr>
                <a:t>Data</a:t>
              </a:r>
              <a:endParaRPr sz="2400" dirty="0">
                <a:latin typeface="Roboto"/>
                <a:ea typeface="Roboto"/>
                <a:cs typeface="Roboto"/>
                <a:sym typeface="Roboto"/>
              </a:endParaRPr>
            </a:p>
          </p:txBody>
        </p:sp>
        <p:sp>
          <p:nvSpPr>
            <p:cNvPr id="407" name="Google Shape;407;p27"/>
            <p:cNvSpPr/>
            <p:nvPr/>
          </p:nvSpPr>
          <p:spPr>
            <a:xfrm>
              <a:off x="1802600" y="2484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6" name="Google Shape;426;p27"/>
          <p:cNvGrpSpPr/>
          <p:nvPr/>
        </p:nvGrpSpPr>
        <p:grpSpPr>
          <a:xfrm>
            <a:off x="4094850" y="6020229"/>
            <a:ext cx="2223905" cy="425600"/>
            <a:chOff x="2678825" y="3348150"/>
            <a:chExt cx="1667929" cy="319200"/>
          </a:xfrm>
        </p:grpSpPr>
        <p:sp>
          <p:nvSpPr>
            <p:cNvPr id="417" name="Google Shape;417;p27"/>
            <p:cNvSpPr/>
            <p:nvPr/>
          </p:nvSpPr>
          <p:spPr>
            <a:xfrm>
              <a:off x="2852824" y="3348150"/>
              <a:ext cx="1493930"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Unobserved</a:t>
              </a:r>
              <a:endParaRPr sz="2400" dirty="0">
                <a:solidFill>
                  <a:srgbClr val="FFFF00"/>
                </a:solidFill>
                <a:latin typeface="Roboto"/>
                <a:ea typeface="Roboto"/>
                <a:cs typeface="Roboto"/>
                <a:sym typeface="Roboto"/>
              </a:endParaRPr>
            </a:p>
          </p:txBody>
        </p:sp>
        <p:sp>
          <p:nvSpPr>
            <p:cNvPr id="408" name="Google Shape;408;p27"/>
            <p:cNvSpPr/>
            <p:nvPr/>
          </p:nvSpPr>
          <p:spPr>
            <a:xfrm>
              <a:off x="2678825" y="3420750"/>
              <a:ext cx="174000" cy="174000"/>
            </a:xfrm>
            <a:prstGeom prst="ellipse">
              <a:avLst/>
            </a:prstGeom>
            <a:solidFill>
              <a:srgbClr val="FFFF00"/>
            </a:solidFill>
            <a:ln>
              <a:noFill/>
            </a:ln>
          </p:spPr>
          <p:txBody>
            <a:bodyPr spcFirstLastPara="1" wrap="square" lIns="121900" tIns="121900" rIns="121900" bIns="121900" anchor="ctr" anchorCtr="0">
              <a:noAutofit/>
            </a:bodyPr>
            <a:lstStyle/>
            <a:p>
              <a:endParaRPr sz="2267"/>
            </a:p>
          </p:txBody>
        </p:sp>
      </p:grpSp>
      <p:cxnSp>
        <p:nvCxnSpPr>
          <p:cNvPr id="433" name="Google Shape;433;p27"/>
          <p:cNvCxnSpPr>
            <a:cxnSpLocks/>
            <a:endCxn id="434" idx="2"/>
          </p:cNvCxnSpPr>
          <p:nvPr/>
        </p:nvCxnSpPr>
        <p:spPr>
          <a:xfrm flipV="1">
            <a:off x="5856550" y="3164396"/>
            <a:ext cx="781499" cy="6096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435" name="Google Shape;435;p27"/>
          <p:cNvCxnSpPr>
            <a:cxnSpLocks/>
            <a:endCxn id="436" idx="2"/>
          </p:cNvCxnSpPr>
          <p:nvPr/>
        </p:nvCxnSpPr>
        <p:spPr>
          <a:xfrm>
            <a:off x="5856550" y="3773996"/>
            <a:ext cx="781499" cy="587200"/>
          </a:xfrm>
          <a:prstGeom prst="bentConnector3">
            <a:avLst>
              <a:gd name="adj1" fmla="val 50000"/>
            </a:avLst>
          </a:prstGeom>
          <a:noFill/>
          <a:ln w="9525" cap="flat" cmpd="sng">
            <a:solidFill>
              <a:srgbClr val="C2C2C2"/>
            </a:solidFill>
            <a:prstDash val="solid"/>
            <a:round/>
            <a:headEnd type="none" w="sm" len="sm"/>
            <a:tailEnd type="none" w="sm" len="sm"/>
          </a:ln>
        </p:spPr>
      </p:cxnSp>
      <p:grpSp>
        <p:nvGrpSpPr>
          <p:cNvPr id="437" name="Google Shape;437;p27"/>
          <p:cNvGrpSpPr/>
          <p:nvPr/>
        </p:nvGrpSpPr>
        <p:grpSpPr>
          <a:xfrm>
            <a:off x="6638049" y="2951596"/>
            <a:ext cx="2178479" cy="425600"/>
            <a:chOff x="6563750" y="561750"/>
            <a:chExt cx="1633860" cy="319200"/>
          </a:xfrm>
        </p:grpSpPr>
        <p:sp>
          <p:nvSpPr>
            <p:cNvPr id="438" name="Google Shape;438;p27"/>
            <p:cNvSpPr/>
            <p:nvPr/>
          </p:nvSpPr>
          <p:spPr>
            <a:xfrm>
              <a:off x="6737749" y="561750"/>
              <a:ext cx="1459861"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Continuous </a:t>
              </a:r>
              <a:r>
                <a:rPr lang="en-GB" dirty="0">
                  <a:latin typeface="Roboto"/>
                  <a:ea typeface="Roboto"/>
                  <a:cs typeface="Roboto"/>
                  <a:sym typeface="Roboto"/>
                </a:rPr>
                <a:t>(e.g. height)</a:t>
              </a:r>
              <a:endParaRPr sz="2400" dirty="0">
                <a:latin typeface="Roboto"/>
                <a:ea typeface="Roboto"/>
                <a:cs typeface="Roboto"/>
                <a:sym typeface="Roboto"/>
              </a:endParaRPr>
            </a:p>
          </p:txBody>
        </p:sp>
        <p:sp>
          <p:nvSpPr>
            <p:cNvPr id="434" name="Google Shape;434;p27"/>
            <p:cNvSpPr/>
            <p:nvPr/>
          </p:nvSpPr>
          <p:spPr>
            <a:xfrm>
              <a:off x="6563750" y="6343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grpSp>
        <p:nvGrpSpPr>
          <p:cNvPr id="439" name="Google Shape;439;p27"/>
          <p:cNvGrpSpPr/>
          <p:nvPr/>
        </p:nvGrpSpPr>
        <p:grpSpPr>
          <a:xfrm>
            <a:off x="6638049" y="4170796"/>
            <a:ext cx="2285687" cy="425600"/>
            <a:chOff x="6563750" y="1476150"/>
            <a:chExt cx="1356300" cy="319200"/>
          </a:xfrm>
        </p:grpSpPr>
        <p:sp>
          <p:nvSpPr>
            <p:cNvPr id="440" name="Google Shape;440;p27"/>
            <p:cNvSpPr/>
            <p:nvPr/>
          </p:nvSpPr>
          <p:spPr>
            <a:xfrm>
              <a:off x="6701416" y="1476150"/>
              <a:ext cx="1218634"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Grouped</a:t>
              </a:r>
            </a:p>
            <a:p>
              <a:r>
                <a:rPr lang="en-GB" dirty="0">
                  <a:latin typeface="Roboto"/>
                  <a:ea typeface="Roboto"/>
                  <a:cs typeface="Roboto"/>
                  <a:sym typeface="Roboto"/>
                </a:rPr>
                <a:t>(e.g. eye colour)</a:t>
              </a:r>
              <a:endParaRPr dirty="0">
                <a:latin typeface="Roboto"/>
                <a:ea typeface="Roboto"/>
                <a:cs typeface="Roboto"/>
                <a:sym typeface="Roboto"/>
              </a:endParaRPr>
            </a:p>
          </p:txBody>
        </p:sp>
        <p:sp>
          <p:nvSpPr>
            <p:cNvPr id="436" name="Google Shape;436;p27"/>
            <p:cNvSpPr/>
            <p:nvPr/>
          </p:nvSpPr>
          <p:spPr>
            <a:xfrm>
              <a:off x="6563750" y="1534050"/>
              <a:ext cx="137666" cy="1698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cxnSp>
        <p:nvCxnSpPr>
          <p:cNvPr id="441" name="Google Shape;441;p27"/>
          <p:cNvCxnSpPr>
            <a:cxnSpLocks/>
            <a:endCxn id="442" idx="2"/>
          </p:cNvCxnSpPr>
          <p:nvPr/>
        </p:nvCxnSpPr>
        <p:spPr>
          <a:xfrm>
            <a:off x="6253185" y="6233029"/>
            <a:ext cx="781600" cy="800"/>
          </a:xfrm>
          <a:prstGeom prst="bentConnector3">
            <a:avLst>
              <a:gd name="adj1" fmla="val 49994"/>
            </a:avLst>
          </a:prstGeom>
          <a:noFill/>
          <a:ln w="9525" cap="flat" cmpd="sng">
            <a:solidFill>
              <a:srgbClr val="C2C2C2"/>
            </a:solidFill>
            <a:prstDash val="solid"/>
            <a:round/>
            <a:headEnd type="none" w="sm" len="sm"/>
            <a:tailEnd type="none" w="sm" len="sm"/>
          </a:ln>
        </p:spPr>
      </p:cxnSp>
      <p:grpSp>
        <p:nvGrpSpPr>
          <p:cNvPr id="443" name="Google Shape;443;p27"/>
          <p:cNvGrpSpPr/>
          <p:nvPr/>
        </p:nvGrpSpPr>
        <p:grpSpPr>
          <a:xfrm>
            <a:off x="7034684" y="6020229"/>
            <a:ext cx="2296489" cy="425600"/>
            <a:chOff x="6563750" y="3805350"/>
            <a:chExt cx="1722367" cy="319200"/>
          </a:xfrm>
        </p:grpSpPr>
        <p:sp>
          <p:nvSpPr>
            <p:cNvPr id="444" name="Google Shape;444;p27"/>
            <p:cNvSpPr/>
            <p:nvPr/>
          </p:nvSpPr>
          <p:spPr>
            <a:xfrm>
              <a:off x="6737749" y="3805350"/>
              <a:ext cx="1548368"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“Parameter”</a:t>
              </a:r>
              <a:endParaRPr sz="2400" dirty="0">
                <a:solidFill>
                  <a:srgbClr val="FFFF00"/>
                </a:solidFill>
                <a:latin typeface="Roboto"/>
                <a:ea typeface="Roboto"/>
                <a:cs typeface="Roboto"/>
                <a:sym typeface="Roboto"/>
              </a:endParaRPr>
            </a:p>
          </p:txBody>
        </p:sp>
        <p:sp>
          <p:nvSpPr>
            <p:cNvPr id="442" name="Google Shape;442;p27"/>
            <p:cNvSpPr/>
            <p:nvPr/>
          </p:nvSpPr>
          <p:spPr>
            <a:xfrm>
              <a:off x="6563750" y="3877950"/>
              <a:ext cx="174000" cy="174000"/>
            </a:xfrm>
            <a:prstGeom prst="ellipse">
              <a:avLst/>
            </a:prstGeom>
            <a:solidFill>
              <a:srgbClr val="FFC000"/>
            </a:solidFill>
            <a:ln>
              <a:noFill/>
            </a:ln>
          </p:spPr>
          <p:txBody>
            <a:bodyPr spcFirstLastPara="1" wrap="square" lIns="121900" tIns="121900" rIns="121900" bIns="121900" anchor="ctr" anchorCtr="0">
              <a:noAutofit/>
            </a:bodyPr>
            <a:lstStyle/>
            <a:p>
              <a:endParaRPr sz="2267"/>
            </a:p>
          </p:txBody>
        </p:sp>
      </p:gr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62ED906-816D-49FC-8DE2-404E8B018681}"/>
                  </a:ext>
                </a:extLst>
              </p:cNvPr>
              <p:cNvSpPr txBox="1"/>
              <p:nvPr/>
            </p:nvSpPr>
            <p:spPr>
              <a:xfrm>
                <a:off x="4563851" y="1176448"/>
                <a:ext cx="3492110"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𝑦</m:t>
                          </m:r>
                        </m:e>
                        <m:sub>
                          <m:r>
                            <a:rPr lang="en-GB" sz="4000" b="0" i="1" smtClean="0">
                              <a:latin typeface="Cambria Math" panose="02040503050406030204" pitchFamily="18" charset="0"/>
                            </a:rPr>
                            <m:t>𝑖</m:t>
                          </m:r>
                        </m:sub>
                      </m:sSub>
                      <m:r>
                        <a:rPr lang="en-GB" sz="4000" b="0" i="1" smtClean="0">
                          <a:latin typeface="Cambria Math" panose="02040503050406030204" pitchFamily="18" charset="0"/>
                        </a:rPr>
                        <m:t>=</m:t>
                      </m:r>
                      <m:sSub>
                        <m:sSubPr>
                          <m:ctrlPr>
                            <a:rPr lang="en-GB" sz="4000" i="1" smtClean="0">
                              <a:solidFill>
                                <a:srgbClr val="FFFF00"/>
                              </a:solidFill>
                              <a:latin typeface="Cambria Math" panose="02040503050406030204" pitchFamily="18" charset="0"/>
                            </a:rPr>
                          </m:ctrlPr>
                        </m:sSubPr>
                        <m:e>
                          <m:r>
                            <a:rPr lang="en-GB" sz="4000" i="1">
                              <a:solidFill>
                                <a:srgbClr val="FFFF00"/>
                              </a:solidFill>
                              <a:latin typeface="Cambria Math" panose="02040503050406030204" pitchFamily="18" charset="0"/>
                            </a:rPr>
                            <m:t>𝛽</m:t>
                          </m:r>
                        </m:e>
                        <m:sub>
                          <m:r>
                            <a:rPr lang="en-GB" sz="4000" i="1">
                              <a:solidFill>
                                <a:srgbClr val="FFFF00"/>
                              </a:solidFill>
                              <a:latin typeface="Cambria Math" panose="02040503050406030204" pitchFamily="18" charset="0"/>
                            </a:rPr>
                            <m:t>0</m:t>
                          </m:r>
                        </m:sub>
                      </m:sSub>
                      <m:r>
                        <a:rPr lang="en-GB" sz="4000" b="0" i="1" smtClean="0">
                          <a:latin typeface="Cambria Math" panose="02040503050406030204" pitchFamily="18" charset="0"/>
                        </a:rPr>
                        <m:t>+</m:t>
                      </m:r>
                      <m:sSub>
                        <m:sSubPr>
                          <m:ctrlPr>
                            <a:rPr lang="en-GB" sz="4000" b="0" i="1" smtClean="0">
                              <a:solidFill>
                                <a:srgbClr val="FFFF00"/>
                              </a:solidFill>
                              <a:latin typeface="Cambria Math" panose="02040503050406030204" pitchFamily="18" charset="0"/>
                            </a:rPr>
                          </m:ctrlPr>
                        </m:sSubPr>
                        <m:e>
                          <m:r>
                            <a:rPr lang="en-GB" sz="4000" b="0" i="1" smtClean="0">
                              <a:solidFill>
                                <a:srgbClr val="FFFF00"/>
                              </a:solidFill>
                              <a:latin typeface="Cambria Math" panose="02040503050406030204" pitchFamily="18" charset="0"/>
                            </a:rPr>
                            <m:t>𝛽</m:t>
                          </m:r>
                        </m:e>
                        <m:sub>
                          <m:r>
                            <a:rPr lang="en-GB" sz="4000" b="0" i="1" smtClean="0">
                              <a:solidFill>
                                <a:srgbClr val="FFFF00"/>
                              </a:solidFill>
                              <a:latin typeface="Cambria Math" panose="02040503050406030204" pitchFamily="18" charset="0"/>
                            </a:rPr>
                            <m:t>1</m:t>
                          </m:r>
                        </m:sub>
                      </m:sSub>
                      <m:sSub>
                        <m:sSubPr>
                          <m:ctrlPr>
                            <a:rPr lang="en-GB" sz="4000" b="0" i="1" smtClean="0">
                              <a:solidFill>
                                <a:schemeClr val="tx1"/>
                              </a:solidFill>
                              <a:latin typeface="Cambria Math" panose="02040503050406030204" pitchFamily="18" charset="0"/>
                            </a:rPr>
                          </m:ctrlPr>
                        </m:sSubPr>
                        <m:e>
                          <m:r>
                            <a:rPr lang="en-GB" sz="4000" b="0" i="1" smtClean="0">
                              <a:solidFill>
                                <a:schemeClr val="tx1"/>
                              </a:solidFill>
                              <a:latin typeface="Cambria Math" panose="02040503050406030204" pitchFamily="18" charset="0"/>
                            </a:rPr>
                            <m:t>𝑥</m:t>
                          </m:r>
                        </m:e>
                        <m:sub>
                          <m:r>
                            <a:rPr lang="en-GB" sz="4000" b="0" i="1" smtClean="0">
                              <a:solidFill>
                                <a:schemeClr val="tx1"/>
                              </a:solidFill>
                              <a:latin typeface="Cambria Math" panose="02040503050406030204" pitchFamily="18" charset="0"/>
                            </a:rPr>
                            <m:t>𝑖</m:t>
                          </m:r>
                        </m:sub>
                      </m:sSub>
                    </m:oMath>
                  </m:oMathPara>
                </a14:m>
                <a:endParaRPr lang="en-GB" sz="2800" dirty="0"/>
              </a:p>
            </p:txBody>
          </p:sp>
        </mc:Choice>
        <mc:Fallback>
          <p:sp>
            <p:nvSpPr>
              <p:cNvPr id="6" name="TextBox 5">
                <a:extLst>
                  <a:ext uri="{FF2B5EF4-FFF2-40B4-BE49-F238E27FC236}">
                    <a16:creationId xmlns:a16="http://schemas.microsoft.com/office/drawing/2014/main" id="{F62ED906-816D-49FC-8DE2-404E8B018681}"/>
                  </a:ext>
                </a:extLst>
              </p:cNvPr>
              <p:cNvSpPr txBox="1">
                <a:spLocks noRot="1" noChangeAspect="1" noMove="1" noResize="1" noEditPoints="1" noAdjustHandles="1" noChangeArrowheads="1" noChangeShapeType="1" noTextEdit="1"/>
              </p:cNvSpPr>
              <p:nvPr/>
            </p:nvSpPr>
            <p:spPr>
              <a:xfrm>
                <a:off x="4563851" y="1176448"/>
                <a:ext cx="3492110" cy="707886"/>
              </a:xfrm>
              <a:prstGeom prst="rect">
                <a:avLst/>
              </a:prstGeom>
              <a:blipFill>
                <a:blip r:embed="rId3"/>
                <a:stretch>
                  <a:fillRect/>
                </a:stretch>
              </a:blipFill>
            </p:spPr>
            <p:txBody>
              <a:bodyPr/>
              <a:lstStyle/>
              <a:p>
                <a:r>
                  <a:rPr lang="en-GB">
                    <a:noFill/>
                  </a:rPr>
                  <a:t> </a:t>
                </a:r>
              </a:p>
            </p:txBody>
          </p:sp>
        </mc:Fallback>
      </mc:AlternateContent>
      <p:sp>
        <p:nvSpPr>
          <p:cNvPr id="4" name="Freeform: Shape 3">
            <a:extLst>
              <a:ext uri="{FF2B5EF4-FFF2-40B4-BE49-F238E27FC236}">
                <a16:creationId xmlns:a16="http://schemas.microsoft.com/office/drawing/2014/main" id="{57EA2591-CE9C-4D19-BCBB-E0FE31B4D499}"/>
              </a:ext>
            </a:extLst>
          </p:cNvPr>
          <p:cNvSpPr/>
          <p:nvPr/>
        </p:nvSpPr>
        <p:spPr>
          <a:xfrm>
            <a:off x="4202289" y="1835856"/>
            <a:ext cx="711200" cy="1790700"/>
          </a:xfrm>
          <a:custGeom>
            <a:avLst/>
            <a:gdLst>
              <a:gd name="connsiteX0" fmla="*/ 0 w 711200"/>
              <a:gd name="connsiteY0" fmla="*/ 1790700 h 1790700"/>
              <a:gd name="connsiteX1" fmla="*/ 190500 w 711200"/>
              <a:gd name="connsiteY1" fmla="*/ 1092200 h 1790700"/>
              <a:gd name="connsiteX2" fmla="*/ 622300 w 711200"/>
              <a:gd name="connsiteY2" fmla="*/ 469900 h 1790700"/>
              <a:gd name="connsiteX3" fmla="*/ 711200 w 711200"/>
              <a:gd name="connsiteY3" fmla="*/ 0 h 1790700"/>
            </a:gdLst>
            <a:ahLst/>
            <a:cxnLst>
              <a:cxn ang="0">
                <a:pos x="connsiteX0" y="connsiteY0"/>
              </a:cxn>
              <a:cxn ang="0">
                <a:pos x="connsiteX1" y="connsiteY1"/>
              </a:cxn>
              <a:cxn ang="0">
                <a:pos x="connsiteX2" y="connsiteY2"/>
              </a:cxn>
              <a:cxn ang="0">
                <a:pos x="connsiteX3" y="connsiteY3"/>
              </a:cxn>
            </a:cxnLst>
            <a:rect l="l" t="t" r="r" b="b"/>
            <a:pathLst>
              <a:path w="711200" h="1790700">
                <a:moveTo>
                  <a:pt x="0" y="1790700"/>
                </a:moveTo>
                <a:cubicBezTo>
                  <a:pt x="43391" y="1551516"/>
                  <a:pt x="86783" y="1312333"/>
                  <a:pt x="190500" y="1092200"/>
                </a:cubicBezTo>
                <a:cubicBezTo>
                  <a:pt x="294217" y="872067"/>
                  <a:pt x="535517" y="651933"/>
                  <a:pt x="622300" y="469900"/>
                </a:cubicBezTo>
                <a:cubicBezTo>
                  <a:pt x="709083" y="287867"/>
                  <a:pt x="710141" y="143933"/>
                  <a:pt x="711200"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Freeform: Shape 4">
            <a:extLst>
              <a:ext uri="{FF2B5EF4-FFF2-40B4-BE49-F238E27FC236}">
                <a16:creationId xmlns:a16="http://schemas.microsoft.com/office/drawing/2014/main" id="{C8C8F9B6-05F2-4251-A572-A7A50D41DE9F}"/>
              </a:ext>
            </a:extLst>
          </p:cNvPr>
          <p:cNvSpPr/>
          <p:nvPr/>
        </p:nvSpPr>
        <p:spPr>
          <a:xfrm>
            <a:off x="4202290" y="1797756"/>
            <a:ext cx="3372554" cy="1828800"/>
          </a:xfrm>
          <a:custGeom>
            <a:avLst/>
            <a:gdLst>
              <a:gd name="connsiteX0" fmla="*/ 0 w 3390900"/>
              <a:gd name="connsiteY0" fmla="*/ 1828800 h 1828800"/>
              <a:gd name="connsiteX1" fmla="*/ 342900 w 3390900"/>
              <a:gd name="connsiteY1" fmla="*/ 1257300 h 1828800"/>
              <a:gd name="connsiteX2" fmla="*/ 1257300 w 3390900"/>
              <a:gd name="connsiteY2" fmla="*/ 850900 h 1828800"/>
              <a:gd name="connsiteX3" fmla="*/ 2679700 w 3390900"/>
              <a:gd name="connsiteY3" fmla="*/ 838200 h 1828800"/>
              <a:gd name="connsiteX4" fmla="*/ 3390900 w 3390900"/>
              <a:gd name="connsiteY4" fmla="*/ 0 h 1828800"/>
              <a:gd name="connsiteX5" fmla="*/ 3390900 w 3390900"/>
              <a:gd name="connsiteY5"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0900" h="1828800">
                <a:moveTo>
                  <a:pt x="0" y="1828800"/>
                </a:moveTo>
                <a:cubicBezTo>
                  <a:pt x="66675" y="1624541"/>
                  <a:pt x="133350" y="1420283"/>
                  <a:pt x="342900" y="1257300"/>
                </a:cubicBezTo>
                <a:cubicBezTo>
                  <a:pt x="552450" y="1094317"/>
                  <a:pt x="867833" y="920750"/>
                  <a:pt x="1257300" y="850900"/>
                </a:cubicBezTo>
                <a:cubicBezTo>
                  <a:pt x="1646767" y="781050"/>
                  <a:pt x="2324100" y="980017"/>
                  <a:pt x="2679700" y="838200"/>
                </a:cubicBezTo>
                <a:cubicBezTo>
                  <a:pt x="3035300" y="696383"/>
                  <a:pt x="3390900" y="0"/>
                  <a:pt x="3390900" y="0"/>
                </a:cubicBezTo>
                <a:lnTo>
                  <a:pt x="3390900" y="0"/>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11" name="Group 10">
            <a:extLst>
              <a:ext uri="{FF2B5EF4-FFF2-40B4-BE49-F238E27FC236}">
                <a16:creationId xmlns:a16="http://schemas.microsoft.com/office/drawing/2014/main" id="{48643BDD-C08F-0B0B-30DB-16819FFA9CDE}"/>
              </a:ext>
            </a:extLst>
          </p:cNvPr>
          <p:cNvGrpSpPr/>
          <p:nvPr/>
        </p:nvGrpSpPr>
        <p:grpSpPr>
          <a:xfrm>
            <a:off x="5870222" y="1884334"/>
            <a:ext cx="3543725" cy="4234244"/>
            <a:chOff x="5452533" y="1907822"/>
            <a:chExt cx="3543725" cy="4368800"/>
          </a:xfrm>
        </p:grpSpPr>
        <p:sp>
          <p:nvSpPr>
            <p:cNvPr id="9" name="Freeform: Shape 8">
              <a:extLst>
                <a:ext uri="{FF2B5EF4-FFF2-40B4-BE49-F238E27FC236}">
                  <a16:creationId xmlns:a16="http://schemas.microsoft.com/office/drawing/2014/main" id="{0CEBF911-A388-3FDE-1425-8AC049404DFA}"/>
                </a:ext>
              </a:extLst>
            </p:cNvPr>
            <p:cNvSpPr/>
            <p:nvPr/>
          </p:nvSpPr>
          <p:spPr>
            <a:xfrm>
              <a:off x="5452533" y="1907822"/>
              <a:ext cx="3543725" cy="4368800"/>
            </a:xfrm>
            <a:custGeom>
              <a:avLst/>
              <a:gdLst>
                <a:gd name="connsiteX0" fmla="*/ 1343378 w 3543725"/>
                <a:gd name="connsiteY0" fmla="*/ 4368800 h 4368800"/>
                <a:gd name="connsiteX1" fmla="*/ 1614311 w 3543725"/>
                <a:gd name="connsiteY1" fmla="*/ 3736622 h 4368800"/>
                <a:gd name="connsiteX2" fmla="*/ 2336800 w 3543725"/>
                <a:gd name="connsiteY2" fmla="*/ 3420534 h 4368800"/>
                <a:gd name="connsiteX3" fmla="*/ 3239911 w 3543725"/>
                <a:gd name="connsiteY3" fmla="*/ 3048000 h 4368800"/>
                <a:gd name="connsiteX4" fmla="*/ 3488267 w 3543725"/>
                <a:gd name="connsiteY4" fmla="*/ 2223911 h 4368800"/>
                <a:gd name="connsiteX5" fmla="*/ 3510845 w 3543725"/>
                <a:gd name="connsiteY5" fmla="*/ 1332089 h 4368800"/>
                <a:gd name="connsiteX6" fmla="*/ 3104445 w 3543725"/>
                <a:gd name="connsiteY6" fmla="*/ 903111 h 4368800"/>
                <a:gd name="connsiteX7" fmla="*/ 2562578 w 3543725"/>
                <a:gd name="connsiteY7" fmla="*/ 745067 h 4368800"/>
                <a:gd name="connsiteX8" fmla="*/ 2032000 w 3543725"/>
                <a:gd name="connsiteY8" fmla="*/ 666045 h 4368800"/>
                <a:gd name="connsiteX9" fmla="*/ 1207911 w 3543725"/>
                <a:gd name="connsiteY9" fmla="*/ 587022 h 4368800"/>
                <a:gd name="connsiteX10" fmla="*/ 349956 w 3543725"/>
                <a:gd name="connsiteY10" fmla="*/ 541867 h 4368800"/>
                <a:gd name="connsiteX11" fmla="*/ 79023 w 3543725"/>
                <a:gd name="connsiteY11" fmla="*/ 372534 h 4368800"/>
                <a:gd name="connsiteX12" fmla="*/ 0 w 3543725"/>
                <a:gd name="connsiteY12" fmla="*/ 0 h 436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3725" h="4368800">
                  <a:moveTo>
                    <a:pt x="1343378" y="4368800"/>
                  </a:moveTo>
                  <a:cubicBezTo>
                    <a:pt x="1396059" y="4131733"/>
                    <a:pt x="1448741" y="3894666"/>
                    <a:pt x="1614311" y="3736622"/>
                  </a:cubicBezTo>
                  <a:cubicBezTo>
                    <a:pt x="1779881" y="3578578"/>
                    <a:pt x="2065867" y="3535304"/>
                    <a:pt x="2336800" y="3420534"/>
                  </a:cubicBezTo>
                  <a:cubicBezTo>
                    <a:pt x="2607733" y="3305764"/>
                    <a:pt x="3048000" y="3247437"/>
                    <a:pt x="3239911" y="3048000"/>
                  </a:cubicBezTo>
                  <a:cubicBezTo>
                    <a:pt x="3431822" y="2848563"/>
                    <a:pt x="3443111" y="2509896"/>
                    <a:pt x="3488267" y="2223911"/>
                  </a:cubicBezTo>
                  <a:cubicBezTo>
                    <a:pt x="3533423" y="1937926"/>
                    <a:pt x="3574815" y="1552222"/>
                    <a:pt x="3510845" y="1332089"/>
                  </a:cubicBezTo>
                  <a:cubicBezTo>
                    <a:pt x="3446875" y="1111956"/>
                    <a:pt x="3262489" y="1000948"/>
                    <a:pt x="3104445" y="903111"/>
                  </a:cubicBezTo>
                  <a:cubicBezTo>
                    <a:pt x="2946401" y="805274"/>
                    <a:pt x="2741319" y="784578"/>
                    <a:pt x="2562578" y="745067"/>
                  </a:cubicBezTo>
                  <a:cubicBezTo>
                    <a:pt x="2383837" y="705556"/>
                    <a:pt x="2257778" y="692386"/>
                    <a:pt x="2032000" y="666045"/>
                  </a:cubicBezTo>
                  <a:cubicBezTo>
                    <a:pt x="1806222" y="639704"/>
                    <a:pt x="1488252" y="607718"/>
                    <a:pt x="1207911" y="587022"/>
                  </a:cubicBezTo>
                  <a:cubicBezTo>
                    <a:pt x="927570" y="566326"/>
                    <a:pt x="538104" y="577615"/>
                    <a:pt x="349956" y="541867"/>
                  </a:cubicBezTo>
                  <a:cubicBezTo>
                    <a:pt x="161808" y="506119"/>
                    <a:pt x="137349" y="462845"/>
                    <a:pt x="79023" y="372534"/>
                  </a:cubicBezTo>
                  <a:cubicBezTo>
                    <a:pt x="20697" y="282223"/>
                    <a:pt x="10348" y="141111"/>
                    <a:pt x="0"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1179627A-5996-C679-9E0F-5B45064D7150}"/>
                </a:ext>
              </a:extLst>
            </p:cNvPr>
            <p:cNvSpPr/>
            <p:nvPr/>
          </p:nvSpPr>
          <p:spPr>
            <a:xfrm>
              <a:off x="6616994" y="1930400"/>
              <a:ext cx="1770649" cy="801511"/>
            </a:xfrm>
            <a:custGeom>
              <a:avLst/>
              <a:gdLst>
                <a:gd name="connsiteX0" fmla="*/ 2121252 w 2121252"/>
                <a:gd name="connsiteY0" fmla="*/ 801511 h 801511"/>
                <a:gd name="connsiteX1" fmla="*/ 845608 w 2121252"/>
                <a:gd name="connsiteY1" fmla="*/ 485422 h 801511"/>
                <a:gd name="connsiteX2" fmla="*/ 89252 w 2121252"/>
                <a:gd name="connsiteY2" fmla="*/ 237067 h 801511"/>
                <a:gd name="connsiteX3" fmla="*/ 44097 w 2121252"/>
                <a:gd name="connsiteY3" fmla="*/ 0 h 801511"/>
              </a:gdLst>
              <a:ahLst/>
              <a:cxnLst>
                <a:cxn ang="0">
                  <a:pos x="connsiteX0" y="connsiteY0"/>
                </a:cxn>
                <a:cxn ang="0">
                  <a:pos x="connsiteX1" y="connsiteY1"/>
                </a:cxn>
                <a:cxn ang="0">
                  <a:pos x="connsiteX2" y="connsiteY2"/>
                </a:cxn>
                <a:cxn ang="0">
                  <a:pos x="connsiteX3" y="connsiteY3"/>
                </a:cxn>
              </a:cxnLst>
              <a:rect l="l" t="t" r="r" b="b"/>
              <a:pathLst>
                <a:path w="2121252" h="801511">
                  <a:moveTo>
                    <a:pt x="2121252" y="801511"/>
                  </a:moveTo>
                  <a:cubicBezTo>
                    <a:pt x="1652763" y="690503"/>
                    <a:pt x="1184275" y="579496"/>
                    <a:pt x="845608" y="485422"/>
                  </a:cubicBezTo>
                  <a:cubicBezTo>
                    <a:pt x="506941" y="391348"/>
                    <a:pt x="222837" y="317971"/>
                    <a:pt x="89252" y="237067"/>
                  </a:cubicBezTo>
                  <a:cubicBezTo>
                    <a:pt x="-44333" y="156163"/>
                    <a:pt x="-118" y="78081"/>
                    <a:pt x="44097"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313713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D16D8-25DE-49D1-85E8-68F8B45ED459}"/>
              </a:ext>
            </a:extLst>
          </p:cNvPr>
          <p:cNvSpPr>
            <a:spLocks noGrp="1"/>
          </p:cNvSpPr>
          <p:nvPr>
            <p:ph type="title"/>
          </p:nvPr>
        </p:nvSpPr>
        <p:spPr>
          <a:xfrm>
            <a:off x="93147" y="292323"/>
            <a:ext cx="6079297" cy="763600"/>
          </a:xfrm>
        </p:spPr>
        <p:txBody>
          <a:bodyPr/>
          <a:lstStyle/>
          <a:p>
            <a:r>
              <a:rPr lang="en-GB" dirty="0"/>
              <a:t>Doing “stats” by hand</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86D646BD-0A59-4BB9-934F-BE300E4FE01E}"/>
                  </a:ext>
                </a:extLst>
              </p:cNvPr>
              <p:cNvSpPr>
                <a:spLocks noGrp="1"/>
              </p:cNvSpPr>
              <p:nvPr>
                <p:ph type="body" idx="1"/>
              </p:nvPr>
            </p:nvSpPr>
            <p:spPr>
              <a:xfrm>
                <a:off x="93147" y="1536633"/>
                <a:ext cx="6079297" cy="5029044"/>
              </a:xfrm>
            </p:spPr>
            <p:txBody>
              <a:bodyPr/>
              <a:lstStyle/>
              <a:p>
                <a:pPr marL="152396" indent="0">
                  <a:buNone/>
                </a:pPr>
                <a:r>
                  <a:rPr lang="en-GB" dirty="0"/>
                  <a:t>Your straight-line equation:</a:t>
                </a:r>
              </a:p>
              <a:p>
                <a:pPr marL="152396" indent="0">
                  <a:buNone/>
                </a:pPr>
                <a:endParaRPr lang="en-GB" i="1" dirty="0"/>
              </a:p>
              <a:p>
                <a:pPr marL="152396"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𝑋</m:t>
                          </m:r>
                        </m:e>
                        <m:sub>
                          <m:r>
                            <a:rPr lang="en-GB" i="1">
                              <a:latin typeface="Cambria Math" panose="02040503050406030204" pitchFamily="18" charset="0"/>
                            </a:rPr>
                            <m:t>𝑖</m:t>
                          </m:r>
                        </m:sub>
                      </m:sSub>
                    </m:oMath>
                  </m:oMathPara>
                </a14:m>
                <a:endParaRPr lang="en-GB" sz="1800" dirty="0"/>
              </a:p>
              <a:p>
                <a:pPr marL="795847" lvl="1" indent="0">
                  <a:buNone/>
                </a:pPr>
                <a14:m>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𝑦</m:t>
                        </m:r>
                      </m:e>
                      <m:sub>
                        <m:r>
                          <a:rPr lang="en-GB" i="1">
                            <a:latin typeface="Cambria Math" panose="02040503050406030204" pitchFamily="18" charset="0"/>
                          </a:rPr>
                          <m:t>𝑖</m:t>
                        </m:r>
                      </m:sub>
                    </m:sSub>
                  </m:oMath>
                </a14:m>
                <a:r>
                  <a:rPr lang="en-GB" dirty="0"/>
                  <a:t> = Deon’s height</a:t>
                </a: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𝑋</m:t>
                        </m:r>
                      </m:e>
                      <m:sub>
                        <m:r>
                          <a:rPr lang="en-GB" i="1">
                            <a:latin typeface="Cambria Math" panose="02040503050406030204" pitchFamily="18" charset="0"/>
                          </a:rPr>
                          <m:t>𝑖</m:t>
                        </m:r>
                      </m:sub>
                    </m:sSub>
                  </m:oMath>
                </a14:m>
                <a:r>
                  <a:rPr lang="en-GB" dirty="0"/>
                  <a:t> = Deon’s age</a:t>
                </a: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oMath>
                </a14:m>
                <a:r>
                  <a:rPr lang="en-GB" dirty="0"/>
                  <a:t> = y-intercept </a:t>
                </a:r>
                <a:br>
                  <a:rPr lang="en-GB" dirty="0"/>
                </a:br>
                <a:r>
                  <a:rPr lang="en-GB" dirty="0"/>
                  <a:t>(I was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oMath>
                </a14:m>
                <a:r>
                  <a:rPr lang="en-GB" b="1" i="1" dirty="0"/>
                  <a:t> </a:t>
                </a:r>
                <a:r>
                  <a:rPr lang="en-GB" dirty="0"/>
                  <a:t>tall when I was born)</a:t>
                </a:r>
                <a:endParaRPr lang="en-GB" i="1" dirty="0">
                  <a:latin typeface="Cambria Math" panose="02040503050406030204" pitchFamily="18" charset="0"/>
                </a:endParaRP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oMath>
                </a14:m>
                <a:r>
                  <a:rPr lang="en-GB" dirty="0"/>
                  <a:t> = Slope </a:t>
                </a:r>
                <a:br>
                  <a:rPr lang="en-GB" dirty="0"/>
                </a:br>
                <a:r>
                  <a:rPr lang="en-GB" dirty="0"/>
                  <a:t>(aging 1 year increased my height by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oMath>
                </a14:m>
                <a:r>
                  <a:rPr lang="en-GB" dirty="0"/>
                  <a:t>)</a:t>
                </a:r>
              </a:p>
              <a:p>
                <a:pPr marL="795847" lvl="1" indent="0">
                  <a:buNone/>
                </a:pPr>
                <a:endParaRPr lang="en-GB" dirty="0"/>
              </a:p>
            </p:txBody>
          </p:sp>
        </mc:Choice>
        <mc:Fallback>
          <p:sp>
            <p:nvSpPr>
              <p:cNvPr id="3" name="Text Placeholder 2">
                <a:extLst>
                  <a:ext uri="{FF2B5EF4-FFF2-40B4-BE49-F238E27FC236}">
                    <a16:creationId xmlns:a16="http://schemas.microsoft.com/office/drawing/2014/main" id="{86D646BD-0A59-4BB9-934F-BE300E4FE01E}"/>
                  </a:ext>
                </a:extLst>
              </p:cNvPr>
              <p:cNvSpPr>
                <a:spLocks noGrp="1" noRot="1" noChangeAspect="1" noMove="1" noResize="1" noEditPoints="1" noAdjustHandles="1" noChangeArrowheads="1" noChangeShapeType="1" noTextEdit="1"/>
              </p:cNvSpPr>
              <p:nvPr>
                <p:ph type="body" idx="1"/>
              </p:nvPr>
            </p:nvSpPr>
            <p:spPr>
              <a:xfrm>
                <a:off x="93147" y="1536633"/>
                <a:ext cx="6079297" cy="5029044"/>
              </a:xfrm>
              <a:blipFill>
                <a:blip r:embed="rId2"/>
                <a:stretch>
                  <a:fillRect t="-1212" r="-401"/>
                </a:stretch>
              </a:blipFill>
            </p:spPr>
            <p:txBody>
              <a:bodyPr/>
              <a:lstStyle/>
              <a:p>
                <a:r>
                  <a:rPr lang="en-GB">
                    <a:noFill/>
                  </a:rPr>
                  <a:t> </a:t>
                </a:r>
              </a:p>
            </p:txBody>
          </p:sp>
        </mc:Fallback>
      </mc:AlternateContent>
      <p:sp>
        <p:nvSpPr>
          <p:cNvPr id="12" name="Rectangle: Rounded Corners 11">
            <a:extLst>
              <a:ext uri="{FF2B5EF4-FFF2-40B4-BE49-F238E27FC236}">
                <a16:creationId xmlns:a16="http://schemas.microsoft.com/office/drawing/2014/main" id="{7421EF30-7518-449A-8C23-6BCCFC663D14}"/>
              </a:ext>
            </a:extLst>
          </p:cNvPr>
          <p:cNvSpPr/>
          <p:nvPr/>
        </p:nvSpPr>
        <p:spPr>
          <a:xfrm>
            <a:off x="858644" y="3021980"/>
            <a:ext cx="2730398" cy="992459"/>
          </a:xfrm>
          <a:prstGeom prst="roundRect">
            <a:avLst/>
          </a:prstGeom>
          <a:noFill/>
          <a:ln w="19050">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293E803A-24B7-407B-B48E-91E817B82522}"/>
              </a:ext>
            </a:extLst>
          </p:cNvPr>
          <p:cNvSpPr txBox="1"/>
          <p:nvPr/>
        </p:nvSpPr>
        <p:spPr>
          <a:xfrm>
            <a:off x="4032804" y="3313897"/>
            <a:ext cx="1619434" cy="408623"/>
          </a:xfrm>
          <a:prstGeom prst="roundRect">
            <a:avLst/>
          </a:prstGeom>
          <a:noFill/>
          <a:ln w="19050">
            <a:solidFill>
              <a:schemeClr val="accent5">
                <a:lumMod val="40000"/>
                <a:lumOff val="60000"/>
              </a:schemeClr>
            </a:solidFill>
          </a:ln>
        </p:spPr>
        <p:txBody>
          <a:bodyPr wrap="none" rtlCol="0">
            <a:spAutoFit/>
          </a:bodyPr>
          <a:lstStyle/>
          <a:p>
            <a:r>
              <a:rPr lang="en-GB" b="1" i="1" dirty="0"/>
              <a:t>Observed data</a:t>
            </a:r>
          </a:p>
        </p:txBody>
      </p:sp>
      <p:cxnSp>
        <p:nvCxnSpPr>
          <p:cNvPr id="16" name="Straight Arrow Connector 15">
            <a:extLst>
              <a:ext uri="{FF2B5EF4-FFF2-40B4-BE49-F238E27FC236}">
                <a16:creationId xmlns:a16="http://schemas.microsoft.com/office/drawing/2014/main" id="{91DEE06C-C267-40F6-B153-97243000E2EE}"/>
              </a:ext>
            </a:extLst>
          </p:cNvPr>
          <p:cNvCxnSpPr>
            <a:cxnSpLocks/>
            <a:stCxn id="13" idx="1"/>
            <a:endCxn id="12" idx="3"/>
          </p:cNvCxnSpPr>
          <p:nvPr/>
        </p:nvCxnSpPr>
        <p:spPr>
          <a:xfrm flipH="1">
            <a:off x="3589042" y="3518209"/>
            <a:ext cx="443762" cy="1"/>
          </a:xfrm>
          <a:prstGeom prst="straightConnector1">
            <a:avLst/>
          </a:prstGeom>
          <a:ln w="19050">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25FCA1D2-D217-4B00-8558-8FFAB987AD53}"/>
              </a:ext>
            </a:extLst>
          </p:cNvPr>
          <p:cNvSpPr/>
          <p:nvPr/>
        </p:nvSpPr>
        <p:spPr>
          <a:xfrm>
            <a:off x="858643" y="4203229"/>
            <a:ext cx="5167687" cy="2055979"/>
          </a:xfrm>
          <a:prstGeom prst="roundRect">
            <a:avLst/>
          </a:prstGeom>
          <a:noFill/>
          <a:ln w="1905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E8EFC0B3-761C-4ADB-A8F1-234B278E0252}"/>
              </a:ext>
            </a:extLst>
          </p:cNvPr>
          <p:cNvSpPr txBox="1"/>
          <p:nvPr/>
        </p:nvSpPr>
        <p:spPr>
          <a:xfrm>
            <a:off x="2428529" y="6389116"/>
            <a:ext cx="2027915" cy="408623"/>
          </a:xfrm>
          <a:prstGeom prst="roundRect">
            <a:avLst/>
          </a:prstGeom>
          <a:noFill/>
          <a:ln w="19050">
            <a:solidFill>
              <a:schemeClr val="accent6">
                <a:lumMod val="40000"/>
                <a:lumOff val="60000"/>
              </a:schemeClr>
            </a:solidFill>
          </a:ln>
        </p:spPr>
        <p:txBody>
          <a:bodyPr wrap="square" rtlCol="0">
            <a:spAutoFit/>
          </a:bodyPr>
          <a:lstStyle/>
          <a:p>
            <a:r>
              <a:rPr lang="en-GB" b="1" i="1" dirty="0"/>
              <a:t>Unobserved data</a:t>
            </a:r>
          </a:p>
        </p:txBody>
      </p:sp>
      <p:cxnSp>
        <p:nvCxnSpPr>
          <p:cNvPr id="19" name="Straight Arrow Connector 18">
            <a:extLst>
              <a:ext uri="{FF2B5EF4-FFF2-40B4-BE49-F238E27FC236}">
                <a16:creationId xmlns:a16="http://schemas.microsoft.com/office/drawing/2014/main" id="{B45E76A0-8499-48F0-AAF7-60838EA8C725}"/>
              </a:ext>
            </a:extLst>
          </p:cNvPr>
          <p:cNvCxnSpPr>
            <a:cxnSpLocks/>
            <a:stCxn id="18" idx="0"/>
            <a:endCxn id="17" idx="2"/>
          </p:cNvCxnSpPr>
          <p:nvPr/>
        </p:nvCxnSpPr>
        <p:spPr>
          <a:xfrm flipV="1">
            <a:off x="3442487" y="6259208"/>
            <a:ext cx="0" cy="129908"/>
          </a:xfrm>
          <a:prstGeom prst="straightConnector1">
            <a:avLst/>
          </a:prstGeom>
          <a:ln w="19050">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descr="A screen shot of a graph&#10;&#10;Description automatically generated">
            <a:extLst>
              <a:ext uri="{FF2B5EF4-FFF2-40B4-BE49-F238E27FC236}">
                <a16:creationId xmlns:a16="http://schemas.microsoft.com/office/drawing/2014/main" id="{0E9C57F5-7D6A-7602-2A23-BCA963ED64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spTree>
    <p:extLst>
      <p:ext uri="{BB962C8B-B14F-4D97-AF65-F5344CB8AC3E}">
        <p14:creationId xmlns:p14="http://schemas.microsoft.com/office/powerpoint/2010/main" val="449469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animBg="1"/>
      <p:bldP spid="13"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D16D8-25DE-49D1-85E8-68F8B45ED459}"/>
              </a:ext>
            </a:extLst>
          </p:cNvPr>
          <p:cNvSpPr>
            <a:spLocks noGrp="1"/>
          </p:cNvSpPr>
          <p:nvPr>
            <p:ph type="title"/>
          </p:nvPr>
        </p:nvSpPr>
        <p:spPr>
          <a:xfrm>
            <a:off x="1357018" y="246864"/>
            <a:ext cx="5528000" cy="763600"/>
          </a:xfrm>
        </p:spPr>
        <p:txBody>
          <a:bodyPr/>
          <a:lstStyle/>
          <a:p>
            <a:r>
              <a:rPr lang="en-GB" dirty="0"/>
              <a:t>“Stats” by hand</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86D646BD-0A59-4BB9-934F-BE300E4FE01E}"/>
                  </a:ext>
                </a:extLst>
              </p:cNvPr>
              <p:cNvSpPr>
                <a:spLocks noGrp="1"/>
              </p:cNvSpPr>
              <p:nvPr>
                <p:ph type="body" idx="1"/>
              </p:nvPr>
            </p:nvSpPr>
            <p:spPr>
              <a:xfrm>
                <a:off x="-1" y="1299456"/>
                <a:ext cx="6440129" cy="5558544"/>
              </a:xfrm>
            </p:spPr>
            <p:txBody>
              <a:bodyPr/>
              <a:lstStyle/>
              <a:p>
                <a:pPr marL="152396" indent="0">
                  <a:buNone/>
                </a:pPr>
                <a:r>
                  <a:rPr lang="en-GB" i="1" dirty="0"/>
                  <a:t>Deon’s height =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r>
                      <a:rPr lang="en-GB" i="1">
                        <a:latin typeface="Cambria Math" panose="02040503050406030204" pitchFamily="18" charset="0"/>
                      </a:rPr>
                      <m:t>×</m:t>
                    </m:r>
                  </m:oMath>
                </a14:m>
                <a:r>
                  <a:rPr lang="en-GB" i="1" dirty="0"/>
                  <a:t> Deon’s age</a:t>
                </a:r>
              </a:p>
              <a:p>
                <a:pPr marL="152396" indent="0">
                  <a:buNone/>
                </a:pPr>
                <a:endParaRPr lang="en-GB" sz="2000" dirty="0"/>
              </a:p>
              <a:p>
                <a:pPr marL="152396" indent="0">
                  <a:buNone/>
                </a:pPr>
                <a:r>
                  <a:rPr lang="en-GB" sz="2000" dirty="0"/>
                  <a:t>What is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0</m:t>
                        </m:r>
                      </m:sub>
                    </m:sSub>
                  </m:oMath>
                </a14:m>
                <a:r>
                  <a:rPr lang="en-GB" sz="2000" dirty="0"/>
                  <a:t>?</a:t>
                </a:r>
              </a:p>
              <a:p>
                <a:r>
                  <a:rPr lang="en-GB" sz="2000" dirty="0"/>
                  <a:t>Imagine a line extending down to 0 years old.</a:t>
                </a:r>
              </a:p>
              <a:p>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0</m:t>
                        </m:r>
                      </m:sub>
                    </m:sSub>
                  </m:oMath>
                </a14:m>
                <a:r>
                  <a:rPr lang="en-GB" sz="2000" b="1" i="1" dirty="0"/>
                  <a:t> </a:t>
                </a:r>
                <a:r>
                  <a:rPr lang="en-GB" sz="2000" i="1" dirty="0"/>
                  <a:t>= 50 cm at 0 years old</a:t>
                </a:r>
              </a:p>
              <a:p>
                <a:pPr marL="152396" indent="0">
                  <a:buNone/>
                </a:pPr>
                <a:endParaRPr lang="en-GB" sz="2000" dirty="0"/>
              </a:p>
              <a:p>
                <a:pPr marL="152396" indent="0">
                  <a:buNone/>
                </a:pPr>
                <a:r>
                  <a:rPr lang="en-GB" sz="2000" dirty="0"/>
                  <a:t>What is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1</m:t>
                        </m:r>
                      </m:sub>
                    </m:sSub>
                  </m:oMath>
                </a14:m>
                <a:r>
                  <a:rPr lang="en-GB" sz="2000" dirty="0"/>
                  <a:t>?</a:t>
                </a:r>
              </a:p>
              <a:p>
                <a:r>
                  <a:rPr lang="en-GB" sz="2000" dirty="0"/>
                  <a:t>How much did I grow in one year?</a:t>
                </a:r>
              </a:p>
              <a:p>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1</m:t>
                        </m:r>
                      </m:sub>
                    </m:sSub>
                  </m:oMath>
                </a14:m>
                <a:r>
                  <a:rPr lang="en-GB" sz="2000" b="1" i="1" dirty="0"/>
                  <a:t> </a:t>
                </a:r>
                <a:r>
                  <a:rPr lang="en-GB" sz="2000" i="1" dirty="0"/>
                  <a:t>= 15 cm per year</a:t>
                </a:r>
                <a:endParaRPr lang="en-GB" sz="2000" dirty="0"/>
              </a:p>
              <a:p>
                <a:pPr marL="152396" indent="0">
                  <a:buNone/>
                </a:pPr>
                <a:endParaRPr lang="en-GB" sz="2000" b="1" i="1" dirty="0"/>
              </a:p>
              <a:p>
                <a:pPr marL="152396" indent="0">
                  <a:buNone/>
                </a:pPr>
                <a:r>
                  <a:rPr lang="en-GB" sz="2000" b="1" i="1" dirty="0"/>
                  <a:t>We now have an association.</a:t>
                </a:r>
              </a:p>
              <a:p>
                <a:pPr marL="152396" indent="0">
                  <a:buNone/>
                </a:pPr>
                <a:endParaRPr lang="en-GB" sz="2000" b="1" i="1" dirty="0"/>
              </a:p>
              <a:p>
                <a:pPr marL="152396" indent="0">
                  <a:buNone/>
                </a:pPr>
                <a:r>
                  <a:rPr lang="en-GB" sz="2000" dirty="0"/>
                  <a:t>We can use this to make predictions:</a:t>
                </a:r>
              </a:p>
              <a:p>
                <a:r>
                  <a:rPr lang="en-GB" sz="2000" dirty="0"/>
                  <a:t>How tall was I at 6 years old?</a:t>
                </a:r>
              </a:p>
              <a:p>
                <a:r>
                  <a:rPr lang="en-GB" sz="2000" i="1" dirty="0"/>
                  <a:t>Height =  50 + 15 </a:t>
                </a:r>
                <a14:m>
                  <m:oMath xmlns:m="http://schemas.openxmlformats.org/officeDocument/2006/math">
                    <m:r>
                      <a:rPr lang="en-GB" sz="2000" i="1">
                        <a:latin typeface="Cambria Math" panose="02040503050406030204" pitchFamily="18" charset="0"/>
                      </a:rPr>
                      <m:t>×</m:t>
                    </m:r>
                  </m:oMath>
                </a14:m>
                <a:r>
                  <a:rPr lang="en-GB" sz="2000" i="1" dirty="0"/>
                  <a:t> 6 = 140 cm</a:t>
                </a:r>
              </a:p>
              <a:p>
                <a:endParaRPr lang="en-GB" sz="2000" b="1" i="1" dirty="0"/>
              </a:p>
              <a:p>
                <a:r>
                  <a:rPr lang="en-GB" sz="2000" dirty="0"/>
                  <a:t>How tall will I be when I am 120?</a:t>
                </a:r>
              </a:p>
              <a:p>
                <a:r>
                  <a:rPr lang="en-GB" sz="2000" i="1" dirty="0"/>
                  <a:t>Height = 50 + 15 </a:t>
                </a:r>
                <a14:m>
                  <m:oMath xmlns:m="http://schemas.openxmlformats.org/officeDocument/2006/math">
                    <m:r>
                      <a:rPr lang="en-GB" sz="2000" i="1">
                        <a:latin typeface="Cambria Math" panose="02040503050406030204" pitchFamily="18" charset="0"/>
                      </a:rPr>
                      <m:t>×</m:t>
                    </m:r>
                  </m:oMath>
                </a14:m>
                <a:r>
                  <a:rPr lang="en-GB" sz="2000" i="1" dirty="0"/>
                  <a:t> 120 = </a:t>
                </a:r>
                <a:r>
                  <a:rPr lang="en-GB" sz="2000" b="1" i="1" dirty="0"/>
                  <a:t>1850 cm</a:t>
                </a:r>
              </a:p>
              <a:p>
                <a:r>
                  <a:rPr lang="en-GB" sz="2000" dirty="0"/>
                  <a:t>Be very careful when predicting</a:t>
                </a:r>
              </a:p>
              <a:p>
                <a:pPr marL="152396" indent="0">
                  <a:buNone/>
                </a:pPr>
                <a:endParaRPr lang="en-GB" sz="2000" dirty="0"/>
              </a:p>
            </p:txBody>
          </p:sp>
        </mc:Choice>
        <mc:Fallback>
          <p:sp>
            <p:nvSpPr>
              <p:cNvPr id="3" name="Text Placeholder 2">
                <a:extLst>
                  <a:ext uri="{FF2B5EF4-FFF2-40B4-BE49-F238E27FC236}">
                    <a16:creationId xmlns:a16="http://schemas.microsoft.com/office/drawing/2014/main" id="{86D646BD-0A59-4BB9-934F-BE300E4FE01E}"/>
                  </a:ext>
                </a:extLst>
              </p:cNvPr>
              <p:cNvSpPr>
                <a:spLocks noGrp="1" noRot="1" noChangeAspect="1" noMove="1" noResize="1" noEditPoints="1" noAdjustHandles="1" noChangeArrowheads="1" noChangeShapeType="1" noTextEdit="1"/>
              </p:cNvSpPr>
              <p:nvPr>
                <p:ph type="body" idx="1"/>
              </p:nvPr>
            </p:nvSpPr>
            <p:spPr>
              <a:xfrm>
                <a:off x="-1" y="1299456"/>
                <a:ext cx="6440129" cy="5558544"/>
              </a:xfrm>
              <a:blipFill>
                <a:blip r:embed="rId2"/>
                <a:stretch>
                  <a:fillRect t="-1206" b="-219"/>
                </a:stretch>
              </a:blipFill>
            </p:spPr>
            <p:txBody>
              <a:bodyPr/>
              <a:lstStyle/>
              <a:p>
                <a:r>
                  <a:rPr lang="en-GB">
                    <a:noFill/>
                  </a:rPr>
                  <a:t> </a:t>
                </a:r>
              </a:p>
            </p:txBody>
          </p:sp>
        </mc:Fallback>
      </mc:AlternateContent>
      <p:pic>
        <p:nvPicPr>
          <p:cNvPr id="9" name="Picture 8" descr="A graph on a black background&#10;&#10;Description automatically generated">
            <a:extLst>
              <a:ext uri="{FF2B5EF4-FFF2-40B4-BE49-F238E27FC236}">
                <a16:creationId xmlns:a16="http://schemas.microsoft.com/office/drawing/2014/main" id="{E52F8F34-5031-4DE5-834D-AF45F3C13E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128" y="0"/>
            <a:ext cx="5751871" cy="6858000"/>
          </a:xfrm>
          <a:prstGeom prst="rect">
            <a:avLst/>
          </a:prstGeom>
        </p:spPr>
      </p:pic>
    </p:spTree>
    <p:extLst>
      <p:ext uri="{BB962C8B-B14F-4D97-AF65-F5344CB8AC3E}">
        <p14:creationId xmlns:p14="http://schemas.microsoft.com/office/powerpoint/2010/main" val="1592804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939E-0205-7A74-4BE0-70C10C6305A2}"/>
              </a:ext>
            </a:extLst>
          </p:cNvPr>
          <p:cNvSpPr>
            <a:spLocks noGrp="1"/>
          </p:cNvSpPr>
          <p:nvPr>
            <p:ph type="title"/>
          </p:nvPr>
        </p:nvSpPr>
        <p:spPr/>
        <p:txBody>
          <a:bodyPr/>
          <a:lstStyle/>
          <a:p>
            <a:r>
              <a:rPr lang="en-GB" dirty="0"/>
              <a:t>More realism</a:t>
            </a:r>
          </a:p>
        </p:txBody>
      </p:sp>
      <p:sp>
        <p:nvSpPr>
          <p:cNvPr id="3" name="Content Placeholder 2">
            <a:extLst>
              <a:ext uri="{FF2B5EF4-FFF2-40B4-BE49-F238E27FC236}">
                <a16:creationId xmlns:a16="http://schemas.microsoft.com/office/drawing/2014/main" id="{011D306B-AC60-2F57-8CD4-AC4058FEC16D}"/>
              </a:ext>
            </a:extLst>
          </p:cNvPr>
          <p:cNvSpPr>
            <a:spLocks noGrp="1"/>
          </p:cNvSpPr>
          <p:nvPr>
            <p:ph idx="1"/>
          </p:nvPr>
        </p:nvSpPr>
        <p:spPr/>
        <p:txBody>
          <a:bodyPr/>
          <a:lstStyle/>
          <a:p>
            <a:r>
              <a:rPr lang="en-GB" dirty="0"/>
              <a:t>The real world is not perfect</a:t>
            </a:r>
          </a:p>
          <a:p>
            <a:r>
              <a:rPr lang="en-GB" dirty="0"/>
              <a:t>There is always variation</a:t>
            </a:r>
          </a:p>
          <a:p>
            <a:pPr lvl="1"/>
            <a:r>
              <a:rPr lang="en-GB" dirty="0"/>
              <a:t>E.g. growth spurts</a:t>
            </a:r>
          </a:p>
        </p:txBody>
      </p:sp>
      <p:pic>
        <p:nvPicPr>
          <p:cNvPr id="14" name="Picture Placeholder 13" descr="A graph on a black background&#10;&#10;Description automatically generated">
            <a:extLst>
              <a:ext uri="{FF2B5EF4-FFF2-40B4-BE49-F238E27FC236}">
                <a16:creationId xmlns:a16="http://schemas.microsoft.com/office/drawing/2014/main" id="{3B0BD5AE-FCDF-C8BC-063C-755AE5DC0B1C}"/>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1398837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939E-0205-7A74-4BE0-70C10C6305A2}"/>
              </a:ext>
            </a:extLst>
          </p:cNvPr>
          <p:cNvSpPr>
            <a:spLocks noGrp="1"/>
          </p:cNvSpPr>
          <p:nvPr>
            <p:ph type="title"/>
          </p:nvPr>
        </p:nvSpPr>
        <p:spPr/>
        <p:txBody>
          <a:bodyPr/>
          <a:lstStyle/>
          <a:p>
            <a:r>
              <a:rPr lang="en-GB" dirty="0"/>
              <a:t>More realism</a:t>
            </a:r>
          </a:p>
        </p:txBody>
      </p:sp>
      <p:sp>
        <p:nvSpPr>
          <p:cNvPr id="3" name="Content Placeholder 2">
            <a:extLst>
              <a:ext uri="{FF2B5EF4-FFF2-40B4-BE49-F238E27FC236}">
                <a16:creationId xmlns:a16="http://schemas.microsoft.com/office/drawing/2014/main" id="{011D306B-AC60-2F57-8CD4-AC4058FEC16D}"/>
              </a:ext>
            </a:extLst>
          </p:cNvPr>
          <p:cNvSpPr>
            <a:spLocks noGrp="1"/>
          </p:cNvSpPr>
          <p:nvPr>
            <p:ph idx="1"/>
          </p:nvPr>
        </p:nvSpPr>
        <p:spPr/>
        <p:txBody>
          <a:bodyPr/>
          <a:lstStyle/>
          <a:p>
            <a:r>
              <a:rPr lang="en-GB" dirty="0"/>
              <a:t>The real world is not perfect</a:t>
            </a:r>
          </a:p>
          <a:p>
            <a:r>
              <a:rPr lang="en-GB" dirty="0"/>
              <a:t>There is always variation</a:t>
            </a:r>
          </a:p>
          <a:p>
            <a:pPr lvl="1"/>
            <a:r>
              <a:rPr lang="en-GB" dirty="0"/>
              <a:t>E.g. growth spurts</a:t>
            </a:r>
          </a:p>
          <a:p>
            <a:r>
              <a:rPr lang="en-GB" dirty="0"/>
              <a:t>Individuals are not the same</a:t>
            </a:r>
          </a:p>
        </p:txBody>
      </p:sp>
      <p:pic>
        <p:nvPicPr>
          <p:cNvPr id="11" name="Picture Placeholder 10" descr="A graph of colored lines and dots&#10;&#10;Description automatically generated">
            <a:extLst>
              <a:ext uri="{FF2B5EF4-FFF2-40B4-BE49-F238E27FC236}">
                <a16:creationId xmlns:a16="http://schemas.microsoft.com/office/drawing/2014/main" id="{B6DBCCFB-83B6-63F8-D3B6-CB4979DA3DAF}"/>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1962319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939E-0205-7A74-4BE0-70C10C6305A2}"/>
              </a:ext>
            </a:extLst>
          </p:cNvPr>
          <p:cNvSpPr>
            <a:spLocks noGrp="1"/>
          </p:cNvSpPr>
          <p:nvPr>
            <p:ph type="title"/>
          </p:nvPr>
        </p:nvSpPr>
        <p:spPr/>
        <p:txBody>
          <a:bodyPr/>
          <a:lstStyle/>
          <a:p>
            <a:r>
              <a:rPr lang="en-GB" dirty="0"/>
              <a:t>What stats does</a:t>
            </a:r>
          </a:p>
        </p:txBody>
      </p:sp>
      <p:sp>
        <p:nvSpPr>
          <p:cNvPr id="3" name="Content Placeholder 2">
            <a:extLst>
              <a:ext uri="{FF2B5EF4-FFF2-40B4-BE49-F238E27FC236}">
                <a16:creationId xmlns:a16="http://schemas.microsoft.com/office/drawing/2014/main" id="{011D306B-AC60-2F57-8CD4-AC4058FEC16D}"/>
              </a:ext>
            </a:extLst>
          </p:cNvPr>
          <p:cNvSpPr>
            <a:spLocks noGrp="1"/>
          </p:cNvSpPr>
          <p:nvPr>
            <p:ph idx="1"/>
          </p:nvPr>
        </p:nvSpPr>
        <p:spPr/>
        <p:txBody>
          <a:bodyPr/>
          <a:lstStyle/>
          <a:p>
            <a:r>
              <a:rPr lang="en-GB" dirty="0"/>
              <a:t>Statistics not only deals with variation but incorporates it</a:t>
            </a:r>
          </a:p>
          <a:p>
            <a:r>
              <a:rPr lang="en-GB" dirty="0"/>
              <a:t>Cuts through the noise to show signal</a:t>
            </a:r>
          </a:p>
          <a:p>
            <a:r>
              <a:rPr lang="en-GB" dirty="0"/>
              <a:t>Ideally, finds the relationship we want to understand</a:t>
            </a:r>
          </a:p>
        </p:txBody>
      </p:sp>
      <p:pic>
        <p:nvPicPr>
          <p:cNvPr id="7" name="Picture Placeholder 6" descr="A graph on a black background&#10;&#10;Description automatically generated">
            <a:extLst>
              <a:ext uri="{FF2B5EF4-FFF2-40B4-BE49-F238E27FC236}">
                <a16:creationId xmlns:a16="http://schemas.microsoft.com/office/drawing/2014/main" id="{729A6A9F-D9A3-A782-7CFC-2F72A1EE29B7}"/>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606309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D751-B33A-A35F-8BF6-693F4328A859}"/>
              </a:ext>
            </a:extLst>
          </p:cNvPr>
          <p:cNvSpPr>
            <a:spLocks noGrp="1"/>
          </p:cNvSpPr>
          <p:nvPr>
            <p:ph type="title"/>
          </p:nvPr>
        </p:nvSpPr>
        <p:spPr/>
        <p:txBody>
          <a:bodyPr/>
          <a:lstStyle/>
          <a:p>
            <a:r>
              <a:rPr lang="en-GB" dirty="0"/>
              <a:t>Stochastic element</a:t>
            </a:r>
          </a:p>
        </p:txBody>
      </p:sp>
    </p:spTree>
    <p:extLst>
      <p:ext uri="{BB962C8B-B14F-4D97-AF65-F5344CB8AC3E}">
        <p14:creationId xmlns:p14="http://schemas.microsoft.com/office/powerpoint/2010/main" val="4257438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graph with numbers and lines&#10;&#10;Description automatically generated">
            <a:extLst>
              <a:ext uri="{FF2B5EF4-FFF2-40B4-BE49-F238E27FC236}">
                <a16:creationId xmlns:a16="http://schemas.microsoft.com/office/drawing/2014/main" id="{050C648A-3582-0B08-839F-8FE8F0E05038}"/>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a:stretch/>
        </p:blipFill>
        <p:spPr>
          <a:xfrm>
            <a:off x="6359525" y="0"/>
            <a:ext cx="5832475" cy="6858000"/>
          </a:xfrm>
        </p:spPr>
      </p:pic>
      <p:pic>
        <p:nvPicPr>
          <p:cNvPr id="8" name="Picture 7" descr="A graph of a graph&#10;&#10;Description automatically generated with medium confidence">
            <a:extLst>
              <a:ext uri="{FF2B5EF4-FFF2-40B4-BE49-F238E27FC236}">
                <a16:creationId xmlns:a16="http://schemas.microsoft.com/office/drawing/2014/main" id="{9800546A-6430-139A-4643-ACEB668C67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9826" y="0"/>
            <a:ext cx="5751871" cy="6858000"/>
          </a:xfrm>
          <a:prstGeom prst="rect">
            <a:avLst/>
          </a:prstGeom>
        </p:spPr>
      </p:pic>
      <p:sp>
        <p:nvSpPr>
          <p:cNvPr id="2" name="Title 1">
            <a:extLst>
              <a:ext uri="{FF2B5EF4-FFF2-40B4-BE49-F238E27FC236}">
                <a16:creationId xmlns:a16="http://schemas.microsoft.com/office/drawing/2014/main" id="{C9A5A6F4-C291-03FA-D2C2-C79A58258A3F}"/>
              </a:ext>
            </a:extLst>
          </p:cNvPr>
          <p:cNvSpPr>
            <a:spLocks noGrp="1"/>
          </p:cNvSpPr>
          <p:nvPr>
            <p:ph type="title"/>
          </p:nvPr>
        </p:nvSpPr>
        <p:spPr/>
        <p:txBody>
          <a:bodyPr/>
          <a:lstStyle/>
          <a:p>
            <a:r>
              <a:rPr lang="en-GB" dirty="0"/>
              <a:t>Distributions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E91846-2FDE-8D27-B999-DF3102D0A94A}"/>
                  </a:ext>
                </a:extLst>
              </p:cNvPr>
              <p:cNvSpPr>
                <a:spLocks noGrp="1"/>
              </p:cNvSpPr>
              <p:nvPr>
                <p:ph idx="1"/>
              </p:nvPr>
            </p:nvSpPr>
            <p:spPr/>
            <p:txBody>
              <a:bodyPr>
                <a:normAutofit lnSpcReduction="10000"/>
              </a:bodyPr>
              <a:lstStyle/>
              <a:p>
                <a:r>
                  <a:rPr lang="en-GB" dirty="0"/>
                  <a:t>Imagine a random number between 0 and 100</a:t>
                </a:r>
              </a:p>
              <a:p>
                <a:r>
                  <a:rPr lang="en-GB" dirty="0"/>
                  <a:t>Each value (should) have an equal probability of being selected</a:t>
                </a:r>
              </a:p>
              <a:p>
                <a:r>
                  <a:rPr lang="en-GB" dirty="0"/>
                  <a:t>But in the real world, we have randomness (“stochasticity”)</a:t>
                </a:r>
              </a:p>
              <a:p>
                <a:r>
                  <a:rPr lang="en-GB" dirty="0"/>
                  <a:t>To describe that random number generator, we can write:</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𝑈𝑛𝑖𝑓𝑜𝑟𝑚</m:t>
                      </m:r>
                      <m:r>
                        <a:rPr lang="en-GB" b="0" i="1" smtClean="0">
                          <a:latin typeface="Cambria Math" panose="02040503050406030204" pitchFamily="18" charset="0"/>
                        </a:rPr>
                        <m:t>(0, 100)</m:t>
                      </m:r>
                    </m:oMath>
                  </m:oMathPara>
                </a14:m>
                <a:endParaRPr lang="en-GB" dirty="0"/>
              </a:p>
              <a:p>
                <a:r>
                  <a:rPr lang="en-GB" dirty="0"/>
                  <a:t>But what if the world isn’t that simple?</a:t>
                </a:r>
              </a:p>
            </p:txBody>
          </p:sp>
        </mc:Choice>
        <mc:Fallback xmlns="">
          <p:sp>
            <p:nvSpPr>
              <p:cNvPr id="3" name="Content Placeholder 2">
                <a:extLst>
                  <a:ext uri="{FF2B5EF4-FFF2-40B4-BE49-F238E27FC236}">
                    <a16:creationId xmlns:a16="http://schemas.microsoft.com/office/drawing/2014/main" id="{F5E91846-2FDE-8D27-B999-DF3102D0A94A}"/>
                  </a:ext>
                </a:extLst>
              </p:cNvPr>
              <p:cNvSpPr>
                <a:spLocks noGrp="1" noRot="1" noChangeAspect="1" noMove="1" noResize="1" noEditPoints="1" noAdjustHandles="1" noChangeArrowheads="1" noChangeShapeType="1" noTextEdit="1"/>
              </p:cNvSpPr>
              <p:nvPr>
                <p:ph idx="1"/>
              </p:nvPr>
            </p:nvSpPr>
            <p:spPr>
              <a:blipFill>
                <a:blip r:embed="rId4"/>
                <a:stretch>
                  <a:fillRect l="-1770" r="-1377"/>
                </a:stretch>
              </a:blipFill>
            </p:spPr>
            <p:txBody>
              <a:bodyPr/>
              <a:lstStyle/>
              <a:p>
                <a:r>
                  <a:rPr lang="en-GB">
                    <a:noFill/>
                  </a:rPr>
                  <a:t> </a:t>
                </a:r>
              </a:p>
            </p:txBody>
          </p:sp>
        </mc:Fallback>
      </mc:AlternateContent>
      <p:pic>
        <p:nvPicPr>
          <p:cNvPr id="10" name="Picture 9" descr="A graph on a screen&#10;&#10;Description automatically generated">
            <a:extLst>
              <a:ext uri="{FF2B5EF4-FFF2-40B4-BE49-F238E27FC236}">
                <a16:creationId xmlns:a16="http://schemas.microsoft.com/office/drawing/2014/main" id="{26047941-0D8C-84CB-B2F2-2128B2E187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9523" y="0"/>
            <a:ext cx="5751871" cy="6858000"/>
          </a:xfrm>
          <a:prstGeom prst="rect">
            <a:avLst/>
          </a:prstGeom>
        </p:spPr>
      </p:pic>
    </p:spTree>
    <p:extLst>
      <p:ext uri="{BB962C8B-B14F-4D97-AF65-F5344CB8AC3E}">
        <p14:creationId xmlns:p14="http://schemas.microsoft.com/office/powerpoint/2010/main" val="89554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7FA9060-4F21-B2A4-1671-0B35F636A931}"/>
                  </a:ext>
                </a:extLst>
              </p:cNvPr>
              <p:cNvSpPr>
                <a:spLocks noGrp="1"/>
              </p:cNvSpPr>
              <p:nvPr>
                <p:ph type="title"/>
              </p:nvPr>
            </p:nvSpPr>
            <p:spPr/>
            <p:txBody>
              <a:bodyPr/>
              <a:lstStyle/>
              <a:p>
                <a14:m>
                  <m:oMath xmlns:m="http://schemas.openxmlformats.org/officeDocument/2006/math">
                    <m:r>
                      <a:rPr lang="en-GB" b="0" i="1" smtClean="0">
                        <a:latin typeface="Cambria Math" panose="02040503050406030204" pitchFamily="18" charset="0"/>
                      </a:rPr>
                      <m:t>𝑁𝑜𝑟𝑚𝑎𝑙</m:t>
                    </m:r>
                  </m:oMath>
                </a14:m>
                <a:r>
                  <a:rPr lang="en-GB" dirty="0"/>
                  <a:t> distribution</a:t>
                </a:r>
              </a:p>
            </p:txBody>
          </p:sp>
        </mc:Choice>
        <mc:Fallback xmlns="">
          <p:sp>
            <p:nvSpPr>
              <p:cNvPr id="2" name="Title 1">
                <a:extLst>
                  <a:ext uri="{FF2B5EF4-FFF2-40B4-BE49-F238E27FC236}">
                    <a16:creationId xmlns:a16="http://schemas.microsoft.com/office/drawing/2014/main" id="{D7FA9060-4F21-B2A4-1671-0B35F636A931}"/>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EB07E2-6BEB-A664-6F4B-51601FB3FA0C}"/>
                  </a:ext>
                </a:extLst>
              </p:cNvPr>
              <p:cNvSpPr>
                <a:spLocks noGrp="1"/>
              </p:cNvSpPr>
              <p:nvPr>
                <p:ph idx="1"/>
              </p:nvPr>
            </p:nvSpPr>
            <p:spPr/>
            <p:txBody>
              <a:bodyPr/>
              <a:lstStyle/>
              <a:p>
                <a:r>
                  <a:rPr lang="en-GB" dirty="0"/>
                  <a:t>The </a:t>
                </a:r>
                <a14:m>
                  <m:oMath xmlns:m="http://schemas.openxmlformats.org/officeDocument/2006/math">
                    <m:r>
                      <a:rPr lang="en-GB" b="0" i="1" smtClean="0">
                        <a:latin typeface="Cambria Math" panose="02040503050406030204" pitchFamily="18" charset="0"/>
                      </a:rPr>
                      <m:t>𝑈𝑛𝑖𝑓𝑜𝑟𝑚</m:t>
                    </m:r>
                  </m:oMath>
                </a14:m>
                <a:r>
                  <a:rPr lang="en-GB" dirty="0"/>
                  <a:t> distribution isn’t very useful for explaining the world</a:t>
                </a:r>
              </a:p>
              <a:p>
                <a:r>
                  <a:rPr lang="en-GB" dirty="0"/>
                  <a:t>The </a:t>
                </a:r>
                <a14:m>
                  <m:oMath xmlns:m="http://schemas.openxmlformats.org/officeDocument/2006/math">
                    <m:r>
                      <a:rPr lang="en-GB" b="0" i="1" smtClean="0">
                        <a:latin typeface="Cambria Math" panose="02040503050406030204" pitchFamily="18" charset="0"/>
                      </a:rPr>
                      <m:t>𝑁𝑜𝑟𝑚𝑎𝑙</m:t>
                    </m:r>
                  </m:oMath>
                </a14:m>
                <a:r>
                  <a:rPr lang="en-GB" dirty="0"/>
                  <a:t> distribution is the first “major” distribution people learn</a:t>
                </a:r>
              </a:p>
              <a:p>
                <a:r>
                  <a:rPr lang="en-GB" dirty="0"/>
                  <a:t>Described with two “parameters”</a:t>
                </a:r>
              </a:p>
              <a:p>
                <a:pPr lvl="1"/>
                <a:r>
                  <a:rPr lang="en-GB" dirty="0"/>
                  <a:t>The mean (</a:t>
                </a:r>
                <a14:m>
                  <m:oMath xmlns:m="http://schemas.openxmlformats.org/officeDocument/2006/math">
                    <m:r>
                      <a:rPr lang="en-GB" b="0" i="1" smtClean="0">
                        <a:latin typeface="Cambria Math" panose="02040503050406030204" pitchFamily="18" charset="0"/>
                      </a:rPr>
                      <m:t>𝜇</m:t>
                    </m:r>
                  </m:oMath>
                </a14:m>
                <a:r>
                  <a:rPr lang="en-GB" dirty="0"/>
                  <a:t>)</a:t>
                </a:r>
              </a:p>
              <a:p>
                <a:pPr lvl="1"/>
                <a:r>
                  <a:rPr lang="en-GB" dirty="0"/>
                  <a:t>And the standard deviation (</a:t>
                </a:r>
                <a14:m>
                  <m:oMath xmlns:m="http://schemas.openxmlformats.org/officeDocument/2006/math">
                    <m:r>
                      <a:rPr lang="en-GB" b="0" i="1" smtClean="0">
                        <a:latin typeface="Cambria Math" panose="02040503050406030204" pitchFamily="18" charset="0"/>
                      </a:rPr>
                      <m:t>𝜎</m:t>
                    </m:r>
                  </m:oMath>
                </a14:m>
                <a:r>
                  <a:rPr lang="en-GB" dirty="0"/>
                  <a:t>)</a:t>
                </a:r>
              </a:p>
              <a:p>
                <a:r>
                  <a:rPr lang="en-GB" dirty="0"/>
                  <a:t>We just need to figure out which values for mean and standard deviation work best with our data</a:t>
                </a:r>
              </a:p>
            </p:txBody>
          </p:sp>
        </mc:Choice>
        <mc:Fallback xmlns="">
          <p:sp>
            <p:nvSpPr>
              <p:cNvPr id="3" name="Content Placeholder 2">
                <a:extLst>
                  <a:ext uri="{FF2B5EF4-FFF2-40B4-BE49-F238E27FC236}">
                    <a16:creationId xmlns:a16="http://schemas.microsoft.com/office/drawing/2014/main" id="{7EEB07E2-6BEB-A664-6F4B-51601FB3FA0C}"/>
                  </a:ext>
                </a:extLst>
              </p:cNvPr>
              <p:cNvSpPr>
                <a:spLocks noGrp="1" noRot="1" noChangeAspect="1" noMove="1" noResize="1" noEditPoints="1" noAdjustHandles="1" noChangeArrowheads="1" noChangeShapeType="1" noTextEdit="1"/>
              </p:cNvSpPr>
              <p:nvPr>
                <p:ph idx="1"/>
              </p:nvPr>
            </p:nvSpPr>
            <p:spPr>
              <a:blipFill>
                <a:blip r:embed="rId3"/>
                <a:stretch>
                  <a:fillRect l="-1770"/>
                </a:stretch>
              </a:blipFill>
            </p:spPr>
            <p:txBody>
              <a:bodyPr/>
              <a:lstStyle/>
              <a:p>
                <a:r>
                  <a:rPr lang="en-GB">
                    <a:noFill/>
                  </a:rPr>
                  <a:t> </a:t>
                </a:r>
              </a:p>
            </p:txBody>
          </p:sp>
        </mc:Fallback>
      </mc:AlternateContent>
      <p:pic>
        <p:nvPicPr>
          <p:cNvPr id="10" name="Picture Placeholder 9" descr="A graph on a screen&#10;&#10;Description automatically generated">
            <a:extLst>
              <a:ext uri="{FF2B5EF4-FFF2-40B4-BE49-F238E27FC236}">
                <a16:creationId xmlns:a16="http://schemas.microsoft.com/office/drawing/2014/main" id="{C0A33617-3885-B84B-18F1-9E2406D5C8D8}"/>
              </a:ext>
            </a:extLst>
          </p:cNvPr>
          <p:cNvPicPr>
            <a:picLocks noGrp="1" noChangeAspect="1"/>
          </p:cNvPicPr>
          <p:nvPr>
            <p:ph type="pic" sz="quarter" idx="10"/>
          </p:nvPr>
        </p:nvPicPr>
        <p:blipFill rotWithShape="1">
          <a:blip r:embed="rId4">
            <a:extLst>
              <a:ext uri="{28A0092B-C50C-407E-A947-70E740481C1C}">
                <a14:useLocalDpi xmlns:a14="http://schemas.microsoft.com/office/drawing/2010/main" val="0"/>
              </a:ext>
            </a:extLst>
          </a:blip>
          <a:srcRect/>
          <a:stretch/>
        </p:blipFill>
        <p:spPr>
          <a:xfrm>
            <a:off x="6359525" y="0"/>
            <a:ext cx="5832475" cy="6858000"/>
          </a:xfrm>
        </p:spPr>
      </p:pic>
      <p:pic>
        <p:nvPicPr>
          <p:cNvPr id="12" name="Picture 11" descr="A graph on a screen&#10;&#10;Description automatically generated">
            <a:extLst>
              <a:ext uri="{FF2B5EF4-FFF2-40B4-BE49-F238E27FC236}">
                <a16:creationId xmlns:a16="http://schemas.microsoft.com/office/drawing/2014/main" id="{66F768E7-A45F-3998-6D31-5C6DBD0F40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9826" y="0"/>
            <a:ext cx="5751871" cy="6858000"/>
          </a:xfrm>
          <a:prstGeom prst="rect">
            <a:avLst/>
          </a:prstGeom>
        </p:spPr>
      </p:pic>
      <p:pic>
        <p:nvPicPr>
          <p:cNvPr id="14" name="Picture 13" descr="A graph of a tall tower&#10;&#10;Description automatically generated with medium confidence">
            <a:extLst>
              <a:ext uri="{FF2B5EF4-FFF2-40B4-BE49-F238E27FC236}">
                <a16:creationId xmlns:a16="http://schemas.microsoft.com/office/drawing/2014/main" id="{8E6D8D33-A1E9-2A54-2231-6727B7838A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spTree>
    <p:extLst>
      <p:ext uri="{BB962C8B-B14F-4D97-AF65-F5344CB8AC3E}">
        <p14:creationId xmlns:p14="http://schemas.microsoft.com/office/powerpoint/2010/main" val="193721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ACA1D-B7EF-FB84-57D8-F56A12797BF9}"/>
              </a:ext>
            </a:extLst>
          </p:cNvPr>
          <p:cNvSpPr>
            <a:spLocks noGrp="1"/>
          </p:cNvSpPr>
          <p:nvPr>
            <p:ph type="title"/>
          </p:nvPr>
        </p:nvSpPr>
        <p:spPr/>
        <p:txBody>
          <a:bodyPr/>
          <a:lstStyle/>
          <a:p>
            <a:r>
              <a:rPr lang="en-GB" dirty="0"/>
              <a:t>Goal of statistics</a:t>
            </a:r>
          </a:p>
        </p:txBody>
      </p:sp>
      <p:sp>
        <p:nvSpPr>
          <p:cNvPr id="3" name="Content Placeholder 2">
            <a:extLst>
              <a:ext uri="{FF2B5EF4-FFF2-40B4-BE49-F238E27FC236}">
                <a16:creationId xmlns:a16="http://schemas.microsoft.com/office/drawing/2014/main" id="{62D0BD94-D341-D57C-3F6D-8D95F7A6AF26}"/>
              </a:ext>
            </a:extLst>
          </p:cNvPr>
          <p:cNvSpPr>
            <a:spLocks noGrp="1"/>
          </p:cNvSpPr>
          <p:nvPr>
            <p:ph idx="1"/>
          </p:nvPr>
        </p:nvSpPr>
        <p:spPr/>
        <p:txBody>
          <a:bodyPr/>
          <a:lstStyle/>
          <a:p>
            <a:r>
              <a:rPr lang="en-GB" dirty="0"/>
              <a:t>We want to tweak the distribution such that if we were going to randomly generate new values</a:t>
            </a:r>
          </a:p>
          <a:p>
            <a:r>
              <a:rPr lang="en-GB" dirty="0"/>
              <a:t>They’d match the data we’ve actually collected</a:t>
            </a:r>
          </a:p>
          <a:p>
            <a:r>
              <a:rPr lang="en-GB" dirty="0"/>
              <a:t>This task is passed to optimisers</a:t>
            </a:r>
          </a:p>
          <a:p>
            <a:pPr lvl="1"/>
            <a:r>
              <a:rPr lang="en-GB" dirty="0"/>
              <a:t>We’ll ignore the details</a:t>
            </a:r>
          </a:p>
        </p:txBody>
      </p:sp>
      <p:pic>
        <p:nvPicPr>
          <p:cNvPr id="5" name="Picture Placeholder 4" descr="A graph of a tall tower&#10;&#10;Description automatically generated with medium confidence">
            <a:extLst>
              <a:ext uri="{FF2B5EF4-FFF2-40B4-BE49-F238E27FC236}">
                <a16:creationId xmlns:a16="http://schemas.microsoft.com/office/drawing/2014/main" id="{4A17D9B6-657D-B431-A8E1-7087B79F02D5}"/>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b="696"/>
          <a:stretch/>
        </p:blipFill>
        <p:spPr>
          <a:xfrm>
            <a:off x="6359525" y="0"/>
            <a:ext cx="5832475" cy="6858000"/>
          </a:xfrm>
          <a:prstGeom prst="rect">
            <a:avLst/>
          </a:prstGeom>
        </p:spPr>
      </p:pic>
    </p:spTree>
    <p:extLst>
      <p:ext uri="{BB962C8B-B14F-4D97-AF65-F5344CB8AC3E}">
        <p14:creationId xmlns:p14="http://schemas.microsoft.com/office/powerpoint/2010/main" val="289898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Allowing suitable randomness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246185" y="1619249"/>
                <a:ext cx="5583115" cy="4962525"/>
              </a:xfrm>
            </p:spPr>
            <p:txBody>
              <a:bodyPr>
                <a:normAutofit/>
              </a:bodyPr>
              <a:lstStyle/>
              <a:p>
                <a:r>
                  <a:rPr lang="en-GB" dirty="0">
                    <a:latin typeface="Bahnschrift Light" panose="020B0502040204020203" pitchFamily="34" charset="0"/>
                  </a:rPr>
                  <a:t>Lots of different distributions available</a:t>
                </a:r>
              </a:p>
              <a:p>
                <a:r>
                  <a:rPr lang="en-GB" dirty="0">
                    <a:latin typeface="Bahnschrift Light" panose="020B0502040204020203" pitchFamily="34" charset="0"/>
                  </a:rPr>
                  <a:t>Switching to them is “easy”</a:t>
                </a:r>
              </a:p>
              <a:p>
                <a:pPr lvl="1"/>
                <a:r>
                  <a:rPr lang="en-GB" dirty="0">
                    <a:latin typeface="Bahnschrift Light" panose="020B0502040204020203" pitchFamily="34" charset="0"/>
                  </a:rPr>
                  <a:t>Doing so leads to Generalised Linear Models (GLMs)</a:t>
                </a:r>
              </a:p>
              <a:p>
                <a:r>
                  <a:rPr lang="en-GB" dirty="0">
                    <a:latin typeface="Bahnschrift Light" panose="020B0502040204020203" pitchFamily="34" charset="0"/>
                  </a:rPr>
                  <a:t>We don’t do GLMs in this course</a:t>
                </a:r>
              </a:p>
              <a:p>
                <a:r>
                  <a:rPr lang="en-GB" dirty="0">
                    <a:latin typeface="Bahnschrift Light" panose="020B0502040204020203" pitchFamily="34" charset="0"/>
                  </a:rPr>
                  <a:t>Just be aware that you are not limited to the </a:t>
                </a:r>
                <a14:m>
                  <m:oMath xmlns:m="http://schemas.openxmlformats.org/officeDocument/2006/math">
                    <m:r>
                      <a:rPr lang="en-GB" b="0" i="1" smtClean="0">
                        <a:latin typeface="Cambria Math" panose="02040503050406030204" pitchFamily="18" charset="0"/>
                      </a:rPr>
                      <m:t>𝑁𝑜𝑟𝑚𝑎𝑙</m:t>
                    </m:r>
                  </m:oMath>
                </a14:m>
                <a:r>
                  <a:rPr lang="en-GB" dirty="0">
                    <a:latin typeface="Bahnschrift Light" panose="020B0502040204020203" pitchFamily="34" charset="0"/>
                  </a:rPr>
                  <a:t> distribution</a:t>
                </a:r>
              </a:p>
            </p:txBody>
          </p:sp>
        </mc:Choice>
        <mc:Fallback xmlns="">
          <p:sp>
            <p:nvSpPr>
              <p:cNvPr id="3" name="Content Placeholder 2">
                <a:extLst>
                  <a:ext uri="{FF2B5EF4-FFF2-40B4-BE49-F238E27FC236}">
                    <a16:creationId xmlns:a16="http://schemas.microsoft.com/office/drawing/2014/main" id="{53CFBA6F-FFE0-43B0-753F-6E3B955C3570}"/>
                  </a:ext>
                </a:extLst>
              </p:cNvPr>
              <p:cNvSpPr>
                <a:spLocks noGrp="1" noRot="1" noChangeAspect="1" noMove="1" noResize="1" noEditPoints="1" noAdjustHandles="1" noChangeArrowheads="1" noChangeShapeType="1" noTextEdit="1"/>
              </p:cNvSpPr>
              <p:nvPr>
                <p:ph idx="1"/>
              </p:nvPr>
            </p:nvSpPr>
            <p:spPr>
              <a:xfrm>
                <a:off x="246185" y="1619249"/>
                <a:ext cx="5583115" cy="4962525"/>
              </a:xfrm>
              <a:blipFill>
                <a:blip r:embed="rId2"/>
                <a:stretch>
                  <a:fillRect l="-1965" t="-2211" r="-546"/>
                </a:stretch>
              </a:blipFill>
            </p:spPr>
            <p:txBody>
              <a:bodyPr/>
              <a:lstStyle/>
              <a:p>
                <a:r>
                  <a:rPr lang="en-GB">
                    <a:noFill/>
                  </a:rPr>
                  <a:t> </a:t>
                </a:r>
              </a:p>
            </p:txBody>
          </p:sp>
        </mc:Fallback>
      </mc:AlternateContent>
      <p:pic>
        <p:nvPicPr>
          <p:cNvPr id="8" name="Picture 7" descr="A group of graphs with numbers and symbols&#10;&#10;Description automatically generated with medium confidence">
            <a:extLst>
              <a:ext uri="{FF2B5EF4-FFF2-40B4-BE49-F238E27FC236}">
                <a16:creationId xmlns:a16="http://schemas.microsoft.com/office/drawing/2014/main" id="{CFD20235-6DF1-A1F0-DB8E-A10C0E56D1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7015" y="1101969"/>
            <a:ext cx="5638800" cy="5638800"/>
          </a:xfrm>
          <a:prstGeom prst="rect">
            <a:avLst/>
          </a:prstGeom>
        </p:spPr>
      </p:pic>
    </p:spTree>
    <p:extLst>
      <p:ext uri="{BB962C8B-B14F-4D97-AF65-F5344CB8AC3E}">
        <p14:creationId xmlns:p14="http://schemas.microsoft.com/office/powerpoint/2010/main" val="181904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oup of graphs on a black background&#10;&#10;Description automatically generated">
            <a:extLst>
              <a:ext uri="{FF2B5EF4-FFF2-40B4-BE49-F238E27FC236}">
                <a16:creationId xmlns:a16="http://schemas.microsoft.com/office/drawing/2014/main" id="{831DFF14-4E23-F140-5F80-0B4E13B8E7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6300" y="1141549"/>
            <a:ext cx="6035147" cy="5632207"/>
          </a:xfrm>
          <a:prstGeom prst="rect">
            <a:avLst/>
          </a:prstGeom>
        </p:spPr>
      </p:pic>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Beware the </a:t>
            </a:r>
            <a:r>
              <a:rPr lang="en-GB" sz="5400" dirty="0" err="1">
                <a:latin typeface="Bahnschrift Light" panose="020B0502040204020203" pitchFamily="34" charset="0"/>
              </a:rPr>
              <a:t>histomancer</a:t>
            </a:r>
            <a:endParaRPr lang="en-GB" sz="5400" dirty="0">
              <a:latin typeface="Bahnschrift Light" panose="020B0502040204020203" pitchFamily="34" charset="0"/>
            </a:endParaRPr>
          </a:p>
        </p:txBody>
      </p:sp>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838200" y="1825625"/>
            <a:ext cx="4991100" cy="4351338"/>
          </a:xfrm>
        </p:spPr>
        <p:txBody>
          <a:bodyPr>
            <a:normAutofit/>
          </a:bodyPr>
          <a:lstStyle/>
          <a:p>
            <a:r>
              <a:rPr lang="en-GB" dirty="0">
                <a:latin typeface="Bahnschrift Light" panose="020B0502040204020203" pitchFamily="34" charset="0"/>
              </a:rPr>
              <a:t>Don’t plot histograms of your response to “determine” the distribution.</a:t>
            </a:r>
          </a:p>
          <a:p>
            <a:r>
              <a:rPr lang="en-GB" dirty="0">
                <a:latin typeface="Bahnschrift Light" panose="020B0502040204020203" pitchFamily="34" charset="0"/>
              </a:rPr>
              <a:t>Think about the data:</a:t>
            </a:r>
          </a:p>
          <a:p>
            <a:pPr lvl="1"/>
            <a:r>
              <a:rPr lang="en-GB" dirty="0">
                <a:latin typeface="Bahnschrift Light" panose="020B0502040204020203" pitchFamily="34" charset="0"/>
              </a:rPr>
              <a:t>What kind of values could I measure?</a:t>
            </a:r>
          </a:p>
          <a:p>
            <a:pPr lvl="1"/>
            <a:r>
              <a:rPr lang="en-GB" dirty="0">
                <a:latin typeface="Bahnschrift Light" panose="020B0502040204020203" pitchFamily="34" charset="0"/>
              </a:rPr>
              <a:t>Are there limits to the values I could measure?</a:t>
            </a:r>
          </a:p>
          <a:p>
            <a:pPr lvl="1"/>
            <a:r>
              <a:rPr lang="en-GB" dirty="0">
                <a:latin typeface="Bahnschrift Light" panose="020B0502040204020203" pitchFamily="34" charset="0"/>
              </a:rPr>
              <a:t>Of the distributions I know of, which one best describes my data?</a:t>
            </a:r>
          </a:p>
          <a:p>
            <a:endParaRPr lang="en-GB" dirty="0">
              <a:latin typeface="Bahnschrift Light" panose="020B0502040204020203" pitchFamily="34" charset="0"/>
            </a:endParaRPr>
          </a:p>
        </p:txBody>
      </p:sp>
      <p:grpSp>
        <p:nvGrpSpPr>
          <p:cNvPr id="15" name="Group 14">
            <a:extLst>
              <a:ext uri="{FF2B5EF4-FFF2-40B4-BE49-F238E27FC236}">
                <a16:creationId xmlns:a16="http://schemas.microsoft.com/office/drawing/2014/main" id="{2E1015B8-CAAC-6E4B-4D6B-1016A783F1EA}"/>
              </a:ext>
            </a:extLst>
          </p:cNvPr>
          <p:cNvGrpSpPr/>
          <p:nvPr/>
        </p:nvGrpSpPr>
        <p:grpSpPr>
          <a:xfrm>
            <a:off x="6991152" y="3059668"/>
            <a:ext cx="4024611" cy="3114676"/>
            <a:chOff x="6991152" y="3059668"/>
            <a:chExt cx="4024611" cy="3114676"/>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625E56E-E6CF-3224-48D2-1A653F0D21C1}"/>
                    </a:ext>
                  </a:extLst>
                </p:cNvPr>
                <p:cNvSpPr txBox="1"/>
                <p:nvPr/>
              </p:nvSpPr>
              <p:spPr>
                <a:xfrm>
                  <a:off x="7003847" y="3059668"/>
                  <a:ext cx="1039965"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𝑁𝑜𝑟𝑚𝑎𝑙</m:t>
                        </m:r>
                      </m:oMath>
                    </m:oMathPara>
                  </a14:m>
                  <a:endParaRPr lang="en-GB" dirty="0"/>
                </a:p>
              </p:txBody>
            </p:sp>
          </mc:Choice>
          <mc:Fallback xmlns="">
            <p:sp>
              <p:nvSpPr>
                <p:cNvPr id="6" name="TextBox 5">
                  <a:extLst>
                    <a:ext uri="{FF2B5EF4-FFF2-40B4-BE49-F238E27FC236}">
                      <a16:creationId xmlns:a16="http://schemas.microsoft.com/office/drawing/2014/main" id="{0625E56E-E6CF-3224-48D2-1A653F0D21C1}"/>
                    </a:ext>
                  </a:extLst>
                </p:cNvPr>
                <p:cNvSpPr txBox="1">
                  <a:spLocks noRot="1" noChangeAspect="1" noMove="1" noResize="1" noEditPoints="1" noAdjustHandles="1" noChangeArrowheads="1" noChangeShapeType="1" noTextEdit="1"/>
                </p:cNvSpPr>
                <p:nvPr/>
              </p:nvSpPr>
              <p:spPr>
                <a:xfrm>
                  <a:off x="7003847" y="3059668"/>
                  <a:ext cx="1039965"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3B1C8E-492B-ECC6-A540-9AA713CBD4AE}"/>
                    </a:ext>
                  </a:extLst>
                </p:cNvPr>
                <p:cNvSpPr txBox="1"/>
                <p:nvPr/>
              </p:nvSpPr>
              <p:spPr>
                <a:xfrm>
                  <a:off x="9975798" y="3059668"/>
                  <a:ext cx="1039965"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𝑁𝑜𝑟𝑚𝑎𝑙</m:t>
                        </m:r>
                      </m:oMath>
                    </m:oMathPara>
                  </a14:m>
                  <a:endParaRPr lang="en-GB" dirty="0"/>
                </a:p>
              </p:txBody>
            </p:sp>
          </mc:Choice>
          <mc:Fallback xmlns="">
            <p:sp>
              <p:nvSpPr>
                <p:cNvPr id="7" name="TextBox 6">
                  <a:extLst>
                    <a:ext uri="{FF2B5EF4-FFF2-40B4-BE49-F238E27FC236}">
                      <a16:creationId xmlns:a16="http://schemas.microsoft.com/office/drawing/2014/main" id="{B73B1C8E-492B-ECC6-A540-9AA713CBD4AE}"/>
                    </a:ext>
                  </a:extLst>
                </p:cNvPr>
                <p:cNvSpPr txBox="1">
                  <a:spLocks noRot="1" noChangeAspect="1" noMove="1" noResize="1" noEditPoints="1" noAdjustHandles="1" noChangeArrowheads="1" noChangeShapeType="1" noTextEdit="1"/>
                </p:cNvSpPr>
                <p:nvPr/>
              </p:nvSpPr>
              <p:spPr>
                <a:xfrm>
                  <a:off x="9975798" y="3059668"/>
                  <a:ext cx="1039965"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508903A-CCFC-0D0D-9741-BC207CBD47C0}"/>
                    </a:ext>
                  </a:extLst>
                </p:cNvPr>
                <p:cNvSpPr txBox="1"/>
                <p:nvPr/>
              </p:nvSpPr>
              <p:spPr>
                <a:xfrm>
                  <a:off x="6991152" y="5805012"/>
                  <a:ext cx="1052660"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𝑃𝑜𝑖𝑠𝑠𝑜𝑛</m:t>
                        </m:r>
                      </m:oMath>
                    </m:oMathPara>
                  </a14:m>
                  <a:endParaRPr lang="en-GB" dirty="0"/>
                </a:p>
              </p:txBody>
            </p:sp>
          </mc:Choice>
          <mc:Fallback xmlns="">
            <p:sp>
              <p:nvSpPr>
                <p:cNvPr id="8" name="TextBox 7">
                  <a:extLst>
                    <a:ext uri="{FF2B5EF4-FFF2-40B4-BE49-F238E27FC236}">
                      <a16:creationId xmlns:a16="http://schemas.microsoft.com/office/drawing/2014/main" id="{4508903A-CCFC-0D0D-9741-BC207CBD47C0}"/>
                    </a:ext>
                  </a:extLst>
                </p:cNvPr>
                <p:cNvSpPr txBox="1">
                  <a:spLocks noRot="1" noChangeAspect="1" noMove="1" noResize="1" noEditPoints="1" noAdjustHandles="1" noChangeArrowheads="1" noChangeShapeType="1" noTextEdit="1"/>
                </p:cNvSpPr>
                <p:nvPr/>
              </p:nvSpPr>
              <p:spPr>
                <a:xfrm>
                  <a:off x="6991152" y="5805012"/>
                  <a:ext cx="1052660"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FE8D818-4FA9-4091-0D39-7219B9257156}"/>
                    </a:ext>
                  </a:extLst>
                </p:cNvPr>
                <p:cNvSpPr txBox="1"/>
                <p:nvPr/>
              </p:nvSpPr>
              <p:spPr>
                <a:xfrm>
                  <a:off x="10131323" y="5805012"/>
                  <a:ext cx="728917"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𝐵𝑒𝑡𝑎</m:t>
                        </m:r>
                      </m:oMath>
                    </m:oMathPara>
                  </a14:m>
                  <a:endParaRPr lang="en-GB" dirty="0"/>
                </a:p>
              </p:txBody>
            </p:sp>
          </mc:Choice>
          <mc:Fallback xmlns="">
            <p:sp>
              <p:nvSpPr>
                <p:cNvPr id="14" name="TextBox 13">
                  <a:extLst>
                    <a:ext uri="{FF2B5EF4-FFF2-40B4-BE49-F238E27FC236}">
                      <a16:creationId xmlns:a16="http://schemas.microsoft.com/office/drawing/2014/main" id="{9FE8D818-4FA9-4091-0D39-7219B9257156}"/>
                    </a:ext>
                  </a:extLst>
                </p:cNvPr>
                <p:cNvSpPr txBox="1">
                  <a:spLocks noRot="1" noChangeAspect="1" noMove="1" noResize="1" noEditPoints="1" noAdjustHandles="1" noChangeArrowheads="1" noChangeShapeType="1" noTextEdit="1"/>
                </p:cNvSpPr>
                <p:nvPr/>
              </p:nvSpPr>
              <p:spPr>
                <a:xfrm>
                  <a:off x="10131323" y="5805012"/>
                  <a:ext cx="728917" cy="369332"/>
                </a:xfrm>
                <a:prstGeom prst="rect">
                  <a:avLst/>
                </a:prstGeom>
                <a:blipFill>
                  <a:blip r:embed="rId6"/>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266186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D751-B33A-A35F-8BF6-693F4328A859}"/>
              </a:ext>
            </a:extLst>
          </p:cNvPr>
          <p:cNvSpPr>
            <a:spLocks noGrp="1"/>
          </p:cNvSpPr>
          <p:nvPr>
            <p:ph type="title"/>
          </p:nvPr>
        </p:nvSpPr>
        <p:spPr/>
        <p:txBody>
          <a:bodyPr/>
          <a:lstStyle/>
          <a:p>
            <a:r>
              <a:rPr lang="en-GB" dirty="0"/>
              <a:t>How much coffee do you drink?</a:t>
            </a:r>
          </a:p>
        </p:txBody>
      </p:sp>
    </p:spTree>
    <p:extLst>
      <p:ext uri="{BB962C8B-B14F-4D97-AF65-F5344CB8AC3E}">
        <p14:creationId xmlns:p14="http://schemas.microsoft.com/office/powerpoint/2010/main" val="2200621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138B73-6E32-409C-1023-056F958FFBB4}"/>
              </a:ext>
            </a:extLst>
          </p:cNvPr>
          <p:cNvPicPr>
            <a:picLocks noChangeAspect="1"/>
          </p:cNvPicPr>
          <p:nvPr/>
        </p:nvPicPr>
        <p:blipFill>
          <a:blip r:embed="rId2"/>
          <a:stretch>
            <a:fillRect/>
          </a:stretch>
        </p:blipFill>
        <p:spPr>
          <a:xfrm>
            <a:off x="4562642" y="2380929"/>
            <a:ext cx="2826587" cy="1882886"/>
          </a:xfrm>
          <a:prstGeom prst="rect">
            <a:avLst/>
          </a:prstGeom>
          <a:ln>
            <a:noFill/>
          </a:ln>
        </p:spPr>
      </p:pic>
      <p:sp>
        <p:nvSpPr>
          <p:cNvPr id="6" name="TextBox 5">
            <a:extLst>
              <a:ext uri="{FF2B5EF4-FFF2-40B4-BE49-F238E27FC236}">
                <a16:creationId xmlns:a16="http://schemas.microsoft.com/office/drawing/2014/main" id="{8C639B57-FA4D-4C98-A22A-5E8C91A33933}"/>
              </a:ext>
            </a:extLst>
          </p:cNvPr>
          <p:cNvSpPr txBox="1"/>
          <p:nvPr/>
        </p:nvSpPr>
        <p:spPr>
          <a:xfrm>
            <a:off x="5361615" y="378325"/>
            <a:ext cx="1407253" cy="584775"/>
          </a:xfrm>
          <a:prstGeom prst="rect">
            <a:avLst/>
          </a:prstGeom>
          <a:noFill/>
          <a:ln w="19050">
            <a:solidFill>
              <a:schemeClr val="tx1"/>
            </a:solidFill>
          </a:ln>
        </p:spPr>
        <p:txBody>
          <a:bodyPr wrap="square">
            <a:spAutoFit/>
          </a:bodyPr>
          <a:lstStyle/>
          <a:p>
            <a:pPr algn="ctr"/>
            <a:r>
              <a:rPr lang="en-US" sz="1600" dirty="0"/>
              <a:t>Parents drink coffee</a:t>
            </a:r>
            <a:endParaRPr lang="en-GB" sz="1600" dirty="0"/>
          </a:p>
        </p:txBody>
      </p:sp>
      <p:sp>
        <p:nvSpPr>
          <p:cNvPr id="10" name="TextBox 9">
            <a:extLst>
              <a:ext uri="{FF2B5EF4-FFF2-40B4-BE49-F238E27FC236}">
                <a16:creationId xmlns:a16="http://schemas.microsoft.com/office/drawing/2014/main" id="{74B17ACE-CFBC-454D-8412-2755FDE1B9B2}"/>
              </a:ext>
            </a:extLst>
          </p:cNvPr>
          <p:cNvSpPr txBox="1"/>
          <p:nvPr/>
        </p:nvSpPr>
        <p:spPr>
          <a:xfrm>
            <a:off x="1755397" y="1359992"/>
            <a:ext cx="1783159" cy="1077218"/>
          </a:xfrm>
          <a:prstGeom prst="rect">
            <a:avLst/>
          </a:prstGeom>
          <a:noFill/>
          <a:ln w="19050">
            <a:solidFill>
              <a:schemeClr val="tx1"/>
            </a:solidFill>
          </a:ln>
        </p:spPr>
        <p:txBody>
          <a:bodyPr wrap="square">
            <a:spAutoFit/>
          </a:bodyPr>
          <a:lstStyle/>
          <a:p>
            <a:pPr algn="ctr"/>
            <a:r>
              <a:rPr lang="en-US" sz="1600" dirty="0"/>
              <a:t>Watched TV where mature characters drank coffee?</a:t>
            </a:r>
            <a:endParaRPr lang="en-GB" sz="1600" dirty="0"/>
          </a:p>
        </p:txBody>
      </p:sp>
      <p:sp>
        <p:nvSpPr>
          <p:cNvPr id="12" name="TextBox 11">
            <a:extLst>
              <a:ext uri="{FF2B5EF4-FFF2-40B4-BE49-F238E27FC236}">
                <a16:creationId xmlns:a16="http://schemas.microsoft.com/office/drawing/2014/main" id="{C64ABAB3-54AF-41D9-AA13-6BEF1DE98DC7}"/>
              </a:ext>
            </a:extLst>
          </p:cNvPr>
          <p:cNvSpPr txBox="1"/>
          <p:nvPr/>
        </p:nvSpPr>
        <p:spPr>
          <a:xfrm>
            <a:off x="2902918" y="2865829"/>
            <a:ext cx="1620124" cy="830997"/>
          </a:xfrm>
          <a:prstGeom prst="rect">
            <a:avLst/>
          </a:prstGeom>
          <a:noFill/>
          <a:ln w="19050">
            <a:solidFill>
              <a:schemeClr val="tx1"/>
            </a:solidFill>
          </a:ln>
        </p:spPr>
        <p:txBody>
          <a:bodyPr wrap="square">
            <a:spAutoFit/>
          </a:bodyPr>
          <a:lstStyle/>
          <a:p>
            <a:pPr algn="ctr"/>
            <a:r>
              <a:rPr lang="en-US" sz="1600" dirty="0"/>
              <a:t>Wanted to emulate characters?</a:t>
            </a:r>
            <a:endParaRPr lang="en-GB" sz="1600" dirty="0"/>
          </a:p>
        </p:txBody>
      </p:sp>
      <p:sp>
        <p:nvSpPr>
          <p:cNvPr id="14" name="TextBox 13">
            <a:extLst>
              <a:ext uri="{FF2B5EF4-FFF2-40B4-BE49-F238E27FC236}">
                <a16:creationId xmlns:a16="http://schemas.microsoft.com/office/drawing/2014/main" id="{087A1222-158F-404C-A7BD-F1CB5065D057}"/>
              </a:ext>
            </a:extLst>
          </p:cNvPr>
          <p:cNvSpPr txBox="1"/>
          <p:nvPr/>
        </p:nvSpPr>
        <p:spPr>
          <a:xfrm>
            <a:off x="242481" y="255215"/>
            <a:ext cx="2273416" cy="830997"/>
          </a:xfrm>
          <a:prstGeom prst="rect">
            <a:avLst/>
          </a:prstGeom>
          <a:noFill/>
          <a:ln w="19050">
            <a:solidFill>
              <a:schemeClr val="tx1"/>
            </a:solidFill>
          </a:ln>
        </p:spPr>
        <p:txBody>
          <a:bodyPr wrap="square">
            <a:spAutoFit/>
          </a:bodyPr>
          <a:lstStyle/>
          <a:p>
            <a:pPr algn="ctr"/>
            <a:r>
              <a:rPr lang="en-US" sz="1600" dirty="0"/>
              <a:t>From a culture where drinking coffee in the morning is normal?</a:t>
            </a:r>
            <a:endParaRPr lang="en-GB" sz="1600" dirty="0"/>
          </a:p>
        </p:txBody>
      </p:sp>
      <p:sp>
        <p:nvSpPr>
          <p:cNvPr id="16" name="TextBox 15">
            <a:extLst>
              <a:ext uri="{FF2B5EF4-FFF2-40B4-BE49-F238E27FC236}">
                <a16:creationId xmlns:a16="http://schemas.microsoft.com/office/drawing/2014/main" id="{6B4B51C2-9291-492C-865D-54B951680CA1}"/>
              </a:ext>
            </a:extLst>
          </p:cNvPr>
          <p:cNvSpPr txBox="1"/>
          <p:nvPr/>
        </p:nvSpPr>
        <p:spPr>
          <a:xfrm>
            <a:off x="1755397" y="3974514"/>
            <a:ext cx="1783159" cy="584775"/>
          </a:xfrm>
          <a:prstGeom prst="rect">
            <a:avLst/>
          </a:prstGeom>
          <a:noFill/>
          <a:ln w="19050">
            <a:solidFill>
              <a:schemeClr val="tx1"/>
            </a:solidFill>
          </a:ln>
        </p:spPr>
        <p:txBody>
          <a:bodyPr wrap="square">
            <a:spAutoFit/>
          </a:bodyPr>
          <a:lstStyle/>
          <a:p>
            <a:pPr algn="ctr"/>
            <a:r>
              <a:rPr lang="en-US" sz="1600" dirty="0"/>
              <a:t>Drinks tea instead of coffee?</a:t>
            </a:r>
            <a:endParaRPr lang="en-GB" sz="1600" dirty="0"/>
          </a:p>
        </p:txBody>
      </p:sp>
      <p:sp>
        <p:nvSpPr>
          <p:cNvPr id="18" name="TextBox 17">
            <a:extLst>
              <a:ext uri="{FF2B5EF4-FFF2-40B4-BE49-F238E27FC236}">
                <a16:creationId xmlns:a16="http://schemas.microsoft.com/office/drawing/2014/main" id="{5538ADB1-2F28-42FA-96B1-B37B448BE58E}"/>
              </a:ext>
            </a:extLst>
          </p:cNvPr>
          <p:cNvSpPr txBox="1"/>
          <p:nvPr/>
        </p:nvSpPr>
        <p:spPr>
          <a:xfrm>
            <a:off x="5353225" y="6436711"/>
            <a:ext cx="1415643" cy="338554"/>
          </a:xfrm>
          <a:prstGeom prst="rect">
            <a:avLst/>
          </a:prstGeom>
          <a:noFill/>
          <a:ln w="19050">
            <a:solidFill>
              <a:schemeClr val="tx1"/>
            </a:solidFill>
          </a:ln>
        </p:spPr>
        <p:txBody>
          <a:bodyPr wrap="square">
            <a:spAutoFit/>
          </a:bodyPr>
          <a:lstStyle/>
          <a:p>
            <a:pPr algn="ctr"/>
            <a:r>
              <a:rPr lang="en-US" sz="1600" dirty="0"/>
              <a:t>Is hungover?</a:t>
            </a:r>
            <a:endParaRPr lang="en-GB" sz="1600" dirty="0"/>
          </a:p>
        </p:txBody>
      </p:sp>
      <p:sp>
        <p:nvSpPr>
          <p:cNvPr id="20" name="TextBox 19">
            <a:extLst>
              <a:ext uri="{FF2B5EF4-FFF2-40B4-BE49-F238E27FC236}">
                <a16:creationId xmlns:a16="http://schemas.microsoft.com/office/drawing/2014/main" id="{3EA77027-5EEC-4C77-A9EF-A208402B013E}"/>
              </a:ext>
            </a:extLst>
          </p:cNvPr>
          <p:cNvSpPr txBox="1"/>
          <p:nvPr/>
        </p:nvSpPr>
        <p:spPr>
          <a:xfrm>
            <a:off x="5252555" y="4953319"/>
            <a:ext cx="1625367" cy="1077218"/>
          </a:xfrm>
          <a:prstGeom prst="rect">
            <a:avLst/>
          </a:prstGeom>
          <a:noFill/>
          <a:ln w="19050">
            <a:solidFill>
              <a:schemeClr val="tx1"/>
            </a:solidFill>
          </a:ln>
        </p:spPr>
        <p:txBody>
          <a:bodyPr wrap="square">
            <a:spAutoFit/>
          </a:bodyPr>
          <a:lstStyle/>
          <a:p>
            <a:pPr algn="ctr"/>
            <a:r>
              <a:rPr lang="en-US" sz="1600" dirty="0"/>
              <a:t>Believe drinking coffee helps with a hangover?</a:t>
            </a:r>
            <a:endParaRPr lang="en-GB" sz="1600" dirty="0"/>
          </a:p>
        </p:txBody>
      </p:sp>
      <p:sp>
        <p:nvSpPr>
          <p:cNvPr id="22" name="TextBox 21">
            <a:extLst>
              <a:ext uri="{FF2B5EF4-FFF2-40B4-BE49-F238E27FC236}">
                <a16:creationId xmlns:a16="http://schemas.microsoft.com/office/drawing/2014/main" id="{8D295F01-AD51-4CB9-BA19-C32D89C37A80}"/>
              </a:ext>
            </a:extLst>
          </p:cNvPr>
          <p:cNvSpPr txBox="1"/>
          <p:nvPr/>
        </p:nvSpPr>
        <p:spPr>
          <a:xfrm>
            <a:off x="10549979" y="5845015"/>
            <a:ext cx="1541477" cy="830997"/>
          </a:xfrm>
          <a:prstGeom prst="rect">
            <a:avLst/>
          </a:prstGeom>
          <a:noFill/>
          <a:ln w="19050">
            <a:solidFill>
              <a:schemeClr val="tx1"/>
            </a:solidFill>
          </a:ln>
        </p:spPr>
        <p:txBody>
          <a:bodyPr wrap="square">
            <a:spAutoFit/>
          </a:bodyPr>
          <a:lstStyle/>
          <a:p>
            <a:pPr algn="ctr"/>
            <a:r>
              <a:rPr lang="en-US" sz="1600" dirty="0"/>
              <a:t>Saw a butterfly this morning?</a:t>
            </a:r>
            <a:endParaRPr lang="en-GB" sz="1600" dirty="0"/>
          </a:p>
        </p:txBody>
      </p:sp>
      <p:sp>
        <p:nvSpPr>
          <p:cNvPr id="24" name="TextBox 23">
            <a:extLst>
              <a:ext uri="{FF2B5EF4-FFF2-40B4-BE49-F238E27FC236}">
                <a16:creationId xmlns:a16="http://schemas.microsoft.com/office/drawing/2014/main" id="{057D5324-DF36-48B8-9ECE-14BB3F8CD03D}"/>
              </a:ext>
            </a:extLst>
          </p:cNvPr>
          <p:cNvSpPr txBox="1"/>
          <p:nvPr/>
        </p:nvSpPr>
        <p:spPr>
          <a:xfrm>
            <a:off x="9680048" y="4397292"/>
            <a:ext cx="1783159" cy="1077218"/>
          </a:xfrm>
          <a:prstGeom prst="rect">
            <a:avLst/>
          </a:prstGeom>
          <a:noFill/>
          <a:ln w="19050">
            <a:solidFill>
              <a:schemeClr val="tx1"/>
            </a:solidFill>
          </a:ln>
        </p:spPr>
        <p:txBody>
          <a:bodyPr wrap="square">
            <a:spAutoFit/>
          </a:bodyPr>
          <a:lstStyle/>
          <a:p>
            <a:pPr algn="ctr"/>
            <a:r>
              <a:rPr lang="en-US" sz="1600" dirty="0"/>
              <a:t>Grandparent’s room had butterflies in the wallpaper?</a:t>
            </a:r>
            <a:endParaRPr lang="en-GB" sz="1600" dirty="0"/>
          </a:p>
        </p:txBody>
      </p:sp>
      <p:sp>
        <p:nvSpPr>
          <p:cNvPr id="26" name="TextBox 25">
            <a:extLst>
              <a:ext uri="{FF2B5EF4-FFF2-40B4-BE49-F238E27FC236}">
                <a16:creationId xmlns:a16="http://schemas.microsoft.com/office/drawing/2014/main" id="{ECBA7146-D837-4BFE-B2FC-7BF1E98553C9}"/>
              </a:ext>
            </a:extLst>
          </p:cNvPr>
          <p:cNvSpPr txBox="1"/>
          <p:nvPr/>
        </p:nvSpPr>
        <p:spPr>
          <a:xfrm>
            <a:off x="9227563" y="3179159"/>
            <a:ext cx="1783159" cy="830997"/>
          </a:xfrm>
          <a:prstGeom prst="rect">
            <a:avLst/>
          </a:prstGeom>
          <a:noFill/>
          <a:ln w="19050">
            <a:solidFill>
              <a:schemeClr val="tx1"/>
            </a:solidFill>
          </a:ln>
        </p:spPr>
        <p:txBody>
          <a:bodyPr wrap="square">
            <a:spAutoFit/>
          </a:bodyPr>
          <a:lstStyle/>
          <a:p>
            <a:pPr algn="ctr"/>
            <a:r>
              <a:rPr lang="en-US" sz="1600" dirty="0"/>
              <a:t>Grandparent used to grind coffee by hand?</a:t>
            </a:r>
            <a:endParaRPr lang="en-GB" sz="1600" dirty="0"/>
          </a:p>
        </p:txBody>
      </p:sp>
      <p:sp>
        <p:nvSpPr>
          <p:cNvPr id="28" name="TextBox 27">
            <a:extLst>
              <a:ext uri="{FF2B5EF4-FFF2-40B4-BE49-F238E27FC236}">
                <a16:creationId xmlns:a16="http://schemas.microsoft.com/office/drawing/2014/main" id="{701FD862-F6F9-40B0-8B2D-D0B3A5F943AC}"/>
              </a:ext>
            </a:extLst>
          </p:cNvPr>
          <p:cNvSpPr txBox="1"/>
          <p:nvPr/>
        </p:nvSpPr>
        <p:spPr>
          <a:xfrm>
            <a:off x="7784184" y="2008435"/>
            <a:ext cx="2399250" cy="584775"/>
          </a:xfrm>
          <a:prstGeom prst="rect">
            <a:avLst/>
          </a:prstGeom>
          <a:noFill/>
          <a:ln w="19050">
            <a:solidFill>
              <a:schemeClr val="tx1"/>
            </a:solidFill>
          </a:ln>
        </p:spPr>
        <p:txBody>
          <a:bodyPr wrap="square">
            <a:spAutoFit/>
          </a:bodyPr>
          <a:lstStyle/>
          <a:p>
            <a:pPr algn="ctr"/>
            <a:r>
              <a:rPr lang="en-US" sz="1600" dirty="0"/>
              <a:t>Was nostalgic for grandparent’s coffee?</a:t>
            </a:r>
            <a:endParaRPr lang="en-GB" sz="1600" dirty="0"/>
          </a:p>
        </p:txBody>
      </p:sp>
      <p:sp>
        <p:nvSpPr>
          <p:cNvPr id="29" name="Oval 28">
            <a:extLst>
              <a:ext uri="{FF2B5EF4-FFF2-40B4-BE49-F238E27FC236}">
                <a16:creationId xmlns:a16="http://schemas.microsoft.com/office/drawing/2014/main" id="{9E2D86AF-820C-49E9-960D-274C6E928762}"/>
              </a:ext>
            </a:extLst>
          </p:cNvPr>
          <p:cNvSpPr/>
          <p:nvPr/>
        </p:nvSpPr>
        <p:spPr>
          <a:xfrm>
            <a:off x="4991450" y="2469313"/>
            <a:ext cx="2147581" cy="208569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Connector: Elbow 35">
            <a:extLst>
              <a:ext uri="{FF2B5EF4-FFF2-40B4-BE49-F238E27FC236}">
                <a16:creationId xmlns:a16="http://schemas.microsoft.com/office/drawing/2014/main" id="{AA2C6BB7-8CC6-49BD-9083-151ABD8B0B94}"/>
              </a:ext>
            </a:extLst>
          </p:cNvPr>
          <p:cNvCxnSpPr>
            <a:stCxn id="14" idx="2"/>
            <a:endCxn id="16" idx="1"/>
          </p:cNvCxnSpPr>
          <p:nvPr/>
        </p:nvCxnSpPr>
        <p:spPr>
          <a:xfrm rot="16200000" flipH="1">
            <a:off x="-23052" y="2488453"/>
            <a:ext cx="3180690" cy="37620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F2E38404-025A-4597-A1E8-AD85305108EC}"/>
              </a:ext>
            </a:extLst>
          </p:cNvPr>
          <p:cNvCxnSpPr>
            <a:stCxn id="14" idx="3"/>
            <a:endCxn id="10" idx="0"/>
          </p:cNvCxnSpPr>
          <p:nvPr/>
        </p:nvCxnSpPr>
        <p:spPr>
          <a:xfrm>
            <a:off x="2515897" y="670714"/>
            <a:ext cx="131080" cy="68927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453D70BD-ED09-42A4-BD37-C8F18259DCF6}"/>
              </a:ext>
            </a:extLst>
          </p:cNvPr>
          <p:cNvCxnSpPr>
            <a:stCxn id="10" idx="3"/>
            <a:endCxn id="12" idx="0"/>
          </p:cNvCxnSpPr>
          <p:nvPr/>
        </p:nvCxnSpPr>
        <p:spPr>
          <a:xfrm>
            <a:off x="3538556" y="1898601"/>
            <a:ext cx="174424" cy="96722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A67E55B9-28C9-4892-AEA1-137DC9EE27C8}"/>
              </a:ext>
            </a:extLst>
          </p:cNvPr>
          <p:cNvCxnSpPr>
            <a:stCxn id="12" idx="3"/>
            <a:endCxn id="29" idx="2"/>
          </p:cNvCxnSpPr>
          <p:nvPr/>
        </p:nvCxnSpPr>
        <p:spPr>
          <a:xfrm>
            <a:off x="4523042" y="3281328"/>
            <a:ext cx="468408" cy="230832"/>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20A43608-2A73-4E4C-9000-DED1CFC482ED}"/>
              </a:ext>
            </a:extLst>
          </p:cNvPr>
          <p:cNvCxnSpPr>
            <a:stCxn id="6" idx="2"/>
            <a:endCxn id="29" idx="0"/>
          </p:cNvCxnSpPr>
          <p:nvPr/>
        </p:nvCxnSpPr>
        <p:spPr>
          <a:xfrm rot="5400000">
            <a:off x="5312136" y="1716206"/>
            <a:ext cx="1506213" cy="1"/>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E579FB9E-AA4B-4E3D-B8E4-C2C32CAE704A}"/>
              </a:ext>
            </a:extLst>
          </p:cNvPr>
          <p:cNvCxnSpPr>
            <a:stCxn id="22" idx="0"/>
            <a:endCxn id="24" idx="2"/>
          </p:cNvCxnSpPr>
          <p:nvPr/>
        </p:nvCxnSpPr>
        <p:spPr>
          <a:xfrm rot="16200000" flipV="1">
            <a:off x="10760921" y="5285218"/>
            <a:ext cx="370505" cy="749090"/>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0261502F-6CAA-44E2-8907-845416A80AA8}"/>
              </a:ext>
            </a:extLst>
          </p:cNvPr>
          <p:cNvCxnSpPr>
            <a:stCxn id="24" idx="0"/>
            <a:endCxn id="26" idx="2"/>
          </p:cNvCxnSpPr>
          <p:nvPr/>
        </p:nvCxnSpPr>
        <p:spPr>
          <a:xfrm rot="16200000" flipV="1">
            <a:off x="10151818" y="3977481"/>
            <a:ext cx="387136" cy="452485"/>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D506CACB-8EC8-4F3B-8266-5C5CF2C67D4B}"/>
              </a:ext>
            </a:extLst>
          </p:cNvPr>
          <p:cNvCxnSpPr>
            <a:stCxn id="26" idx="0"/>
            <a:endCxn id="28" idx="2"/>
          </p:cNvCxnSpPr>
          <p:nvPr/>
        </p:nvCxnSpPr>
        <p:spPr>
          <a:xfrm rot="16200000" flipV="1">
            <a:off x="9258502" y="2318518"/>
            <a:ext cx="585949" cy="1135334"/>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0E1A4903-BC41-4EED-BECC-2E49E3144D85}"/>
              </a:ext>
            </a:extLst>
          </p:cNvPr>
          <p:cNvCxnSpPr>
            <a:stCxn id="28" idx="1"/>
            <a:endCxn id="29" idx="6"/>
          </p:cNvCxnSpPr>
          <p:nvPr/>
        </p:nvCxnSpPr>
        <p:spPr>
          <a:xfrm rot="10800000" flipV="1">
            <a:off x="7139032" y="2300822"/>
            <a:ext cx="645153" cy="1211337"/>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28349C72-9787-4049-AF79-005A291DA6EF}"/>
              </a:ext>
            </a:extLst>
          </p:cNvPr>
          <p:cNvCxnSpPr>
            <a:stCxn id="16" idx="3"/>
            <a:endCxn id="29" idx="2"/>
          </p:cNvCxnSpPr>
          <p:nvPr/>
        </p:nvCxnSpPr>
        <p:spPr>
          <a:xfrm flipV="1">
            <a:off x="3538556" y="3512160"/>
            <a:ext cx="1452894" cy="754742"/>
          </a:xfrm>
          <a:prstGeom prst="bentConnector3">
            <a:avLst>
              <a:gd name="adj1" fmla="val 83649"/>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9DBA518F-6917-43AE-A2D4-5860FD3B4A02}"/>
              </a:ext>
            </a:extLst>
          </p:cNvPr>
          <p:cNvCxnSpPr>
            <a:stCxn id="20" idx="0"/>
            <a:endCxn id="29" idx="4"/>
          </p:cNvCxnSpPr>
          <p:nvPr/>
        </p:nvCxnSpPr>
        <p:spPr>
          <a:xfrm rot="5400000" flipH="1" flipV="1">
            <a:off x="5866084" y="4754162"/>
            <a:ext cx="398312" cy="2"/>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9AF8724-4C20-40A6-A76C-EDC52A2CB53F}"/>
              </a:ext>
            </a:extLst>
          </p:cNvPr>
          <p:cNvCxnSpPr>
            <a:stCxn id="18" idx="0"/>
            <a:endCxn id="20" idx="2"/>
          </p:cNvCxnSpPr>
          <p:nvPr/>
        </p:nvCxnSpPr>
        <p:spPr>
          <a:xfrm flipV="1">
            <a:off x="6061047" y="6030537"/>
            <a:ext cx="4192" cy="406174"/>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6F9639A4-1E4F-4228-87E7-E9BCDC6FA60D}"/>
              </a:ext>
            </a:extLst>
          </p:cNvPr>
          <p:cNvSpPr txBox="1"/>
          <p:nvPr/>
        </p:nvSpPr>
        <p:spPr>
          <a:xfrm>
            <a:off x="8429196" y="966376"/>
            <a:ext cx="3379891" cy="338554"/>
          </a:xfrm>
          <a:prstGeom prst="rect">
            <a:avLst/>
          </a:prstGeom>
          <a:noFill/>
          <a:ln w="19050">
            <a:solidFill>
              <a:schemeClr val="tx1"/>
            </a:solidFill>
          </a:ln>
        </p:spPr>
        <p:txBody>
          <a:bodyPr wrap="square">
            <a:spAutoFit/>
          </a:bodyPr>
          <a:lstStyle/>
          <a:p>
            <a:pPr algn="ctr"/>
            <a:r>
              <a:rPr lang="en-US" sz="1600" dirty="0"/>
              <a:t>Did you drink coffee yesterday?</a:t>
            </a:r>
            <a:endParaRPr lang="en-GB" sz="1600" dirty="0"/>
          </a:p>
        </p:txBody>
      </p:sp>
      <p:cxnSp>
        <p:nvCxnSpPr>
          <p:cNvPr id="71" name="Connector: Elbow 70">
            <a:extLst>
              <a:ext uri="{FF2B5EF4-FFF2-40B4-BE49-F238E27FC236}">
                <a16:creationId xmlns:a16="http://schemas.microsoft.com/office/drawing/2014/main" id="{CE972D54-63F6-4B51-87F3-5ED782B994A5}"/>
              </a:ext>
            </a:extLst>
          </p:cNvPr>
          <p:cNvCxnSpPr>
            <a:stCxn id="69" idx="1"/>
            <a:endCxn id="29" idx="7"/>
          </p:cNvCxnSpPr>
          <p:nvPr/>
        </p:nvCxnSpPr>
        <p:spPr>
          <a:xfrm rot="10800000" flipV="1">
            <a:off x="6824526" y="1135652"/>
            <a:ext cx="1604671" cy="1639103"/>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47817476-093B-4DAF-9A9D-C26D1647227F}"/>
              </a:ext>
            </a:extLst>
          </p:cNvPr>
          <p:cNvCxnSpPr>
            <a:stCxn id="14" idx="3"/>
            <a:endCxn id="6" idx="1"/>
          </p:cNvCxnSpPr>
          <p:nvPr/>
        </p:nvCxnSpPr>
        <p:spPr>
          <a:xfrm flipV="1">
            <a:off x="2515897" y="670713"/>
            <a:ext cx="2845718" cy="1"/>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5222706C-1AF0-4BE6-B8F4-422F8C251580}"/>
              </a:ext>
            </a:extLst>
          </p:cNvPr>
          <p:cNvCxnSpPr>
            <a:stCxn id="14" idx="1"/>
            <a:endCxn id="18" idx="1"/>
          </p:cNvCxnSpPr>
          <p:nvPr/>
        </p:nvCxnSpPr>
        <p:spPr>
          <a:xfrm rot="10800000" flipH="1" flipV="1">
            <a:off x="242481" y="670714"/>
            <a:ext cx="5110744" cy="5935274"/>
          </a:xfrm>
          <a:prstGeom prst="bentConnector3">
            <a:avLst>
              <a:gd name="adj1" fmla="val -2389"/>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66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500"/>
                                        <p:tgtEl>
                                          <p:spTgt spid="4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fade">
                                      <p:cBhvr>
                                        <p:cTn id="43" dur="500"/>
                                        <p:tgtEl>
                                          <p:spTgt spid="5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67"/>
                                        </p:tgtEl>
                                        <p:attrNameLst>
                                          <p:attrName>style.visibility</p:attrName>
                                        </p:attrNameLst>
                                      </p:cBhvr>
                                      <p:to>
                                        <p:strVal val="visible"/>
                                      </p:to>
                                    </p:set>
                                    <p:animEffect transition="in" filter="fade">
                                      <p:cBhvr>
                                        <p:cTn id="51" dur="500"/>
                                        <p:tgtEl>
                                          <p:spTgt spid="6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59"/>
                                        </p:tgtEl>
                                        <p:attrNameLst>
                                          <p:attrName>style.visibility</p:attrName>
                                        </p:attrNameLst>
                                      </p:cBhvr>
                                      <p:to>
                                        <p:strVal val="visible"/>
                                      </p:to>
                                    </p:set>
                                    <p:animEffect transition="in" filter="fade">
                                      <p:cBhvr>
                                        <p:cTn id="57" dur="500"/>
                                        <p:tgtEl>
                                          <p:spTgt spid="59"/>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75"/>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7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500"/>
                                        <p:tgtEl>
                                          <p:spTgt spid="4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nodeType="withEffect">
                                  <p:stCondLst>
                                    <p:cond delay="0"/>
                                  </p:stCondLst>
                                  <p:childTnLst>
                                    <p:set>
                                      <p:cBhvr>
                                        <p:cTn id="83" dur="1" fill="hold">
                                          <p:stCondLst>
                                            <p:cond delay="0"/>
                                          </p:stCondLst>
                                        </p:cTn>
                                        <p:tgtEl>
                                          <p:spTgt spid="48"/>
                                        </p:tgtEl>
                                        <p:attrNameLst>
                                          <p:attrName>style.visibility</p:attrName>
                                        </p:attrNameLst>
                                      </p:cBhvr>
                                      <p:to>
                                        <p:strVal val="visible"/>
                                      </p:to>
                                    </p:set>
                                    <p:animEffect transition="in" filter="fade">
                                      <p:cBhvr>
                                        <p:cTn id="84" dur="500"/>
                                        <p:tgtEl>
                                          <p:spTgt spid="48"/>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par>
                                <p:cTn id="90" presetID="10" presetClass="entr" presetSubtype="0" fill="hold" nodeType="withEffect">
                                  <p:stCondLst>
                                    <p:cond delay="0"/>
                                  </p:stCondLst>
                                  <p:childTnLst>
                                    <p:set>
                                      <p:cBhvr>
                                        <p:cTn id="91" dur="1" fill="hold">
                                          <p:stCondLst>
                                            <p:cond delay="0"/>
                                          </p:stCondLst>
                                        </p:cTn>
                                        <p:tgtEl>
                                          <p:spTgt spid="50"/>
                                        </p:tgtEl>
                                        <p:attrNameLst>
                                          <p:attrName>style.visibility</p:attrName>
                                        </p:attrNameLst>
                                      </p:cBhvr>
                                      <p:to>
                                        <p:strVal val="visible"/>
                                      </p:to>
                                    </p:set>
                                    <p:animEffect transition="in" filter="fade">
                                      <p:cBhvr>
                                        <p:cTn id="92" dur="500"/>
                                        <p:tgtEl>
                                          <p:spTgt spid="50"/>
                                        </p:tgtEl>
                                      </p:cBhvr>
                                    </p:animEffect>
                                  </p:childTnLst>
                                </p:cTn>
                              </p:par>
                              <p:par>
                                <p:cTn id="93" presetID="10" presetClass="entr" presetSubtype="0" fill="hold" nodeType="with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500"/>
                                        <p:tgtEl>
                                          <p:spTgt spid="52"/>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69"/>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2" grpId="0" animBg="1"/>
      <p:bldP spid="14" grpId="0" animBg="1"/>
      <p:bldP spid="16" grpId="0" animBg="1"/>
      <p:bldP spid="18" grpId="0" animBg="1"/>
      <p:bldP spid="20" grpId="0" animBg="1"/>
      <p:bldP spid="22" grpId="0" animBg="1"/>
      <p:bldP spid="24" grpId="0" animBg="1"/>
      <p:bldP spid="26" grpId="0" animBg="1"/>
      <p:bldP spid="28" grpId="0" animBg="1"/>
      <p:bldP spid="6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pic>
        <p:nvPicPr>
          <p:cNvPr id="36" name="Picture 35">
            <a:extLst>
              <a:ext uri="{FF2B5EF4-FFF2-40B4-BE49-F238E27FC236}">
                <a16:creationId xmlns:a16="http://schemas.microsoft.com/office/drawing/2014/main" id="{ADB25E1E-4B0B-1EF9-0DA5-0B3D58BF5B27}"/>
              </a:ext>
            </a:extLst>
          </p:cNvPr>
          <p:cNvPicPr>
            <a:picLocks noChangeAspect="1"/>
          </p:cNvPicPr>
          <p:nvPr/>
        </p:nvPicPr>
        <p:blipFill>
          <a:blip r:embed="rId3"/>
          <a:stretch>
            <a:fillRect/>
          </a:stretch>
        </p:blipFill>
        <p:spPr>
          <a:xfrm>
            <a:off x="5372356" y="0"/>
            <a:ext cx="6819644" cy="4542798"/>
          </a:xfrm>
          <a:prstGeom prst="rect">
            <a:avLst/>
          </a:prstGeom>
        </p:spPr>
      </p:pic>
      <p:sp>
        <p:nvSpPr>
          <p:cNvPr id="9" name="Title 1">
            <a:extLst>
              <a:ext uri="{FF2B5EF4-FFF2-40B4-BE49-F238E27FC236}">
                <a16:creationId xmlns:a16="http://schemas.microsoft.com/office/drawing/2014/main" id="{87B21766-57B8-FE9F-023C-01A1F8206E66}"/>
              </a:ext>
            </a:extLst>
          </p:cNvPr>
          <p:cNvSpPr>
            <a:spLocks noGrp="1"/>
          </p:cNvSpPr>
          <p:nvPr>
            <p:ph type="title"/>
          </p:nvPr>
        </p:nvSpPr>
        <p:spPr>
          <a:xfrm>
            <a:off x="0" y="0"/>
            <a:ext cx="12192000" cy="1325563"/>
          </a:xfrm>
        </p:spPr>
        <p:txBody>
          <a:bodyPr anchor="ctr">
            <a:normAutofit fontScale="90000"/>
          </a:bodyPr>
          <a:lstStyle/>
          <a:p>
            <a:pPr algn="ctr"/>
            <a:r>
              <a:rPr lang="en-GB" sz="5400" dirty="0">
                <a:latin typeface="Bahnschrift Light" panose="020B0502040204020203" pitchFamily="34" charset="0"/>
              </a:rPr>
              <a:t>What is the average number of coffees you drink in a year?</a:t>
            </a:r>
          </a:p>
        </p:txBody>
      </p:sp>
      <p:sp>
        <p:nvSpPr>
          <p:cNvPr id="32" name="Google Shape;371;p39">
            <a:extLst>
              <a:ext uri="{FF2B5EF4-FFF2-40B4-BE49-F238E27FC236}">
                <a16:creationId xmlns:a16="http://schemas.microsoft.com/office/drawing/2014/main" id="{5394189B-7847-4829-B059-EDBDC6134D1F}"/>
              </a:ext>
            </a:extLst>
          </p:cNvPr>
          <p:cNvSpPr txBox="1">
            <a:spLocks noGrp="1"/>
          </p:cNvSpPr>
          <p:nvPr>
            <p:ph type="body" idx="1"/>
          </p:nvPr>
        </p:nvSpPr>
        <p:spPr>
          <a:xfrm>
            <a:off x="127591" y="1325564"/>
            <a:ext cx="6730412" cy="5091304"/>
          </a:xfrm>
          <a:prstGeom prst="rect">
            <a:avLst/>
          </a:prstGeom>
        </p:spPr>
        <p:txBody>
          <a:bodyPr spcFirstLastPara="1" vert="horz" wrap="square" lIns="121900" tIns="121900" rIns="121900" bIns="121900" rtlCol="0" anchor="t" anchorCtr="0">
            <a:noAutofit/>
          </a:bodyPr>
          <a:lstStyle/>
          <a:p>
            <a:pPr marL="0" indent="0">
              <a:buNone/>
            </a:pPr>
            <a:r>
              <a:rPr lang="en-US" dirty="0">
                <a:latin typeface="Bahnschrift Light" panose="020B0502040204020203" pitchFamily="34" charset="0"/>
              </a:rPr>
              <a:t>Boring question. Who cares?</a:t>
            </a:r>
          </a:p>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The response will be a value (e.g. 522.6).</a:t>
            </a:r>
          </a:p>
          <a:p>
            <a:pPr marL="0" indent="0">
              <a:buNone/>
            </a:pPr>
            <a:endParaRPr lang="en-US" dirty="0">
              <a:latin typeface="Bahnschrift Light" panose="020B0502040204020203" pitchFamily="34" charset="0"/>
            </a:endParaRPr>
          </a:p>
          <a:p>
            <a:pPr marL="0" indent="0">
              <a:buNone/>
            </a:pPr>
            <a:r>
              <a:rPr lang="en-GB" dirty="0">
                <a:latin typeface="Bahnschrift Light" panose="020B0502040204020203" pitchFamily="34" charset="0"/>
              </a:rPr>
              <a:t>Given your answer, the more interesting question is why do you drink that many?</a:t>
            </a:r>
          </a:p>
          <a:p>
            <a:pPr marL="0" indent="0">
              <a:buNone/>
            </a:pPr>
            <a:endParaRPr lang="en-GB" dirty="0">
              <a:latin typeface="Bahnschrift Light" panose="020B0502040204020203" pitchFamily="34" charset="0"/>
            </a:endParaRPr>
          </a:p>
          <a:p>
            <a:pPr marL="0" indent="0">
              <a:buNone/>
            </a:pPr>
            <a:r>
              <a:rPr lang="en-GB" dirty="0">
                <a:latin typeface="Bahnschrift Light" panose="020B0502040204020203" pitchFamily="34" charset="0"/>
              </a:rPr>
              <a:t>For all of us, there is some unknown average number of coffees, which won’t be truth for everyone, </a:t>
            </a:r>
            <a:br>
              <a:rPr lang="en-GB" dirty="0">
                <a:latin typeface="Bahnschrift Light" panose="020B0502040204020203" pitchFamily="34" charset="0"/>
              </a:rPr>
            </a:br>
            <a:r>
              <a:rPr lang="en-GB" dirty="0">
                <a:latin typeface="Bahnschrift Light" panose="020B0502040204020203" pitchFamily="34" charset="0"/>
              </a:rPr>
              <a:t>which is </a:t>
            </a:r>
            <a:r>
              <a:rPr lang="en-GB" i="1" dirty="0">
                <a:latin typeface="Bahnschrift Light" panose="020B0502040204020203" pitchFamily="34" charset="0"/>
              </a:rPr>
              <a:t>determined</a:t>
            </a:r>
            <a:r>
              <a:rPr lang="en-GB" dirty="0">
                <a:latin typeface="Bahnschrift Light" panose="020B0502040204020203" pitchFamily="34" charset="0"/>
              </a:rPr>
              <a:t> by some set of </a:t>
            </a:r>
            <a:br>
              <a:rPr lang="en-GB" dirty="0">
                <a:latin typeface="Bahnschrift Light" panose="020B0502040204020203" pitchFamily="34" charset="0"/>
              </a:rPr>
            </a:br>
            <a:r>
              <a:rPr lang="en-GB" dirty="0">
                <a:latin typeface="Bahnschrift Light" panose="020B0502040204020203" pitchFamily="34" charset="0"/>
              </a:rPr>
              <a:t>explanatory </a:t>
            </a:r>
            <a:r>
              <a:rPr lang="en-GB" i="1" dirty="0">
                <a:latin typeface="Bahnschrift Light" panose="020B0502040204020203" pitchFamily="34" charset="0"/>
              </a:rPr>
              <a:t>variables</a:t>
            </a:r>
            <a:r>
              <a:rPr lang="en-GB" dirty="0">
                <a:latin typeface="Bahnschrift Light" panose="020B0502040204020203" pitchFamily="34" charset="0"/>
              </a:rPr>
              <a:t>.</a:t>
            </a:r>
            <a:endParaRPr dirty="0">
              <a:latin typeface="Bahnschrift Light" panose="020B0502040204020203" pitchFamily="34" charset="0"/>
            </a:endParaRPr>
          </a:p>
        </p:txBody>
      </p:sp>
      <p:grpSp>
        <p:nvGrpSpPr>
          <p:cNvPr id="2" name="Group 1">
            <a:extLst>
              <a:ext uri="{FF2B5EF4-FFF2-40B4-BE49-F238E27FC236}">
                <a16:creationId xmlns:a16="http://schemas.microsoft.com/office/drawing/2014/main" id="{02D21616-E55C-F73B-C679-C7585F45DF70}"/>
              </a:ext>
            </a:extLst>
          </p:cNvPr>
          <p:cNvGrpSpPr/>
          <p:nvPr/>
        </p:nvGrpSpPr>
        <p:grpSpPr>
          <a:xfrm>
            <a:off x="7521390" y="5157239"/>
            <a:ext cx="3608231" cy="1209171"/>
            <a:chOff x="7521390" y="5157239"/>
            <a:chExt cx="3608231" cy="1209171"/>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0A4F0D0-3DBC-4026-AC8C-1A4D7131F5BC}"/>
                    </a:ext>
                  </a:extLst>
                </p:cNvPr>
                <p:cNvSpPr txBox="1"/>
                <p:nvPr/>
              </p:nvSpPr>
              <p:spPr>
                <a:xfrm>
                  <a:off x="7521390" y="5157239"/>
                  <a:ext cx="360823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r>
                          <a:rPr lang="en-GB" sz="3200" b="0" i="1" smtClean="0">
                            <a:latin typeface="Cambria Math" panose="02040503050406030204" pitchFamily="18" charset="0"/>
                          </a:rPr>
                          <m:t>𝑁𝑜𝑟𝑚𝑎𝑙</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GB" sz="3200" b="0" i="1" smtClean="0">
                                <a:latin typeface="Cambria Math" panose="02040503050406030204" pitchFamily="18" charset="0"/>
                              </a:rPr>
                              <m:t>𝜇</m:t>
                            </m:r>
                          </m:e>
                          <m:sub>
                            <m:r>
                              <a:rPr lang="en-US" sz="3200" b="0" i="1" smtClean="0">
                                <a:latin typeface="Cambria Math" panose="02040503050406030204" pitchFamily="18" charset="0"/>
                              </a:rPr>
                              <m:t>𝑖</m:t>
                            </m:r>
                          </m:sub>
                        </m:sSub>
                        <m:r>
                          <a:rPr lang="en-GB" sz="3200" b="0" i="1" smtClean="0">
                            <a:latin typeface="Cambria Math" panose="02040503050406030204" pitchFamily="18" charset="0"/>
                          </a:rPr>
                          <m:t>, </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𝜎</m:t>
                            </m:r>
                          </m:e>
                          <m:sub>
                            <m:r>
                              <a:rPr lang="en-GB" sz="3200" b="0" i="1" smtClean="0">
                                <a:latin typeface="Cambria Math" panose="02040503050406030204" pitchFamily="18" charset="0"/>
                              </a:rPr>
                              <m:t>𝑖</m:t>
                            </m:r>
                          </m:sub>
                        </m:sSub>
                        <m:r>
                          <a:rPr lang="en-US" sz="3200" b="0" i="1" smtClean="0">
                            <a:latin typeface="Cambria Math" panose="02040503050406030204" pitchFamily="18" charset="0"/>
                          </a:rPr>
                          <m:t>)</m:t>
                        </m:r>
                      </m:oMath>
                    </m:oMathPara>
                  </a14:m>
                  <a:endParaRPr lang="en-GB" sz="3200" dirty="0"/>
                </a:p>
              </p:txBody>
            </p:sp>
          </mc:Choice>
          <mc:Fallback xmlns="">
            <p:sp>
              <p:nvSpPr>
                <p:cNvPr id="5" name="TextBox 4">
                  <a:extLst>
                    <a:ext uri="{FF2B5EF4-FFF2-40B4-BE49-F238E27FC236}">
                      <a16:creationId xmlns:a16="http://schemas.microsoft.com/office/drawing/2014/main" id="{70A4F0D0-3DBC-4026-AC8C-1A4D7131F5BC}"/>
                    </a:ext>
                  </a:extLst>
                </p:cNvPr>
                <p:cNvSpPr txBox="1">
                  <a:spLocks noRot="1" noChangeAspect="1" noMove="1" noResize="1" noEditPoints="1" noAdjustHandles="1" noChangeArrowheads="1" noChangeShapeType="1" noTextEdit="1"/>
                </p:cNvSpPr>
                <p:nvPr/>
              </p:nvSpPr>
              <p:spPr>
                <a:xfrm>
                  <a:off x="7521390" y="5157239"/>
                  <a:ext cx="3608231" cy="49244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4ECBC21-62FF-4DE1-BF7D-92A6D3C5EFCC}"/>
                    </a:ext>
                  </a:extLst>
                </p:cNvPr>
                <p:cNvSpPr txBox="1"/>
                <p:nvPr/>
              </p:nvSpPr>
              <p:spPr>
                <a:xfrm>
                  <a:off x="7521390" y="5873967"/>
                  <a:ext cx="152772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GB" sz="3200" b="0" i="1" smtClean="0">
                                <a:latin typeface="Cambria Math" panose="02040503050406030204" pitchFamily="18" charset="0"/>
                              </a:rPr>
                              <m:t>𝜇</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rPr>
                          <m:t>𝑋</m:t>
                        </m:r>
                        <m:r>
                          <a:rPr lang="en-US" sz="3200" b="0" i="1" smtClean="0">
                            <a:latin typeface="Cambria Math" panose="02040503050406030204" pitchFamily="18" charset="0"/>
                          </a:rPr>
                          <m:t>𝛽</m:t>
                        </m:r>
                      </m:oMath>
                    </m:oMathPara>
                  </a14:m>
                  <a:endParaRPr lang="en-GB" sz="3200" dirty="0"/>
                </a:p>
              </p:txBody>
            </p:sp>
          </mc:Choice>
          <mc:Fallback xmlns="">
            <p:sp>
              <p:nvSpPr>
                <p:cNvPr id="7" name="TextBox 6">
                  <a:extLst>
                    <a:ext uri="{FF2B5EF4-FFF2-40B4-BE49-F238E27FC236}">
                      <a16:creationId xmlns:a16="http://schemas.microsoft.com/office/drawing/2014/main" id="{64ECBC21-62FF-4DE1-BF7D-92A6D3C5EFCC}"/>
                    </a:ext>
                  </a:extLst>
                </p:cNvPr>
                <p:cNvSpPr txBox="1">
                  <a:spLocks noRot="1" noChangeAspect="1" noMove="1" noResize="1" noEditPoints="1" noAdjustHandles="1" noChangeArrowheads="1" noChangeShapeType="1" noTextEdit="1"/>
                </p:cNvSpPr>
                <p:nvPr/>
              </p:nvSpPr>
              <p:spPr>
                <a:xfrm>
                  <a:off x="7521390" y="5873967"/>
                  <a:ext cx="1527726" cy="492443"/>
                </a:xfrm>
                <a:prstGeom prst="rect">
                  <a:avLst/>
                </a:prstGeom>
                <a:blipFill>
                  <a:blip r:embed="rId5"/>
                  <a:stretch>
                    <a:fillRect/>
                  </a:stretch>
                </a:blipFill>
              </p:spPr>
              <p:txBody>
                <a:bodyPr/>
                <a:lstStyle/>
                <a:p>
                  <a:r>
                    <a:rPr lang="en-GB">
                      <a:noFill/>
                    </a:rPr>
                    <a:t> </a:t>
                  </a:r>
                </a:p>
              </p:txBody>
            </p:sp>
          </mc:Fallback>
        </mc:AlternateContent>
      </p:grpSp>
      <p:grpSp>
        <p:nvGrpSpPr>
          <p:cNvPr id="18" name="Group 17">
            <a:extLst>
              <a:ext uri="{FF2B5EF4-FFF2-40B4-BE49-F238E27FC236}">
                <a16:creationId xmlns:a16="http://schemas.microsoft.com/office/drawing/2014/main" id="{AB489590-0591-4AE0-B9F9-F6F6EF03AE3A}"/>
              </a:ext>
            </a:extLst>
          </p:cNvPr>
          <p:cNvGrpSpPr/>
          <p:nvPr/>
        </p:nvGrpSpPr>
        <p:grpSpPr>
          <a:xfrm>
            <a:off x="890588" y="2214368"/>
            <a:ext cx="7050305" cy="3441374"/>
            <a:chOff x="890588" y="2214368"/>
            <a:chExt cx="7050305" cy="3441374"/>
          </a:xfrm>
        </p:grpSpPr>
        <p:sp>
          <p:nvSpPr>
            <p:cNvPr id="11" name="Rectangle 10">
              <a:extLst>
                <a:ext uri="{FF2B5EF4-FFF2-40B4-BE49-F238E27FC236}">
                  <a16:creationId xmlns:a16="http://schemas.microsoft.com/office/drawing/2014/main" id="{05596422-935E-4022-9888-7394787E941F}"/>
                </a:ext>
              </a:extLst>
            </p:cNvPr>
            <p:cNvSpPr/>
            <p:nvPr/>
          </p:nvSpPr>
          <p:spPr>
            <a:xfrm>
              <a:off x="890588" y="2214368"/>
              <a:ext cx="1533525" cy="411116"/>
            </a:xfrm>
            <a:prstGeom prst="rect">
              <a:avLst/>
            </a:prstGeom>
            <a:noFill/>
            <a:ln w="38100">
              <a:solidFill>
                <a:srgbClr val="CC3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Rounded Corners 11">
              <a:extLst>
                <a:ext uri="{FF2B5EF4-FFF2-40B4-BE49-F238E27FC236}">
                  <a16:creationId xmlns:a16="http://schemas.microsoft.com/office/drawing/2014/main" id="{36E3CAB0-F281-48B4-B632-D1F42390B074}"/>
                </a:ext>
              </a:extLst>
            </p:cNvPr>
            <p:cNvSpPr/>
            <p:nvPr/>
          </p:nvSpPr>
          <p:spPr>
            <a:xfrm>
              <a:off x="7538117" y="5216606"/>
              <a:ext cx="402776" cy="439136"/>
            </a:xfrm>
            <a:prstGeom prst="roundRect">
              <a:avLst/>
            </a:prstGeom>
            <a:noFill/>
            <a:ln w="28575">
              <a:solidFill>
                <a:srgbClr val="CC3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D28C55A4-C49B-4D37-8B07-2CE7CB6B3787}"/>
              </a:ext>
            </a:extLst>
          </p:cNvPr>
          <p:cNvGrpSpPr/>
          <p:nvPr/>
        </p:nvGrpSpPr>
        <p:grpSpPr>
          <a:xfrm>
            <a:off x="219767" y="4535923"/>
            <a:ext cx="10148188" cy="1850512"/>
            <a:chOff x="1014878" y="4535923"/>
            <a:chExt cx="6753221" cy="1850512"/>
          </a:xfrm>
        </p:grpSpPr>
        <p:sp>
          <p:nvSpPr>
            <p:cNvPr id="46" name="Rectangle: Rounded Corners 45">
              <a:extLst>
                <a:ext uri="{FF2B5EF4-FFF2-40B4-BE49-F238E27FC236}">
                  <a16:creationId xmlns:a16="http://schemas.microsoft.com/office/drawing/2014/main" id="{64BFA693-DCE4-4AFE-9106-647ED915C76D}"/>
                </a:ext>
              </a:extLst>
            </p:cNvPr>
            <p:cNvSpPr/>
            <p:nvPr/>
          </p:nvSpPr>
          <p:spPr>
            <a:xfrm>
              <a:off x="7503847" y="5216606"/>
              <a:ext cx="264252" cy="441365"/>
            </a:xfrm>
            <a:prstGeom prst="roundRect">
              <a:avLst/>
            </a:prstGeom>
            <a:noFill/>
            <a:ln w="28575">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9" name="Group 18">
              <a:extLst>
                <a:ext uri="{FF2B5EF4-FFF2-40B4-BE49-F238E27FC236}">
                  <a16:creationId xmlns:a16="http://schemas.microsoft.com/office/drawing/2014/main" id="{6FFA9890-8C09-4FE9-A22A-EC53A8134235}"/>
                </a:ext>
              </a:extLst>
            </p:cNvPr>
            <p:cNvGrpSpPr/>
            <p:nvPr/>
          </p:nvGrpSpPr>
          <p:grpSpPr>
            <a:xfrm>
              <a:off x="1014878" y="4535923"/>
              <a:ext cx="5138106" cy="1850512"/>
              <a:chOff x="1014878" y="4535923"/>
              <a:chExt cx="5138106" cy="1850512"/>
            </a:xfrm>
          </p:grpSpPr>
          <p:sp>
            <p:nvSpPr>
              <p:cNvPr id="42" name="Rectangle 41">
                <a:extLst>
                  <a:ext uri="{FF2B5EF4-FFF2-40B4-BE49-F238E27FC236}">
                    <a16:creationId xmlns:a16="http://schemas.microsoft.com/office/drawing/2014/main" id="{E722088A-DBD5-4BA8-BFEF-8E71175E1F26}"/>
                  </a:ext>
                </a:extLst>
              </p:cNvPr>
              <p:cNvSpPr/>
              <p:nvPr/>
            </p:nvSpPr>
            <p:spPr>
              <a:xfrm>
                <a:off x="1014878" y="4535923"/>
                <a:ext cx="2884425" cy="379133"/>
              </a:xfrm>
              <a:prstGeom prst="rect">
                <a:avLst/>
              </a:prstGeom>
              <a:noFill/>
              <a:ln w="38100">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Rounded Corners 46">
                <a:extLst>
                  <a:ext uri="{FF2B5EF4-FFF2-40B4-BE49-F238E27FC236}">
                    <a16:creationId xmlns:a16="http://schemas.microsoft.com/office/drawing/2014/main" id="{36AB0B07-6621-47E7-97BF-DA1B977FD90E}"/>
                  </a:ext>
                </a:extLst>
              </p:cNvPr>
              <p:cNvSpPr/>
              <p:nvPr/>
            </p:nvSpPr>
            <p:spPr>
              <a:xfrm>
                <a:off x="5873823" y="5893992"/>
                <a:ext cx="279161" cy="492443"/>
              </a:xfrm>
              <a:prstGeom prst="roundRect">
                <a:avLst/>
              </a:prstGeom>
              <a:noFill/>
              <a:ln w="28575">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1" name="Group 20">
            <a:extLst>
              <a:ext uri="{FF2B5EF4-FFF2-40B4-BE49-F238E27FC236}">
                <a16:creationId xmlns:a16="http://schemas.microsoft.com/office/drawing/2014/main" id="{9A6854F8-1D7B-4E84-AAFB-F147BDE19CAE}"/>
              </a:ext>
            </a:extLst>
          </p:cNvPr>
          <p:cNvGrpSpPr/>
          <p:nvPr/>
        </p:nvGrpSpPr>
        <p:grpSpPr>
          <a:xfrm>
            <a:off x="192518" y="5309768"/>
            <a:ext cx="8876759" cy="1076667"/>
            <a:chOff x="-1421267" y="5603758"/>
            <a:chExt cx="8876759" cy="1076667"/>
          </a:xfrm>
        </p:grpSpPr>
        <p:sp>
          <p:nvSpPr>
            <p:cNvPr id="43" name="Rectangle 42">
              <a:extLst>
                <a:ext uri="{FF2B5EF4-FFF2-40B4-BE49-F238E27FC236}">
                  <a16:creationId xmlns:a16="http://schemas.microsoft.com/office/drawing/2014/main" id="{ED52917F-8F6B-4630-81DC-4B6013FD7F93}"/>
                </a:ext>
              </a:extLst>
            </p:cNvPr>
            <p:cNvSpPr/>
            <p:nvPr/>
          </p:nvSpPr>
          <p:spPr>
            <a:xfrm>
              <a:off x="-1421267" y="5603758"/>
              <a:ext cx="5842049" cy="752481"/>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Rounded Corners 47">
              <a:extLst>
                <a:ext uri="{FF2B5EF4-FFF2-40B4-BE49-F238E27FC236}">
                  <a16:creationId xmlns:a16="http://schemas.microsoft.com/office/drawing/2014/main" id="{578663CD-020D-4580-A43F-AEF629599CA7}"/>
                </a:ext>
              </a:extLst>
            </p:cNvPr>
            <p:cNvSpPr/>
            <p:nvPr/>
          </p:nvSpPr>
          <p:spPr>
            <a:xfrm>
              <a:off x="6814216" y="6187982"/>
              <a:ext cx="641276" cy="492443"/>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 name="Group 38">
            <a:extLst>
              <a:ext uri="{FF2B5EF4-FFF2-40B4-BE49-F238E27FC236}">
                <a16:creationId xmlns:a16="http://schemas.microsoft.com/office/drawing/2014/main" id="{F58FCE76-FFEA-4974-AD87-E5B269986550}"/>
              </a:ext>
            </a:extLst>
          </p:cNvPr>
          <p:cNvGrpSpPr/>
          <p:nvPr/>
        </p:nvGrpSpPr>
        <p:grpSpPr>
          <a:xfrm>
            <a:off x="4873840" y="2214368"/>
            <a:ext cx="5007007" cy="3443603"/>
            <a:chOff x="2631071" y="2566335"/>
            <a:chExt cx="5007007" cy="3443603"/>
          </a:xfrm>
        </p:grpSpPr>
        <p:sp>
          <p:nvSpPr>
            <p:cNvPr id="41" name="Rectangle 40">
              <a:extLst>
                <a:ext uri="{FF2B5EF4-FFF2-40B4-BE49-F238E27FC236}">
                  <a16:creationId xmlns:a16="http://schemas.microsoft.com/office/drawing/2014/main" id="{5311F149-F812-43A0-B4C5-75BFF1102750}"/>
                </a:ext>
              </a:extLst>
            </p:cNvPr>
            <p:cNvSpPr/>
            <p:nvPr/>
          </p:nvSpPr>
          <p:spPr>
            <a:xfrm>
              <a:off x="2631071" y="2566335"/>
              <a:ext cx="1695636" cy="411116"/>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 name="Rectangle: Rounded Corners 43">
              <a:extLst>
                <a:ext uri="{FF2B5EF4-FFF2-40B4-BE49-F238E27FC236}">
                  <a16:creationId xmlns:a16="http://schemas.microsoft.com/office/drawing/2014/main" id="{1D1F8316-F598-4AC9-82A1-A2BFA347CB3F}"/>
                </a:ext>
              </a:extLst>
            </p:cNvPr>
            <p:cNvSpPr/>
            <p:nvPr/>
          </p:nvSpPr>
          <p:spPr>
            <a:xfrm>
              <a:off x="6185232" y="5568573"/>
              <a:ext cx="1452846" cy="441365"/>
            </a:xfrm>
            <a:prstGeom prst="round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04502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10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2" end="2"/>
                                            </p:txEl>
                                          </p:spTgt>
                                        </p:tgtEl>
                                        <p:attrNameLst>
                                          <p:attrName>style.visibility</p:attrName>
                                        </p:attrNameLst>
                                      </p:cBhvr>
                                      <p:to>
                                        <p:strVal val="visible"/>
                                      </p:to>
                                    </p:set>
                                    <p:animEffect transition="in" filter="fade">
                                      <p:cBhvr>
                                        <p:cTn id="12" dur="1000"/>
                                        <p:tgtEl>
                                          <p:spTgt spid="3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4" end="4"/>
                                            </p:txEl>
                                          </p:spTgt>
                                        </p:tgtEl>
                                        <p:attrNameLst>
                                          <p:attrName>style.visibility</p:attrName>
                                        </p:attrNameLst>
                                      </p:cBhvr>
                                      <p:to>
                                        <p:strVal val="visible"/>
                                      </p:to>
                                    </p:set>
                                    <p:animEffect transition="in" filter="fade">
                                      <p:cBhvr>
                                        <p:cTn id="17" dur="1000"/>
                                        <p:tgtEl>
                                          <p:spTgt spid="3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xEl>
                                              <p:pRg st="6" end="6"/>
                                            </p:txEl>
                                          </p:spTgt>
                                        </p:tgtEl>
                                        <p:attrNameLst>
                                          <p:attrName>style.visibility</p:attrName>
                                        </p:attrNameLst>
                                      </p:cBhvr>
                                      <p:to>
                                        <p:strVal val="visible"/>
                                      </p:to>
                                    </p:set>
                                    <p:animEffect transition="in" filter="fade">
                                      <p:cBhvr>
                                        <p:cTn id="22" dur="1000"/>
                                        <p:tgtEl>
                                          <p:spTgt spid="3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68FD3-7BCC-9E92-755E-5E4042D88E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2E492-C309-AE80-0A5A-C913478D008E}"/>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Stochastic and deterministic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BFB225-C157-471D-970C-0D20B92D1711}"/>
                  </a:ext>
                </a:extLst>
              </p:cNvPr>
              <p:cNvSpPr>
                <a:spLocks noGrp="1"/>
              </p:cNvSpPr>
              <p:nvPr>
                <p:ph idx="1"/>
              </p:nvPr>
            </p:nvSpPr>
            <p:spPr>
              <a:xfrm>
                <a:off x="1076326" y="1333981"/>
                <a:ext cx="3680637" cy="471338"/>
              </a:xfrm>
            </p:spPr>
            <p:txBody>
              <a:bodyPr>
                <a:normAutofit fontScale="92500"/>
              </a:bodyPr>
              <a:lstStyle/>
              <a:p>
                <a:pPr marL="0" indent="0">
                  <a:buNone/>
                </a:pPr>
                <a14:m>
                  <m:oMathPara xmlns:m="http://schemas.openxmlformats.org/officeDocument/2006/math">
                    <m:oMathParaPr>
                      <m:jc m:val="center"/>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r>
                        <a:rPr lang="en-GB" b="0" i="1" smtClean="0">
                          <a:latin typeface="Cambria Math" panose="02040503050406030204" pitchFamily="18" charset="0"/>
                        </a:rPr>
                        <m:t>𝑁𝑜𝑟𝑚𝑎𝑙</m:t>
                      </m:r>
                      <m:d>
                        <m:dPr>
                          <m:ctrlPr>
                            <a:rPr lang="en-GB" i="1">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𝜎</m:t>
                              </m:r>
                            </m:e>
                            <m:sub>
                              <m:r>
                                <a:rPr lang="en-GB" b="0" i="1" smtClean="0">
                                  <a:latin typeface="Cambria Math" panose="02040503050406030204" pitchFamily="18" charset="0"/>
                                </a:rPr>
                                <m:t>𝑖</m:t>
                              </m:r>
                            </m:sub>
                          </m:sSub>
                        </m:e>
                      </m:d>
                    </m:oMath>
                  </m:oMathPara>
                </a14:m>
                <a:br>
                  <a:rPr lang="en-GB" i="1" dirty="0">
                    <a:latin typeface="Cambria Math" panose="02040503050406030204" pitchFamily="18" charset="0"/>
                  </a:rPr>
                </a:br>
                <a:endParaRPr lang="en-GB" dirty="0">
                  <a:latin typeface="Bahnschrift Light" panose="020B0502040204020203" pitchFamily="34" charset="0"/>
                </a:endParaRPr>
              </a:p>
            </p:txBody>
          </p:sp>
        </mc:Choice>
        <mc:Fallback xmlns="">
          <p:sp>
            <p:nvSpPr>
              <p:cNvPr id="3" name="Content Placeholder 2">
                <a:extLst>
                  <a:ext uri="{FF2B5EF4-FFF2-40B4-BE49-F238E27FC236}">
                    <a16:creationId xmlns:a16="http://schemas.microsoft.com/office/drawing/2014/main" id="{8DBFB225-C157-471D-970C-0D20B92D1711}"/>
                  </a:ext>
                </a:extLst>
              </p:cNvPr>
              <p:cNvSpPr>
                <a:spLocks noGrp="1" noRot="1" noChangeAspect="1" noMove="1" noResize="1" noEditPoints="1" noAdjustHandles="1" noChangeArrowheads="1" noChangeShapeType="1" noTextEdit="1"/>
              </p:cNvSpPr>
              <p:nvPr>
                <p:ph idx="1"/>
              </p:nvPr>
            </p:nvSpPr>
            <p:spPr>
              <a:xfrm>
                <a:off x="1076326" y="1333981"/>
                <a:ext cx="3680637" cy="471338"/>
              </a:xfrm>
              <a:blipFill>
                <a:blip r:embed="rId2"/>
                <a:stretch>
                  <a:fillRect b="-779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EE43978-7DC5-A458-2898-F89876131E74}"/>
                  </a:ext>
                </a:extLst>
              </p:cNvPr>
              <p:cNvSpPr txBox="1"/>
              <p:nvPr/>
            </p:nvSpPr>
            <p:spPr>
              <a:xfrm>
                <a:off x="6891076" y="1307633"/>
                <a:ext cx="352203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𝜇</m:t>
                          </m:r>
                        </m:e>
                        <m:sub>
                          <m:r>
                            <a:rPr lang="en-GB" sz="2400" b="0" i="1" smtClean="0">
                              <a:latin typeface="Cambria Math" panose="02040503050406030204" pitchFamily="18" charset="0"/>
                            </a:rPr>
                            <m:t>𝑖</m:t>
                          </m:r>
                        </m:sub>
                      </m:sSub>
                      <m:r>
                        <a:rPr lang="en-GB" sz="2400" i="1">
                          <a:latin typeface="Cambria Math" panose="02040503050406030204" pitchFamily="18" charset="0"/>
                        </a:rPr>
                        <m:t>=</m:t>
                      </m:r>
                      <m:r>
                        <a:rPr lang="en-GB" sz="2400" b="0" i="1" smtClean="0">
                          <a:latin typeface="Cambria Math" panose="02040503050406030204" pitchFamily="18" charset="0"/>
                        </a:rPr>
                        <m:t>𝑠𝑡𝑢𝑓</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𝑓</m:t>
                          </m:r>
                        </m:e>
                        <m:sub>
                          <m:r>
                            <a:rPr lang="en-GB" sz="2400" b="0" i="1" smtClean="0">
                              <a:latin typeface="Cambria Math" panose="02040503050406030204" pitchFamily="18" charset="0"/>
                            </a:rPr>
                            <m:t>𝑖</m:t>
                          </m:r>
                        </m:sub>
                      </m:sSub>
                    </m:oMath>
                  </m:oMathPara>
                </a14:m>
                <a:endParaRPr lang="en-GB" sz="2400" dirty="0"/>
              </a:p>
            </p:txBody>
          </p:sp>
        </mc:Choice>
        <mc:Fallback xmlns="">
          <p:sp>
            <p:nvSpPr>
              <p:cNvPr id="5" name="TextBox 4">
                <a:extLst>
                  <a:ext uri="{FF2B5EF4-FFF2-40B4-BE49-F238E27FC236}">
                    <a16:creationId xmlns:a16="http://schemas.microsoft.com/office/drawing/2014/main" id="{EEE43978-7DC5-A458-2898-F89876131E74}"/>
                  </a:ext>
                </a:extLst>
              </p:cNvPr>
              <p:cNvSpPr txBox="1">
                <a:spLocks noRot="1" noChangeAspect="1" noMove="1" noResize="1" noEditPoints="1" noAdjustHandles="1" noChangeArrowheads="1" noChangeShapeType="1" noTextEdit="1"/>
              </p:cNvSpPr>
              <p:nvPr/>
            </p:nvSpPr>
            <p:spPr>
              <a:xfrm>
                <a:off x="6891076" y="1307633"/>
                <a:ext cx="3522035" cy="461665"/>
              </a:xfrm>
              <a:prstGeom prst="rect">
                <a:avLst/>
              </a:prstGeom>
              <a:blipFill>
                <a:blip r:embed="rId3"/>
                <a:stretch>
                  <a:fillRect b="-21333"/>
                </a:stretch>
              </a:blipFill>
            </p:spPr>
            <p:txBody>
              <a:bodyPr/>
              <a:lstStyle/>
              <a:p>
                <a:r>
                  <a:rPr lang="en-GB">
                    <a:noFill/>
                  </a:rPr>
                  <a:t> </a:t>
                </a:r>
              </a:p>
            </p:txBody>
          </p:sp>
        </mc:Fallback>
      </mc:AlternateContent>
      <p:cxnSp>
        <p:nvCxnSpPr>
          <p:cNvPr id="9" name="Straight Connector 8">
            <a:extLst>
              <a:ext uri="{FF2B5EF4-FFF2-40B4-BE49-F238E27FC236}">
                <a16:creationId xmlns:a16="http://schemas.microsoft.com/office/drawing/2014/main" id="{B24AE5D9-FA42-19A1-8188-C7B5019CA43A}"/>
              </a:ext>
            </a:extLst>
          </p:cNvPr>
          <p:cNvCxnSpPr>
            <a:cxnSpLocks/>
          </p:cNvCxnSpPr>
          <p:nvPr/>
        </p:nvCxnSpPr>
        <p:spPr>
          <a:xfrm>
            <a:off x="2112792" y="1769298"/>
            <a:ext cx="2243470"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5716134-71C3-C773-7320-EF40CD39837D}"/>
              </a:ext>
            </a:extLst>
          </p:cNvPr>
          <p:cNvCxnSpPr>
            <a:cxnSpLocks/>
          </p:cNvCxnSpPr>
          <p:nvPr/>
        </p:nvCxnSpPr>
        <p:spPr>
          <a:xfrm>
            <a:off x="8532581" y="1768500"/>
            <a:ext cx="762339" cy="798"/>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65BC242A-5495-E14B-DE40-02C6078BD7CB}"/>
                  </a:ext>
                </a:extLst>
              </p:cNvPr>
              <p:cNvSpPr txBox="1">
                <a:spLocks/>
              </p:cNvSpPr>
              <p:nvPr/>
            </p:nvSpPr>
            <p:spPr>
              <a:xfrm>
                <a:off x="959368" y="2051530"/>
                <a:ext cx="4318591"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Bahnschrift Light" panose="020B0502040204020203" pitchFamily="34" charset="0"/>
                  </a:rPr>
                  <a:t>This is the </a:t>
                </a:r>
                <a:r>
                  <a:rPr lang="en-GB" dirty="0">
                    <a:solidFill>
                      <a:srgbClr val="FFFF00"/>
                    </a:solidFill>
                    <a:latin typeface="Bahnschrift Light" panose="020B0502040204020203" pitchFamily="34" charset="0"/>
                  </a:rPr>
                  <a:t>stochastic</a:t>
                </a:r>
                <a:r>
                  <a:rPr lang="en-GB" dirty="0">
                    <a:latin typeface="Bahnschrift Light" panose="020B0502040204020203" pitchFamily="34" charset="0"/>
                  </a:rPr>
                  <a:t> (i.e. “randomness”) element of the model</a:t>
                </a:r>
              </a:p>
              <a:p>
                <a:r>
                  <a:rPr lang="en-GB" dirty="0">
                    <a:latin typeface="Bahnschrift Light" panose="020B0502040204020203" pitchFamily="34" charset="0"/>
                  </a:rPr>
                  <a:t>By using the </a:t>
                </a:r>
                <a14:m>
                  <m:oMath xmlns:m="http://schemas.openxmlformats.org/officeDocument/2006/math">
                    <m:r>
                      <a:rPr lang="en-GB" b="0" i="1" smtClean="0">
                        <a:latin typeface="Cambria Math" panose="02040503050406030204" pitchFamily="18" charset="0"/>
                      </a:rPr>
                      <m:t>𝑁𝑜𝑟𝑚𝑎𝑙</m:t>
                    </m:r>
                  </m:oMath>
                </a14:m>
                <a:r>
                  <a:rPr lang="en-GB" dirty="0">
                    <a:latin typeface="Bahnschrift Light" panose="020B0502040204020203" pitchFamily="34" charset="0"/>
                  </a:rPr>
                  <a:t> distribution, we tell the model what type of response values are sensible, given we don’t expect perfect fit</a:t>
                </a:r>
              </a:p>
              <a:p>
                <a:r>
                  <a:rPr lang="en-GB" dirty="0">
                    <a:latin typeface="Bahnschrift Light" panose="020B0502040204020203" pitchFamily="34" charset="0"/>
                  </a:rPr>
                  <a:t>E.g. the linear predictor (</a:t>
                </a:r>
                <a14:m>
                  <m:oMath xmlns:m="http://schemas.openxmlformats.org/officeDocument/2006/math">
                    <m:r>
                      <a:rPr lang="en-GB" b="0" i="1" smtClean="0">
                        <a:latin typeface="Cambria Math" panose="02040503050406030204" pitchFamily="18" charset="0"/>
                      </a:rPr>
                      <m:t>𝜇</m:t>
                    </m:r>
                  </m:oMath>
                </a14:m>
                <a:r>
                  <a:rPr lang="en-GB" dirty="0">
                    <a:latin typeface="Bahnschrift Light" panose="020B0502040204020203" pitchFamily="34" charset="0"/>
                  </a:rPr>
                  <a:t>) might suggest you drink 528.6 coffees in a year</a:t>
                </a:r>
              </a:p>
              <a:p>
                <a:pPr lvl="1"/>
                <a:r>
                  <a:rPr lang="en-GB" dirty="0">
                    <a:latin typeface="Bahnschrift Light" panose="020B0502040204020203" pitchFamily="34" charset="0"/>
                  </a:rPr>
                  <a:t>But not all people will drink exactly 528.6 coffees</a:t>
                </a:r>
              </a:p>
              <a:p>
                <a:endParaRPr lang="en-GB" dirty="0">
                  <a:latin typeface="Bahnschrift Light" panose="020B0502040204020203" pitchFamily="34" charset="0"/>
                </a:endParaRPr>
              </a:p>
            </p:txBody>
          </p:sp>
        </mc:Choice>
        <mc:Fallback xmlns="">
          <p:sp>
            <p:nvSpPr>
              <p:cNvPr id="14" name="Content Placeholder 2">
                <a:extLst>
                  <a:ext uri="{FF2B5EF4-FFF2-40B4-BE49-F238E27FC236}">
                    <a16:creationId xmlns:a16="http://schemas.microsoft.com/office/drawing/2014/main" id="{65BC242A-5495-E14B-DE40-02C6078BD7CB}"/>
                  </a:ext>
                </a:extLst>
              </p:cNvPr>
              <p:cNvSpPr txBox="1">
                <a:spLocks noRot="1" noChangeAspect="1" noMove="1" noResize="1" noEditPoints="1" noAdjustHandles="1" noChangeArrowheads="1" noChangeShapeType="1" noTextEdit="1"/>
              </p:cNvSpPr>
              <p:nvPr/>
            </p:nvSpPr>
            <p:spPr>
              <a:xfrm>
                <a:off x="959368" y="2051530"/>
                <a:ext cx="4318591" cy="4351338"/>
              </a:xfrm>
              <a:prstGeom prst="rect">
                <a:avLst/>
              </a:prstGeom>
              <a:blipFill>
                <a:blip r:embed="rId4"/>
                <a:stretch>
                  <a:fillRect l="-1834" t="-364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27314759-7983-3736-5C65-3731BF988E15}"/>
                  </a:ext>
                </a:extLst>
              </p:cNvPr>
              <p:cNvSpPr txBox="1">
                <a:spLocks/>
              </p:cNvSpPr>
              <p:nvPr/>
            </p:nvSpPr>
            <p:spPr>
              <a:xfrm>
                <a:off x="6745693" y="2038276"/>
                <a:ext cx="4486939"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Bahnschrift Light" panose="020B0502040204020203" pitchFamily="34" charset="0"/>
                  </a:rPr>
                  <a:t>This is the </a:t>
                </a:r>
                <a:r>
                  <a:rPr lang="en-GB" dirty="0">
                    <a:solidFill>
                      <a:srgbClr val="FFFF00"/>
                    </a:solidFill>
                    <a:latin typeface="Bahnschrift Light" panose="020B0502040204020203" pitchFamily="34" charset="0"/>
                  </a:rPr>
                  <a:t>deterministic</a:t>
                </a:r>
                <a:r>
                  <a:rPr lang="en-GB" dirty="0">
                    <a:latin typeface="Bahnschrift Light" panose="020B0502040204020203" pitchFamily="34" charset="0"/>
                  </a:rPr>
                  <a:t> element of the model</a:t>
                </a:r>
              </a:p>
              <a:p>
                <a:r>
                  <a:rPr lang="en-GB" dirty="0">
                    <a:latin typeface="Bahnschrift Light" panose="020B0502040204020203" pitchFamily="34" charset="0"/>
                  </a:rPr>
                  <a:t>We decide what goes into the deterministic element</a:t>
                </a:r>
              </a:p>
              <a:p>
                <a:pPr lvl="1"/>
                <a:r>
                  <a:rPr lang="en-GB" dirty="0">
                    <a:latin typeface="Bahnschrift Light" panose="020B0502040204020203" pitchFamily="34" charset="0"/>
                  </a:rPr>
                  <a:t>E.g. I think </a:t>
                </a:r>
                <a14:m>
                  <m:oMath xmlns:m="http://schemas.openxmlformats.org/officeDocument/2006/math">
                    <m:r>
                      <m:rPr>
                        <m:sty m:val="p"/>
                      </m:rPr>
                      <a:rPr lang="en-GB" b="0" i="0" dirty="0" smtClean="0">
                        <a:latin typeface="Cambria Math" panose="02040503050406030204" pitchFamily="18" charset="0"/>
                      </a:rPr>
                      <m:t>y</m:t>
                    </m:r>
                  </m:oMath>
                </a14:m>
                <a:r>
                  <a:rPr lang="en-GB" dirty="0">
                    <a:latin typeface="Bahnschrift Light" panose="020B0502040204020203" pitchFamily="34" charset="0"/>
                  </a:rPr>
                  <a:t> happens because of </a:t>
                </a:r>
                <a14:m>
                  <m:oMath xmlns:m="http://schemas.openxmlformats.org/officeDocument/2006/math">
                    <m:r>
                      <a:rPr lang="en-GB" b="0" i="1" smtClean="0">
                        <a:latin typeface="Cambria Math" panose="02040503050406030204" pitchFamily="18" charset="0"/>
                      </a:rPr>
                      <m:t>𝑋</m:t>
                    </m:r>
                  </m:oMath>
                </a14:m>
                <a:endParaRPr lang="en-GB" dirty="0">
                  <a:latin typeface="Bahnschrift Light" panose="020B0502040204020203" pitchFamily="34" charset="0"/>
                </a:endParaRPr>
              </a:p>
              <a:p>
                <a:r>
                  <a:rPr lang="en-GB" dirty="0">
                    <a:latin typeface="Bahnschrift Light" panose="020B0502040204020203" pitchFamily="34" charset="0"/>
                  </a:rPr>
                  <a:t>E.g. I drink an average of 781.3 coffees a year because I was heavily influenced by media growing up</a:t>
                </a:r>
              </a:p>
              <a:p>
                <a:pPr lvl="1"/>
                <a:r>
                  <a:rPr lang="en-GB" dirty="0">
                    <a:latin typeface="Bahnschrift Light" panose="020B0502040204020203" pitchFamily="34" charset="0"/>
                  </a:rPr>
                  <a:t>But someone who didn’t consume the same media as me will probably drink less</a:t>
                </a:r>
              </a:p>
              <a:p>
                <a:endParaRPr lang="en-GB" dirty="0">
                  <a:latin typeface="Bahnschrift Light" panose="020B0502040204020203" pitchFamily="34" charset="0"/>
                </a:endParaRPr>
              </a:p>
            </p:txBody>
          </p:sp>
        </mc:Choice>
        <mc:Fallback xmlns="">
          <p:sp>
            <p:nvSpPr>
              <p:cNvPr id="17" name="Content Placeholder 2">
                <a:extLst>
                  <a:ext uri="{FF2B5EF4-FFF2-40B4-BE49-F238E27FC236}">
                    <a16:creationId xmlns:a16="http://schemas.microsoft.com/office/drawing/2014/main" id="{27314759-7983-3736-5C65-3731BF988E15}"/>
                  </a:ext>
                </a:extLst>
              </p:cNvPr>
              <p:cNvSpPr txBox="1">
                <a:spLocks noRot="1" noChangeAspect="1" noMove="1" noResize="1" noEditPoints="1" noAdjustHandles="1" noChangeArrowheads="1" noChangeShapeType="1" noTextEdit="1"/>
              </p:cNvSpPr>
              <p:nvPr/>
            </p:nvSpPr>
            <p:spPr>
              <a:xfrm>
                <a:off x="6745693" y="2038276"/>
                <a:ext cx="4486939" cy="4351338"/>
              </a:xfrm>
              <a:prstGeom prst="rect">
                <a:avLst/>
              </a:prstGeom>
              <a:blipFill>
                <a:blip r:embed="rId5"/>
                <a:stretch>
                  <a:fillRect l="-2174" t="-4062" r="-2310"/>
                </a:stretch>
              </a:blipFill>
            </p:spPr>
            <p:txBody>
              <a:bodyPr/>
              <a:lstStyle/>
              <a:p>
                <a:r>
                  <a:rPr lang="en-GB">
                    <a:noFill/>
                  </a:rPr>
                  <a:t> </a:t>
                </a:r>
              </a:p>
            </p:txBody>
          </p:sp>
        </mc:Fallback>
      </mc:AlternateContent>
    </p:spTree>
    <p:extLst>
      <p:ext uri="{BB962C8B-B14F-4D97-AF65-F5344CB8AC3E}">
        <p14:creationId xmlns:p14="http://schemas.microsoft.com/office/powerpoint/2010/main" val="4147180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fade">
                                      <p:cBhvr>
                                        <p:cTn id="22" dur="500"/>
                                        <p:tgtEl>
                                          <p:spTgt spid="14">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animEffect transition="in" filter="fade">
                                      <p:cBhvr>
                                        <p:cTn id="33" dur="500"/>
                                        <p:tgtEl>
                                          <p:spTgt spid="17">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xEl>
                                              <p:pRg st="1" end="1"/>
                                            </p:txEl>
                                          </p:spTgt>
                                        </p:tgtEl>
                                        <p:attrNameLst>
                                          <p:attrName>style.visibility</p:attrName>
                                        </p:attrNameLst>
                                      </p:cBhvr>
                                      <p:to>
                                        <p:strVal val="visible"/>
                                      </p:to>
                                    </p:set>
                                    <p:animEffect transition="in" filter="fade">
                                      <p:cBhvr>
                                        <p:cTn id="38" dur="500"/>
                                        <p:tgtEl>
                                          <p:spTgt spid="17">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7">
                                            <p:txEl>
                                              <p:pRg st="2" end="2"/>
                                            </p:txEl>
                                          </p:spTgt>
                                        </p:tgtEl>
                                        <p:attrNameLst>
                                          <p:attrName>style.visibility</p:attrName>
                                        </p:attrNameLst>
                                      </p:cBhvr>
                                      <p:to>
                                        <p:strVal val="visible"/>
                                      </p:to>
                                    </p:set>
                                    <p:animEffect transition="in" filter="fade">
                                      <p:cBhvr>
                                        <p:cTn id="43" dur="500"/>
                                        <p:tgtEl>
                                          <p:spTgt spid="17">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7">
                                            <p:txEl>
                                              <p:pRg st="3" end="3"/>
                                            </p:txEl>
                                          </p:spTgt>
                                        </p:tgtEl>
                                        <p:attrNameLst>
                                          <p:attrName>style.visibility</p:attrName>
                                        </p:attrNameLst>
                                      </p:cBhvr>
                                      <p:to>
                                        <p:strVal val="visible"/>
                                      </p:to>
                                    </p:set>
                                    <p:animEffect transition="in" filter="fade">
                                      <p:cBhvr>
                                        <p:cTn id="48" dur="500"/>
                                        <p:tgtEl>
                                          <p:spTgt spid="17">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7">
                                            <p:txEl>
                                              <p:pRg st="4" end="4"/>
                                            </p:txEl>
                                          </p:spTgt>
                                        </p:tgtEl>
                                        <p:attrNameLst>
                                          <p:attrName>style.visibility</p:attrName>
                                        </p:attrNameLst>
                                      </p:cBhvr>
                                      <p:to>
                                        <p:strVal val="visible"/>
                                      </p:to>
                                    </p:set>
                                    <p:animEffect transition="in" filter="fade">
                                      <p:cBhvr>
                                        <p:cTn id="53" dur="500"/>
                                        <p:tgtEl>
                                          <p:spTgt spid="1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CF1A-CA05-DF03-8262-75EE03794228}"/>
              </a:ext>
            </a:extLst>
          </p:cNvPr>
          <p:cNvSpPr>
            <a:spLocks noGrp="1"/>
          </p:cNvSpPr>
          <p:nvPr>
            <p:ph type="title"/>
          </p:nvPr>
        </p:nvSpPr>
        <p:spPr/>
        <p:txBody>
          <a:bodyPr/>
          <a:lstStyle/>
          <a:p>
            <a:r>
              <a:rPr lang="en-GB" dirty="0"/>
              <a:t>Uses and risks of modelling</a:t>
            </a:r>
          </a:p>
        </p:txBody>
      </p:sp>
    </p:spTree>
    <p:extLst>
      <p:ext uri="{BB962C8B-B14F-4D97-AF65-F5344CB8AC3E}">
        <p14:creationId xmlns:p14="http://schemas.microsoft.com/office/powerpoint/2010/main" val="630894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 name="Title 1">
            <a:extLst>
              <a:ext uri="{FF2B5EF4-FFF2-40B4-BE49-F238E27FC236}">
                <a16:creationId xmlns:a16="http://schemas.microsoft.com/office/drawing/2014/main" id="{96312335-CA1A-76C0-D2D3-BF1F58A8E45D}"/>
              </a:ext>
            </a:extLst>
          </p:cNvPr>
          <p:cNvSpPr>
            <a:spLocks noGrp="1"/>
          </p:cNvSpPr>
          <p:nvPr>
            <p:ph type="title"/>
          </p:nvPr>
        </p:nvSpPr>
        <p:spPr>
          <a:xfrm>
            <a:off x="0" y="0"/>
            <a:ext cx="12192000" cy="1325563"/>
          </a:xfrm>
        </p:spPr>
        <p:txBody>
          <a:bodyPr anchor="ctr">
            <a:normAutofit/>
          </a:bodyPr>
          <a:lstStyle/>
          <a:p>
            <a:pPr algn="ctr"/>
            <a:r>
              <a:rPr lang="en-GB" sz="5400" dirty="0">
                <a:latin typeface="Bahnschrift Light" panose="020B0502040204020203" pitchFamily="34" charset="0"/>
              </a:rPr>
              <a:t>First amongst equals</a:t>
            </a:r>
          </a:p>
        </p:txBody>
      </p:sp>
      <mc:AlternateContent xmlns:mc="http://schemas.openxmlformats.org/markup-compatibility/2006" xmlns:a14="http://schemas.microsoft.com/office/drawing/2010/main">
        <mc:Choice Requires="a14">
          <p:sp>
            <p:nvSpPr>
              <p:cNvPr id="32" name="Google Shape;371;p39">
                <a:extLst>
                  <a:ext uri="{FF2B5EF4-FFF2-40B4-BE49-F238E27FC236}">
                    <a16:creationId xmlns:a16="http://schemas.microsoft.com/office/drawing/2014/main" id="{5394189B-7847-4829-B059-EDBDC6134D1F}"/>
                  </a:ext>
                </a:extLst>
              </p:cNvPr>
              <p:cNvSpPr txBox="1">
                <a:spLocks noGrp="1"/>
              </p:cNvSpPr>
              <p:nvPr>
                <p:ph type="body" idx="1"/>
              </p:nvPr>
            </p:nvSpPr>
            <p:spPr>
              <a:xfrm>
                <a:off x="415598" y="1484183"/>
                <a:ext cx="10333083" cy="5170385"/>
              </a:xfrm>
              <a:prstGeom prst="rect">
                <a:avLst/>
              </a:prstGeom>
            </p:spPr>
            <p:txBody>
              <a:bodyPr spcFirstLastPara="1" vert="horz" wrap="square" lIns="121900" tIns="121900" rIns="121900" bIns="121900" rtlCol="0" anchor="t" anchorCtr="0">
                <a:noAutofit/>
              </a:bodyPr>
              <a:lstStyle/>
              <a:p>
                <a:pPr marL="0" indent="0">
                  <a:buNone/>
                </a:pPr>
                <a:r>
                  <a:rPr lang="en-US" dirty="0">
                    <a:latin typeface="Bahnschrift Light" panose="020B0502040204020203" pitchFamily="34" charset="0"/>
                  </a:rPr>
                  <a:t>Three broad purposes of statistics:</a:t>
                </a:r>
              </a:p>
              <a:p>
                <a:pPr marL="457200" indent="-457200"/>
                <a:r>
                  <a:rPr lang="en-US" dirty="0">
                    <a:latin typeface="Bahnschrift Light" panose="020B0502040204020203" pitchFamily="34" charset="0"/>
                  </a:rPr>
                  <a:t>Causal inference</a:t>
                </a:r>
              </a:p>
              <a:p>
                <a:pPr marL="457200" indent="-457200"/>
                <a:r>
                  <a:rPr lang="en-US" dirty="0">
                    <a:latin typeface="Bahnschrift Light" panose="020B0502040204020203" pitchFamily="34" charset="0"/>
                  </a:rPr>
                  <a:t>Prediction</a:t>
                </a:r>
              </a:p>
              <a:p>
                <a:pPr marL="457200" indent="-457200"/>
                <a:r>
                  <a:rPr lang="en-US" dirty="0">
                    <a:latin typeface="Bahnschrift Light" panose="020B0502040204020203" pitchFamily="34" charset="0"/>
                  </a:rPr>
                  <a:t>Descriptive</a:t>
                </a:r>
              </a:p>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Who do you think won the 2021 Japanese election?</a:t>
                </a:r>
              </a:p>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LDM have won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2</m:t>
                        </m:r>
                        <m:r>
                          <a:rPr lang="en-GB" b="0" i="1" smtClean="0">
                            <a:latin typeface="Cambria Math" panose="02040503050406030204" pitchFamily="18" charset="0"/>
                          </a:rPr>
                          <m:t>0</m:t>
                        </m:r>
                      </m:num>
                      <m:den>
                        <m:r>
                          <a:rPr lang="en-US" b="0" i="1" smtClean="0">
                            <a:latin typeface="Cambria Math" panose="02040503050406030204" pitchFamily="18" charset="0"/>
                          </a:rPr>
                          <m:t>2</m:t>
                        </m:r>
                        <m:r>
                          <a:rPr lang="en-GB" b="0" i="1" smtClean="0">
                            <a:latin typeface="Cambria Math" panose="02040503050406030204" pitchFamily="18" charset="0"/>
                          </a:rPr>
                          <m:t>1</m:t>
                        </m:r>
                      </m:den>
                    </m:f>
                    <m:r>
                      <a:rPr lang="en-US" b="0" i="1" smtClean="0">
                        <a:latin typeface="Cambria Math" panose="02040503050406030204" pitchFamily="18" charset="0"/>
                      </a:rPr>
                      <m:t>=95%</m:t>
                    </m:r>
                  </m:oMath>
                </a14:m>
                <a:r>
                  <a:rPr lang="en-US" dirty="0">
                    <a:latin typeface="Bahnschrift Light" panose="020B0502040204020203" pitchFamily="34" charset="0"/>
                  </a:rPr>
                  <a:t> (95% chance to win 2021).</a:t>
                </a:r>
              </a:p>
              <a:p>
                <a:pPr marL="0" indent="0">
                  <a:buNone/>
                </a:pP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𝑅𝑒𝑠𝑢𝑙</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𝑡</m:t>
                          </m:r>
                        </m:e>
                        <m:sub>
                          <m:r>
                            <a:rPr lang="en-GB" b="0" i="1" dirty="0" smtClean="0">
                              <a:latin typeface="Cambria Math" panose="02040503050406030204" pitchFamily="18" charset="0"/>
                            </a:rPr>
                            <m:t>𝑖</m:t>
                          </m:r>
                        </m:sub>
                      </m:sSub>
                      <m:r>
                        <a:rPr lang="en-GB" b="0" i="1" dirty="0" smtClean="0">
                          <a:latin typeface="Cambria Math" panose="02040503050406030204" pitchFamily="18" charset="0"/>
                        </a:rPr>
                        <m:t>∼</m:t>
                      </m:r>
                      <m:r>
                        <a:rPr lang="en-GB" b="0" i="1" dirty="0" smtClean="0">
                          <a:latin typeface="Cambria Math" panose="02040503050406030204" pitchFamily="18" charset="0"/>
                        </a:rPr>
                        <m:t>𝐷𝑖𝑠𝑡𝑟𝑖𝑏𝑢𝑡𝑖𝑜𝑛</m:t>
                      </m:r>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𝜃</m:t>
                              </m:r>
                            </m:e>
                            <m:sub>
                              <m:r>
                                <a:rPr lang="en-GB" b="0" i="1" dirty="0" smtClean="0">
                                  <a:latin typeface="Cambria Math" panose="02040503050406030204" pitchFamily="18" charset="0"/>
                                </a:rPr>
                                <m:t>𝑖</m:t>
                              </m:r>
                            </m:sub>
                          </m:sSub>
                        </m:e>
                      </m:d>
                    </m:oMath>
                    <m:oMath xmlns:m="http://schemas.openxmlformats.org/officeDocument/2006/math">
                      <m:r>
                        <a:rPr lang="en-GB" b="0" i="1" dirty="0" smtClean="0">
                          <a:latin typeface="Cambria Math" panose="02040503050406030204" pitchFamily="18" charset="0"/>
                        </a:rPr>
                        <m:t> </m:t>
                      </m:r>
                      <m:r>
                        <a:rPr lang="en-GB" b="0" i="1" dirty="0" smtClean="0">
                          <a:latin typeface="Cambria Math" panose="02040503050406030204" pitchFamily="18" charset="0"/>
                        </a:rPr>
                        <m:t>𝑔</m:t>
                      </m:r>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𝜃</m:t>
                          </m:r>
                        </m:e>
                        <m:sub>
                          <m:r>
                            <a:rPr lang="en-GB" b="0" i="1" dirty="0" smtClean="0">
                              <a:latin typeface="Cambria Math" panose="02040503050406030204" pitchFamily="18" charset="0"/>
                            </a:rPr>
                            <m:t>𝑖</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𝛽</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𝛽</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𝑅𝑒𝑑</m:t>
                          </m:r>
                        </m:e>
                        <m:sub>
                          <m:r>
                            <a:rPr lang="en-GB" b="0" i="1" dirty="0" smtClean="0">
                              <a:latin typeface="Cambria Math" panose="02040503050406030204" pitchFamily="18" charset="0"/>
                            </a:rPr>
                            <m:t>𝑖</m:t>
                          </m:r>
                        </m:sub>
                      </m:sSub>
                    </m:oMath>
                  </m:oMathPara>
                </a14:m>
                <a:endParaRPr lang="en-US" dirty="0">
                  <a:latin typeface="Bahnschrift Light" panose="020B0502040204020203" pitchFamily="34" charset="0"/>
                </a:endParaRPr>
              </a:p>
            </p:txBody>
          </p:sp>
        </mc:Choice>
        <mc:Fallback xmlns="">
          <p:sp>
            <p:nvSpPr>
              <p:cNvPr id="32" name="Google Shape;371;p39">
                <a:extLst>
                  <a:ext uri="{FF2B5EF4-FFF2-40B4-BE49-F238E27FC236}">
                    <a16:creationId xmlns:a16="http://schemas.microsoft.com/office/drawing/2014/main" id="{5394189B-7847-4829-B059-EDBDC6134D1F}"/>
                  </a:ext>
                </a:extLst>
              </p:cNvPr>
              <p:cNvSpPr txBox="1">
                <a:spLocks noGrp="1" noRot="1" noChangeAspect="1" noMove="1" noResize="1" noEditPoints="1" noAdjustHandles="1" noChangeArrowheads="1" noChangeShapeType="1" noTextEdit="1"/>
              </p:cNvSpPr>
              <p:nvPr>
                <p:ph type="body" idx="1"/>
              </p:nvPr>
            </p:nvSpPr>
            <p:spPr>
              <a:xfrm>
                <a:off x="415598" y="1484183"/>
                <a:ext cx="10333083" cy="5170385"/>
              </a:xfrm>
              <a:prstGeom prst="rect">
                <a:avLst/>
              </a:prstGeom>
              <a:blipFill>
                <a:blip r:embed="rId3"/>
                <a:stretch>
                  <a:fillRect l="-885" t="-589"/>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F5983E3B-9ABE-4ABE-9135-B7859F6FB01C}"/>
              </a:ext>
            </a:extLst>
          </p:cNvPr>
          <p:cNvPicPr>
            <a:picLocks noChangeAspect="1"/>
          </p:cNvPicPr>
          <p:nvPr/>
        </p:nvPicPr>
        <p:blipFill rotWithShape="1">
          <a:blip r:embed="rId4"/>
          <a:srcRect l="61761" t="2313" r="26607"/>
          <a:stretch/>
        </p:blipFill>
        <p:spPr>
          <a:xfrm>
            <a:off x="10652129" y="158620"/>
            <a:ext cx="1418253" cy="6699380"/>
          </a:xfrm>
          <a:prstGeom prst="rect">
            <a:avLst/>
          </a:prstGeom>
        </p:spPr>
      </p:pic>
      <p:grpSp>
        <p:nvGrpSpPr>
          <p:cNvPr id="9" name="Group 8">
            <a:extLst>
              <a:ext uri="{FF2B5EF4-FFF2-40B4-BE49-F238E27FC236}">
                <a16:creationId xmlns:a16="http://schemas.microsoft.com/office/drawing/2014/main" id="{DB4F1A5C-4319-88DF-75BF-2E9B01EDA594}"/>
              </a:ext>
            </a:extLst>
          </p:cNvPr>
          <p:cNvGrpSpPr/>
          <p:nvPr/>
        </p:nvGrpSpPr>
        <p:grpSpPr>
          <a:xfrm>
            <a:off x="3768914" y="1971948"/>
            <a:ext cx="3114301" cy="1200329"/>
            <a:chOff x="3801795" y="3854877"/>
            <a:chExt cx="3114301" cy="1200329"/>
          </a:xfrm>
        </p:grpSpPr>
        <p:sp>
          <p:nvSpPr>
            <p:cNvPr id="6" name="Right Brace 5">
              <a:extLst>
                <a:ext uri="{FF2B5EF4-FFF2-40B4-BE49-F238E27FC236}">
                  <a16:creationId xmlns:a16="http://schemas.microsoft.com/office/drawing/2014/main" id="{D93CE428-D551-3EAF-F325-FF1EEFB4E06E}"/>
                </a:ext>
              </a:extLst>
            </p:cNvPr>
            <p:cNvSpPr/>
            <p:nvPr/>
          </p:nvSpPr>
          <p:spPr>
            <a:xfrm>
              <a:off x="3801795" y="3923414"/>
              <a:ext cx="180754" cy="106325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TextBox 7">
              <a:extLst>
                <a:ext uri="{FF2B5EF4-FFF2-40B4-BE49-F238E27FC236}">
                  <a16:creationId xmlns:a16="http://schemas.microsoft.com/office/drawing/2014/main" id="{A92797B1-A8CA-202E-52FE-2A53A02756C7}"/>
                </a:ext>
              </a:extLst>
            </p:cNvPr>
            <p:cNvSpPr txBox="1"/>
            <p:nvPr/>
          </p:nvSpPr>
          <p:spPr>
            <a:xfrm>
              <a:off x="4151631" y="3854877"/>
              <a:ext cx="2764465" cy="1200329"/>
            </a:xfrm>
            <a:prstGeom prst="rect">
              <a:avLst/>
            </a:prstGeom>
            <a:noFill/>
          </p:spPr>
          <p:txBody>
            <a:bodyPr wrap="square" rtlCol="0">
              <a:spAutoFit/>
            </a:bodyPr>
            <a:lstStyle/>
            <a:p>
              <a:r>
                <a:rPr lang="en-GB" sz="2400" dirty="0">
                  <a:latin typeface="Bahnschrift Light" panose="020B0502040204020203" pitchFamily="34" charset="0"/>
                </a:rPr>
                <a:t>Linear models and GLMs can do all three</a:t>
              </a:r>
            </a:p>
          </p:txBody>
        </p:sp>
      </p:grpSp>
      <p:sp>
        <p:nvSpPr>
          <p:cNvPr id="10" name="TextBox 9">
            <a:extLst>
              <a:ext uri="{FF2B5EF4-FFF2-40B4-BE49-F238E27FC236}">
                <a16:creationId xmlns:a16="http://schemas.microsoft.com/office/drawing/2014/main" id="{594BC44A-5C24-99DA-9764-5595AED1BE61}"/>
              </a:ext>
            </a:extLst>
          </p:cNvPr>
          <p:cNvSpPr txBox="1"/>
          <p:nvPr/>
        </p:nvSpPr>
        <p:spPr>
          <a:xfrm>
            <a:off x="2170324" y="6192903"/>
            <a:ext cx="7442916" cy="461665"/>
          </a:xfrm>
          <a:prstGeom prst="rect">
            <a:avLst/>
          </a:prstGeom>
          <a:noFill/>
        </p:spPr>
        <p:txBody>
          <a:bodyPr wrap="square" rtlCol="0">
            <a:spAutoFit/>
          </a:bodyPr>
          <a:lstStyle/>
          <a:p>
            <a:r>
              <a:rPr lang="en-GB" sz="2400" dirty="0">
                <a:latin typeface="Bahnschrift Light" panose="020B0502040204020203" pitchFamily="34" charset="0"/>
              </a:rPr>
              <a:t>The model does not know it’s purpose, only you do.</a:t>
            </a:r>
          </a:p>
        </p:txBody>
      </p:sp>
      <p:sp>
        <p:nvSpPr>
          <p:cNvPr id="2" name="Rectangle 1">
            <a:extLst>
              <a:ext uri="{FF2B5EF4-FFF2-40B4-BE49-F238E27FC236}">
                <a16:creationId xmlns:a16="http://schemas.microsoft.com/office/drawing/2014/main" id="{E06228FA-2B1D-90D3-2D5C-BC63E0BFCC28}"/>
              </a:ext>
            </a:extLst>
          </p:cNvPr>
          <p:cNvSpPr/>
          <p:nvPr/>
        </p:nvSpPr>
        <p:spPr>
          <a:xfrm>
            <a:off x="10582275" y="158620"/>
            <a:ext cx="1488107" cy="4033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49325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fade">
                                      <p:cBhvr>
                                        <p:cTn id="12" dur="500"/>
                                        <p:tgtEl>
                                          <p:spTgt spid="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
                                            <p:txEl>
                                              <p:pRg st="2" end="2"/>
                                            </p:txEl>
                                          </p:spTgt>
                                        </p:tgtEl>
                                        <p:attrNameLst>
                                          <p:attrName>style.visibility</p:attrName>
                                        </p:attrNameLst>
                                      </p:cBhvr>
                                      <p:to>
                                        <p:strVal val="visible"/>
                                      </p:to>
                                    </p:set>
                                    <p:animEffect transition="in" filter="fade">
                                      <p:cBhvr>
                                        <p:cTn id="17" dur="500"/>
                                        <p:tgtEl>
                                          <p:spTgt spid="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
                                            <p:txEl>
                                              <p:pRg st="3" end="3"/>
                                            </p:txEl>
                                          </p:spTgt>
                                        </p:tgtEl>
                                        <p:attrNameLst>
                                          <p:attrName>style.visibility</p:attrName>
                                        </p:attrNameLst>
                                      </p:cBhvr>
                                      <p:to>
                                        <p:strVal val="visible"/>
                                      </p:to>
                                    </p:set>
                                    <p:animEffect transition="in" filter="fade">
                                      <p:cBhvr>
                                        <p:cTn id="22" dur="500"/>
                                        <p:tgtEl>
                                          <p:spTgt spid="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
                                            <p:txEl>
                                              <p:pRg st="5" end="5"/>
                                            </p:txEl>
                                          </p:spTgt>
                                        </p:tgtEl>
                                        <p:attrNameLst>
                                          <p:attrName>style.visibility</p:attrName>
                                        </p:attrNameLst>
                                      </p:cBhvr>
                                      <p:to>
                                        <p:strVal val="visible"/>
                                      </p:to>
                                    </p:set>
                                    <p:animEffect transition="in" filter="fade">
                                      <p:cBhvr>
                                        <p:cTn id="27" dur="500"/>
                                        <p:tgtEl>
                                          <p:spTgt spid="32">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2">
                                            <p:txEl>
                                              <p:pRg st="7" end="7"/>
                                            </p:txEl>
                                          </p:spTgt>
                                        </p:tgtEl>
                                        <p:attrNameLst>
                                          <p:attrName>style.visibility</p:attrName>
                                        </p:attrNameLst>
                                      </p:cBhvr>
                                      <p:to>
                                        <p:strVal val="visible"/>
                                      </p:to>
                                    </p:set>
                                    <p:animEffect transition="in" filter="fade">
                                      <p:cBhvr>
                                        <p:cTn id="35" dur="500"/>
                                        <p:tgtEl>
                                          <p:spTgt spid="32">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2">
                                            <p:txEl>
                                              <p:pRg st="8" end="8"/>
                                            </p:txEl>
                                          </p:spTgt>
                                        </p:tgtEl>
                                        <p:attrNameLst>
                                          <p:attrName>style.visibility</p:attrName>
                                        </p:attrNameLst>
                                      </p:cBhvr>
                                      <p:to>
                                        <p:strVal val="visible"/>
                                      </p:to>
                                    </p:set>
                                    <p:animEffect transition="in" filter="fade">
                                      <p:cBhvr>
                                        <p:cTn id="40" dur="500"/>
                                        <p:tgtEl>
                                          <p:spTgt spid="32">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0" nodeType="clickEffect">
                                  <p:stCondLst>
                                    <p:cond delay="0"/>
                                  </p:stCondLst>
                                  <p:childTnLst>
                                    <p:animEffect transition="out" filter="fade">
                                      <p:cBhvr>
                                        <p:cTn id="44" dur="500"/>
                                        <p:tgtEl>
                                          <p:spTgt spid="2"/>
                                        </p:tgtEl>
                                      </p:cBhvr>
                                    </p:animEffect>
                                    <p:set>
                                      <p:cBhvr>
                                        <p:cTn id="45" dur="1" fill="hold">
                                          <p:stCondLst>
                                            <p:cond delay="499"/>
                                          </p:stCondLst>
                                        </p:cTn>
                                        <p:tgtEl>
                                          <p:spTgt spid="2"/>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p"/>
      <p:bldP spid="10" grpId="0"/>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4" name="Title 1">
            <a:extLst>
              <a:ext uri="{FF2B5EF4-FFF2-40B4-BE49-F238E27FC236}">
                <a16:creationId xmlns:a16="http://schemas.microsoft.com/office/drawing/2014/main" id="{D40FE726-9F70-6FD6-4700-CD4141262CC6}"/>
              </a:ext>
            </a:extLst>
          </p:cNvPr>
          <p:cNvSpPr>
            <a:spLocks noGrp="1"/>
          </p:cNvSpPr>
          <p:nvPr>
            <p:ph type="title"/>
          </p:nvPr>
        </p:nvSpPr>
        <p:spPr>
          <a:xfrm>
            <a:off x="0" y="0"/>
            <a:ext cx="7514067" cy="1325563"/>
          </a:xfrm>
        </p:spPr>
        <p:txBody>
          <a:bodyPr anchor="ctr">
            <a:normAutofit/>
          </a:bodyPr>
          <a:lstStyle/>
          <a:p>
            <a:pPr algn="ctr"/>
            <a:r>
              <a:rPr lang="en-GB" sz="5400" dirty="0">
                <a:latin typeface="Bahnschrift Light" panose="020B0502040204020203" pitchFamily="34" charset="0"/>
              </a:rPr>
              <a:t>Monkey’s paw</a:t>
            </a:r>
          </a:p>
        </p:txBody>
      </p:sp>
      <p:sp>
        <p:nvSpPr>
          <p:cNvPr id="64" name="Google Shape;64;p14"/>
          <p:cNvSpPr txBox="1">
            <a:spLocks noGrp="1"/>
          </p:cNvSpPr>
          <p:nvPr>
            <p:ph type="body" idx="1"/>
          </p:nvPr>
        </p:nvSpPr>
        <p:spPr>
          <a:xfrm>
            <a:off x="0" y="1105786"/>
            <a:ext cx="7160800" cy="5360081"/>
          </a:xfrm>
          <a:prstGeom prst="rect">
            <a:avLst/>
          </a:prstGeom>
        </p:spPr>
        <p:txBody>
          <a:bodyPr spcFirstLastPara="1" vert="horz" wrap="square" lIns="121900" tIns="121900" rIns="121900" bIns="121900" rtlCol="0" anchor="t" anchorCtr="0">
            <a:noAutofit/>
          </a:bodyPr>
          <a:lstStyle/>
          <a:p>
            <a:pPr marL="0" indent="0">
              <a:lnSpc>
                <a:spcPct val="100000"/>
              </a:lnSpc>
              <a:buNone/>
            </a:pPr>
            <a:r>
              <a:rPr lang="en-GB" sz="2400" i="1" dirty="0">
                <a:latin typeface="Bahnschrift Light" panose="020B0502040204020203" pitchFamily="34" charset="0"/>
              </a:rPr>
              <a:t>The Monkey’s Paw</a:t>
            </a:r>
            <a:r>
              <a:rPr lang="en-GB" sz="2400" dirty="0">
                <a:latin typeface="Bahnschrift Light" panose="020B0502040204020203" pitchFamily="34" charset="0"/>
              </a:rPr>
              <a:t> is a short story from 1902 by W. W. Jacobs. </a:t>
            </a:r>
          </a:p>
          <a:p>
            <a:pPr marL="0" indent="0">
              <a:lnSpc>
                <a:spcPct val="100000"/>
              </a:lnSpc>
              <a:buNone/>
            </a:pPr>
            <a:endParaRPr lang="en-GB" sz="2400" dirty="0">
              <a:latin typeface="Bahnschrift Light" panose="020B0502040204020203" pitchFamily="34" charset="0"/>
            </a:endParaRPr>
          </a:p>
          <a:p>
            <a:pPr marL="0" indent="0">
              <a:lnSpc>
                <a:spcPct val="100000"/>
              </a:lnSpc>
              <a:buNone/>
            </a:pPr>
            <a:r>
              <a:rPr lang="en-GB" sz="2400" dirty="0">
                <a:latin typeface="Bahnschrift Light" panose="020B0502040204020203" pitchFamily="34" charset="0"/>
              </a:rPr>
              <a:t>A married couple come into possession of a wish granting monkey’s paw. They wish for money to buy a house. The husband goes to work the next morning but dies on the job. The wife gets his life insurance; enough to buy a house.</a:t>
            </a:r>
            <a:endParaRPr sz="2400" dirty="0">
              <a:latin typeface="Bahnschrift Light" panose="020B0502040204020203" pitchFamily="34" charset="0"/>
            </a:endParaRPr>
          </a:p>
          <a:p>
            <a:pPr marL="0" indent="0">
              <a:lnSpc>
                <a:spcPct val="100000"/>
              </a:lnSpc>
              <a:buNone/>
            </a:pPr>
            <a:endParaRPr sz="2400" dirty="0">
              <a:latin typeface="Bahnschrift Light" panose="020B0502040204020203" pitchFamily="34" charset="0"/>
            </a:endParaRPr>
          </a:p>
          <a:p>
            <a:pPr marL="0" indent="0">
              <a:lnSpc>
                <a:spcPct val="100000"/>
              </a:lnSpc>
              <a:buNone/>
            </a:pPr>
            <a:r>
              <a:rPr lang="en-GB" b="1" dirty="0">
                <a:latin typeface="Bahnschrift Light" panose="020B0502040204020203" pitchFamily="34" charset="0"/>
              </a:rPr>
              <a:t>Relevance to stats:</a:t>
            </a:r>
          </a:p>
          <a:p>
            <a:pPr marL="0" indent="0">
              <a:lnSpc>
                <a:spcPct val="100000"/>
              </a:lnSpc>
              <a:buNone/>
            </a:pPr>
            <a:r>
              <a:rPr lang="en-GB" sz="2400" dirty="0">
                <a:latin typeface="Bahnschrift Light" panose="020B0502040204020203" pitchFamily="34" charset="0"/>
              </a:rPr>
              <a:t>Models will (almost) always answer your question. Just because you get an answer, doesn’t mean it’s the truth. In stats, you will rarely know if you have suffered the Monkey’s Paw.</a:t>
            </a:r>
            <a:endParaRPr sz="2400" dirty="0">
              <a:latin typeface="Bahnschrift Light" panose="020B0502040204020203" pitchFamily="34" charset="0"/>
            </a:endParaRPr>
          </a:p>
        </p:txBody>
      </p:sp>
      <p:pic>
        <p:nvPicPr>
          <p:cNvPr id="65" name="Google Shape;65;p14"/>
          <p:cNvPicPr preferRelativeResize="0"/>
          <p:nvPr/>
        </p:nvPicPr>
        <p:blipFill>
          <a:blip r:embed="rId3">
            <a:alphaModFix/>
          </a:blip>
          <a:stretch>
            <a:fillRect/>
          </a:stretch>
        </p:blipFill>
        <p:spPr>
          <a:xfrm>
            <a:off x="7514067" y="203201"/>
            <a:ext cx="4537752" cy="6451601"/>
          </a:xfrm>
          <a:prstGeom prst="rect">
            <a:avLst/>
          </a:prstGeom>
          <a:noFill/>
          <a:ln>
            <a:noFill/>
          </a:ln>
        </p:spPr>
      </p:pic>
    </p:spTree>
    <p:extLst>
      <p:ext uri="{BB962C8B-B14F-4D97-AF65-F5344CB8AC3E}">
        <p14:creationId xmlns:p14="http://schemas.microsoft.com/office/powerpoint/2010/main" val="2029007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Your key assumptions</a:t>
            </a:r>
          </a:p>
        </p:txBody>
      </p:sp>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257175" y="1651000"/>
            <a:ext cx="5572125" cy="4834860"/>
          </a:xfrm>
        </p:spPr>
        <p:txBody>
          <a:bodyPr>
            <a:normAutofit fontScale="92500" lnSpcReduction="20000"/>
          </a:bodyPr>
          <a:lstStyle/>
          <a:p>
            <a:pPr marL="514350" indent="-514350">
              <a:buFont typeface="+mj-lt"/>
              <a:buAutoNum type="arabicPeriod"/>
            </a:pPr>
            <a:r>
              <a:rPr lang="en-GB" b="1" dirty="0">
                <a:solidFill>
                  <a:srgbClr val="FFFF00"/>
                </a:solidFill>
                <a:latin typeface="Bahnschrift Light" panose="020B0502040204020203" pitchFamily="34" charset="0"/>
              </a:rPr>
              <a:t>Validity </a:t>
            </a:r>
            <a:r>
              <a:rPr lang="en-GB" sz="1200" dirty="0">
                <a:latin typeface="Bahnschrift Light" panose="020B0502040204020203" pitchFamily="34" charset="0"/>
              </a:rPr>
              <a:t>(Gelman &amp; Hill)</a:t>
            </a:r>
            <a:endParaRPr lang="en-GB"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Your data can answer your research question</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You’re not answering the question you think you are</a:t>
            </a:r>
          </a:p>
          <a:p>
            <a:pPr lvl="1"/>
            <a:r>
              <a:rPr lang="en-GB" dirty="0">
                <a:latin typeface="Bahnschrift Light" panose="020B0502040204020203" pitchFamily="34" charset="0"/>
              </a:rPr>
              <a:t>E.g.: Measuring test scores does not measure intelligence</a:t>
            </a:r>
          </a:p>
          <a:p>
            <a:pPr marL="514350" indent="-514350">
              <a:buFont typeface="+mj-lt"/>
              <a:buAutoNum type="arabicPeriod"/>
            </a:pPr>
            <a:r>
              <a:rPr lang="en-GB" b="1" dirty="0">
                <a:solidFill>
                  <a:srgbClr val="FFFF00"/>
                </a:solidFill>
                <a:latin typeface="Bahnschrift Light" panose="020B0502040204020203" pitchFamily="34" charset="0"/>
              </a:rPr>
              <a:t>Linearity </a:t>
            </a:r>
            <a:r>
              <a:rPr lang="en-GB" sz="1100" dirty="0">
                <a:latin typeface="Bahnschrift Light" panose="020B0502040204020203" pitchFamily="34" charset="0"/>
              </a:rPr>
              <a:t>(Gelman &amp; Hill)</a:t>
            </a:r>
            <a:endParaRPr lang="en-GB" sz="1100" b="1"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Deterministic element is a linear function of your explanatory variables</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Answer is too simplistic</a:t>
            </a:r>
          </a:p>
          <a:p>
            <a:pPr lvl="1"/>
            <a:r>
              <a:rPr lang="en-GB" dirty="0">
                <a:latin typeface="Bahnschrift Light" panose="020B0502040204020203" pitchFamily="34" charset="0"/>
              </a:rPr>
              <a:t>E.g.: Height does increase with age linearly</a:t>
            </a:r>
          </a:p>
        </p:txBody>
      </p:sp>
      <p:sp>
        <p:nvSpPr>
          <p:cNvPr id="6" name="Content Placeholder 2">
            <a:extLst>
              <a:ext uri="{FF2B5EF4-FFF2-40B4-BE49-F238E27FC236}">
                <a16:creationId xmlns:a16="http://schemas.microsoft.com/office/drawing/2014/main" id="{5D3BB515-97F5-926B-5170-DBC860FF9AC0}"/>
              </a:ext>
            </a:extLst>
          </p:cNvPr>
          <p:cNvSpPr txBox="1">
            <a:spLocks/>
          </p:cNvSpPr>
          <p:nvPr/>
        </p:nvSpPr>
        <p:spPr>
          <a:xfrm>
            <a:off x="6229261" y="1651000"/>
            <a:ext cx="5572125" cy="483486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3"/>
            </a:pPr>
            <a:r>
              <a:rPr lang="en-GB" b="1" dirty="0">
                <a:solidFill>
                  <a:srgbClr val="FFFF00"/>
                </a:solidFill>
                <a:latin typeface="Bahnschrift Light" panose="020B0502040204020203" pitchFamily="34" charset="0"/>
              </a:rPr>
              <a:t>Independence of errors</a:t>
            </a:r>
          </a:p>
          <a:p>
            <a:pPr lvl="1"/>
            <a:r>
              <a:rPr lang="en-GB" dirty="0">
                <a:latin typeface="Bahnschrift Light" panose="020B0502040204020203" pitchFamily="34" charset="0"/>
              </a:rPr>
              <a:t>Meaning: We have independent observations</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Overly confident in results</a:t>
            </a:r>
          </a:p>
          <a:p>
            <a:pPr lvl="1"/>
            <a:r>
              <a:rPr lang="en-GB" dirty="0">
                <a:latin typeface="Bahnschrift Light" panose="020B0502040204020203" pitchFamily="34" charset="0"/>
              </a:rPr>
              <a:t>E.g.: We measure the height of one family to estimate average human height</a:t>
            </a:r>
          </a:p>
          <a:p>
            <a:pPr marL="514350" indent="-514350">
              <a:buFont typeface="+mj-lt"/>
              <a:buAutoNum type="arabicPeriod" startAt="3"/>
            </a:pPr>
            <a:r>
              <a:rPr lang="en-GB" b="1" dirty="0">
                <a:solidFill>
                  <a:srgbClr val="FFFF00"/>
                </a:solidFill>
                <a:latin typeface="Bahnschrift Light" panose="020B0502040204020203" pitchFamily="34" charset="0"/>
              </a:rPr>
              <a:t>Homogeneity of variance</a:t>
            </a:r>
          </a:p>
          <a:p>
            <a:pPr lvl="1"/>
            <a:r>
              <a:rPr lang="en-GB" dirty="0">
                <a:latin typeface="Bahnschrift Light" panose="020B0502040204020203" pitchFamily="34" charset="0"/>
              </a:rPr>
              <a:t>Meaning: The randomness is handled by the distribution</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Results do not generalise</a:t>
            </a:r>
          </a:p>
          <a:p>
            <a:pPr lvl="1"/>
            <a:r>
              <a:rPr lang="en-GB" dirty="0">
                <a:latin typeface="Bahnschrift Light" panose="020B0502040204020203" pitchFamily="34" charset="0"/>
              </a:rPr>
              <a:t>E.g.: More than just age influences height</a:t>
            </a:r>
          </a:p>
          <a:p>
            <a:pPr marL="514350" indent="-514350">
              <a:buFont typeface="+mj-lt"/>
              <a:buAutoNum type="arabicPeriod" startAt="5"/>
            </a:pPr>
            <a:r>
              <a:rPr lang="en-GB" b="1" dirty="0">
                <a:solidFill>
                  <a:srgbClr val="FFFF00"/>
                </a:solidFill>
                <a:latin typeface="Bahnschrift Light" panose="020B0502040204020203" pitchFamily="34" charset="0"/>
              </a:rPr>
              <a:t>Plus</a:t>
            </a:r>
            <a:r>
              <a:rPr lang="en-GB" dirty="0">
                <a:latin typeface="Bahnschrift Light" panose="020B0502040204020203" pitchFamily="34" charset="0"/>
              </a:rPr>
              <a:t> some assumptions that are specific to certain distributions</a:t>
            </a:r>
          </a:p>
          <a:p>
            <a:endParaRPr lang="en-GB" dirty="0"/>
          </a:p>
        </p:txBody>
      </p:sp>
    </p:spTree>
    <p:extLst>
      <p:ext uri="{BB962C8B-B14F-4D97-AF65-F5344CB8AC3E}">
        <p14:creationId xmlns:p14="http://schemas.microsoft.com/office/powerpoint/2010/main" val="416477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500"/>
                                        <p:tgtEl>
                                          <p:spTgt spid="3">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6">
                                            <p:txEl>
                                              <p:pRg st="0" end="0"/>
                                            </p:txEl>
                                          </p:spTgt>
                                        </p:tgtEl>
                                        <p:attrNameLst>
                                          <p:attrName>style.visibility</p:attrName>
                                        </p:attrNameLst>
                                      </p:cBhvr>
                                      <p:to>
                                        <p:strVal val="visible"/>
                                      </p:to>
                                    </p:set>
                                    <p:animEffect transition="in" filter="fade">
                                      <p:cBhvr>
                                        <p:cTn id="53" dur="500"/>
                                        <p:tgtEl>
                                          <p:spTgt spid="6">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6">
                                            <p:txEl>
                                              <p:pRg st="1" end="1"/>
                                            </p:txEl>
                                          </p:spTgt>
                                        </p:tgtEl>
                                        <p:attrNameLst>
                                          <p:attrName>style.visibility</p:attrName>
                                        </p:attrNameLst>
                                      </p:cBhvr>
                                      <p:to>
                                        <p:strVal val="visible"/>
                                      </p:to>
                                    </p:set>
                                    <p:animEffect transition="in" filter="fade">
                                      <p:cBhvr>
                                        <p:cTn id="58" dur="500"/>
                                        <p:tgtEl>
                                          <p:spTgt spid="6">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6">
                                            <p:txEl>
                                              <p:pRg st="2" end="2"/>
                                            </p:txEl>
                                          </p:spTgt>
                                        </p:tgtEl>
                                        <p:attrNameLst>
                                          <p:attrName>style.visibility</p:attrName>
                                        </p:attrNameLst>
                                      </p:cBhvr>
                                      <p:to>
                                        <p:strVal val="visible"/>
                                      </p:to>
                                    </p:set>
                                    <p:animEffect transition="in" filter="fade">
                                      <p:cBhvr>
                                        <p:cTn id="63" dur="500"/>
                                        <p:tgtEl>
                                          <p:spTgt spid="6">
                                            <p:txEl>
                                              <p:pRg st="2" end="2"/>
                                            </p:txEl>
                                          </p:spTgt>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
                                            <p:txEl>
                                              <p:pRg st="3" end="3"/>
                                            </p:txEl>
                                          </p:spTgt>
                                        </p:tgtEl>
                                        <p:attrNameLst>
                                          <p:attrName>style.visibility</p:attrName>
                                        </p:attrNameLst>
                                      </p:cBhvr>
                                      <p:to>
                                        <p:strVal val="visible"/>
                                      </p:to>
                                    </p:set>
                                    <p:animEffect transition="in" filter="fade">
                                      <p:cBhvr>
                                        <p:cTn id="66" dur="500"/>
                                        <p:tgtEl>
                                          <p:spTgt spid="6">
                                            <p:txEl>
                                              <p:pRg st="3" end="3"/>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6">
                                            <p:txEl>
                                              <p:pRg st="4" end="4"/>
                                            </p:txEl>
                                          </p:spTgt>
                                        </p:tgtEl>
                                        <p:attrNameLst>
                                          <p:attrName>style.visibility</p:attrName>
                                        </p:attrNameLst>
                                      </p:cBhvr>
                                      <p:to>
                                        <p:strVal val="visible"/>
                                      </p:to>
                                    </p:set>
                                    <p:animEffect transition="in" filter="fade">
                                      <p:cBhvr>
                                        <p:cTn id="71" dur="500"/>
                                        <p:tgtEl>
                                          <p:spTgt spid="6">
                                            <p:txEl>
                                              <p:pRg st="4" end="4"/>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6">
                                            <p:txEl>
                                              <p:pRg st="5" end="5"/>
                                            </p:txEl>
                                          </p:spTgt>
                                        </p:tgtEl>
                                        <p:attrNameLst>
                                          <p:attrName>style.visibility</p:attrName>
                                        </p:attrNameLst>
                                      </p:cBhvr>
                                      <p:to>
                                        <p:strVal val="visible"/>
                                      </p:to>
                                    </p:set>
                                    <p:animEffect transition="in" filter="fade">
                                      <p:cBhvr>
                                        <p:cTn id="76" dur="500"/>
                                        <p:tgtEl>
                                          <p:spTgt spid="6">
                                            <p:txEl>
                                              <p:pRg st="5" end="5"/>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6">
                                            <p:txEl>
                                              <p:pRg st="6" end="6"/>
                                            </p:txEl>
                                          </p:spTgt>
                                        </p:tgtEl>
                                        <p:attrNameLst>
                                          <p:attrName>style.visibility</p:attrName>
                                        </p:attrNameLst>
                                      </p:cBhvr>
                                      <p:to>
                                        <p:strVal val="visible"/>
                                      </p:to>
                                    </p:set>
                                    <p:animEffect transition="in" filter="fade">
                                      <p:cBhvr>
                                        <p:cTn id="81" dur="500"/>
                                        <p:tgtEl>
                                          <p:spTgt spid="6">
                                            <p:txEl>
                                              <p:pRg st="6" end="6"/>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6">
                                            <p:txEl>
                                              <p:pRg st="7" end="7"/>
                                            </p:txEl>
                                          </p:spTgt>
                                        </p:tgtEl>
                                        <p:attrNameLst>
                                          <p:attrName>style.visibility</p:attrName>
                                        </p:attrNameLst>
                                      </p:cBhvr>
                                      <p:to>
                                        <p:strVal val="visible"/>
                                      </p:to>
                                    </p:set>
                                    <p:animEffect transition="in" filter="fade">
                                      <p:cBhvr>
                                        <p:cTn id="86" dur="500"/>
                                        <p:tgtEl>
                                          <p:spTgt spid="6">
                                            <p:txEl>
                                              <p:pRg st="7" end="7"/>
                                            </p:txEl>
                                          </p:spTgt>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
                                            <p:txEl>
                                              <p:pRg st="8" end="8"/>
                                            </p:txEl>
                                          </p:spTgt>
                                        </p:tgtEl>
                                        <p:attrNameLst>
                                          <p:attrName>style.visibility</p:attrName>
                                        </p:attrNameLst>
                                      </p:cBhvr>
                                      <p:to>
                                        <p:strVal val="visible"/>
                                      </p:to>
                                    </p:set>
                                    <p:animEffect transition="in" filter="fade">
                                      <p:cBhvr>
                                        <p:cTn id="89" dur="500"/>
                                        <p:tgtEl>
                                          <p:spTgt spid="6">
                                            <p:txEl>
                                              <p:pRg st="8" end="8"/>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6">
                                            <p:txEl>
                                              <p:pRg st="9" end="9"/>
                                            </p:txEl>
                                          </p:spTgt>
                                        </p:tgtEl>
                                        <p:attrNameLst>
                                          <p:attrName>style.visibility</p:attrName>
                                        </p:attrNameLst>
                                      </p:cBhvr>
                                      <p:to>
                                        <p:strVal val="visible"/>
                                      </p:to>
                                    </p:set>
                                    <p:animEffect transition="in" filter="fade">
                                      <p:cBhvr>
                                        <p:cTn id="94" dur="500"/>
                                        <p:tgtEl>
                                          <p:spTgt spid="6">
                                            <p:txEl>
                                              <p:pRg st="9" end="9"/>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6">
                                            <p:txEl>
                                              <p:pRg st="10" end="10"/>
                                            </p:txEl>
                                          </p:spTgt>
                                        </p:tgtEl>
                                        <p:attrNameLst>
                                          <p:attrName>style.visibility</p:attrName>
                                        </p:attrNameLst>
                                      </p:cBhvr>
                                      <p:to>
                                        <p:strVal val="visible"/>
                                      </p:to>
                                    </p:set>
                                    <p:animEffect transition="in" filter="fade">
                                      <p:cBhvr>
                                        <p:cTn id="99"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Lst>
  </p:timing>
</p:sld>
</file>

<file path=ppt/theme/theme1.xml><?xml version="1.0" encoding="utf-8"?>
<a:theme xmlns:a="http://schemas.openxmlformats.org/drawingml/2006/main" name="sbs_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Bahnschrift Light">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bs_slide_template.potx" id="{ECECA26D-C7D9-428D-8AE3-0DEBE87A348A}" vid="{A052F16A-C2E7-4086-BA7D-A0C2C9C1F8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sbs_template</Template>
  <TotalTime>1550</TotalTime>
  <Words>1289</Words>
  <Application>Microsoft Office PowerPoint</Application>
  <PresentationFormat>Widescreen</PresentationFormat>
  <Paragraphs>186</Paragraphs>
  <Slides>23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Bahnschrift Light</vt:lpstr>
      <vt:lpstr>Cambria Math</vt:lpstr>
      <vt:lpstr>Roboto</vt:lpstr>
      <vt:lpstr>sbs_template</vt:lpstr>
      <vt:lpstr>Introduction to linear models</vt:lpstr>
      <vt:lpstr>Stats: making the simple seem complicated</vt:lpstr>
      <vt:lpstr>Statistics and data</vt:lpstr>
      <vt:lpstr>Statistics and data</vt:lpstr>
      <vt:lpstr>Doing “stats” by hand</vt:lpstr>
      <vt:lpstr>“Stats” by hand</vt:lpstr>
      <vt:lpstr>More realism</vt:lpstr>
      <vt:lpstr>More realism</vt:lpstr>
      <vt:lpstr>What stats does</vt:lpstr>
      <vt:lpstr>Stochastic element</vt:lpstr>
      <vt:lpstr>Distributions</vt:lpstr>
      <vt:lpstr>Normal distribution</vt:lpstr>
      <vt:lpstr>Goal of statistics</vt:lpstr>
      <vt:lpstr>Allowing suitable randomness</vt:lpstr>
      <vt:lpstr>Beware the histomancer</vt:lpstr>
      <vt:lpstr>How much coffee do you drink?</vt:lpstr>
      <vt:lpstr>PowerPoint Presentation</vt:lpstr>
      <vt:lpstr>What is the average number of coffees you drink in a year?</vt:lpstr>
      <vt:lpstr>Stochastic and deterministic</vt:lpstr>
      <vt:lpstr>Uses and risks of modelling</vt:lpstr>
      <vt:lpstr>First amongst equals</vt:lpstr>
      <vt:lpstr>Monkey’s paw</vt:lpstr>
      <vt:lpstr>Your key assumptions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linear models</dc:title>
  <dc:creator>Roos, Deon</dc:creator>
  <cp:lastModifiedBy>Roos, Deon</cp:lastModifiedBy>
  <cp:revision>3</cp:revision>
  <dcterms:created xsi:type="dcterms:W3CDTF">2024-06-28T13:38:41Z</dcterms:created>
  <dcterms:modified xsi:type="dcterms:W3CDTF">2024-07-02T15:08:56Z</dcterms:modified>
</cp:coreProperties>
</file>