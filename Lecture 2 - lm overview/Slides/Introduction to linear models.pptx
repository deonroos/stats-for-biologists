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18"/>
  </p:notesMasterIdLst>
  <p:sldIdLst>
    <p:sldId id="256" r:id="rId2"/>
    <p:sldId id="320" r:id="rId3"/>
    <p:sldId id="321" r:id="rId4"/>
    <p:sldId id="322" r:id="rId5"/>
    <p:sldId id="329" r:id="rId6"/>
    <p:sldId id="283" r:id="rId7"/>
    <p:sldId id="270" r:id="rId8"/>
    <p:sldId id="328" r:id="rId9"/>
    <p:sldId id="306" r:id="rId10"/>
    <p:sldId id="324" r:id="rId11"/>
    <p:sldId id="327" r:id="rId12"/>
    <p:sldId id="287" r:id="rId13"/>
    <p:sldId id="326" r:id="rId14"/>
    <p:sldId id="305" r:id="rId15"/>
    <p:sldId id="257" r:id="rId16"/>
    <p:sldId id="325"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28/06/2024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28/06/2024</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28/06/2024</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28/06/2024</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28/06/2024</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28/06/2024</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28/06/2024</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28/06/2024</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28/06/2024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28/06/2024</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28/06/2024</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4.png"/><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7.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9.png"/><Relationship Id="rId1" Type="http://schemas.openxmlformats.org/officeDocument/2006/relationships/slideLayout" Target="../slideLayouts/slideLayout1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14.xml"/><Relationship Id="rId5" Type="http://schemas.openxmlformats.org/officeDocument/2006/relationships/image" Target="../media/image31.png"/><Relationship Id="rId4" Type="http://schemas.openxmlformats.org/officeDocument/2006/relationships/image" Target="../media/image30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70.png"/><Relationship Id="rId1" Type="http://schemas.openxmlformats.org/officeDocument/2006/relationships/slideLayout" Target="../slideLayouts/slideLayout12.xml"/><Relationship Id="rId5" Type="http://schemas.openxmlformats.org/officeDocument/2006/relationships/image" Target="../media/image32.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mc:Choice xmlns:a14="http://schemas.microsoft.com/office/drawing/2010/main"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1916-E3D0-80E0-03EC-BAFBC43C39B0}"/>
            </a:ext>
          </a:extLst>
        </p:cNvPr>
        <p:cNvGrpSpPr/>
        <p:nvPr/>
      </p:nvGrpSpPr>
      <p:grpSpPr>
        <a:xfrm>
          <a:off x="0" y="0"/>
          <a:ext cx="0" cy="0"/>
          <a:chOff x="0" y="0"/>
          <a:chExt cx="0" cy="0"/>
        </a:xfrm>
      </p:grpSpPr>
      <p:pic>
        <p:nvPicPr>
          <p:cNvPr id="24" name="Picture 23" descr="A graph of a substance&#10;&#10;Description automatically generated with medium confidence">
            <a:extLst>
              <a:ext uri="{FF2B5EF4-FFF2-40B4-BE49-F238E27FC236}">
                <a16:creationId xmlns:a16="http://schemas.microsoft.com/office/drawing/2014/main" id="{55277019-6186-BCE2-9160-661B067958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9001" y="1050483"/>
            <a:ext cx="6223000" cy="5807518"/>
          </a:xfrm>
          <a:prstGeom prst="rect">
            <a:avLst/>
          </a:prstGeom>
        </p:spPr>
      </p:pic>
      <p:sp>
        <p:nvSpPr>
          <p:cNvPr id="2" name="Title 1">
            <a:extLst>
              <a:ext uri="{FF2B5EF4-FFF2-40B4-BE49-F238E27FC236}">
                <a16:creationId xmlns:a16="http://schemas.microsoft.com/office/drawing/2014/main" id="{02EF5EE2-2030-AEB7-6196-40DD3C45C077}"/>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Can we reduce blood pressure?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6D74DE6-B172-B967-6B43-A6298CA1D28B}"/>
                  </a:ext>
                </a:extLst>
              </p:cNvPr>
              <p:cNvSpPr>
                <a:spLocks noGrp="1"/>
              </p:cNvSpPr>
              <p:nvPr>
                <p:ph idx="1"/>
              </p:nvPr>
            </p:nvSpPr>
            <p:spPr>
              <a:xfrm>
                <a:off x="848736" y="1325562"/>
                <a:ext cx="4991100" cy="5399087"/>
              </a:xfrm>
            </p:spPr>
            <p:txBody>
              <a:bodyPr>
                <a:normAutofit/>
              </a:bodyPr>
              <a:lstStyle/>
              <a:p>
                <a:r>
                  <a:rPr lang="en-GB" dirty="0">
                    <a:latin typeface="Bahnschrift Light" panose="020B0502040204020203" pitchFamily="34" charset="0"/>
                  </a:rPr>
                  <a:t>What is the relationship between sodium intake and blood pressure?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m:oMathPara>
                </a14:m>
                <a:endParaRPr lang="en-GB" dirty="0">
                  <a:latin typeface="Bahnschrift Light" panose="020B0502040204020203" pitchFamily="34" charset="0"/>
                </a:endParaRPr>
              </a:p>
              <a:p>
                <a:pPr marL="0" indent="0">
                  <a:buNone/>
                </a:pPr>
                <a:r>
                  <a:rPr lang="en-GB" dirty="0">
                    <a:latin typeface="Bahnschrift Light" panose="020B0502040204020203" pitchFamily="34" charset="0"/>
                  </a:rPr>
                  <a:t>Or sometimes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𝑏𝑥</m:t>
                      </m:r>
                    </m:oMath>
                  </m:oMathPara>
                </a14:m>
                <a:endParaRPr lang="en-GB" dirty="0">
                  <a:latin typeface="Bahnschrift Light" panose="020B0502040204020203" pitchFamily="34" charset="0"/>
                </a:endParaRPr>
              </a:p>
              <a:p>
                <a:r>
                  <a:rPr lang="en-GB" dirty="0">
                    <a:latin typeface="Bahnschrift Light" panose="020B0502040204020203" pitchFamily="34" charset="0"/>
                  </a:rPr>
                  <a:t>You already know how to answer this question:</a:t>
                </a: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r>
                        <a:rPr lang="en-GB" b="0" i="1" smtClean="0">
                          <a:latin typeface="Cambria Math" panose="02040503050406030204" pitchFamily="18" charset="0"/>
                        </a:rPr>
                        <m:t>)</m:t>
                      </m:r>
                    </m:oMath>
                  </m:oMathPara>
                </a14:m>
                <a:endParaRPr lang="en-GB" i="1" dirty="0">
                  <a:latin typeface="Cambria Math" panose="02040503050406030204" pitchFamily="18" charset="0"/>
                </a:endParaRPr>
              </a:p>
              <a:p>
                <a:pPr marL="0" indent="0">
                  <a:buNone/>
                </a:pPr>
                <a:endParaRPr lang="en-GB" sz="9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𝜇</m:t>
                          </m:r>
                        </m:e>
                        <m:sub>
                          <m:r>
                            <a:rPr lang="en-GB" i="1">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𝑁𝑎</m:t>
                          </m:r>
                        </m:e>
                        <m:sub>
                          <m:r>
                            <a:rPr lang="en-GB" b="0" i="1" smtClean="0">
                              <a:latin typeface="Cambria Math" panose="02040503050406030204" pitchFamily="18" charset="0"/>
                            </a:rPr>
                            <m:t>𝑖</m:t>
                          </m:r>
                        </m:sub>
                      </m:sSub>
                    </m:oMath>
                  </m:oMathPara>
                </a14:m>
                <a:endParaRPr lang="en-GB" dirty="0"/>
              </a:p>
            </p:txBody>
          </p:sp>
        </mc:Choice>
        <mc:Fallback>
          <p:sp>
            <p:nvSpPr>
              <p:cNvPr id="3" name="Content Placeholder 2">
                <a:extLst>
                  <a:ext uri="{FF2B5EF4-FFF2-40B4-BE49-F238E27FC236}">
                    <a16:creationId xmlns:a16="http://schemas.microsoft.com/office/drawing/2014/main" id="{A6D74DE6-B172-B967-6B43-A6298CA1D28B}"/>
                  </a:ext>
                </a:extLst>
              </p:cNvPr>
              <p:cNvSpPr>
                <a:spLocks noGrp="1" noRot="1" noChangeAspect="1" noMove="1" noResize="1" noEditPoints="1" noAdjustHandles="1" noChangeArrowheads="1" noChangeShapeType="1" noTextEdit="1"/>
              </p:cNvSpPr>
              <p:nvPr>
                <p:ph idx="1"/>
              </p:nvPr>
            </p:nvSpPr>
            <p:spPr>
              <a:xfrm>
                <a:off x="848736" y="1325562"/>
                <a:ext cx="4991100" cy="5399087"/>
              </a:xfrm>
              <a:blipFill>
                <a:blip r:embed="rId3"/>
                <a:stretch>
                  <a:fillRect l="-2442" t="-2032"/>
                </a:stretch>
              </a:blipFill>
            </p:spPr>
            <p:txBody>
              <a:bodyPr/>
              <a:lstStyle/>
              <a:p>
                <a:r>
                  <a:rPr lang="en-GB">
                    <a:noFill/>
                  </a:rPr>
                  <a:t> </a:t>
                </a:r>
              </a:p>
            </p:txBody>
          </p:sp>
        </mc:Fallback>
      </mc:AlternateContent>
    </p:spTree>
    <p:extLst>
      <p:ext uri="{BB962C8B-B14F-4D97-AF65-F5344CB8AC3E}">
        <p14:creationId xmlns:p14="http://schemas.microsoft.com/office/powerpoint/2010/main" val="198648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2198F-AB6B-3057-9A47-2570A4B1EB44}"/>
            </a:ext>
          </a:extLst>
        </p:cNvPr>
        <p:cNvGrpSpPr/>
        <p:nvPr/>
      </p:nvGrpSpPr>
      <p:grpSpPr>
        <a:xfrm>
          <a:off x="0" y="0"/>
          <a:ext cx="0" cy="0"/>
          <a:chOff x="0" y="0"/>
          <a:chExt cx="0" cy="0"/>
        </a:xfrm>
      </p:grpSpPr>
      <p:pic>
        <p:nvPicPr>
          <p:cNvPr id="24" name="Picture 23" descr="A graph of a substance&#10;&#10;Description automatically generated with medium confidence">
            <a:extLst>
              <a:ext uri="{FF2B5EF4-FFF2-40B4-BE49-F238E27FC236}">
                <a16:creationId xmlns:a16="http://schemas.microsoft.com/office/drawing/2014/main" id="{06C1F2E0-AE1D-CA36-1553-B433DB2004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9001" y="1050483"/>
            <a:ext cx="6223000" cy="5807518"/>
          </a:xfrm>
          <a:prstGeom prst="rect">
            <a:avLst/>
          </a:prstGeom>
        </p:spPr>
      </p:pic>
      <p:sp>
        <p:nvSpPr>
          <p:cNvPr id="2" name="Title 1">
            <a:extLst>
              <a:ext uri="{FF2B5EF4-FFF2-40B4-BE49-F238E27FC236}">
                <a16:creationId xmlns:a16="http://schemas.microsoft.com/office/drawing/2014/main" id="{CF8AE919-99FE-E06D-5CB1-82316BFC6097}"/>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Can we reduce blood pressure?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FD7504F-66E6-A841-BC68-2421556AF58A}"/>
                  </a:ext>
                </a:extLst>
              </p:cNvPr>
              <p:cNvSpPr>
                <a:spLocks noGrp="1"/>
              </p:cNvSpPr>
              <p:nvPr>
                <p:ph idx="1"/>
              </p:nvPr>
            </p:nvSpPr>
            <p:spPr>
              <a:xfrm>
                <a:off x="196553" y="1325562"/>
                <a:ext cx="5643283" cy="5399087"/>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r>
                        <a:rPr lang="en-GB" b="0" i="1" smtClean="0">
                          <a:latin typeface="Cambria Math" panose="02040503050406030204" pitchFamily="18" charset="0"/>
                        </a:rPr>
                        <m:t>)</m:t>
                      </m:r>
                    </m:oMath>
                  </m:oMathPara>
                </a14:m>
                <a:endParaRPr lang="en-GB" sz="9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𝜇</m:t>
                          </m:r>
                        </m:e>
                        <m:sub>
                          <m:r>
                            <a:rPr lang="en-GB" i="1">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𝑁𝑎</m:t>
                          </m:r>
                        </m:e>
                        <m:sub>
                          <m:r>
                            <a:rPr lang="en-GB" b="0" i="1" smtClean="0">
                              <a:latin typeface="Cambria Math" panose="02040503050406030204" pitchFamily="18" charset="0"/>
                            </a:rPr>
                            <m:t>𝑖</m:t>
                          </m:r>
                        </m:sub>
                      </m:sSub>
                    </m:oMath>
                  </m:oMathPara>
                </a14:m>
                <a:endParaRPr lang="en-GB" dirty="0"/>
              </a:p>
              <a:p>
                <a:pPr marL="0" indent="0">
                  <a:buNone/>
                </a:pPr>
                <a:endParaRPr lang="en-GB" dirty="0"/>
              </a:p>
              <a:p>
                <a:pPr marL="0" indent="0">
                  <a:buNone/>
                </a:pPr>
                <a:r>
                  <a:rPr lang="en-GB" sz="2000" dirty="0">
                    <a:latin typeface="Bahnschrift Light" panose="020B0502040204020203" pitchFamily="34" charset="0"/>
                  </a:rPr>
                  <a:t>Where:</a:t>
                </a:r>
              </a:p>
              <a:p>
                <a14:m>
                  <m:oMath xmlns:m="http://schemas.openxmlformats.org/officeDocument/2006/math">
                    <m:r>
                      <a:rPr lang="en-GB" sz="2000" b="0" i="1" smtClean="0">
                        <a:latin typeface="Cambria Math" panose="02040503050406030204" pitchFamily="18" charset="0"/>
                      </a:rPr>
                      <m:t>𝑦</m:t>
                    </m:r>
                  </m:oMath>
                </a14:m>
                <a:r>
                  <a:rPr lang="en-GB" sz="2000" dirty="0">
                    <a:latin typeface="Bahnschrift Light" panose="020B0502040204020203" pitchFamily="34" charset="0"/>
                  </a:rPr>
                  <a:t> is change in blood pressure</a:t>
                </a:r>
              </a:p>
              <a:p>
                <a14:m>
                  <m:oMath xmlns:m="http://schemas.openxmlformats.org/officeDocument/2006/math">
                    <m:r>
                      <a:rPr lang="en-GB" sz="2000" b="0" i="1" smtClean="0">
                        <a:latin typeface="Cambria Math" panose="02040503050406030204" pitchFamily="18" charset="0"/>
                      </a:rPr>
                      <m:t>𝑖</m:t>
                    </m:r>
                  </m:oMath>
                </a14:m>
                <a:r>
                  <a:rPr lang="en-GB" sz="2000" dirty="0">
                    <a:latin typeface="Bahnschrift Light" panose="020B0502040204020203" pitchFamily="34" charset="0"/>
                  </a:rPr>
                  <a:t> is the </a:t>
                </a:r>
                <a14:m>
                  <m:oMath xmlns:m="http://schemas.openxmlformats.org/officeDocument/2006/math">
                    <m:sSup>
                      <m:sSupPr>
                        <m:ctrlPr>
                          <a:rPr lang="en-GB" sz="2000" b="0" i="1" smtClean="0">
                            <a:latin typeface="Cambria Math" panose="02040503050406030204" pitchFamily="18" charset="0"/>
                          </a:rPr>
                        </m:ctrlPr>
                      </m:sSupPr>
                      <m:e>
                        <m:r>
                          <a:rPr lang="en-GB" sz="2000" b="0" i="1" smtClean="0">
                            <a:latin typeface="Cambria Math" panose="02040503050406030204" pitchFamily="18" charset="0"/>
                          </a:rPr>
                          <m:t>𝑖</m:t>
                        </m:r>
                      </m:e>
                      <m:sup>
                        <m:r>
                          <a:rPr lang="en-GB" sz="2000" b="0" i="1" smtClean="0">
                            <a:latin typeface="Cambria Math" panose="02040503050406030204" pitchFamily="18" charset="0"/>
                          </a:rPr>
                          <m:t>𝑡h</m:t>
                        </m:r>
                      </m:sup>
                    </m:sSup>
                  </m:oMath>
                </a14:m>
                <a:r>
                  <a:rPr lang="en-GB" sz="2000" dirty="0">
                    <a:latin typeface="Bahnschrift Light" panose="020B0502040204020203" pitchFamily="34" charset="0"/>
                  </a:rPr>
                  <a:t> patient</a:t>
                </a:r>
              </a:p>
              <a:p>
                <a14:m>
                  <m:oMath xmlns:m="http://schemas.openxmlformats.org/officeDocument/2006/math">
                    <m:r>
                      <a:rPr lang="en-GB" sz="2000" b="0" i="1" smtClean="0">
                        <a:latin typeface="Cambria Math" panose="02040503050406030204" pitchFamily="18" charset="0"/>
                      </a:rPr>
                      <m:t>𝜇</m:t>
                    </m:r>
                  </m:oMath>
                </a14:m>
                <a:r>
                  <a:rPr lang="en-GB" sz="2000" dirty="0">
                    <a:latin typeface="Bahnschrift Light" panose="020B0502040204020203" pitchFamily="34" charset="0"/>
                  </a:rPr>
                  <a:t> is the mean</a:t>
                </a:r>
              </a:p>
              <a:p>
                <a14:m>
                  <m:oMath xmlns:m="http://schemas.openxmlformats.org/officeDocument/2006/math">
                    <m:r>
                      <a:rPr lang="en-GB" sz="2000" b="0" i="1" smtClean="0">
                        <a:latin typeface="Cambria Math" panose="02040503050406030204" pitchFamily="18" charset="0"/>
                      </a:rPr>
                      <m:t>𝜎</m:t>
                    </m:r>
                  </m:oMath>
                </a14:m>
                <a:r>
                  <a:rPr lang="en-GB" sz="2000" dirty="0">
                    <a:latin typeface="Bahnschrift Light" panose="020B0502040204020203" pitchFamily="34" charset="0"/>
                  </a:rPr>
                  <a:t> is the standard deviation</a:t>
                </a:r>
              </a:p>
              <a:p>
                <a14:m>
                  <m:oMath xmlns:m="http://schemas.openxmlformats.org/officeDocument/2006/math">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𝛽</m:t>
                        </m:r>
                      </m:e>
                      <m:sub>
                        <m:r>
                          <a:rPr lang="en-GB" sz="2000" b="0" i="1" smtClean="0">
                            <a:latin typeface="Cambria Math" panose="02040503050406030204" pitchFamily="18" charset="0"/>
                          </a:rPr>
                          <m:t>0</m:t>
                        </m:r>
                      </m:sub>
                    </m:sSub>
                    <m:r>
                      <a:rPr lang="en-GB" sz="2000" b="0" i="1" smtClean="0">
                        <a:latin typeface="Cambria Math" panose="02040503050406030204" pitchFamily="18" charset="0"/>
                      </a:rPr>
                      <m:t>+</m:t>
                    </m:r>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𝛽</m:t>
                        </m:r>
                      </m:e>
                      <m:sub>
                        <m:r>
                          <a:rPr lang="en-GB" sz="2000" b="0" i="1" smtClean="0">
                            <a:latin typeface="Cambria Math" panose="02040503050406030204" pitchFamily="18" charset="0"/>
                          </a:rPr>
                          <m:t>1</m:t>
                        </m:r>
                      </m:sub>
                    </m:sSub>
                    <m:r>
                      <a:rPr lang="en-GB" sz="2000" b="0" i="1" smtClean="0">
                        <a:latin typeface="Cambria Math" panose="02040503050406030204" pitchFamily="18" charset="0"/>
                      </a:rPr>
                      <m:t>×</m:t>
                    </m:r>
                    <m:r>
                      <a:rPr lang="en-GB" sz="2000" b="0" i="1" smtClean="0">
                        <a:latin typeface="Cambria Math" panose="02040503050406030204" pitchFamily="18" charset="0"/>
                      </a:rPr>
                      <m:t>𝑁</m:t>
                    </m:r>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𝑎</m:t>
                        </m:r>
                      </m:e>
                      <m:sub>
                        <m:r>
                          <a:rPr lang="en-GB" sz="2000" b="0" i="1" smtClean="0">
                            <a:latin typeface="Cambria Math" panose="02040503050406030204" pitchFamily="18" charset="0"/>
                          </a:rPr>
                          <m:t>𝑖</m:t>
                        </m:r>
                      </m:sub>
                    </m:sSub>
                  </m:oMath>
                </a14:m>
                <a:r>
                  <a:rPr lang="en-GB" sz="2000" dirty="0">
                    <a:latin typeface="Bahnschrift Light" panose="020B0502040204020203" pitchFamily="34" charset="0"/>
                  </a:rPr>
                  <a:t> is the linear predictor, where</a:t>
                </a:r>
              </a:p>
              <a:p>
                <a:pPr lvl="1"/>
                <a14:m>
                  <m:oMath xmlns:m="http://schemas.openxmlformats.org/officeDocument/2006/math">
                    <m:sSub>
                      <m:sSubPr>
                        <m:ctrlPr>
                          <a:rPr lang="en-GB" sz="1600" b="0" i="1" smtClean="0">
                            <a:latin typeface="Cambria Math" panose="02040503050406030204" pitchFamily="18" charset="0"/>
                          </a:rPr>
                        </m:ctrlPr>
                      </m:sSubPr>
                      <m:e>
                        <m:r>
                          <a:rPr lang="en-GB" sz="1600" b="0" i="1" smtClean="0">
                            <a:latin typeface="Cambria Math" panose="02040503050406030204" pitchFamily="18" charset="0"/>
                          </a:rPr>
                          <m:t>𝛽</m:t>
                        </m:r>
                      </m:e>
                      <m:sub>
                        <m:r>
                          <a:rPr lang="en-GB" sz="1600" b="0" i="1" smtClean="0">
                            <a:latin typeface="Cambria Math" panose="02040503050406030204" pitchFamily="18" charset="0"/>
                          </a:rPr>
                          <m:t>0</m:t>
                        </m:r>
                      </m:sub>
                    </m:sSub>
                  </m:oMath>
                </a14:m>
                <a:r>
                  <a:rPr lang="en-GB" sz="1600" dirty="0">
                    <a:latin typeface="Bahnschrift Light" panose="020B0502040204020203" pitchFamily="34" charset="0"/>
                  </a:rPr>
                  <a:t> is the intercept</a:t>
                </a:r>
              </a:p>
              <a:p>
                <a:pPr lvl="1"/>
                <a14:m>
                  <m:oMath xmlns:m="http://schemas.openxmlformats.org/officeDocument/2006/math">
                    <m:sSub>
                      <m:sSubPr>
                        <m:ctrlPr>
                          <a:rPr lang="en-GB" sz="1600" b="0" i="1" smtClean="0">
                            <a:latin typeface="Cambria Math" panose="02040503050406030204" pitchFamily="18" charset="0"/>
                          </a:rPr>
                        </m:ctrlPr>
                      </m:sSubPr>
                      <m:e>
                        <m:r>
                          <a:rPr lang="en-GB" sz="1600" b="0" i="1" smtClean="0">
                            <a:latin typeface="Cambria Math" panose="02040503050406030204" pitchFamily="18" charset="0"/>
                          </a:rPr>
                          <m:t>𝛽</m:t>
                        </m:r>
                      </m:e>
                      <m:sub>
                        <m:r>
                          <a:rPr lang="en-GB" sz="1600" b="0" i="1" smtClean="0">
                            <a:latin typeface="Cambria Math" panose="02040503050406030204" pitchFamily="18" charset="0"/>
                          </a:rPr>
                          <m:t>1</m:t>
                        </m:r>
                      </m:sub>
                    </m:sSub>
                  </m:oMath>
                </a14:m>
                <a:r>
                  <a:rPr lang="en-GB" sz="1600" dirty="0">
                    <a:latin typeface="Bahnschrift Light" panose="020B0502040204020203" pitchFamily="34" charset="0"/>
                  </a:rPr>
                  <a:t> is the slope for sodium</a:t>
                </a:r>
              </a:p>
            </p:txBody>
          </p:sp>
        </mc:Choice>
        <mc:Fallback xmlns="">
          <p:sp>
            <p:nvSpPr>
              <p:cNvPr id="3" name="Content Placeholder 2">
                <a:extLst>
                  <a:ext uri="{FF2B5EF4-FFF2-40B4-BE49-F238E27FC236}">
                    <a16:creationId xmlns:a16="http://schemas.microsoft.com/office/drawing/2014/main" id="{8FD7504F-66E6-A841-BC68-2421556AF58A}"/>
                  </a:ext>
                </a:extLst>
              </p:cNvPr>
              <p:cNvSpPr>
                <a:spLocks noGrp="1" noRot="1" noChangeAspect="1" noMove="1" noResize="1" noEditPoints="1" noAdjustHandles="1" noChangeArrowheads="1" noChangeShapeType="1" noTextEdit="1"/>
              </p:cNvSpPr>
              <p:nvPr>
                <p:ph idx="1"/>
              </p:nvPr>
            </p:nvSpPr>
            <p:spPr>
              <a:xfrm>
                <a:off x="196553" y="1325562"/>
                <a:ext cx="5643283" cy="5399087"/>
              </a:xfrm>
              <a:blipFill>
                <a:blip r:embed="rId3"/>
                <a:stretch>
                  <a:fillRect l="-1080"/>
                </a:stretch>
              </a:blipFill>
            </p:spPr>
            <p:txBody>
              <a:bodyPr/>
              <a:lstStyle/>
              <a:p>
                <a:r>
                  <a:rPr lang="en-GB">
                    <a:noFill/>
                  </a:rPr>
                  <a:t> </a:t>
                </a:r>
              </a:p>
            </p:txBody>
          </p:sp>
        </mc:Fallback>
      </mc:AlternateContent>
      <p:pic>
        <p:nvPicPr>
          <p:cNvPr id="5" name="Picture 4" descr="A graph of a line&#10;&#10;Description automatically generated">
            <a:extLst>
              <a:ext uri="{FF2B5EF4-FFF2-40B4-BE49-F238E27FC236}">
                <a16:creationId xmlns:a16="http://schemas.microsoft.com/office/drawing/2014/main" id="{541F004B-42F6-8747-5145-FCB750D721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69000" y="1050482"/>
            <a:ext cx="6223000" cy="5807518"/>
          </a:xfrm>
          <a:prstGeom prst="rect">
            <a:avLst/>
          </a:prstGeom>
        </p:spPr>
      </p:pic>
    </p:spTree>
    <p:extLst>
      <p:ext uri="{BB962C8B-B14F-4D97-AF65-F5344CB8AC3E}">
        <p14:creationId xmlns:p14="http://schemas.microsoft.com/office/powerpoint/2010/main" val="3047265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500"/>
                                        <p:tgtEl>
                                          <p:spTgt spid="3">
                                            <p:txEl>
                                              <p:pRg st="6" end="6"/>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fade">
                                      <p:cBhvr>
                                        <p:cTn id="33" dur="500"/>
                                        <p:tgtEl>
                                          <p:spTgt spid="3">
                                            <p:txEl>
                                              <p:pRg st="7" end="7"/>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8" end="8"/>
                                            </p:txEl>
                                          </p:spTgt>
                                        </p:tgtEl>
                                        <p:attrNameLst>
                                          <p:attrName>style.visibility</p:attrName>
                                        </p:attrNameLst>
                                      </p:cBhvr>
                                      <p:to>
                                        <p:strVal val="visible"/>
                                      </p:to>
                                    </p:set>
                                    <p:animEffect transition="in" filter="fade">
                                      <p:cBhvr>
                                        <p:cTn id="38" dur="500"/>
                                        <p:tgtEl>
                                          <p:spTgt spid="3">
                                            <p:txEl>
                                              <p:pRg st="8" end="8"/>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animEffect transition="in" filter="fade">
                                      <p:cBhvr>
                                        <p:cTn id="43" dur="500"/>
                                        <p:tgtEl>
                                          <p:spTgt spid="3">
                                            <p:txEl>
                                              <p:pRg st="9" end="9"/>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10" end="10"/>
                                            </p:txEl>
                                          </p:spTgt>
                                        </p:tgtEl>
                                        <p:attrNameLst>
                                          <p:attrName>style.visibility</p:attrName>
                                        </p:attrNameLst>
                                      </p:cBhvr>
                                      <p:to>
                                        <p:strVal val="visible"/>
                                      </p:to>
                                    </p:set>
                                    <p:animEffect transition="in" filter="fade">
                                      <p:cBhvr>
                                        <p:cTn id="48" dur="500"/>
                                        <p:tgtEl>
                                          <p:spTgt spid="3">
                                            <p:txEl>
                                              <p:pRg st="10" end="1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5"/>
                                        </p:tgtEl>
                                        <p:attrNameLst>
                                          <p:attrName>style.visibility</p:attrName>
                                        </p:attrNameLst>
                                      </p:cBhvr>
                                      <p:to>
                                        <p:strVal val="visible"/>
                                      </p:to>
                                    </p:set>
                                    <p:animEffect transition="in" filter="fade">
                                      <p:cBhvr>
                                        <p:cTn id="5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702C0-0E7E-35EC-AD78-145B18250059}"/>
            </a:ext>
          </a:extLst>
        </p:cNvPr>
        <p:cNvGrpSpPr/>
        <p:nvPr/>
      </p:nvGrpSpPr>
      <p:grpSpPr>
        <a:xfrm>
          <a:off x="0" y="0"/>
          <a:ext cx="0" cy="0"/>
          <a:chOff x="0" y="0"/>
          <a:chExt cx="0" cy="0"/>
        </a:xfrm>
      </p:grpSpPr>
      <p:pic>
        <p:nvPicPr>
          <p:cNvPr id="5" name="Picture 4" descr="A graph of a line&#10;&#10;Description automatically generated">
            <a:extLst>
              <a:ext uri="{FF2B5EF4-FFF2-40B4-BE49-F238E27FC236}">
                <a16:creationId xmlns:a16="http://schemas.microsoft.com/office/drawing/2014/main" id="{B41E91A7-4873-245E-0EFF-98EF0A9A7B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9000" y="1050482"/>
            <a:ext cx="6223000" cy="5807518"/>
          </a:xfrm>
          <a:prstGeom prst="rect">
            <a:avLst/>
          </a:prstGeom>
        </p:spPr>
      </p:pic>
      <p:sp>
        <p:nvSpPr>
          <p:cNvPr id="2" name="Title 1">
            <a:extLst>
              <a:ext uri="{FF2B5EF4-FFF2-40B4-BE49-F238E27FC236}">
                <a16:creationId xmlns:a16="http://schemas.microsoft.com/office/drawing/2014/main" id="{5E3D2FA3-CE82-9D8F-F10B-3F61C33813C6}"/>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Can we reduce blood pressure?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36E8DD-47D2-762F-35EA-9706814C6B62}"/>
                  </a:ext>
                </a:extLst>
              </p:cNvPr>
              <p:cNvSpPr>
                <a:spLocks noGrp="1"/>
              </p:cNvSpPr>
              <p:nvPr>
                <p:ph idx="1"/>
              </p:nvPr>
            </p:nvSpPr>
            <p:spPr>
              <a:xfrm>
                <a:off x="848736" y="2070100"/>
                <a:ext cx="4991100" cy="4654549"/>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𝜎</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m:t>
                      </m:r>
                    </m:oMath>
                  </m:oMathPara>
                </a14:m>
                <a:endParaRPr lang="en-GB" sz="9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𝜇</m:t>
                          </m:r>
                        </m:e>
                        <m:sub>
                          <m:r>
                            <a:rPr lang="en-GB" i="1">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𝛽</m:t>
                          </m:r>
                        </m:e>
                        <m:sub>
                          <m:r>
                            <a:rPr lang="en-GB" b="0" i="1" smtClean="0">
                              <a:solidFill>
                                <a:srgbClr val="FFFF00"/>
                              </a:solidFill>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𝛽</m:t>
                          </m:r>
                        </m:e>
                        <m:sub>
                          <m:r>
                            <a:rPr lang="en-GB" b="0" i="1" smtClean="0">
                              <a:solidFill>
                                <a:srgbClr val="FFFF00"/>
                              </a:solidFill>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𝑁𝑎</m:t>
                          </m:r>
                        </m:e>
                        <m:sub>
                          <m:r>
                            <a:rPr lang="en-GB" b="0" i="1" smtClean="0">
                              <a:latin typeface="Cambria Math" panose="02040503050406030204" pitchFamily="18" charset="0"/>
                            </a:rPr>
                            <m:t>𝑖</m:t>
                          </m:r>
                        </m:sub>
                      </m:sSub>
                    </m:oMath>
                  </m:oMathPara>
                </a14:m>
                <a:endParaRPr lang="en-GB" dirty="0"/>
              </a:p>
              <a:p>
                <a:pPr marL="0" indent="0">
                  <a:buNone/>
                </a:pPr>
                <a:endParaRPr lang="en-GB" dirty="0"/>
              </a:p>
              <a:p>
                <a:pPr marL="0" indent="0">
                  <a:buNone/>
                </a:pPr>
                <a:r>
                  <a:rPr lang="en-GB" dirty="0">
                    <a:latin typeface="Bahnschrift Light" panose="020B0502040204020203" pitchFamily="34" charset="0"/>
                  </a:rPr>
                  <a:t>Now estimated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𝑁𝑜𝑟𝑚𝑎𝑙</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𝜇</m:t>
                          </m:r>
                        </m:e>
                        <m:sub>
                          <m:r>
                            <a:rPr lang="en-GB" i="1">
                              <a:latin typeface="Cambria Math" panose="02040503050406030204" pitchFamily="18" charset="0"/>
                            </a:rPr>
                            <m:t>𝑖</m:t>
                          </m:r>
                        </m:sub>
                      </m:sSub>
                      <m:r>
                        <a:rPr lang="en-GB" i="1">
                          <a:latin typeface="Cambria Math" panose="02040503050406030204" pitchFamily="18" charset="0"/>
                        </a:rPr>
                        <m:t>,</m:t>
                      </m:r>
                      <m:r>
                        <a:rPr lang="en-GB" b="0" i="1" smtClean="0">
                          <a:solidFill>
                            <a:srgbClr val="FFFF00"/>
                          </a:solidFill>
                          <a:latin typeface="Cambria Math" panose="02040503050406030204" pitchFamily="18" charset="0"/>
                        </a:rPr>
                        <m:t>10.1</m:t>
                      </m:r>
                      <m:r>
                        <a:rPr lang="en-GB" i="1">
                          <a:latin typeface="Cambria Math" panose="02040503050406030204" pitchFamily="18" charset="0"/>
                        </a:rPr>
                        <m:t>)</m:t>
                      </m:r>
                    </m:oMath>
                  </m:oMathPara>
                </a14:m>
                <a:endParaRPr lang="en-GB" sz="9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𝜇</m:t>
                          </m:r>
                        </m:e>
                        <m:sub>
                          <m:r>
                            <a:rPr lang="en-GB" i="1">
                              <a:latin typeface="Cambria Math" panose="02040503050406030204" pitchFamily="18" charset="0"/>
                            </a:rPr>
                            <m:t>𝑖</m:t>
                          </m:r>
                        </m:sub>
                      </m:sSub>
                      <m:r>
                        <a:rPr lang="en-GB" i="1">
                          <a:latin typeface="Cambria Math" panose="02040503050406030204" pitchFamily="18" charset="0"/>
                        </a:rPr>
                        <m:t>=</m:t>
                      </m:r>
                      <m:r>
                        <a:rPr lang="en-GB" b="0" i="1" smtClean="0">
                          <a:solidFill>
                            <a:srgbClr val="FFFF00"/>
                          </a:solidFill>
                          <a:latin typeface="Cambria Math" panose="02040503050406030204" pitchFamily="18" charset="0"/>
                        </a:rPr>
                        <m:t>−18.4</m:t>
                      </m:r>
                      <m:r>
                        <a:rPr lang="en-GB" i="1">
                          <a:latin typeface="Cambria Math" panose="02040503050406030204" pitchFamily="18" charset="0"/>
                        </a:rPr>
                        <m:t>+</m:t>
                      </m:r>
                      <m:r>
                        <a:rPr lang="en-GB" b="0" i="1" smtClean="0">
                          <a:solidFill>
                            <a:srgbClr val="FFFF00"/>
                          </a:solidFill>
                          <a:latin typeface="Cambria Math" panose="02040503050406030204" pitchFamily="18" charset="0"/>
                        </a:rPr>
                        <m:t>9.6</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𝑁𝑎</m:t>
                          </m:r>
                        </m:e>
                        <m:sub>
                          <m:r>
                            <a:rPr lang="en-GB" i="1">
                              <a:latin typeface="Cambria Math" panose="02040503050406030204" pitchFamily="18" charset="0"/>
                            </a:rPr>
                            <m:t>𝑖</m:t>
                          </m:r>
                        </m:sub>
                      </m:sSub>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8B36E8DD-47D2-762F-35EA-9706814C6B62}"/>
                  </a:ext>
                </a:extLst>
              </p:cNvPr>
              <p:cNvSpPr>
                <a:spLocks noGrp="1" noRot="1" noChangeAspect="1" noMove="1" noResize="1" noEditPoints="1" noAdjustHandles="1" noChangeArrowheads="1" noChangeShapeType="1" noTextEdit="1"/>
              </p:cNvSpPr>
              <p:nvPr>
                <p:ph idx="1"/>
              </p:nvPr>
            </p:nvSpPr>
            <p:spPr>
              <a:xfrm>
                <a:off x="848736" y="2070100"/>
                <a:ext cx="4991100" cy="4654549"/>
              </a:xfrm>
              <a:blipFill>
                <a:blip r:embed="rId3"/>
                <a:stretch>
                  <a:fillRect l="-2442"/>
                </a:stretch>
              </a:blipFill>
            </p:spPr>
            <p:txBody>
              <a:bodyPr/>
              <a:lstStyle/>
              <a:p>
                <a:r>
                  <a:rPr lang="en-GB">
                    <a:noFill/>
                  </a:rPr>
                  <a:t> </a:t>
                </a:r>
              </a:p>
            </p:txBody>
          </p:sp>
        </mc:Fallback>
      </mc:AlternateContent>
      <p:pic>
        <p:nvPicPr>
          <p:cNvPr id="6" name="Picture 5" descr="A graph of a normal substance&#10;&#10;Description automatically generated with medium confidence">
            <a:extLst>
              <a:ext uri="{FF2B5EF4-FFF2-40B4-BE49-F238E27FC236}">
                <a16:creationId xmlns:a16="http://schemas.microsoft.com/office/drawing/2014/main" id="{D4780465-B792-8BD1-D4D8-3E60CE1C20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69000" y="1050482"/>
            <a:ext cx="6223000" cy="5807518"/>
          </a:xfrm>
          <a:prstGeom prst="rect">
            <a:avLst/>
          </a:prstGeom>
        </p:spPr>
      </p:pic>
      <p:grpSp>
        <p:nvGrpSpPr>
          <p:cNvPr id="22" name="Group 21">
            <a:extLst>
              <a:ext uri="{FF2B5EF4-FFF2-40B4-BE49-F238E27FC236}">
                <a16:creationId xmlns:a16="http://schemas.microsoft.com/office/drawing/2014/main" id="{2309BE9A-DE44-F233-F077-414A5A4D9CA3}"/>
              </a:ext>
            </a:extLst>
          </p:cNvPr>
          <p:cNvGrpSpPr/>
          <p:nvPr/>
        </p:nvGrpSpPr>
        <p:grpSpPr>
          <a:xfrm>
            <a:off x="7796213" y="1325563"/>
            <a:ext cx="3125787" cy="1736646"/>
            <a:chOff x="7796213" y="1325563"/>
            <a:chExt cx="3125787" cy="1736646"/>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4939551-23B7-B9FE-E1A2-B68772A04C6F}"/>
                    </a:ext>
                  </a:extLst>
                </p:cNvPr>
                <p:cNvSpPr txBox="1"/>
                <p:nvPr/>
              </p:nvSpPr>
              <p:spPr>
                <a:xfrm>
                  <a:off x="8293100" y="1493520"/>
                  <a:ext cx="1144300" cy="408623"/>
                </a:xfrm>
                <a:prstGeom prst="roundRect">
                  <a:avLst/>
                </a:prstGeom>
                <a:solidFill>
                  <a:srgbClr val="000000">
                    <a:alpha val="58824"/>
                  </a:srgbClr>
                </a:solid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𝜎</m:t>
                        </m:r>
                        <m:r>
                          <a:rPr lang="en-GB" b="0" i="1" dirty="0" smtClean="0">
                            <a:latin typeface="Cambria Math" panose="02040503050406030204" pitchFamily="18" charset="0"/>
                          </a:rPr>
                          <m:t>=10.1</m:t>
                        </m:r>
                      </m:oMath>
                    </m:oMathPara>
                  </a14:m>
                  <a:endParaRPr lang="en-GB" dirty="0"/>
                </a:p>
              </p:txBody>
            </p:sp>
          </mc:Choice>
          <mc:Fallback xmlns="">
            <p:sp>
              <p:nvSpPr>
                <p:cNvPr id="9" name="TextBox 8">
                  <a:extLst>
                    <a:ext uri="{FF2B5EF4-FFF2-40B4-BE49-F238E27FC236}">
                      <a16:creationId xmlns:a16="http://schemas.microsoft.com/office/drawing/2014/main" id="{04939551-23B7-B9FE-E1A2-B68772A04C6F}"/>
                    </a:ext>
                  </a:extLst>
                </p:cNvPr>
                <p:cNvSpPr txBox="1">
                  <a:spLocks noRot="1" noChangeAspect="1" noMove="1" noResize="1" noEditPoints="1" noAdjustHandles="1" noChangeArrowheads="1" noChangeShapeType="1" noTextEdit="1"/>
                </p:cNvSpPr>
                <p:nvPr/>
              </p:nvSpPr>
              <p:spPr>
                <a:xfrm>
                  <a:off x="8293100" y="1493520"/>
                  <a:ext cx="1144300" cy="408623"/>
                </a:xfrm>
                <a:prstGeom prst="roundRect">
                  <a:avLst/>
                </a:prstGeom>
                <a:blipFill>
                  <a:blip r:embed="rId5"/>
                  <a:stretch>
                    <a:fillRect/>
                  </a:stretch>
                </a:blipFill>
                <a:ln>
                  <a:solidFill>
                    <a:schemeClr val="tx1"/>
                  </a:solidFill>
                </a:ln>
              </p:spPr>
              <p:txBody>
                <a:bodyPr/>
                <a:lstStyle/>
                <a:p>
                  <a:r>
                    <a:rPr lang="en-GB">
                      <a:noFill/>
                    </a:rPr>
                    <a:t> </a:t>
                  </a:r>
                </a:p>
              </p:txBody>
            </p:sp>
          </mc:Fallback>
        </mc:AlternateContent>
        <p:cxnSp>
          <p:nvCxnSpPr>
            <p:cNvPr id="11" name="Straight Arrow Connector 10">
              <a:extLst>
                <a:ext uri="{FF2B5EF4-FFF2-40B4-BE49-F238E27FC236}">
                  <a16:creationId xmlns:a16="http://schemas.microsoft.com/office/drawing/2014/main" id="{F7D4B2AB-6B67-4241-4EA3-D0B611BADA3C}"/>
                </a:ext>
              </a:extLst>
            </p:cNvPr>
            <p:cNvCxnSpPr>
              <a:cxnSpLocks/>
              <a:stCxn id="9" idx="2"/>
            </p:cNvCxnSpPr>
            <p:nvPr/>
          </p:nvCxnSpPr>
          <p:spPr>
            <a:xfrm flipH="1">
              <a:off x="7796213" y="1902143"/>
              <a:ext cx="1069037" cy="11600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1005FA61-A0A6-47EC-CD1B-98D33C0E2D3E}"/>
                </a:ext>
              </a:extLst>
            </p:cNvPr>
            <p:cNvCxnSpPr>
              <a:cxnSpLocks/>
            </p:cNvCxnSpPr>
            <p:nvPr/>
          </p:nvCxnSpPr>
          <p:spPr>
            <a:xfrm flipH="1">
              <a:off x="8824913" y="1902143"/>
              <a:ext cx="40337" cy="91725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4FFF366-9047-2982-6F3E-BFFF6A782739}"/>
                </a:ext>
              </a:extLst>
            </p:cNvPr>
            <p:cNvCxnSpPr>
              <a:cxnSpLocks/>
              <a:stCxn id="9" idx="3"/>
            </p:cNvCxnSpPr>
            <p:nvPr/>
          </p:nvCxnSpPr>
          <p:spPr>
            <a:xfrm>
              <a:off x="9437400" y="1697832"/>
              <a:ext cx="420975" cy="2547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42ACAC14-2DCF-DE56-2844-AC4E42F60C12}"/>
                </a:ext>
              </a:extLst>
            </p:cNvPr>
            <p:cNvCxnSpPr>
              <a:cxnSpLocks/>
              <a:stCxn id="9" idx="3"/>
            </p:cNvCxnSpPr>
            <p:nvPr/>
          </p:nvCxnSpPr>
          <p:spPr>
            <a:xfrm flipV="1">
              <a:off x="9437400" y="1325563"/>
              <a:ext cx="1484600" cy="3722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7" name="Group 26">
            <a:extLst>
              <a:ext uri="{FF2B5EF4-FFF2-40B4-BE49-F238E27FC236}">
                <a16:creationId xmlns:a16="http://schemas.microsoft.com/office/drawing/2014/main" id="{FFFCB0D9-23C4-C290-8109-567D7DC2C254}"/>
              </a:ext>
            </a:extLst>
          </p:cNvPr>
          <p:cNvGrpSpPr/>
          <p:nvPr/>
        </p:nvGrpSpPr>
        <p:grpSpPr>
          <a:xfrm>
            <a:off x="6030912" y="5188658"/>
            <a:ext cx="1403614" cy="1118640"/>
            <a:chOff x="5969000" y="5221995"/>
            <a:chExt cx="1403614" cy="1118640"/>
          </a:xfrm>
        </p:grpSpPr>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8F177E8-F973-2EB5-5690-7A48D3FD655A}"/>
                    </a:ext>
                  </a:extLst>
                </p:cNvPr>
                <p:cNvSpPr txBox="1"/>
                <p:nvPr/>
              </p:nvSpPr>
              <p:spPr>
                <a:xfrm>
                  <a:off x="5969000" y="5932012"/>
                  <a:ext cx="1403614" cy="408623"/>
                </a:xfrm>
                <a:prstGeom prst="roundRect">
                  <a:avLst/>
                </a:prstGeom>
                <a:solidFill>
                  <a:srgbClr val="000000">
                    <a:alpha val="58824"/>
                  </a:srgbClr>
                </a:solid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0</m:t>
                            </m:r>
                          </m:sub>
                        </m:sSub>
                        <m:r>
                          <a:rPr lang="en-GB" b="0" i="1" dirty="0" smtClean="0">
                            <a:latin typeface="Cambria Math" panose="02040503050406030204" pitchFamily="18" charset="0"/>
                          </a:rPr>
                          <m:t>=</m:t>
                        </m:r>
                        <m:r>
                          <a:rPr lang="en-GB" b="0" i="1" dirty="0" smtClean="0">
                            <a:solidFill>
                              <a:srgbClr val="FFFF00"/>
                            </a:solidFill>
                            <a:latin typeface="Cambria Math" panose="02040503050406030204" pitchFamily="18" charset="0"/>
                          </a:rPr>
                          <m:t>−18.4</m:t>
                        </m:r>
                      </m:oMath>
                    </m:oMathPara>
                  </a14:m>
                  <a:endParaRPr lang="en-GB" dirty="0"/>
                </a:p>
              </p:txBody>
            </p:sp>
          </mc:Choice>
          <mc:Fallback xmlns="">
            <p:sp>
              <p:nvSpPr>
                <p:cNvPr id="7" name="TextBox 6">
                  <a:extLst>
                    <a:ext uri="{FF2B5EF4-FFF2-40B4-BE49-F238E27FC236}">
                      <a16:creationId xmlns:a16="http://schemas.microsoft.com/office/drawing/2014/main" id="{C8F177E8-F973-2EB5-5690-7A48D3FD655A}"/>
                    </a:ext>
                  </a:extLst>
                </p:cNvPr>
                <p:cNvSpPr txBox="1">
                  <a:spLocks noRot="1" noChangeAspect="1" noMove="1" noResize="1" noEditPoints="1" noAdjustHandles="1" noChangeArrowheads="1" noChangeShapeType="1" noTextEdit="1"/>
                </p:cNvSpPr>
                <p:nvPr/>
              </p:nvSpPr>
              <p:spPr>
                <a:xfrm>
                  <a:off x="5969000" y="5932012"/>
                  <a:ext cx="1403614" cy="408623"/>
                </a:xfrm>
                <a:prstGeom prst="roundRect">
                  <a:avLst/>
                </a:prstGeom>
                <a:blipFill>
                  <a:blip r:embed="rId6"/>
                  <a:stretch>
                    <a:fillRect b="-4348"/>
                  </a:stretch>
                </a:blipFill>
                <a:ln>
                  <a:solidFill>
                    <a:schemeClr val="tx1"/>
                  </a:solidFill>
                </a:ln>
              </p:spPr>
              <p:txBody>
                <a:bodyPr/>
                <a:lstStyle/>
                <a:p>
                  <a:r>
                    <a:rPr lang="en-GB">
                      <a:noFill/>
                    </a:rPr>
                    <a:t> </a:t>
                  </a:r>
                </a:p>
              </p:txBody>
            </p:sp>
          </mc:Fallback>
        </mc:AlternateContent>
        <p:cxnSp>
          <p:nvCxnSpPr>
            <p:cNvPr id="23" name="Straight Arrow Connector 22">
              <a:extLst>
                <a:ext uri="{FF2B5EF4-FFF2-40B4-BE49-F238E27FC236}">
                  <a16:creationId xmlns:a16="http://schemas.microsoft.com/office/drawing/2014/main" id="{DE6D3E37-2F85-9150-485A-C55E7D7C7A7A}"/>
                </a:ext>
              </a:extLst>
            </p:cNvPr>
            <p:cNvCxnSpPr>
              <a:cxnSpLocks/>
              <a:stCxn id="7" idx="0"/>
            </p:cNvCxnSpPr>
            <p:nvPr/>
          </p:nvCxnSpPr>
          <p:spPr>
            <a:xfrm flipV="1">
              <a:off x="6670807" y="5221995"/>
              <a:ext cx="0" cy="7100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7" name="Group 36">
            <a:extLst>
              <a:ext uri="{FF2B5EF4-FFF2-40B4-BE49-F238E27FC236}">
                <a16:creationId xmlns:a16="http://schemas.microsoft.com/office/drawing/2014/main" id="{4D36EC59-41DF-8518-5BCD-F6579C873C09}"/>
              </a:ext>
            </a:extLst>
          </p:cNvPr>
          <p:cNvGrpSpPr/>
          <p:nvPr/>
        </p:nvGrpSpPr>
        <p:grpSpPr>
          <a:xfrm>
            <a:off x="9539288" y="3062209"/>
            <a:ext cx="1255523" cy="1754899"/>
            <a:chOff x="9539288" y="3062209"/>
            <a:chExt cx="1255523" cy="1754899"/>
          </a:xfrm>
        </p:grpSpPr>
        <p:grpSp>
          <p:nvGrpSpPr>
            <p:cNvPr id="36" name="Group 35">
              <a:extLst>
                <a:ext uri="{FF2B5EF4-FFF2-40B4-BE49-F238E27FC236}">
                  <a16:creationId xmlns:a16="http://schemas.microsoft.com/office/drawing/2014/main" id="{AC154D2A-4933-B50C-7054-D584295D7F07}"/>
                </a:ext>
              </a:extLst>
            </p:cNvPr>
            <p:cNvGrpSpPr/>
            <p:nvPr/>
          </p:nvGrpSpPr>
          <p:grpSpPr>
            <a:xfrm>
              <a:off x="9539288" y="3062209"/>
              <a:ext cx="709612" cy="419179"/>
              <a:chOff x="9539288" y="3062209"/>
              <a:chExt cx="709612" cy="419179"/>
            </a:xfrm>
          </p:grpSpPr>
          <p:cxnSp>
            <p:nvCxnSpPr>
              <p:cNvPr id="29" name="Straight Connector 28">
                <a:extLst>
                  <a:ext uri="{FF2B5EF4-FFF2-40B4-BE49-F238E27FC236}">
                    <a16:creationId xmlns:a16="http://schemas.microsoft.com/office/drawing/2014/main" id="{0A41B4A6-BAE0-D3FA-77A2-3502701FF713}"/>
                  </a:ext>
                </a:extLst>
              </p:cNvPr>
              <p:cNvCxnSpPr/>
              <p:nvPr/>
            </p:nvCxnSpPr>
            <p:spPr>
              <a:xfrm>
                <a:off x="9539288" y="3481388"/>
                <a:ext cx="70485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964094C-DAD7-BC4D-A66C-1FBCDD41DA14}"/>
                  </a:ext>
                </a:extLst>
              </p:cNvPr>
              <p:cNvCxnSpPr/>
              <p:nvPr/>
            </p:nvCxnSpPr>
            <p:spPr>
              <a:xfrm flipV="1">
                <a:off x="10248900" y="3062209"/>
                <a:ext cx="0" cy="4144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CE7066A1-E4F1-4A32-C136-885D1CF4AADC}"/>
                </a:ext>
              </a:extLst>
            </p:cNvPr>
            <p:cNvGrpSpPr/>
            <p:nvPr/>
          </p:nvGrpSpPr>
          <p:grpSpPr>
            <a:xfrm>
              <a:off x="9693465" y="3476625"/>
              <a:ext cx="1101346" cy="1340483"/>
              <a:chOff x="9693465" y="3476625"/>
              <a:chExt cx="1101346" cy="1340483"/>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3DACF1D-66A3-DD23-A1AA-CAA3FBF478A7}"/>
                      </a:ext>
                    </a:extLst>
                  </p:cNvPr>
                  <p:cNvSpPr txBox="1"/>
                  <p:nvPr/>
                </p:nvSpPr>
                <p:spPr>
                  <a:xfrm>
                    <a:off x="9693465" y="4408485"/>
                    <a:ext cx="1101346" cy="408623"/>
                  </a:xfrm>
                  <a:prstGeom prst="roundRect">
                    <a:avLst/>
                  </a:prstGeom>
                  <a:solidFill>
                    <a:srgbClr val="000000">
                      <a:alpha val="58824"/>
                    </a:srgbClr>
                  </a:solid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m:t>
                          </m:r>
                          <m:r>
                            <a:rPr lang="en-GB" b="0" i="1" dirty="0" smtClean="0">
                              <a:solidFill>
                                <a:srgbClr val="FFFF00"/>
                              </a:solidFill>
                              <a:latin typeface="Cambria Math" panose="02040503050406030204" pitchFamily="18" charset="0"/>
                            </a:rPr>
                            <m:t>9.6</m:t>
                          </m:r>
                        </m:oMath>
                      </m:oMathPara>
                    </a14:m>
                    <a:endParaRPr lang="en-GB" dirty="0"/>
                  </a:p>
                </p:txBody>
              </p:sp>
            </mc:Choice>
            <mc:Fallback xmlns="">
              <p:sp>
                <p:nvSpPr>
                  <p:cNvPr id="8" name="TextBox 7">
                    <a:extLst>
                      <a:ext uri="{FF2B5EF4-FFF2-40B4-BE49-F238E27FC236}">
                        <a16:creationId xmlns:a16="http://schemas.microsoft.com/office/drawing/2014/main" id="{63DACF1D-66A3-DD23-A1AA-CAA3FBF478A7}"/>
                      </a:ext>
                    </a:extLst>
                  </p:cNvPr>
                  <p:cNvSpPr txBox="1">
                    <a:spLocks noRot="1" noChangeAspect="1" noMove="1" noResize="1" noEditPoints="1" noAdjustHandles="1" noChangeArrowheads="1" noChangeShapeType="1" noTextEdit="1"/>
                  </p:cNvSpPr>
                  <p:nvPr/>
                </p:nvSpPr>
                <p:spPr>
                  <a:xfrm>
                    <a:off x="9693465" y="4408485"/>
                    <a:ext cx="1101346" cy="408623"/>
                  </a:xfrm>
                  <a:prstGeom prst="roundRect">
                    <a:avLst/>
                  </a:prstGeom>
                  <a:blipFill>
                    <a:blip r:embed="rId7"/>
                    <a:stretch>
                      <a:fillRect b="-5797"/>
                    </a:stretch>
                  </a:blipFill>
                  <a:ln>
                    <a:solidFill>
                      <a:schemeClr val="tx1"/>
                    </a:solidFill>
                  </a:ln>
                </p:spPr>
                <p:txBody>
                  <a:bodyPr/>
                  <a:lstStyle/>
                  <a:p>
                    <a:r>
                      <a:rPr lang="en-GB">
                        <a:noFill/>
                      </a:rPr>
                      <a:t> </a:t>
                    </a:r>
                  </a:p>
                </p:txBody>
              </p:sp>
            </mc:Fallback>
          </mc:AlternateContent>
          <p:cxnSp>
            <p:nvCxnSpPr>
              <p:cNvPr id="33" name="Straight Arrow Connector 32">
                <a:extLst>
                  <a:ext uri="{FF2B5EF4-FFF2-40B4-BE49-F238E27FC236}">
                    <a16:creationId xmlns:a16="http://schemas.microsoft.com/office/drawing/2014/main" id="{BCFE3D83-A39F-7C96-75FE-70E9AD615D93}"/>
                  </a:ext>
                </a:extLst>
              </p:cNvPr>
              <p:cNvCxnSpPr>
                <a:cxnSpLocks/>
                <a:stCxn id="8" idx="0"/>
              </p:cNvCxnSpPr>
              <p:nvPr/>
            </p:nvCxnSpPr>
            <p:spPr>
              <a:xfrm flipV="1">
                <a:off x="10244138" y="3476625"/>
                <a:ext cx="0" cy="93186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675111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500"/>
                                        <p:tgtEl>
                                          <p:spTgt spid="3">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5" end="5"/>
                                            </p:txEl>
                                          </p:spTgt>
                                        </p:tgtEl>
                                        <p:attrNameLst>
                                          <p:attrName>style.visibility</p:attrName>
                                        </p:attrNameLst>
                                      </p:cBhvr>
                                      <p:to>
                                        <p:strVal val="visible"/>
                                      </p:to>
                                    </p:set>
                                    <p:animEffect transition="in" filter="fade">
                                      <p:cBhvr>
                                        <p:cTn id="12" dur="500"/>
                                        <p:tgtEl>
                                          <p:spTgt spid="3">
                                            <p:txEl>
                                              <p:pRg st="5" end="5"/>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animEffect transition="in" filter="fade">
                                      <p:cBhvr>
                                        <p:cTn id="15" dur="500"/>
                                        <p:tgtEl>
                                          <p:spTgt spid="3">
                                            <p:txEl>
                                              <p:pRg st="6" end="6"/>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par>
                                <p:cTn id="21" presetID="10"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500"/>
                                        <p:tgtEl>
                                          <p:spTgt spid="2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500"/>
                                        <p:tgtEl>
                                          <p:spTgt spid="27"/>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7"/>
                                        </p:tgtEl>
                                        <p:attrNameLst>
                                          <p:attrName>style.visibility</p:attrName>
                                        </p:attrNameLst>
                                      </p:cBhvr>
                                      <p:to>
                                        <p:strVal val="visible"/>
                                      </p:to>
                                    </p:set>
                                    <p:animEffect transition="in" filter="fade">
                                      <p:cBhvr>
                                        <p:cTn id="33"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Stochastic element</a:t>
            </a:r>
          </a:p>
        </p:txBody>
      </p:sp>
    </p:spTree>
    <p:extLst>
      <p:ext uri="{BB962C8B-B14F-4D97-AF65-F5344CB8AC3E}">
        <p14:creationId xmlns:p14="http://schemas.microsoft.com/office/powerpoint/2010/main" val="4257438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Allowing suitable randomness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46185" y="1619249"/>
                <a:ext cx="5583115" cy="4962525"/>
              </a:xfrm>
            </p:spPr>
            <p:txBody>
              <a:bodyPr>
                <a:normAutofit fontScale="92500" lnSpcReduction="10000"/>
              </a:bodyPr>
              <a:lstStyle/>
              <a:p>
                <a:pPr marL="0" indent="0" algn="ctr">
                  <a:buNone/>
                </a:pPr>
                <a14:m>
                  <m:oMathPara xmlns:m="http://schemas.openxmlformats.org/officeDocument/2006/math">
                    <m:oMathParaPr>
                      <m:jc m:val="center"/>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b="0" i="1" dirty="0" smtClean="0">
                              <a:latin typeface="Cambria Math" panose="02040503050406030204" pitchFamily="18" charset="0"/>
                            </a:rPr>
                            <m:t>𝑖</m:t>
                          </m:r>
                        </m:sub>
                      </m:sSub>
                      <m:r>
                        <a:rPr lang="en-GB" i="1" dirty="0" smtClean="0">
                          <a:latin typeface="Cambria Math" panose="02040503050406030204" pitchFamily="18" charset="0"/>
                        </a:rPr>
                        <m:t>∼</m:t>
                      </m:r>
                      <m:r>
                        <a:rPr lang="en-GB" i="1" dirty="0" smtClean="0">
                          <a:solidFill>
                            <a:srgbClr val="FFFF00"/>
                          </a:solidFill>
                          <a:latin typeface="Cambria Math" panose="02040503050406030204" pitchFamily="18" charset="0"/>
                        </a:rPr>
                        <m:t>𝐷𝑖𝑠𝑡𝑟𝑖𝑏𝑢𝑡𝑖𝑜𝑛</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𝜃</m:t>
                          </m:r>
                        </m:e>
                        <m:sub>
                          <m:r>
                            <a:rPr lang="en-GB" b="0" i="1" dirty="0" smtClean="0">
                              <a:latin typeface="Cambria Math" panose="02040503050406030204" pitchFamily="18" charset="0"/>
                            </a:rPr>
                            <m:t>𝑖</m:t>
                          </m:r>
                        </m:sub>
                      </m:sSub>
                      <m:r>
                        <a:rPr lang="en-GB" i="1" dirty="0" smtClean="0">
                          <a:latin typeface="Cambria Math" panose="02040503050406030204" pitchFamily="18" charset="0"/>
                        </a:rPr>
                        <m:t>)</m:t>
                      </m:r>
                    </m:oMath>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𝜃</m:t>
                          </m:r>
                        </m:e>
                        <m:sub>
                          <m:r>
                            <a:rPr lang="en-GB" b="0" i="1" dirty="0" smtClean="0">
                              <a:latin typeface="Cambria Math" panose="02040503050406030204" pitchFamily="18" charset="0"/>
                            </a:rPr>
                            <m:t>𝑖</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0</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m:rPr>
                              <m:sty m:val="p"/>
                            </m:rPr>
                            <a:rPr lang="en-GB" b="0" i="0" dirty="0" smtClean="0">
                              <a:latin typeface="Cambria Math" panose="02040503050406030204" pitchFamily="18" charset="0"/>
                            </a:rPr>
                            <m:t>X</m:t>
                          </m:r>
                        </m:e>
                        <m:sub>
                          <m:r>
                            <m:rPr>
                              <m:sty m:val="p"/>
                            </m:rPr>
                            <a:rPr lang="en-GB" b="0" i="0" dirty="0" smtClean="0">
                              <a:latin typeface="Cambria Math" panose="02040503050406030204" pitchFamily="18" charset="0"/>
                            </a:rPr>
                            <m:t>i</m:t>
                          </m:r>
                        </m:sub>
                      </m:sSub>
                    </m:oMath>
                  </m:oMathPara>
                </a14:m>
                <a:endParaRPr lang="en-GB" dirty="0"/>
              </a:p>
              <a:p>
                <a:r>
                  <a:rPr lang="en-GB" dirty="0">
                    <a:latin typeface="Bahnschrift Light" panose="020B0502040204020203" pitchFamily="34" charset="0"/>
                  </a:rPr>
                  <a:t>Distributions determine how “randomness” around the prediction works</a:t>
                </a:r>
              </a:p>
              <a:p>
                <a:r>
                  <a:rPr lang="en-GB" dirty="0">
                    <a:latin typeface="Bahnschrift Light" panose="020B0502040204020203" pitchFamily="34" charset="0"/>
                  </a:rPr>
                  <a:t>Most distributions are not described with mean and variance parameters as in </a:t>
                </a:r>
                <a14:m>
                  <m:oMath xmlns:m="http://schemas.openxmlformats.org/officeDocument/2006/math">
                    <m:r>
                      <a:rPr lang="en-GB" i="1">
                        <a:latin typeface="Cambria Math" panose="02040503050406030204" pitchFamily="18" charset="0"/>
                      </a:rPr>
                      <m:t>𝑁𝑜𝑟𝑚𝑎𝑙</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𝜇</m:t>
                        </m:r>
                      </m:e>
                      <m:sub>
                        <m:r>
                          <a:rPr lang="en-GB" i="1">
                            <a:latin typeface="Cambria Math" panose="02040503050406030204" pitchFamily="18" charset="0"/>
                          </a:rPr>
                          <m:t>𝑖</m:t>
                        </m:r>
                      </m:sub>
                    </m:sSub>
                    <m:r>
                      <a:rPr lang="en-GB" i="1">
                        <a:latin typeface="Cambria Math" panose="02040503050406030204" pitchFamily="18" charset="0"/>
                      </a:rPr>
                      <m:t>, </m:t>
                    </m:r>
                    <m:sSub>
                      <m:sSubPr>
                        <m:ctrlPr>
                          <a:rPr lang="en-GB" i="1">
                            <a:latin typeface="Cambria Math" panose="02040503050406030204" pitchFamily="18" charset="0"/>
                          </a:rPr>
                        </m:ctrlPr>
                      </m:sSubPr>
                      <m:e>
                        <m:r>
                          <a:rPr lang="en-GB" i="1">
                            <a:latin typeface="Cambria Math" panose="02040503050406030204" pitchFamily="18" charset="0"/>
                          </a:rPr>
                          <m:t>𝜎</m:t>
                        </m:r>
                      </m:e>
                      <m:sub>
                        <m:r>
                          <a:rPr lang="en-GB" i="1">
                            <a:latin typeface="Cambria Math" panose="02040503050406030204" pitchFamily="18" charset="0"/>
                          </a:rPr>
                          <m:t>𝑖</m:t>
                        </m:r>
                      </m:sub>
                    </m:sSub>
                    <m:r>
                      <a:rPr lang="en-GB" i="1">
                        <a:latin typeface="Cambria Math" panose="02040503050406030204" pitchFamily="18" charset="0"/>
                      </a:rPr>
                      <m:t>)</m:t>
                    </m:r>
                  </m:oMath>
                </a14:m>
                <a:endParaRPr lang="en-GB" dirty="0">
                  <a:latin typeface="Bahnschrift Light" panose="020B0502040204020203" pitchFamily="34" charset="0"/>
                </a:endParaRPr>
              </a:p>
              <a:p>
                <a:pPr lvl="1"/>
                <a:r>
                  <a:rPr lang="en-GB" dirty="0">
                    <a:latin typeface="Bahnschrift Light" panose="020B0502040204020203" pitchFamily="34" charset="0"/>
                  </a:rPr>
                  <a:t>Some might have just one (e.g. </a:t>
                </a:r>
                <a14:m>
                  <m:oMath xmlns:m="http://schemas.openxmlformats.org/officeDocument/2006/math">
                    <m:r>
                      <a:rPr lang="en-GB" i="1">
                        <a:latin typeface="Cambria Math" panose="02040503050406030204" pitchFamily="18" charset="0"/>
                      </a:rPr>
                      <m:t>𝑃𝑜𝑖𝑠𝑠𝑜𝑛</m:t>
                    </m:r>
                  </m:oMath>
                </a14:m>
                <a:r>
                  <a:rPr lang="en-GB" dirty="0">
                    <a:latin typeface="Bahnschrift Light" panose="020B0502040204020203" pitchFamily="34" charset="0"/>
                  </a:rPr>
                  <a:t>), others may have multiple (e.g. </a:t>
                </a:r>
                <a14:m>
                  <m:oMath xmlns:m="http://schemas.openxmlformats.org/officeDocument/2006/math">
                    <m:r>
                      <a:rPr lang="en-GB" i="1">
                        <a:latin typeface="Cambria Math" panose="02040503050406030204" pitchFamily="18" charset="0"/>
                      </a:rPr>
                      <m:t>𝑇𝑤𝑒𝑒𝑑𝑖𝑒</m:t>
                    </m:r>
                  </m:oMath>
                </a14:m>
                <a:r>
                  <a:rPr lang="en-GB" dirty="0">
                    <a:latin typeface="Bahnschrift Light" panose="020B0502040204020203" pitchFamily="34" charset="0"/>
                  </a:rPr>
                  <a:t>)</a:t>
                </a:r>
              </a:p>
              <a:p>
                <a:r>
                  <a:rPr lang="en-GB" dirty="0">
                    <a:latin typeface="Bahnschrift Light" panose="020B0502040204020203" pitchFamily="34" charset="0"/>
                  </a:rPr>
                  <a:t>Often, we refer to the collection of parameters as </a:t>
                </a:r>
                <a14:m>
                  <m:oMath xmlns:m="http://schemas.openxmlformats.org/officeDocument/2006/math">
                    <m:r>
                      <a:rPr lang="en-GB" i="1">
                        <a:latin typeface="Cambria Math" panose="02040503050406030204" pitchFamily="18" charset="0"/>
                      </a:rPr>
                      <m:t>𝜃</m:t>
                    </m:r>
                  </m:oMath>
                </a14:m>
                <a:endParaRPr lang="en-GB" dirty="0">
                  <a:latin typeface="Bahnschrift Light" panose="020B0502040204020203" pitchFamily="34" charset="0"/>
                </a:endParaRPr>
              </a:p>
            </p:txBody>
          </p:sp>
        </mc:Choice>
        <mc:Fallback xmlns="">
          <p:sp>
            <p:nvSpPr>
              <p:cNvPr id="3" name="Content Placeholder 2">
                <a:extLst>
                  <a:ext uri="{FF2B5EF4-FFF2-40B4-BE49-F238E27FC236}">
                    <a16:creationId xmlns:a16="http://schemas.microsoft.com/office/drawing/2014/main" id="{53CFBA6F-FFE0-43B0-753F-6E3B955C3570}"/>
                  </a:ext>
                </a:extLst>
              </p:cNvPr>
              <p:cNvSpPr>
                <a:spLocks noGrp="1" noRot="1" noChangeAspect="1" noMove="1" noResize="1" noEditPoints="1" noAdjustHandles="1" noChangeArrowheads="1" noChangeShapeType="1" noTextEdit="1"/>
              </p:cNvSpPr>
              <p:nvPr>
                <p:ph idx="1"/>
              </p:nvPr>
            </p:nvSpPr>
            <p:spPr>
              <a:xfrm>
                <a:off x="246185" y="1619249"/>
                <a:ext cx="5583115" cy="4962525"/>
              </a:xfrm>
              <a:blipFill>
                <a:blip r:embed="rId2"/>
                <a:stretch>
                  <a:fillRect l="-1638" r="-1638"/>
                </a:stretch>
              </a:blipFill>
            </p:spPr>
            <p:txBody>
              <a:bodyPr/>
              <a:lstStyle/>
              <a:p>
                <a:r>
                  <a:rPr lang="en-GB">
                    <a:noFill/>
                  </a:rPr>
                  <a:t> </a:t>
                </a:r>
              </a:p>
            </p:txBody>
          </p:sp>
        </mc:Fallback>
      </mc:AlternateContent>
      <p:pic>
        <p:nvPicPr>
          <p:cNvPr id="8" name="Picture 7" descr="A group of graphs with numbers and symbols&#10;&#10;Description automatically generated with medium confidence">
            <a:extLst>
              <a:ext uri="{FF2B5EF4-FFF2-40B4-BE49-F238E27FC236}">
                <a16:creationId xmlns:a16="http://schemas.microsoft.com/office/drawing/2014/main" id="{CFD20235-6DF1-A1F0-DB8E-A10C0E56D1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7015" y="1101969"/>
            <a:ext cx="5638800" cy="5638800"/>
          </a:xfrm>
          <a:prstGeom prst="rect">
            <a:avLst/>
          </a:prstGeom>
        </p:spPr>
      </p:pic>
    </p:spTree>
    <p:extLst>
      <p:ext uri="{BB962C8B-B14F-4D97-AF65-F5344CB8AC3E}">
        <p14:creationId xmlns:p14="http://schemas.microsoft.com/office/powerpoint/2010/main" val="1819049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1825625"/>
            <a:ext cx="4991100" cy="4351338"/>
          </a:xfrm>
        </p:spPr>
        <p:txBody>
          <a:bodyPr>
            <a:normAutofit/>
          </a:bodyPr>
          <a:lstStyle/>
          <a:p>
            <a:r>
              <a:rPr lang="en-GB" dirty="0">
                <a:latin typeface="Bahnschrift Light" panose="020B0502040204020203" pitchFamily="34" charset="0"/>
              </a:rPr>
              <a:t>Don’t plot histograms of your response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a:p>
            <a:pPr lvl="1"/>
            <a:r>
              <a:rPr lang="en-GB" dirty="0">
                <a:latin typeface="Bahnschrift Light" panose="020B0502040204020203" pitchFamily="34" charset="0"/>
              </a:rPr>
              <a:t>Of the distributions I know of, which one best describes my data?</a:t>
            </a:r>
          </a:p>
          <a:p>
            <a:endParaRPr lang="en-GB" dirty="0">
              <a:latin typeface="Bahnschrift Light" panose="020B0502040204020203" pitchFamily="34" charset="0"/>
            </a:endParaRPr>
          </a:p>
        </p:txBody>
      </p:sp>
      <p:grpSp>
        <p:nvGrpSpPr>
          <p:cNvPr id="15" name="Group 14">
            <a:extLst>
              <a:ext uri="{FF2B5EF4-FFF2-40B4-BE49-F238E27FC236}">
                <a16:creationId xmlns:a16="http://schemas.microsoft.com/office/drawing/2014/main" id="{2E1015B8-CAAC-6E4B-4D6B-1016A783F1EA}"/>
              </a:ext>
            </a:extLst>
          </p:cNvPr>
          <p:cNvGrpSpPr/>
          <p:nvPr/>
        </p:nvGrpSpPr>
        <p:grpSpPr>
          <a:xfrm>
            <a:off x="6991152" y="3059668"/>
            <a:ext cx="4024611" cy="3114676"/>
            <a:chOff x="6991152" y="3059668"/>
            <a:chExt cx="4024611" cy="3114676"/>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xmlns="">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xmlns="">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a:stretch>
                </a:blipFill>
              </p:spPr>
              <p:txBody>
                <a:bodyPr/>
                <a:lstStyle/>
                <a:p>
                  <a:r>
                    <a:rPr lang="en-GB">
                      <a:noFill/>
                    </a:rPr>
                    <a:t> </a:t>
                  </a:r>
                </a:p>
              </p:txBody>
            </p:sp>
          </mc:Fallback>
        </mc:AlternateContent>
      </p:grpSp>
    </p:spTree>
    <p:extLst>
      <p:ext uri="{BB962C8B-B14F-4D97-AF65-F5344CB8AC3E}">
        <p14:creationId xmlns:p14="http://schemas.microsoft.com/office/powerpoint/2010/main" val="266186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fade">
                                      <p:cBhvr>
                                        <p:cTn id="22" dur="500"/>
                                        <p:tgtEl>
                                          <p:spTgt spid="3">
                                            <p:txEl>
                                              <p:pRg st="1" end="1"/>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Deterministic element</a:t>
            </a:r>
          </a:p>
        </p:txBody>
      </p:sp>
    </p:spTree>
    <p:extLst>
      <p:ext uri="{BB962C8B-B14F-4D97-AF65-F5344CB8AC3E}">
        <p14:creationId xmlns:p14="http://schemas.microsoft.com/office/powerpoint/2010/main" val="2200621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93713"/>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9830" y="1723900"/>
            <a:ext cx="1490825"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a:off x="2515897" y="670714"/>
            <a:ext cx="2845718" cy="1538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447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Did you drink coffee this morning?</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325564"/>
            <a:ext cx="6730412" cy="5091304"/>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Utterly trivial and simple question.</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yes or no (1 or 0).</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did you drink coffee (or not)?</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There is some unknown probability, bound between 0% and 100%, that you will drink coffee,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951274" cy="1209171"/>
            <a:chOff x="7521390" y="5157239"/>
            <a:chExt cx="3951274"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951274"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𝐷𝑖𝑠𝑡𝑟𝑖𝑏𝑢𝑡𝑖𝑜𝑛</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𝜃</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951274"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2100575"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𝑔</m:t>
                            </m:r>
                            <m:r>
                              <a:rPr lang="en-GB" sz="3200" b="0" i="1" smtClean="0">
                                <a:latin typeface="Cambria Math" panose="02040503050406030204" pitchFamily="18" charset="0"/>
                              </a:rPr>
                              <m:t>(</m:t>
                            </m:r>
                            <m:r>
                              <a:rPr lang="en-GB" sz="3200" b="0" i="1" smtClean="0">
                                <a:latin typeface="Cambria Math" panose="02040503050406030204" pitchFamily="18" charset="0"/>
                              </a:rPr>
                              <m:t>𝜃</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m:t>
                        </m:r>
                        <m:r>
                          <a:rPr lang="en-US" sz="3200" b="0" i="1" smtClean="0">
                            <a:latin typeface="Cambria Math" panose="02040503050406030204" pitchFamily="18" charset="0"/>
                          </a:rPr>
                          <m:t>=</m:t>
                        </m:r>
                        <m:r>
                          <a:rPr lang="en-US" sz="3200" b="0" i="1" smtClean="0">
                            <a:latin typeface="Cambria Math" panose="02040503050406030204" pitchFamily="18" charset="0"/>
                          </a:rPr>
                          <m:t>𝑋</m:t>
                        </m:r>
                        <m:r>
                          <a:rPr lang="en-US" sz="3200" b="0" i="1" smtClean="0">
                            <a:latin typeface="Cambria Math" panose="02040503050406030204" pitchFamily="18" charset="0"/>
                          </a:rPr>
                          <m:t>𝛽</m:t>
                        </m:r>
                      </m:oMath>
                    </m:oMathPara>
                  </a14:m>
                  <a:endParaRPr lang="en-GB" sz="3200" dirty="0"/>
                </a:p>
              </p:txBody>
            </p:sp>
          </mc:Choice>
          <mc:Fallback xmlns="">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2100575" cy="492443"/>
                </a:xfrm>
                <a:prstGeom prst="rect">
                  <a:avLst/>
                </a:prstGeom>
                <a:blipFill>
                  <a:blip r:embed="rId5"/>
                  <a:stretch>
                    <a:fillRect/>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562226" y="4542797"/>
            <a:ext cx="8801796" cy="1823613"/>
            <a:chOff x="2573693" y="4542797"/>
            <a:chExt cx="5857249" cy="1823613"/>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8006009" y="5216606"/>
              <a:ext cx="424933"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2573693" y="4542797"/>
              <a:ext cx="3953646" cy="1823613"/>
              <a:chOff x="2573693" y="4542797"/>
              <a:chExt cx="3953646" cy="1823613"/>
            </a:xfrm>
          </p:grpSpPr>
          <p:sp>
            <p:nvSpPr>
              <p:cNvPr id="42" name="Rectangle 41">
                <a:extLst>
                  <a:ext uri="{FF2B5EF4-FFF2-40B4-BE49-F238E27FC236}">
                    <a16:creationId xmlns:a16="http://schemas.microsoft.com/office/drawing/2014/main" id="{E722088A-DBD5-4BA8-BFEF-8E71175E1F26}"/>
                  </a:ext>
                </a:extLst>
              </p:cNvPr>
              <p:cNvSpPr/>
              <p:nvPr/>
            </p:nvSpPr>
            <p:spPr>
              <a:xfrm>
                <a:off x="2573693" y="4542797"/>
                <a:ext cx="2191012"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6086813" y="5873967"/>
                <a:ext cx="440526"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219767" y="5694554"/>
            <a:ext cx="9380622" cy="752481"/>
            <a:chOff x="-1394018" y="5988544"/>
            <a:chExt cx="9380622" cy="752481"/>
          </a:xfrm>
        </p:grpSpPr>
        <p:sp>
          <p:nvSpPr>
            <p:cNvPr id="43" name="Rectangle 42">
              <a:extLst>
                <a:ext uri="{FF2B5EF4-FFF2-40B4-BE49-F238E27FC236}">
                  <a16:creationId xmlns:a16="http://schemas.microsoft.com/office/drawing/2014/main" id="{ED52917F-8F6B-4630-81DC-4B6013FD7F93}"/>
                </a:ext>
              </a:extLst>
            </p:cNvPr>
            <p:cNvSpPr/>
            <p:nvPr/>
          </p:nvSpPr>
          <p:spPr>
            <a:xfrm>
              <a:off x="-1394018" y="5988544"/>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7345328" y="6170369"/>
              <a:ext cx="641276"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3603852" y="2214368"/>
            <a:ext cx="7102065" cy="3443603"/>
            <a:chOff x="1361083" y="2566335"/>
            <a:chExt cx="7102065" cy="3443603"/>
          </a:xfrm>
        </p:grpSpPr>
        <p:sp>
          <p:nvSpPr>
            <p:cNvPr id="41" name="Rectangle 40">
              <a:extLst>
                <a:ext uri="{FF2B5EF4-FFF2-40B4-BE49-F238E27FC236}">
                  <a16:creationId xmlns:a16="http://schemas.microsoft.com/office/drawing/2014/main" id="{5311F149-F812-43A0-B4C5-75BFF1102750}"/>
                </a:ext>
              </a:extLst>
            </p:cNvPr>
            <p:cNvSpPr/>
            <p:nvPr/>
          </p:nvSpPr>
          <p:spPr>
            <a:xfrm>
              <a:off x="1361083" y="2566335"/>
              <a:ext cx="2701697"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227791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8" name="Group 7">
            <a:extLst>
              <a:ext uri="{FF2B5EF4-FFF2-40B4-BE49-F238E27FC236}">
                <a16:creationId xmlns:a16="http://schemas.microsoft.com/office/drawing/2014/main" id="{AE69B03F-8107-EC1C-CFCC-8C6EF0332700}"/>
              </a:ext>
            </a:extLst>
          </p:cNvPr>
          <p:cNvGrpSpPr/>
          <p:nvPr/>
        </p:nvGrpSpPr>
        <p:grpSpPr>
          <a:xfrm>
            <a:off x="247828" y="4921929"/>
            <a:ext cx="7582704" cy="1444481"/>
            <a:chOff x="247828" y="4921929"/>
            <a:chExt cx="7582704" cy="1444481"/>
          </a:xfrm>
        </p:grpSpPr>
        <p:sp>
          <p:nvSpPr>
            <p:cNvPr id="3" name="Rectangle 2">
              <a:extLst>
                <a:ext uri="{FF2B5EF4-FFF2-40B4-BE49-F238E27FC236}">
                  <a16:creationId xmlns:a16="http://schemas.microsoft.com/office/drawing/2014/main" id="{B6D3EF2C-CAFC-C34D-14A3-2593E5C92602}"/>
                </a:ext>
              </a:extLst>
            </p:cNvPr>
            <p:cNvSpPr/>
            <p:nvPr/>
          </p:nvSpPr>
          <p:spPr>
            <a:xfrm>
              <a:off x="247828" y="4921929"/>
              <a:ext cx="4486542" cy="329521"/>
            </a:xfrm>
            <a:prstGeom prst="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Rounded Corners 5">
              <a:extLst>
                <a:ext uri="{FF2B5EF4-FFF2-40B4-BE49-F238E27FC236}">
                  <a16:creationId xmlns:a16="http://schemas.microsoft.com/office/drawing/2014/main" id="{3BCE1F98-8300-5DE4-2B7B-AC4DF36A1D67}"/>
                </a:ext>
              </a:extLst>
            </p:cNvPr>
            <p:cNvSpPr/>
            <p:nvPr/>
          </p:nvSpPr>
          <p:spPr>
            <a:xfrm>
              <a:off x="7538117" y="5873967"/>
              <a:ext cx="292415" cy="492443"/>
            </a:xfrm>
            <a:prstGeom prst="round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10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2" end="2"/>
                                            </p:txEl>
                                          </p:spTgt>
                                        </p:tgtEl>
                                        <p:attrNameLst>
                                          <p:attrName>style.visibility</p:attrName>
                                        </p:attrNameLst>
                                      </p:cBhvr>
                                      <p:to>
                                        <p:strVal val="visible"/>
                                      </p:to>
                                    </p:set>
                                    <p:animEffect transition="in" filter="fade">
                                      <p:cBhvr>
                                        <p:cTn id="12" dur="1000"/>
                                        <p:tgtEl>
                                          <p:spTgt spid="32">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4" end="4"/>
                                            </p:txEl>
                                          </p:spTgt>
                                        </p:tgtEl>
                                        <p:attrNameLst>
                                          <p:attrName>style.visibility</p:attrName>
                                        </p:attrNameLst>
                                      </p:cBhvr>
                                      <p:to>
                                        <p:strVal val="visible"/>
                                      </p:to>
                                    </p:set>
                                    <p:animEffect transition="in" filter="fade">
                                      <p:cBhvr>
                                        <p:cTn id="17" dur="1000"/>
                                        <p:tgtEl>
                                          <p:spTgt spid="32">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xEl>
                                              <p:pRg st="6" end="6"/>
                                            </p:txEl>
                                          </p:spTgt>
                                        </p:tgtEl>
                                        <p:attrNameLst>
                                          <p:attrName>style.visibility</p:attrName>
                                        </p:attrNameLst>
                                      </p:cBhvr>
                                      <p:to>
                                        <p:strVal val="visible"/>
                                      </p:to>
                                    </p:set>
                                    <p:animEffect transition="in" filter="fade">
                                      <p:cBhvr>
                                        <p:cTn id="22" dur="1000"/>
                                        <p:tgtEl>
                                          <p:spTgt spid="32">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
                                        </p:tgtEl>
                                        <p:attrNameLst>
                                          <p:attrName>style.visibility</p:attrName>
                                        </p:attrNameLst>
                                      </p:cBhvr>
                                      <p:to>
                                        <p:strVal val="visible"/>
                                      </p:to>
                                    </p:set>
                                    <p:animEffect transition="in" filter="fade">
                                      <p:cBhvr>
                                        <p:cTn id="47" dur="500"/>
                                        <p:tgtEl>
                                          <p:spTgt spid="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C84C8C-81BE-A577-C0EA-A9FA3670B4EC}"/>
              </a:ext>
            </a:extLst>
          </p:cNvPr>
          <p:cNvSpPr>
            <a:spLocks noGrp="1"/>
          </p:cNvSpPr>
          <p:nvPr>
            <p:ph type="title"/>
          </p:nvPr>
        </p:nvSpPr>
        <p:spPr/>
        <p:txBody>
          <a:bodyPr/>
          <a:lstStyle/>
          <a:p>
            <a:r>
              <a:rPr lang="en-GB" dirty="0"/>
              <a:t>Bringing it together</a:t>
            </a:r>
          </a:p>
        </p:txBody>
      </p:sp>
    </p:spTree>
    <p:extLst>
      <p:ext uri="{BB962C8B-B14F-4D97-AF65-F5344CB8AC3E}">
        <p14:creationId xmlns:p14="http://schemas.microsoft.com/office/powerpoint/2010/main" val="1966689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68FD3-7BCC-9E92-755E-5E4042D88E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E2E492-C309-AE80-0A5A-C913478D008E}"/>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Stochastic and deterministic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FB225-C157-471D-970C-0D20B92D1711}"/>
                  </a:ext>
                </a:extLst>
              </p:cNvPr>
              <p:cNvSpPr>
                <a:spLocks noGrp="1"/>
              </p:cNvSpPr>
              <p:nvPr>
                <p:ph idx="1"/>
              </p:nvPr>
            </p:nvSpPr>
            <p:spPr>
              <a:xfrm>
                <a:off x="1076326" y="1333981"/>
                <a:ext cx="3680637" cy="471338"/>
              </a:xfrm>
            </p:spPr>
            <p:txBody>
              <a:bodyPr>
                <a:normAutofit fontScale="92500"/>
              </a:bodyPr>
              <a:lstStyle/>
              <a:p>
                <a:pPr marL="0" indent="0">
                  <a:buNone/>
                </a:pPr>
                <a14:m>
                  <m:oMathPara xmlns:m="http://schemas.openxmlformats.org/officeDocument/2006/math">
                    <m:oMathParaPr>
                      <m:jc m:val="center"/>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𝐷𝑖𝑠𝑡𝑟𝑖𝑏𝑢𝑡𝑖𝑜𝑛</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b="0" i="1" smtClean="0">
                                  <a:latin typeface="Cambria Math" panose="02040503050406030204" pitchFamily="18" charset="0"/>
                                </a:rPr>
                                <m:t>𝜃</m:t>
                              </m:r>
                            </m:e>
                            <m:sub>
                              <m:r>
                                <a:rPr lang="en-GB" i="1">
                                  <a:latin typeface="Cambria Math" panose="02040503050406030204" pitchFamily="18" charset="0"/>
                                </a:rPr>
                                <m:t>𝑖</m:t>
                              </m:r>
                            </m:sub>
                          </m:sSub>
                        </m:e>
                      </m:d>
                    </m:oMath>
                  </m:oMathPara>
                </a14:m>
                <a:br>
                  <a:rPr lang="en-GB" i="1" dirty="0">
                    <a:latin typeface="Cambria Math" panose="02040503050406030204" pitchFamily="18" charset="0"/>
                  </a:rPr>
                </a:br>
                <a:endParaRPr lang="en-GB" dirty="0">
                  <a:latin typeface="Bahnschrift Light" panose="020B0502040204020203" pitchFamily="34" charset="0"/>
                </a:endParaRPr>
              </a:p>
            </p:txBody>
          </p:sp>
        </mc:Choice>
        <mc:Fallback xmlns="">
          <p:sp>
            <p:nvSpPr>
              <p:cNvPr id="3" name="Content Placeholder 2">
                <a:extLst>
                  <a:ext uri="{FF2B5EF4-FFF2-40B4-BE49-F238E27FC236}">
                    <a16:creationId xmlns:a16="http://schemas.microsoft.com/office/drawing/2014/main" id="{8DBFB225-C157-471D-970C-0D20B92D1711}"/>
                  </a:ext>
                </a:extLst>
              </p:cNvPr>
              <p:cNvSpPr>
                <a:spLocks noGrp="1" noRot="1" noChangeAspect="1" noMove="1" noResize="1" noEditPoints="1" noAdjustHandles="1" noChangeArrowheads="1" noChangeShapeType="1" noTextEdit="1"/>
              </p:cNvSpPr>
              <p:nvPr>
                <p:ph idx="1"/>
              </p:nvPr>
            </p:nvSpPr>
            <p:spPr>
              <a:xfrm>
                <a:off x="1076326" y="1333981"/>
                <a:ext cx="3680637" cy="471338"/>
              </a:xfrm>
              <a:blipFill>
                <a:blip r:embed="rId2"/>
                <a:stretch>
                  <a:fillRect b="-779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43978-7DC5-A458-2898-F89876131E74}"/>
                  </a:ext>
                </a:extLst>
              </p:cNvPr>
              <p:cNvSpPr txBox="1"/>
              <p:nvPr/>
            </p:nvSpPr>
            <p:spPr>
              <a:xfrm>
                <a:off x="6855566" y="1325563"/>
                <a:ext cx="352203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GB" sz="2400" smtClean="0">
                          <a:solidFill>
                            <a:schemeClr val="tx1"/>
                          </a:solidFill>
                          <a:latin typeface="Cambria Math" panose="02040503050406030204" pitchFamily="18" charset="0"/>
                        </a:rPr>
                        <m:t>g</m:t>
                      </m:r>
                      <m:r>
                        <a:rPr lang="en-GB" sz="2400" i="1">
                          <a:solidFill>
                            <a:schemeClr val="tx1"/>
                          </a:solidFill>
                          <a:latin typeface="Cambria Math" panose="02040503050406030204" pitchFamily="18" charset="0"/>
                        </a:rPr>
                        <m:t>⁡</m:t>
                      </m:r>
                      <m:r>
                        <a:rPr lang="en-GB" sz="2400" i="1">
                          <a:latin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𝜃</m:t>
                          </m:r>
                        </m:e>
                        <m:sub>
                          <m:r>
                            <a:rPr lang="en-GB" sz="2400" i="1">
                              <a:latin typeface="Cambria Math" panose="02040503050406030204" pitchFamily="18" charset="0"/>
                            </a:rPr>
                            <m:t>𝑖</m:t>
                          </m:r>
                        </m:sub>
                      </m:sSub>
                      <m:r>
                        <a:rPr lang="en-GB" sz="2400" i="1">
                          <a:latin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𝛽</m:t>
                          </m:r>
                        </m:e>
                        <m:sub>
                          <m:r>
                            <a:rPr lang="en-GB" sz="2400" i="1">
                              <a:latin typeface="Cambria Math" panose="02040503050406030204" pitchFamily="18" charset="0"/>
                            </a:rPr>
                            <m:t>0</m:t>
                          </m:r>
                        </m:sub>
                      </m:sSub>
                      <m:r>
                        <a:rPr lang="en-GB" sz="2400" i="1">
                          <a:latin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𝛽</m:t>
                          </m:r>
                        </m:e>
                        <m:sub>
                          <m:r>
                            <a:rPr lang="en-GB" sz="2400" i="1">
                              <a:latin typeface="Cambria Math" panose="02040503050406030204" pitchFamily="18" charset="0"/>
                            </a:rPr>
                            <m:t>1</m:t>
                          </m:r>
                        </m:sub>
                      </m:sSub>
                      <m:r>
                        <a:rPr lang="en-GB" sz="2400" i="1">
                          <a:latin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𝑋</m:t>
                          </m:r>
                        </m:e>
                        <m:sub>
                          <m:r>
                            <a:rPr lang="en-GB" sz="2400" i="1">
                              <a:latin typeface="Cambria Math" panose="02040503050406030204" pitchFamily="18" charset="0"/>
                            </a:rPr>
                            <m:t>𝑖</m:t>
                          </m:r>
                        </m:sub>
                      </m:sSub>
                    </m:oMath>
                  </m:oMathPara>
                </a14:m>
                <a:endParaRPr lang="en-GB" sz="2400" dirty="0"/>
              </a:p>
            </p:txBody>
          </p:sp>
        </mc:Choice>
        <mc:Fallback xmlns="">
          <p:sp>
            <p:nvSpPr>
              <p:cNvPr id="5" name="TextBox 4">
                <a:extLst>
                  <a:ext uri="{FF2B5EF4-FFF2-40B4-BE49-F238E27FC236}">
                    <a16:creationId xmlns:a16="http://schemas.microsoft.com/office/drawing/2014/main" id="{EEE43978-7DC5-A458-2898-F89876131E74}"/>
                  </a:ext>
                </a:extLst>
              </p:cNvPr>
              <p:cNvSpPr txBox="1">
                <a:spLocks noRot="1" noChangeAspect="1" noMove="1" noResize="1" noEditPoints="1" noAdjustHandles="1" noChangeArrowheads="1" noChangeShapeType="1" noTextEdit="1"/>
              </p:cNvSpPr>
              <p:nvPr/>
            </p:nvSpPr>
            <p:spPr>
              <a:xfrm>
                <a:off x="6855566" y="1325563"/>
                <a:ext cx="3522035" cy="461665"/>
              </a:xfrm>
              <a:prstGeom prst="rect">
                <a:avLst/>
              </a:prstGeom>
              <a:blipFill>
                <a:blip r:embed="rId3"/>
                <a:stretch>
                  <a:fillRect b="-17105"/>
                </a:stretch>
              </a:blipFill>
            </p:spPr>
            <p:txBody>
              <a:bodyPr/>
              <a:lstStyle/>
              <a:p>
                <a:r>
                  <a:rPr lang="en-GB">
                    <a:noFill/>
                  </a:rPr>
                  <a:t> </a:t>
                </a:r>
              </a:p>
            </p:txBody>
          </p:sp>
        </mc:Fallback>
      </mc:AlternateContent>
      <p:cxnSp>
        <p:nvCxnSpPr>
          <p:cNvPr id="9" name="Straight Connector 8">
            <a:extLst>
              <a:ext uri="{FF2B5EF4-FFF2-40B4-BE49-F238E27FC236}">
                <a16:creationId xmlns:a16="http://schemas.microsoft.com/office/drawing/2014/main" id="{B24AE5D9-FA42-19A1-8188-C7B5019CA43A}"/>
              </a:ext>
            </a:extLst>
          </p:cNvPr>
          <p:cNvCxnSpPr>
            <a:cxnSpLocks/>
          </p:cNvCxnSpPr>
          <p:nvPr/>
        </p:nvCxnSpPr>
        <p:spPr>
          <a:xfrm>
            <a:off x="2112792" y="1769298"/>
            <a:ext cx="2243470" cy="0"/>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16134-71C3-C773-7320-EF40CD39837D}"/>
              </a:ext>
            </a:extLst>
          </p:cNvPr>
          <p:cNvCxnSpPr>
            <a:cxnSpLocks/>
          </p:cNvCxnSpPr>
          <p:nvPr/>
        </p:nvCxnSpPr>
        <p:spPr>
          <a:xfrm>
            <a:off x="8367822" y="1776839"/>
            <a:ext cx="1552353" cy="0"/>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65BC242A-5495-E14B-DE40-02C6078BD7CB}"/>
                  </a:ext>
                </a:extLst>
              </p:cNvPr>
              <p:cNvSpPr txBox="1">
                <a:spLocks/>
              </p:cNvSpPr>
              <p:nvPr/>
            </p:nvSpPr>
            <p:spPr>
              <a:xfrm>
                <a:off x="959368" y="2051530"/>
                <a:ext cx="4318591"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stochastic</a:t>
                </a:r>
                <a:r>
                  <a:rPr lang="en-GB" dirty="0">
                    <a:latin typeface="Bahnschrift Light" panose="020B0502040204020203" pitchFamily="34" charset="0"/>
                  </a:rPr>
                  <a:t> (i.e. “randomness”) element of the model</a:t>
                </a:r>
              </a:p>
              <a:p>
                <a:r>
                  <a:rPr lang="en-GB" dirty="0">
                    <a:latin typeface="Bahnschrift Light" panose="020B0502040204020203" pitchFamily="34" charset="0"/>
                  </a:rPr>
                  <a:t>The distribution tells the model what type of response values are sensible, given we don’t expect perfect fit</a:t>
                </a:r>
              </a:p>
              <a:p>
                <a:r>
                  <a:rPr lang="en-GB" dirty="0">
                    <a:latin typeface="Bahnschrift Light" panose="020B0502040204020203" pitchFamily="34" charset="0"/>
                  </a:rPr>
                  <a:t>E.g. the linear predictor (</a:t>
                </a:r>
                <a14:m>
                  <m:oMath xmlns:m="http://schemas.openxmlformats.org/officeDocument/2006/math">
                    <m:r>
                      <a:rPr lang="en-GB" i="1">
                        <a:latin typeface="Cambria Math" panose="02040503050406030204" pitchFamily="18" charset="0"/>
                      </a:rPr>
                      <m:t>𝜃</m:t>
                    </m:r>
                  </m:oMath>
                </a14:m>
                <a:r>
                  <a:rPr lang="en-GB" dirty="0">
                    <a:latin typeface="Bahnschrift Light" panose="020B0502040204020203" pitchFamily="34" charset="0"/>
                  </a:rPr>
                  <a:t>) might suggest you have a </a:t>
                </a:r>
                <a14:m>
                  <m:oMath xmlns:m="http://schemas.openxmlformats.org/officeDocument/2006/math">
                    <m:r>
                      <a:rPr lang="en-GB" i="1">
                        <a:latin typeface="Cambria Math" panose="02040503050406030204" pitchFamily="18" charset="0"/>
                      </a:rPr>
                      <m:t>9</m:t>
                    </m:r>
                    <m:r>
                      <a:rPr lang="en-GB" b="0" i="1" smtClean="0">
                        <a:latin typeface="Cambria Math" panose="02040503050406030204" pitchFamily="18" charset="0"/>
                      </a:rPr>
                      <m:t>5</m:t>
                    </m:r>
                    <m:r>
                      <a:rPr lang="en-GB" i="1">
                        <a:latin typeface="Cambria Math" panose="02040503050406030204" pitchFamily="18" charset="0"/>
                      </a:rPr>
                      <m:t>%</m:t>
                    </m:r>
                  </m:oMath>
                </a14:m>
                <a:r>
                  <a:rPr lang="en-GB" dirty="0">
                    <a:latin typeface="Bahnschrift Light" panose="020B0502040204020203" pitchFamily="34" charset="0"/>
                  </a:rPr>
                  <a:t> chance to drink coffee this morning (1), but maybe you didn’t (0)</a:t>
                </a:r>
              </a:p>
              <a:p>
                <a:pPr lvl="1"/>
                <a:r>
                  <a:rPr lang="en-GB" dirty="0">
                    <a:latin typeface="Bahnschrift Light" panose="020B0502040204020203" pitchFamily="34" charset="0"/>
                  </a:rPr>
                  <a:t>But a value of 2.4 is not possible</a:t>
                </a:r>
              </a:p>
              <a:p>
                <a:endParaRPr lang="en-GB" dirty="0">
                  <a:latin typeface="Bahnschrift Light" panose="020B0502040204020203" pitchFamily="34" charset="0"/>
                </a:endParaRPr>
              </a:p>
            </p:txBody>
          </p:sp>
        </mc:Choice>
        <mc:Fallback xmlns="">
          <p:sp>
            <p:nvSpPr>
              <p:cNvPr id="14" name="Content Placeholder 2">
                <a:extLst>
                  <a:ext uri="{FF2B5EF4-FFF2-40B4-BE49-F238E27FC236}">
                    <a16:creationId xmlns:a16="http://schemas.microsoft.com/office/drawing/2014/main" id="{65BC242A-5495-E14B-DE40-02C6078BD7CB}"/>
                  </a:ext>
                </a:extLst>
              </p:cNvPr>
              <p:cNvSpPr txBox="1">
                <a:spLocks noRot="1" noChangeAspect="1" noMove="1" noResize="1" noEditPoints="1" noAdjustHandles="1" noChangeArrowheads="1" noChangeShapeType="1" noTextEdit="1"/>
              </p:cNvSpPr>
              <p:nvPr/>
            </p:nvSpPr>
            <p:spPr>
              <a:xfrm>
                <a:off x="959368" y="2051530"/>
                <a:ext cx="4318591" cy="4351338"/>
              </a:xfrm>
              <a:prstGeom prst="rect">
                <a:avLst/>
              </a:prstGeom>
              <a:blipFill>
                <a:blip r:embed="rId4"/>
                <a:stretch>
                  <a:fillRect l="-1834" t="-364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27314759-7983-3736-5C65-3731BF988E15}"/>
                  </a:ext>
                </a:extLst>
              </p:cNvPr>
              <p:cNvSpPr txBox="1">
                <a:spLocks/>
              </p:cNvSpPr>
              <p:nvPr/>
            </p:nvSpPr>
            <p:spPr>
              <a:xfrm>
                <a:off x="6745693" y="2038276"/>
                <a:ext cx="4486939" cy="4351338"/>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deterministic</a:t>
                </a:r>
                <a:r>
                  <a:rPr lang="en-GB" dirty="0">
                    <a:latin typeface="Bahnschrift Light" panose="020B0502040204020203" pitchFamily="34" charset="0"/>
                  </a:rPr>
                  <a:t> element of the model</a:t>
                </a:r>
              </a:p>
              <a:p>
                <a:r>
                  <a:rPr lang="en-GB" dirty="0">
                    <a:latin typeface="Bahnschrift Light" panose="020B0502040204020203" pitchFamily="34" charset="0"/>
                  </a:rPr>
                  <a:t>We decide what goes into the deterministic element</a:t>
                </a:r>
              </a:p>
              <a:p>
                <a:pPr lvl="1"/>
                <a:r>
                  <a:rPr lang="en-GB" dirty="0">
                    <a:latin typeface="Bahnschrift Light" panose="020B0502040204020203" pitchFamily="34" charset="0"/>
                  </a:rPr>
                  <a:t>E.g. I think </a:t>
                </a:r>
                <a14:m>
                  <m:oMath xmlns:m="http://schemas.openxmlformats.org/officeDocument/2006/math">
                    <m:r>
                      <m:rPr>
                        <m:sty m:val="p"/>
                      </m:rPr>
                      <a:rPr lang="en-GB" b="0" i="0" dirty="0" smtClean="0">
                        <a:latin typeface="Cambria Math" panose="02040503050406030204" pitchFamily="18" charset="0"/>
                      </a:rPr>
                      <m:t>y</m:t>
                    </m:r>
                  </m:oMath>
                </a14:m>
                <a:r>
                  <a:rPr lang="en-GB" dirty="0">
                    <a:latin typeface="Bahnschrift Light" panose="020B0502040204020203" pitchFamily="34" charset="0"/>
                  </a:rPr>
                  <a:t> happens because of </a:t>
                </a:r>
                <a14:m>
                  <m:oMath xmlns:m="http://schemas.openxmlformats.org/officeDocument/2006/math">
                    <m:r>
                      <a:rPr lang="en-GB" b="0" i="1" smtClean="0">
                        <a:latin typeface="Cambria Math" panose="02040503050406030204" pitchFamily="18" charset="0"/>
                      </a:rPr>
                      <m:t>𝑋</m:t>
                    </m:r>
                  </m:oMath>
                </a14:m>
                <a:endParaRPr lang="en-GB" dirty="0">
                  <a:latin typeface="Bahnschrift Light" panose="020B0502040204020203" pitchFamily="34" charset="0"/>
                </a:endParaRPr>
              </a:p>
              <a:p>
                <a:r>
                  <a:rPr lang="en-GB" dirty="0">
                    <a:latin typeface="Bahnschrift Light" panose="020B0502040204020203" pitchFamily="34" charset="0"/>
                  </a:rPr>
                  <a:t>And how </a:t>
                </a:r>
                <a14:m>
                  <m:oMath xmlns:m="http://schemas.openxmlformats.org/officeDocument/2006/math">
                    <m:r>
                      <a:rPr lang="en-GB" b="0" i="1" smtClean="0">
                        <a:latin typeface="Cambria Math" panose="02040503050406030204" pitchFamily="18" charset="0"/>
                      </a:rPr>
                      <m:t>𝑋</m:t>
                    </m:r>
                  </m:oMath>
                </a14:m>
                <a:r>
                  <a:rPr lang="en-GB" dirty="0">
                    <a:latin typeface="Bahnschrift Light" panose="020B0502040204020203" pitchFamily="34" charset="0"/>
                  </a:rPr>
                  <a:t> is related to </a:t>
                </a:r>
                <a14:m>
                  <m:oMath xmlns:m="http://schemas.openxmlformats.org/officeDocument/2006/math">
                    <m:r>
                      <a:rPr lang="en-GB" b="0" i="1" smtClean="0">
                        <a:latin typeface="Cambria Math" panose="02040503050406030204" pitchFamily="18" charset="0"/>
                      </a:rPr>
                      <m:t>𝑦</m:t>
                    </m:r>
                  </m:oMath>
                </a14:m>
                <a:endParaRPr lang="en-GB" dirty="0">
                  <a:latin typeface="Bahnschrift Light" panose="020B0502040204020203" pitchFamily="34" charset="0"/>
                </a:endParaRPr>
              </a:p>
              <a:p>
                <a:r>
                  <a:rPr lang="en-GB" dirty="0">
                    <a:latin typeface="Bahnschrift Light" panose="020B0502040204020203" pitchFamily="34" charset="0"/>
                  </a:rPr>
                  <a:t>E.g. because you bought coffee yesterday, there is a 95% chance that you drank coffee this morning</a:t>
                </a:r>
              </a:p>
              <a:p>
                <a:endParaRPr lang="en-GB" dirty="0">
                  <a:latin typeface="Bahnschrift Light" panose="020B0502040204020203" pitchFamily="34" charset="0"/>
                </a:endParaRPr>
              </a:p>
            </p:txBody>
          </p:sp>
        </mc:Choice>
        <mc:Fallback xmlns="">
          <p:sp>
            <p:nvSpPr>
              <p:cNvPr id="17" name="Content Placeholder 2">
                <a:extLst>
                  <a:ext uri="{FF2B5EF4-FFF2-40B4-BE49-F238E27FC236}">
                    <a16:creationId xmlns:a16="http://schemas.microsoft.com/office/drawing/2014/main" id="{27314759-7983-3736-5C65-3731BF988E15}"/>
                  </a:ext>
                </a:extLst>
              </p:cNvPr>
              <p:cNvSpPr txBox="1">
                <a:spLocks noRot="1" noChangeAspect="1" noMove="1" noResize="1" noEditPoints="1" noAdjustHandles="1" noChangeArrowheads="1" noChangeShapeType="1" noTextEdit="1"/>
              </p:cNvSpPr>
              <p:nvPr/>
            </p:nvSpPr>
            <p:spPr>
              <a:xfrm>
                <a:off x="6745693" y="2038276"/>
                <a:ext cx="4486939" cy="4351338"/>
              </a:xfrm>
              <a:prstGeom prst="rect">
                <a:avLst/>
              </a:prstGeom>
              <a:blipFill>
                <a:blip r:embed="rId5"/>
                <a:stretch>
                  <a:fillRect l="-2174" t="-2241" r="-2989" b="-3501"/>
                </a:stretch>
              </a:blipFill>
            </p:spPr>
            <p:txBody>
              <a:bodyPr/>
              <a:lstStyle/>
              <a:p>
                <a:r>
                  <a:rPr lang="en-GB">
                    <a:noFill/>
                  </a:rPr>
                  <a:t> </a:t>
                </a:r>
              </a:p>
            </p:txBody>
          </p:sp>
        </mc:Fallback>
      </mc:AlternateContent>
    </p:spTree>
    <p:extLst>
      <p:ext uri="{BB962C8B-B14F-4D97-AF65-F5344CB8AC3E}">
        <p14:creationId xmlns:p14="http://schemas.microsoft.com/office/powerpoint/2010/main" val="4147180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500"/>
                                        <p:tgtEl>
                                          <p:spTgt spid="1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xEl>
                                              <p:pRg st="1" end="1"/>
                                            </p:txEl>
                                          </p:spTgt>
                                        </p:tgtEl>
                                        <p:attrNameLst>
                                          <p:attrName>style.visibility</p:attrName>
                                        </p:attrNameLst>
                                      </p:cBhvr>
                                      <p:to>
                                        <p:strVal val="visible"/>
                                      </p:to>
                                    </p:set>
                                    <p:animEffect transition="in" filter="fade">
                                      <p:cBhvr>
                                        <p:cTn id="15" dur="500"/>
                                        <p:tgtEl>
                                          <p:spTgt spid="1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
                                            <p:txEl>
                                              <p:pRg st="2" end="2"/>
                                            </p:txEl>
                                          </p:spTgt>
                                        </p:tgtEl>
                                        <p:attrNameLst>
                                          <p:attrName>style.visibility</p:attrName>
                                        </p:attrNameLst>
                                      </p:cBhvr>
                                      <p:to>
                                        <p:strVal val="visible"/>
                                      </p:to>
                                    </p:set>
                                    <p:animEffect transition="in" filter="fade">
                                      <p:cBhvr>
                                        <p:cTn id="20" dur="500"/>
                                        <p:tgtEl>
                                          <p:spTgt spid="14">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
                                            <p:txEl>
                                              <p:pRg st="3" end="3"/>
                                            </p:txEl>
                                          </p:spTgt>
                                        </p:tgtEl>
                                        <p:attrNameLst>
                                          <p:attrName>style.visibility</p:attrName>
                                        </p:attrNameLst>
                                      </p:cBhvr>
                                      <p:to>
                                        <p:strVal val="visible"/>
                                      </p:to>
                                    </p:set>
                                    <p:animEffect transition="in" filter="fade">
                                      <p:cBhvr>
                                        <p:cTn id="25" dur="500"/>
                                        <p:tgtEl>
                                          <p:spTgt spid="14">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xEl>
                                              <p:pRg st="0" end="0"/>
                                            </p:txEl>
                                          </p:spTgt>
                                        </p:tgtEl>
                                        <p:attrNameLst>
                                          <p:attrName>style.visibility</p:attrName>
                                        </p:attrNameLst>
                                      </p:cBhvr>
                                      <p:to>
                                        <p:strVal val="visible"/>
                                      </p:to>
                                    </p:set>
                                    <p:animEffect transition="in" filter="fade">
                                      <p:cBhvr>
                                        <p:cTn id="33" dur="500"/>
                                        <p:tgtEl>
                                          <p:spTgt spid="17">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7">
                                            <p:txEl>
                                              <p:pRg st="1" end="1"/>
                                            </p:txEl>
                                          </p:spTgt>
                                        </p:tgtEl>
                                        <p:attrNameLst>
                                          <p:attrName>style.visibility</p:attrName>
                                        </p:attrNameLst>
                                      </p:cBhvr>
                                      <p:to>
                                        <p:strVal val="visible"/>
                                      </p:to>
                                    </p:set>
                                    <p:animEffect transition="in" filter="fade">
                                      <p:cBhvr>
                                        <p:cTn id="38" dur="500"/>
                                        <p:tgtEl>
                                          <p:spTgt spid="17">
                                            <p:txEl>
                                              <p:pRg st="1" end="1"/>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7">
                                            <p:txEl>
                                              <p:pRg st="2" end="2"/>
                                            </p:txEl>
                                          </p:spTgt>
                                        </p:tgtEl>
                                        <p:attrNameLst>
                                          <p:attrName>style.visibility</p:attrName>
                                        </p:attrNameLst>
                                      </p:cBhvr>
                                      <p:to>
                                        <p:strVal val="visible"/>
                                      </p:to>
                                    </p:set>
                                    <p:animEffect transition="in" filter="fade">
                                      <p:cBhvr>
                                        <p:cTn id="43" dur="500"/>
                                        <p:tgtEl>
                                          <p:spTgt spid="17">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xEl>
                                              <p:pRg st="3" end="3"/>
                                            </p:txEl>
                                          </p:spTgt>
                                        </p:tgtEl>
                                        <p:attrNameLst>
                                          <p:attrName>style.visibility</p:attrName>
                                        </p:attrNameLst>
                                      </p:cBhvr>
                                      <p:to>
                                        <p:strVal val="visible"/>
                                      </p:to>
                                    </p:set>
                                    <p:animEffect transition="in" filter="fade">
                                      <p:cBhvr>
                                        <p:cTn id="48" dur="500"/>
                                        <p:tgtEl>
                                          <p:spTgt spid="17">
                                            <p:txEl>
                                              <p:pRg st="3" end="3"/>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
                                            <p:txEl>
                                              <p:pRg st="4" end="4"/>
                                            </p:txEl>
                                          </p:spTgt>
                                        </p:tgtEl>
                                        <p:attrNameLst>
                                          <p:attrName>style.visibility</p:attrName>
                                        </p:attrNameLst>
                                      </p:cBhvr>
                                      <p:to>
                                        <p:strVal val="visible"/>
                                      </p:to>
                                    </p:set>
                                    <p:animEffect transition="in" filter="fade">
                                      <p:cBhvr>
                                        <p:cTn id="53" dur="500"/>
                                        <p:tgtEl>
                                          <p:spTgt spid="1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Uses and risks of modelling</a:t>
            </a:r>
          </a:p>
        </p:txBody>
      </p:sp>
    </p:spTree>
    <p:extLst>
      <p:ext uri="{BB962C8B-B14F-4D97-AF65-F5344CB8AC3E}">
        <p14:creationId xmlns:p14="http://schemas.microsoft.com/office/powerpoint/2010/main" val="6308943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xmlns:a14="http://schemas.microsoft.com/office/drawing/2010/main">
        <mc:Choice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415598" y="1484183"/>
                <a:ext cx="10333083" cy="5170385"/>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Who do you think won the 2021 Japanese election?</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LDM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r>
                  <a:rPr lang="en-US" dirty="0">
                    <a:latin typeface="Bahnschrift Light" panose="020B0502040204020203" pitchFamily="34" charset="0"/>
                  </a:rPr>
                  <a:t> (95% chance to win 2021).</a:t>
                </a:r>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𝑅𝑒𝑠𝑢𝑙</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𝑡</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r>
                        <a:rPr lang="en-GB" b="0" i="1" dirty="0" smtClean="0">
                          <a:latin typeface="Cambria Math" panose="02040503050406030204" pitchFamily="18" charset="0"/>
                        </a:rPr>
                        <m:t>𝐷𝑖𝑠𝑡𝑟𝑖𝑏𝑢𝑡𝑖𝑜𝑛</m:t>
                      </m:r>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e>
                      </m:d>
                    </m:oMath>
                    <m:oMath xmlns:m="http://schemas.openxmlformats.org/officeDocument/2006/math">
                      <m:r>
                        <a:rPr lang="en-GB" b="0" i="1" dirty="0" smtClean="0">
                          <a:latin typeface="Cambria Math" panose="02040503050406030204" pitchFamily="18" charset="0"/>
                        </a:rPr>
                        <m:t> </m:t>
                      </m:r>
                      <m:r>
                        <a:rPr lang="en-GB" b="0" i="1" dirty="0" smtClean="0">
                          <a:latin typeface="Cambria Math" panose="02040503050406030204" pitchFamily="18" charset="0"/>
                        </a:rPr>
                        <m:t>𝑔</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𝑅𝑒𝑑</m:t>
                          </m:r>
                        </m:e>
                        <m:sub>
                          <m:r>
                            <a:rPr lang="en-GB" b="0" i="1" dirty="0" smtClean="0">
                              <a:latin typeface="Cambria Math" panose="02040503050406030204" pitchFamily="18" charset="0"/>
                            </a:rPr>
                            <m:t>𝑖</m:t>
                          </m:r>
                        </m:sub>
                      </m:sSub>
                    </m:oMath>
                  </m:oMathPara>
                </a14:m>
                <a:endParaRPr lang="en-US" dirty="0">
                  <a:latin typeface="Bahnschrift Light" panose="020B0502040204020203" pitchFamily="34" charset="0"/>
                </a:endParaRPr>
              </a:p>
            </p:txBody>
          </p:sp>
        </mc:Choice>
        <mc:Fallback xmlns="">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415598" y="1484183"/>
                <a:ext cx="10333083" cy="5170385"/>
              </a:xfrm>
              <a:prstGeom prst="rect">
                <a:avLst/>
              </a:prstGeom>
              <a:blipFill>
                <a:blip r:embed="rId3"/>
                <a:stretch>
                  <a:fillRect l="-885" t="-58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768914" y="1971948"/>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10" name="TextBox 9">
            <a:extLst>
              <a:ext uri="{FF2B5EF4-FFF2-40B4-BE49-F238E27FC236}">
                <a16:creationId xmlns:a16="http://schemas.microsoft.com/office/drawing/2014/main" id="{594BC44A-5C24-99DA-9764-5595AED1BE61}"/>
              </a:ext>
            </a:extLst>
          </p:cNvPr>
          <p:cNvSpPr txBox="1"/>
          <p:nvPr/>
        </p:nvSpPr>
        <p:spPr>
          <a:xfrm>
            <a:off x="2170324" y="6192903"/>
            <a:ext cx="7442916" cy="461665"/>
          </a:xfrm>
          <a:prstGeom prst="rect">
            <a:avLst/>
          </a:prstGeom>
          <a:noFill/>
        </p:spPr>
        <p:txBody>
          <a:bodyPr wrap="square" rtlCol="0">
            <a:spAutoFit/>
          </a:bodyPr>
          <a:lstStyle/>
          <a:p>
            <a:r>
              <a:rPr lang="en-GB" sz="2400" dirty="0">
                <a:latin typeface="Bahnschrift Light" panose="020B0502040204020203" pitchFamily="34" charset="0"/>
              </a:rPr>
              <a:t>The model does not know it’s purpose, only you do.</a:t>
            </a:r>
          </a:p>
        </p:txBody>
      </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49325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xEl>
                                              <p:pRg st="5" end="5"/>
                                            </p:txEl>
                                          </p:spTgt>
                                        </p:tgtEl>
                                        <p:attrNameLst>
                                          <p:attrName>style.visibility</p:attrName>
                                        </p:attrNameLst>
                                      </p:cBhvr>
                                      <p:to>
                                        <p:strVal val="visible"/>
                                      </p:to>
                                    </p:set>
                                    <p:animEffect transition="in" filter="fade">
                                      <p:cBhvr>
                                        <p:cTn id="27" dur="500"/>
                                        <p:tgtEl>
                                          <p:spTgt spid="32">
                                            <p:txEl>
                                              <p:pRg st="5" end="5"/>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2">
                                            <p:txEl>
                                              <p:pRg st="7" end="7"/>
                                            </p:txEl>
                                          </p:spTgt>
                                        </p:tgtEl>
                                        <p:attrNameLst>
                                          <p:attrName>style.visibility</p:attrName>
                                        </p:attrNameLst>
                                      </p:cBhvr>
                                      <p:to>
                                        <p:strVal val="visible"/>
                                      </p:to>
                                    </p:set>
                                    <p:animEffect transition="in" filter="fade">
                                      <p:cBhvr>
                                        <p:cTn id="35" dur="500"/>
                                        <p:tgtEl>
                                          <p:spTgt spid="32">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xEl>
                                              <p:pRg st="8" end="8"/>
                                            </p:txEl>
                                          </p:spTgt>
                                        </p:tgtEl>
                                        <p:attrNameLst>
                                          <p:attrName>style.visibility</p:attrName>
                                        </p:attrNameLst>
                                      </p:cBhvr>
                                      <p:to>
                                        <p:strVal val="visible"/>
                                      </p:to>
                                    </p:set>
                                    <p:animEffect transition="in" filter="fade">
                                      <p:cBhvr>
                                        <p:cTn id="40" dur="500"/>
                                        <p:tgtEl>
                                          <p:spTgt spid="32">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0" nodeType="clickEffect">
                                  <p:stCondLst>
                                    <p:cond delay="0"/>
                                  </p:stCondLst>
                                  <p:childTnLst>
                                    <p:animEffect transition="out" filter="fade">
                                      <p:cBhvr>
                                        <p:cTn id="44" dur="500"/>
                                        <p:tgtEl>
                                          <p:spTgt spid="2"/>
                                        </p:tgtEl>
                                      </p:cBhvr>
                                    </p:animEffect>
                                    <p:set>
                                      <p:cBhvr>
                                        <p:cTn id="45" dur="1" fill="hold">
                                          <p:stCondLst>
                                            <p:cond delay="499"/>
                                          </p:stCondLst>
                                        </p:cTn>
                                        <p:tgtEl>
                                          <p:spTgt spid="2"/>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Effect transition="in" filter="fade">
                                      <p:cBhvr>
                                        <p:cTn id="5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10" grpId="0"/>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married couple come into possession of a wish granting monkey’s paw. They wish for money to buy a house. The husband goes to work the next morning but dies on the job. The wife gets his life insurance; enough to buy a house.</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92500" lnSpcReduction="20000"/>
          </a:bodyPr>
          <a:lstStyle/>
          <a:p>
            <a:pPr marL="514350" indent="-514350">
              <a:buFont typeface="+mj-lt"/>
              <a:buAutoNum type="arabicPeriod"/>
            </a:pPr>
            <a:r>
              <a:rPr lang="en-GB" b="1" dirty="0">
                <a:solidFill>
                  <a:srgbClr val="FFFF00"/>
                </a:solidFill>
                <a:latin typeface="Bahnschrift Light" panose="020B0502040204020203" pitchFamily="34" charset="0"/>
              </a:rPr>
              <a:t>Validity </a:t>
            </a:r>
            <a:r>
              <a:rPr lang="en-GB" sz="1200" dirty="0">
                <a:latin typeface="Bahnschrift Light" panose="020B0502040204020203" pitchFamily="34" charset="0"/>
              </a:rPr>
              <a:t>(Gelman &amp; Hill)</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can answer your research question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answering the question you think you are</a:t>
            </a:r>
          </a:p>
          <a:p>
            <a:pPr lvl="1"/>
            <a:r>
              <a:rPr lang="en-GB" dirty="0">
                <a:latin typeface="Bahnschrift Light" panose="020B0502040204020203" pitchFamily="34" charset="0"/>
              </a:rPr>
              <a:t>E.g.: Measuring test scores does not measure intelligence</a:t>
            </a:r>
          </a:p>
          <a:p>
            <a:pPr marL="514350" indent="-514350">
              <a:buFont typeface="+mj-lt"/>
              <a:buAutoNum type="arabicPeriod"/>
            </a:pPr>
            <a:r>
              <a:rPr lang="en-GB" b="1" dirty="0">
                <a:solidFill>
                  <a:srgbClr val="FFFF00"/>
                </a:solidFill>
                <a:latin typeface="Bahnschrift Light" panose="020B0502040204020203" pitchFamily="34" charset="0"/>
              </a:rPr>
              <a:t>Linearity </a:t>
            </a:r>
            <a:r>
              <a:rPr lang="en-GB" sz="1100" dirty="0">
                <a:latin typeface="Bahnschrift Light" panose="020B0502040204020203" pitchFamily="34" charset="0"/>
              </a:rPr>
              <a:t>(Gelman &amp; Hill)</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Deterministic element is a linear function of your explanatory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p:txBody>
      </p:sp>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GB" b="1" dirty="0">
                <a:solidFill>
                  <a:srgbClr val="FFFF00"/>
                </a:solidFill>
                <a:latin typeface="Bahnschrift Light" panose="020B0502040204020203" pitchFamily="34" charset="0"/>
              </a:rPr>
              <a:t>Independence of errors</a:t>
            </a:r>
          </a:p>
          <a:p>
            <a:pPr lvl="1"/>
            <a:r>
              <a:rPr lang="en-GB" dirty="0">
                <a:latin typeface="Bahnschrift Light" panose="020B0502040204020203" pitchFamily="34" charset="0"/>
              </a:rPr>
              <a:t>Meaning: We have independent observations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marL="514350" indent="-514350">
              <a:buFont typeface="+mj-lt"/>
              <a:buAutoNum type="arabicPeriod" startAt="3"/>
            </a:pPr>
            <a:r>
              <a:rPr lang="en-GB" b="1" dirty="0">
                <a:solidFill>
                  <a:srgbClr val="FFFF00"/>
                </a:solidFill>
                <a:latin typeface="Bahnschrift Light" panose="020B0502040204020203" pitchFamily="34" charset="0"/>
              </a:rPr>
              <a:t>Homogeneity of variance</a:t>
            </a:r>
          </a:p>
          <a:p>
            <a:pPr lvl="1"/>
            <a:r>
              <a:rPr lang="en-GB" dirty="0">
                <a:latin typeface="Bahnschrift Light" panose="020B0502040204020203" pitchFamily="34" charset="0"/>
              </a:rPr>
              <a:t>Meaning: The randomness is handled by the distribution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Results do not generalise</a:t>
            </a:r>
          </a:p>
          <a:p>
            <a:pPr lvl="1"/>
            <a:r>
              <a:rPr lang="en-GB" dirty="0">
                <a:latin typeface="Bahnschrift Light" panose="020B0502040204020203" pitchFamily="34" charset="0"/>
              </a:rPr>
              <a:t>E.g.: More than just age influences height</a:t>
            </a:r>
          </a:p>
          <a:p>
            <a:pPr marL="514350" indent="-514350">
              <a:buFont typeface="+mj-lt"/>
              <a:buAutoNum type="arabicPeriod" startAt="5"/>
            </a:pPr>
            <a:r>
              <a:rPr lang="en-GB" b="1" dirty="0">
                <a:solidFill>
                  <a:srgbClr val="FFFF00"/>
                </a:solidFill>
                <a:latin typeface="Bahnschrift Light" panose="020B0502040204020203" pitchFamily="34" charset="0"/>
              </a:rPr>
              <a:t>Plus</a:t>
            </a:r>
            <a:r>
              <a:rPr lang="en-GB" dirty="0">
                <a:latin typeface="Bahnschrift Light" panose="020B0502040204020203" pitchFamily="34" charset="0"/>
              </a:rPr>
              <a:t> some assumptions that are specific to certain distributions</a:t>
            </a:r>
          </a:p>
          <a:p>
            <a:endParaRPr lang="en-GB" dirty="0"/>
          </a:p>
        </p:txBody>
      </p:sp>
    </p:spTree>
    <p:extLst>
      <p:ext uri="{BB962C8B-B14F-4D97-AF65-F5344CB8AC3E}">
        <p14:creationId xmlns:p14="http://schemas.microsoft.com/office/powerpoint/2010/main" val="4164773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fade">
                                      <p:cBhvr>
                                        <p:cTn id="43" dur="500"/>
                                        <p:tgtEl>
                                          <p:spTgt spid="3">
                                            <p:txEl>
                                              <p:pRg st="8" end="8"/>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9" end="9"/>
                                            </p:txEl>
                                          </p:spTgt>
                                        </p:tgtEl>
                                        <p:attrNameLst>
                                          <p:attrName>style.visibility</p:attrName>
                                        </p:attrNameLst>
                                      </p:cBhvr>
                                      <p:to>
                                        <p:strVal val="visible"/>
                                      </p:to>
                                    </p:set>
                                    <p:animEffect transition="in" filter="fade">
                                      <p:cBhvr>
                                        <p:cTn id="48" dur="500"/>
                                        <p:tgtEl>
                                          <p:spTgt spid="3">
                                            <p:txEl>
                                              <p:pRg st="9" end="9"/>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6">
                                            <p:txEl>
                                              <p:pRg st="0" end="0"/>
                                            </p:txEl>
                                          </p:spTgt>
                                        </p:tgtEl>
                                        <p:attrNameLst>
                                          <p:attrName>style.visibility</p:attrName>
                                        </p:attrNameLst>
                                      </p:cBhvr>
                                      <p:to>
                                        <p:strVal val="visible"/>
                                      </p:to>
                                    </p:set>
                                    <p:animEffect transition="in" filter="fade">
                                      <p:cBhvr>
                                        <p:cTn id="53" dur="500"/>
                                        <p:tgtEl>
                                          <p:spTgt spid="6">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6">
                                            <p:txEl>
                                              <p:pRg st="1" end="1"/>
                                            </p:txEl>
                                          </p:spTgt>
                                        </p:tgtEl>
                                        <p:attrNameLst>
                                          <p:attrName>style.visibility</p:attrName>
                                        </p:attrNameLst>
                                      </p:cBhvr>
                                      <p:to>
                                        <p:strVal val="visible"/>
                                      </p:to>
                                    </p:set>
                                    <p:animEffect transition="in" filter="fade">
                                      <p:cBhvr>
                                        <p:cTn id="58" dur="500"/>
                                        <p:tgtEl>
                                          <p:spTgt spid="6">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6">
                                            <p:txEl>
                                              <p:pRg st="2" end="2"/>
                                            </p:txEl>
                                          </p:spTgt>
                                        </p:tgtEl>
                                        <p:attrNameLst>
                                          <p:attrName>style.visibility</p:attrName>
                                        </p:attrNameLst>
                                      </p:cBhvr>
                                      <p:to>
                                        <p:strVal val="visible"/>
                                      </p:to>
                                    </p:set>
                                    <p:animEffect transition="in" filter="fade">
                                      <p:cBhvr>
                                        <p:cTn id="63" dur="500"/>
                                        <p:tgtEl>
                                          <p:spTgt spid="6">
                                            <p:txEl>
                                              <p:pRg st="2" end="2"/>
                                            </p:txEl>
                                          </p:spTgt>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6">
                                            <p:txEl>
                                              <p:pRg st="3" end="3"/>
                                            </p:txEl>
                                          </p:spTgt>
                                        </p:tgtEl>
                                        <p:attrNameLst>
                                          <p:attrName>style.visibility</p:attrName>
                                        </p:attrNameLst>
                                      </p:cBhvr>
                                      <p:to>
                                        <p:strVal val="visible"/>
                                      </p:to>
                                    </p:set>
                                    <p:animEffect transition="in" filter="fade">
                                      <p:cBhvr>
                                        <p:cTn id="66" dur="500"/>
                                        <p:tgtEl>
                                          <p:spTgt spid="6">
                                            <p:txEl>
                                              <p:pRg st="3" end="3"/>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6">
                                            <p:txEl>
                                              <p:pRg st="4" end="4"/>
                                            </p:txEl>
                                          </p:spTgt>
                                        </p:tgtEl>
                                        <p:attrNameLst>
                                          <p:attrName>style.visibility</p:attrName>
                                        </p:attrNameLst>
                                      </p:cBhvr>
                                      <p:to>
                                        <p:strVal val="visible"/>
                                      </p:to>
                                    </p:set>
                                    <p:animEffect transition="in" filter="fade">
                                      <p:cBhvr>
                                        <p:cTn id="71" dur="500"/>
                                        <p:tgtEl>
                                          <p:spTgt spid="6">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6">
                                            <p:txEl>
                                              <p:pRg st="5" end="5"/>
                                            </p:txEl>
                                          </p:spTgt>
                                        </p:tgtEl>
                                        <p:attrNameLst>
                                          <p:attrName>style.visibility</p:attrName>
                                        </p:attrNameLst>
                                      </p:cBhvr>
                                      <p:to>
                                        <p:strVal val="visible"/>
                                      </p:to>
                                    </p:set>
                                    <p:animEffect transition="in" filter="fade">
                                      <p:cBhvr>
                                        <p:cTn id="76" dur="500"/>
                                        <p:tgtEl>
                                          <p:spTgt spid="6">
                                            <p:txEl>
                                              <p:pRg st="5" end="5"/>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6">
                                            <p:txEl>
                                              <p:pRg st="6" end="6"/>
                                            </p:txEl>
                                          </p:spTgt>
                                        </p:tgtEl>
                                        <p:attrNameLst>
                                          <p:attrName>style.visibility</p:attrName>
                                        </p:attrNameLst>
                                      </p:cBhvr>
                                      <p:to>
                                        <p:strVal val="visible"/>
                                      </p:to>
                                    </p:set>
                                    <p:animEffect transition="in" filter="fade">
                                      <p:cBhvr>
                                        <p:cTn id="81" dur="500"/>
                                        <p:tgtEl>
                                          <p:spTgt spid="6">
                                            <p:txEl>
                                              <p:pRg st="6" end="6"/>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6">
                                            <p:txEl>
                                              <p:pRg st="7" end="7"/>
                                            </p:txEl>
                                          </p:spTgt>
                                        </p:tgtEl>
                                        <p:attrNameLst>
                                          <p:attrName>style.visibility</p:attrName>
                                        </p:attrNameLst>
                                      </p:cBhvr>
                                      <p:to>
                                        <p:strVal val="visible"/>
                                      </p:to>
                                    </p:set>
                                    <p:animEffect transition="in" filter="fade">
                                      <p:cBhvr>
                                        <p:cTn id="86" dur="500"/>
                                        <p:tgtEl>
                                          <p:spTgt spid="6">
                                            <p:txEl>
                                              <p:pRg st="7" end="7"/>
                                            </p:txEl>
                                          </p:spTgt>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
                                            <p:txEl>
                                              <p:pRg st="8" end="8"/>
                                            </p:txEl>
                                          </p:spTgt>
                                        </p:tgtEl>
                                        <p:attrNameLst>
                                          <p:attrName>style.visibility</p:attrName>
                                        </p:attrNameLst>
                                      </p:cBhvr>
                                      <p:to>
                                        <p:strVal val="visible"/>
                                      </p:to>
                                    </p:set>
                                    <p:animEffect transition="in" filter="fade">
                                      <p:cBhvr>
                                        <p:cTn id="89" dur="500"/>
                                        <p:tgtEl>
                                          <p:spTgt spid="6">
                                            <p:txEl>
                                              <p:pRg st="8" end="8"/>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6">
                                            <p:txEl>
                                              <p:pRg st="9" end="9"/>
                                            </p:txEl>
                                          </p:spTgt>
                                        </p:tgtEl>
                                        <p:attrNameLst>
                                          <p:attrName>style.visibility</p:attrName>
                                        </p:attrNameLst>
                                      </p:cBhvr>
                                      <p:to>
                                        <p:strVal val="visible"/>
                                      </p:to>
                                    </p:set>
                                    <p:animEffect transition="in" filter="fade">
                                      <p:cBhvr>
                                        <p:cTn id="94" dur="500"/>
                                        <p:tgtEl>
                                          <p:spTgt spid="6">
                                            <p:txEl>
                                              <p:pRg st="9" end="9"/>
                                            </p:txEl>
                                          </p:spTgt>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6">
                                            <p:txEl>
                                              <p:pRg st="10" end="10"/>
                                            </p:txEl>
                                          </p:spTgt>
                                        </p:tgtEl>
                                        <p:attrNameLst>
                                          <p:attrName>style.visibility</p:attrName>
                                        </p:attrNameLst>
                                      </p:cBhvr>
                                      <p:to>
                                        <p:strVal val="visible"/>
                                      </p:to>
                                    </p:set>
                                    <p:animEffect transition="in" filter="fade">
                                      <p:cBhvr>
                                        <p:cTn id="99" dur="500"/>
                                        <p:tgtEl>
                                          <p:spTgt spid="6">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sbs_template</Template>
  <TotalTime>11</TotalTime>
  <Words>974</Words>
  <Application>Microsoft Office PowerPoint</Application>
  <PresentationFormat>Widescreen</PresentationFormat>
  <Paragraphs>129</Paragraphs>
  <Slides>16</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Bahnschrift Light</vt:lpstr>
      <vt:lpstr>Cambria Math</vt:lpstr>
      <vt:lpstr>sbs_template</vt:lpstr>
      <vt:lpstr>Introduction to linear models</vt:lpstr>
      <vt:lpstr>Can we reduce blood pressure?</vt:lpstr>
      <vt:lpstr>Can we reduce blood pressure?</vt:lpstr>
      <vt:lpstr>Can we reduce blood pressure?</vt:lpstr>
      <vt:lpstr>Stochastic element</vt:lpstr>
      <vt:lpstr>Allowing suitable randomness</vt:lpstr>
      <vt:lpstr>Beware the histomancer</vt:lpstr>
      <vt:lpstr>Deterministic element</vt:lpstr>
      <vt:lpstr>PowerPoint Presentation</vt:lpstr>
      <vt:lpstr>Did you drink coffee this morning?</vt:lpstr>
      <vt:lpstr>Bringing it together</vt:lpstr>
      <vt:lpstr>Stochastic and deterministic</vt:lpstr>
      <vt:lpstr>Uses and risks of modelling</vt:lpstr>
      <vt:lpstr>First amongst equals</vt:lpstr>
      <vt:lpstr>Monkey’s paw</vt:lpstr>
      <vt:lpstr>Your key assumptions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Roos, Deon</dc:creator>
  <cp:lastModifiedBy>Roos, Deon</cp:lastModifiedBy>
  <cp:revision>1</cp:revision>
  <dcterms:created xsi:type="dcterms:W3CDTF">2024-06-28T13:38:41Z</dcterms:created>
  <dcterms:modified xsi:type="dcterms:W3CDTF">2024-06-28T13:50:26Z</dcterms:modified>
</cp:coreProperties>
</file>