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26"/>
  </p:notesMasterIdLst>
  <p:sldIdLst>
    <p:sldId id="256" r:id="rId2"/>
    <p:sldId id="333" r:id="rId3"/>
    <p:sldId id="334" r:id="rId4"/>
    <p:sldId id="336" r:id="rId5"/>
    <p:sldId id="335" r:id="rId6"/>
    <p:sldId id="288" r:id="rId7"/>
    <p:sldId id="339" r:id="rId8"/>
    <p:sldId id="340" r:id="rId9"/>
    <p:sldId id="329" r:id="rId10"/>
    <p:sldId id="330" r:id="rId11"/>
    <p:sldId id="331" r:id="rId12"/>
    <p:sldId id="332" r:id="rId13"/>
    <p:sldId id="341" r:id="rId14"/>
    <p:sldId id="342" r:id="rId15"/>
    <p:sldId id="283" r:id="rId16"/>
    <p:sldId id="270" r:id="rId17"/>
    <p:sldId id="328" r:id="rId18"/>
    <p:sldId id="306" r:id="rId19"/>
    <p:sldId id="324" r:id="rId20"/>
    <p:sldId id="287" r:id="rId21"/>
    <p:sldId id="326" r:id="rId22"/>
    <p:sldId id="305" r:id="rId23"/>
    <p:sldId id="257" r:id="rId24"/>
    <p:sldId id="325"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337" autoAdjust="0"/>
  </p:normalViewPr>
  <p:slideViewPr>
    <p:cSldViewPr snapToGrid="0">
      <p:cViewPr varScale="1">
        <p:scale>
          <a:sx n="112" d="100"/>
          <a:sy n="112" d="100"/>
        </p:scale>
        <p:origin x="55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26/07/2024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26/07/2024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26/07/2024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26/07/2024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26/07/2024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26/07/2024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26/07/2024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26/07/2024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26/07/2024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26/07/2024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26/07/2024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0.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250.png"/><Relationship Id="rId4" Type="http://schemas.openxmlformats.org/officeDocument/2006/relationships/image" Target="../media/image240.png"/></Relationships>
</file>

<file path=ppt/slides/_rels/slide2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12.xml"/><Relationship Id="rId5" Type="http://schemas.openxmlformats.org/officeDocument/2006/relationships/image" Target="../media/image290.png"/><Relationship Id="rId4" Type="http://schemas.openxmlformats.org/officeDocument/2006/relationships/image" Target="../media/image28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Often some form of:</a:t>
                </a:r>
              </a:p>
              <a:p>
                <a14:m>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416688"/>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Distributions</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lnSpcReduction="10000"/>
              </a:bodyPr>
              <a:lstStyle/>
              <a:p>
                <a:r>
                  <a:rPr lang="en-GB" dirty="0"/>
                  <a:t>Imagine a random number between 0 and 100</a:t>
                </a:r>
              </a:p>
              <a:p>
                <a:r>
                  <a:rPr lang="en-GB" dirty="0"/>
                  <a:t>Each value (should) have an equal probability of being selected</a:t>
                </a:r>
              </a:p>
              <a:p>
                <a:r>
                  <a:rPr lang="en-GB" dirty="0"/>
                  <a:t>But in the real world, we have randomness (“stochasticity”)</a:t>
                </a:r>
              </a:p>
              <a:p>
                <a:r>
                  <a:rPr lang="en-GB" dirty="0"/>
                  <a:t>To describe that random number generator, we can write: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But what if the world isn’t that simple?</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1377"/>
                </a:stretch>
              </a:blipFill>
            </p:spPr>
            <p:txBody>
              <a:bodyPr/>
              <a:lstStyle/>
              <a:p>
                <a:r>
                  <a:rPr lang="en-GB">
                    <a:noFill/>
                  </a:rPr>
                  <a:t> </a:t>
                </a:r>
              </a:p>
            </p:txBody>
          </p:sp>
        </mc:Fallback>
      </mc:AlternateContent>
      <p:pic>
        <p:nvPicPr>
          <p:cNvPr id="10" name="Picture 9" descr="A graph on a screen&#10;&#10;Description automatically generated">
            <a:extLst>
              <a:ext uri="{FF2B5EF4-FFF2-40B4-BE49-F238E27FC236}">
                <a16:creationId xmlns:a16="http://schemas.microsoft.com/office/drawing/2014/main" id="{26047941-0D8C-84CB-B2F2-2128B2E187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59523" y="0"/>
            <a:ext cx="5751871" cy="6858000"/>
          </a:xfrm>
          <a:prstGeom prst="rect">
            <a:avLst/>
          </a:prstGeom>
        </p:spPr>
      </p:pic>
    </p:spTree>
    <p:extLst>
      <p:ext uri="{BB962C8B-B14F-4D97-AF65-F5344CB8AC3E}">
        <p14:creationId xmlns:p14="http://schemas.microsoft.com/office/powerpoint/2010/main" val="895544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isn’t very useful for explaining the world</a:t>
                </a:r>
              </a:p>
              <a:p>
                <a:r>
                  <a:rPr lang="en-GB"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 is the first “major” distribution people learn</a:t>
                </a:r>
              </a:p>
              <a:p>
                <a:r>
                  <a:rPr lang="en-GB" dirty="0"/>
                  <a:t>Described with two “parameters”</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tall tower&#10;&#10;Description automatically generated with medium confidence">
            <a:extLst>
              <a:ext uri="{FF2B5EF4-FFF2-40B4-BE49-F238E27FC236}">
                <a16:creationId xmlns:a16="http://schemas.microsoft.com/office/drawing/2014/main" id="{1BB32E3C-2F26-70EF-B981-D365E2D606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if we were going to randomly generate new values</a:t>
                </a:r>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r>
                      <a:rPr lang="en-GB" b="0" i="1" smtClean="0">
                        <a:solidFill>
                          <a:srgbClr val="FFFF00"/>
                        </a:solidFill>
                        <a:latin typeface="Cambria Math" panose="02040503050406030204" pitchFamily="18" charset="0"/>
                      </a:rPr>
                      <m:t>𝜇</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r>
                      <a:rPr lang="en-GB" b="0" i="1" smtClean="0">
                        <a:solidFill>
                          <a:srgbClr val="FFFF00"/>
                        </a:solidFill>
                        <a:latin typeface="Cambria Math" panose="02040503050406030204" pitchFamily="18" charset="0"/>
                      </a:rPr>
                      <m:t>𝐴𝑣𝑒𝑟𝑎𝑔𝑒</m:t>
                    </m:r>
                    <m:r>
                      <a:rPr lang="en-GB" b="0" i="1" smtClean="0">
                        <a:solidFill>
                          <a:srgbClr val="FFFF00"/>
                        </a:solidFill>
                        <a:latin typeface="Cambria Math" panose="02040503050406030204" pitchFamily="18" charset="0"/>
                      </a:rPr>
                      <m:t> </m:t>
                    </m:r>
                    <m:r>
                      <a:rPr lang="en-GB" b="0" i="1" smtClean="0">
                        <a:solidFill>
                          <a:srgbClr val="FFFF00"/>
                        </a:solidFill>
                        <a:latin typeface="Cambria Math" panose="02040503050406030204" pitchFamily="18" charset="0"/>
                      </a:rPr>
                      <m:t>h𝑒𝑖𝑔h</m:t>
                    </m:r>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𝑡</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4"/>
                <a:stretch>
                  <a:fillRect l="-1770"/>
                </a:stretch>
              </a:blipFill>
            </p:spPr>
            <p:txBody>
              <a:bodyPr/>
              <a:lstStyle/>
              <a:p>
                <a:r>
                  <a:rPr lang="en-GB">
                    <a:noFill/>
                  </a:rPr>
                  <a:t> </a:t>
                </a:r>
              </a:p>
            </p:txBody>
          </p:sp>
        </mc:Fallback>
      </mc:AlternateContent>
      <p:cxnSp>
        <p:nvCxnSpPr>
          <p:cNvPr id="11" name="Straight Connector 10">
            <a:extLst>
              <a:ext uri="{FF2B5EF4-FFF2-40B4-BE49-F238E27FC236}">
                <a16:creationId xmlns:a16="http://schemas.microsoft.com/office/drawing/2014/main" id="{D4B4B051-C113-D5A8-8B35-283874A073BB}"/>
              </a:ext>
            </a:extLst>
          </p:cNvPr>
          <p:cNvCxnSpPr/>
          <p:nvPr/>
        </p:nvCxnSpPr>
        <p:spPr>
          <a:xfrm>
            <a:off x="7670800" y="292100"/>
            <a:ext cx="673100" cy="0"/>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98989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500"/>
                                        <p:tgtEl>
                                          <p:spTgt spid="8"/>
                                        </p:tgtEl>
                                      </p:cBhvr>
                                    </p:animEffect>
                                  </p:childTnLst>
                                </p:cTn>
                              </p:par>
                              <p:par>
                                <p:cTn id="42" presetID="10" presetClass="exit" presetSubtype="0" fill="hold" nodeType="withEffect">
                                  <p:stCondLst>
                                    <p:cond delay="0"/>
                                  </p:stCondLst>
                                  <p:childTnLst>
                                    <p:animEffect transition="out" filter="fade">
                                      <p:cBhvr>
                                        <p:cTn id="43" dur="500"/>
                                        <p:tgtEl>
                                          <p:spTgt spid="11"/>
                                        </p:tgtEl>
                                      </p:cBhvr>
                                    </p:animEffect>
                                    <p:set>
                                      <p:cBhvr>
                                        <p:cTn id="44"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fontScale="85000" lnSpcReduction="20000"/>
              </a:bodyPr>
              <a:lstStyle/>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dirty="0"/>
                  <a:t>Where:</a:t>
                </a:r>
              </a:p>
              <a:p>
                <a14:m>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oMath>
                </a14:m>
                <a:r>
                  <a:rPr lang="en-GB" dirty="0"/>
                  <a:t> is the height of child </a:t>
                </a:r>
                <a14:m>
                  <m:oMath xmlns:m="http://schemas.openxmlformats.org/officeDocument/2006/math">
                    <m:r>
                      <a:rPr lang="en-GB" b="0" i="1" smtClean="0">
                        <a:latin typeface="Cambria Math" panose="02040503050406030204" pitchFamily="18" charset="0"/>
                      </a:rPr>
                      <m:t>𝑖</m:t>
                    </m:r>
                  </m:oMath>
                </a14:m>
                <a:endParaRPr lang="en-GB" dirty="0"/>
              </a:p>
              <a:p>
                <a:r>
                  <a:rPr lang="en-GB" b="0" dirty="0"/>
                  <a:t>“</a:t>
                </a:r>
                <a14:m>
                  <m:oMath xmlns:m="http://schemas.openxmlformats.org/officeDocument/2006/math">
                    <m:r>
                      <a:rPr lang="en-GB" b="0" i="1" smtClean="0">
                        <a:latin typeface="Cambria Math" panose="02040503050406030204" pitchFamily="18" charset="0"/>
                      </a:rPr>
                      <m:t>~</m:t>
                    </m:r>
                  </m:oMath>
                </a14:m>
                <a:r>
                  <a:rPr lang="en-GB" dirty="0"/>
                  <a:t>” means “generated according to…”</a:t>
                </a:r>
              </a:p>
              <a:p>
                <a14:m>
                  <m:oMath xmlns:m="http://schemas.openxmlformats.org/officeDocument/2006/math">
                    <m:r>
                      <a:rPr lang="en-GB" b="0" i="1" smtClean="0">
                        <a:latin typeface="Cambria Math" panose="02040503050406030204" pitchFamily="18" charset="0"/>
                      </a:rPr>
                      <m:t>𝑁𝑜𝑟𝑚𝑎𝑙</m:t>
                    </m:r>
                  </m:oMath>
                </a14:m>
                <a:r>
                  <a:rPr lang="en-GB" dirty="0"/>
                  <a:t> is the distribution we assume generated the </a:t>
                </a:r>
                <a14:m>
                  <m:oMath xmlns:m="http://schemas.openxmlformats.org/officeDocument/2006/math">
                    <m:r>
                      <a:rPr lang="en-GB" b="0" i="1" smtClean="0">
                        <a:latin typeface="Cambria Math" panose="02040503050406030204" pitchFamily="18" charset="0"/>
                      </a:rPr>
                      <m:t>𝐻𝑒𝑖𝑔h𝑡</m:t>
                    </m:r>
                  </m:oMath>
                </a14:m>
                <a:r>
                  <a:rPr lang="en-GB" dirty="0"/>
                  <a:t> values</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oMath>
                </a14:m>
                <a:r>
                  <a:rPr lang="en-GB" dirty="0"/>
                  <a:t> is the average </a:t>
                </a:r>
                <a14:m>
                  <m:oMath xmlns:m="http://schemas.openxmlformats.org/officeDocument/2006/math">
                    <m:r>
                      <a:rPr lang="en-GB" b="0" i="1" smtClean="0">
                        <a:latin typeface="Cambria Math" panose="02040503050406030204" pitchFamily="18" charset="0"/>
                      </a:rPr>
                      <m:t>𝐻𝑒𝑖𝑔h𝑡</m:t>
                    </m:r>
                  </m:oMath>
                </a14:m>
                <a:r>
                  <a:rPr lang="en-GB" dirty="0"/>
                  <a:t> we would expect for child </a:t>
                </a:r>
                <a14:m>
                  <m:oMath xmlns:m="http://schemas.openxmlformats.org/officeDocument/2006/math">
                    <m:r>
                      <a:rPr lang="en-GB" b="0" i="1" smtClean="0">
                        <a:latin typeface="Cambria Math" panose="02040503050406030204" pitchFamily="18" charset="0"/>
                      </a:rPr>
                      <m:t>𝑖</m:t>
                    </m:r>
                  </m:oMath>
                </a14:m>
                <a:endParaRPr lang="en-GB" dirty="0"/>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oMath>
                </a14:m>
                <a:r>
                  <a:rPr lang="en-GB" dirty="0"/>
                  <a:t> is the standard deviation in </a:t>
                </a:r>
                <a14:m>
                  <m:oMath xmlns:m="http://schemas.openxmlformats.org/officeDocument/2006/math">
                    <m:r>
                      <a:rPr lang="en-GB" b="0" i="1" smtClean="0">
                        <a:latin typeface="Cambria Math" panose="02040503050406030204" pitchFamily="18" charset="0"/>
                      </a:rPr>
                      <m:t>𝐻𝑒𝑖𝑔h𝑡</m:t>
                    </m:r>
                  </m:oMath>
                </a14:m>
                <a:r>
                  <a:rPr lang="en-GB" dirty="0"/>
                  <a:t> we expect for child </a:t>
                </a:r>
                <a14:m>
                  <m:oMath xmlns:m="http://schemas.openxmlformats.org/officeDocument/2006/math">
                    <m:r>
                      <a:rPr lang="en-GB" b="0" i="1" smtClean="0">
                        <a:latin typeface="Cambria Math" panose="02040503050406030204" pitchFamily="18" charset="0"/>
                      </a:rPr>
                      <m:t>𝑖</m:t>
                    </m:r>
                  </m:oMath>
                </a14:m>
                <a:endParaRPr lang="en-GB" dirty="0"/>
              </a:p>
              <a:p>
                <a:r>
                  <a:rPr lang="en-GB" dirty="0"/>
                  <a:t>Where the average (</a:t>
                </a:r>
                <a14:m>
                  <m:oMath xmlns:m="http://schemas.openxmlformats.org/officeDocument/2006/math">
                    <m:r>
                      <a:rPr lang="en-GB" b="0" i="1" smtClean="0">
                        <a:latin typeface="Cambria Math" panose="02040503050406030204" pitchFamily="18" charset="0"/>
                      </a:rPr>
                      <m:t>𝜇</m:t>
                    </m:r>
                  </m:oMath>
                </a14:m>
                <a:r>
                  <a:rPr lang="en-GB" dirty="0"/>
                  <a:t>) is:</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oMath>
                </a14:m>
                <a:r>
                  <a:rPr lang="en-GB" dirty="0"/>
                  <a:t> (height at age 0)</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oMath>
                </a14:m>
                <a:r>
                  <a:rPr lang="en-GB" dirty="0"/>
                  <a:t> (how many cm a child grows each year)</a:t>
                </a:r>
              </a:p>
              <a:p>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475" t="-4419" r="-787" b="-407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Effect transition="in" filter="fade">
                                      <p:cBhvr>
                                        <p:cTn id="6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average and range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a:p>
                <a:r>
                  <a:rPr lang="en-GB" dirty="0"/>
                  <a:t>If your model predicts values that are biologically impossible, consider changing distribution</a:t>
                </a:r>
              </a:p>
            </p:txBody>
          </p:sp>
        </mc:Choice>
        <mc:Fallback xmlns="">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3540"/>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Many more fish in the sea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1619249"/>
                <a:ext cx="5583115" cy="4962525"/>
              </a:xfrm>
            </p:spPr>
            <p:txBody>
              <a:bodyPr>
                <a:normAutofit/>
              </a:bodyPr>
              <a:lstStyle/>
              <a:p>
                <a:r>
                  <a:rPr lang="en-GB" dirty="0">
                    <a:latin typeface="Bahnschrift Light" panose="020B0502040204020203" pitchFamily="34" charset="0"/>
                  </a:rPr>
                  <a:t>Lots of different distributions available</a:t>
                </a:r>
              </a:p>
              <a:p>
                <a:r>
                  <a:rPr lang="en-GB" dirty="0">
                    <a:latin typeface="Bahnschrift Light" panose="020B0502040204020203" pitchFamily="34" charset="0"/>
                  </a:rPr>
                  <a:t>Switching to them is “easy”</a:t>
                </a:r>
              </a:p>
              <a:p>
                <a:pPr lvl="1"/>
                <a:r>
                  <a:rPr lang="en-GB" dirty="0">
                    <a:latin typeface="Bahnschrift Light" panose="020B0502040204020203" pitchFamily="34" charset="0"/>
                  </a:rPr>
                  <a:t>Doing so leads to Generalised Linear Models (GLMs)</a:t>
                </a:r>
              </a:p>
              <a:p>
                <a:r>
                  <a:rPr lang="en-GB" dirty="0">
                    <a:latin typeface="Bahnschrift Light" panose="020B0502040204020203" pitchFamily="34" charset="0"/>
                  </a:rPr>
                  <a:t>We don’t do GLMs in this course</a:t>
                </a:r>
              </a:p>
              <a:p>
                <a:r>
                  <a:rPr lang="en-GB" dirty="0">
                    <a:latin typeface="Bahnschrift Light" panose="020B0502040204020203" pitchFamily="34" charset="0"/>
                  </a:rPr>
                  <a:t>Just be aware that you are not limited to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a:t>
                </a:r>
              </a:p>
            </p:txBody>
          </p:sp>
        </mc:Choice>
        <mc:Fallback xmlns="">
          <p:sp>
            <p:nvSpPr>
              <p:cNvPr id="3" name="Content Placeholder 2">
                <a:extLst>
                  <a:ext uri="{FF2B5EF4-FFF2-40B4-BE49-F238E27FC236}">
                    <a16:creationId xmlns:a16="http://schemas.microsoft.com/office/drawing/2014/main" id="{53CFBA6F-FFE0-43B0-753F-6E3B955C3570}"/>
                  </a:ext>
                </a:extLst>
              </p:cNvPr>
              <p:cNvSpPr>
                <a:spLocks noGrp="1" noRot="1" noChangeAspect="1" noMove="1" noResize="1" noEditPoints="1" noAdjustHandles="1" noChangeArrowheads="1" noChangeShapeType="1" noTextEdit="1"/>
              </p:cNvSpPr>
              <p:nvPr>
                <p:ph idx="1"/>
              </p:nvPr>
            </p:nvSpPr>
            <p:spPr>
              <a:xfrm>
                <a:off x="246185" y="1619249"/>
                <a:ext cx="5583115" cy="4962525"/>
              </a:xfrm>
              <a:blipFill>
                <a:blip r:embed="rId2"/>
                <a:stretch>
                  <a:fillRect l="-1965" t="-2334" r="-1638"/>
                </a:stretch>
              </a:blipFill>
            </p:spPr>
            <p:txBody>
              <a:bodyPr/>
              <a:lstStyle/>
              <a:p>
                <a:r>
                  <a:rPr lang="en-GB">
                    <a:noFill/>
                  </a:rPr>
                  <a:t> </a:t>
                </a:r>
              </a:p>
            </p:txBody>
          </p:sp>
        </mc:Fallback>
      </mc:AlternateContent>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lnSpcReduction="10000"/>
          </a:bodyPr>
          <a:lstStyle/>
          <a:p>
            <a:r>
              <a:rPr lang="en-GB" dirty="0">
                <a:latin typeface="Bahnschrift Light" panose="020B0502040204020203" pitchFamily="34" charset="0"/>
              </a:rPr>
              <a:t>Don’t plot histograms of your response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2"/>
            <a:r>
              <a:rPr lang="en-GB" dirty="0">
                <a:latin typeface="Bahnschrift Light" panose="020B0502040204020203" pitchFamily="34" charset="0"/>
              </a:rPr>
              <a:t>(And am I close to those limits?)</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
                                            <p:txEl>
                                              <p:pRg st="4" end="4"/>
                                            </p:txEl>
                                          </p:spTgt>
                                        </p:tgtEl>
                                        <p:attrNameLst>
                                          <p:attrName>style.visibility</p:attrName>
                                        </p:attrNameLst>
                                      </p:cBhvr>
                                      <p:to>
                                        <p:strVal val="visible"/>
                                      </p:to>
                                    </p:set>
                                    <p:animEffect transition="in" filter="fade">
                                      <p:cBhvr>
                                        <p:cTn id="46" dur="500"/>
                                        <p:tgtEl>
                                          <p:spTgt spid="3">
                                            <p:txEl>
                                              <p:pRg st="4" end="4"/>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Effect transition="in" filter="fade">
                                      <p:cBhvr>
                                        <p:cTn id="4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How much coffee do you drink?</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Boring question. Who cares?</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68FD3-7BCC-9E92-755E-5E4042D88E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E492-C309-AE80-0A5A-C913478D008E}"/>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Stochastic and deterministic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FB225-C157-471D-970C-0D20B92D1711}"/>
                  </a:ext>
                </a:extLst>
              </p:cNvPr>
              <p:cNvSpPr>
                <a:spLocks noGrp="1"/>
              </p:cNvSpPr>
              <p:nvPr>
                <p:ph idx="1"/>
              </p:nvPr>
            </p:nvSpPr>
            <p:spPr>
              <a:xfrm>
                <a:off x="1076326" y="1333981"/>
                <a:ext cx="3680637" cy="471338"/>
              </a:xfrm>
            </p:spPr>
            <p:txBody>
              <a:bodyPr>
                <a:normAutofit fontScale="92500"/>
              </a:bodyPr>
              <a:lstStyle/>
              <a:p>
                <a:pPr marL="0" indent="0">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latin typeface="Cambria Math" panose="02040503050406030204" pitchFamily="18" charset="0"/>
                        </a:rPr>
                        <m:t>𝑁𝑜𝑟𝑚𝑎𝑙</m:t>
                      </m:r>
                      <m:d>
                        <m:dPr>
                          <m:ctrlPr>
                            <a:rPr lang="en-GB" i="1">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br>
                  <a:rPr lang="en-GB" i="1" dirty="0">
                    <a:latin typeface="Cambria Math" panose="02040503050406030204" pitchFamily="18" charset="0"/>
                  </a:rPr>
                </a:br>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8DBFB225-C157-471D-970C-0D20B92D1711}"/>
                  </a:ext>
                </a:extLst>
              </p:cNvPr>
              <p:cNvSpPr>
                <a:spLocks noGrp="1" noRot="1" noChangeAspect="1" noMove="1" noResize="1" noEditPoints="1" noAdjustHandles="1" noChangeArrowheads="1" noChangeShapeType="1" noTextEdit="1"/>
              </p:cNvSpPr>
              <p:nvPr>
                <p:ph idx="1"/>
              </p:nvPr>
            </p:nvSpPr>
            <p:spPr>
              <a:xfrm>
                <a:off x="1076326" y="1333981"/>
                <a:ext cx="3680637" cy="471338"/>
              </a:xfrm>
              <a:blipFill>
                <a:blip r:embed="rId2"/>
                <a:stretch>
                  <a:fillRect b="-779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43978-7DC5-A458-2898-F89876131E74}"/>
                  </a:ext>
                </a:extLst>
              </p:cNvPr>
              <p:cNvSpPr txBox="1"/>
              <p:nvPr/>
            </p:nvSpPr>
            <p:spPr>
              <a:xfrm>
                <a:off x="6891076" y="1307633"/>
                <a:ext cx="352203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𝜇</m:t>
                          </m:r>
                        </m:e>
                        <m:sub>
                          <m:r>
                            <a:rPr lang="en-GB" sz="2400" b="0" i="1" smtClean="0">
                              <a:latin typeface="Cambria Math" panose="02040503050406030204" pitchFamily="18" charset="0"/>
                            </a:rPr>
                            <m:t>𝑖</m:t>
                          </m:r>
                        </m:sub>
                      </m:sSub>
                      <m:r>
                        <a:rPr lang="en-GB" sz="2400" i="1">
                          <a:latin typeface="Cambria Math" panose="02040503050406030204" pitchFamily="18" charset="0"/>
                        </a:rPr>
                        <m:t>=</m:t>
                      </m:r>
                      <m:r>
                        <a:rPr lang="en-GB" sz="2400" b="0" i="1" smtClean="0">
                          <a:latin typeface="Cambria Math" panose="02040503050406030204" pitchFamily="18" charset="0"/>
                        </a:rPr>
                        <m:t>𝑠𝑡𝑢𝑓</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𝑓</m:t>
                          </m:r>
                        </m:e>
                        <m:sub>
                          <m:r>
                            <a:rPr lang="en-GB" sz="2400" b="0" i="1" smtClean="0">
                              <a:latin typeface="Cambria Math" panose="02040503050406030204" pitchFamily="18" charset="0"/>
                            </a:rPr>
                            <m:t>𝑖</m:t>
                          </m:r>
                        </m:sub>
                      </m:sSub>
                    </m:oMath>
                  </m:oMathPara>
                </a14:m>
                <a:endParaRPr lang="en-GB" sz="2400" dirty="0"/>
              </a:p>
            </p:txBody>
          </p:sp>
        </mc:Choice>
        <mc:Fallback xmlns="">
          <p:sp>
            <p:nvSpPr>
              <p:cNvPr id="5" name="TextBox 4">
                <a:extLst>
                  <a:ext uri="{FF2B5EF4-FFF2-40B4-BE49-F238E27FC236}">
                    <a16:creationId xmlns:a16="http://schemas.microsoft.com/office/drawing/2014/main" id="{EEE43978-7DC5-A458-2898-F89876131E74}"/>
                  </a:ext>
                </a:extLst>
              </p:cNvPr>
              <p:cNvSpPr txBox="1">
                <a:spLocks noRot="1" noChangeAspect="1" noMove="1" noResize="1" noEditPoints="1" noAdjustHandles="1" noChangeArrowheads="1" noChangeShapeType="1" noTextEdit="1"/>
              </p:cNvSpPr>
              <p:nvPr/>
            </p:nvSpPr>
            <p:spPr>
              <a:xfrm>
                <a:off x="6891076" y="1307633"/>
                <a:ext cx="3522035" cy="461665"/>
              </a:xfrm>
              <a:prstGeom prst="rect">
                <a:avLst/>
              </a:prstGeom>
              <a:blipFill>
                <a:blip r:embed="rId3"/>
                <a:stretch>
                  <a:fillRect b="-21333"/>
                </a:stretch>
              </a:blipFill>
            </p:spPr>
            <p:txBody>
              <a:bodyPr/>
              <a:lstStyle/>
              <a:p>
                <a:r>
                  <a:rPr lang="en-GB">
                    <a:noFill/>
                  </a:rPr>
                  <a:t> </a:t>
                </a:r>
              </a:p>
            </p:txBody>
          </p:sp>
        </mc:Fallback>
      </mc:AlternateContent>
      <p:cxnSp>
        <p:nvCxnSpPr>
          <p:cNvPr id="9" name="Straight Connector 8">
            <a:extLst>
              <a:ext uri="{FF2B5EF4-FFF2-40B4-BE49-F238E27FC236}">
                <a16:creationId xmlns:a16="http://schemas.microsoft.com/office/drawing/2014/main" id="{B24AE5D9-FA42-19A1-8188-C7B5019CA43A}"/>
              </a:ext>
            </a:extLst>
          </p:cNvPr>
          <p:cNvCxnSpPr>
            <a:cxnSpLocks/>
          </p:cNvCxnSpPr>
          <p:nvPr/>
        </p:nvCxnSpPr>
        <p:spPr>
          <a:xfrm>
            <a:off x="2112792" y="1769298"/>
            <a:ext cx="2243470"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16134-71C3-C773-7320-EF40CD39837D}"/>
              </a:ext>
            </a:extLst>
          </p:cNvPr>
          <p:cNvCxnSpPr>
            <a:cxnSpLocks/>
          </p:cNvCxnSpPr>
          <p:nvPr/>
        </p:nvCxnSpPr>
        <p:spPr>
          <a:xfrm>
            <a:off x="8532581" y="1768500"/>
            <a:ext cx="762339" cy="798"/>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5BC242A-5495-E14B-DE40-02C6078BD7CB}"/>
                  </a:ext>
                </a:extLst>
              </p:cNvPr>
              <p:cNvSpPr txBox="1">
                <a:spLocks/>
              </p:cNvSpPr>
              <p:nvPr/>
            </p:nvSpPr>
            <p:spPr>
              <a:xfrm>
                <a:off x="959368" y="2051530"/>
                <a:ext cx="4318591"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stochastic</a:t>
                </a:r>
                <a:r>
                  <a:rPr lang="en-GB" dirty="0">
                    <a:latin typeface="Bahnschrift Light" panose="020B0502040204020203" pitchFamily="34" charset="0"/>
                  </a:rPr>
                  <a:t> (i.e. “randomness”) element of the model</a:t>
                </a:r>
              </a:p>
              <a:p>
                <a:r>
                  <a:rPr lang="en-GB" dirty="0">
                    <a:latin typeface="Bahnschrift Light" panose="020B0502040204020203" pitchFamily="34" charset="0"/>
                  </a:rPr>
                  <a:t>By using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 we tell the model what type of response values are sensible, given we don’t expect perfect fit</a:t>
                </a:r>
              </a:p>
              <a:p>
                <a:r>
                  <a:rPr lang="en-GB" dirty="0">
                    <a:latin typeface="Bahnschrift Light" panose="020B0502040204020203" pitchFamily="34" charset="0"/>
                  </a:rPr>
                  <a:t>E.g. the linear predictor (</a:t>
                </a:r>
                <a14:m>
                  <m:oMath xmlns:m="http://schemas.openxmlformats.org/officeDocument/2006/math">
                    <m:r>
                      <a:rPr lang="en-GB" b="0" i="1" smtClean="0">
                        <a:latin typeface="Cambria Math" panose="02040503050406030204" pitchFamily="18" charset="0"/>
                      </a:rPr>
                      <m:t>𝜇</m:t>
                    </m:r>
                  </m:oMath>
                </a14:m>
                <a:r>
                  <a:rPr lang="en-GB" dirty="0">
                    <a:latin typeface="Bahnschrift Light" panose="020B0502040204020203" pitchFamily="34" charset="0"/>
                  </a:rPr>
                  <a:t>) might suggest you drink 528.6 coffees in a year</a:t>
                </a:r>
              </a:p>
              <a:p>
                <a:pPr lvl="1"/>
                <a:r>
                  <a:rPr lang="en-GB" dirty="0">
                    <a:latin typeface="Bahnschrift Light" panose="020B0502040204020203" pitchFamily="34" charset="0"/>
                  </a:rPr>
                  <a:t>But not all people will drink exactly 528.6 coffees</a:t>
                </a:r>
              </a:p>
              <a:p>
                <a:endParaRPr lang="en-GB" dirty="0">
                  <a:latin typeface="Bahnschrift Light" panose="020B0502040204020203" pitchFamily="34" charset="0"/>
                </a:endParaRPr>
              </a:p>
            </p:txBody>
          </p:sp>
        </mc:Choice>
        <mc:Fallback xmlns="">
          <p:sp>
            <p:nvSpPr>
              <p:cNvPr id="14" name="Content Placeholder 2">
                <a:extLst>
                  <a:ext uri="{FF2B5EF4-FFF2-40B4-BE49-F238E27FC236}">
                    <a16:creationId xmlns:a16="http://schemas.microsoft.com/office/drawing/2014/main" id="{65BC242A-5495-E14B-DE40-02C6078BD7CB}"/>
                  </a:ext>
                </a:extLst>
              </p:cNvPr>
              <p:cNvSpPr txBox="1">
                <a:spLocks noRot="1" noChangeAspect="1" noMove="1" noResize="1" noEditPoints="1" noAdjustHandles="1" noChangeArrowheads="1" noChangeShapeType="1" noTextEdit="1"/>
              </p:cNvSpPr>
              <p:nvPr/>
            </p:nvSpPr>
            <p:spPr>
              <a:xfrm>
                <a:off x="959368" y="2051530"/>
                <a:ext cx="4318591" cy="4351338"/>
              </a:xfrm>
              <a:prstGeom prst="rect">
                <a:avLst/>
              </a:prstGeom>
              <a:blipFill>
                <a:blip r:embed="rId4"/>
                <a:stretch>
                  <a:fillRect l="-1834" t="-3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7314759-7983-3736-5C65-3731BF988E15}"/>
                  </a:ext>
                </a:extLst>
              </p:cNvPr>
              <p:cNvSpPr txBox="1">
                <a:spLocks/>
              </p:cNvSpPr>
              <p:nvPr/>
            </p:nvSpPr>
            <p:spPr>
              <a:xfrm>
                <a:off x="6745693" y="2038276"/>
                <a:ext cx="4486939" cy="43513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deterministic</a:t>
                </a:r>
                <a:r>
                  <a:rPr lang="en-GB" dirty="0">
                    <a:latin typeface="Bahnschrift Light" panose="020B0502040204020203" pitchFamily="34" charset="0"/>
                  </a:rPr>
                  <a:t> element of the model</a:t>
                </a:r>
              </a:p>
              <a:p>
                <a:r>
                  <a:rPr lang="en-GB" dirty="0">
                    <a:latin typeface="Bahnschrift Light" panose="020B0502040204020203" pitchFamily="34" charset="0"/>
                  </a:rPr>
                  <a:t>We decide what goes into the deterministic element</a:t>
                </a:r>
              </a:p>
              <a:p>
                <a:pPr lvl="1"/>
                <a:r>
                  <a:rPr lang="en-GB" dirty="0">
                    <a:latin typeface="Bahnschrift Light" panose="020B0502040204020203" pitchFamily="34" charset="0"/>
                  </a:rPr>
                  <a:t>E.g. I think </a:t>
                </a:r>
                <a14:m>
                  <m:oMath xmlns:m="http://schemas.openxmlformats.org/officeDocument/2006/math">
                    <m:r>
                      <m:rPr>
                        <m:sty m:val="p"/>
                      </m:rPr>
                      <a:rPr lang="en-GB" b="0" i="0" dirty="0" smtClean="0">
                        <a:latin typeface="Cambria Math" panose="02040503050406030204" pitchFamily="18" charset="0"/>
                      </a:rPr>
                      <m:t>y</m:t>
                    </m:r>
                  </m:oMath>
                </a14:m>
                <a:r>
                  <a:rPr lang="en-GB" dirty="0">
                    <a:latin typeface="Bahnschrift Light" panose="020B0502040204020203" pitchFamily="34" charset="0"/>
                  </a:rPr>
                  <a:t> happens because of </a:t>
                </a:r>
                <a14:m>
                  <m:oMath xmlns:m="http://schemas.openxmlformats.org/officeDocument/2006/math">
                    <m:r>
                      <a:rPr lang="en-GB" b="0" i="1" smtClean="0">
                        <a:latin typeface="Cambria Math" panose="02040503050406030204" pitchFamily="18" charset="0"/>
                      </a:rPr>
                      <m:t>𝑋</m:t>
                    </m:r>
                  </m:oMath>
                </a14:m>
                <a:endParaRPr lang="en-GB" dirty="0">
                  <a:latin typeface="Bahnschrift Light" panose="020B0502040204020203" pitchFamily="34" charset="0"/>
                </a:endParaRPr>
              </a:p>
              <a:p>
                <a:r>
                  <a:rPr lang="en-GB" dirty="0">
                    <a:latin typeface="Bahnschrift Light" panose="020B0502040204020203" pitchFamily="34" charset="0"/>
                  </a:rPr>
                  <a:t>E.g. I drink an average of 781.3 coffees a year because I was heavily influenced by media growing up</a:t>
                </a:r>
              </a:p>
              <a:p>
                <a:pPr lvl="1"/>
                <a:r>
                  <a:rPr lang="en-GB" dirty="0">
                    <a:latin typeface="Bahnschrift Light" panose="020B0502040204020203" pitchFamily="34" charset="0"/>
                  </a:rPr>
                  <a:t>But someone who didn’t consume the same media as me will probably drink less</a:t>
                </a:r>
              </a:p>
              <a:p>
                <a:endParaRPr lang="en-GB" dirty="0">
                  <a:latin typeface="Bahnschrift Light" panose="020B0502040204020203" pitchFamily="34" charset="0"/>
                </a:endParaRPr>
              </a:p>
            </p:txBody>
          </p:sp>
        </mc:Choice>
        <mc:Fallback xmlns="">
          <p:sp>
            <p:nvSpPr>
              <p:cNvPr id="17" name="Content Placeholder 2">
                <a:extLst>
                  <a:ext uri="{FF2B5EF4-FFF2-40B4-BE49-F238E27FC236}">
                    <a16:creationId xmlns:a16="http://schemas.microsoft.com/office/drawing/2014/main" id="{27314759-7983-3736-5C65-3731BF988E15}"/>
                  </a:ext>
                </a:extLst>
              </p:cNvPr>
              <p:cNvSpPr txBox="1">
                <a:spLocks noRot="1" noChangeAspect="1" noMove="1" noResize="1" noEditPoints="1" noAdjustHandles="1" noChangeArrowheads="1" noChangeShapeType="1" noTextEdit="1"/>
              </p:cNvSpPr>
              <p:nvPr/>
            </p:nvSpPr>
            <p:spPr>
              <a:xfrm>
                <a:off x="6745693" y="2038276"/>
                <a:ext cx="4486939" cy="4351338"/>
              </a:xfrm>
              <a:prstGeom prst="rect">
                <a:avLst/>
              </a:prstGeom>
              <a:blipFill>
                <a:blip r:embed="rId5"/>
                <a:stretch>
                  <a:fillRect l="-2174" t="-4062" r="-2310"/>
                </a:stretch>
              </a:blipFill>
            </p:spPr>
            <p:txBody>
              <a:bodyPr/>
              <a:lstStyle/>
              <a:p>
                <a:r>
                  <a:rPr lang="en-GB">
                    <a:noFill/>
                  </a:rPr>
                  <a:t> </a:t>
                </a:r>
              </a:p>
            </p:txBody>
          </p:sp>
        </mc:Fallback>
      </mc:AlternateContent>
    </p:spTree>
    <p:extLst>
      <p:ext uri="{BB962C8B-B14F-4D97-AF65-F5344CB8AC3E}">
        <p14:creationId xmlns:p14="http://schemas.microsoft.com/office/powerpoint/2010/main" val="4147180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xEl>
                                              <p:pRg st="1" end="1"/>
                                            </p:txEl>
                                          </p:spTgt>
                                        </p:tgtEl>
                                        <p:attrNameLst>
                                          <p:attrName>style.visibility</p:attrName>
                                        </p:attrNameLst>
                                      </p:cBhvr>
                                      <p:to>
                                        <p:strVal val="visible"/>
                                      </p:to>
                                    </p:set>
                                    <p:animEffect transition="in" filter="fade">
                                      <p:cBhvr>
                                        <p:cTn id="15" dur="500"/>
                                        <p:tgtEl>
                                          <p:spTgt spid="1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
                                            <p:txEl>
                                              <p:pRg st="2" end="2"/>
                                            </p:txEl>
                                          </p:spTgt>
                                        </p:tgtEl>
                                        <p:attrNameLst>
                                          <p:attrName>style.visibility</p:attrName>
                                        </p:attrNameLst>
                                      </p:cBhvr>
                                      <p:to>
                                        <p:strVal val="visible"/>
                                      </p:to>
                                    </p:set>
                                    <p:animEffect transition="in" filter="fade">
                                      <p:cBhvr>
                                        <p:cTn id="20" dur="500"/>
                                        <p:tgtEl>
                                          <p:spTgt spid="14">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
                                            <p:txEl>
                                              <p:pRg st="3" end="3"/>
                                            </p:txEl>
                                          </p:spTgt>
                                        </p:tgtEl>
                                        <p:attrNameLst>
                                          <p:attrName>style.visibility</p:attrName>
                                        </p:attrNameLst>
                                      </p:cBhvr>
                                      <p:to>
                                        <p:strVal val="visible"/>
                                      </p:to>
                                    </p:set>
                                    <p:animEffect transition="in" filter="fade">
                                      <p:cBhvr>
                                        <p:cTn id="25" dur="500"/>
                                        <p:tgtEl>
                                          <p:spTgt spid="14">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xEl>
                                              <p:pRg st="0" end="0"/>
                                            </p:txEl>
                                          </p:spTgt>
                                        </p:tgtEl>
                                        <p:attrNameLst>
                                          <p:attrName>style.visibility</p:attrName>
                                        </p:attrNameLst>
                                      </p:cBhvr>
                                      <p:to>
                                        <p:strVal val="visible"/>
                                      </p:to>
                                    </p:set>
                                    <p:animEffect transition="in" filter="fade">
                                      <p:cBhvr>
                                        <p:cTn id="33" dur="500"/>
                                        <p:tgtEl>
                                          <p:spTgt spid="17">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7">
                                            <p:txEl>
                                              <p:pRg st="1" end="1"/>
                                            </p:txEl>
                                          </p:spTgt>
                                        </p:tgtEl>
                                        <p:attrNameLst>
                                          <p:attrName>style.visibility</p:attrName>
                                        </p:attrNameLst>
                                      </p:cBhvr>
                                      <p:to>
                                        <p:strVal val="visible"/>
                                      </p:to>
                                    </p:set>
                                    <p:animEffect transition="in" filter="fade">
                                      <p:cBhvr>
                                        <p:cTn id="38" dur="500"/>
                                        <p:tgtEl>
                                          <p:spTgt spid="17">
                                            <p:txEl>
                                              <p:pRg st="1" end="1"/>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xEl>
                                              <p:pRg st="2" end="2"/>
                                            </p:txEl>
                                          </p:spTgt>
                                        </p:tgtEl>
                                        <p:attrNameLst>
                                          <p:attrName>style.visibility</p:attrName>
                                        </p:attrNameLst>
                                      </p:cBhvr>
                                      <p:to>
                                        <p:strVal val="visible"/>
                                      </p:to>
                                    </p:set>
                                    <p:animEffect transition="in" filter="fade">
                                      <p:cBhvr>
                                        <p:cTn id="43" dur="500"/>
                                        <p:tgtEl>
                                          <p:spTgt spid="17">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xEl>
                                              <p:pRg st="3" end="3"/>
                                            </p:txEl>
                                          </p:spTgt>
                                        </p:tgtEl>
                                        <p:attrNameLst>
                                          <p:attrName>style.visibility</p:attrName>
                                        </p:attrNameLst>
                                      </p:cBhvr>
                                      <p:to>
                                        <p:strVal val="visible"/>
                                      </p:to>
                                    </p:set>
                                    <p:animEffect transition="in" filter="fade">
                                      <p:cBhvr>
                                        <p:cTn id="48" dur="500"/>
                                        <p:tgtEl>
                                          <p:spTgt spid="17">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xEl>
                                              <p:pRg st="4" end="4"/>
                                            </p:txEl>
                                          </p:spTgt>
                                        </p:tgtEl>
                                        <p:attrNameLst>
                                          <p:attrName>style.visibility</p:attrName>
                                        </p:attrNameLst>
                                      </p:cBhvr>
                                      <p:to>
                                        <p:strVal val="visible"/>
                                      </p:to>
                                    </p:set>
                                    <p:animEffect transition="in" filter="fade">
                                      <p:cBhvr>
                                        <p:cTn id="53" dur="500"/>
                                        <p:tgtEl>
                                          <p:spTgt spid="1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GB" b="0" i="1" dirty="0" smtClean="0">
                          <a:latin typeface="Cambria Math" panose="02040503050406030204" pitchFamily="18" charset="0"/>
                        </a:rPr>
                        <m:t>𝐷𝑖𝑠𝑡𝑟𝑖𝑏𝑢𝑡𝑖𝑜𝑛</m:t>
                      </m:r>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e>
                      </m:d>
                    </m:oMath>
                    <m:oMath xmlns:m="http://schemas.openxmlformats.org/officeDocument/2006/math">
                      <m:r>
                        <a:rPr lang="en-GB" b="0" i="1" dirty="0" smtClean="0">
                          <a:latin typeface="Cambria Math" panose="02040503050406030204" pitchFamily="18" charset="0"/>
                        </a:rPr>
                        <m:t> </m:t>
                      </m:r>
                      <m:r>
                        <a:rPr lang="en-GB" b="0" i="1" dirty="0" smtClean="0">
                          <a:latin typeface="Cambria Math" panose="02040503050406030204" pitchFamily="18" charset="0"/>
                        </a:rPr>
                        <m:t>𝑔</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58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92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 </a:t>
            </a:r>
            <a:r>
              <a:rPr lang="en-GB" sz="1200" dirty="0">
                <a:latin typeface="Bahnschrift Light" panose="020B0502040204020203" pitchFamily="34" charset="0"/>
              </a:rPr>
              <a:t>(Gelman &amp; Hill)</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marL="514350" indent="-514350">
              <a:buFont typeface="+mj-lt"/>
              <a:buAutoNum type="arabicPeriod"/>
            </a:pPr>
            <a:r>
              <a:rPr lang="en-GB" b="1" dirty="0">
                <a:solidFill>
                  <a:srgbClr val="FFFF00"/>
                </a:solidFill>
                <a:latin typeface="Bahnschrift Light" panose="020B0502040204020203" pitchFamily="34" charset="0"/>
              </a:rPr>
              <a:t>Linearity </a:t>
            </a:r>
            <a:r>
              <a:rPr lang="en-GB" sz="1100" dirty="0">
                <a:latin typeface="Bahnschrift Light" panose="020B0502040204020203" pitchFamily="34" charset="0"/>
              </a:rPr>
              <a:t>(Gelman &amp; Hill)</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marL="514350" indent="-514350">
              <a:buFont typeface="+mj-lt"/>
              <a:buAutoNum type="arabicPeriod" startAt="3"/>
            </a:pPr>
            <a:r>
              <a:rPr lang="en-GB" b="1" dirty="0">
                <a:solidFill>
                  <a:srgbClr val="FFFF00"/>
                </a:solidFill>
                <a:latin typeface="Bahnschrift Light" panose="020B0502040204020203" pitchFamily="34" charset="0"/>
              </a:rPr>
              <a:t>Homogeneity of variance</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a:p>
            <a:pPr marL="514350" indent="-514350">
              <a:buFont typeface="+mj-lt"/>
              <a:buAutoNum type="arabicPeriod" startAt="5"/>
            </a:pPr>
            <a:r>
              <a:rPr lang="en-GB" b="1" dirty="0">
                <a:solidFill>
                  <a:srgbClr val="FFFF00"/>
                </a:solidFill>
                <a:latin typeface="Bahnschrift Light" panose="020B0502040204020203" pitchFamily="34" charset="0"/>
              </a:rPr>
              <a:t>Plus</a:t>
            </a:r>
            <a:r>
              <a:rPr lang="en-GB" dirty="0">
                <a:latin typeface="Bahnschrift Light" panose="020B0502040204020203" pitchFamily="34" charset="0"/>
              </a:rPr>
              <a:t> some assumptions that are specific to certain distributions</a:t>
            </a:r>
          </a:p>
          <a:p>
            <a:endParaRPr lang="en-GB" dirty="0"/>
          </a:p>
        </p:txBody>
      </p:sp>
    </p:spTree>
    <p:extLst>
      <p:ext uri="{BB962C8B-B14F-4D97-AF65-F5344CB8AC3E}">
        <p14:creationId xmlns:p14="http://schemas.microsoft.com/office/powerpoint/2010/main" val="4164773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fade">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9" end="9"/>
                                            </p:txEl>
                                          </p:spTgt>
                                        </p:tgtEl>
                                        <p:attrNameLst>
                                          <p:attrName>style.visibility</p:attrName>
                                        </p:attrNameLst>
                                      </p:cBhvr>
                                      <p:to>
                                        <p:strVal val="visible"/>
                                      </p:to>
                                    </p:set>
                                    <p:animEffect transition="in" filter="fade">
                                      <p:cBhvr>
                                        <p:cTn id="48" dur="500"/>
                                        <p:tgtEl>
                                          <p:spTgt spid="3">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
                                            <p:txEl>
                                              <p:pRg st="0" end="0"/>
                                            </p:txEl>
                                          </p:spTgt>
                                        </p:tgtEl>
                                        <p:attrNameLst>
                                          <p:attrName>style.visibility</p:attrName>
                                        </p:attrNameLst>
                                      </p:cBhvr>
                                      <p:to>
                                        <p:strVal val="visible"/>
                                      </p:to>
                                    </p:set>
                                    <p:animEffect transition="in" filter="fade">
                                      <p:cBhvr>
                                        <p:cTn id="53" dur="500"/>
                                        <p:tgtEl>
                                          <p:spTgt spid="6">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6">
                                            <p:txEl>
                                              <p:pRg st="1" end="1"/>
                                            </p:txEl>
                                          </p:spTgt>
                                        </p:tgtEl>
                                        <p:attrNameLst>
                                          <p:attrName>style.visibility</p:attrName>
                                        </p:attrNameLst>
                                      </p:cBhvr>
                                      <p:to>
                                        <p:strVal val="visible"/>
                                      </p:to>
                                    </p:set>
                                    <p:animEffect transition="in" filter="fade">
                                      <p:cBhvr>
                                        <p:cTn id="58" dur="500"/>
                                        <p:tgtEl>
                                          <p:spTgt spid="6">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6">
                                            <p:txEl>
                                              <p:pRg st="2" end="2"/>
                                            </p:txEl>
                                          </p:spTgt>
                                        </p:tgtEl>
                                        <p:attrNameLst>
                                          <p:attrName>style.visibility</p:attrName>
                                        </p:attrNameLst>
                                      </p:cBhvr>
                                      <p:to>
                                        <p:strVal val="visible"/>
                                      </p:to>
                                    </p:set>
                                    <p:animEffect transition="in" filter="fade">
                                      <p:cBhvr>
                                        <p:cTn id="63" dur="500"/>
                                        <p:tgtEl>
                                          <p:spTgt spid="6">
                                            <p:txEl>
                                              <p:pRg st="2" end="2"/>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
                                            <p:txEl>
                                              <p:pRg st="3" end="3"/>
                                            </p:txEl>
                                          </p:spTgt>
                                        </p:tgtEl>
                                        <p:attrNameLst>
                                          <p:attrName>style.visibility</p:attrName>
                                        </p:attrNameLst>
                                      </p:cBhvr>
                                      <p:to>
                                        <p:strVal val="visible"/>
                                      </p:to>
                                    </p:set>
                                    <p:animEffect transition="in" filter="fade">
                                      <p:cBhvr>
                                        <p:cTn id="66" dur="500"/>
                                        <p:tgtEl>
                                          <p:spTgt spid="6">
                                            <p:txEl>
                                              <p:pRg st="3" end="3"/>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6">
                                            <p:txEl>
                                              <p:pRg st="4" end="4"/>
                                            </p:txEl>
                                          </p:spTgt>
                                        </p:tgtEl>
                                        <p:attrNameLst>
                                          <p:attrName>style.visibility</p:attrName>
                                        </p:attrNameLst>
                                      </p:cBhvr>
                                      <p:to>
                                        <p:strVal val="visible"/>
                                      </p:to>
                                    </p:set>
                                    <p:animEffect transition="in" filter="fade">
                                      <p:cBhvr>
                                        <p:cTn id="71" dur="500"/>
                                        <p:tgtEl>
                                          <p:spTgt spid="6">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6">
                                            <p:txEl>
                                              <p:pRg st="5" end="5"/>
                                            </p:txEl>
                                          </p:spTgt>
                                        </p:tgtEl>
                                        <p:attrNameLst>
                                          <p:attrName>style.visibility</p:attrName>
                                        </p:attrNameLst>
                                      </p:cBhvr>
                                      <p:to>
                                        <p:strVal val="visible"/>
                                      </p:to>
                                    </p:set>
                                    <p:animEffect transition="in" filter="fade">
                                      <p:cBhvr>
                                        <p:cTn id="76" dur="500"/>
                                        <p:tgtEl>
                                          <p:spTgt spid="6">
                                            <p:txEl>
                                              <p:pRg st="5" end="5"/>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xEl>
                                              <p:pRg st="6" end="6"/>
                                            </p:txEl>
                                          </p:spTgt>
                                        </p:tgtEl>
                                        <p:attrNameLst>
                                          <p:attrName>style.visibility</p:attrName>
                                        </p:attrNameLst>
                                      </p:cBhvr>
                                      <p:to>
                                        <p:strVal val="visible"/>
                                      </p:to>
                                    </p:set>
                                    <p:animEffect transition="in" filter="fade">
                                      <p:cBhvr>
                                        <p:cTn id="81" dur="500"/>
                                        <p:tgtEl>
                                          <p:spTgt spid="6">
                                            <p:txEl>
                                              <p:pRg st="6" end="6"/>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
                                            <p:txEl>
                                              <p:pRg st="7" end="7"/>
                                            </p:txEl>
                                          </p:spTgt>
                                        </p:tgtEl>
                                        <p:attrNameLst>
                                          <p:attrName>style.visibility</p:attrName>
                                        </p:attrNameLst>
                                      </p:cBhvr>
                                      <p:to>
                                        <p:strVal val="visible"/>
                                      </p:to>
                                    </p:set>
                                    <p:animEffect transition="in" filter="fade">
                                      <p:cBhvr>
                                        <p:cTn id="86" dur="500"/>
                                        <p:tgtEl>
                                          <p:spTgt spid="6">
                                            <p:txEl>
                                              <p:pRg st="7" end="7"/>
                                            </p:txEl>
                                          </p:spTgt>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
                                            <p:txEl>
                                              <p:pRg st="8" end="8"/>
                                            </p:txEl>
                                          </p:spTgt>
                                        </p:tgtEl>
                                        <p:attrNameLst>
                                          <p:attrName>style.visibility</p:attrName>
                                        </p:attrNameLst>
                                      </p:cBhvr>
                                      <p:to>
                                        <p:strVal val="visible"/>
                                      </p:to>
                                    </p:set>
                                    <p:animEffect transition="in" filter="fade">
                                      <p:cBhvr>
                                        <p:cTn id="89" dur="500"/>
                                        <p:tgtEl>
                                          <p:spTgt spid="6">
                                            <p:txEl>
                                              <p:pRg st="8" end="8"/>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6">
                                            <p:txEl>
                                              <p:pRg st="9" end="9"/>
                                            </p:txEl>
                                          </p:spTgt>
                                        </p:tgtEl>
                                        <p:attrNameLst>
                                          <p:attrName>style.visibility</p:attrName>
                                        </p:attrNameLst>
                                      </p:cBhvr>
                                      <p:to>
                                        <p:strVal val="visible"/>
                                      </p:to>
                                    </p:set>
                                    <p:animEffect transition="in" filter="fade">
                                      <p:cBhvr>
                                        <p:cTn id="94" dur="500"/>
                                        <p:tgtEl>
                                          <p:spTgt spid="6">
                                            <p:txEl>
                                              <p:pRg st="9" end="9"/>
                                            </p:txEl>
                                          </p:spTgt>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6">
                                            <p:txEl>
                                              <p:pRg st="10" end="10"/>
                                            </p:txEl>
                                          </p:spTgt>
                                        </p:tgtEl>
                                        <p:attrNameLst>
                                          <p:attrName>style.visibility</p:attrName>
                                        </p:attrNameLst>
                                      </p:cBhvr>
                                      <p:to>
                                        <p:strVal val="visible"/>
                                      </p:to>
                                    </p:set>
                                    <p:animEffect transition="in" filter="fade">
                                      <p:cBhvr>
                                        <p:cTn id="99" dur="500"/>
                                        <p:tgtEl>
                                          <p:spTgt spid="6">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2165</TotalTime>
  <Words>1572</Words>
  <Application>Microsoft Office PowerPoint</Application>
  <PresentationFormat>Widescreen</PresentationFormat>
  <Paragraphs>217</Paragraphs>
  <Slides>24</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Bahnschrift Light</vt:lpstr>
      <vt:lpstr>Cambria Math</vt:lpstr>
      <vt:lpstr>Roboto</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Distributions</vt:lpstr>
      <vt:lpstr>Distributions</vt:lpstr>
      <vt:lpstr>Normal distribution</vt:lpstr>
      <vt:lpstr>Goal of statistics</vt:lpstr>
      <vt:lpstr>Goal of statistics</vt:lpstr>
      <vt:lpstr>The Normal distribution</vt:lpstr>
      <vt:lpstr>Many more fish in the sea</vt:lpstr>
      <vt:lpstr>Beware the histomancer</vt:lpstr>
      <vt:lpstr>How much coffee do you drink?</vt:lpstr>
      <vt:lpstr>PowerPoint Presentation</vt:lpstr>
      <vt:lpstr>What is the average number of coffees you drink in a year?</vt:lpstr>
      <vt:lpstr>Stochastic and deterministic</vt:lpstr>
      <vt:lpstr>Uses and risks of modelling</vt:lpstr>
      <vt:lpstr>First amongst equals</vt:lpstr>
      <vt:lpstr>Monkey’s paw</vt:lpstr>
      <vt:lpstr>Your key assumptions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Roos, Deon</cp:lastModifiedBy>
  <cp:revision>7</cp:revision>
  <dcterms:created xsi:type="dcterms:W3CDTF">2024-06-28T13:38:41Z</dcterms:created>
  <dcterms:modified xsi:type="dcterms:W3CDTF">2024-07-26T14:51:31Z</dcterms:modified>
</cp:coreProperties>
</file>