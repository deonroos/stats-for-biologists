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348" r:id="rId3"/>
    <p:sldId id="349" r:id="rId4"/>
    <p:sldId id="354" r:id="rId5"/>
    <p:sldId id="351" r:id="rId6"/>
    <p:sldId id="352" r:id="rId7"/>
    <p:sldId id="344" r:id="rId8"/>
    <p:sldId id="345" r:id="rId9"/>
    <p:sldId id="342" r:id="rId10"/>
    <p:sldId id="343" r:id="rId11"/>
    <p:sldId id="357" r:id="rId12"/>
    <p:sldId id="346" r:id="rId13"/>
    <p:sldId id="347" r:id="rId14"/>
    <p:sldId id="334" r:id="rId15"/>
    <p:sldId id="350" r:id="rId16"/>
    <p:sldId id="356" r:id="rId17"/>
    <p:sldId id="355" r:id="rId18"/>
    <p:sldId id="35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6A6D2-C8B7-4758-992F-557291917058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14CD8-F1CB-4604-9BDB-C09DE26B38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029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4CD8-F1CB-4604-9BDB-C09DE26B388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68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942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460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941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8052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546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571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10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3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38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347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458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67EF-50B4-5942-0198-6666772B7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BCDFA-7CC4-5649-AF10-524C71FDA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20B4A-AC25-CA7C-94B8-6F15EA17B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43031-B7A4-51BB-67C5-EAA175D9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032D3-0A65-2843-DD05-27B15C755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455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7F408-F984-4C70-811B-82458E64648E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F5D02-DF74-453C-ABB3-ECCA657705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25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9624A-B20D-466C-BCEF-4DBE77B772FE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9078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968F-C709-2995-5226-38F6A8985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98D3B-6955-5A52-C947-660D06E3CE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Interactions</a:t>
            </a:r>
          </a:p>
        </p:txBody>
      </p:sp>
    </p:spTree>
    <p:extLst>
      <p:ext uri="{BB962C8B-B14F-4D97-AF65-F5344CB8AC3E}">
        <p14:creationId xmlns:p14="http://schemas.microsoft.com/office/powerpoint/2010/main" val="733992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F010-94CF-0EC9-D478-FE123C2D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CAAC-048A-4E91-25CC-52FD31B0B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much do species impact crop yields?</a:t>
            </a:r>
          </a:p>
          <a:p>
            <a:r>
              <a:rPr lang="en-GB" dirty="0"/>
              <a:t>Important to understand in cases where herbivore abundance is increasing dramatically</a:t>
            </a:r>
          </a:p>
          <a:p>
            <a:r>
              <a:rPr lang="en-GB" dirty="0"/>
              <a:t>Different species damage plants in different ways</a:t>
            </a:r>
          </a:p>
          <a:p>
            <a:r>
              <a:rPr lang="en-GB" dirty="0"/>
              <a:t>Different species can east more or less crops</a:t>
            </a:r>
          </a:p>
        </p:txBody>
      </p:sp>
      <p:pic>
        <p:nvPicPr>
          <p:cNvPr id="6" name="Picture Placeholder 5" descr="A monkey in a tree&#10;&#10;Description automatically generated">
            <a:extLst>
              <a:ext uri="{FF2B5EF4-FFF2-40B4-BE49-F238E27FC236}">
                <a16:creationId xmlns:a16="http://schemas.microsoft.com/office/drawing/2014/main" id="{83FA34D0-8900-20E3-B877-FBDC03732B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954" r="-153377" b="28790"/>
          <a:stretch/>
        </p:blipFill>
        <p:spPr>
          <a:xfrm>
            <a:off x="6500926" y="1831965"/>
            <a:ext cx="5832475" cy="2070731"/>
          </a:xfrm>
        </p:spPr>
      </p:pic>
      <p:pic>
        <p:nvPicPr>
          <p:cNvPr id="8" name="Picture 7" descr="A black pig walking on grass&#10;&#10;Description automatically generated">
            <a:extLst>
              <a:ext uri="{FF2B5EF4-FFF2-40B4-BE49-F238E27FC236}">
                <a16:creationId xmlns:a16="http://schemas.microsoft.com/office/drawing/2014/main" id="{AEBCA779-48B5-1E78-4BAB-CDF01F5AC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23" y="1831965"/>
            <a:ext cx="2794000" cy="1765300"/>
          </a:xfrm>
          <a:prstGeom prst="rect">
            <a:avLst/>
          </a:prstGeom>
        </p:spPr>
      </p:pic>
      <p:pic>
        <p:nvPicPr>
          <p:cNvPr id="10" name="Picture 9" descr="A deer with antlers standing in a field&#10;&#10;Description automatically generated">
            <a:extLst>
              <a:ext uri="{FF2B5EF4-FFF2-40B4-BE49-F238E27FC236}">
                <a16:creationId xmlns:a16="http://schemas.microsoft.com/office/drawing/2014/main" id="{40AF0183-0C87-870D-7129-92419E9E87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620" y="3756736"/>
            <a:ext cx="2791003" cy="1852211"/>
          </a:xfrm>
          <a:prstGeom prst="rect">
            <a:avLst/>
          </a:prstGeom>
        </p:spPr>
      </p:pic>
      <p:pic>
        <p:nvPicPr>
          <p:cNvPr id="12" name="Picture 11" descr="A brown rat on the ground&#10;&#10;Description automatically generated">
            <a:extLst>
              <a:ext uri="{FF2B5EF4-FFF2-40B4-BE49-F238E27FC236}">
                <a16:creationId xmlns:a16="http://schemas.microsoft.com/office/drawing/2014/main" id="{FD6B9137-6F0F-6F50-07B7-BBA4A50524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926" y="4051976"/>
            <a:ext cx="2330161" cy="155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832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F010-94CF-0EC9-D478-FE123C2D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CAAC-048A-4E91-25CC-52FD31B0B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500926" cy="5240194"/>
          </a:xfrm>
        </p:spPr>
        <p:txBody>
          <a:bodyPr/>
          <a:lstStyle/>
          <a:p>
            <a:r>
              <a:rPr lang="en-GB" dirty="0"/>
              <a:t>Experimental approach</a:t>
            </a:r>
          </a:p>
          <a:p>
            <a:r>
              <a:rPr lang="en-GB" dirty="0"/>
              <a:t>Four Indian herbivores</a:t>
            </a:r>
          </a:p>
          <a:p>
            <a:r>
              <a:rPr lang="en-GB" dirty="0"/>
              <a:t>Measure damage caused by each to same plant</a:t>
            </a:r>
          </a:p>
          <a:p>
            <a:r>
              <a:rPr lang="en-GB" dirty="0"/>
              <a:t>Controlled density of each species</a:t>
            </a:r>
          </a:p>
          <a:p>
            <a:r>
              <a:rPr lang="en-GB" dirty="0"/>
              <a:t>We want to understand how each species influences crop yield</a:t>
            </a:r>
          </a:p>
          <a:p>
            <a:r>
              <a:rPr lang="en-GB" dirty="0"/>
              <a:t>So,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crop ~ species + density</a:t>
            </a:r>
            <a:r>
              <a:rPr lang="en-GB" dirty="0"/>
              <a:t>?</a:t>
            </a:r>
          </a:p>
        </p:txBody>
      </p:sp>
      <p:pic>
        <p:nvPicPr>
          <p:cNvPr id="6" name="Picture Placeholder 5" descr="A monkey in a tree&#10;&#10;Description automatically generated">
            <a:extLst>
              <a:ext uri="{FF2B5EF4-FFF2-40B4-BE49-F238E27FC236}">
                <a16:creationId xmlns:a16="http://schemas.microsoft.com/office/drawing/2014/main" id="{83FA34D0-8900-20E3-B877-FBDC03732B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954" r="-153377" b="28790"/>
          <a:stretch/>
        </p:blipFill>
        <p:spPr>
          <a:xfrm>
            <a:off x="6500926" y="1831965"/>
            <a:ext cx="5832475" cy="2070731"/>
          </a:xfrm>
        </p:spPr>
      </p:pic>
      <p:pic>
        <p:nvPicPr>
          <p:cNvPr id="8" name="Picture 7" descr="A black pig walking on grass&#10;&#10;Description automatically generated">
            <a:extLst>
              <a:ext uri="{FF2B5EF4-FFF2-40B4-BE49-F238E27FC236}">
                <a16:creationId xmlns:a16="http://schemas.microsoft.com/office/drawing/2014/main" id="{AEBCA779-48B5-1E78-4BAB-CDF01F5AC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23" y="1831965"/>
            <a:ext cx="2794000" cy="1765300"/>
          </a:xfrm>
          <a:prstGeom prst="rect">
            <a:avLst/>
          </a:prstGeom>
        </p:spPr>
      </p:pic>
      <p:pic>
        <p:nvPicPr>
          <p:cNvPr id="10" name="Picture 9" descr="A deer with antlers standing in a field&#10;&#10;Description automatically generated">
            <a:extLst>
              <a:ext uri="{FF2B5EF4-FFF2-40B4-BE49-F238E27FC236}">
                <a16:creationId xmlns:a16="http://schemas.microsoft.com/office/drawing/2014/main" id="{40AF0183-0C87-870D-7129-92419E9E87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620" y="3756736"/>
            <a:ext cx="2791003" cy="1852211"/>
          </a:xfrm>
          <a:prstGeom prst="rect">
            <a:avLst/>
          </a:prstGeom>
        </p:spPr>
      </p:pic>
      <p:pic>
        <p:nvPicPr>
          <p:cNvPr id="12" name="Picture 11" descr="A brown rat on the ground&#10;&#10;Description automatically generated">
            <a:extLst>
              <a:ext uri="{FF2B5EF4-FFF2-40B4-BE49-F238E27FC236}">
                <a16:creationId xmlns:a16="http://schemas.microsoft.com/office/drawing/2014/main" id="{FD6B9137-6F0F-6F50-07B7-BBA4A50524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926" y="4051976"/>
            <a:ext cx="2330161" cy="155697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D791819-B7E9-1B7B-F5E5-49EBCD58E408}"/>
              </a:ext>
            </a:extLst>
          </p:cNvPr>
          <p:cNvGrpSpPr/>
          <p:nvPr/>
        </p:nvGrpSpPr>
        <p:grpSpPr>
          <a:xfrm>
            <a:off x="6987308" y="2064216"/>
            <a:ext cx="4416022" cy="3982392"/>
            <a:chOff x="5855624" y="1578147"/>
            <a:chExt cx="4416022" cy="39823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15906D-3E27-3451-0735-A55851B450B0}"/>
                </a:ext>
              </a:extLst>
            </p:cNvPr>
            <p:cNvSpPr txBox="1"/>
            <p:nvPr/>
          </p:nvSpPr>
          <p:spPr>
            <a:xfrm>
              <a:off x="8975073" y="2915215"/>
              <a:ext cx="1296573" cy="1168539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Crop </a:t>
              </a:r>
              <a:br>
                <a:rPr lang="en-GB" sz="2400" dirty="0"/>
              </a:br>
              <a:r>
                <a:rPr lang="en-GB" sz="2400" dirty="0"/>
                <a:t>Yield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760275-A73E-B75E-8228-2622612EA6AB}"/>
                </a:ext>
              </a:extLst>
            </p:cNvPr>
            <p:cNvSpPr txBox="1"/>
            <p:nvPr/>
          </p:nvSpPr>
          <p:spPr>
            <a:xfrm>
              <a:off x="5855624" y="1578147"/>
              <a:ext cx="1774448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Species</a:t>
              </a:r>
            </a:p>
            <a:p>
              <a:pPr algn="ctr"/>
              <a:endParaRPr lang="en-GB" sz="2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4734D6-3A0E-55CE-DF27-B39D55D0190A}"/>
                </a:ext>
              </a:extLst>
            </p:cNvPr>
            <p:cNvSpPr txBox="1"/>
            <p:nvPr/>
          </p:nvSpPr>
          <p:spPr>
            <a:xfrm>
              <a:off x="5927755" y="3872649"/>
              <a:ext cx="1702317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Density</a:t>
              </a:r>
            </a:p>
            <a:p>
              <a:pPr algn="ctr"/>
              <a:endParaRPr lang="en-GB" sz="24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106CFAF-D67F-39EA-8E3A-F2FAD7BE3F0B}"/>
                </a:ext>
              </a:extLst>
            </p:cNvPr>
            <p:cNvCxnSpPr>
              <a:stCxn id="7" idx="6"/>
              <a:endCxn id="5" idx="1"/>
            </p:cNvCxnSpPr>
            <p:nvPr/>
          </p:nvCxnSpPr>
          <p:spPr>
            <a:xfrm>
              <a:off x="7630072" y="2422092"/>
              <a:ext cx="1534880" cy="664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682C348-BD4C-5A7B-835E-0744F9667725}"/>
                </a:ext>
              </a:extLst>
            </p:cNvPr>
            <p:cNvCxnSpPr>
              <a:cxnSpLocks/>
              <a:stCxn id="9" idx="6"/>
              <a:endCxn id="5" idx="3"/>
            </p:cNvCxnSpPr>
            <p:nvPr/>
          </p:nvCxnSpPr>
          <p:spPr>
            <a:xfrm flipV="1">
              <a:off x="7630072" y="3912625"/>
              <a:ext cx="1534880" cy="8039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1872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91AB-503D-FBDB-97E7-84F446C9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might the results look like?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C4137-5017-2CB6-22A5-C5E22FDFEE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6359525" cy="5240194"/>
              </a:xfrm>
            </p:spPr>
            <p:txBody>
              <a:bodyPr/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crop ~ species + density</a:t>
                </a:r>
                <a:endParaRPr lang="en-GB" dirty="0"/>
              </a:p>
              <a:p>
                <a:r>
                  <a:rPr lang="en-GB" dirty="0"/>
                  <a:t>By including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species</a:t>
                </a:r>
                <a:r>
                  <a:rPr lang="en-GB" dirty="0"/>
                  <a:t>, we allow for each species to have their own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0,…,3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But we only have a single parameter to describe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density</a:t>
                </a:r>
                <a:r>
                  <a:rPr lang="en-GB" dirty="0"/>
                  <a:t>, so all species have the same 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Does that make </a:t>
                </a:r>
                <a:r>
                  <a:rPr lang="en-GB" dirty="0">
                    <a:solidFill>
                      <a:srgbClr val="FFFF00"/>
                    </a:solidFill>
                  </a:rPr>
                  <a:t>biological</a:t>
                </a:r>
                <a:r>
                  <a:rPr lang="en-GB" dirty="0"/>
                  <a:t> sense?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C4137-5017-2CB6-22A5-C5E22FDFEE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6359525" cy="5240194"/>
              </a:xfrm>
              <a:blipFill>
                <a:blip r:embed="rId3"/>
                <a:stretch>
                  <a:fillRect l="-1726" r="-14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1E4B165-E52A-53D9-B774-B8F6160275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475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F010-94CF-0EC9-D478-FE123C2D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Biological sense?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CAAC-048A-4E91-25CC-52FD31B0B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Species clearly differ</a:t>
            </a:r>
          </a:p>
          <a:p>
            <a:r>
              <a:rPr lang="en-GB" dirty="0"/>
              <a:t>The damage done by each species clearly differ</a:t>
            </a:r>
          </a:p>
          <a:p>
            <a:r>
              <a:rPr lang="en-GB" dirty="0"/>
              <a:t>One boar eats a lot more than one rat</a:t>
            </a:r>
          </a:p>
          <a:p>
            <a:r>
              <a:rPr lang="en-GB" dirty="0"/>
              <a:t>Having 1,000 boar in your field is not the same as 1,000 rats</a:t>
            </a:r>
          </a:p>
        </p:txBody>
      </p:sp>
      <p:pic>
        <p:nvPicPr>
          <p:cNvPr id="9" name="Picture 8" descr="A pig digging in the dirt&#10;&#10;Description automatically generated">
            <a:extLst>
              <a:ext uri="{FF2B5EF4-FFF2-40B4-BE49-F238E27FC236}">
                <a16:creationId xmlns:a16="http://schemas.microsoft.com/office/drawing/2014/main" id="{5ADD76D3-1900-4CF9-60E6-EDE48240A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4492" y="371192"/>
            <a:ext cx="4694864" cy="3127961"/>
          </a:xfrm>
          <a:prstGeom prst="rect">
            <a:avLst/>
          </a:prstGeom>
        </p:spPr>
      </p:pic>
      <p:pic>
        <p:nvPicPr>
          <p:cNvPr id="13" name="Picture 12" descr="A close-up of a blade of grass&#10;&#10;Description automatically generated">
            <a:extLst>
              <a:ext uri="{FF2B5EF4-FFF2-40B4-BE49-F238E27FC236}">
                <a16:creationId xmlns:a16="http://schemas.microsoft.com/office/drawing/2014/main" id="{E2246254-A4FB-35DF-FA1C-4D6DF4F13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558" y="3716436"/>
            <a:ext cx="4675798" cy="313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21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D323C9-826F-36C8-34D6-8139DBA87D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How do we say 1 rat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/>
                  <a:t> 1 boar?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D323C9-826F-36C8-34D6-8139DBA87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78" r="-2899" b="-229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941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only the following information, tell me if my cup of coffee is sweet or not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A1178C-90B4-6BC1-B81A-5E95D2E9B3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6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 stir my coffee with a spoon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A1178C-90B4-6BC1-B81A-5E95D2E9B3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3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 add sugar to my coffee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A1178C-90B4-6BC1-B81A-5E95D2E9B3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506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Sometimes I add sugar to my coffee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GB" dirty="0"/>
              <a:t>Sometimes I stir my coffee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A1178C-90B4-6BC1-B81A-5E95D2E9B3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868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 have added sugar to my coffee</a:t>
            </a:r>
          </a:p>
          <a:p>
            <a:pPr marL="0" indent="0">
              <a:buNone/>
            </a:pPr>
            <a:r>
              <a:rPr lang="en-GB" dirty="0"/>
              <a:t>And </a:t>
            </a:r>
            <a:r>
              <a:rPr lang="en-GB" b="1" dirty="0">
                <a:solidFill>
                  <a:srgbClr val="FFFF00"/>
                </a:solidFill>
              </a:rPr>
              <a:t>at the same time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GB" dirty="0"/>
              <a:t>I have stirred the coffee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A1178C-90B4-6BC1-B81A-5E95D2E9B3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485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answer question you need to know both pieces of information</a:t>
            </a:r>
          </a:p>
          <a:p>
            <a:pPr lvl="1"/>
            <a:r>
              <a:rPr lang="en-GB" dirty="0"/>
              <a:t>But just knowing that sometimes I stir and sometimes I add sugar doesn’t actually help very much</a:t>
            </a:r>
          </a:p>
          <a:p>
            <a:r>
              <a:rPr lang="en-GB" dirty="0"/>
              <a:t>We need to know if both adding sugar and stirring occurred at the same time</a:t>
            </a:r>
          </a:p>
          <a:p>
            <a:r>
              <a:rPr lang="en-GB" dirty="0"/>
              <a:t>How do we tell the model this?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A1178C-90B4-6BC1-B81A-5E95D2E9B3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223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D716-38B6-5EE9-C1A4-94F72EAF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E4CB-CCE1-3BEF-ABE3-5E2AB9A7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  <a:cs typeface="Courier New" panose="02070309020205020404" pitchFamily="49" charset="0"/>
              </a:rPr>
              <a:t>What is an interaction?</a:t>
            </a:r>
            <a:endParaRPr lang="en-GB" sz="5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43D461-BE14-F4EF-F5DD-1AB322A02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411" y="2009869"/>
            <a:ext cx="4740479" cy="4127411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Will my tea be sweet?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Sweet ~ sugar + stir</a:t>
            </a:r>
          </a:p>
          <a:p>
            <a:r>
              <a:rPr lang="en-GB" dirty="0">
                <a:cs typeface="Courier New" panose="02070309020205020404" pitchFamily="49" charset="0"/>
              </a:rPr>
              <a:t>From this, the model doesn’t know that both need to occur at the same time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  <a:cs typeface="Courier New" panose="02070309020205020404" pitchFamily="49" charset="0"/>
              </a:rPr>
              <a:t>What if I stirred, but didn’t add sugar?</a:t>
            </a:r>
            <a:endParaRPr lang="en-GB" dirty="0">
              <a:cs typeface="Courier New" panose="02070309020205020404" pitchFamily="49" charset="0"/>
            </a:endParaRPr>
          </a:p>
          <a:p>
            <a:r>
              <a:rPr lang="en-GB" dirty="0">
                <a:cs typeface="Courier New" panose="02070309020205020404" pitchFamily="49" charset="0"/>
              </a:rPr>
              <a:t>Treats both variables as being independent of each other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CE41F70-D0DB-0B50-E3F8-19AE0906F8A0}"/>
              </a:ext>
            </a:extLst>
          </p:cNvPr>
          <p:cNvGrpSpPr/>
          <p:nvPr/>
        </p:nvGrpSpPr>
        <p:grpSpPr>
          <a:xfrm>
            <a:off x="5268090" y="2087177"/>
            <a:ext cx="3381377" cy="3294012"/>
            <a:chOff x="8445039" y="1105489"/>
            <a:chExt cx="3381377" cy="329401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7BFEAF2-B532-F9DE-28A6-EEFC8576A4EC}"/>
                </a:ext>
              </a:extLst>
            </p:cNvPr>
            <p:cNvGrpSpPr/>
            <p:nvPr/>
          </p:nvGrpSpPr>
          <p:grpSpPr>
            <a:xfrm>
              <a:off x="8454565" y="1105489"/>
              <a:ext cx="3371851" cy="3294012"/>
              <a:chOff x="8311690" y="1416050"/>
              <a:chExt cx="3371851" cy="3294012"/>
            </a:xfrm>
          </p:grpSpPr>
          <p:pic>
            <p:nvPicPr>
              <p:cNvPr id="4" name="Picture 3" descr="A spoonful of salt&#10;&#10;Description automatically generated">
                <a:extLst>
                  <a:ext uri="{FF2B5EF4-FFF2-40B4-BE49-F238E27FC236}">
                    <a16:creationId xmlns:a16="http://schemas.microsoft.com/office/drawing/2014/main" id="{B7F8CBD0-D84B-3374-D624-B942EDD2A4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815" t="4921" r="20007" b="9027"/>
              <a:stretch/>
            </p:blipFill>
            <p:spPr>
              <a:xfrm>
                <a:off x="8311690" y="1416050"/>
                <a:ext cx="1676400" cy="1589036"/>
              </a:xfrm>
              <a:prstGeom prst="rect">
                <a:avLst/>
              </a:prstGeom>
            </p:spPr>
          </p:pic>
          <p:pic>
            <p:nvPicPr>
              <p:cNvPr id="5" name="Picture 4" descr="A spoonful of salt&#10;&#10;Description automatically generated">
                <a:extLst>
                  <a:ext uri="{FF2B5EF4-FFF2-40B4-BE49-F238E27FC236}">
                    <a16:creationId xmlns:a16="http://schemas.microsoft.com/office/drawing/2014/main" id="{4EB12315-515F-254B-AEA3-0D19297308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815" t="4921" r="20007" b="9027"/>
              <a:stretch/>
            </p:blipFill>
            <p:spPr>
              <a:xfrm>
                <a:off x="10007141" y="1416050"/>
                <a:ext cx="1676400" cy="1589036"/>
              </a:xfrm>
              <a:prstGeom prst="rect">
                <a:avLst/>
              </a:prstGeom>
            </p:spPr>
          </p:pic>
          <p:sp>
            <p:nvSpPr>
              <p:cNvPr id="10" name="&quot;Not Allowed&quot; Symbol 9">
                <a:extLst>
                  <a:ext uri="{FF2B5EF4-FFF2-40B4-BE49-F238E27FC236}">
                    <a16:creationId xmlns:a16="http://schemas.microsoft.com/office/drawing/2014/main" id="{8FB6F91D-9BD6-EFF9-E55F-6AAF2AF99E01}"/>
                  </a:ext>
                </a:extLst>
              </p:cNvPr>
              <p:cNvSpPr/>
              <p:nvPr/>
            </p:nvSpPr>
            <p:spPr>
              <a:xfrm>
                <a:off x="10216689" y="1644650"/>
                <a:ext cx="1295400" cy="1250950"/>
              </a:xfrm>
              <a:prstGeom prst="noSmoking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9C2B87-6886-54FD-7FFA-F45288F1C155}"/>
                  </a:ext>
                </a:extLst>
              </p:cNvPr>
              <p:cNvSpPr txBox="1"/>
              <p:nvPr/>
            </p:nvSpPr>
            <p:spPr>
              <a:xfrm>
                <a:off x="8750363" y="3551426"/>
                <a:ext cx="89293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Maybe </a:t>
                </a:r>
                <a:br>
                  <a:rPr lang="en-GB" dirty="0"/>
                </a:br>
                <a:r>
                  <a:rPr lang="en-GB" dirty="0"/>
                  <a:t>sweet?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E517BD-D38F-D09F-A882-0C4B3D0A10F9}"/>
                  </a:ext>
                </a:extLst>
              </p:cNvPr>
              <p:cNvSpPr txBox="1"/>
              <p:nvPr/>
            </p:nvSpPr>
            <p:spPr>
              <a:xfrm>
                <a:off x="10253166" y="3695700"/>
                <a:ext cx="1210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Not Sweet</a:t>
                </a: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80471F4-09C2-83DC-A240-8AF50537D2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07141" y="1416050"/>
                <a:ext cx="0" cy="32940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FC9AEF7E-F2EB-0040-A11C-29E05C8AFE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1690" y="4710062"/>
                <a:ext cx="337185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54B2A6E-8C66-4F83-0B38-ACD2E0A059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1690" y="3005086"/>
                <a:ext cx="337185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2FC770C-FCB6-31D0-E066-332BBF3E0B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1692" y="1416050"/>
                <a:ext cx="0" cy="32940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128052F-B94A-3DF9-DC95-0707A60115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83541" y="1416050"/>
                <a:ext cx="0" cy="32940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AEEB56D-9462-DA38-72A7-E79B327204F7}"/>
                </a:ext>
              </a:extLst>
            </p:cNvPr>
            <p:cNvCxnSpPr>
              <a:cxnSpLocks/>
            </p:cNvCxnSpPr>
            <p:nvPr/>
          </p:nvCxnSpPr>
          <p:spPr>
            <a:xfrm>
              <a:off x="8445039" y="1105489"/>
              <a:ext cx="33718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6FEE622-5DD7-6F73-C748-1AAA588B0B41}"/>
              </a:ext>
            </a:extLst>
          </p:cNvPr>
          <p:cNvGrpSpPr/>
          <p:nvPr/>
        </p:nvGrpSpPr>
        <p:grpSpPr>
          <a:xfrm>
            <a:off x="8810623" y="2087177"/>
            <a:ext cx="3381377" cy="3294013"/>
            <a:chOff x="8740315" y="1236277"/>
            <a:chExt cx="3381377" cy="3294013"/>
          </a:xfrm>
        </p:grpSpPr>
        <p:pic>
          <p:nvPicPr>
            <p:cNvPr id="41" name="Picture 40" descr="A person holding a spoon in a glass cup&#10;&#10;Description automatically generated">
              <a:extLst>
                <a:ext uri="{FF2B5EF4-FFF2-40B4-BE49-F238E27FC236}">
                  <a16:creationId xmlns:a16="http://schemas.microsoft.com/office/drawing/2014/main" id="{3E79D402-B18E-2963-E4A3-D96CA3AD68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7" t="9884" r="25180" b="16894"/>
            <a:stretch/>
          </p:blipFill>
          <p:spPr>
            <a:xfrm>
              <a:off x="10455589" y="1236277"/>
              <a:ext cx="1655807" cy="1580449"/>
            </a:xfrm>
            <a:prstGeom prst="rect">
              <a:avLst/>
            </a:prstGeom>
          </p:spPr>
        </p:pic>
        <p:pic>
          <p:nvPicPr>
            <p:cNvPr id="8" name="Picture 7" descr="A person holding a spoon in a glass cup&#10;&#10;Description automatically generated">
              <a:extLst>
                <a:ext uri="{FF2B5EF4-FFF2-40B4-BE49-F238E27FC236}">
                  <a16:creationId xmlns:a16="http://schemas.microsoft.com/office/drawing/2014/main" id="{893C8856-8FA8-D215-8C49-EF55F6416A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7" t="9884" r="23865" b="16894"/>
            <a:stretch/>
          </p:blipFill>
          <p:spPr>
            <a:xfrm>
              <a:off x="8757222" y="1244864"/>
              <a:ext cx="1698367" cy="1580449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9C59FC4-F5E7-7D2F-49C8-FA4ECF896860}"/>
                </a:ext>
              </a:extLst>
            </p:cNvPr>
            <p:cNvGrpSpPr/>
            <p:nvPr/>
          </p:nvGrpSpPr>
          <p:grpSpPr>
            <a:xfrm>
              <a:off x="8740315" y="1236278"/>
              <a:ext cx="3381377" cy="3294012"/>
              <a:chOff x="8445039" y="1105489"/>
              <a:chExt cx="3381377" cy="329401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D7321B6-B71D-E4FE-25F5-760521D1726F}"/>
                  </a:ext>
                </a:extLst>
              </p:cNvPr>
              <p:cNvGrpSpPr/>
              <p:nvPr/>
            </p:nvGrpSpPr>
            <p:grpSpPr>
              <a:xfrm>
                <a:off x="8454565" y="1105489"/>
                <a:ext cx="3371851" cy="3294012"/>
                <a:chOff x="8311690" y="1416050"/>
                <a:chExt cx="3371851" cy="3294012"/>
              </a:xfrm>
            </p:grpSpPr>
            <p:sp>
              <p:nvSpPr>
                <p:cNvPr id="33" name="&quot;Not Allowed&quot; Symbol 32">
                  <a:extLst>
                    <a:ext uri="{FF2B5EF4-FFF2-40B4-BE49-F238E27FC236}">
                      <a16:creationId xmlns:a16="http://schemas.microsoft.com/office/drawing/2014/main" id="{77CC0B4D-58A1-6C39-B5BF-437F2DDA6890}"/>
                    </a:ext>
                  </a:extLst>
                </p:cNvPr>
                <p:cNvSpPr/>
                <p:nvPr/>
              </p:nvSpPr>
              <p:spPr>
                <a:xfrm>
                  <a:off x="10216689" y="1644650"/>
                  <a:ext cx="1295400" cy="1250950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B0DFCAC-2D58-BE26-FC95-224EF68471D1}"/>
                    </a:ext>
                  </a:extLst>
                </p:cNvPr>
                <p:cNvSpPr txBox="1"/>
                <p:nvPr/>
              </p:nvSpPr>
              <p:spPr>
                <a:xfrm>
                  <a:off x="8756060" y="3548976"/>
                  <a:ext cx="892937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Maybe </a:t>
                  </a:r>
                  <a:br>
                    <a:rPr lang="en-GB" dirty="0"/>
                  </a:br>
                  <a:r>
                    <a:rPr lang="en-GB" dirty="0"/>
                    <a:t>sweet?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23388ED-FB58-D315-5CBD-DCF313D24CA3}"/>
                    </a:ext>
                  </a:extLst>
                </p:cNvPr>
                <p:cNvSpPr txBox="1"/>
                <p:nvPr/>
              </p:nvSpPr>
              <p:spPr>
                <a:xfrm>
                  <a:off x="10253166" y="3695700"/>
                  <a:ext cx="1210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Not Sweet</a:t>
                  </a:r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313C7EBD-0C42-E2EF-130C-34632EE659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07141" y="1416050"/>
                  <a:ext cx="0" cy="32940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5E48D6E3-AEEC-0E61-6F00-884C1DF917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11690" y="4710062"/>
                  <a:ext cx="337185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510A8676-0543-1B36-DC7E-62539F9B38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11690" y="3005086"/>
                  <a:ext cx="337185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85AF3805-0448-5426-5B4F-20952EF80B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11692" y="1416050"/>
                  <a:ext cx="0" cy="32940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97DBA51-6D6F-0A98-ECCE-8FC1F6158B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683541" y="1416050"/>
                  <a:ext cx="0" cy="32940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EB810EB-8F02-8722-BBDC-589FFC50B0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45039" y="1105489"/>
                <a:ext cx="337185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17284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D716-38B6-5EE9-C1A4-94F72EAF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E4CB-CCE1-3BEF-ABE3-5E2AB9A7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is an interaction?</a:t>
            </a:r>
            <a:endParaRPr lang="en-GB" sz="5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43D461-BE14-F4EF-F5DD-1AB322A02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0479" cy="4351338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Interactions specify that an outcome is a result of specific combinations of more than one variable</a:t>
            </a:r>
          </a:p>
          <a:p>
            <a:r>
              <a:rPr lang="en-GB" dirty="0">
                <a:latin typeface="Bahnschrift Light" panose="020B0502040204020203" pitchFamily="34" charset="0"/>
                <a:cs typeface="Courier New" panose="02070309020205020404" pitchFamily="49" charset="0"/>
              </a:rPr>
              <a:t>The effectiveness of a covariate, depends on the other covariate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Sweet ~ sugar * stir</a:t>
            </a:r>
            <a:endParaRPr lang="en-GB" dirty="0"/>
          </a:p>
          <a:p>
            <a:endParaRPr lang="en-GB" dirty="0">
              <a:latin typeface="Bahnschrift Light" panose="020B0502040204020203" pitchFamily="34" charset="0"/>
              <a:cs typeface="Courier New" panose="02070309020205020404" pitchFamily="49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0B43BCC-E368-9621-F5ED-EC343CB3ED01}"/>
              </a:ext>
            </a:extLst>
          </p:cNvPr>
          <p:cNvGrpSpPr/>
          <p:nvPr/>
        </p:nvGrpSpPr>
        <p:grpSpPr>
          <a:xfrm>
            <a:off x="6085010" y="1325563"/>
            <a:ext cx="5070218" cy="4998988"/>
            <a:chOff x="4578609" y="1597025"/>
            <a:chExt cx="5070218" cy="4998988"/>
          </a:xfrm>
        </p:grpSpPr>
        <p:pic>
          <p:nvPicPr>
            <p:cNvPr id="44" name="Picture 43" descr="A spoonful of salt&#10;&#10;Description automatically generated">
              <a:extLst>
                <a:ext uri="{FF2B5EF4-FFF2-40B4-BE49-F238E27FC236}">
                  <a16:creationId xmlns:a16="http://schemas.microsoft.com/office/drawing/2014/main" id="{346FE76B-CB0A-61D3-6C3E-8D48052463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15" t="4921" r="20007" b="9027"/>
            <a:stretch/>
          </p:blipFill>
          <p:spPr>
            <a:xfrm>
              <a:off x="6276976" y="1597025"/>
              <a:ext cx="1676400" cy="1589036"/>
            </a:xfrm>
            <a:prstGeom prst="rect">
              <a:avLst/>
            </a:prstGeom>
          </p:spPr>
        </p:pic>
        <p:pic>
          <p:nvPicPr>
            <p:cNvPr id="45" name="Picture 44" descr="A spoonful of salt&#10;&#10;Description automatically generated">
              <a:extLst>
                <a:ext uri="{FF2B5EF4-FFF2-40B4-BE49-F238E27FC236}">
                  <a16:creationId xmlns:a16="http://schemas.microsoft.com/office/drawing/2014/main" id="{CC9B1E1B-9CFA-2243-C57A-0001EC2E40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15" t="4921" r="20007" b="9027"/>
            <a:stretch/>
          </p:blipFill>
          <p:spPr>
            <a:xfrm>
              <a:off x="7972427" y="1597025"/>
              <a:ext cx="1676400" cy="1589036"/>
            </a:xfrm>
            <a:prstGeom prst="rect">
              <a:avLst/>
            </a:prstGeom>
          </p:spPr>
        </p:pic>
        <p:pic>
          <p:nvPicPr>
            <p:cNvPr id="46" name="Picture 45" descr="A person holding a spoon in a glass cup&#10;&#10;Description automatically generated">
              <a:extLst>
                <a:ext uri="{FF2B5EF4-FFF2-40B4-BE49-F238E27FC236}">
                  <a16:creationId xmlns:a16="http://schemas.microsoft.com/office/drawing/2014/main" id="{3BC802CB-578F-C0A6-89A6-75E4DA2E33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7" t="9884" r="23865" b="11124"/>
            <a:stretch/>
          </p:blipFill>
          <p:spPr>
            <a:xfrm>
              <a:off x="4578609" y="3186061"/>
              <a:ext cx="1698367" cy="1704976"/>
            </a:xfrm>
            <a:prstGeom prst="rect">
              <a:avLst/>
            </a:prstGeom>
          </p:spPr>
        </p:pic>
        <p:pic>
          <p:nvPicPr>
            <p:cNvPr id="47" name="Picture 46" descr="A person holding a spoon in a glass cup&#10;&#10;Description automatically generated">
              <a:extLst>
                <a:ext uri="{FF2B5EF4-FFF2-40B4-BE49-F238E27FC236}">
                  <a16:creationId xmlns:a16="http://schemas.microsoft.com/office/drawing/2014/main" id="{36F40EE5-59BE-6BB5-7B73-4F92C3C29E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7" t="9884" r="23865" b="11124"/>
            <a:stretch/>
          </p:blipFill>
          <p:spPr>
            <a:xfrm>
              <a:off x="4578609" y="4891037"/>
              <a:ext cx="1698367" cy="1704976"/>
            </a:xfrm>
            <a:prstGeom prst="rect">
              <a:avLst/>
            </a:prstGeom>
          </p:spPr>
        </p:pic>
        <p:sp>
          <p:nvSpPr>
            <p:cNvPr id="48" name="&quot;Not Allowed&quot; Symbol 47">
              <a:extLst>
                <a:ext uri="{FF2B5EF4-FFF2-40B4-BE49-F238E27FC236}">
                  <a16:creationId xmlns:a16="http://schemas.microsoft.com/office/drawing/2014/main" id="{D12AF4CB-CE0E-57D1-F3B3-282843514242}"/>
                </a:ext>
              </a:extLst>
            </p:cNvPr>
            <p:cNvSpPr/>
            <p:nvPr/>
          </p:nvSpPr>
          <p:spPr>
            <a:xfrm>
              <a:off x="8181975" y="1825625"/>
              <a:ext cx="1295400" cy="1250950"/>
            </a:xfrm>
            <a:prstGeom prst="noSmoking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9" name="&quot;Not Allowed&quot; Symbol 48">
              <a:extLst>
                <a:ext uri="{FF2B5EF4-FFF2-40B4-BE49-F238E27FC236}">
                  <a16:creationId xmlns:a16="http://schemas.microsoft.com/office/drawing/2014/main" id="{5626F92B-516A-6F08-0F3C-42FE516B5D0D}"/>
                </a:ext>
              </a:extLst>
            </p:cNvPr>
            <p:cNvSpPr/>
            <p:nvPr/>
          </p:nvSpPr>
          <p:spPr>
            <a:xfrm>
              <a:off x="4800600" y="5135538"/>
              <a:ext cx="1295400" cy="1250950"/>
            </a:xfrm>
            <a:prstGeom prst="noSmoking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28DE7FE-C529-A204-3055-440E5F992B6B}"/>
                </a:ext>
              </a:extLst>
            </p:cNvPr>
            <p:cNvSpPr txBox="1"/>
            <p:nvPr/>
          </p:nvSpPr>
          <p:spPr>
            <a:xfrm>
              <a:off x="6715125" y="3876675"/>
              <a:ext cx="798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Sweet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C315E20-CE0E-84E7-23EE-9EA74CE4DD9B}"/>
                </a:ext>
              </a:extLst>
            </p:cNvPr>
            <p:cNvSpPr txBox="1"/>
            <p:nvPr/>
          </p:nvSpPr>
          <p:spPr>
            <a:xfrm>
              <a:off x="8218452" y="3876675"/>
              <a:ext cx="1210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Not Sweet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84274C3-8E2B-920C-E4DF-153A56E74A11}"/>
                </a:ext>
              </a:extLst>
            </p:cNvPr>
            <p:cNvSpPr txBox="1"/>
            <p:nvPr/>
          </p:nvSpPr>
          <p:spPr>
            <a:xfrm>
              <a:off x="6509135" y="5578390"/>
              <a:ext cx="1210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Not Sweet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53CAD47-0FA7-AF7B-321F-136E5AB504E6}"/>
                </a:ext>
              </a:extLst>
            </p:cNvPr>
            <p:cNvSpPr txBox="1"/>
            <p:nvPr/>
          </p:nvSpPr>
          <p:spPr>
            <a:xfrm>
              <a:off x="8204587" y="5576347"/>
              <a:ext cx="1210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Not Sweet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97AC2A4-DD25-237B-A108-A2F4EDA94B7A}"/>
                </a:ext>
              </a:extLst>
            </p:cNvPr>
            <p:cNvCxnSpPr>
              <a:cxnSpLocks/>
            </p:cNvCxnSpPr>
            <p:nvPr/>
          </p:nvCxnSpPr>
          <p:spPr>
            <a:xfrm>
              <a:off x="7972427" y="1597025"/>
              <a:ext cx="0" cy="49989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EFE027F-5960-40FC-3657-C12975B55665}"/>
                </a:ext>
              </a:extLst>
            </p:cNvPr>
            <p:cNvCxnSpPr>
              <a:cxnSpLocks/>
            </p:cNvCxnSpPr>
            <p:nvPr/>
          </p:nvCxnSpPr>
          <p:spPr>
            <a:xfrm>
              <a:off x="4578609" y="4891037"/>
              <a:ext cx="50702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45C69D2-6780-823A-98D7-6BDC07BBCCF7}"/>
                </a:ext>
              </a:extLst>
            </p:cNvPr>
            <p:cNvCxnSpPr>
              <a:cxnSpLocks/>
            </p:cNvCxnSpPr>
            <p:nvPr/>
          </p:nvCxnSpPr>
          <p:spPr>
            <a:xfrm>
              <a:off x="4578609" y="3186061"/>
              <a:ext cx="50702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3A6CA2E-7B0F-DE82-4F5B-9DA44F324C93}"/>
                </a:ext>
              </a:extLst>
            </p:cNvPr>
            <p:cNvCxnSpPr>
              <a:cxnSpLocks/>
            </p:cNvCxnSpPr>
            <p:nvPr/>
          </p:nvCxnSpPr>
          <p:spPr>
            <a:xfrm>
              <a:off x="6276978" y="1597025"/>
              <a:ext cx="0" cy="49989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5173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D716-38B6-5EE9-C1A4-94F72EAF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E4CB-CCE1-3BEF-ABE3-5E2AB9A7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Two ways to specify interactions</a:t>
            </a:r>
            <a:endParaRPr lang="en-GB" sz="5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43D461-BE14-F4EF-F5DD-1AB322A025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106294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The “formal” option</a:t>
                </a:r>
              </a:p>
              <a:p>
                <a:pPr lvl="1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Sweet ~ 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ugar + s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ir</a:t>
                </a:r>
              </a:p>
              <a:p>
                <a:pPr marL="457200" lvl="1" indent="0">
                  <a:buNone/>
                </a:pP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+ 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ugar : s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ir</a:t>
                </a:r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>
                  <a:solidFill>
                    <a:schemeClr val="tx1"/>
                  </a:solidFill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  <a:p>
                <a:pPr marL="457200" lvl="1" indent="0">
                  <a:buNone/>
                </a:pPr>
                <a:r>
                  <a:rPr lang="en-GB" dirty="0"/>
                  <a:t>      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>
                  <a:solidFill>
                    <a:schemeClr val="tx1"/>
                  </a:solidFill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The “shortcut” option</a:t>
                </a:r>
              </a:p>
              <a:p>
                <a:pPr lvl="1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Sweet ~ 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ugar * s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  <a:p>
                <a:pPr marL="457200" lvl="1" indent="0">
                  <a:buNone/>
                </a:pPr>
                <a:r>
                  <a:rPr lang="en-GB" dirty="0"/>
                  <a:t>      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endParaRPr lang="en-GB" dirty="0"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43D461-BE14-F4EF-F5DD-1AB322A02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106294" cy="4351338"/>
              </a:xfrm>
              <a:blipFill>
                <a:blip r:embed="rId2"/>
                <a:stretch>
                  <a:fillRect l="-2151" t="-2521" b="-1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38D3316-4420-4999-BAAA-CAB091F61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323" y="1325563"/>
            <a:ext cx="4909848" cy="2375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5E1222-B8C6-4675-BFE9-CC213BDE3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304" y="4090987"/>
            <a:ext cx="2724150" cy="276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43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D323C9-826F-36C8-34D6-8139DBA87D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How do we say 1 rat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/>
                  <a:t> 1 boar?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D323C9-826F-36C8-34D6-8139DBA87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78" r="-2899" b="-229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388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EF2B03B-9098-3C5E-AACF-8690EAEF6D2D}"/>
              </a:ext>
            </a:extLst>
          </p:cNvPr>
          <p:cNvGrpSpPr/>
          <p:nvPr/>
        </p:nvGrpSpPr>
        <p:grpSpPr>
          <a:xfrm>
            <a:off x="3202959" y="1605307"/>
            <a:ext cx="4416022" cy="3982392"/>
            <a:chOff x="5855624" y="1578147"/>
            <a:chExt cx="4416022" cy="398239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E4E91E1-927F-A38B-ED3D-D07C7B64587E}"/>
                </a:ext>
              </a:extLst>
            </p:cNvPr>
            <p:cNvSpPr txBox="1"/>
            <p:nvPr/>
          </p:nvSpPr>
          <p:spPr>
            <a:xfrm>
              <a:off x="8975073" y="2915215"/>
              <a:ext cx="1296573" cy="1168539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Crop </a:t>
              </a:r>
              <a:br>
                <a:rPr lang="en-GB" sz="2400" dirty="0"/>
              </a:br>
              <a:r>
                <a:rPr lang="en-GB" sz="2400" dirty="0"/>
                <a:t>Yield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63AAE5E-FBEB-93CB-9157-4C06357A4170}"/>
                </a:ext>
              </a:extLst>
            </p:cNvPr>
            <p:cNvSpPr txBox="1"/>
            <p:nvPr/>
          </p:nvSpPr>
          <p:spPr>
            <a:xfrm>
              <a:off x="5855624" y="1578147"/>
              <a:ext cx="1774448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Species</a:t>
              </a:r>
            </a:p>
            <a:p>
              <a:pPr algn="ctr"/>
              <a:endParaRPr lang="en-GB" sz="24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26D241C-1B8E-8BC1-942A-CAEBB7195BA8}"/>
                </a:ext>
              </a:extLst>
            </p:cNvPr>
            <p:cNvSpPr txBox="1"/>
            <p:nvPr/>
          </p:nvSpPr>
          <p:spPr>
            <a:xfrm>
              <a:off x="5927755" y="3872649"/>
              <a:ext cx="1702317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Density</a:t>
              </a:r>
            </a:p>
            <a:p>
              <a:pPr algn="ctr"/>
              <a:endParaRPr lang="en-GB" sz="2400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835B032-DCC0-B014-9436-4A2EB2432657}"/>
                </a:ext>
              </a:extLst>
            </p:cNvPr>
            <p:cNvCxnSpPr>
              <a:stCxn id="3" idx="6"/>
              <a:endCxn id="2" idx="1"/>
            </p:cNvCxnSpPr>
            <p:nvPr/>
          </p:nvCxnSpPr>
          <p:spPr>
            <a:xfrm>
              <a:off x="7630072" y="2422092"/>
              <a:ext cx="1534880" cy="664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1D68F05-DA07-8B0E-6838-E159A0DF00B7}"/>
                </a:ext>
              </a:extLst>
            </p:cNvPr>
            <p:cNvCxnSpPr>
              <a:cxnSpLocks/>
              <a:stCxn id="4" idx="6"/>
              <a:endCxn id="2" idx="3"/>
            </p:cNvCxnSpPr>
            <p:nvPr/>
          </p:nvCxnSpPr>
          <p:spPr>
            <a:xfrm flipV="1">
              <a:off x="7630072" y="3912625"/>
              <a:ext cx="1534880" cy="8039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616378-DF8F-1AB3-CAF8-76F917905F40}"/>
              </a:ext>
            </a:extLst>
          </p:cNvPr>
          <p:cNvCxnSpPr>
            <a:cxnSpLocks/>
            <a:stCxn id="3" idx="5"/>
          </p:cNvCxnSpPr>
          <p:nvPr/>
        </p:nvCxnSpPr>
        <p:spPr>
          <a:xfrm>
            <a:off x="4717545" y="3046011"/>
            <a:ext cx="1004245" cy="12724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695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F010-94CF-0EC9-D478-FE123C2D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CAAC-048A-4E91-25CC-52FD31B0B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500926" cy="5240194"/>
          </a:xfrm>
        </p:spPr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crop ~ species * density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791819-B7E9-1B7B-F5E5-49EBCD58E408}"/>
              </a:ext>
            </a:extLst>
          </p:cNvPr>
          <p:cNvGrpSpPr/>
          <p:nvPr/>
        </p:nvGrpSpPr>
        <p:grpSpPr>
          <a:xfrm>
            <a:off x="6987308" y="2064216"/>
            <a:ext cx="4416022" cy="3982392"/>
            <a:chOff x="5855624" y="1578147"/>
            <a:chExt cx="4416022" cy="39823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15906D-3E27-3451-0735-A55851B450B0}"/>
                </a:ext>
              </a:extLst>
            </p:cNvPr>
            <p:cNvSpPr txBox="1"/>
            <p:nvPr/>
          </p:nvSpPr>
          <p:spPr>
            <a:xfrm>
              <a:off x="8975073" y="2915215"/>
              <a:ext cx="1296573" cy="1168539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Crop </a:t>
              </a:r>
              <a:br>
                <a:rPr lang="en-GB" sz="2400" dirty="0"/>
              </a:br>
              <a:r>
                <a:rPr lang="en-GB" sz="2400" dirty="0"/>
                <a:t>Yield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760275-A73E-B75E-8228-2622612EA6AB}"/>
                </a:ext>
              </a:extLst>
            </p:cNvPr>
            <p:cNvSpPr txBox="1"/>
            <p:nvPr/>
          </p:nvSpPr>
          <p:spPr>
            <a:xfrm>
              <a:off x="5855624" y="1578147"/>
              <a:ext cx="1774448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Species</a:t>
              </a:r>
            </a:p>
            <a:p>
              <a:pPr algn="ctr"/>
              <a:endParaRPr lang="en-GB" sz="2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4734D6-3A0E-55CE-DF27-B39D55D0190A}"/>
                </a:ext>
              </a:extLst>
            </p:cNvPr>
            <p:cNvSpPr txBox="1"/>
            <p:nvPr/>
          </p:nvSpPr>
          <p:spPr>
            <a:xfrm>
              <a:off x="5927755" y="3872649"/>
              <a:ext cx="1702317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Density</a:t>
              </a:r>
            </a:p>
            <a:p>
              <a:pPr algn="ctr"/>
              <a:endParaRPr lang="en-GB" sz="24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106CFAF-D67F-39EA-8E3A-F2FAD7BE3F0B}"/>
                </a:ext>
              </a:extLst>
            </p:cNvPr>
            <p:cNvCxnSpPr>
              <a:stCxn id="7" idx="6"/>
              <a:endCxn id="5" idx="1"/>
            </p:cNvCxnSpPr>
            <p:nvPr/>
          </p:nvCxnSpPr>
          <p:spPr>
            <a:xfrm>
              <a:off x="7630072" y="2422092"/>
              <a:ext cx="1534880" cy="664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682C348-BD4C-5A7B-835E-0744F9667725}"/>
                </a:ext>
              </a:extLst>
            </p:cNvPr>
            <p:cNvCxnSpPr>
              <a:cxnSpLocks/>
              <a:stCxn id="9" idx="6"/>
              <a:endCxn id="5" idx="3"/>
            </p:cNvCxnSpPr>
            <p:nvPr/>
          </p:nvCxnSpPr>
          <p:spPr>
            <a:xfrm flipV="1">
              <a:off x="7630072" y="3912625"/>
              <a:ext cx="1534880" cy="8039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DC51A6-0662-4CD2-D344-D7FB088924CB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8501894" y="3504920"/>
            <a:ext cx="1000291" cy="13103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881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81</TotalTime>
  <Words>526</Words>
  <Application>Microsoft Office PowerPoint</Application>
  <PresentationFormat>Widescreen</PresentationFormat>
  <Paragraphs>90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Bahnschrift Light</vt:lpstr>
      <vt:lpstr>Cambria Math</vt:lpstr>
      <vt:lpstr>Courier New</vt:lpstr>
      <vt:lpstr>sbs_template</vt:lpstr>
      <vt:lpstr>Linear model theory</vt:lpstr>
      <vt:lpstr>The question</vt:lpstr>
      <vt:lpstr>The question</vt:lpstr>
      <vt:lpstr>What might the results look like?</vt:lpstr>
      <vt:lpstr>Biological sense?</vt:lpstr>
      <vt:lpstr>How do we say 1 rat ≠ 1 boar?</vt:lpstr>
      <vt:lpstr>Is my coffee sweet?</vt:lpstr>
      <vt:lpstr>Is my coffee sweet?</vt:lpstr>
      <vt:lpstr>Is my coffee sweet?</vt:lpstr>
      <vt:lpstr>Is my coffee sweet?</vt:lpstr>
      <vt:lpstr>Is my coffee sweet?</vt:lpstr>
      <vt:lpstr>Is my coffee sweet?</vt:lpstr>
      <vt:lpstr>What is an interaction?</vt:lpstr>
      <vt:lpstr>What is an interaction?</vt:lpstr>
      <vt:lpstr>Two ways to specify interactions</vt:lpstr>
      <vt:lpstr>How do we say 1 rat ≠ 1 boar?</vt:lpstr>
      <vt:lpstr>PowerPoint Presentation</vt:lpstr>
      <vt:lpstr>The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4</cp:revision>
  <dcterms:created xsi:type="dcterms:W3CDTF">2024-08-02T08:45:51Z</dcterms:created>
  <dcterms:modified xsi:type="dcterms:W3CDTF">2024-08-02T11:24:42Z</dcterms:modified>
</cp:coreProperties>
</file>