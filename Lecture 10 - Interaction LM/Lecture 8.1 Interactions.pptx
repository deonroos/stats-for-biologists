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334" r:id="rId3"/>
    <p:sldId id="34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0942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0460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94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8052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6546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571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7106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37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2384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347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4589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C67EF-50B4-5942-0198-6666772B7C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BCDFA-7CC4-5649-AF10-524C71FDA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20B4A-AC25-CA7C-94B8-6F15EA17B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43031-B7A4-51BB-67C5-EAA175D9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032D3-0A65-2843-DD05-27B15C755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94558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7F408-F984-4C70-811B-82458E64648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F5D02-DF74-453C-ABB3-ECCA657705D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2517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79078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7968F-C709-2995-5226-38F6A8985F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698D3B-6955-5A52-C947-660D06E3CE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Interactions</a:t>
            </a:r>
          </a:p>
        </p:txBody>
      </p:sp>
    </p:spTree>
    <p:extLst>
      <p:ext uri="{BB962C8B-B14F-4D97-AF65-F5344CB8AC3E}">
        <p14:creationId xmlns:p14="http://schemas.microsoft.com/office/powerpoint/2010/main" val="73399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What is an interaction?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43D461-BE14-F4EF-F5DD-1AB322A02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40479" cy="4351338"/>
          </a:xfrm>
        </p:spPr>
        <p:txBody>
          <a:bodyPr>
            <a:normAutofit fontScale="92500" lnSpcReduction="10000"/>
          </a:bodyPr>
          <a:lstStyle/>
          <a:p>
            <a:r>
              <a:rPr lang="en-GB" dirty="0">
                <a:latin typeface="Bahnschrift Light" panose="020B0502040204020203" pitchFamily="34" charset="0"/>
              </a:rPr>
              <a:t>Interactions specify that an outcome is a result of specific combinations of more than one variable</a:t>
            </a:r>
          </a:p>
          <a:p>
            <a:r>
              <a:rPr lang="en-GB" dirty="0">
                <a:latin typeface="Bahnschrift Light" panose="020B0502040204020203" pitchFamily="34" charset="0"/>
              </a:rPr>
              <a:t>Will my tea be sweet?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Sweet ~ sugar + stir</a:t>
            </a:r>
          </a:p>
          <a:p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What if I stirred, but didn’t add sugar?</a:t>
            </a:r>
          </a:p>
          <a:p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The effectiveness of a covariate, depends on the other covariate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Sweet ~ sugar * stir</a:t>
            </a:r>
            <a:endParaRPr lang="en-GB" dirty="0"/>
          </a:p>
          <a:p>
            <a:endParaRPr lang="en-GB" dirty="0">
              <a:latin typeface="Bahnschrift Light" panose="020B0502040204020203" pitchFamily="34" charset="0"/>
              <a:cs typeface="Courier New" panose="02070309020205020404" pitchFamily="49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CE41F70-D0DB-0B50-E3F8-19AE0906F8A0}"/>
              </a:ext>
            </a:extLst>
          </p:cNvPr>
          <p:cNvGrpSpPr/>
          <p:nvPr/>
        </p:nvGrpSpPr>
        <p:grpSpPr>
          <a:xfrm>
            <a:off x="5268090" y="2087177"/>
            <a:ext cx="3381377" cy="3294012"/>
            <a:chOff x="8445039" y="1105489"/>
            <a:chExt cx="3381377" cy="329401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7BFEAF2-B532-F9DE-28A6-EEFC8576A4EC}"/>
                </a:ext>
              </a:extLst>
            </p:cNvPr>
            <p:cNvGrpSpPr/>
            <p:nvPr/>
          </p:nvGrpSpPr>
          <p:grpSpPr>
            <a:xfrm>
              <a:off x="8454565" y="1105489"/>
              <a:ext cx="3371851" cy="3294012"/>
              <a:chOff x="8311690" y="1416050"/>
              <a:chExt cx="3371851" cy="3294012"/>
            </a:xfrm>
          </p:grpSpPr>
          <p:pic>
            <p:nvPicPr>
              <p:cNvPr id="4" name="Picture 3" descr="A spoonful of salt&#10;&#10;Description automatically generated">
                <a:extLst>
                  <a:ext uri="{FF2B5EF4-FFF2-40B4-BE49-F238E27FC236}">
                    <a16:creationId xmlns:a16="http://schemas.microsoft.com/office/drawing/2014/main" id="{B7F8CBD0-D84B-3374-D624-B942EDD2A42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815" t="4921" r="20007" b="9027"/>
              <a:stretch/>
            </p:blipFill>
            <p:spPr>
              <a:xfrm>
                <a:off x="8311690" y="1416050"/>
                <a:ext cx="1676400" cy="1589036"/>
              </a:xfrm>
              <a:prstGeom prst="rect">
                <a:avLst/>
              </a:prstGeom>
            </p:spPr>
          </p:pic>
          <p:pic>
            <p:nvPicPr>
              <p:cNvPr id="5" name="Picture 4" descr="A spoonful of salt&#10;&#10;Description automatically generated">
                <a:extLst>
                  <a:ext uri="{FF2B5EF4-FFF2-40B4-BE49-F238E27FC236}">
                    <a16:creationId xmlns:a16="http://schemas.microsoft.com/office/drawing/2014/main" id="{4EB12315-515F-254B-AEA3-0D19297308A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815" t="4921" r="20007" b="9027"/>
              <a:stretch/>
            </p:blipFill>
            <p:spPr>
              <a:xfrm>
                <a:off x="10007141" y="1416050"/>
                <a:ext cx="1676400" cy="1589036"/>
              </a:xfrm>
              <a:prstGeom prst="rect">
                <a:avLst/>
              </a:prstGeom>
            </p:spPr>
          </p:pic>
          <p:sp>
            <p:nvSpPr>
              <p:cNvPr id="10" name="&quot;Not Allowed&quot; Symbol 9">
                <a:extLst>
                  <a:ext uri="{FF2B5EF4-FFF2-40B4-BE49-F238E27FC236}">
                    <a16:creationId xmlns:a16="http://schemas.microsoft.com/office/drawing/2014/main" id="{8FB6F91D-9BD6-EFF9-E55F-6AAF2AF99E01}"/>
                  </a:ext>
                </a:extLst>
              </p:cNvPr>
              <p:cNvSpPr/>
              <p:nvPr/>
            </p:nvSpPr>
            <p:spPr>
              <a:xfrm>
                <a:off x="10216689" y="1644650"/>
                <a:ext cx="1295400" cy="1250950"/>
              </a:xfrm>
              <a:prstGeom prst="noSmoking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9C2B87-6886-54FD-7FFA-F45288F1C155}"/>
                  </a:ext>
                </a:extLst>
              </p:cNvPr>
              <p:cNvSpPr txBox="1"/>
              <p:nvPr/>
            </p:nvSpPr>
            <p:spPr>
              <a:xfrm>
                <a:off x="8750363" y="3551426"/>
                <a:ext cx="89293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Maybe </a:t>
                </a:r>
                <a:br>
                  <a:rPr lang="en-GB" dirty="0"/>
                </a:br>
                <a:r>
                  <a:rPr lang="en-GB" dirty="0"/>
                  <a:t>sweet?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9E517BD-D38F-D09F-A882-0C4B3D0A10F9}"/>
                  </a:ext>
                </a:extLst>
              </p:cNvPr>
              <p:cNvSpPr txBox="1"/>
              <p:nvPr/>
            </p:nvSpPr>
            <p:spPr>
              <a:xfrm>
                <a:off x="10253166" y="3695700"/>
                <a:ext cx="1210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Not Sweet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80471F4-09C2-83DC-A240-8AF50537D2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07141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FC9AEF7E-F2EB-0040-A11C-29E05C8AFE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0" y="4710062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854B2A6E-8C66-4F83-0B38-ACD2E0A059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0" y="3005086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22FC770C-FCB6-31D0-E066-332BBF3E0B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2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128052F-B94A-3DF9-DC95-0707A60115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3541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EEB56D-9462-DA38-72A7-E79B327204F7}"/>
                </a:ext>
              </a:extLst>
            </p:cNvPr>
            <p:cNvCxnSpPr>
              <a:cxnSpLocks/>
            </p:cNvCxnSpPr>
            <p:nvPr/>
          </p:nvCxnSpPr>
          <p:spPr>
            <a:xfrm>
              <a:off x="8445039" y="1105489"/>
              <a:ext cx="337185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6FEE622-5DD7-6F73-C748-1AAA588B0B41}"/>
              </a:ext>
            </a:extLst>
          </p:cNvPr>
          <p:cNvGrpSpPr/>
          <p:nvPr/>
        </p:nvGrpSpPr>
        <p:grpSpPr>
          <a:xfrm>
            <a:off x="8810623" y="2087177"/>
            <a:ext cx="3381377" cy="3294013"/>
            <a:chOff x="8740315" y="1236277"/>
            <a:chExt cx="3381377" cy="3294013"/>
          </a:xfrm>
        </p:grpSpPr>
        <p:pic>
          <p:nvPicPr>
            <p:cNvPr id="41" name="Picture 40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E79D402-B18E-2963-E4A3-D96CA3AD68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5180" b="16894"/>
            <a:stretch/>
          </p:blipFill>
          <p:spPr>
            <a:xfrm>
              <a:off x="10455589" y="1236277"/>
              <a:ext cx="1655807" cy="1580449"/>
            </a:xfrm>
            <a:prstGeom prst="rect">
              <a:avLst/>
            </a:prstGeom>
          </p:spPr>
        </p:pic>
        <p:pic>
          <p:nvPicPr>
            <p:cNvPr id="8" name="Picture 7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893C8856-8FA8-D215-8C49-EF55F6416A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6894"/>
            <a:stretch/>
          </p:blipFill>
          <p:spPr>
            <a:xfrm>
              <a:off x="8757222" y="1244864"/>
              <a:ext cx="1698367" cy="1580449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9C59FC4-F5E7-7D2F-49C8-FA4ECF896860}"/>
                </a:ext>
              </a:extLst>
            </p:cNvPr>
            <p:cNvGrpSpPr/>
            <p:nvPr/>
          </p:nvGrpSpPr>
          <p:grpSpPr>
            <a:xfrm>
              <a:off x="8740315" y="1236278"/>
              <a:ext cx="3381377" cy="3294012"/>
              <a:chOff x="8445039" y="1105489"/>
              <a:chExt cx="3381377" cy="3294012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1D7321B6-B71D-E4FE-25F5-760521D1726F}"/>
                  </a:ext>
                </a:extLst>
              </p:cNvPr>
              <p:cNvGrpSpPr/>
              <p:nvPr/>
            </p:nvGrpSpPr>
            <p:grpSpPr>
              <a:xfrm>
                <a:off x="8454565" y="1105489"/>
                <a:ext cx="3371851" cy="3294012"/>
                <a:chOff x="8311690" y="1416050"/>
                <a:chExt cx="3371851" cy="3294012"/>
              </a:xfrm>
            </p:grpSpPr>
            <p:sp>
              <p:nvSpPr>
                <p:cNvPr id="33" name="&quot;Not Allowed&quot; Symbol 32">
                  <a:extLst>
                    <a:ext uri="{FF2B5EF4-FFF2-40B4-BE49-F238E27FC236}">
                      <a16:creationId xmlns:a16="http://schemas.microsoft.com/office/drawing/2014/main" id="{77CC0B4D-58A1-6C39-B5BF-437F2DDA6890}"/>
                    </a:ext>
                  </a:extLst>
                </p:cNvPr>
                <p:cNvSpPr/>
                <p:nvPr/>
              </p:nvSpPr>
              <p:spPr>
                <a:xfrm>
                  <a:off x="10216689" y="1644650"/>
                  <a:ext cx="1295400" cy="1250950"/>
                </a:xfrm>
                <a:prstGeom prst="noSmoking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CB0DFCAC-2D58-BE26-FC95-224EF68471D1}"/>
                    </a:ext>
                  </a:extLst>
                </p:cNvPr>
                <p:cNvSpPr txBox="1"/>
                <p:nvPr/>
              </p:nvSpPr>
              <p:spPr>
                <a:xfrm>
                  <a:off x="8756060" y="3548976"/>
                  <a:ext cx="892937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Maybe </a:t>
                  </a:r>
                  <a:br>
                    <a:rPr lang="en-GB" dirty="0"/>
                  </a:br>
                  <a:r>
                    <a:rPr lang="en-GB" dirty="0"/>
                    <a:t>sweet?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23388ED-FB58-D315-5CBD-DCF313D24CA3}"/>
                    </a:ext>
                  </a:extLst>
                </p:cNvPr>
                <p:cNvSpPr txBox="1"/>
                <p:nvPr/>
              </p:nvSpPr>
              <p:spPr>
                <a:xfrm>
                  <a:off x="10253166" y="3695700"/>
                  <a:ext cx="1210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Not Sweet</a:t>
                  </a:r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313C7EBD-0C42-E2EF-130C-34632EE659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07141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E48D6E3-AEEC-0E61-6F00-884C1DF917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0" y="4710062"/>
                  <a:ext cx="337185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510A8676-0543-1B36-DC7E-62539F9B38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0" y="3005086"/>
                  <a:ext cx="337185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85AF3805-0448-5426-5B4F-20952EF80B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2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697DBA51-6D6F-0A98-ECCE-8FC1F6158B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683541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3EB810EB-8F02-8722-BBDC-589FFC50B0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5039" y="1105489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0B43BCC-E368-9621-F5ED-EC343CB3ED01}"/>
              </a:ext>
            </a:extLst>
          </p:cNvPr>
          <p:cNvGrpSpPr/>
          <p:nvPr/>
        </p:nvGrpSpPr>
        <p:grpSpPr>
          <a:xfrm>
            <a:off x="6085010" y="1325563"/>
            <a:ext cx="5070218" cy="4998988"/>
            <a:chOff x="4578609" y="1597025"/>
            <a:chExt cx="5070218" cy="4998988"/>
          </a:xfrm>
        </p:grpSpPr>
        <p:pic>
          <p:nvPicPr>
            <p:cNvPr id="44" name="Picture 43" descr="A spoonful of salt&#10;&#10;Description automatically generated">
              <a:extLst>
                <a:ext uri="{FF2B5EF4-FFF2-40B4-BE49-F238E27FC236}">
                  <a16:creationId xmlns:a16="http://schemas.microsoft.com/office/drawing/2014/main" id="{346FE76B-CB0A-61D3-6C3E-8D48052463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15" t="4921" r="20007" b="9027"/>
            <a:stretch/>
          </p:blipFill>
          <p:spPr>
            <a:xfrm>
              <a:off x="6276976" y="1597025"/>
              <a:ext cx="1676400" cy="1589036"/>
            </a:xfrm>
            <a:prstGeom prst="rect">
              <a:avLst/>
            </a:prstGeom>
          </p:spPr>
        </p:pic>
        <p:pic>
          <p:nvPicPr>
            <p:cNvPr id="45" name="Picture 44" descr="A spoonful of salt&#10;&#10;Description automatically generated">
              <a:extLst>
                <a:ext uri="{FF2B5EF4-FFF2-40B4-BE49-F238E27FC236}">
                  <a16:creationId xmlns:a16="http://schemas.microsoft.com/office/drawing/2014/main" id="{CC9B1E1B-9CFA-2243-C57A-0001EC2E40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15" t="4921" r="20007" b="9027"/>
            <a:stretch/>
          </p:blipFill>
          <p:spPr>
            <a:xfrm>
              <a:off x="7972427" y="1597025"/>
              <a:ext cx="1676400" cy="1589036"/>
            </a:xfrm>
            <a:prstGeom prst="rect">
              <a:avLst/>
            </a:prstGeom>
          </p:spPr>
        </p:pic>
        <p:pic>
          <p:nvPicPr>
            <p:cNvPr id="46" name="Picture 45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BC802CB-578F-C0A6-89A6-75E4DA2E33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1124"/>
            <a:stretch/>
          </p:blipFill>
          <p:spPr>
            <a:xfrm>
              <a:off x="4578609" y="3186061"/>
              <a:ext cx="1698367" cy="1704976"/>
            </a:xfrm>
            <a:prstGeom prst="rect">
              <a:avLst/>
            </a:prstGeom>
          </p:spPr>
        </p:pic>
        <p:pic>
          <p:nvPicPr>
            <p:cNvPr id="47" name="Picture 46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6F40EE5-59BE-6BB5-7B73-4F92C3C29E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1124"/>
            <a:stretch/>
          </p:blipFill>
          <p:spPr>
            <a:xfrm>
              <a:off x="4578609" y="4891037"/>
              <a:ext cx="1698367" cy="1704976"/>
            </a:xfrm>
            <a:prstGeom prst="rect">
              <a:avLst/>
            </a:prstGeom>
          </p:spPr>
        </p:pic>
        <p:sp>
          <p:nvSpPr>
            <p:cNvPr id="48" name="&quot;Not Allowed&quot; Symbol 47">
              <a:extLst>
                <a:ext uri="{FF2B5EF4-FFF2-40B4-BE49-F238E27FC236}">
                  <a16:creationId xmlns:a16="http://schemas.microsoft.com/office/drawing/2014/main" id="{D12AF4CB-CE0E-57D1-F3B3-282843514242}"/>
                </a:ext>
              </a:extLst>
            </p:cNvPr>
            <p:cNvSpPr/>
            <p:nvPr/>
          </p:nvSpPr>
          <p:spPr>
            <a:xfrm>
              <a:off x="8181975" y="1825625"/>
              <a:ext cx="1295400" cy="1250950"/>
            </a:xfrm>
            <a:prstGeom prst="noSmoking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9" name="&quot;Not Allowed&quot; Symbol 48">
              <a:extLst>
                <a:ext uri="{FF2B5EF4-FFF2-40B4-BE49-F238E27FC236}">
                  <a16:creationId xmlns:a16="http://schemas.microsoft.com/office/drawing/2014/main" id="{5626F92B-516A-6F08-0F3C-42FE516B5D0D}"/>
                </a:ext>
              </a:extLst>
            </p:cNvPr>
            <p:cNvSpPr/>
            <p:nvPr/>
          </p:nvSpPr>
          <p:spPr>
            <a:xfrm>
              <a:off x="4800600" y="5135538"/>
              <a:ext cx="1295400" cy="1250950"/>
            </a:xfrm>
            <a:prstGeom prst="noSmoking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28DE7FE-C529-A204-3055-440E5F992B6B}"/>
                </a:ext>
              </a:extLst>
            </p:cNvPr>
            <p:cNvSpPr txBox="1"/>
            <p:nvPr/>
          </p:nvSpPr>
          <p:spPr>
            <a:xfrm>
              <a:off x="6715125" y="3876675"/>
              <a:ext cx="7985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Sweet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C315E20-CE0E-84E7-23EE-9EA74CE4DD9B}"/>
                </a:ext>
              </a:extLst>
            </p:cNvPr>
            <p:cNvSpPr txBox="1"/>
            <p:nvPr/>
          </p:nvSpPr>
          <p:spPr>
            <a:xfrm>
              <a:off x="8218452" y="3876675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84274C3-8E2B-920C-E4DF-153A56E74A11}"/>
                </a:ext>
              </a:extLst>
            </p:cNvPr>
            <p:cNvSpPr txBox="1"/>
            <p:nvPr/>
          </p:nvSpPr>
          <p:spPr>
            <a:xfrm>
              <a:off x="6509135" y="5578390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53CAD47-0FA7-AF7B-321F-136E5AB504E6}"/>
                </a:ext>
              </a:extLst>
            </p:cNvPr>
            <p:cNvSpPr txBox="1"/>
            <p:nvPr/>
          </p:nvSpPr>
          <p:spPr>
            <a:xfrm>
              <a:off x="8204587" y="5576347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97AC2A4-DD25-237B-A108-A2F4EDA94B7A}"/>
                </a:ext>
              </a:extLst>
            </p:cNvPr>
            <p:cNvCxnSpPr>
              <a:cxnSpLocks/>
            </p:cNvCxnSpPr>
            <p:nvPr/>
          </p:nvCxnSpPr>
          <p:spPr>
            <a:xfrm>
              <a:off x="7972427" y="1597025"/>
              <a:ext cx="0" cy="4998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EFE027F-5960-40FC-3657-C12975B55665}"/>
                </a:ext>
              </a:extLst>
            </p:cNvPr>
            <p:cNvCxnSpPr>
              <a:cxnSpLocks/>
            </p:cNvCxnSpPr>
            <p:nvPr/>
          </p:nvCxnSpPr>
          <p:spPr>
            <a:xfrm>
              <a:off x="4578609" y="4891037"/>
              <a:ext cx="50702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45C69D2-6780-823A-98D7-6BDC07BBCCF7}"/>
                </a:ext>
              </a:extLst>
            </p:cNvPr>
            <p:cNvCxnSpPr>
              <a:cxnSpLocks/>
            </p:cNvCxnSpPr>
            <p:nvPr/>
          </p:nvCxnSpPr>
          <p:spPr>
            <a:xfrm>
              <a:off x="4578609" y="3186061"/>
              <a:ext cx="50702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3A6CA2E-7B0F-DE82-4F5B-9DA44F324C93}"/>
                </a:ext>
              </a:extLst>
            </p:cNvPr>
            <p:cNvCxnSpPr>
              <a:cxnSpLocks/>
            </p:cNvCxnSpPr>
            <p:nvPr/>
          </p:nvCxnSpPr>
          <p:spPr>
            <a:xfrm>
              <a:off x="6276978" y="1597025"/>
              <a:ext cx="0" cy="4998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5173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How does our interaction work?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43D461-BE14-F4EF-F5DD-1AB322A02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538" y="1825625"/>
            <a:ext cx="5051141" cy="4351338"/>
          </a:xfrm>
        </p:spPr>
        <p:txBody>
          <a:bodyPr>
            <a:normAutofit fontScale="92500" lnSpcReduction="10000"/>
          </a:bodyPr>
          <a:lstStyle/>
          <a:p>
            <a:r>
              <a:rPr lang="en-GB" dirty="0">
                <a:latin typeface="Bahnschrift Light" panose="020B0502040204020203" pitchFamily="34" charset="0"/>
              </a:rPr>
              <a:t>Start with a model that has no interaction</a:t>
            </a:r>
          </a:p>
          <a:p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But!</a:t>
            </a:r>
          </a:p>
          <a:p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Maybe the slope for Mild increases rapidly with sessions</a:t>
            </a:r>
          </a:p>
          <a:p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While the slope for Severe increase more slowly</a:t>
            </a:r>
          </a:p>
          <a:p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Model with an interaction would allow this</a:t>
            </a:r>
          </a:p>
          <a:p>
            <a:pPr lvl="1"/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Include an interaction!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CD8EB3A-7F8B-68DC-FE30-0432EC71E82B}"/>
                  </a:ext>
                </a:extLst>
              </p:cNvPr>
              <p:cNvSpPr txBox="1"/>
              <p:nvPr/>
            </p:nvSpPr>
            <p:spPr>
              <a:xfrm>
                <a:off x="6096000" y="1461236"/>
                <a:ext cx="6019086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𝐵𝑖𝑛𝑜𝑚𝑖𝑎𝑙</m:t>
                      </m:r>
                      <m:d>
                        <m:dPr>
                          <m:ctrlP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r>
                        <a:rPr lang="en-GB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𝑜𝑔𝑖</m:t>
                      </m:r>
                      <m:func>
                        <m:funcPr>
                          <m:ctrlPr>
                            <a:rPr lang="en-GB" sz="2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fName>
                        <m:e>
                          <m:d>
                            <m:dPr>
                              <m:ctrlPr>
                                <a:rPr lang="en-GB" sz="2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GB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CD8EB3A-7F8B-68DC-FE30-0432EC71E8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461236"/>
                <a:ext cx="6019086" cy="13849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6F36B73-5E8B-6D40-F8ED-3CF5090F9BB7}"/>
                  </a:ext>
                </a:extLst>
              </p:cNvPr>
              <p:cNvSpPr txBox="1"/>
              <p:nvPr/>
            </p:nvSpPr>
            <p:spPr>
              <a:xfrm>
                <a:off x="6343207" y="3318890"/>
                <a:ext cx="577187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Where: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dirty="0"/>
                  <a:t> is number of sessions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indicates if patients were Severe (1) or not (0)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is the intercept (defaulting to Mild)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is the effect of number of sessions, specific to Mild </a:t>
                </a: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 difference in intercept for Severe relative to Mild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 is the difference in slope of number of sessions, specific to Severe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6F36B73-5E8B-6D40-F8ED-3CF5090F9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3207" y="3318890"/>
                <a:ext cx="5771879" cy="2585323"/>
              </a:xfrm>
              <a:prstGeom prst="rect">
                <a:avLst/>
              </a:prstGeom>
              <a:blipFill>
                <a:blip r:embed="rId3"/>
                <a:stretch>
                  <a:fillRect l="-951" t="-941" r="-529" b="-28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016C340-01E8-E97F-F8E2-71CDFC24D3F7}"/>
              </a:ext>
            </a:extLst>
          </p:cNvPr>
          <p:cNvSpPr/>
          <p:nvPr/>
        </p:nvSpPr>
        <p:spPr>
          <a:xfrm>
            <a:off x="8011681" y="2401368"/>
            <a:ext cx="2187723" cy="4448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16C820-D7FA-6034-F8AD-88B469B05C50}"/>
              </a:ext>
            </a:extLst>
          </p:cNvPr>
          <p:cNvSpPr/>
          <p:nvPr/>
        </p:nvSpPr>
        <p:spPr>
          <a:xfrm>
            <a:off x="6254414" y="4213689"/>
            <a:ext cx="5702255" cy="20094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E9C5414-7778-D179-1157-1108BF4AD22F}"/>
                  </a:ext>
                </a:extLst>
              </p:cNvPr>
              <p:cNvSpPr txBox="1"/>
              <p:nvPr/>
            </p:nvSpPr>
            <p:spPr>
              <a:xfrm>
                <a:off x="6334770" y="4149887"/>
                <a:ext cx="577187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is the intercept (defaulting to Mild)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is the effect of number of sessions</a:t>
                </a: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 difference in intercept for Severe relative to Mild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E9C5414-7778-D179-1157-1108BF4AD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4770" y="4149887"/>
                <a:ext cx="5771879" cy="1200329"/>
              </a:xfrm>
              <a:prstGeom prst="rect">
                <a:avLst/>
              </a:prstGeom>
              <a:blipFill>
                <a:blip r:embed="rId4"/>
                <a:stretch>
                  <a:fillRect l="-634" t="-2538" b="-76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853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3" grpId="0"/>
      <p:bldP spid="6" grpId="0"/>
      <p:bldP spid="4" grpId="0" animBg="1"/>
      <p:bldP spid="8" grpId="0" animBg="1"/>
      <p:bldP spid="9" grpId="0"/>
      <p:bldP spid="9" grpId="1"/>
    </p:bld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1</TotalTime>
  <Words>244</Words>
  <Application>Microsoft Office PowerPoint</Application>
  <PresentationFormat>Widescreen</PresentationFormat>
  <Paragraphs>35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Bahnschrift Light</vt:lpstr>
      <vt:lpstr>Cambria Math</vt:lpstr>
      <vt:lpstr>Courier New</vt:lpstr>
      <vt:lpstr>sbs_template</vt:lpstr>
      <vt:lpstr>Linear model theory</vt:lpstr>
      <vt:lpstr>What is an interaction?</vt:lpstr>
      <vt:lpstr>How does our interaction work?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1</cp:revision>
  <dcterms:created xsi:type="dcterms:W3CDTF">2024-08-02T08:45:51Z</dcterms:created>
  <dcterms:modified xsi:type="dcterms:W3CDTF">2024-08-02T08:47:37Z</dcterms:modified>
</cp:coreProperties>
</file>