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5" r:id="rId1"/>
  </p:sldMasterIdLst>
  <p:notesMasterIdLst>
    <p:notesMasterId r:id="rId26"/>
  </p:notesMasterIdLst>
  <p:sldIdLst>
    <p:sldId id="256" r:id="rId2"/>
    <p:sldId id="333" r:id="rId3"/>
    <p:sldId id="334" r:id="rId4"/>
    <p:sldId id="336" r:id="rId5"/>
    <p:sldId id="335" r:id="rId6"/>
    <p:sldId id="288" r:id="rId7"/>
    <p:sldId id="339" r:id="rId8"/>
    <p:sldId id="340" r:id="rId9"/>
    <p:sldId id="329" r:id="rId10"/>
    <p:sldId id="349" r:id="rId11"/>
    <p:sldId id="331" r:id="rId12"/>
    <p:sldId id="341" r:id="rId13"/>
    <p:sldId id="332" r:id="rId14"/>
    <p:sldId id="342" r:id="rId15"/>
    <p:sldId id="270" r:id="rId16"/>
    <p:sldId id="328" r:id="rId17"/>
    <p:sldId id="306" r:id="rId18"/>
    <p:sldId id="324" r:id="rId19"/>
    <p:sldId id="305" r:id="rId20"/>
    <p:sldId id="326" r:id="rId21"/>
    <p:sldId id="257" r:id="rId22"/>
    <p:sldId id="325" r:id="rId23"/>
    <p:sldId id="343" r:id="rId24"/>
    <p:sldId id="345" r:id="rId25"/>
  </p:sldIdLst>
  <p:sldSz cx="12192000" cy="6858000"/>
  <p:notesSz cx="6858000" cy="9144000"/>
  <p:embeddedFontLst>
    <p:embeddedFont>
      <p:font typeface="Bahnschrift Light" panose="020B0502040204020203" pitchFamily="34" charset="0"/>
      <p:regular r:id="rId27"/>
    </p:embeddedFont>
    <p:embeddedFont>
      <p:font typeface="Cambria Math" panose="02040503050406030204" pitchFamily="18" charset="0"/>
      <p:regular r:id="rId28"/>
    </p:embeddedFont>
    <p:embeddedFont>
      <p:font typeface="Roboto" panose="02000000000000000000" pitchFamily="2"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65" autoAdjust="0"/>
    <p:restoredTop sz="94337" autoAdjust="0"/>
  </p:normalViewPr>
  <p:slideViewPr>
    <p:cSldViewPr snapToGrid="0">
      <p:cViewPr varScale="1">
        <p:scale>
          <a:sx n="112" d="100"/>
          <a:sy n="112" d="100"/>
        </p:scale>
        <p:origin x="45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B79C3-63BD-4260-B39C-A21BDBFD3EC2}" type="datetimeFigureOut">
              <a:rPr lang="en-GB" smtClean="0"/>
              <a:t>16/09/2024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3BAC34-CF53-4E66-B782-0A417FCABA64}" type="slidenum">
              <a:rPr lang="en-GB" smtClean="0"/>
              <a:t>‹#›</a:t>
            </a:fld>
            <a:endParaRPr lang="en-GB"/>
          </a:p>
        </p:txBody>
      </p:sp>
    </p:spTree>
    <p:extLst>
      <p:ext uri="{BB962C8B-B14F-4D97-AF65-F5344CB8AC3E}">
        <p14:creationId xmlns:p14="http://schemas.microsoft.com/office/powerpoint/2010/main" val="114059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7414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7565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911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218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99b185d4a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99b185d4a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0637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EF085-90BA-6B79-A198-AE27F69DC1AB}"/>
              </a:ext>
            </a:extLst>
          </p:cNvPr>
          <p:cNvSpPr>
            <a:spLocks noGrp="1"/>
          </p:cNvSpPr>
          <p:nvPr>
            <p:ph type="ctrTitle"/>
          </p:nvPr>
        </p:nvSpPr>
        <p:spPr>
          <a:xfrm>
            <a:off x="174567" y="565410"/>
            <a:ext cx="6096000" cy="2863589"/>
          </a:xfrm>
        </p:spPr>
        <p:txBody>
          <a:bodyPr anchor="ctr"/>
          <a:lstStyle>
            <a:lvl1pPr algn="ctr">
              <a:defRPr sz="60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2960FB6-F389-7EDD-D9DB-A406B89F355E}"/>
              </a:ext>
            </a:extLst>
          </p:cNvPr>
          <p:cNvSpPr>
            <a:spLocks noGrp="1"/>
          </p:cNvSpPr>
          <p:nvPr>
            <p:ph type="subTitle" idx="1"/>
          </p:nvPr>
        </p:nvSpPr>
        <p:spPr>
          <a:xfrm>
            <a:off x="174567" y="3552161"/>
            <a:ext cx="6096000" cy="2607569"/>
          </a:xfrm>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8" name="Picture Placeholder 7">
            <a:extLst>
              <a:ext uri="{FF2B5EF4-FFF2-40B4-BE49-F238E27FC236}">
                <a16:creationId xmlns:a16="http://schemas.microsoft.com/office/drawing/2014/main" id="{E001CD27-4DF4-05EC-92B4-C7555C3D0189}"/>
              </a:ext>
            </a:extLst>
          </p:cNvPr>
          <p:cNvSpPr>
            <a:spLocks noGrp="1"/>
          </p:cNvSpPr>
          <p:nvPr>
            <p:ph type="pic" sz="quarter" idx="13"/>
          </p:nvPr>
        </p:nvSpPr>
        <p:spPr>
          <a:xfrm>
            <a:off x="6450677" y="0"/>
            <a:ext cx="5741324" cy="6858000"/>
          </a:xfrm>
        </p:spPr>
        <p:txBody>
          <a:bodyPr/>
          <a:lstStyle/>
          <a:p>
            <a:r>
              <a:rPr lang="en-US"/>
              <a:t>Click icon to add picture</a:t>
            </a:r>
            <a:endParaRPr lang="en-GB"/>
          </a:p>
        </p:txBody>
      </p:sp>
      <p:cxnSp>
        <p:nvCxnSpPr>
          <p:cNvPr id="5" name="Straight Connector 4">
            <a:extLst>
              <a:ext uri="{FF2B5EF4-FFF2-40B4-BE49-F238E27FC236}">
                <a16:creationId xmlns:a16="http://schemas.microsoft.com/office/drawing/2014/main" id="{B5E048B3-2145-631D-3138-1DF0AD6D38F2}"/>
              </a:ext>
            </a:extLst>
          </p:cNvPr>
          <p:cNvCxnSpPr/>
          <p:nvPr/>
        </p:nvCxnSpPr>
        <p:spPr>
          <a:xfrm>
            <a:off x="1313411" y="3491345"/>
            <a:ext cx="375735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6094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0639-2CA7-2272-840E-F8F595ABC7E3}"/>
              </a:ext>
            </a:extLst>
          </p:cNvPr>
          <p:cNvSpPr>
            <a:spLocks noGrp="1"/>
          </p:cNvSpPr>
          <p:nvPr>
            <p:ph type="title"/>
          </p:nvPr>
        </p:nvSpPr>
        <p:spPr>
          <a:xfrm>
            <a:off x="0" y="0"/>
            <a:ext cx="6201295" cy="1325563"/>
          </a:xfrm>
        </p:spPr>
        <p:txBody>
          <a:bodyPr/>
          <a:lstStyle>
            <a:lvl1pPr algn="ct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3D59DF2-E981-9079-7762-2C88651F5B6B}"/>
              </a:ext>
            </a:extLst>
          </p:cNvPr>
          <p:cNvSpPr>
            <a:spLocks noGrp="1"/>
          </p:cNvSpPr>
          <p:nvPr>
            <p:ph idx="1"/>
          </p:nvPr>
        </p:nvSpPr>
        <p:spPr>
          <a:xfrm>
            <a:off x="0" y="1426613"/>
            <a:ext cx="6201295" cy="524019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Picture Placeholder 7">
            <a:extLst>
              <a:ext uri="{FF2B5EF4-FFF2-40B4-BE49-F238E27FC236}">
                <a16:creationId xmlns:a16="http://schemas.microsoft.com/office/drawing/2014/main" id="{BEC5A3C4-A2EA-7545-B99B-E8F489810FE2}"/>
              </a:ext>
            </a:extLst>
          </p:cNvPr>
          <p:cNvSpPr>
            <a:spLocks noGrp="1"/>
          </p:cNvSpPr>
          <p:nvPr>
            <p:ph type="pic" sz="quarter" idx="10"/>
          </p:nvPr>
        </p:nvSpPr>
        <p:spPr>
          <a:xfrm>
            <a:off x="6359525" y="0"/>
            <a:ext cx="5832475" cy="6858000"/>
          </a:xfrm>
        </p:spPr>
        <p:txBody>
          <a:bodyPr/>
          <a:lstStyle/>
          <a:p>
            <a:r>
              <a:rPr lang="en-US"/>
              <a:t>Click icon to add picture</a:t>
            </a:r>
            <a:endParaRPr lang="en-GB"/>
          </a:p>
        </p:txBody>
      </p:sp>
    </p:spTree>
    <p:extLst>
      <p:ext uri="{BB962C8B-B14F-4D97-AF65-F5344CB8AC3E}">
        <p14:creationId xmlns:p14="http://schemas.microsoft.com/office/powerpoint/2010/main" val="3511473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B9374-2DD6-FA11-BF6F-AE419E0A6BB0}"/>
              </a:ext>
            </a:extLst>
          </p:cNvPr>
          <p:cNvSpPr>
            <a:spLocks noGrp="1"/>
          </p:cNvSpPr>
          <p:nvPr>
            <p:ph sz="half" idx="1"/>
          </p:nvPr>
        </p:nvSpPr>
        <p:spPr>
          <a:xfrm>
            <a:off x="0" y="1426614"/>
            <a:ext cx="5893724" cy="51622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17FA4DDC-5EE8-4D0D-208A-D5A4CC40A54B}"/>
              </a:ext>
            </a:extLst>
          </p:cNvPr>
          <p:cNvSpPr>
            <a:spLocks noGrp="1"/>
          </p:cNvSpPr>
          <p:nvPr>
            <p:ph sz="half" idx="2"/>
          </p:nvPr>
        </p:nvSpPr>
        <p:spPr>
          <a:xfrm>
            <a:off x="6201295" y="0"/>
            <a:ext cx="5990705" cy="5162204"/>
          </a:xfrm>
        </p:spPr>
        <p:txBody>
          <a:bodyPr anchor="ct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itle 1">
            <a:extLst>
              <a:ext uri="{FF2B5EF4-FFF2-40B4-BE49-F238E27FC236}">
                <a16:creationId xmlns:a16="http://schemas.microsoft.com/office/drawing/2014/main" id="{896FFCEF-D528-27F4-CF96-A8F674BCA083}"/>
              </a:ext>
            </a:extLst>
          </p:cNvPr>
          <p:cNvSpPr txBox="1">
            <a:spLocks/>
          </p:cNvSpPr>
          <p:nvPr/>
        </p:nvSpPr>
        <p:spPr>
          <a:xfrm>
            <a:off x="0" y="0"/>
            <a:ext cx="620129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Click to edit Master title style</a:t>
            </a:r>
            <a:endParaRPr lang="en-GB" dirty="0"/>
          </a:p>
        </p:txBody>
      </p:sp>
      <p:sp>
        <p:nvSpPr>
          <p:cNvPr id="12" name="Text Placeholder 11">
            <a:extLst>
              <a:ext uri="{FF2B5EF4-FFF2-40B4-BE49-F238E27FC236}">
                <a16:creationId xmlns:a16="http://schemas.microsoft.com/office/drawing/2014/main" id="{4E6B47C7-8888-2E6B-0D7C-CF46BFD9A309}"/>
              </a:ext>
            </a:extLst>
          </p:cNvPr>
          <p:cNvSpPr>
            <a:spLocks noGrp="1"/>
          </p:cNvSpPr>
          <p:nvPr>
            <p:ph type="body" sz="quarter" idx="10"/>
          </p:nvPr>
        </p:nvSpPr>
        <p:spPr>
          <a:xfrm>
            <a:off x="6201295" y="5162204"/>
            <a:ext cx="5990705" cy="16957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6306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FACB-206F-5777-5BAD-5BF8E966915A}"/>
              </a:ext>
            </a:extLst>
          </p:cNvPr>
          <p:cNvSpPr>
            <a:spLocks noGrp="1"/>
          </p:cNvSpPr>
          <p:nvPr>
            <p:ph type="title"/>
          </p:nvPr>
        </p:nvSpPr>
        <p:spPr>
          <a:xfrm>
            <a:off x="0" y="5104015"/>
            <a:ext cx="10515600" cy="1753985"/>
          </a:xfrm>
        </p:spPr>
        <p:txBody>
          <a:bodyPr anchor="b"/>
          <a:lstStyle>
            <a:lvl1pPr>
              <a:defRPr sz="6000"/>
            </a:lvl1pPr>
          </a:lstStyle>
          <a:p>
            <a:r>
              <a:rPr lang="en-US"/>
              <a:t>Click to edit Master title style</a:t>
            </a:r>
            <a:endParaRPr lang="en-GB" dirty="0"/>
          </a:p>
        </p:txBody>
      </p:sp>
    </p:spTree>
    <p:extLst>
      <p:ext uri="{BB962C8B-B14F-4D97-AF65-F5344CB8AC3E}">
        <p14:creationId xmlns:p14="http://schemas.microsoft.com/office/powerpoint/2010/main" val="3101453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58E7-8733-1588-CE76-0710036CC17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043C91-73BF-C49E-46BA-834638FC0B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FDC1F7-08BE-633D-0E8D-18F30CEE5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4D961F-706F-451E-ABF3-F672C1F45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36AEAE-47C4-6C9C-5B4C-F6E31977E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D72731F-9715-FADD-FEBD-65D90CABA4D5}"/>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8" name="Footer Placeholder 7">
            <a:extLst>
              <a:ext uri="{FF2B5EF4-FFF2-40B4-BE49-F238E27FC236}">
                <a16:creationId xmlns:a16="http://schemas.microsoft.com/office/drawing/2014/main" id="{45E7A07B-AF32-2EA1-F513-0D1F38BAB0D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EB01B04-63C5-991E-FD0F-2ED9257DC0D7}"/>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59588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3767-1669-64A9-2C16-1A1F6165D8E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A1F01AD-E823-7B4D-D421-EF7BE290C00F}"/>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4" name="Footer Placeholder 3">
            <a:extLst>
              <a:ext uri="{FF2B5EF4-FFF2-40B4-BE49-F238E27FC236}">
                <a16:creationId xmlns:a16="http://schemas.microsoft.com/office/drawing/2014/main" id="{9313AC7F-2C26-3190-A705-5FC5DD18BF4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6DF203F-F57C-7145-B743-4A084B3A5F25}"/>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546038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E02D19-147D-AD60-6ACC-2F7283CEE9CB}"/>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3" name="Footer Placeholder 2">
            <a:extLst>
              <a:ext uri="{FF2B5EF4-FFF2-40B4-BE49-F238E27FC236}">
                <a16:creationId xmlns:a16="http://schemas.microsoft.com/office/drawing/2014/main" id="{94CF569D-7098-9B6D-B851-1B18E6DB650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18D08F-69F0-C410-CAC9-DF16A0BF9AD9}"/>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85408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2567-4A48-3F47-EF88-E32A67EDD9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5F90797-1FEC-B310-9CA0-6642F4FE7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5BDC1EB-E335-7190-8BFD-48E25C309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54E58-0B6A-491E-7CE0-88114C1411B9}"/>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6" name="Footer Placeholder 5">
            <a:extLst>
              <a:ext uri="{FF2B5EF4-FFF2-40B4-BE49-F238E27FC236}">
                <a16:creationId xmlns:a16="http://schemas.microsoft.com/office/drawing/2014/main" id="{E8198572-7396-BEBC-0D56-24BE2A95E1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2279F2-BB85-6763-45F1-D73C041BD23E}"/>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481869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83E09-8249-AC15-7FC0-A0BAD598E2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DC329DF-266D-F8F8-A195-53A7576BBF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C1CFA6F2-3F6B-26F9-74E6-E4E35007E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4BCDB-42E3-AB80-31A3-907D1B597590}"/>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6" name="Footer Placeholder 5">
            <a:extLst>
              <a:ext uri="{FF2B5EF4-FFF2-40B4-BE49-F238E27FC236}">
                <a16:creationId xmlns:a16="http://schemas.microsoft.com/office/drawing/2014/main" id="{196EC699-83D3-6581-966B-8882D2158B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550ABE-17BA-CEDA-390B-2BA6E004B278}"/>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430921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BF0F-4D20-22A7-227D-78B4DDCA7B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010818-F611-B1A2-8A19-C3130A329F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543987-925F-B621-E68B-A3BED9350544}"/>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5" name="Footer Placeholder 4">
            <a:extLst>
              <a:ext uri="{FF2B5EF4-FFF2-40B4-BE49-F238E27FC236}">
                <a16:creationId xmlns:a16="http://schemas.microsoft.com/office/drawing/2014/main" id="{3D52031D-ADF7-744B-5905-8C84ADA49B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7D02BB-73AF-8339-0B3A-B736F5E386A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62632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A4840D-0D28-B8EB-88E1-65CDAE3316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3A8637-D9F6-1719-1804-4B3705C901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A50F13-C53E-CA05-E313-C1579E84EBA3}"/>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5" name="Footer Placeholder 4">
            <a:extLst>
              <a:ext uri="{FF2B5EF4-FFF2-40B4-BE49-F238E27FC236}">
                <a16:creationId xmlns:a16="http://schemas.microsoft.com/office/drawing/2014/main" id="{E5909B7E-626E-8018-4CBE-414FB0F1D8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0D0C27-06BF-1AD4-3587-FD26F1D7BA4A}"/>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39095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3A581-97F1-435E-8E5A-5972AAEF871B}" type="datetimeFigureOut">
              <a:rPr lang="en-GB" smtClean="0"/>
              <a:t>16/09/2024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D2B2F5-627E-4743-AC48-679479976A1B}" type="slidenum">
              <a:rPr lang="en-GB" smtClean="0"/>
              <a:t>‹#›</a:t>
            </a:fld>
            <a:endParaRPr lang="en-GB"/>
          </a:p>
        </p:txBody>
      </p:sp>
    </p:spTree>
    <p:extLst>
      <p:ext uri="{BB962C8B-B14F-4D97-AF65-F5344CB8AC3E}">
        <p14:creationId xmlns:p14="http://schemas.microsoft.com/office/powerpoint/2010/main" val="2370924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1C78-9441-7FAC-0D26-EAF1B21DA8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9855972-6453-1350-4E7A-11D6C7BA87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31D2E60-C581-170F-14E4-C05E19E224D9}"/>
              </a:ext>
            </a:extLst>
          </p:cNvPr>
          <p:cNvSpPr>
            <a:spLocks noGrp="1"/>
          </p:cNvSpPr>
          <p:nvPr>
            <p:ph type="dt" sz="half" idx="10"/>
          </p:nvPr>
        </p:nvSpPr>
        <p:spPr/>
        <p:txBody>
          <a:bodyPr/>
          <a:lstStyle/>
          <a:p>
            <a:fld id="{D5AA5DBE-9C56-419A-B106-42B06CF5E6CF}" type="datetimeFigureOut">
              <a:rPr lang="en-GB" smtClean="0"/>
              <a:t>16/09/2024</a:t>
            </a:fld>
            <a:endParaRPr lang="en-GB"/>
          </a:p>
        </p:txBody>
      </p:sp>
      <p:sp>
        <p:nvSpPr>
          <p:cNvPr id="5" name="Footer Placeholder 4">
            <a:extLst>
              <a:ext uri="{FF2B5EF4-FFF2-40B4-BE49-F238E27FC236}">
                <a16:creationId xmlns:a16="http://schemas.microsoft.com/office/drawing/2014/main" id="{F7BFEF6C-F504-7187-A644-EB22FC4976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693D89-C005-30A7-71D3-615AE97C434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513184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81803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46E56-8908-0E6A-4E62-88CF6D3590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D1896B-C040-3D2C-A619-0B877E3383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B1AC1E-960F-82DB-0E5A-2F328EAC2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AA5DBE-9C56-419A-B106-42B06CF5E6CF}" type="datetimeFigureOut">
              <a:rPr lang="en-GB" smtClean="0"/>
              <a:t>16/09/2024</a:t>
            </a:fld>
            <a:endParaRPr lang="en-GB"/>
          </a:p>
        </p:txBody>
      </p:sp>
      <p:sp>
        <p:nvSpPr>
          <p:cNvPr id="5" name="Footer Placeholder 4">
            <a:extLst>
              <a:ext uri="{FF2B5EF4-FFF2-40B4-BE49-F238E27FC236}">
                <a16:creationId xmlns:a16="http://schemas.microsoft.com/office/drawing/2014/main" id="{2CCFF5B2-21B1-9528-920D-DD4BF8C0B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CD16DDC-4E03-310B-1091-75EB5EDC36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072C08-6C83-4620-A4F2-7F5A9B51037D}" type="slidenum">
              <a:rPr lang="en-GB" smtClean="0"/>
              <a:t>‹#›</a:t>
            </a:fld>
            <a:endParaRPr lang="en-GB"/>
          </a:p>
        </p:txBody>
      </p:sp>
    </p:spTree>
    <p:extLst>
      <p:ext uri="{BB962C8B-B14F-4D97-AF65-F5344CB8AC3E}">
        <p14:creationId xmlns:p14="http://schemas.microsoft.com/office/powerpoint/2010/main" val="3826861216"/>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6.gif"/></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240.png"/></Relationships>
</file>

<file path=ppt/slides/_rels/slide19.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0F4C-DD8F-9CED-692A-76E780A05B55}"/>
              </a:ext>
            </a:extLst>
          </p:cNvPr>
          <p:cNvSpPr>
            <a:spLocks noGrp="1"/>
          </p:cNvSpPr>
          <p:nvPr>
            <p:ph type="ctrTitle"/>
          </p:nvPr>
        </p:nvSpPr>
        <p:spPr/>
        <p:txBody>
          <a:bodyPr/>
          <a:lstStyle/>
          <a:p>
            <a:r>
              <a:rPr lang="en-GB" dirty="0"/>
              <a:t>Introduction to linear models</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BC810B5-A6DA-0BFD-FE9D-E376DD9EAA40}"/>
                  </a:ext>
                </a:extLst>
              </p:cNvPr>
              <p:cNvSpPr>
                <a:spLocks noGrp="1"/>
              </p:cNvSpPr>
              <p:nvPr>
                <p:ph type="subTitle" idx="1"/>
              </p:nvPr>
            </p:nvSpPr>
            <p:spPr/>
            <p:txBody>
              <a:bodyPr/>
              <a:lstStyle/>
              <a:p>
                <a:r>
                  <a:rPr lang="en-GB" dirty="0"/>
                  <a:t>Of course I’m </a:t>
                </a:r>
                <a14:m>
                  <m:oMath xmlns:m="http://schemas.openxmlformats.org/officeDocument/2006/math">
                    <m:r>
                      <a:rPr lang="en-GB" i="1" dirty="0" smtClean="0">
                        <a:latin typeface="Cambria Math" panose="02040503050406030204" pitchFamily="18" charset="0"/>
                      </a:rPr>
                      <m:t>𝑁𝑜𝑟𝑚𝑎𝑙</m:t>
                    </m:r>
                  </m:oMath>
                </a14:m>
                <a:endParaRPr lang="en-GB" dirty="0"/>
              </a:p>
            </p:txBody>
          </p:sp>
        </mc:Choice>
        <mc:Fallback xmlns="">
          <p:sp>
            <p:nvSpPr>
              <p:cNvPr id="3" name="Subtitle 2">
                <a:extLst>
                  <a:ext uri="{FF2B5EF4-FFF2-40B4-BE49-F238E27FC236}">
                    <a16:creationId xmlns:a16="http://schemas.microsoft.com/office/drawing/2014/main" id="{CBC810B5-A6DA-0BFD-FE9D-E376DD9EAA40}"/>
                  </a:ext>
                </a:extLst>
              </p:cNvPr>
              <p:cNvSpPr>
                <a:spLocks noGrp="1" noRot="1" noChangeAspect="1" noMove="1" noResize="1" noEditPoints="1" noAdjustHandles="1" noChangeArrowheads="1" noChangeShapeType="1" noTextEdit="1"/>
              </p:cNvSpPr>
              <p:nvPr>
                <p:ph type="subTitle" idx="1"/>
              </p:nvPr>
            </p:nvSpPr>
            <p:spPr>
              <a:blipFill>
                <a:blip r:embed="rId2"/>
                <a:stretch>
                  <a:fillRect t="-5515"/>
                </a:stretch>
              </a:blipFill>
            </p:spPr>
            <p:txBody>
              <a:bodyPr/>
              <a:lstStyle/>
              <a:p>
                <a:r>
                  <a:rPr lang="en-GB">
                    <a:noFill/>
                  </a:rPr>
                  <a:t> </a:t>
                </a:r>
              </a:p>
            </p:txBody>
          </p:sp>
        </mc:Fallback>
      </mc:AlternateContent>
    </p:spTree>
    <p:extLst>
      <p:ext uri="{BB962C8B-B14F-4D97-AF65-F5344CB8AC3E}">
        <p14:creationId xmlns:p14="http://schemas.microsoft.com/office/powerpoint/2010/main" val="393446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3E61-6D7A-D6E8-1910-13732FD50B3F}"/>
              </a:ext>
            </a:extLst>
          </p:cNvPr>
          <p:cNvSpPr>
            <a:spLocks noGrp="1"/>
          </p:cNvSpPr>
          <p:nvPr>
            <p:ph type="title"/>
          </p:nvPr>
        </p:nvSpPr>
        <p:spPr>
          <a:xfrm>
            <a:off x="0" y="0"/>
            <a:ext cx="12192000" cy="1325563"/>
          </a:xfrm>
        </p:spPr>
        <p:txBody>
          <a:bodyPr>
            <a:normAutofit/>
          </a:bodyPr>
          <a:lstStyle/>
          <a:p>
            <a:r>
              <a:rPr lang="en-GB" dirty="0"/>
              <a:t>Stats: making the simple seem complicated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962950-2D54-62EB-A8D7-806F8AD3A3E3}"/>
                  </a:ext>
                </a:extLst>
              </p:cNvPr>
              <p:cNvSpPr>
                <a:spLocks noGrp="1"/>
              </p:cNvSpPr>
              <p:nvPr>
                <p:ph idx="1"/>
              </p:nvPr>
            </p:nvSpPr>
            <p:spPr/>
            <p:txBody>
              <a:bodyPr/>
              <a:lstStyle/>
              <a:p>
                <a:r>
                  <a:rPr lang="en-GB" dirty="0"/>
                  <a:t>Statistics is all about finding associations</a:t>
                </a:r>
              </a:p>
              <a:p>
                <a:pPr lvl="1"/>
                <a:r>
                  <a:rPr lang="en-GB" dirty="0"/>
                  <a:t>When temperature increases, what happens to survival?</a:t>
                </a:r>
              </a:p>
              <a:p>
                <a:pPr lvl="1"/>
                <a:r>
                  <a:rPr lang="en-GB" dirty="0"/>
                  <a:t>What is the average number of kittiwakes in Site A and Site B?</a:t>
                </a:r>
              </a:p>
              <a:p>
                <a:r>
                  <a:rPr lang="en-GB" dirty="0"/>
                  <a:t>The maths is pretty simple</a:t>
                </a:r>
              </a:p>
              <a:p>
                <a:pPr lvl="1"/>
                <a:r>
                  <a:rPr lang="en-GB" dirty="0"/>
                  <a:t>Intercepts and slopes</a:t>
                </a:r>
              </a:p>
              <a:p>
                <a:pPr lvl="1"/>
                <a:r>
                  <a:rPr lang="en-GB" dirty="0"/>
                  <a:t>Or multiple averages</a:t>
                </a:r>
              </a:p>
              <a:p>
                <a:r>
                  <a:rPr lang="en-GB" dirty="0"/>
                  <a:t>Some form of:</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𝑚𝑥</m:t>
                      </m:r>
                      <m:r>
                        <a:rPr lang="en-GB" b="0" i="1" smtClean="0">
                          <a:latin typeface="Cambria Math" panose="02040503050406030204" pitchFamily="18" charset="0"/>
                        </a:rPr>
                        <m:t>+</m:t>
                      </m:r>
                      <m:r>
                        <a:rPr lang="en-GB" b="0" i="1" smtClean="0">
                          <a:latin typeface="Cambria Math" panose="02040503050406030204" pitchFamily="18" charset="0"/>
                        </a:rPr>
                        <m:t>𝑐</m:t>
                      </m:r>
                    </m:oMath>
                  </m:oMathPara>
                </a14:m>
                <a:endParaRPr lang="en-GB" dirty="0"/>
              </a:p>
            </p:txBody>
          </p:sp>
        </mc:Choice>
        <mc:Fallback xmlns="">
          <p:sp>
            <p:nvSpPr>
              <p:cNvPr id="3" name="Content Placeholder 2">
                <a:extLst>
                  <a:ext uri="{FF2B5EF4-FFF2-40B4-BE49-F238E27FC236}">
                    <a16:creationId xmlns:a16="http://schemas.microsoft.com/office/drawing/2014/main" id="{8A962950-2D54-62EB-A8D7-806F8AD3A3E3}"/>
                  </a:ext>
                </a:extLst>
              </p:cNvPr>
              <p:cNvSpPr>
                <a:spLocks noGrp="1" noRot="1" noChangeAspect="1" noMove="1" noResize="1" noEditPoints="1" noAdjustHandles="1" noChangeArrowheads="1" noChangeShapeType="1" noTextEdit="1"/>
              </p:cNvSpPr>
              <p:nvPr>
                <p:ph idx="1"/>
              </p:nvPr>
            </p:nvSpPr>
            <p:spPr>
              <a:blipFill>
                <a:blip r:embed="rId2"/>
                <a:stretch>
                  <a:fillRect l="-1770"/>
                </a:stretch>
              </a:blipFill>
            </p:spPr>
            <p:txBody>
              <a:bodyPr/>
              <a:lstStyle/>
              <a:p>
                <a:r>
                  <a:rPr lang="en-GB">
                    <a:noFill/>
                  </a:rPr>
                  <a:t> </a:t>
                </a:r>
              </a:p>
            </p:txBody>
          </p:sp>
        </mc:Fallback>
      </mc:AlternateContent>
      <p:pic>
        <p:nvPicPr>
          <p:cNvPr id="5" name="Google Shape;372;p39">
            <a:extLst>
              <a:ext uri="{FF2B5EF4-FFF2-40B4-BE49-F238E27FC236}">
                <a16:creationId xmlns:a16="http://schemas.microsoft.com/office/drawing/2014/main" id="{DEBF7F62-B3BD-F6EE-3692-6FA3F0189EF0}"/>
              </a:ext>
            </a:extLst>
          </p:cNvPr>
          <p:cNvPicPr preferRelativeResize="0">
            <a:picLocks noGrp="1"/>
          </p:cNvPicPr>
          <p:nvPr>
            <p:ph type="pic" sz="quarter" idx="10"/>
          </p:nvPr>
        </p:nvPicPr>
        <p:blipFill rotWithShape="1">
          <a:blip r:embed="rId3">
            <a:alphaModFix/>
          </a:blip>
          <a:srcRect l="-511" t="-36890" b="-12820"/>
          <a:stretch/>
        </p:blipFill>
        <p:spPr>
          <a:xfrm>
            <a:off x="6201295" y="0"/>
            <a:ext cx="5832475" cy="6858000"/>
          </a:xfrm>
          <a:prstGeom prst="rect">
            <a:avLst/>
          </a:prstGeom>
          <a:noFill/>
          <a:ln>
            <a:noFill/>
          </a:ln>
        </p:spPr>
      </p:pic>
    </p:spTree>
    <p:extLst>
      <p:ext uri="{BB962C8B-B14F-4D97-AF65-F5344CB8AC3E}">
        <p14:creationId xmlns:p14="http://schemas.microsoft.com/office/powerpoint/2010/main" val="572482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2867003"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panose="02040503050406030204" pitchFamily="18" charset="0"/>
                        </a:rPr>
                        <m:t>𝑦</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𝑚</m:t>
                      </m:r>
                      <m:r>
                        <a:rPr lang="en-GB" sz="4000" b="0" i="1" smtClean="0">
                          <a:solidFill>
                            <a:schemeClr val="tx1"/>
                          </a:solidFill>
                          <a:latin typeface="Cambria Math" panose="02040503050406030204" pitchFamily="18" charset="0"/>
                        </a:rPr>
                        <m:t>𝑥</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𝑐</m:t>
                      </m:r>
                    </m:oMath>
                  </m:oMathPara>
                </a14:m>
                <a:endParaRPr lang="en-GB" sz="2800" dirty="0"/>
              </a:p>
            </p:txBody>
          </p:sp>
        </mc:Choice>
        <mc:Fallback xmlns="">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2867003"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2070340"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749778"/>
            <a:ext cx="3543725" cy="4368800"/>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9075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1000"/>
                                        <p:tgtEl>
                                          <p:spTgt spid="4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
                                        </p:tgtEl>
                                        <p:attrNameLst>
                                          <p:attrName>style.visibility</p:attrName>
                                        </p:attrNameLst>
                                      </p:cBhvr>
                                      <p:to>
                                        <p:strVal val="visible"/>
                                      </p:to>
                                    </p:set>
                                    <p:animEffect transition="in" filter="fade">
                                      <p:cBhvr>
                                        <p:cTn id="12" dur="1000"/>
                                        <p:tgtEl>
                                          <p:spTgt spid="409"/>
                                        </p:tgtEl>
                                      </p:cBhvr>
                                    </p:animEffect>
                                  </p:childTnLst>
                                </p:cTn>
                              </p:par>
                              <p:par>
                                <p:cTn id="13" presetID="10" presetClass="entr" presetSubtype="0" fill="hold" nodeType="withEffect">
                                  <p:stCondLst>
                                    <p:cond delay="0"/>
                                  </p:stCondLst>
                                  <p:childTnLst>
                                    <p:set>
                                      <p:cBhvr>
                                        <p:cTn id="14" dur="1" fill="hold">
                                          <p:stCondLst>
                                            <p:cond delay="0"/>
                                          </p:stCondLst>
                                        </p:cTn>
                                        <p:tgtEl>
                                          <p:spTgt spid="423"/>
                                        </p:tgtEl>
                                        <p:attrNameLst>
                                          <p:attrName>style.visibility</p:attrName>
                                        </p:attrNameLst>
                                      </p:cBhvr>
                                      <p:to>
                                        <p:strVal val="visible"/>
                                      </p:to>
                                    </p:set>
                                    <p:animEffect transition="in" filter="fade">
                                      <p:cBhvr>
                                        <p:cTn id="15" dur="1000"/>
                                        <p:tgtEl>
                                          <p:spTgt spid="4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3"/>
                                        </p:tgtEl>
                                        <p:attrNameLst>
                                          <p:attrName>style.visibility</p:attrName>
                                        </p:attrNameLst>
                                      </p:cBhvr>
                                      <p:to>
                                        <p:strVal val="visible"/>
                                      </p:to>
                                    </p:set>
                                    <p:animEffect transition="in" filter="fade">
                                      <p:cBhvr>
                                        <p:cTn id="20" dur="1000"/>
                                        <p:tgtEl>
                                          <p:spTgt spid="433"/>
                                        </p:tgtEl>
                                      </p:cBhvr>
                                    </p:animEffect>
                                  </p:childTnLst>
                                </p:cTn>
                              </p:par>
                              <p:par>
                                <p:cTn id="21" presetID="10" presetClass="entr" presetSubtype="0" fill="hold" nodeType="withEffect">
                                  <p:stCondLst>
                                    <p:cond delay="0"/>
                                  </p:stCondLst>
                                  <p:childTnLst>
                                    <p:set>
                                      <p:cBhvr>
                                        <p:cTn id="22" dur="1" fill="hold">
                                          <p:stCondLst>
                                            <p:cond delay="0"/>
                                          </p:stCondLst>
                                        </p:cTn>
                                        <p:tgtEl>
                                          <p:spTgt spid="435"/>
                                        </p:tgtEl>
                                        <p:attrNameLst>
                                          <p:attrName>style.visibility</p:attrName>
                                        </p:attrNameLst>
                                      </p:cBhvr>
                                      <p:to>
                                        <p:strVal val="visible"/>
                                      </p:to>
                                    </p:set>
                                    <p:animEffect transition="in" filter="fade">
                                      <p:cBhvr>
                                        <p:cTn id="23" dur="1000"/>
                                        <p:tgtEl>
                                          <p:spTgt spid="435"/>
                                        </p:tgtEl>
                                      </p:cBhvr>
                                    </p:animEffect>
                                  </p:childTnLst>
                                </p:cTn>
                              </p:par>
                              <p:par>
                                <p:cTn id="24" presetID="10" presetClass="entr" presetSubtype="0" fill="hold" nodeType="withEffect">
                                  <p:stCondLst>
                                    <p:cond delay="0"/>
                                  </p:stCondLst>
                                  <p:childTnLst>
                                    <p:set>
                                      <p:cBhvr>
                                        <p:cTn id="25" dur="1" fill="hold">
                                          <p:stCondLst>
                                            <p:cond delay="0"/>
                                          </p:stCondLst>
                                        </p:cTn>
                                        <p:tgtEl>
                                          <p:spTgt spid="437"/>
                                        </p:tgtEl>
                                        <p:attrNameLst>
                                          <p:attrName>style.visibility</p:attrName>
                                        </p:attrNameLst>
                                      </p:cBhvr>
                                      <p:to>
                                        <p:strVal val="visible"/>
                                      </p:to>
                                    </p:set>
                                    <p:animEffect transition="in" filter="fade">
                                      <p:cBhvr>
                                        <p:cTn id="26" dur="1000"/>
                                        <p:tgtEl>
                                          <p:spTgt spid="437"/>
                                        </p:tgtEl>
                                      </p:cBhvr>
                                    </p:animEffect>
                                  </p:childTnLst>
                                </p:cTn>
                              </p:par>
                              <p:par>
                                <p:cTn id="27" presetID="10" presetClass="entr" presetSubtype="0" fill="hold" nodeType="withEffect">
                                  <p:stCondLst>
                                    <p:cond delay="0"/>
                                  </p:stCondLst>
                                  <p:childTnLst>
                                    <p:set>
                                      <p:cBhvr>
                                        <p:cTn id="28" dur="1" fill="hold">
                                          <p:stCondLst>
                                            <p:cond delay="0"/>
                                          </p:stCondLst>
                                        </p:cTn>
                                        <p:tgtEl>
                                          <p:spTgt spid="439"/>
                                        </p:tgtEl>
                                        <p:attrNameLst>
                                          <p:attrName>style.visibility</p:attrName>
                                        </p:attrNameLst>
                                      </p:cBhvr>
                                      <p:to>
                                        <p:strVal val="visible"/>
                                      </p:to>
                                    </p:set>
                                    <p:animEffect transition="in" filter="fade">
                                      <p:cBhvr>
                                        <p:cTn id="29" dur="1000"/>
                                        <p:tgtEl>
                                          <p:spTgt spid="43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26"/>
                                        </p:tgtEl>
                                        <p:attrNameLst>
                                          <p:attrName>style.visibility</p:attrName>
                                        </p:attrNameLst>
                                      </p:cBhvr>
                                      <p:to>
                                        <p:strVal val="visible"/>
                                      </p:to>
                                    </p:set>
                                    <p:animEffect transition="in" filter="fade">
                                      <p:cBhvr>
                                        <p:cTn id="34" dur="1000"/>
                                        <p:tgtEl>
                                          <p:spTgt spid="426"/>
                                        </p:tgtEl>
                                      </p:cBhvr>
                                    </p:animEffect>
                                  </p:childTnLst>
                                </p:cTn>
                              </p:par>
                              <p:par>
                                <p:cTn id="35" presetID="10" presetClass="entr" presetSubtype="0" fill="hold" nodeType="withEffect">
                                  <p:stCondLst>
                                    <p:cond delay="0"/>
                                  </p:stCondLst>
                                  <p:childTnLst>
                                    <p:set>
                                      <p:cBhvr>
                                        <p:cTn id="36" dur="1" fill="hold">
                                          <p:stCondLst>
                                            <p:cond delay="0"/>
                                          </p:stCondLst>
                                        </p:cTn>
                                        <p:tgtEl>
                                          <p:spTgt spid="406"/>
                                        </p:tgtEl>
                                        <p:attrNameLst>
                                          <p:attrName>style.visibility</p:attrName>
                                        </p:attrNameLst>
                                      </p:cBhvr>
                                      <p:to>
                                        <p:strVal val="visible"/>
                                      </p:to>
                                    </p:set>
                                    <p:animEffect transition="in" filter="fade">
                                      <p:cBhvr>
                                        <p:cTn id="37" dur="1"/>
                                        <p:tgtEl>
                                          <p:spTgt spid="40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1"/>
                                        </p:tgtEl>
                                        <p:attrNameLst>
                                          <p:attrName>style.visibility</p:attrName>
                                        </p:attrNameLst>
                                      </p:cBhvr>
                                      <p:to>
                                        <p:strVal val="visible"/>
                                      </p:to>
                                    </p:set>
                                    <p:animEffect transition="in" filter="fade">
                                      <p:cBhvr>
                                        <p:cTn id="42" dur="1000"/>
                                        <p:tgtEl>
                                          <p:spTgt spid="441"/>
                                        </p:tgtEl>
                                      </p:cBhvr>
                                    </p:animEffect>
                                  </p:childTnLst>
                                </p:cTn>
                              </p:par>
                              <p:par>
                                <p:cTn id="43" presetID="10" presetClass="entr" presetSubtype="0" fill="hold" nodeType="withEffect">
                                  <p:stCondLst>
                                    <p:cond delay="0"/>
                                  </p:stCondLst>
                                  <p:childTnLst>
                                    <p:set>
                                      <p:cBhvr>
                                        <p:cTn id="44" dur="1" fill="hold">
                                          <p:stCondLst>
                                            <p:cond delay="0"/>
                                          </p:stCondLst>
                                        </p:cTn>
                                        <p:tgtEl>
                                          <p:spTgt spid="443"/>
                                        </p:tgtEl>
                                        <p:attrNameLst>
                                          <p:attrName>style.visibility</p:attrName>
                                        </p:attrNameLst>
                                      </p:cBhvr>
                                      <p:to>
                                        <p:strVal val="visible"/>
                                      </p:to>
                                    </p:set>
                                    <p:animEffect transition="in" filter="fade">
                                      <p:cBhvr>
                                        <p:cTn id="45" dur="1000"/>
                                        <p:tgtEl>
                                          <p:spTgt spid="44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4087208"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𝑦</m:t>
                          </m:r>
                        </m:e>
                        <m:sub>
                          <m:r>
                            <a:rPr lang="en-GB" sz="4000" b="0" i="1" smtClean="0">
                              <a:latin typeface="Cambria Math" panose="02040503050406030204" pitchFamily="18" charset="0"/>
                            </a:rPr>
                            <m:t>𝑖</m:t>
                          </m:r>
                        </m:sub>
                      </m:sSub>
                      <m:r>
                        <a:rPr lang="en-GB" sz="4000" b="0" i="1" smtClean="0">
                          <a:latin typeface="Cambria Math" panose="02040503050406030204" pitchFamily="18" charset="0"/>
                        </a:rPr>
                        <m:t>=</m:t>
                      </m:r>
                      <m:sSub>
                        <m:sSubPr>
                          <m:ctrlPr>
                            <a:rPr lang="en-GB" sz="4000" i="1" smtClean="0">
                              <a:solidFill>
                                <a:srgbClr val="FFFF00"/>
                              </a:solidFill>
                              <a:latin typeface="Cambria Math" panose="02040503050406030204" pitchFamily="18" charset="0"/>
                            </a:rPr>
                          </m:ctrlPr>
                        </m:sSubPr>
                        <m:e>
                          <m:r>
                            <a:rPr lang="en-GB" sz="4000" i="1">
                              <a:solidFill>
                                <a:srgbClr val="FFFF00"/>
                              </a:solidFill>
                              <a:latin typeface="Cambria Math" panose="02040503050406030204" pitchFamily="18" charset="0"/>
                            </a:rPr>
                            <m:t>𝛽</m:t>
                          </m:r>
                        </m:e>
                        <m:sub>
                          <m:r>
                            <a:rPr lang="en-GB" sz="4000" i="1">
                              <a:solidFill>
                                <a:srgbClr val="FFFF00"/>
                              </a:solidFill>
                              <a:latin typeface="Cambria Math" panose="02040503050406030204" pitchFamily="18" charset="0"/>
                            </a:rPr>
                            <m:t>0</m:t>
                          </m:r>
                        </m:sub>
                      </m:sSub>
                      <m:r>
                        <a:rPr lang="en-GB" sz="4000" b="0" i="1" smtClean="0">
                          <a:latin typeface="Cambria Math" panose="02040503050406030204" pitchFamily="18" charset="0"/>
                        </a:rPr>
                        <m:t>+</m:t>
                      </m:r>
                      <m:sSub>
                        <m:sSubPr>
                          <m:ctrlPr>
                            <a:rPr lang="en-GB" sz="4000" b="0" i="1" smtClean="0">
                              <a:solidFill>
                                <a:srgbClr val="FFFF00"/>
                              </a:solidFill>
                              <a:latin typeface="Cambria Math" panose="02040503050406030204" pitchFamily="18" charset="0"/>
                            </a:rPr>
                          </m:ctrlPr>
                        </m:sSubPr>
                        <m:e>
                          <m:r>
                            <a:rPr lang="en-GB" sz="4000" b="0" i="1" smtClean="0">
                              <a:solidFill>
                                <a:srgbClr val="FFFF00"/>
                              </a:solidFill>
                              <a:latin typeface="Cambria Math" panose="02040503050406030204" pitchFamily="18" charset="0"/>
                            </a:rPr>
                            <m:t>𝛽</m:t>
                          </m:r>
                        </m:e>
                        <m:sub>
                          <m:r>
                            <a:rPr lang="en-GB" sz="4000" b="0" i="1" smtClean="0">
                              <a:solidFill>
                                <a:srgbClr val="FFFF00"/>
                              </a:solidFill>
                              <a:latin typeface="Cambria Math" panose="02040503050406030204" pitchFamily="18" charset="0"/>
                            </a:rPr>
                            <m:t>1</m:t>
                          </m:r>
                        </m:sub>
                      </m:sSub>
                      <m:r>
                        <a:rPr lang="en-GB" sz="4000" b="0" i="1" smtClean="0">
                          <a:solidFill>
                            <a:schemeClr val="tx1"/>
                          </a:solidFill>
                          <a:latin typeface="Cambria Math" panose="02040503050406030204" pitchFamily="18" charset="0"/>
                        </a:rPr>
                        <m:t>×</m:t>
                      </m:r>
                      <m:sSub>
                        <m:sSubPr>
                          <m:ctrlPr>
                            <a:rPr lang="en-GB" sz="4000" b="0" i="1" smtClean="0">
                              <a:solidFill>
                                <a:schemeClr val="tx1"/>
                              </a:solidFill>
                              <a:latin typeface="Cambria Math" panose="02040503050406030204" pitchFamily="18" charset="0"/>
                            </a:rPr>
                          </m:ctrlPr>
                        </m:sSubPr>
                        <m:e>
                          <m:r>
                            <a:rPr lang="en-GB" sz="4000" b="0" i="1" smtClean="0">
                              <a:solidFill>
                                <a:schemeClr val="tx1"/>
                              </a:solidFill>
                              <a:latin typeface="Cambria Math" panose="02040503050406030204" pitchFamily="18" charset="0"/>
                            </a:rPr>
                            <m:t>𝑥</m:t>
                          </m:r>
                        </m:e>
                        <m:sub>
                          <m:r>
                            <a:rPr lang="en-GB" sz="4000" b="0" i="1" smtClean="0">
                              <a:solidFill>
                                <a:schemeClr val="tx1"/>
                              </a:solidFill>
                              <a:latin typeface="Cambria Math" panose="02040503050406030204" pitchFamily="18" charset="0"/>
                            </a:rPr>
                            <m:t>𝑖</m:t>
                          </m:r>
                        </m:sub>
                      </m:sSub>
                    </m:oMath>
                  </m:oMathPara>
                </a14:m>
                <a:endParaRPr lang="en-GB" sz="2800" dirty="0"/>
              </a:p>
            </p:txBody>
          </p:sp>
        </mc:Choice>
        <mc:Fallback xmlns="">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4087208"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3963810"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884334"/>
            <a:ext cx="3543725" cy="4234244"/>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31371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93147" y="292323"/>
            <a:ext cx="6079297" cy="763600"/>
          </a:xfrm>
        </p:spPr>
        <p:txBody>
          <a:bodyPr/>
          <a:lstStyle/>
          <a:p>
            <a:r>
              <a:rPr lang="en-GB" dirty="0"/>
              <a:t>Doing “stats” by hand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93147" y="1536633"/>
                <a:ext cx="6079297" cy="4358140"/>
              </a:xfrm>
            </p:spPr>
            <p:txBody>
              <a:bodyPr/>
              <a:lstStyle/>
              <a:p>
                <a:pPr marL="152396" indent="0">
                  <a:buNone/>
                </a:pPr>
                <a:r>
                  <a:rPr lang="en-GB" dirty="0"/>
                  <a:t>Your straight-line equation:</a:t>
                </a:r>
              </a:p>
              <a:p>
                <a:pPr marL="152396" indent="0">
                  <a:buNone/>
                </a:pPr>
                <a:endParaRPr lang="en-GB" i="1" dirty="0"/>
              </a:p>
              <a:p>
                <a:pPr marL="152396"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m:oMathPara>
                </a14:m>
                <a:endParaRPr lang="en-GB" sz="1800" dirty="0"/>
              </a:p>
              <a:p>
                <a:pPr marL="795847" lvl="1" indent="0">
                  <a:buNone/>
                </a:pP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oMath>
                </a14:m>
                <a:r>
                  <a:rPr lang="en-GB" dirty="0"/>
                  <a:t> = Deon’s height</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a14:m>
                <a:r>
                  <a:rPr lang="en-GB" dirty="0"/>
                  <a:t> = Deon’s age</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oMath>
                </a14:m>
                <a:r>
                  <a:rPr lang="en-GB" dirty="0"/>
                  <a:t> = y-intercept </a:t>
                </a:r>
                <a:br>
                  <a:rPr lang="en-GB" dirty="0"/>
                </a:br>
                <a:r>
                  <a:rPr lang="en-GB" sz="1800" dirty="0"/>
                  <a:t>(I was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𝛽</m:t>
                        </m:r>
                      </m:e>
                      <m:sub>
                        <m:r>
                          <a:rPr lang="en-GB" sz="1800" i="1">
                            <a:latin typeface="Cambria Math" panose="02040503050406030204" pitchFamily="18" charset="0"/>
                          </a:rPr>
                          <m:t>0</m:t>
                        </m:r>
                      </m:sub>
                    </m:sSub>
                  </m:oMath>
                </a14:m>
                <a:r>
                  <a:rPr lang="en-GB" sz="1800" b="1" i="1" dirty="0"/>
                  <a:t> </a:t>
                </a:r>
                <a:r>
                  <a:rPr lang="en-GB" sz="1800" dirty="0"/>
                  <a:t>cm tall when I was born)</a:t>
                </a:r>
                <a:endParaRPr lang="en-GB" sz="1800" i="1" dirty="0">
                  <a:latin typeface="Cambria Math" panose="02040503050406030204" pitchFamily="18" charset="0"/>
                </a:endParaRP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oMath>
                </a14:m>
                <a:r>
                  <a:rPr lang="en-GB" dirty="0"/>
                  <a:t> = Slope </a:t>
                </a:r>
                <a:br>
                  <a:rPr lang="en-GB" dirty="0"/>
                </a:br>
                <a:r>
                  <a:rPr lang="en-GB" sz="1800" dirty="0"/>
                  <a:t>(aging 1 year increased my height by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𝛽</m:t>
                        </m:r>
                      </m:e>
                      <m:sub>
                        <m:r>
                          <a:rPr lang="en-GB" sz="1800" i="1">
                            <a:latin typeface="Cambria Math" panose="02040503050406030204" pitchFamily="18" charset="0"/>
                          </a:rPr>
                          <m:t>1</m:t>
                        </m:r>
                      </m:sub>
                    </m:sSub>
                  </m:oMath>
                </a14:m>
                <a:r>
                  <a:rPr lang="en-GB" sz="1800" dirty="0"/>
                  <a:t> cm)</a:t>
                </a:r>
              </a:p>
            </p:txBody>
          </p:sp>
        </mc:Choice>
        <mc:Fallback xmlns="">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93147" y="1536633"/>
                <a:ext cx="6079297" cy="4358140"/>
              </a:xfrm>
              <a:blipFill>
                <a:blip r:embed="rId2"/>
                <a:stretch>
                  <a:fillRect t="-1399"/>
                </a:stretch>
              </a:blipFill>
            </p:spPr>
            <p:txBody>
              <a:bodyPr/>
              <a:lstStyle/>
              <a:p>
                <a:r>
                  <a:rPr lang="en-GB">
                    <a:noFill/>
                  </a:rPr>
                  <a:t> </a:t>
                </a:r>
              </a:p>
            </p:txBody>
          </p:sp>
        </mc:Fallback>
      </mc:AlternateContent>
      <p:sp>
        <p:nvSpPr>
          <p:cNvPr id="12" name="Rectangle: Rounded Corners 11">
            <a:extLst>
              <a:ext uri="{FF2B5EF4-FFF2-40B4-BE49-F238E27FC236}">
                <a16:creationId xmlns:a16="http://schemas.microsoft.com/office/drawing/2014/main" id="{7421EF30-7518-449A-8C23-6BCCFC663D14}"/>
              </a:ext>
            </a:extLst>
          </p:cNvPr>
          <p:cNvSpPr/>
          <p:nvPr/>
        </p:nvSpPr>
        <p:spPr>
          <a:xfrm>
            <a:off x="858644" y="3021980"/>
            <a:ext cx="2730398" cy="992459"/>
          </a:xfrm>
          <a:prstGeom prst="roundRect">
            <a:avLst/>
          </a:prstGeom>
          <a:noFill/>
          <a:ln w="1905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93E803A-24B7-407B-B48E-91E817B82522}"/>
              </a:ext>
            </a:extLst>
          </p:cNvPr>
          <p:cNvSpPr txBox="1"/>
          <p:nvPr/>
        </p:nvSpPr>
        <p:spPr>
          <a:xfrm>
            <a:off x="4032804" y="3313897"/>
            <a:ext cx="1719926" cy="408623"/>
          </a:xfrm>
          <a:prstGeom prst="roundRect">
            <a:avLst/>
          </a:prstGeom>
          <a:noFill/>
          <a:ln w="19050">
            <a:solidFill>
              <a:schemeClr val="accent5">
                <a:lumMod val="40000"/>
                <a:lumOff val="60000"/>
              </a:schemeClr>
            </a:solidFill>
          </a:ln>
        </p:spPr>
        <p:txBody>
          <a:bodyPr wrap="square" rtlCol="0">
            <a:spAutoFit/>
          </a:bodyPr>
          <a:lstStyle/>
          <a:p>
            <a:r>
              <a:rPr lang="en-GB" b="1" i="1" dirty="0"/>
              <a:t>Observed data</a:t>
            </a:r>
          </a:p>
        </p:txBody>
      </p:sp>
      <p:cxnSp>
        <p:nvCxnSpPr>
          <p:cNvPr id="16" name="Straight Arrow Connector 15">
            <a:extLst>
              <a:ext uri="{FF2B5EF4-FFF2-40B4-BE49-F238E27FC236}">
                <a16:creationId xmlns:a16="http://schemas.microsoft.com/office/drawing/2014/main" id="{91DEE06C-C267-40F6-B153-97243000E2EE}"/>
              </a:ext>
            </a:extLst>
          </p:cNvPr>
          <p:cNvCxnSpPr>
            <a:cxnSpLocks/>
            <a:stCxn id="13" idx="1"/>
            <a:endCxn id="12" idx="3"/>
          </p:cNvCxnSpPr>
          <p:nvPr/>
        </p:nvCxnSpPr>
        <p:spPr>
          <a:xfrm flipH="1">
            <a:off x="3589042" y="3518209"/>
            <a:ext cx="443762" cy="1"/>
          </a:xfrm>
          <a:prstGeom prst="straightConnector1">
            <a:avLst/>
          </a:prstGeom>
          <a:ln w="1905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25FCA1D2-D217-4B00-8558-8FFAB987AD53}"/>
              </a:ext>
            </a:extLst>
          </p:cNvPr>
          <p:cNvSpPr/>
          <p:nvPr/>
        </p:nvSpPr>
        <p:spPr>
          <a:xfrm>
            <a:off x="858643" y="4203230"/>
            <a:ext cx="5167687" cy="1576129"/>
          </a:xfrm>
          <a:prstGeom prst="roundRect">
            <a:avLst/>
          </a:prstGeom>
          <a:noFill/>
          <a:ln w="1905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E8EFC0B3-761C-4ADB-A8F1-234B278E0252}"/>
              </a:ext>
            </a:extLst>
          </p:cNvPr>
          <p:cNvSpPr txBox="1"/>
          <p:nvPr/>
        </p:nvSpPr>
        <p:spPr>
          <a:xfrm>
            <a:off x="2428529" y="5966860"/>
            <a:ext cx="2027915" cy="408623"/>
          </a:xfrm>
          <a:prstGeom prst="roundRect">
            <a:avLst/>
          </a:prstGeom>
          <a:noFill/>
          <a:ln w="19050">
            <a:solidFill>
              <a:schemeClr val="accent6">
                <a:lumMod val="40000"/>
                <a:lumOff val="60000"/>
              </a:schemeClr>
            </a:solidFill>
          </a:ln>
        </p:spPr>
        <p:txBody>
          <a:bodyPr wrap="square" rtlCol="0">
            <a:spAutoFit/>
          </a:bodyPr>
          <a:lstStyle/>
          <a:p>
            <a:r>
              <a:rPr lang="en-GB" b="1" i="1" dirty="0"/>
              <a:t>Unobserved data</a:t>
            </a:r>
          </a:p>
        </p:txBody>
      </p:sp>
      <p:cxnSp>
        <p:nvCxnSpPr>
          <p:cNvPr id="19" name="Straight Arrow Connector 18">
            <a:extLst>
              <a:ext uri="{FF2B5EF4-FFF2-40B4-BE49-F238E27FC236}">
                <a16:creationId xmlns:a16="http://schemas.microsoft.com/office/drawing/2014/main" id="{B45E76A0-8499-48F0-AAF7-60838EA8C725}"/>
              </a:ext>
            </a:extLst>
          </p:cNvPr>
          <p:cNvCxnSpPr>
            <a:cxnSpLocks/>
            <a:stCxn id="18" idx="0"/>
            <a:endCxn id="17" idx="2"/>
          </p:cNvCxnSpPr>
          <p:nvPr/>
        </p:nvCxnSpPr>
        <p:spPr>
          <a:xfrm flipV="1">
            <a:off x="3442487" y="5779359"/>
            <a:ext cx="0" cy="187501"/>
          </a:xfrm>
          <a:prstGeom prst="straightConnector1">
            <a:avLst/>
          </a:prstGeom>
          <a:ln w="190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descr="A screen shot of a graph&#10;&#10;Description automatically generated">
            <a:extLst>
              <a:ext uri="{FF2B5EF4-FFF2-40B4-BE49-F238E27FC236}">
                <a16:creationId xmlns:a16="http://schemas.microsoft.com/office/drawing/2014/main" id="{CD3DCF9A-3D8F-4C15-300E-FD08BD96D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B76600C-80A6-75DA-FE2D-2A28B6B2456C}"/>
                  </a:ext>
                </a:extLst>
              </p:cNvPr>
              <p:cNvSpPr txBox="1"/>
              <p:nvPr/>
            </p:nvSpPr>
            <p:spPr>
              <a:xfrm>
                <a:off x="573537" y="6481230"/>
                <a:ext cx="6031010" cy="369332"/>
              </a:xfrm>
              <a:prstGeom prst="rect">
                <a:avLst/>
              </a:prstGeom>
              <a:noFill/>
            </p:spPr>
            <p:txBody>
              <a:bodyPr wrap="none" rtlCol="0">
                <a:spAutoFit/>
              </a:bodyPr>
              <a:lstStyle/>
              <a:p>
                <a14:m>
                  <m:oMath xmlns:m="http://schemas.openxmlformats.org/officeDocument/2006/math">
                    <m:r>
                      <a:rPr lang="en-GB" b="0" i="1" smtClean="0">
                        <a:latin typeface="Cambria Math" panose="02040503050406030204" pitchFamily="18" charset="0"/>
                      </a:rPr>
                      <m:t>𝑖</m:t>
                    </m:r>
                  </m:oMath>
                </a14:m>
                <a:r>
                  <a:rPr lang="en-GB" dirty="0"/>
                  <a:t> is an index; e.g. if </a:t>
                </a:r>
                <a14:m>
                  <m:oMath xmlns:m="http://schemas.openxmlformats.org/officeDocument/2006/math">
                    <m:r>
                      <a:rPr lang="en-GB" b="0" i="1" smtClean="0">
                        <a:latin typeface="Cambria Math" panose="02040503050406030204" pitchFamily="18" charset="0"/>
                      </a:rPr>
                      <m:t>𝑖</m:t>
                    </m:r>
                    <m:r>
                      <a:rPr lang="en-GB" b="0" i="1" smtClean="0">
                        <a:latin typeface="Cambria Math" panose="02040503050406030204" pitchFamily="18" charset="0"/>
                      </a:rPr>
                      <m:t>=1</m:t>
                    </m:r>
                  </m:oMath>
                </a14:m>
                <a:r>
                  <a:rPr lang="en-GB" dirty="0"/>
                  <a:t> then this is the first observation</a:t>
                </a:r>
              </a:p>
            </p:txBody>
          </p:sp>
        </mc:Choice>
        <mc:Fallback xmlns="">
          <p:sp>
            <p:nvSpPr>
              <p:cNvPr id="14" name="TextBox 13">
                <a:extLst>
                  <a:ext uri="{FF2B5EF4-FFF2-40B4-BE49-F238E27FC236}">
                    <a16:creationId xmlns:a16="http://schemas.microsoft.com/office/drawing/2014/main" id="{2B76600C-80A6-75DA-FE2D-2A28B6B2456C}"/>
                  </a:ext>
                </a:extLst>
              </p:cNvPr>
              <p:cNvSpPr txBox="1">
                <a:spLocks noRot="1" noChangeAspect="1" noMove="1" noResize="1" noEditPoints="1" noAdjustHandles="1" noChangeArrowheads="1" noChangeShapeType="1" noTextEdit="1"/>
              </p:cNvSpPr>
              <p:nvPr/>
            </p:nvSpPr>
            <p:spPr>
              <a:xfrm>
                <a:off x="573537" y="6481230"/>
                <a:ext cx="6031010" cy="369332"/>
              </a:xfrm>
              <a:prstGeom prst="rect">
                <a:avLst/>
              </a:prstGeom>
              <a:blipFill>
                <a:blip r:embed="rId4"/>
                <a:stretch>
                  <a:fillRect t="-8197" r="-303" b="-24590"/>
                </a:stretch>
              </a:blipFill>
            </p:spPr>
            <p:txBody>
              <a:bodyPr/>
              <a:lstStyle/>
              <a:p>
                <a:r>
                  <a:rPr lang="en-GB">
                    <a:noFill/>
                  </a:rPr>
                  <a:t> </a:t>
                </a:r>
              </a:p>
            </p:txBody>
          </p:sp>
        </mc:Fallback>
      </mc:AlternateContent>
    </p:spTree>
    <p:extLst>
      <p:ext uri="{BB962C8B-B14F-4D97-AF65-F5344CB8AC3E}">
        <p14:creationId xmlns:p14="http://schemas.microsoft.com/office/powerpoint/2010/main" val="44946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P spid="17" grpId="0" animBg="1"/>
      <p:bldP spid="18"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n a black background&#10;&#10;Description automatically generated">
            <a:extLst>
              <a:ext uri="{FF2B5EF4-FFF2-40B4-BE49-F238E27FC236}">
                <a16:creationId xmlns:a16="http://schemas.microsoft.com/office/drawing/2014/main" id="{E52F8F34-5031-4DE5-834D-AF45F3C13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0128" y="0"/>
            <a:ext cx="5751871" cy="6858000"/>
          </a:xfrm>
          <a:prstGeom prst="rect">
            <a:avLst/>
          </a:prstGeom>
        </p:spPr>
      </p:pic>
      <p:pic>
        <p:nvPicPr>
          <p:cNvPr id="6" name="Picture 5" descr="A screen shot of a graph&#10;&#10;Description automatically generated">
            <a:extLst>
              <a:ext uri="{FF2B5EF4-FFF2-40B4-BE49-F238E27FC236}">
                <a16:creationId xmlns:a16="http://schemas.microsoft.com/office/drawing/2014/main" id="{998DE82C-91B8-154C-81E0-998DCBA37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1357018" y="246864"/>
            <a:ext cx="5528000" cy="763600"/>
          </a:xfrm>
        </p:spPr>
        <p:txBody>
          <a:bodyPr/>
          <a:lstStyle/>
          <a:p>
            <a:r>
              <a:rPr lang="en-GB" dirty="0"/>
              <a:t>“Stats” by hand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1" y="1299456"/>
                <a:ext cx="6440129" cy="5558544"/>
              </a:xfrm>
            </p:spPr>
            <p:txBody>
              <a:bodyPr/>
              <a:lstStyle/>
              <a:p>
                <a:pPr marL="152396" indent="0">
                  <a:buNone/>
                </a:pPr>
                <a:r>
                  <a:rPr lang="en-GB" i="1" dirty="0"/>
                  <a:t>Deon’s height =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i="1">
                        <a:latin typeface="Cambria Math" panose="02040503050406030204" pitchFamily="18" charset="0"/>
                      </a:rPr>
                      <m:t>×</m:t>
                    </m:r>
                  </m:oMath>
                </a14:m>
                <a:r>
                  <a:rPr lang="en-GB" i="1" dirty="0"/>
                  <a:t> Deon’s age</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dirty="0"/>
                  <a:t>?</a:t>
                </a:r>
              </a:p>
              <a:p>
                <a:r>
                  <a:rPr lang="en-GB" sz="2000" dirty="0"/>
                  <a:t>Imagine a line extending down to 0 years old.</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b="1" i="1" dirty="0"/>
                  <a:t> </a:t>
                </a:r>
                <a:r>
                  <a:rPr lang="en-GB" sz="2000" i="1" dirty="0"/>
                  <a:t>= 50 cm at 0 years old</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dirty="0"/>
                  <a:t>?</a:t>
                </a:r>
              </a:p>
              <a:p>
                <a:r>
                  <a:rPr lang="en-GB" sz="2000" dirty="0"/>
                  <a:t>How much did I grow in one year?</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b="1" i="1" dirty="0"/>
                  <a:t> </a:t>
                </a:r>
                <a:r>
                  <a:rPr lang="en-GB" sz="2000" i="1" dirty="0"/>
                  <a:t>= 15 cm per year</a:t>
                </a:r>
                <a:endParaRPr lang="en-GB" sz="2000" dirty="0"/>
              </a:p>
              <a:p>
                <a:pPr marL="152396" indent="0">
                  <a:buNone/>
                </a:pPr>
                <a:endParaRPr lang="en-GB" sz="2000" b="1" i="1" dirty="0"/>
              </a:p>
              <a:p>
                <a:pPr marL="152396" indent="0">
                  <a:buNone/>
                </a:pPr>
                <a:r>
                  <a:rPr lang="en-GB" sz="2000" b="1" i="1" dirty="0"/>
                  <a:t>We now have an association.</a:t>
                </a:r>
              </a:p>
              <a:p>
                <a:pPr marL="152396" indent="0">
                  <a:buNone/>
                </a:pPr>
                <a:endParaRPr lang="en-GB" sz="2000" b="1" i="1" dirty="0"/>
              </a:p>
              <a:p>
                <a:pPr marL="152396" indent="0">
                  <a:buNone/>
                </a:pPr>
                <a:r>
                  <a:rPr lang="en-GB" sz="2000" dirty="0"/>
                  <a:t>We can use the equation to make predictions:</a:t>
                </a:r>
              </a:p>
              <a:p>
                <a:r>
                  <a:rPr lang="en-GB" sz="2000" dirty="0"/>
                  <a:t>How tall was I at 6 years old?</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6 = 140 cm</a:t>
                </a:r>
              </a:p>
              <a:p>
                <a:endParaRPr lang="en-GB" sz="2000" b="1" i="1" dirty="0"/>
              </a:p>
              <a:p>
                <a:r>
                  <a:rPr lang="en-GB" sz="2000" dirty="0"/>
                  <a:t>How tall will I be when I am 120 years old?</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120 = </a:t>
                </a:r>
                <a:r>
                  <a:rPr lang="en-GB" sz="2000" b="1" i="1" dirty="0"/>
                  <a:t>1850 cm</a:t>
                </a:r>
              </a:p>
              <a:p>
                <a:r>
                  <a:rPr lang="en-GB" sz="2000" dirty="0"/>
                  <a:t>Be very careful when predicting</a:t>
                </a:r>
              </a:p>
              <a:p>
                <a:pPr marL="152396" indent="0">
                  <a:buNone/>
                </a:pPr>
                <a:endParaRPr lang="en-GB" sz="2000" dirty="0"/>
              </a:p>
            </p:txBody>
          </p:sp>
        </mc:Choice>
        <mc:Fallback xmlns="">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1" y="1299456"/>
                <a:ext cx="6440129" cy="5558544"/>
              </a:xfrm>
              <a:blipFill>
                <a:blip r:embed="rId4"/>
                <a:stretch>
                  <a:fillRect t="-1206" b="-219"/>
                </a:stretch>
              </a:blipFill>
            </p:spPr>
            <p:txBody>
              <a:bodyPr/>
              <a:lstStyle/>
              <a:p>
                <a:r>
                  <a:rPr lang="en-GB">
                    <a:noFill/>
                  </a:rPr>
                  <a:t> </a:t>
                </a:r>
              </a:p>
            </p:txBody>
          </p:sp>
        </mc:Fallback>
      </mc:AlternateContent>
      <p:grpSp>
        <p:nvGrpSpPr>
          <p:cNvPr id="16" name="Group 15">
            <a:extLst>
              <a:ext uri="{FF2B5EF4-FFF2-40B4-BE49-F238E27FC236}">
                <a16:creationId xmlns:a16="http://schemas.microsoft.com/office/drawing/2014/main" id="{E622D0BF-54FA-2FD9-F4EA-ECE0C71B1ABA}"/>
              </a:ext>
            </a:extLst>
          </p:cNvPr>
          <p:cNvGrpSpPr/>
          <p:nvPr/>
        </p:nvGrpSpPr>
        <p:grpSpPr>
          <a:xfrm>
            <a:off x="7224446" y="2586036"/>
            <a:ext cx="1589346" cy="993220"/>
            <a:chOff x="7224446" y="2586036"/>
            <a:chExt cx="1589346" cy="993220"/>
          </a:xfrm>
        </p:grpSpPr>
        <p:grpSp>
          <p:nvGrpSpPr>
            <p:cNvPr id="13" name="Group 12">
              <a:extLst>
                <a:ext uri="{FF2B5EF4-FFF2-40B4-BE49-F238E27FC236}">
                  <a16:creationId xmlns:a16="http://schemas.microsoft.com/office/drawing/2014/main" id="{A60C925C-79B4-575A-11B7-92C6A8F11175}"/>
                </a:ext>
              </a:extLst>
            </p:cNvPr>
            <p:cNvGrpSpPr/>
            <p:nvPr/>
          </p:nvGrpSpPr>
          <p:grpSpPr>
            <a:xfrm>
              <a:off x="8060924" y="2828924"/>
              <a:ext cx="752868" cy="609600"/>
              <a:chOff x="8060924" y="2828924"/>
              <a:chExt cx="752868" cy="609600"/>
            </a:xfrm>
          </p:grpSpPr>
          <p:cxnSp>
            <p:nvCxnSpPr>
              <p:cNvPr id="8" name="Straight Connector 7">
                <a:extLst>
                  <a:ext uri="{FF2B5EF4-FFF2-40B4-BE49-F238E27FC236}">
                    <a16:creationId xmlns:a16="http://schemas.microsoft.com/office/drawing/2014/main" id="{10E3EAC8-2DDC-2FBA-A218-3E152117930E}"/>
                  </a:ext>
                </a:extLst>
              </p:cNvPr>
              <p:cNvCxnSpPr/>
              <p:nvPr/>
            </p:nvCxnSpPr>
            <p:spPr>
              <a:xfrm>
                <a:off x="8060924" y="3429000"/>
                <a:ext cx="74572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6356EBD-3B5E-D8C3-D859-2D6DC22961AC}"/>
                  </a:ext>
                </a:extLst>
              </p:cNvPr>
              <p:cNvCxnSpPr>
                <a:cxnSpLocks/>
              </p:cNvCxnSpPr>
              <p:nvPr/>
            </p:nvCxnSpPr>
            <p:spPr>
              <a:xfrm>
                <a:off x="8813792" y="2828924"/>
                <a:ext cx="0" cy="6096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A396C061-E10B-A3F0-1622-A800244223D1}"/>
                </a:ext>
              </a:extLst>
            </p:cNvPr>
            <p:cNvSpPr txBox="1"/>
            <p:nvPr/>
          </p:nvSpPr>
          <p:spPr>
            <a:xfrm>
              <a:off x="7224446" y="3209924"/>
              <a:ext cx="805029" cy="369332"/>
            </a:xfrm>
            <a:prstGeom prst="rect">
              <a:avLst/>
            </a:prstGeom>
            <a:noFill/>
          </p:spPr>
          <p:txBody>
            <a:bodyPr wrap="none" rtlCol="0">
              <a:spAutoFit/>
            </a:bodyPr>
            <a:lstStyle/>
            <a:p>
              <a:r>
                <a:rPr lang="en-GB" dirty="0"/>
                <a:t>60 cm</a:t>
              </a:r>
            </a:p>
          </p:txBody>
        </p:sp>
        <p:sp>
          <p:nvSpPr>
            <p:cNvPr id="15" name="TextBox 14">
              <a:extLst>
                <a:ext uri="{FF2B5EF4-FFF2-40B4-BE49-F238E27FC236}">
                  <a16:creationId xmlns:a16="http://schemas.microsoft.com/office/drawing/2014/main" id="{7EBCDCC3-7E74-165D-152E-D1B6685E7236}"/>
                </a:ext>
              </a:extLst>
            </p:cNvPr>
            <p:cNvSpPr txBox="1"/>
            <p:nvPr/>
          </p:nvSpPr>
          <p:spPr>
            <a:xfrm>
              <a:off x="7960252" y="2586036"/>
              <a:ext cx="800219" cy="369332"/>
            </a:xfrm>
            <a:prstGeom prst="rect">
              <a:avLst/>
            </a:prstGeom>
            <a:noFill/>
          </p:spPr>
          <p:txBody>
            <a:bodyPr wrap="none" rtlCol="0">
              <a:spAutoFit/>
            </a:bodyPr>
            <a:lstStyle/>
            <a:p>
              <a:r>
                <a:rPr lang="en-GB" dirty="0"/>
                <a:t>75 cm</a:t>
              </a:r>
            </a:p>
          </p:txBody>
        </p:sp>
      </p:grpSp>
      <p:grpSp>
        <p:nvGrpSpPr>
          <p:cNvPr id="22" name="Group 21">
            <a:extLst>
              <a:ext uri="{FF2B5EF4-FFF2-40B4-BE49-F238E27FC236}">
                <a16:creationId xmlns:a16="http://schemas.microsoft.com/office/drawing/2014/main" id="{370ED1FA-6CB6-A95B-FEE9-B71807E156B7}"/>
              </a:ext>
            </a:extLst>
          </p:cNvPr>
          <p:cNvGrpSpPr/>
          <p:nvPr/>
        </p:nvGrpSpPr>
        <p:grpSpPr>
          <a:xfrm>
            <a:off x="7224446" y="4038600"/>
            <a:ext cx="1419104" cy="827723"/>
            <a:chOff x="7224446" y="4038600"/>
            <a:chExt cx="1419104" cy="827723"/>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312337-D6A3-0400-FB61-82A4D45EB581}"/>
                    </a:ext>
                  </a:extLst>
                </p:cNvPr>
                <p:cNvSpPr txBox="1"/>
                <p:nvPr/>
              </p:nvSpPr>
              <p:spPr>
                <a:xfrm>
                  <a:off x="7224446" y="4457700"/>
                  <a:ext cx="1419104" cy="408623"/>
                </a:xfrm>
                <a:prstGeom prst="round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=50 </m:t>
                        </m:r>
                        <m:r>
                          <a:rPr lang="en-GB" b="0" i="1" smtClean="0">
                            <a:latin typeface="Cambria Math" panose="02040503050406030204" pitchFamily="18" charset="0"/>
                          </a:rPr>
                          <m:t>𝑐𝑚</m:t>
                        </m:r>
                      </m:oMath>
                    </m:oMathPara>
                  </a14:m>
                  <a:endParaRPr lang="en-GB" dirty="0"/>
                </a:p>
              </p:txBody>
            </p:sp>
          </mc:Choice>
          <mc:Fallback xmlns="">
            <p:sp>
              <p:nvSpPr>
                <p:cNvPr id="17" name="TextBox 16">
                  <a:extLst>
                    <a:ext uri="{FF2B5EF4-FFF2-40B4-BE49-F238E27FC236}">
                      <a16:creationId xmlns:a16="http://schemas.microsoft.com/office/drawing/2014/main" id="{30312337-D6A3-0400-FB61-82A4D45EB581}"/>
                    </a:ext>
                  </a:extLst>
                </p:cNvPr>
                <p:cNvSpPr txBox="1">
                  <a:spLocks noRot="1" noChangeAspect="1" noMove="1" noResize="1" noEditPoints="1" noAdjustHandles="1" noChangeArrowheads="1" noChangeShapeType="1" noTextEdit="1"/>
                </p:cNvSpPr>
                <p:nvPr/>
              </p:nvSpPr>
              <p:spPr>
                <a:xfrm>
                  <a:off x="7224446" y="4457700"/>
                  <a:ext cx="1419104" cy="408623"/>
                </a:xfrm>
                <a:prstGeom prst="roundRect">
                  <a:avLst/>
                </a:prstGeom>
                <a:blipFill>
                  <a:blip r:embed="rId5"/>
                  <a:stretch>
                    <a:fillRect b="-8696"/>
                  </a:stretch>
                </a:blipFill>
                <a:ln>
                  <a:solidFill>
                    <a:schemeClr val="tx1"/>
                  </a:solidFill>
                </a:ln>
              </p:spPr>
              <p:txBody>
                <a:bodyPr/>
                <a:lstStyle/>
                <a:p>
                  <a:r>
                    <a:rPr lang="en-GB">
                      <a:noFill/>
                    </a:rPr>
                    <a:t> </a:t>
                  </a:r>
                </a:p>
              </p:txBody>
            </p:sp>
          </mc:Fallback>
        </mc:AlternateContent>
        <p:cxnSp>
          <p:nvCxnSpPr>
            <p:cNvPr id="19" name="Straight Arrow Connector 18">
              <a:extLst>
                <a:ext uri="{FF2B5EF4-FFF2-40B4-BE49-F238E27FC236}">
                  <a16:creationId xmlns:a16="http://schemas.microsoft.com/office/drawing/2014/main" id="{0501A8BB-F5D5-E584-2862-42C465BCFFC3}"/>
                </a:ext>
              </a:extLst>
            </p:cNvPr>
            <p:cNvCxnSpPr>
              <a:cxnSpLocks/>
              <a:stCxn id="17" idx="0"/>
            </p:cNvCxnSpPr>
            <p:nvPr/>
          </p:nvCxnSpPr>
          <p:spPr>
            <a:xfrm flipH="1" flipV="1">
              <a:off x="7277100" y="4038600"/>
              <a:ext cx="656898" cy="419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65DF04FE-34F0-1B0E-1FB4-EE4F49948342}"/>
              </a:ext>
            </a:extLst>
          </p:cNvPr>
          <p:cNvGrpSpPr/>
          <p:nvPr/>
        </p:nvGrpSpPr>
        <p:grpSpPr>
          <a:xfrm>
            <a:off x="8820936" y="3092450"/>
            <a:ext cx="2726094" cy="408623"/>
            <a:chOff x="6852436" y="4457700"/>
            <a:chExt cx="2726094" cy="408623"/>
          </a:xfrm>
        </p:grpSpPr>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35CFEDA-ED20-E445-A01A-CD8908C9AEF7}"/>
                    </a:ext>
                  </a:extLst>
                </p:cNvPr>
                <p:cNvSpPr txBox="1"/>
                <p:nvPr/>
              </p:nvSpPr>
              <p:spPr>
                <a:xfrm>
                  <a:off x="7224446" y="4457700"/>
                  <a:ext cx="2354084" cy="408623"/>
                </a:xfrm>
                <a:prstGeom prst="round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=15 </m:t>
                        </m:r>
                        <m:r>
                          <a:rPr lang="en-GB" b="0" i="1" smtClean="0">
                            <a:latin typeface="Cambria Math" panose="02040503050406030204" pitchFamily="18" charset="0"/>
                          </a:rPr>
                          <m:t>𝑐𝑚</m:t>
                        </m:r>
                        <m:r>
                          <a:rPr lang="en-GB" b="0" i="1" smtClean="0">
                            <a:latin typeface="Cambria Math" panose="02040503050406030204" pitchFamily="18" charset="0"/>
                          </a:rPr>
                          <m:t> </m:t>
                        </m:r>
                        <m:r>
                          <a:rPr lang="en-GB" b="0" i="1" smtClean="0">
                            <a:latin typeface="Cambria Math" panose="02040503050406030204" pitchFamily="18" charset="0"/>
                          </a:rPr>
                          <m:t>𝑝𝑒𝑟</m:t>
                        </m:r>
                        <m:r>
                          <a:rPr lang="en-GB" b="0" i="1" smtClean="0">
                            <a:latin typeface="Cambria Math" panose="02040503050406030204" pitchFamily="18" charset="0"/>
                          </a:rPr>
                          <m:t> </m:t>
                        </m:r>
                        <m:r>
                          <a:rPr lang="en-GB" b="0" i="1" smtClean="0">
                            <a:latin typeface="Cambria Math" panose="02040503050406030204" pitchFamily="18" charset="0"/>
                          </a:rPr>
                          <m:t>𝑦𝑒𝑎𝑟</m:t>
                        </m:r>
                      </m:oMath>
                    </m:oMathPara>
                  </a14:m>
                  <a:endParaRPr lang="en-GB" dirty="0"/>
                </a:p>
              </p:txBody>
            </p:sp>
          </mc:Choice>
          <mc:Fallback xmlns="">
            <p:sp>
              <p:nvSpPr>
                <p:cNvPr id="24" name="TextBox 23">
                  <a:extLst>
                    <a:ext uri="{FF2B5EF4-FFF2-40B4-BE49-F238E27FC236}">
                      <a16:creationId xmlns:a16="http://schemas.microsoft.com/office/drawing/2014/main" id="{335CFEDA-ED20-E445-A01A-CD8908C9AEF7}"/>
                    </a:ext>
                  </a:extLst>
                </p:cNvPr>
                <p:cNvSpPr txBox="1">
                  <a:spLocks noRot="1" noChangeAspect="1" noMove="1" noResize="1" noEditPoints="1" noAdjustHandles="1" noChangeArrowheads="1" noChangeShapeType="1" noTextEdit="1"/>
                </p:cNvSpPr>
                <p:nvPr/>
              </p:nvSpPr>
              <p:spPr>
                <a:xfrm>
                  <a:off x="7224446" y="4457700"/>
                  <a:ext cx="2354084" cy="408623"/>
                </a:xfrm>
                <a:prstGeom prst="roundRect">
                  <a:avLst/>
                </a:prstGeom>
                <a:blipFill>
                  <a:blip r:embed="rId6"/>
                  <a:stretch>
                    <a:fillRect b="-8696"/>
                  </a:stretch>
                </a:blipFill>
                <a:ln>
                  <a:solidFill>
                    <a:schemeClr val="tx1"/>
                  </a:solidFill>
                </a:ln>
              </p:spPr>
              <p:txBody>
                <a:bodyPr/>
                <a:lstStyle/>
                <a:p>
                  <a:r>
                    <a:rPr lang="en-GB">
                      <a:noFill/>
                    </a:rPr>
                    <a:t> </a:t>
                  </a:r>
                </a:p>
              </p:txBody>
            </p:sp>
          </mc:Fallback>
        </mc:AlternateContent>
        <p:cxnSp>
          <p:nvCxnSpPr>
            <p:cNvPr id="25" name="Straight Arrow Connector 24">
              <a:extLst>
                <a:ext uri="{FF2B5EF4-FFF2-40B4-BE49-F238E27FC236}">
                  <a16:creationId xmlns:a16="http://schemas.microsoft.com/office/drawing/2014/main" id="{72DC8461-890C-125A-0DEA-69EE7DC8FF1C}"/>
                </a:ext>
              </a:extLst>
            </p:cNvPr>
            <p:cNvCxnSpPr>
              <a:cxnSpLocks/>
              <a:stCxn id="24" idx="1"/>
            </p:cNvCxnSpPr>
            <p:nvPr/>
          </p:nvCxnSpPr>
          <p:spPr>
            <a:xfrm flipH="1" flipV="1">
              <a:off x="6852436" y="4662011"/>
              <a:ext cx="372010"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9280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13" descr="A graph on a black background&#10;&#10;Description automatically generated">
            <a:extLst>
              <a:ext uri="{FF2B5EF4-FFF2-40B4-BE49-F238E27FC236}">
                <a16:creationId xmlns:a16="http://schemas.microsoft.com/office/drawing/2014/main" id="{C6297912-0DFD-DFEF-A104-EDD92478DCB0}"/>
              </a:ext>
            </a:extLst>
          </p:cNvPr>
          <p:cNvPicPr>
            <a:picLocks noChangeAspect="1"/>
          </p:cNvPicPr>
          <p:nvPr/>
        </p:nvPicPr>
        <p:blipFill>
          <a:blip r:embed="rId2">
            <a:extLst>
              <a:ext uri="{28A0092B-C50C-407E-A947-70E740481C1C}">
                <a14:useLocalDpi xmlns:a14="http://schemas.microsoft.com/office/drawing/2010/main" val="0"/>
              </a:ext>
            </a:extLst>
          </a:blip>
          <a:srcRect t="691" b="691"/>
          <a:stretch>
            <a:fillRect/>
          </a:stretch>
        </p:blipFill>
        <p:spPr>
          <a:xfrm>
            <a:off x="6359525" y="0"/>
            <a:ext cx="5832475" cy="6858000"/>
          </a:xfrm>
          <a:prstGeom prst="rect">
            <a:avLst/>
          </a:prstGeom>
        </p:spPr>
      </p:pic>
      <p:pic>
        <p:nvPicPr>
          <p:cNvPr id="5" name="Picture 4" descr="A graph on a black background&#10;&#10;Description automatically generated">
            <a:extLst>
              <a:ext uri="{FF2B5EF4-FFF2-40B4-BE49-F238E27FC236}">
                <a16:creationId xmlns:a16="http://schemas.microsoft.com/office/drawing/2014/main" id="{46393835-4293-53C4-A8D6-3B3D6B69A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379" y="0"/>
            <a:ext cx="5751871" cy="6858000"/>
          </a:xfrm>
          <a:prstGeom prst="rect">
            <a:avLst/>
          </a:prstGeom>
        </p:spPr>
      </p:pic>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More realism</a:t>
            </a:r>
          </a:p>
        </p:txBody>
      </p:sp>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The real world is not perfect</a:t>
            </a:r>
          </a:p>
          <a:p>
            <a:r>
              <a:rPr lang="en-GB" dirty="0"/>
              <a:t>Our predictions (i.e. the line) are never perfect</a:t>
            </a:r>
          </a:p>
          <a:p>
            <a:r>
              <a:rPr lang="en-GB" dirty="0"/>
              <a:t>Even the same individuals have variation</a:t>
            </a:r>
          </a:p>
          <a:p>
            <a:pPr lvl="1"/>
            <a:r>
              <a:rPr lang="en-GB" dirty="0"/>
              <a:t>E.g. growth spurts</a:t>
            </a:r>
          </a:p>
          <a:p>
            <a:r>
              <a:rPr lang="en-GB" dirty="0"/>
              <a:t>Different individuals are not the same</a:t>
            </a:r>
          </a:p>
          <a:p>
            <a:pPr lvl="1"/>
            <a:r>
              <a:rPr lang="en-GB" dirty="0"/>
              <a:t>And can vary in their own way</a:t>
            </a:r>
          </a:p>
          <a:p>
            <a:r>
              <a:rPr lang="en-GB" dirty="0"/>
              <a:t>But we want to describe the general relationship</a:t>
            </a:r>
          </a:p>
        </p:txBody>
      </p:sp>
      <p:pic>
        <p:nvPicPr>
          <p:cNvPr id="11" name="Picture Placeholder 10" descr="A graph of colored lines and dots&#10;&#10;Description automatically generated">
            <a:extLst>
              <a:ext uri="{FF2B5EF4-FFF2-40B4-BE49-F238E27FC236}">
                <a16:creationId xmlns:a16="http://schemas.microsoft.com/office/drawing/2014/main" id="{B6DBCCFB-83B6-63F8-D3B6-CB4979DA3DAF}"/>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196231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xit" presetSubtype="0" fill="hold" nodeType="withEffect">
                                  <p:stCondLst>
                                    <p:cond delay="0"/>
                                  </p:stCondLst>
                                  <p:childTnLst>
                                    <p:animEffect transition="out" filter="fade">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10" descr="A graph of colored lines and dots&#10;&#10;Description automatically generated">
            <a:extLst>
              <a:ext uri="{FF2B5EF4-FFF2-40B4-BE49-F238E27FC236}">
                <a16:creationId xmlns:a16="http://schemas.microsoft.com/office/drawing/2014/main" id="{1E43AFBF-7971-A7BC-7B0A-928C083F0B3E}"/>
              </a:ext>
            </a:extLst>
          </p:cNvPr>
          <p:cNvPicPr>
            <a:picLocks noChangeAspect="1"/>
          </p:cNvPicPr>
          <p:nvPr/>
        </p:nvPicPr>
        <p:blipFill>
          <a:blip r:embed="rId2">
            <a:extLst>
              <a:ext uri="{28A0092B-C50C-407E-A947-70E740481C1C}">
                <a14:useLocalDpi xmlns:a14="http://schemas.microsoft.com/office/drawing/2010/main" val="0"/>
              </a:ext>
            </a:extLst>
          </a:blip>
          <a:srcRect t="691" b="691"/>
          <a:stretch>
            <a:fillRect/>
          </a:stretch>
        </p:blipFill>
        <p:spPr>
          <a:xfrm>
            <a:off x="6359525" y="0"/>
            <a:ext cx="5832475" cy="6858000"/>
          </a:xfrm>
          <a:prstGeom prst="rect">
            <a:avLst/>
          </a:prstGeom>
        </p:spPr>
      </p:pic>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What stats does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normAutofit lnSpcReduction="10000"/>
              </a:bodyPr>
              <a:lstStyle/>
              <a:p>
                <a:r>
                  <a:rPr lang="en-GB" dirty="0"/>
                  <a:t>Statistics not only deals with variation but incorporates it</a:t>
                </a:r>
              </a:p>
              <a:p>
                <a:r>
                  <a:rPr lang="en-GB" dirty="0"/>
                  <a:t>Cuts through the noise to show signal</a:t>
                </a:r>
              </a:p>
              <a:p>
                <a:r>
                  <a:rPr lang="en-GB" dirty="0"/>
                  <a:t>Ideally, finds the relationship we want to understand</a:t>
                </a:r>
              </a:p>
              <a:p>
                <a:r>
                  <a:rPr lang="en-GB" dirty="0"/>
                  <a:t>Here:</a:t>
                </a:r>
              </a:p>
              <a:p>
                <a:pPr lvl="1"/>
                <a14:m>
                  <m:oMath xmlns:m="http://schemas.openxmlformats.org/officeDocument/2006/math">
                    <m:acc>
                      <m:accPr>
                        <m:chr m:val="̂"/>
                        <m:ctrlPr>
                          <a:rPr lang="en-GB" b="0" i="1" smtClean="0">
                            <a:latin typeface="Cambria Math" panose="02040503050406030204" pitchFamily="18" charset="0"/>
                          </a:rPr>
                        </m:ctrlPr>
                      </m:acc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e>
                    </m:acc>
                    <m:r>
                      <a:rPr lang="en-GB" b="0" i="1" dirty="0" smtClean="0">
                        <a:latin typeface="Cambria Math" panose="02040503050406030204" pitchFamily="18" charset="0"/>
                      </a:rPr>
                      <m:t>=36.5 </m:t>
                    </m:r>
                    <m:r>
                      <a:rPr lang="en-GB" b="0" i="1" dirty="0" smtClean="0">
                        <a:latin typeface="Cambria Math" panose="02040503050406030204" pitchFamily="18" charset="0"/>
                      </a:rPr>
                      <m:t>𝑐𝑚</m:t>
                    </m:r>
                  </m:oMath>
                </a14:m>
                <a:endParaRPr lang="en-GB" dirty="0"/>
              </a:p>
              <a:p>
                <a:pPr lvl="1"/>
                <a14:m>
                  <m:oMath xmlns:m="http://schemas.openxmlformats.org/officeDocument/2006/math">
                    <m:acc>
                      <m:accPr>
                        <m:chr m:val="̂"/>
                        <m:ctrlPr>
                          <a:rPr lang="en-GB" b="0" i="1" smtClean="0">
                            <a:latin typeface="Cambria Math" panose="02040503050406030204" pitchFamily="18" charset="0"/>
                          </a:rPr>
                        </m:ctrlPr>
                      </m:acc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e>
                    </m:acc>
                    <m:r>
                      <a:rPr lang="en-GB" b="0" i="1" dirty="0" smtClean="0">
                        <a:latin typeface="Cambria Math" panose="02040503050406030204" pitchFamily="18" charset="0"/>
                      </a:rPr>
                      <m:t>=14.8 </m:t>
                    </m:r>
                    <m:r>
                      <a:rPr lang="en-GB" b="0" i="1" dirty="0" smtClean="0">
                        <a:latin typeface="Cambria Math" panose="02040503050406030204" pitchFamily="18" charset="0"/>
                      </a:rPr>
                      <m:t>𝑐𝑚</m:t>
                    </m:r>
                    <m:r>
                      <a:rPr lang="en-GB" b="0" i="1" dirty="0" smtClean="0">
                        <a:latin typeface="Cambria Math" panose="02040503050406030204" pitchFamily="18" charset="0"/>
                      </a:rPr>
                      <m:t> </m:t>
                    </m:r>
                    <m:r>
                      <a:rPr lang="en-GB" b="0" i="1" dirty="0" smtClean="0">
                        <a:latin typeface="Cambria Math" panose="02040503050406030204" pitchFamily="18" charset="0"/>
                      </a:rPr>
                      <m:t>𝑝𝑒𝑟</m:t>
                    </m:r>
                    <m:r>
                      <a:rPr lang="en-GB" b="0" i="1" dirty="0" smtClean="0">
                        <a:latin typeface="Cambria Math" panose="02040503050406030204" pitchFamily="18" charset="0"/>
                      </a:rPr>
                      <m:t> </m:t>
                    </m:r>
                    <m:r>
                      <a:rPr lang="en-GB" b="0" i="1" dirty="0" smtClean="0">
                        <a:latin typeface="Cambria Math" panose="02040503050406030204" pitchFamily="18" charset="0"/>
                      </a:rPr>
                      <m:t>𝑦𝑒𝑎𝑟</m:t>
                    </m:r>
                  </m:oMath>
                </a14:m>
                <a:endParaRPr lang="en-GB" dirty="0"/>
              </a:p>
              <a:p>
                <a:r>
                  <a:rPr lang="en-GB" dirty="0"/>
                  <a:t>We now have a mean that </a:t>
                </a:r>
                <a:r>
                  <a:rPr lang="en-GB" i="1" dirty="0"/>
                  <a:t>changes</a:t>
                </a:r>
                <a:r>
                  <a:rPr lang="en-GB" dirty="0"/>
                  <a:t> according to </a:t>
                </a:r>
                <a14:m>
                  <m:oMath xmlns:m="http://schemas.openxmlformats.org/officeDocument/2006/math">
                    <m:r>
                      <a:rPr lang="en-GB" b="0" i="1" smtClean="0">
                        <a:latin typeface="Cambria Math" panose="02040503050406030204" pitchFamily="18" charset="0"/>
                      </a:rPr>
                      <m:t>𝑋</m:t>
                    </m:r>
                  </m:oMath>
                </a14:m>
                <a:endParaRPr lang="en-GB" b="0" dirty="0"/>
              </a:p>
              <a:p>
                <a:pPr lvl="1"/>
                <a:r>
                  <a:rPr lang="en-GB" dirty="0"/>
                  <a:t>I.e. We don’t have a single average</a:t>
                </a:r>
              </a:p>
            </p:txBody>
          </p:sp>
        </mc:Choice>
        <mc:Fallback xmlns="">
          <p:sp>
            <p:nvSpPr>
              <p:cNvPr id="3" name="Content Placeholder 2">
                <a:extLst>
                  <a:ext uri="{FF2B5EF4-FFF2-40B4-BE49-F238E27FC236}">
                    <a16:creationId xmlns:a16="http://schemas.microsoft.com/office/drawing/2014/main" id="{011D306B-AC60-2F57-8CD4-AC4058FEC16D}"/>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7" name="Picture Placeholder 6" descr="A graph on a black background&#10;&#10;Description automatically generated">
            <a:extLst>
              <a:ext uri="{FF2B5EF4-FFF2-40B4-BE49-F238E27FC236}">
                <a16:creationId xmlns:a16="http://schemas.microsoft.com/office/drawing/2014/main" id="{729A6A9F-D9A3-A782-7CFC-2F72A1EE29B7}"/>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60630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What about variation?</a:t>
            </a:r>
          </a:p>
        </p:txBody>
      </p:sp>
    </p:spTree>
    <p:extLst>
      <p:ext uri="{BB962C8B-B14F-4D97-AF65-F5344CB8AC3E}">
        <p14:creationId xmlns:p14="http://schemas.microsoft.com/office/powerpoint/2010/main" val="425743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aph with numbers and lines&#10;&#10;Description automatically generated">
            <a:extLst>
              <a:ext uri="{FF2B5EF4-FFF2-40B4-BE49-F238E27FC236}">
                <a16:creationId xmlns:a16="http://schemas.microsoft.com/office/drawing/2014/main" id="{050C648A-3582-0B08-839F-8FE8F0E0503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6359525" y="0"/>
            <a:ext cx="5832475" cy="6858000"/>
          </a:xfrm>
        </p:spPr>
      </p:pic>
      <p:pic>
        <p:nvPicPr>
          <p:cNvPr id="8" name="Picture 7" descr="A graph of a graph&#10;&#10;Description automatically generated with medium confidence">
            <a:extLst>
              <a:ext uri="{FF2B5EF4-FFF2-40B4-BE49-F238E27FC236}">
                <a16:creationId xmlns:a16="http://schemas.microsoft.com/office/drawing/2014/main" id="{9800546A-6430-139A-4643-ACEB668C6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sp>
        <p:nvSpPr>
          <p:cNvPr id="2" name="Title 1">
            <a:extLst>
              <a:ext uri="{FF2B5EF4-FFF2-40B4-BE49-F238E27FC236}">
                <a16:creationId xmlns:a16="http://schemas.microsoft.com/office/drawing/2014/main" id="{C9A5A6F4-C291-03FA-D2C2-C79A58258A3F}"/>
              </a:ext>
            </a:extLst>
          </p:cNvPr>
          <p:cNvSpPr>
            <a:spLocks noGrp="1"/>
          </p:cNvSpPr>
          <p:nvPr>
            <p:ph type="title"/>
          </p:nvPr>
        </p:nvSpPr>
        <p:spPr/>
        <p:txBody>
          <a:bodyPr/>
          <a:lstStyle/>
          <a:p>
            <a:r>
              <a:rPr lang="en-GB" dirty="0"/>
              <a:t>Variation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E91846-2FDE-8D27-B999-DF3102D0A94A}"/>
                  </a:ext>
                </a:extLst>
              </p:cNvPr>
              <p:cNvSpPr>
                <a:spLocks noGrp="1"/>
              </p:cNvSpPr>
              <p:nvPr>
                <p:ph idx="1"/>
              </p:nvPr>
            </p:nvSpPr>
            <p:spPr/>
            <p:txBody>
              <a:bodyPr>
                <a:normAutofit/>
              </a:bodyPr>
              <a:lstStyle/>
              <a:p>
                <a:r>
                  <a:rPr lang="en-GB" dirty="0"/>
                  <a:t>Distributions are how models deal with “randomness”</a:t>
                </a:r>
              </a:p>
              <a:p>
                <a:r>
                  <a:rPr lang="en-GB" dirty="0"/>
                  <a:t>They “control” randomness so that it behaves in a way that is “sensible”</a:t>
                </a:r>
              </a:p>
              <a:p>
                <a:r>
                  <a:rPr lang="en-GB" dirty="0"/>
                  <a:t>The simplest distribution is:</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𝑈𝑛𝑖𝑓𝑜𝑟𝑚</m:t>
                      </m:r>
                      <m:r>
                        <a:rPr lang="en-GB" b="0" i="1" smtClean="0">
                          <a:latin typeface="Cambria Math" panose="02040503050406030204" pitchFamily="18" charset="0"/>
                        </a:rPr>
                        <m:t>(0, 100)</m:t>
                      </m:r>
                    </m:oMath>
                  </m:oMathPara>
                </a14:m>
                <a:endParaRPr lang="en-GB" dirty="0"/>
              </a:p>
              <a:p>
                <a:r>
                  <a:rPr lang="en-GB" dirty="0"/>
                  <a:t>Which says that all values are equally likely within the range 0 to 100</a:t>
                </a:r>
              </a:p>
              <a:p>
                <a:r>
                  <a:rPr lang="en-GB" dirty="0"/>
                  <a:t>But the </a:t>
                </a:r>
                <a14:m>
                  <m:oMath xmlns:m="http://schemas.openxmlformats.org/officeDocument/2006/math">
                    <m:r>
                      <a:rPr lang="en-GB" b="0" i="1" smtClean="0">
                        <a:latin typeface="Cambria Math" panose="02040503050406030204" pitchFamily="18" charset="0"/>
                      </a:rPr>
                      <m:t>𝑈𝑛𝑖𝑓𝑜𝑟𝑚</m:t>
                    </m:r>
                  </m:oMath>
                </a14:m>
                <a:r>
                  <a:rPr lang="en-GB" dirty="0"/>
                  <a:t> distribution is so simplistic that it’s not very useful</a:t>
                </a:r>
              </a:p>
            </p:txBody>
          </p:sp>
        </mc:Choice>
        <mc:Fallback>
          <p:sp>
            <p:nvSpPr>
              <p:cNvPr id="3" name="Content Placeholder 2">
                <a:extLst>
                  <a:ext uri="{FF2B5EF4-FFF2-40B4-BE49-F238E27FC236}">
                    <a16:creationId xmlns:a16="http://schemas.microsoft.com/office/drawing/2014/main" id="{F5E91846-2FDE-8D27-B999-DF3102D0A94A}"/>
                  </a:ext>
                </a:extLst>
              </p:cNvPr>
              <p:cNvSpPr>
                <a:spLocks noGrp="1" noRot="1" noChangeAspect="1" noMove="1" noResize="1" noEditPoints="1" noAdjustHandles="1" noChangeArrowheads="1" noChangeShapeType="1" noTextEdit="1"/>
              </p:cNvSpPr>
              <p:nvPr>
                <p:ph idx="1"/>
              </p:nvPr>
            </p:nvSpPr>
            <p:spPr>
              <a:blipFill>
                <a:blip r:embed="rId4"/>
                <a:stretch>
                  <a:fillRect l="-1770" r="-2753"/>
                </a:stretch>
              </a:blipFill>
            </p:spPr>
            <p:txBody>
              <a:bodyPr/>
              <a:lstStyle/>
              <a:p>
                <a:r>
                  <a:rPr lang="en-GB">
                    <a:noFill/>
                  </a:rPr>
                  <a:t> </a:t>
                </a:r>
              </a:p>
            </p:txBody>
          </p:sp>
        </mc:Fallback>
      </mc:AlternateContent>
    </p:spTree>
    <p:extLst>
      <p:ext uri="{BB962C8B-B14F-4D97-AF65-F5344CB8AC3E}">
        <p14:creationId xmlns:p14="http://schemas.microsoft.com/office/powerpoint/2010/main" val="389243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FA9060-4F21-B2A4-1671-0B35F636A931}"/>
                  </a:ext>
                </a:extLst>
              </p:cNvPr>
              <p:cNvSpPr>
                <a:spLocks noGrp="1"/>
              </p:cNvSpPr>
              <p:nvPr>
                <p:ph type="title"/>
              </p:nvPr>
            </p:nvSpPr>
            <p:spPr/>
            <p:txBody>
              <a:bodyPr/>
              <a:lstStyle/>
              <a:p>
                <a14:m>
                  <m:oMath xmlns:m="http://schemas.openxmlformats.org/officeDocument/2006/math">
                    <m:r>
                      <a:rPr lang="en-GB" b="0" i="1" smtClean="0">
                        <a:latin typeface="Cambria Math" panose="02040503050406030204" pitchFamily="18" charset="0"/>
                      </a:rPr>
                      <m:t>𝑁𝑜𝑟𝑚𝑎𝑙</m:t>
                    </m:r>
                  </m:oMath>
                </a14:m>
                <a:r>
                  <a:rPr lang="en-GB" dirty="0"/>
                  <a:t> distribution</a:t>
                </a:r>
              </a:p>
            </p:txBody>
          </p:sp>
        </mc:Choice>
        <mc:Fallback xmlns="">
          <p:sp>
            <p:nvSpPr>
              <p:cNvPr id="2" name="Title 1">
                <a:extLst>
                  <a:ext uri="{FF2B5EF4-FFF2-40B4-BE49-F238E27FC236}">
                    <a16:creationId xmlns:a16="http://schemas.microsoft.com/office/drawing/2014/main" id="{D7FA9060-4F21-B2A4-1671-0B35F636A931}"/>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EB07E2-6BEB-A664-6F4B-51601FB3FA0C}"/>
                  </a:ext>
                </a:extLst>
              </p:cNvPr>
              <p:cNvSpPr>
                <a:spLocks noGrp="1"/>
              </p:cNvSpPr>
              <p:nvPr>
                <p:ph idx="1"/>
              </p:nvPr>
            </p:nvSpPr>
            <p:spPr/>
            <p:txBody>
              <a:bodyPr/>
              <a:lstStyle/>
              <a:p>
                <a:r>
                  <a:rPr lang="en-GB" dirty="0"/>
                  <a:t>Called “Normal” because of how common it is in nature</a:t>
                </a:r>
              </a:p>
              <a:p>
                <a:pPr lvl="1"/>
                <a:r>
                  <a:rPr lang="en-GB" dirty="0"/>
                  <a:t>Sometimes called </a:t>
                </a:r>
                <a14:m>
                  <m:oMath xmlns:m="http://schemas.openxmlformats.org/officeDocument/2006/math">
                    <m:r>
                      <a:rPr lang="en-GB" b="0" i="1" smtClean="0">
                        <a:latin typeface="Cambria Math" panose="02040503050406030204" pitchFamily="18" charset="0"/>
                      </a:rPr>
                      <m:t>𝐺𝑢𝑎𝑠𝑠𝑖𝑎𝑛</m:t>
                    </m:r>
                  </m:oMath>
                </a14:m>
                <a:endParaRPr lang="en-GB" dirty="0"/>
              </a:p>
              <a:p>
                <a:r>
                  <a:rPr lang="en-GB" dirty="0"/>
                  <a:t>Described with two bits of information</a:t>
                </a:r>
              </a:p>
              <a:p>
                <a:pPr lvl="1"/>
                <a:r>
                  <a:rPr lang="en-GB" dirty="0"/>
                  <a:t>The mean (</a:t>
                </a:r>
                <a14:m>
                  <m:oMath xmlns:m="http://schemas.openxmlformats.org/officeDocument/2006/math">
                    <m:r>
                      <a:rPr lang="en-GB" b="0" i="1" smtClean="0">
                        <a:latin typeface="Cambria Math" panose="02040503050406030204" pitchFamily="18" charset="0"/>
                      </a:rPr>
                      <m:t>𝜇</m:t>
                    </m:r>
                  </m:oMath>
                </a14:m>
                <a:r>
                  <a:rPr lang="en-GB" dirty="0"/>
                  <a:t>)</a:t>
                </a:r>
              </a:p>
              <a:p>
                <a:pPr lvl="1"/>
                <a:r>
                  <a:rPr lang="en-GB" dirty="0"/>
                  <a:t>And the standard deviation (</a:t>
                </a:r>
                <a14:m>
                  <m:oMath xmlns:m="http://schemas.openxmlformats.org/officeDocument/2006/math">
                    <m:r>
                      <a:rPr lang="en-GB" b="0" i="1" smtClean="0">
                        <a:latin typeface="Cambria Math" panose="02040503050406030204" pitchFamily="18" charset="0"/>
                      </a:rPr>
                      <m:t>𝜎</m:t>
                    </m:r>
                  </m:oMath>
                </a14:m>
                <a:r>
                  <a:rPr lang="en-GB" dirty="0"/>
                  <a:t>)</a:t>
                </a:r>
              </a:p>
              <a:p>
                <a:r>
                  <a:rPr lang="en-GB" dirty="0"/>
                  <a:t>We just need to figure out which values for mean (and standard deviation) work best with our data</a:t>
                </a:r>
              </a:p>
            </p:txBody>
          </p:sp>
        </mc:Choice>
        <mc:Fallback xmlns="">
          <p:sp>
            <p:nvSpPr>
              <p:cNvPr id="3" name="Content Placeholder 2">
                <a:extLst>
                  <a:ext uri="{FF2B5EF4-FFF2-40B4-BE49-F238E27FC236}">
                    <a16:creationId xmlns:a16="http://schemas.microsoft.com/office/drawing/2014/main" id="{7EEB07E2-6BEB-A664-6F4B-51601FB3FA0C}"/>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10" name="Picture Placeholder 9" descr="A graph on a screen&#10;&#10;Description automatically generated">
            <a:extLst>
              <a:ext uri="{FF2B5EF4-FFF2-40B4-BE49-F238E27FC236}">
                <a16:creationId xmlns:a16="http://schemas.microsoft.com/office/drawing/2014/main" id="{C0A33617-3885-B84B-18F1-9E2406D5C8D8}"/>
              </a:ext>
            </a:extLst>
          </p:cNvPr>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a:stretch/>
        </p:blipFill>
        <p:spPr>
          <a:xfrm>
            <a:off x="6359525" y="0"/>
            <a:ext cx="5832475" cy="6858000"/>
          </a:xfrm>
        </p:spPr>
      </p:pic>
      <p:pic>
        <p:nvPicPr>
          <p:cNvPr id="12" name="Picture 11" descr="A graph on a screen&#10;&#10;Description automatically generated">
            <a:extLst>
              <a:ext uri="{FF2B5EF4-FFF2-40B4-BE49-F238E27FC236}">
                <a16:creationId xmlns:a16="http://schemas.microsoft.com/office/drawing/2014/main" id="{66F768E7-A45F-3998-6D31-5C6DBD0F40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pic>
        <p:nvPicPr>
          <p:cNvPr id="14" name="Picture 13" descr="A graph of a tall tower&#10;&#10;Description automatically generated with medium confidence">
            <a:extLst>
              <a:ext uri="{FF2B5EF4-FFF2-40B4-BE49-F238E27FC236}">
                <a16:creationId xmlns:a16="http://schemas.microsoft.com/office/drawing/2014/main" id="{8E6D8D33-A1E9-2A54-2231-6727B7838A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Tree>
    <p:extLst>
      <p:ext uri="{BB962C8B-B14F-4D97-AF65-F5344CB8AC3E}">
        <p14:creationId xmlns:p14="http://schemas.microsoft.com/office/powerpoint/2010/main" val="193721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aph of a function&#10;&#10;Description automatically generated">
            <a:extLst>
              <a:ext uri="{FF2B5EF4-FFF2-40B4-BE49-F238E27FC236}">
                <a16:creationId xmlns:a16="http://schemas.microsoft.com/office/drawing/2014/main" id="{C032EED6-152C-776C-59E4-16F174B76AC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
        <p:nvSpPr>
          <p:cNvPr id="2" name="Title 1">
            <a:extLst>
              <a:ext uri="{FF2B5EF4-FFF2-40B4-BE49-F238E27FC236}">
                <a16:creationId xmlns:a16="http://schemas.microsoft.com/office/drawing/2014/main" id="{F9EACA1D-B7EF-FB84-57D8-F56A12797BF9}"/>
              </a:ext>
            </a:extLst>
          </p:cNvPr>
          <p:cNvSpPr>
            <a:spLocks noGrp="1"/>
          </p:cNvSpPr>
          <p:nvPr>
            <p:ph type="title"/>
          </p:nvPr>
        </p:nvSpPr>
        <p:spPr/>
        <p:txBody>
          <a:bodyPr/>
          <a:lstStyle/>
          <a:p>
            <a:r>
              <a:rPr lang="en-GB" dirty="0"/>
              <a:t>Our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D0BD94-D341-D57C-3F6D-8D95F7A6AF26}"/>
                  </a:ext>
                </a:extLst>
              </p:cNvPr>
              <p:cNvSpPr>
                <a:spLocks noGrp="1"/>
              </p:cNvSpPr>
              <p:nvPr>
                <p:ph idx="1"/>
              </p:nvPr>
            </p:nvSpPr>
            <p:spPr/>
            <p:txBody>
              <a:bodyPr>
                <a:normAutofit lnSpcReduction="10000"/>
              </a:bodyPr>
              <a:lstStyle/>
              <a:p>
                <a:r>
                  <a:rPr lang="en-GB" dirty="0"/>
                  <a:t>Previously we wrote:</a:t>
                </a:r>
              </a:p>
              <a:p>
                <a:pPr marL="457200" lvl="1"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𝐻𝑒𝑖𝑔h𝑡</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𝐴𝑔𝑒</m:t>
                          </m:r>
                        </m:e>
                        <m:sub>
                          <m:r>
                            <a:rPr lang="en-GB" i="1">
                              <a:latin typeface="Cambria Math" panose="02040503050406030204" pitchFamily="18" charset="0"/>
                            </a:rPr>
                            <m:t>𝑖</m:t>
                          </m:r>
                        </m:sub>
                      </m:sSub>
                    </m:oMath>
                  </m:oMathPara>
                </a14:m>
                <a:endParaRPr lang="en-GB" dirty="0"/>
              </a:p>
              <a:p>
                <a:endParaRPr lang="en-GB" dirty="0"/>
              </a:p>
              <a:p>
                <a:r>
                  <a:rPr lang="en-GB" dirty="0"/>
                  <a:t>More formally, we’d write: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𝐻𝑒𝑖𝑔h</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e>
                      </m:d>
                    </m:oMath>
                  </m:oMathPara>
                </a14:m>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𝐴𝑔</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𝑒</m:t>
                          </m:r>
                        </m:e>
                        <m:sub>
                          <m:r>
                            <a:rPr lang="en-GB" b="0" i="1" smtClean="0">
                              <a:latin typeface="Cambria Math" panose="02040503050406030204" pitchFamily="18" charset="0"/>
                            </a:rPr>
                            <m:t>𝑖</m:t>
                          </m:r>
                        </m:sub>
                      </m:sSub>
                    </m:oMath>
                  </m:oMathPara>
                </a14:m>
                <a:endParaRPr lang="en-GB" dirty="0"/>
              </a:p>
              <a:p>
                <a:pPr marL="0" indent="0">
                  <a:buNone/>
                </a:pPr>
                <a:r>
                  <a:rPr lang="en-GB" sz="1400" dirty="0"/>
                  <a:t>Where:</a:t>
                </a:r>
              </a:p>
              <a:p>
                <a14:m>
                  <m:oMath xmlns:m="http://schemas.openxmlformats.org/officeDocument/2006/math">
                    <m:r>
                      <a:rPr lang="en-GB" sz="1400" b="0" i="1" smtClean="0">
                        <a:latin typeface="Cambria Math" panose="02040503050406030204" pitchFamily="18" charset="0"/>
                      </a:rPr>
                      <m:t>𝐻𝑒𝑖𝑔h</m:t>
                    </m:r>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𝑡</m:t>
                        </m:r>
                      </m:e>
                      <m:sub>
                        <m:r>
                          <a:rPr lang="en-GB" sz="1400" b="0" i="1" smtClean="0">
                            <a:latin typeface="Cambria Math" panose="02040503050406030204" pitchFamily="18" charset="0"/>
                          </a:rPr>
                          <m:t>𝑖</m:t>
                        </m:r>
                      </m:sub>
                    </m:sSub>
                  </m:oMath>
                </a14:m>
                <a:r>
                  <a:rPr lang="en-GB" sz="1400" dirty="0"/>
                  <a:t> is the height of child </a:t>
                </a:r>
                <a14:m>
                  <m:oMath xmlns:m="http://schemas.openxmlformats.org/officeDocument/2006/math">
                    <m:r>
                      <a:rPr lang="en-GB" sz="1400" b="0" i="1" smtClean="0">
                        <a:latin typeface="Cambria Math" panose="02040503050406030204" pitchFamily="18" charset="0"/>
                      </a:rPr>
                      <m:t>𝑖</m:t>
                    </m:r>
                  </m:oMath>
                </a14:m>
                <a:endParaRPr lang="en-GB" sz="1400" dirty="0"/>
              </a:p>
              <a:p>
                <a:r>
                  <a:rPr lang="en-GB" sz="1400" b="0" dirty="0"/>
                  <a:t>“</a:t>
                </a:r>
                <a14:m>
                  <m:oMath xmlns:m="http://schemas.openxmlformats.org/officeDocument/2006/math">
                    <m:r>
                      <a:rPr lang="en-GB" sz="1400" b="0" i="1" smtClean="0">
                        <a:latin typeface="Cambria Math" panose="02040503050406030204" pitchFamily="18" charset="0"/>
                      </a:rPr>
                      <m:t>~</m:t>
                    </m:r>
                  </m:oMath>
                </a14:m>
                <a:r>
                  <a:rPr lang="en-GB" sz="1400" dirty="0"/>
                  <a:t>” means “generated according to…”</a:t>
                </a:r>
              </a:p>
              <a:p>
                <a14:m>
                  <m:oMath xmlns:m="http://schemas.openxmlformats.org/officeDocument/2006/math">
                    <m:r>
                      <a:rPr lang="en-GB" sz="1400" b="0" i="1" smtClean="0">
                        <a:latin typeface="Cambria Math" panose="02040503050406030204" pitchFamily="18" charset="0"/>
                      </a:rPr>
                      <m:t>𝑁𝑜𝑟𝑚𝑎𝑙</m:t>
                    </m:r>
                  </m:oMath>
                </a14:m>
                <a:r>
                  <a:rPr lang="en-GB" sz="1400" dirty="0"/>
                  <a:t> is the distribution we assume generated the </a:t>
                </a:r>
                <a14:m>
                  <m:oMath xmlns:m="http://schemas.openxmlformats.org/officeDocument/2006/math">
                    <m:r>
                      <a:rPr lang="en-GB" sz="1400" b="0" i="1" smtClean="0">
                        <a:latin typeface="Cambria Math" panose="02040503050406030204" pitchFamily="18" charset="0"/>
                      </a:rPr>
                      <m:t>𝐻𝑒𝑖𝑔h𝑡</m:t>
                    </m:r>
                  </m:oMath>
                </a14:m>
                <a:r>
                  <a:rPr lang="en-GB" sz="1400" dirty="0"/>
                  <a:t> values</a:t>
                </a:r>
              </a:p>
              <a:p>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𝜇</m:t>
                        </m:r>
                      </m:e>
                      <m:sub>
                        <m:r>
                          <a:rPr lang="en-GB" sz="1400" b="0" i="1" smtClean="0">
                            <a:latin typeface="Cambria Math" panose="02040503050406030204" pitchFamily="18" charset="0"/>
                          </a:rPr>
                          <m:t>𝑖</m:t>
                        </m:r>
                      </m:sub>
                    </m:sSub>
                  </m:oMath>
                </a14:m>
                <a:r>
                  <a:rPr lang="en-GB" sz="1400" dirty="0"/>
                  <a:t> is the average </a:t>
                </a:r>
                <a14:m>
                  <m:oMath xmlns:m="http://schemas.openxmlformats.org/officeDocument/2006/math">
                    <m:r>
                      <a:rPr lang="en-GB" sz="1400" b="0" i="1" smtClean="0">
                        <a:latin typeface="Cambria Math" panose="02040503050406030204" pitchFamily="18" charset="0"/>
                      </a:rPr>
                      <m:t>𝐻𝑒𝑖𝑔h𝑡</m:t>
                    </m:r>
                  </m:oMath>
                </a14:m>
                <a:r>
                  <a:rPr lang="en-GB" sz="1400" dirty="0"/>
                  <a:t> we would expect for child </a:t>
                </a:r>
                <a14:m>
                  <m:oMath xmlns:m="http://schemas.openxmlformats.org/officeDocument/2006/math">
                    <m:r>
                      <a:rPr lang="en-GB" sz="1400" b="0" i="1" smtClean="0">
                        <a:latin typeface="Cambria Math" panose="02040503050406030204" pitchFamily="18" charset="0"/>
                      </a:rPr>
                      <m:t>𝑖</m:t>
                    </m:r>
                  </m:oMath>
                </a14:m>
                <a:endParaRPr lang="en-GB" sz="1400" dirty="0"/>
              </a:p>
              <a:p>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𝜎</m:t>
                        </m:r>
                      </m:e>
                      <m:sub>
                        <m:r>
                          <a:rPr lang="en-GB" sz="1400" b="0" i="1" smtClean="0">
                            <a:latin typeface="Cambria Math" panose="02040503050406030204" pitchFamily="18" charset="0"/>
                          </a:rPr>
                          <m:t>𝑖</m:t>
                        </m:r>
                      </m:sub>
                    </m:sSub>
                  </m:oMath>
                </a14:m>
                <a:r>
                  <a:rPr lang="en-GB" sz="1400" dirty="0"/>
                  <a:t> is the standard deviation in </a:t>
                </a:r>
                <a14:m>
                  <m:oMath xmlns:m="http://schemas.openxmlformats.org/officeDocument/2006/math">
                    <m:r>
                      <a:rPr lang="en-GB" sz="1400" b="0" i="1" smtClean="0">
                        <a:latin typeface="Cambria Math" panose="02040503050406030204" pitchFamily="18" charset="0"/>
                      </a:rPr>
                      <m:t>𝐻𝑒𝑖𝑔h𝑡</m:t>
                    </m:r>
                  </m:oMath>
                </a14:m>
                <a:r>
                  <a:rPr lang="en-GB" sz="1400" dirty="0"/>
                  <a:t> we expect for child </a:t>
                </a:r>
                <a14:m>
                  <m:oMath xmlns:m="http://schemas.openxmlformats.org/officeDocument/2006/math">
                    <m:r>
                      <a:rPr lang="en-GB" sz="1400" b="0" i="1" smtClean="0">
                        <a:latin typeface="Cambria Math" panose="02040503050406030204" pitchFamily="18" charset="0"/>
                      </a:rPr>
                      <m:t>𝑖</m:t>
                    </m:r>
                  </m:oMath>
                </a14:m>
                <a:endParaRPr lang="en-GB" sz="1400" dirty="0"/>
              </a:p>
              <a:p>
                <a:r>
                  <a:rPr lang="en-GB" sz="1400" dirty="0"/>
                  <a:t>Where the average (</a:t>
                </a:r>
                <a14:m>
                  <m:oMath xmlns:m="http://schemas.openxmlformats.org/officeDocument/2006/math">
                    <m:r>
                      <a:rPr lang="en-GB" sz="1400" b="0" i="1" smtClean="0">
                        <a:latin typeface="Cambria Math" panose="02040503050406030204" pitchFamily="18" charset="0"/>
                      </a:rPr>
                      <m:t>𝜇</m:t>
                    </m:r>
                  </m:oMath>
                </a14:m>
                <a:r>
                  <a:rPr lang="en-GB" sz="1400" dirty="0"/>
                  <a:t>) is:</a:t>
                </a:r>
              </a:p>
              <a:p>
                <a:pPr lvl="1"/>
                <a14:m>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𝛽</m:t>
                        </m:r>
                      </m:e>
                      <m:sub>
                        <m:r>
                          <a:rPr lang="en-GB" sz="1200" b="0" i="1" smtClean="0">
                            <a:latin typeface="Cambria Math" panose="02040503050406030204" pitchFamily="18" charset="0"/>
                          </a:rPr>
                          <m:t>0</m:t>
                        </m:r>
                      </m:sub>
                    </m:sSub>
                  </m:oMath>
                </a14:m>
                <a:r>
                  <a:rPr lang="en-GB" sz="1200" dirty="0"/>
                  <a:t> (height at age 0)</a:t>
                </a:r>
              </a:p>
              <a:p>
                <a:pPr lvl="1"/>
                <a14:m>
                  <m:oMath xmlns:m="http://schemas.openxmlformats.org/officeDocument/2006/math">
                    <m:sSub>
                      <m:sSubPr>
                        <m:ctrlPr>
                          <a:rPr lang="en-GB" sz="1200" b="0" i="1" smtClean="0">
                            <a:latin typeface="Cambria Math" panose="02040503050406030204" pitchFamily="18" charset="0"/>
                          </a:rPr>
                        </m:ctrlPr>
                      </m:sSubPr>
                      <m:e>
                        <m:r>
                          <a:rPr lang="en-GB" sz="1200" b="0" i="1" smtClean="0">
                            <a:latin typeface="Cambria Math" panose="02040503050406030204" pitchFamily="18" charset="0"/>
                          </a:rPr>
                          <m:t>𝛽</m:t>
                        </m:r>
                      </m:e>
                      <m:sub>
                        <m:r>
                          <a:rPr lang="en-GB" sz="1200" b="0" i="1" smtClean="0">
                            <a:latin typeface="Cambria Math" panose="02040503050406030204" pitchFamily="18" charset="0"/>
                          </a:rPr>
                          <m:t>1</m:t>
                        </m:r>
                      </m:sub>
                    </m:sSub>
                  </m:oMath>
                </a14:m>
                <a:r>
                  <a:rPr lang="en-GB" sz="1200" dirty="0"/>
                  <a:t> (how many cm a child grows each year)</a:t>
                </a:r>
              </a:p>
              <a:p>
                <a:endParaRPr lang="en-GB" dirty="0"/>
              </a:p>
            </p:txBody>
          </p:sp>
        </mc:Choice>
        <mc:Fallback xmlns="">
          <p:sp>
            <p:nvSpPr>
              <p:cNvPr id="3" name="Content Placeholder 2">
                <a:extLst>
                  <a:ext uri="{FF2B5EF4-FFF2-40B4-BE49-F238E27FC236}">
                    <a16:creationId xmlns:a16="http://schemas.microsoft.com/office/drawing/2014/main" id="{62D0BD94-D341-D57C-3F6D-8D95F7A6AF26}"/>
                  </a:ext>
                </a:extLst>
              </p:cNvPr>
              <p:cNvSpPr>
                <a:spLocks noGrp="1" noRot="1" noChangeAspect="1" noMove="1" noResize="1" noEditPoints="1" noAdjustHandles="1" noChangeArrowheads="1" noChangeShapeType="1" noTextEdit="1"/>
              </p:cNvSpPr>
              <p:nvPr>
                <p:ph idx="1"/>
              </p:nvPr>
            </p:nvSpPr>
            <p:spPr>
              <a:blipFill>
                <a:blip r:embed="rId3"/>
                <a:stretch>
                  <a:fillRect l="-1770" t="-4884" b="-5000"/>
                </a:stretch>
              </a:blipFill>
            </p:spPr>
            <p:txBody>
              <a:bodyPr/>
              <a:lstStyle/>
              <a:p>
                <a:r>
                  <a:rPr lang="en-GB">
                    <a:noFill/>
                  </a:rPr>
                  <a:t> </a:t>
                </a:r>
              </a:p>
            </p:txBody>
          </p:sp>
        </mc:Fallback>
      </mc:AlternateContent>
    </p:spTree>
    <p:extLst>
      <p:ext uri="{BB962C8B-B14F-4D97-AF65-F5344CB8AC3E}">
        <p14:creationId xmlns:p14="http://schemas.microsoft.com/office/powerpoint/2010/main" val="233441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500"/>
                                        <p:tgtEl>
                                          <p:spTgt spid="3">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500"/>
                                        <p:tgtEl>
                                          <p:spTgt spid="3">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Effect transition="in" filter="fade">
                                      <p:cBhvr>
                                        <p:cTn id="55" dur="500"/>
                                        <p:tgtEl>
                                          <p:spTgt spid="3">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txEl>
                                              <p:pRg st="12" end="12"/>
                                            </p:txEl>
                                          </p:spTgt>
                                        </p:tgtEl>
                                        <p:attrNameLst>
                                          <p:attrName>style.visibility</p:attrName>
                                        </p:attrNameLst>
                                      </p:cBhvr>
                                      <p:to>
                                        <p:strVal val="visible"/>
                                      </p:to>
                                    </p:set>
                                    <p:animEffect transition="in" filter="fade">
                                      <p:cBhvr>
                                        <p:cTn id="60" dur="500"/>
                                        <p:tgtEl>
                                          <p:spTgt spid="3">
                                            <p:txEl>
                                              <p:pRg st="12" end="12"/>
                                            </p:tx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animEffect transition="in" filter="fade">
                                      <p:cBhvr>
                                        <p:cTn id="63" dur="500"/>
                                        <p:tgtEl>
                                          <p:spTgt spid="3">
                                            <p:txEl>
                                              <p:pRg st="13" end="13"/>
                                            </p:tx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
                                            <p:txEl>
                                              <p:pRg st="14" end="14"/>
                                            </p:txEl>
                                          </p:spTgt>
                                        </p:tgtEl>
                                        <p:attrNameLst>
                                          <p:attrName>style.visibility</p:attrName>
                                        </p:attrNameLst>
                                      </p:cBhvr>
                                      <p:to>
                                        <p:strVal val="visible"/>
                                      </p:to>
                                    </p:set>
                                    <p:animEffect transition="in" filter="fade">
                                      <p:cBhvr>
                                        <p:cTn id="6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aph of a function&#10;&#10;Description automatically generated">
            <a:extLst>
              <a:ext uri="{FF2B5EF4-FFF2-40B4-BE49-F238E27FC236}">
                <a16:creationId xmlns:a16="http://schemas.microsoft.com/office/drawing/2014/main" id="{C032EED6-152C-776C-59E4-16F174B76AC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
        <p:nvSpPr>
          <p:cNvPr id="2" name="Title 1">
            <a:extLst>
              <a:ext uri="{FF2B5EF4-FFF2-40B4-BE49-F238E27FC236}">
                <a16:creationId xmlns:a16="http://schemas.microsoft.com/office/drawing/2014/main" id="{F9EACA1D-B7EF-FB84-57D8-F56A12797BF9}"/>
              </a:ext>
            </a:extLst>
          </p:cNvPr>
          <p:cNvSpPr>
            <a:spLocks noGrp="1"/>
          </p:cNvSpPr>
          <p:nvPr>
            <p:ph type="title"/>
          </p:nvPr>
        </p:nvSpPr>
        <p:spPr/>
        <p:txBody>
          <a:bodyPr/>
          <a:lstStyle/>
          <a:p>
            <a:r>
              <a:rPr lang="en-GB" dirty="0"/>
              <a:t>Goal of statistics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D0BD94-D341-D57C-3F6D-8D95F7A6AF26}"/>
                  </a:ext>
                </a:extLst>
              </p:cNvPr>
              <p:cNvSpPr>
                <a:spLocks noGrp="1"/>
              </p:cNvSpPr>
              <p:nvPr>
                <p:ph idx="1"/>
              </p:nvPr>
            </p:nvSpPr>
            <p:spPr/>
            <p:txBody>
              <a:bodyPr>
                <a:normAutofit/>
              </a:bodyPr>
              <a:lstStyle/>
              <a:p>
                <a:r>
                  <a:rPr lang="en-GB" dirty="0"/>
                  <a:t>We want to tweak the distribution such that the idealised distribution (the “likelihood”) overlaps the real data</a:t>
                </a:r>
              </a:p>
              <a:p>
                <a:r>
                  <a:rPr lang="en-GB" dirty="0"/>
                  <a:t>How do we tweak the distribution?</a:t>
                </a:r>
              </a:p>
              <a:p>
                <a:r>
                  <a:rPr lang="en-GB" dirty="0"/>
                  <a:t>Change the </a:t>
                </a:r>
                <a:r>
                  <a:rPr lang="en-GB" dirty="0">
                    <a:solidFill>
                      <a:srgbClr val="FFFF00"/>
                    </a:solidFill>
                  </a:rPr>
                  <a:t>mean</a:t>
                </a:r>
                <a:r>
                  <a:rPr lang="en-GB" dirty="0"/>
                  <a:t> (</a:t>
                </a:r>
                <a14:m>
                  <m:oMath xmlns:m="http://schemas.openxmlformats.org/officeDocument/2006/math">
                    <m:r>
                      <a:rPr lang="en-GB" b="0" i="1" smtClean="0">
                        <a:solidFill>
                          <a:srgbClr val="FFFF00"/>
                        </a:solidFill>
                        <a:latin typeface="Cambria Math" panose="02040503050406030204" pitchFamily="18" charset="0"/>
                      </a:rPr>
                      <m:t>𝜇</m:t>
                    </m:r>
                  </m:oMath>
                </a14:m>
                <a:r>
                  <a:rPr lang="en-GB" dirty="0"/>
                  <a:t>)</a:t>
                </a:r>
              </a:p>
              <a:p>
                <a:r>
                  <a:rPr lang="en-GB" dirty="0"/>
                  <a:t>How do we change </a:t>
                </a:r>
                <a14:m>
                  <m:oMath xmlns:m="http://schemas.openxmlformats.org/officeDocument/2006/math">
                    <m:r>
                      <a:rPr lang="en-GB" b="0" i="1" smtClean="0">
                        <a:solidFill>
                          <a:srgbClr val="FFFF00"/>
                        </a:solidFill>
                        <a:latin typeface="Cambria Math" panose="02040503050406030204" pitchFamily="18" charset="0"/>
                      </a:rPr>
                      <m:t>𝜇</m:t>
                    </m:r>
                  </m:oMath>
                </a14:m>
                <a:r>
                  <a:rPr lang="en-GB" dirty="0"/>
                  <a:t>?</a:t>
                </a:r>
              </a:p>
              <a:p>
                <a14:m>
                  <m:oMath xmlns:m="http://schemas.openxmlformats.org/officeDocument/2006/math">
                    <m:sSub>
                      <m:sSubPr>
                        <m:ctrlPr>
                          <a:rPr lang="en-GB" b="0" i="1" smtClean="0">
                            <a:solidFill>
                              <a:srgbClr val="FFFF00"/>
                            </a:solidFill>
                            <a:latin typeface="Cambria Math" panose="02040503050406030204" pitchFamily="18" charset="0"/>
                          </a:rPr>
                        </m:ctrlPr>
                      </m:sSubPr>
                      <m:e>
                        <m:r>
                          <a:rPr lang="en-GB" b="0" i="1" smtClean="0">
                            <a:solidFill>
                              <a:srgbClr val="FFFF00"/>
                            </a:solidFill>
                            <a:latin typeface="Cambria Math" panose="02040503050406030204" pitchFamily="18" charset="0"/>
                          </a:rPr>
                          <m:t>𝜇</m:t>
                        </m:r>
                      </m:e>
                      <m:sub>
                        <m:r>
                          <a:rPr lang="en-GB" b="0" i="1" smtClean="0">
                            <a:solidFill>
                              <a:srgbClr val="FFFF00"/>
                            </a:solidFill>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𝑖</m:t>
                        </m:r>
                      </m:sub>
                    </m:sSub>
                  </m:oMath>
                </a14:m>
                <a:endParaRPr lang="en-GB" dirty="0"/>
              </a:p>
              <a:p>
                <a:r>
                  <a:rPr lang="en-GB" dirty="0"/>
                  <a:t>For the child height example, we said:</a:t>
                </a:r>
              </a:p>
              <a:p>
                <a:pPr lvl="1"/>
                <a14:m>
                  <m:oMath xmlns:m="http://schemas.openxmlformats.org/officeDocument/2006/math">
                    <m:sSub>
                      <m:sSubPr>
                        <m:ctrlPr>
                          <a:rPr lang="en-GB" b="0" i="1" smtClean="0">
                            <a:solidFill>
                              <a:srgbClr val="FFFF00"/>
                            </a:solidFill>
                            <a:latin typeface="Cambria Math" panose="02040503050406030204" pitchFamily="18" charset="0"/>
                          </a:rPr>
                        </m:ctrlPr>
                      </m:sSubPr>
                      <m:e>
                        <m:r>
                          <a:rPr lang="en-GB" b="0" i="1" smtClean="0">
                            <a:solidFill>
                              <a:srgbClr val="FFFF00"/>
                            </a:solidFill>
                            <a:latin typeface="Cambria Math" panose="02040503050406030204" pitchFamily="18" charset="0"/>
                          </a:rPr>
                          <m:t>𝜇</m:t>
                        </m:r>
                      </m:e>
                      <m:sub>
                        <m:r>
                          <a:rPr lang="en-GB" b="0" i="1" smtClean="0">
                            <a:solidFill>
                              <a:srgbClr val="FFFF00"/>
                            </a:solidFill>
                            <a:latin typeface="Cambria Math" panose="02040503050406030204" pitchFamily="18" charset="0"/>
                          </a:rPr>
                          <m:t>𝑖</m:t>
                        </m:r>
                      </m:sub>
                    </m:sSub>
                    <m:r>
                      <a:rPr lang="en-GB" b="0" i="1" smtClean="0">
                        <a:latin typeface="Cambria Math" panose="02040503050406030204" pitchFamily="18" charset="0"/>
                      </a:rPr>
                      <m:t>=36.5+14.8×</m:t>
                    </m:r>
                    <m:r>
                      <a:rPr lang="en-GB" b="0" i="1" smtClean="0">
                        <a:latin typeface="Cambria Math" panose="02040503050406030204" pitchFamily="18" charset="0"/>
                      </a:rPr>
                      <m:t>𝐴𝑔</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𝑒</m:t>
                        </m:r>
                      </m:e>
                      <m:sub>
                        <m:r>
                          <a:rPr lang="en-GB" b="0" i="1" smtClean="0">
                            <a:latin typeface="Cambria Math" panose="02040503050406030204" pitchFamily="18" charset="0"/>
                          </a:rPr>
                          <m:t>𝑖</m:t>
                        </m:r>
                      </m:sub>
                    </m:sSub>
                  </m:oMath>
                </a14:m>
                <a:endParaRPr lang="en-GB" dirty="0"/>
              </a:p>
            </p:txBody>
          </p:sp>
        </mc:Choice>
        <mc:Fallback>
          <p:sp>
            <p:nvSpPr>
              <p:cNvPr id="3" name="Content Placeholder 2">
                <a:extLst>
                  <a:ext uri="{FF2B5EF4-FFF2-40B4-BE49-F238E27FC236}">
                    <a16:creationId xmlns:a16="http://schemas.microsoft.com/office/drawing/2014/main" id="{62D0BD94-D341-D57C-3F6D-8D95F7A6AF26}"/>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7" name="Picture 6" descr="A graph with a curve&#10;&#10;Description automatically generated">
            <a:extLst>
              <a:ext uri="{FF2B5EF4-FFF2-40B4-BE49-F238E27FC236}">
                <a16:creationId xmlns:a16="http://schemas.microsoft.com/office/drawing/2014/main" id="{D662EDAD-8168-4274-ACB5-C583D52506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525" y="0"/>
            <a:ext cx="5751871" cy="6858000"/>
          </a:xfrm>
          <a:prstGeom prst="rect">
            <a:avLst/>
          </a:prstGeom>
        </p:spPr>
      </p:pic>
      <p:pic>
        <p:nvPicPr>
          <p:cNvPr id="4" name="Picture Placeholder 6" descr="A graph on a black background&#10;&#10;Description automatically generated">
            <a:extLst>
              <a:ext uri="{FF2B5EF4-FFF2-40B4-BE49-F238E27FC236}">
                <a16:creationId xmlns:a16="http://schemas.microsoft.com/office/drawing/2014/main" id="{BF941B8C-42C6-16E3-3068-F1ACC500333A}"/>
              </a:ext>
            </a:extLst>
          </p:cNvPr>
          <p:cNvPicPr>
            <a:picLocks noChangeAspect="1"/>
          </p:cNvPicPr>
          <p:nvPr/>
        </p:nvPicPr>
        <p:blipFill>
          <a:blip r:embed="rId5">
            <a:extLst>
              <a:ext uri="{28A0092B-C50C-407E-A947-70E740481C1C}">
                <a14:useLocalDpi xmlns:a14="http://schemas.microsoft.com/office/drawing/2010/main" val="0"/>
              </a:ext>
            </a:extLst>
          </a:blip>
          <a:srcRect t="691" b="691"/>
          <a:stretch>
            <a:fillRect/>
          </a:stretch>
        </p:blipFill>
        <p:spPr>
          <a:xfrm>
            <a:off x="0" y="0"/>
            <a:ext cx="5832475" cy="6858000"/>
          </a:xfrm>
          <a:prstGeom prst="rect">
            <a:avLst/>
          </a:prstGeom>
        </p:spPr>
      </p:pic>
    </p:spTree>
    <p:extLst>
      <p:ext uri="{BB962C8B-B14F-4D97-AF65-F5344CB8AC3E}">
        <p14:creationId xmlns:p14="http://schemas.microsoft.com/office/powerpoint/2010/main" val="2898989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E10892C-931D-968C-1AF6-7C7406EF2695}"/>
                  </a:ext>
                </a:extLst>
              </p:cNvPr>
              <p:cNvSpPr>
                <a:spLocks noGrp="1"/>
              </p:cNvSpPr>
              <p:nvPr>
                <p:ph type="title"/>
              </p:nvPr>
            </p:nvSpPr>
            <p:spPr/>
            <p:txBody>
              <a:bodyPr/>
              <a:lstStyle/>
              <a:p>
                <a:r>
                  <a:rPr lang="en-GB" b="0" dirty="0"/>
                  <a:t>The </a:t>
                </a:r>
                <a14:m>
                  <m:oMath xmlns:m="http://schemas.openxmlformats.org/officeDocument/2006/math">
                    <m:r>
                      <a:rPr lang="en-GB" b="0" i="1" smtClean="0">
                        <a:latin typeface="Cambria Math" panose="02040503050406030204" pitchFamily="18" charset="0"/>
                      </a:rPr>
                      <m:t>𝑁𝑜𝑟𝑚𝑎𝑙</m:t>
                    </m:r>
                  </m:oMath>
                </a14:m>
                <a:r>
                  <a:rPr lang="en-GB" dirty="0"/>
                  <a:t> distribution</a:t>
                </a:r>
              </a:p>
            </p:txBody>
          </p:sp>
        </mc:Choice>
        <mc:Fallback xmlns="">
          <p:sp>
            <p:nvSpPr>
              <p:cNvPr id="2" name="Title 1">
                <a:extLst>
                  <a:ext uri="{FF2B5EF4-FFF2-40B4-BE49-F238E27FC236}">
                    <a16:creationId xmlns:a16="http://schemas.microsoft.com/office/drawing/2014/main" id="{FE10892C-931D-968C-1AF6-7C7406EF2695}"/>
                  </a:ext>
                </a:extLst>
              </p:cNvPr>
              <p:cNvSpPr>
                <a:spLocks noGrp="1" noRot="1" noChangeAspect="1" noMove="1" noResize="1" noEditPoints="1" noAdjustHandles="1" noChangeArrowheads="1" noChangeShapeType="1" noTextEdit="1"/>
              </p:cNvSpPr>
              <p:nvPr>
                <p:ph type="title"/>
              </p:nvPr>
            </p:nvSpPr>
            <p:spPr>
              <a:blipFill>
                <a:blip r:embed="rId2"/>
                <a:stretch>
                  <a:fillRect l="-3638" r="-6096"/>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607332-1264-97CE-703D-40621B803AB7}"/>
                  </a:ext>
                </a:extLst>
              </p:cNvPr>
              <p:cNvSpPr>
                <a:spLocks noGrp="1"/>
              </p:cNvSpPr>
              <p:nvPr>
                <p:ph idx="1"/>
              </p:nvPr>
            </p:nvSpPr>
            <p:spPr/>
            <p:txBody>
              <a:bodyPr>
                <a:normAutofit/>
              </a:bodyPr>
              <a:lstStyle/>
              <a:p>
                <a:r>
                  <a:rPr lang="en-GB" dirty="0"/>
                  <a:t>When using a </a:t>
                </a:r>
                <a14:m>
                  <m:oMath xmlns:m="http://schemas.openxmlformats.org/officeDocument/2006/math">
                    <m:r>
                      <a:rPr lang="en-GB" b="0" i="1" smtClean="0">
                        <a:latin typeface="Cambria Math" panose="02040503050406030204" pitchFamily="18" charset="0"/>
                      </a:rPr>
                      <m:t>𝑁𝑜𝑟𝑚𝑎𝑙</m:t>
                    </m:r>
                  </m:oMath>
                </a14:m>
                <a:r>
                  <a:rPr lang="en-GB" dirty="0"/>
                  <a:t> distribution a big assumption we make is:</a:t>
                </a:r>
              </a:p>
              <a:p>
                <a:pPr lvl="1"/>
                <a:r>
                  <a:rPr lang="en-GB" dirty="0"/>
                  <a:t>The average and range can be anywhere from negative infinity to positive infinity</a:t>
                </a:r>
              </a:p>
              <a:p>
                <a:pPr lvl="1"/>
                <a:r>
                  <a:rPr lang="en-GB" dirty="0"/>
                  <a:t>Meaning the model </a:t>
                </a:r>
                <a:r>
                  <a:rPr lang="en-GB" i="1" dirty="0"/>
                  <a:t>can</a:t>
                </a:r>
                <a:r>
                  <a:rPr lang="en-GB" dirty="0"/>
                  <a:t> predict negative values</a:t>
                </a:r>
              </a:p>
              <a:p>
                <a:pPr lvl="2"/>
                <a:r>
                  <a:rPr lang="en-GB" dirty="0"/>
                  <a:t>E.g. children could be -5 cm tall</a:t>
                </a:r>
              </a:p>
              <a:p>
                <a:pPr lvl="2"/>
                <a:r>
                  <a:rPr lang="en-GB" dirty="0"/>
                  <a:t>Not a problem so long as mean and SD are “far” from zero</a:t>
                </a:r>
              </a:p>
            </p:txBody>
          </p:sp>
        </mc:Choice>
        <mc:Fallback>
          <p:sp>
            <p:nvSpPr>
              <p:cNvPr id="3" name="Content Placeholder 2">
                <a:extLst>
                  <a:ext uri="{FF2B5EF4-FFF2-40B4-BE49-F238E27FC236}">
                    <a16:creationId xmlns:a16="http://schemas.microsoft.com/office/drawing/2014/main" id="{DA607332-1264-97CE-703D-40621B803AB7}"/>
                  </a:ext>
                </a:extLst>
              </p:cNvPr>
              <p:cNvSpPr>
                <a:spLocks noGrp="1" noRot="1" noChangeAspect="1" noMove="1" noResize="1" noEditPoints="1" noAdjustHandles="1" noChangeArrowheads="1" noChangeShapeType="1" noTextEdit="1"/>
              </p:cNvSpPr>
              <p:nvPr>
                <p:ph idx="1"/>
              </p:nvPr>
            </p:nvSpPr>
            <p:spPr>
              <a:blipFill>
                <a:blip r:embed="rId3"/>
                <a:stretch>
                  <a:fillRect l="-1770" r="-1967"/>
                </a:stretch>
              </a:blipFill>
            </p:spPr>
            <p:txBody>
              <a:bodyPr/>
              <a:lstStyle/>
              <a:p>
                <a:r>
                  <a:rPr lang="en-GB">
                    <a:noFill/>
                  </a:rPr>
                  <a:t> </a:t>
                </a:r>
              </a:p>
            </p:txBody>
          </p:sp>
        </mc:Fallback>
      </mc:AlternateContent>
      <p:pic>
        <p:nvPicPr>
          <p:cNvPr id="14" name="Picture Placeholder 13" descr="A graph of colored lines&#10;&#10;Description automatically generated">
            <a:extLst>
              <a:ext uri="{FF2B5EF4-FFF2-40B4-BE49-F238E27FC236}">
                <a16:creationId xmlns:a16="http://schemas.microsoft.com/office/drawing/2014/main" id="{69E42237-6D58-443F-DB3E-9CFE35E39DDB}"/>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337674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graphs on a black background&#10;&#10;Description automatically generated">
            <a:extLst>
              <a:ext uri="{FF2B5EF4-FFF2-40B4-BE49-F238E27FC236}">
                <a16:creationId xmlns:a16="http://schemas.microsoft.com/office/drawing/2014/main" id="{831DFF14-4E23-F140-5F80-0B4E13B8E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6300" y="1141549"/>
            <a:ext cx="6035147" cy="5632207"/>
          </a:xfrm>
          <a:prstGeom prst="rect">
            <a:avLst/>
          </a:prstGeom>
        </p:spPr>
      </p:pic>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Beware the </a:t>
            </a:r>
            <a:r>
              <a:rPr lang="en-GB" sz="5400" dirty="0" err="1">
                <a:latin typeface="Bahnschrift Light" panose="020B0502040204020203" pitchFamily="34" charset="0"/>
              </a:rPr>
              <a:t>histomancer</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838200" y="2256089"/>
            <a:ext cx="4991100" cy="3920873"/>
          </a:xfrm>
        </p:spPr>
        <p:txBody>
          <a:bodyPr>
            <a:normAutofit/>
          </a:bodyPr>
          <a:lstStyle/>
          <a:p>
            <a:r>
              <a:rPr lang="en-GB" dirty="0">
                <a:latin typeface="Bahnschrift Light" panose="020B0502040204020203" pitchFamily="34" charset="0"/>
              </a:rPr>
              <a:t>Don’t plot histograms or do tests to “determine” the distribution.</a:t>
            </a:r>
          </a:p>
          <a:p>
            <a:r>
              <a:rPr lang="en-GB" dirty="0">
                <a:latin typeface="Bahnschrift Light" panose="020B0502040204020203" pitchFamily="34" charset="0"/>
              </a:rPr>
              <a:t>Think about the data:</a:t>
            </a:r>
          </a:p>
          <a:p>
            <a:pPr lvl="1"/>
            <a:r>
              <a:rPr lang="en-GB" dirty="0">
                <a:latin typeface="Bahnschrift Light" panose="020B0502040204020203" pitchFamily="34" charset="0"/>
              </a:rPr>
              <a:t>What kind of values could I measure?</a:t>
            </a:r>
          </a:p>
          <a:p>
            <a:pPr lvl="1"/>
            <a:r>
              <a:rPr lang="en-GB" dirty="0">
                <a:latin typeface="Bahnschrift Light" panose="020B0502040204020203" pitchFamily="34" charset="0"/>
              </a:rPr>
              <a:t>Are there limits to the values I could measure?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625E56E-E6CF-3224-48D2-1A653F0D21C1}"/>
                  </a:ext>
                </a:extLst>
              </p:cNvPr>
              <p:cNvSpPr txBox="1"/>
              <p:nvPr/>
            </p:nvSpPr>
            <p:spPr>
              <a:xfrm>
                <a:off x="7003847"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6" name="TextBox 5">
                <a:extLst>
                  <a:ext uri="{FF2B5EF4-FFF2-40B4-BE49-F238E27FC236}">
                    <a16:creationId xmlns:a16="http://schemas.microsoft.com/office/drawing/2014/main" id="{0625E56E-E6CF-3224-48D2-1A653F0D21C1}"/>
                  </a:ext>
                </a:extLst>
              </p:cNvPr>
              <p:cNvSpPr txBox="1">
                <a:spLocks noRot="1" noChangeAspect="1" noMove="1" noResize="1" noEditPoints="1" noAdjustHandles="1" noChangeArrowheads="1" noChangeShapeType="1" noTextEdit="1"/>
              </p:cNvSpPr>
              <p:nvPr/>
            </p:nvSpPr>
            <p:spPr>
              <a:xfrm>
                <a:off x="7003847" y="3059668"/>
                <a:ext cx="1039965" cy="369332"/>
              </a:xfrm>
              <a:prstGeom prst="rect">
                <a:avLst/>
              </a:prstGeom>
              <a:blipFill>
                <a:blip r:embed="rId3"/>
                <a:stretch>
                  <a:fillRect t="-11475" r="-7018"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3B1C8E-492B-ECC6-A540-9AA713CBD4AE}"/>
                  </a:ext>
                </a:extLst>
              </p:cNvPr>
              <p:cNvSpPr txBox="1"/>
              <p:nvPr/>
            </p:nvSpPr>
            <p:spPr>
              <a:xfrm>
                <a:off x="9975798"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7" name="TextBox 6">
                <a:extLst>
                  <a:ext uri="{FF2B5EF4-FFF2-40B4-BE49-F238E27FC236}">
                    <a16:creationId xmlns:a16="http://schemas.microsoft.com/office/drawing/2014/main" id="{B73B1C8E-492B-ECC6-A540-9AA713CBD4AE}"/>
                  </a:ext>
                </a:extLst>
              </p:cNvPr>
              <p:cNvSpPr txBox="1">
                <a:spLocks noRot="1" noChangeAspect="1" noMove="1" noResize="1" noEditPoints="1" noAdjustHandles="1" noChangeArrowheads="1" noChangeShapeType="1" noTextEdit="1"/>
              </p:cNvSpPr>
              <p:nvPr/>
            </p:nvSpPr>
            <p:spPr>
              <a:xfrm>
                <a:off x="9975798" y="3059668"/>
                <a:ext cx="1039965" cy="369332"/>
              </a:xfrm>
              <a:prstGeom prst="rect">
                <a:avLst/>
              </a:prstGeom>
              <a:blipFill>
                <a:blip r:embed="rId4"/>
                <a:stretch>
                  <a:fillRect t="-11475" r="-7602"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08903A-CCFC-0D0D-9741-BC207CBD47C0}"/>
                  </a:ext>
                </a:extLst>
              </p:cNvPr>
              <p:cNvSpPr txBox="1"/>
              <p:nvPr/>
            </p:nvSpPr>
            <p:spPr>
              <a:xfrm>
                <a:off x="6991152" y="5805012"/>
                <a:ext cx="1052660"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𝑃𝑜𝑖𝑠𝑠𝑜𝑛</m:t>
                      </m:r>
                    </m:oMath>
                  </m:oMathPara>
                </a14:m>
                <a:endParaRPr lang="en-GB" dirty="0"/>
              </a:p>
            </p:txBody>
          </p:sp>
        </mc:Choice>
        <mc:Fallback xmlns="">
          <p:sp>
            <p:nvSpPr>
              <p:cNvPr id="8" name="TextBox 7">
                <a:extLst>
                  <a:ext uri="{FF2B5EF4-FFF2-40B4-BE49-F238E27FC236}">
                    <a16:creationId xmlns:a16="http://schemas.microsoft.com/office/drawing/2014/main" id="{4508903A-CCFC-0D0D-9741-BC207CBD47C0}"/>
                  </a:ext>
                </a:extLst>
              </p:cNvPr>
              <p:cNvSpPr txBox="1">
                <a:spLocks noRot="1" noChangeAspect="1" noMove="1" noResize="1" noEditPoints="1" noAdjustHandles="1" noChangeArrowheads="1" noChangeShapeType="1" noTextEdit="1"/>
              </p:cNvSpPr>
              <p:nvPr/>
            </p:nvSpPr>
            <p:spPr>
              <a:xfrm>
                <a:off x="6991152" y="5805012"/>
                <a:ext cx="1052660" cy="369332"/>
              </a:xfrm>
              <a:prstGeom prst="rect">
                <a:avLst/>
              </a:prstGeom>
              <a:blipFill>
                <a:blip r:embed="rId5"/>
                <a:stretch>
                  <a:fillRect t="-9836" r="-6936"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E8D818-4FA9-4091-0D39-7219B9257156}"/>
                  </a:ext>
                </a:extLst>
              </p:cNvPr>
              <p:cNvSpPr txBox="1"/>
              <p:nvPr/>
            </p:nvSpPr>
            <p:spPr>
              <a:xfrm>
                <a:off x="10131323" y="5805012"/>
                <a:ext cx="728917"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𝐵𝑒𝑡𝑎</m:t>
                      </m:r>
                    </m:oMath>
                  </m:oMathPara>
                </a14:m>
                <a:endParaRPr lang="en-GB" dirty="0"/>
              </a:p>
            </p:txBody>
          </p:sp>
        </mc:Choice>
        <mc:Fallback xmlns="">
          <p:sp>
            <p:nvSpPr>
              <p:cNvPr id="14" name="TextBox 13">
                <a:extLst>
                  <a:ext uri="{FF2B5EF4-FFF2-40B4-BE49-F238E27FC236}">
                    <a16:creationId xmlns:a16="http://schemas.microsoft.com/office/drawing/2014/main" id="{9FE8D818-4FA9-4091-0D39-7219B9257156}"/>
                  </a:ext>
                </a:extLst>
              </p:cNvPr>
              <p:cNvSpPr txBox="1">
                <a:spLocks noRot="1" noChangeAspect="1" noMove="1" noResize="1" noEditPoints="1" noAdjustHandles="1" noChangeArrowheads="1" noChangeShapeType="1" noTextEdit="1"/>
              </p:cNvSpPr>
              <p:nvPr/>
            </p:nvSpPr>
            <p:spPr>
              <a:xfrm>
                <a:off x="10131323" y="5805012"/>
                <a:ext cx="728917" cy="369332"/>
              </a:xfrm>
              <a:prstGeom prst="rect">
                <a:avLst/>
              </a:prstGeom>
              <a:blipFill>
                <a:blip r:embed="rId6"/>
                <a:stretch>
                  <a:fillRect t="-9836" r="-10833" b="-22951"/>
                </a:stretch>
              </a:blipFill>
            </p:spPr>
            <p:txBody>
              <a:bodyPr/>
              <a:lstStyle/>
              <a:p>
                <a:r>
                  <a:rPr lang="en-GB">
                    <a:noFill/>
                  </a:rPr>
                  <a:t> </a:t>
                </a:r>
              </a:p>
            </p:txBody>
          </p:sp>
        </mc:Fallback>
      </mc:AlternateContent>
    </p:spTree>
    <p:extLst>
      <p:ext uri="{BB962C8B-B14F-4D97-AF65-F5344CB8AC3E}">
        <p14:creationId xmlns:p14="http://schemas.microsoft.com/office/powerpoint/2010/main" val="2661866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fade">
                                      <p:cBhvr>
                                        <p:cTn id="40" dur="500"/>
                                        <p:tgtEl>
                                          <p:spTgt spid="3">
                                            <p:txEl>
                                              <p:pRg st="2" end="2"/>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“Do you drink coffee?”</a:t>
            </a:r>
          </a:p>
        </p:txBody>
      </p:sp>
    </p:spTree>
    <p:extLst>
      <p:ext uri="{BB962C8B-B14F-4D97-AF65-F5344CB8AC3E}">
        <p14:creationId xmlns:p14="http://schemas.microsoft.com/office/powerpoint/2010/main" val="220062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138B73-6E32-409C-1023-056F958FFBB4}"/>
              </a:ext>
            </a:extLst>
          </p:cNvPr>
          <p:cNvPicPr>
            <a:picLocks noChangeAspect="1"/>
          </p:cNvPicPr>
          <p:nvPr/>
        </p:nvPicPr>
        <p:blipFill>
          <a:blip r:embed="rId2"/>
          <a:stretch>
            <a:fillRect/>
          </a:stretch>
        </p:blipFill>
        <p:spPr>
          <a:xfrm>
            <a:off x="4562642" y="2380929"/>
            <a:ext cx="2826587" cy="1882886"/>
          </a:xfrm>
          <a:prstGeom prst="rect">
            <a:avLst/>
          </a:prstGeom>
          <a:ln>
            <a:noFill/>
          </a:ln>
        </p:spPr>
      </p:pic>
      <p:sp>
        <p:nvSpPr>
          <p:cNvPr id="6" name="TextBox 5">
            <a:extLst>
              <a:ext uri="{FF2B5EF4-FFF2-40B4-BE49-F238E27FC236}">
                <a16:creationId xmlns:a16="http://schemas.microsoft.com/office/drawing/2014/main" id="{8C639B57-FA4D-4C98-A22A-5E8C91A33933}"/>
              </a:ext>
            </a:extLst>
          </p:cNvPr>
          <p:cNvSpPr txBox="1"/>
          <p:nvPr/>
        </p:nvSpPr>
        <p:spPr>
          <a:xfrm>
            <a:off x="5361615" y="378325"/>
            <a:ext cx="1407253" cy="584775"/>
          </a:xfrm>
          <a:prstGeom prst="rect">
            <a:avLst/>
          </a:prstGeom>
          <a:noFill/>
          <a:ln w="19050">
            <a:solidFill>
              <a:schemeClr val="tx1"/>
            </a:solidFill>
          </a:ln>
        </p:spPr>
        <p:txBody>
          <a:bodyPr wrap="square">
            <a:spAutoFit/>
          </a:bodyPr>
          <a:lstStyle/>
          <a:p>
            <a:pPr algn="ctr"/>
            <a:r>
              <a:rPr lang="en-US" sz="1600" dirty="0"/>
              <a:t>Parents drink coffee</a:t>
            </a:r>
            <a:endParaRPr lang="en-GB" sz="1600" dirty="0"/>
          </a:p>
        </p:txBody>
      </p:sp>
      <p:sp>
        <p:nvSpPr>
          <p:cNvPr id="10" name="TextBox 9">
            <a:extLst>
              <a:ext uri="{FF2B5EF4-FFF2-40B4-BE49-F238E27FC236}">
                <a16:creationId xmlns:a16="http://schemas.microsoft.com/office/drawing/2014/main" id="{74B17ACE-CFBC-454D-8412-2755FDE1B9B2}"/>
              </a:ext>
            </a:extLst>
          </p:cNvPr>
          <p:cNvSpPr txBox="1"/>
          <p:nvPr/>
        </p:nvSpPr>
        <p:spPr>
          <a:xfrm>
            <a:off x="1755397" y="1359992"/>
            <a:ext cx="1783159" cy="1077218"/>
          </a:xfrm>
          <a:prstGeom prst="rect">
            <a:avLst/>
          </a:prstGeom>
          <a:noFill/>
          <a:ln w="19050">
            <a:solidFill>
              <a:schemeClr val="tx1"/>
            </a:solidFill>
          </a:ln>
        </p:spPr>
        <p:txBody>
          <a:bodyPr wrap="square">
            <a:spAutoFit/>
          </a:bodyPr>
          <a:lstStyle/>
          <a:p>
            <a:pPr algn="ctr"/>
            <a:r>
              <a:rPr lang="en-US" sz="1600" dirty="0"/>
              <a:t>Watched TV where mature characters drank coffee?</a:t>
            </a:r>
            <a:endParaRPr lang="en-GB" sz="1600" dirty="0"/>
          </a:p>
        </p:txBody>
      </p:sp>
      <p:sp>
        <p:nvSpPr>
          <p:cNvPr id="12" name="TextBox 11">
            <a:extLst>
              <a:ext uri="{FF2B5EF4-FFF2-40B4-BE49-F238E27FC236}">
                <a16:creationId xmlns:a16="http://schemas.microsoft.com/office/drawing/2014/main" id="{C64ABAB3-54AF-41D9-AA13-6BEF1DE98DC7}"/>
              </a:ext>
            </a:extLst>
          </p:cNvPr>
          <p:cNvSpPr txBox="1"/>
          <p:nvPr/>
        </p:nvSpPr>
        <p:spPr>
          <a:xfrm>
            <a:off x="2902918" y="2865829"/>
            <a:ext cx="1620124" cy="830997"/>
          </a:xfrm>
          <a:prstGeom prst="rect">
            <a:avLst/>
          </a:prstGeom>
          <a:noFill/>
          <a:ln w="19050">
            <a:solidFill>
              <a:schemeClr val="tx1"/>
            </a:solidFill>
          </a:ln>
        </p:spPr>
        <p:txBody>
          <a:bodyPr wrap="square">
            <a:spAutoFit/>
          </a:bodyPr>
          <a:lstStyle/>
          <a:p>
            <a:pPr algn="ctr"/>
            <a:r>
              <a:rPr lang="en-US" sz="1600" dirty="0"/>
              <a:t>Wanted to emulate characters?</a:t>
            </a:r>
            <a:endParaRPr lang="en-GB" sz="1600" dirty="0"/>
          </a:p>
        </p:txBody>
      </p:sp>
      <p:sp>
        <p:nvSpPr>
          <p:cNvPr id="14" name="TextBox 13">
            <a:extLst>
              <a:ext uri="{FF2B5EF4-FFF2-40B4-BE49-F238E27FC236}">
                <a16:creationId xmlns:a16="http://schemas.microsoft.com/office/drawing/2014/main" id="{087A1222-158F-404C-A7BD-F1CB5065D057}"/>
              </a:ext>
            </a:extLst>
          </p:cNvPr>
          <p:cNvSpPr txBox="1"/>
          <p:nvPr/>
        </p:nvSpPr>
        <p:spPr>
          <a:xfrm>
            <a:off x="242481" y="255215"/>
            <a:ext cx="2273416" cy="830997"/>
          </a:xfrm>
          <a:prstGeom prst="rect">
            <a:avLst/>
          </a:prstGeom>
          <a:noFill/>
          <a:ln w="19050">
            <a:solidFill>
              <a:schemeClr val="tx1"/>
            </a:solidFill>
          </a:ln>
        </p:spPr>
        <p:txBody>
          <a:bodyPr wrap="square">
            <a:spAutoFit/>
          </a:bodyPr>
          <a:lstStyle/>
          <a:p>
            <a:pPr algn="ctr"/>
            <a:r>
              <a:rPr lang="en-US" sz="1600" dirty="0"/>
              <a:t>From a culture where drinking coffee in the morning is normal?</a:t>
            </a:r>
            <a:endParaRPr lang="en-GB" sz="1600" dirty="0"/>
          </a:p>
        </p:txBody>
      </p:sp>
      <p:sp>
        <p:nvSpPr>
          <p:cNvPr id="16" name="TextBox 15">
            <a:extLst>
              <a:ext uri="{FF2B5EF4-FFF2-40B4-BE49-F238E27FC236}">
                <a16:creationId xmlns:a16="http://schemas.microsoft.com/office/drawing/2014/main" id="{6B4B51C2-9291-492C-865D-54B951680CA1}"/>
              </a:ext>
            </a:extLst>
          </p:cNvPr>
          <p:cNvSpPr txBox="1"/>
          <p:nvPr/>
        </p:nvSpPr>
        <p:spPr>
          <a:xfrm>
            <a:off x="1755397" y="3974514"/>
            <a:ext cx="1783159" cy="584775"/>
          </a:xfrm>
          <a:prstGeom prst="rect">
            <a:avLst/>
          </a:prstGeom>
          <a:noFill/>
          <a:ln w="19050">
            <a:solidFill>
              <a:schemeClr val="tx1"/>
            </a:solidFill>
          </a:ln>
        </p:spPr>
        <p:txBody>
          <a:bodyPr wrap="square">
            <a:spAutoFit/>
          </a:bodyPr>
          <a:lstStyle/>
          <a:p>
            <a:pPr algn="ctr"/>
            <a:r>
              <a:rPr lang="en-US" sz="1600" dirty="0"/>
              <a:t>Drinks tea instead of coffee?</a:t>
            </a:r>
            <a:endParaRPr lang="en-GB" sz="1600" dirty="0"/>
          </a:p>
        </p:txBody>
      </p:sp>
      <p:sp>
        <p:nvSpPr>
          <p:cNvPr id="18" name="TextBox 17">
            <a:extLst>
              <a:ext uri="{FF2B5EF4-FFF2-40B4-BE49-F238E27FC236}">
                <a16:creationId xmlns:a16="http://schemas.microsoft.com/office/drawing/2014/main" id="{5538ADB1-2F28-42FA-96B1-B37B448BE58E}"/>
              </a:ext>
            </a:extLst>
          </p:cNvPr>
          <p:cNvSpPr txBox="1"/>
          <p:nvPr/>
        </p:nvSpPr>
        <p:spPr>
          <a:xfrm>
            <a:off x="5353225" y="6436711"/>
            <a:ext cx="1415643" cy="338554"/>
          </a:xfrm>
          <a:prstGeom prst="rect">
            <a:avLst/>
          </a:prstGeom>
          <a:noFill/>
          <a:ln w="19050">
            <a:solidFill>
              <a:schemeClr val="tx1"/>
            </a:solidFill>
          </a:ln>
        </p:spPr>
        <p:txBody>
          <a:bodyPr wrap="square">
            <a:spAutoFit/>
          </a:bodyPr>
          <a:lstStyle/>
          <a:p>
            <a:pPr algn="ctr"/>
            <a:r>
              <a:rPr lang="en-US" sz="1600" dirty="0"/>
              <a:t>Is hungover?</a:t>
            </a:r>
            <a:endParaRPr lang="en-GB" sz="1600" dirty="0"/>
          </a:p>
        </p:txBody>
      </p:sp>
      <p:sp>
        <p:nvSpPr>
          <p:cNvPr id="20" name="TextBox 19">
            <a:extLst>
              <a:ext uri="{FF2B5EF4-FFF2-40B4-BE49-F238E27FC236}">
                <a16:creationId xmlns:a16="http://schemas.microsoft.com/office/drawing/2014/main" id="{3EA77027-5EEC-4C77-A9EF-A208402B013E}"/>
              </a:ext>
            </a:extLst>
          </p:cNvPr>
          <p:cNvSpPr txBox="1"/>
          <p:nvPr/>
        </p:nvSpPr>
        <p:spPr>
          <a:xfrm>
            <a:off x="5252555" y="4953319"/>
            <a:ext cx="1625367" cy="1077218"/>
          </a:xfrm>
          <a:prstGeom prst="rect">
            <a:avLst/>
          </a:prstGeom>
          <a:noFill/>
          <a:ln w="19050">
            <a:solidFill>
              <a:schemeClr val="tx1"/>
            </a:solidFill>
          </a:ln>
        </p:spPr>
        <p:txBody>
          <a:bodyPr wrap="square">
            <a:spAutoFit/>
          </a:bodyPr>
          <a:lstStyle/>
          <a:p>
            <a:pPr algn="ctr"/>
            <a:r>
              <a:rPr lang="en-US" sz="1600" dirty="0"/>
              <a:t>Believe drinking coffee helps with a hangover?</a:t>
            </a:r>
            <a:endParaRPr lang="en-GB" sz="1600" dirty="0"/>
          </a:p>
        </p:txBody>
      </p:sp>
      <p:sp>
        <p:nvSpPr>
          <p:cNvPr id="22" name="TextBox 21">
            <a:extLst>
              <a:ext uri="{FF2B5EF4-FFF2-40B4-BE49-F238E27FC236}">
                <a16:creationId xmlns:a16="http://schemas.microsoft.com/office/drawing/2014/main" id="{8D295F01-AD51-4CB9-BA19-C32D89C37A80}"/>
              </a:ext>
            </a:extLst>
          </p:cNvPr>
          <p:cNvSpPr txBox="1"/>
          <p:nvPr/>
        </p:nvSpPr>
        <p:spPr>
          <a:xfrm>
            <a:off x="10549979" y="5845015"/>
            <a:ext cx="1541477" cy="830997"/>
          </a:xfrm>
          <a:prstGeom prst="rect">
            <a:avLst/>
          </a:prstGeom>
          <a:noFill/>
          <a:ln w="19050">
            <a:solidFill>
              <a:schemeClr val="tx1"/>
            </a:solidFill>
          </a:ln>
        </p:spPr>
        <p:txBody>
          <a:bodyPr wrap="square">
            <a:spAutoFit/>
          </a:bodyPr>
          <a:lstStyle/>
          <a:p>
            <a:pPr algn="ctr"/>
            <a:r>
              <a:rPr lang="en-US" sz="1600" dirty="0"/>
              <a:t>Saw a butterfly this morning?</a:t>
            </a:r>
            <a:endParaRPr lang="en-GB" sz="1600" dirty="0"/>
          </a:p>
        </p:txBody>
      </p:sp>
      <p:sp>
        <p:nvSpPr>
          <p:cNvPr id="24" name="TextBox 23">
            <a:extLst>
              <a:ext uri="{FF2B5EF4-FFF2-40B4-BE49-F238E27FC236}">
                <a16:creationId xmlns:a16="http://schemas.microsoft.com/office/drawing/2014/main" id="{057D5324-DF36-48B8-9ECE-14BB3F8CD03D}"/>
              </a:ext>
            </a:extLst>
          </p:cNvPr>
          <p:cNvSpPr txBox="1"/>
          <p:nvPr/>
        </p:nvSpPr>
        <p:spPr>
          <a:xfrm>
            <a:off x="9680048" y="4397292"/>
            <a:ext cx="1783159" cy="1077218"/>
          </a:xfrm>
          <a:prstGeom prst="rect">
            <a:avLst/>
          </a:prstGeom>
          <a:noFill/>
          <a:ln w="19050">
            <a:solidFill>
              <a:schemeClr val="tx1"/>
            </a:solidFill>
          </a:ln>
        </p:spPr>
        <p:txBody>
          <a:bodyPr wrap="square">
            <a:spAutoFit/>
          </a:bodyPr>
          <a:lstStyle/>
          <a:p>
            <a:pPr algn="ctr"/>
            <a:r>
              <a:rPr lang="en-US" sz="1600" dirty="0"/>
              <a:t>Grandparent’s room had butterflies in the wallpaper?</a:t>
            </a:r>
            <a:endParaRPr lang="en-GB" sz="1600" dirty="0"/>
          </a:p>
        </p:txBody>
      </p:sp>
      <p:sp>
        <p:nvSpPr>
          <p:cNvPr id="26" name="TextBox 25">
            <a:extLst>
              <a:ext uri="{FF2B5EF4-FFF2-40B4-BE49-F238E27FC236}">
                <a16:creationId xmlns:a16="http://schemas.microsoft.com/office/drawing/2014/main" id="{ECBA7146-D837-4BFE-B2FC-7BF1E98553C9}"/>
              </a:ext>
            </a:extLst>
          </p:cNvPr>
          <p:cNvSpPr txBox="1"/>
          <p:nvPr/>
        </p:nvSpPr>
        <p:spPr>
          <a:xfrm>
            <a:off x="9227563" y="3179159"/>
            <a:ext cx="1783159" cy="830997"/>
          </a:xfrm>
          <a:prstGeom prst="rect">
            <a:avLst/>
          </a:prstGeom>
          <a:noFill/>
          <a:ln w="19050">
            <a:solidFill>
              <a:schemeClr val="tx1"/>
            </a:solidFill>
          </a:ln>
        </p:spPr>
        <p:txBody>
          <a:bodyPr wrap="square">
            <a:spAutoFit/>
          </a:bodyPr>
          <a:lstStyle/>
          <a:p>
            <a:pPr algn="ctr"/>
            <a:r>
              <a:rPr lang="en-US" sz="1600" dirty="0"/>
              <a:t>Grandparent used to grind coffee by hand?</a:t>
            </a:r>
            <a:endParaRPr lang="en-GB" sz="1600" dirty="0"/>
          </a:p>
        </p:txBody>
      </p:sp>
      <p:sp>
        <p:nvSpPr>
          <p:cNvPr id="28" name="TextBox 27">
            <a:extLst>
              <a:ext uri="{FF2B5EF4-FFF2-40B4-BE49-F238E27FC236}">
                <a16:creationId xmlns:a16="http://schemas.microsoft.com/office/drawing/2014/main" id="{701FD862-F6F9-40B0-8B2D-D0B3A5F943AC}"/>
              </a:ext>
            </a:extLst>
          </p:cNvPr>
          <p:cNvSpPr txBox="1"/>
          <p:nvPr/>
        </p:nvSpPr>
        <p:spPr>
          <a:xfrm>
            <a:off x="7784184" y="2008435"/>
            <a:ext cx="2399250" cy="584775"/>
          </a:xfrm>
          <a:prstGeom prst="rect">
            <a:avLst/>
          </a:prstGeom>
          <a:noFill/>
          <a:ln w="19050">
            <a:solidFill>
              <a:schemeClr val="tx1"/>
            </a:solidFill>
          </a:ln>
        </p:spPr>
        <p:txBody>
          <a:bodyPr wrap="square">
            <a:spAutoFit/>
          </a:bodyPr>
          <a:lstStyle/>
          <a:p>
            <a:pPr algn="ctr"/>
            <a:r>
              <a:rPr lang="en-US" sz="1600" dirty="0"/>
              <a:t>Was nostalgic for grandparent’s coffee?</a:t>
            </a:r>
            <a:endParaRPr lang="en-GB" sz="1600" dirty="0"/>
          </a:p>
        </p:txBody>
      </p:sp>
      <p:sp>
        <p:nvSpPr>
          <p:cNvPr id="29" name="Oval 28">
            <a:extLst>
              <a:ext uri="{FF2B5EF4-FFF2-40B4-BE49-F238E27FC236}">
                <a16:creationId xmlns:a16="http://schemas.microsoft.com/office/drawing/2014/main" id="{9E2D86AF-820C-49E9-960D-274C6E928762}"/>
              </a:ext>
            </a:extLst>
          </p:cNvPr>
          <p:cNvSpPr/>
          <p:nvPr/>
        </p:nvSpPr>
        <p:spPr>
          <a:xfrm>
            <a:off x="4991450" y="2469313"/>
            <a:ext cx="2147581" cy="208569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Connector: Elbow 35">
            <a:extLst>
              <a:ext uri="{FF2B5EF4-FFF2-40B4-BE49-F238E27FC236}">
                <a16:creationId xmlns:a16="http://schemas.microsoft.com/office/drawing/2014/main" id="{AA2C6BB7-8CC6-49BD-9083-151ABD8B0B94}"/>
              </a:ext>
            </a:extLst>
          </p:cNvPr>
          <p:cNvCxnSpPr>
            <a:stCxn id="14" idx="2"/>
            <a:endCxn id="16" idx="1"/>
          </p:cNvCxnSpPr>
          <p:nvPr/>
        </p:nvCxnSpPr>
        <p:spPr>
          <a:xfrm rot="16200000" flipH="1">
            <a:off x="-23052" y="2488453"/>
            <a:ext cx="3180690" cy="37620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F2E38404-025A-4597-A1E8-AD85305108EC}"/>
              </a:ext>
            </a:extLst>
          </p:cNvPr>
          <p:cNvCxnSpPr>
            <a:stCxn id="14" idx="3"/>
            <a:endCxn id="10" idx="0"/>
          </p:cNvCxnSpPr>
          <p:nvPr/>
        </p:nvCxnSpPr>
        <p:spPr>
          <a:xfrm>
            <a:off x="2515897" y="670714"/>
            <a:ext cx="131080" cy="68927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453D70BD-ED09-42A4-BD37-C8F18259DCF6}"/>
              </a:ext>
            </a:extLst>
          </p:cNvPr>
          <p:cNvCxnSpPr>
            <a:stCxn id="10" idx="3"/>
            <a:endCxn id="12" idx="0"/>
          </p:cNvCxnSpPr>
          <p:nvPr/>
        </p:nvCxnSpPr>
        <p:spPr>
          <a:xfrm>
            <a:off x="3538556" y="1898601"/>
            <a:ext cx="174424" cy="96722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A67E55B9-28C9-4892-AEA1-137DC9EE27C8}"/>
              </a:ext>
            </a:extLst>
          </p:cNvPr>
          <p:cNvCxnSpPr>
            <a:stCxn id="12" idx="3"/>
            <a:endCxn id="29" idx="2"/>
          </p:cNvCxnSpPr>
          <p:nvPr/>
        </p:nvCxnSpPr>
        <p:spPr>
          <a:xfrm>
            <a:off x="4523042" y="3281328"/>
            <a:ext cx="468408" cy="23083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20A43608-2A73-4E4C-9000-DED1CFC482ED}"/>
              </a:ext>
            </a:extLst>
          </p:cNvPr>
          <p:cNvCxnSpPr>
            <a:stCxn id="6" idx="2"/>
            <a:endCxn id="29" idx="0"/>
          </p:cNvCxnSpPr>
          <p:nvPr/>
        </p:nvCxnSpPr>
        <p:spPr>
          <a:xfrm rot="5400000">
            <a:off x="5312136" y="1716206"/>
            <a:ext cx="1506213"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E579FB9E-AA4B-4E3D-B8E4-C2C32CAE704A}"/>
              </a:ext>
            </a:extLst>
          </p:cNvPr>
          <p:cNvCxnSpPr>
            <a:stCxn id="22" idx="0"/>
            <a:endCxn id="24" idx="2"/>
          </p:cNvCxnSpPr>
          <p:nvPr/>
        </p:nvCxnSpPr>
        <p:spPr>
          <a:xfrm rot="16200000" flipV="1">
            <a:off x="10760921" y="5285218"/>
            <a:ext cx="370505" cy="749090"/>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0261502F-6CAA-44E2-8907-845416A80AA8}"/>
              </a:ext>
            </a:extLst>
          </p:cNvPr>
          <p:cNvCxnSpPr>
            <a:stCxn id="24" idx="0"/>
            <a:endCxn id="26" idx="2"/>
          </p:cNvCxnSpPr>
          <p:nvPr/>
        </p:nvCxnSpPr>
        <p:spPr>
          <a:xfrm rot="16200000" flipV="1">
            <a:off x="10151818" y="3977481"/>
            <a:ext cx="387136" cy="452485"/>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D506CACB-8EC8-4F3B-8266-5C5CF2C67D4B}"/>
              </a:ext>
            </a:extLst>
          </p:cNvPr>
          <p:cNvCxnSpPr>
            <a:stCxn id="26" idx="0"/>
            <a:endCxn id="28" idx="2"/>
          </p:cNvCxnSpPr>
          <p:nvPr/>
        </p:nvCxnSpPr>
        <p:spPr>
          <a:xfrm rot="16200000" flipV="1">
            <a:off x="9258502" y="2318518"/>
            <a:ext cx="585949" cy="1135334"/>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0E1A4903-BC41-4EED-BECC-2E49E3144D85}"/>
              </a:ext>
            </a:extLst>
          </p:cNvPr>
          <p:cNvCxnSpPr>
            <a:stCxn id="28" idx="1"/>
            <a:endCxn id="29" idx="6"/>
          </p:cNvCxnSpPr>
          <p:nvPr/>
        </p:nvCxnSpPr>
        <p:spPr>
          <a:xfrm rot="10800000" flipV="1">
            <a:off x="7139032" y="2300822"/>
            <a:ext cx="645153" cy="1211337"/>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28349C72-9787-4049-AF79-005A291DA6EF}"/>
              </a:ext>
            </a:extLst>
          </p:cNvPr>
          <p:cNvCxnSpPr>
            <a:stCxn id="16" idx="3"/>
            <a:endCxn id="29" idx="2"/>
          </p:cNvCxnSpPr>
          <p:nvPr/>
        </p:nvCxnSpPr>
        <p:spPr>
          <a:xfrm flipV="1">
            <a:off x="3538556" y="3512160"/>
            <a:ext cx="1452894" cy="754742"/>
          </a:xfrm>
          <a:prstGeom prst="bentConnector3">
            <a:avLst>
              <a:gd name="adj1" fmla="val 8364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9DBA518F-6917-43AE-A2D4-5860FD3B4A02}"/>
              </a:ext>
            </a:extLst>
          </p:cNvPr>
          <p:cNvCxnSpPr>
            <a:stCxn id="20" idx="0"/>
            <a:endCxn id="29" idx="4"/>
          </p:cNvCxnSpPr>
          <p:nvPr/>
        </p:nvCxnSpPr>
        <p:spPr>
          <a:xfrm rot="5400000" flipH="1" flipV="1">
            <a:off x="5866084" y="4754162"/>
            <a:ext cx="398312" cy="2"/>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9AF8724-4C20-40A6-A76C-EDC52A2CB53F}"/>
              </a:ext>
            </a:extLst>
          </p:cNvPr>
          <p:cNvCxnSpPr>
            <a:stCxn id="18" idx="0"/>
            <a:endCxn id="20" idx="2"/>
          </p:cNvCxnSpPr>
          <p:nvPr/>
        </p:nvCxnSpPr>
        <p:spPr>
          <a:xfrm flipV="1">
            <a:off x="6061047" y="6030537"/>
            <a:ext cx="4192" cy="406174"/>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6F9639A4-1E4F-4228-87E7-E9BCDC6FA60D}"/>
              </a:ext>
            </a:extLst>
          </p:cNvPr>
          <p:cNvSpPr txBox="1"/>
          <p:nvPr/>
        </p:nvSpPr>
        <p:spPr>
          <a:xfrm>
            <a:off x="8429196" y="966376"/>
            <a:ext cx="3379891" cy="338554"/>
          </a:xfrm>
          <a:prstGeom prst="rect">
            <a:avLst/>
          </a:prstGeom>
          <a:noFill/>
          <a:ln w="19050">
            <a:solidFill>
              <a:schemeClr val="tx1"/>
            </a:solidFill>
          </a:ln>
        </p:spPr>
        <p:txBody>
          <a:bodyPr wrap="square">
            <a:spAutoFit/>
          </a:bodyPr>
          <a:lstStyle/>
          <a:p>
            <a:pPr algn="ctr"/>
            <a:r>
              <a:rPr lang="en-US" sz="1600" dirty="0"/>
              <a:t>Did you drink coffee yesterday?</a:t>
            </a:r>
            <a:endParaRPr lang="en-GB" sz="1600" dirty="0"/>
          </a:p>
        </p:txBody>
      </p:sp>
      <p:cxnSp>
        <p:nvCxnSpPr>
          <p:cNvPr id="71" name="Connector: Elbow 70">
            <a:extLst>
              <a:ext uri="{FF2B5EF4-FFF2-40B4-BE49-F238E27FC236}">
                <a16:creationId xmlns:a16="http://schemas.microsoft.com/office/drawing/2014/main" id="{CE972D54-63F6-4B51-87F3-5ED782B994A5}"/>
              </a:ext>
            </a:extLst>
          </p:cNvPr>
          <p:cNvCxnSpPr>
            <a:stCxn id="69" idx="1"/>
            <a:endCxn id="29" idx="7"/>
          </p:cNvCxnSpPr>
          <p:nvPr/>
        </p:nvCxnSpPr>
        <p:spPr>
          <a:xfrm rot="10800000" flipV="1">
            <a:off x="6824526" y="1135652"/>
            <a:ext cx="1604671" cy="1639103"/>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47817476-093B-4DAF-9A9D-C26D1647227F}"/>
              </a:ext>
            </a:extLst>
          </p:cNvPr>
          <p:cNvCxnSpPr>
            <a:stCxn id="14" idx="3"/>
            <a:endCxn id="6" idx="1"/>
          </p:cNvCxnSpPr>
          <p:nvPr/>
        </p:nvCxnSpPr>
        <p:spPr>
          <a:xfrm flipV="1">
            <a:off x="2515897" y="670713"/>
            <a:ext cx="2845718"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5222706C-1AF0-4BE6-B8F4-422F8C251580}"/>
              </a:ext>
            </a:extLst>
          </p:cNvPr>
          <p:cNvCxnSpPr>
            <a:stCxn id="14" idx="1"/>
            <a:endCxn id="18" idx="1"/>
          </p:cNvCxnSpPr>
          <p:nvPr/>
        </p:nvCxnSpPr>
        <p:spPr>
          <a:xfrm rot="10800000" flipH="1" flipV="1">
            <a:off x="242481" y="670714"/>
            <a:ext cx="5110744" cy="5935274"/>
          </a:xfrm>
          <a:prstGeom prst="bentConnector3">
            <a:avLst>
              <a:gd name="adj1" fmla="val -238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662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500"/>
                                        <p:tgtEl>
                                          <p:spTgt spid="6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fade">
                                      <p:cBhvr>
                                        <p:cTn id="57" dur="500"/>
                                        <p:tgtEl>
                                          <p:spTgt spid="59"/>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7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7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nodeType="with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fade">
                                      <p:cBhvr>
                                        <p:cTn id="84" dur="500"/>
                                        <p:tgtEl>
                                          <p:spTgt spid="4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nodeType="with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500"/>
                                        <p:tgtEl>
                                          <p:spTgt spid="50"/>
                                        </p:tgtEl>
                                      </p:cBhvr>
                                    </p:animEffect>
                                  </p:childTnLst>
                                </p:cTn>
                              </p:par>
                              <p:par>
                                <p:cTn id="93" presetID="10"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69"/>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14" grpId="0" animBg="1"/>
      <p:bldP spid="16" grpId="0" animBg="1"/>
      <p:bldP spid="18" grpId="0" animBg="1"/>
      <p:bldP spid="20" grpId="0" animBg="1"/>
      <p:bldP spid="22" grpId="0" animBg="1"/>
      <p:bldP spid="24" grpId="0" animBg="1"/>
      <p:bldP spid="26" grpId="0" animBg="1"/>
      <p:bldP spid="28" grpId="0" animBg="1"/>
      <p:bldP spid="6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36" name="Picture 35">
            <a:extLst>
              <a:ext uri="{FF2B5EF4-FFF2-40B4-BE49-F238E27FC236}">
                <a16:creationId xmlns:a16="http://schemas.microsoft.com/office/drawing/2014/main" id="{ADB25E1E-4B0B-1EF9-0DA5-0B3D58BF5B27}"/>
              </a:ext>
            </a:extLst>
          </p:cNvPr>
          <p:cNvPicPr>
            <a:picLocks noChangeAspect="1"/>
          </p:cNvPicPr>
          <p:nvPr/>
        </p:nvPicPr>
        <p:blipFill>
          <a:blip r:embed="rId3"/>
          <a:stretch>
            <a:fillRect/>
          </a:stretch>
        </p:blipFill>
        <p:spPr>
          <a:xfrm>
            <a:off x="5372356" y="0"/>
            <a:ext cx="6819644" cy="4542798"/>
          </a:xfrm>
          <a:prstGeom prst="rect">
            <a:avLst/>
          </a:prstGeom>
        </p:spPr>
      </p:pic>
      <p:sp>
        <p:nvSpPr>
          <p:cNvPr id="9" name="Title 1">
            <a:extLst>
              <a:ext uri="{FF2B5EF4-FFF2-40B4-BE49-F238E27FC236}">
                <a16:creationId xmlns:a16="http://schemas.microsoft.com/office/drawing/2014/main" id="{87B21766-57B8-FE9F-023C-01A1F8206E66}"/>
              </a:ext>
            </a:extLst>
          </p:cNvPr>
          <p:cNvSpPr>
            <a:spLocks noGrp="1"/>
          </p:cNvSpPr>
          <p:nvPr>
            <p:ph type="title"/>
          </p:nvPr>
        </p:nvSpPr>
        <p:spPr>
          <a:xfrm>
            <a:off x="0" y="0"/>
            <a:ext cx="12192000" cy="1325563"/>
          </a:xfrm>
        </p:spPr>
        <p:txBody>
          <a:bodyPr anchor="ctr">
            <a:normAutofit fontScale="90000"/>
          </a:bodyPr>
          <a:lstStyle/>
          <a:p>
            <a:pPr algn="ctr"/>
            <a:r>
              <a:rPr lang="en-GB" sz="5400" dirty="0">
                <a:latin typeface="Bahnschrift Light" panose="020B0502040204020203" pitchFamily="34" charset="0"/>
              </a:rPr>
              <a:t>If you drink coffee, what is the average number of coffees you drink in a year?</a:t>
            </a:r>
          </a:p>
        </p:txBody>
      </p:sp>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127591" y="1726250"/>
            <a:ext cx="6730412" cy="4690618"/>
          </a:xfrm>
          <a:prstGeom prst="rect">
            <a:avLst/>
          </a:prstGeom>
        </p:spPr>
        <p:txBody>
          <a:bodyPr spcFirstLastPara="1" vert="horz" wrap="square" lIns="121900" tIns="121900" rIns="121900" bIns="121900" rtlCol="0" anchor="t" anchorCtr="0">
            <a:noAutofit/>
          </a:bodyPr>
          <a:lstStyle/>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The response will be a value (e.g. 522.6).</a:t>
            </a:r>
          </a:p>
          <a:p>
            <a:pPr marL="0" indent="0">
              <a:buNone/>
            </a:pPr>
            <a:endParaRPr lang="en-US" dirty="0">
              <a:latin typeface="Bahnschrift Light" panose="020B0502040204020203" pitchFamily="34" charset="0"/>
            </a:endParaRPr>
          </a:p>
          <a:p>
            <a:pPr marL="0" indent="0">
              <a:buNone/>
            </a:pPr>
            <a:r>
              <a:rPr lang="en-GB" dirty="0">
                <a:latin typeface="Bahnschrift Light" panose="020B0502040204020203" pitchFamily="34" charset="0"/>
              </a:rPr>
              <a:t>Given your answer, the more interesting question is why do you drink that many?</a:t>
            </a:r>
          </a:p>
          <a:p>
            <a:pPr marL="0" indent="0">
              <a:buNone/>
            </a:pPr>
            <a:endParaRPr lang="en-GB" dirty="0">
              <a:latin typeface="Bahnschrift Light" panose="020B0502040204020203" pitchFamily="34" charset="0"/>
            </a:endParaRPr>
          </a:p>
          <a:p>
            <a:pPr marL="0" indent="0">
              <a:buNone/>
            </a:pPr>
            <a:r>
              <a:rPr lang="en-GB" dirty="0">
                <a:latin typeface="Bahnschrift Light" panose="020B0502040204020203" pitchFamily="34" charset="0"/>
              </a:rPr>
              <a:t>For each of us, there is some unknown average number of coffees, that we drink in a year, </a:t>
            </a:r>
            <a:br>
              <a:rPr lang="en-GB" dirty="0">
                <a:latin typeface="Bahnschrift Light" panose="020B0502040204020203" pitchFamily="34" charset="0"/>
              </a:rPr>
            </a:br>
            <a:r>
              <a:rPr lang="en-GB" dirty="0">
                <a:latin typeface="Bahnschrift Light" panose="020B0502040204020203" pitchFamily="34" charset="0"/>
              </a:rPr>
              <a:t>which is </a:t>
            </a:r>
            <a:r>
              <a:rPr lang="en-GB" i="1" dirty="0">
                <a:latin typeface="Bahnschrift Light" panose="020B0502040204020203" pitchFamily="34" charset="0"/>
              </a:rPr>
              <a:t>determined</a:t>
            </a:r>
            <a:r>
              <a:rPr lang="en-GB" dirty="0">
                <a:latin typeface="Bahnschrift Light" panose="020B0502040204020203" pitchFamily="34" charset="0"/>
              </a:rPr>
              <a:t> by some set of </a:t>
            </a:r>
            <a:br>
              <a:rPr lang="en-GB" dirty="0">
                <a:latin typeface="Bahnschrift Light" panose="020B0502040204020203" pitchFamily="34" charset="0"/>
              </a:rPr>
            </a:br>
            <a:r>
              <a:rPr lang="en-GB" dirty="0">
                <a:latin typeface="Bahnschrift Light" panose="020B0502040204020203" pitchFamily="34" charset="0"/>
              </a:rPr>
              <a:t>explanatory </a:t>
            </a:r>
            <a:r>
              <a:rPr lang="en-GB" i="1" dirty="0">
                <a:latin typeface="Bahnschrift Light" panose="020B0502040204020203" pitchFamily="34" charset="0"/>
              </a:rPr>
              <a:t>variables</a:t>
            </a:r>
            <a:r>
              <a:rPr lang="en-GB" dirty="0">
                <a:latin typeface="Bahnschrift Light" panose="020B0502040204020203" pitchFamily="34" charset="0"/>
              </a:rPr>
              <a:t>.</a:t>
            </a:r>
            <a:endParaRPr dirty="0">
              <a:latin typeface="Bahnschrift Light" panose="020B0502040204020203" pitchFamily="34" charset="0"/>
            </a:endParaRPr>
          </a:p>
        </p:txBody>
      </p:sp>
      <p:grpSp>
        <p:nvGrpSpPr>
          <p:cNvPr id="2" name="Group 1">
            <a:extLst>
              <a:ext uri="{FF2B5EF4-FFF2-40B4-BE49-F238E27FC236}">
                <a16:creationId xmlns:a16="http://schemas.microsoft.com/office/drawing/2014/main" id="{02D21616-E55C-F73B-C679-C7585F45DF70}"/>
              </a:ext>
            </a:extLst>
          </p:cNvPr>
          <p:cNvGrpSpPr/>
          <p:nvPr/>
        </p:nvGrpSpPr>
        <p:grpSpPr>
          <a:xfrm>
            <a:off x="7521390" y="5157239"/>
            <a:ext cx="3608231" cy="1209171"/>
            <a:chOff x="7521390" y="5157239"/>
            <a:chExt cx="3608231" cy="1209171"/>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A4F0D0-3DBC-4026-AC8C-1A4D7131F5BC}"/>
                    </a:ext>
                  </a:extLst>
                </p:cNvPr>
                <p:cNvSpPr txBox="1"/>
                <p:nvPr/>
              </p:nvSpPr>
              <p:spPr>
                <a:xfrm>
                  <a:off x="7521390" y="5157239"/>
                  <a:ext cx="36082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GB" sz="3200" b="0" i="1" smtClean="0">
                            <a:latin typeface="Cambria Math" panose="02040503050406030204" pitchFamily="18" charset="0"/>
                          </a:rPr>
                          <m:t>𝑁𝑜𝑟𝑚𝑎𝑙</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𝜎</m:t>
                            </m:r>
                          </m:e>
                          <m:sub>
                            <m:r>
                              <a:rPr lang="en-GB" sz="3200" b="0" i="1" smtClean="0">
                                <a:latin typeface="Cambria Math" panose="02040503050406030204" pitchFamily="18" charset="0"/>
                              </a:rPr>
                              <m:t>𝑖</m:t>
                            </m:r>
                          </m:sub>
                        </m:sSub>
                        <m:r>
                          <a:rPr lang="en-US" sz="3200" b="0" i="1" smtClean="0">
                            <a:latin typeface="Cambria Math" panose="02040503050406030204" pitchFamily="18" charset="0"/>
                          </a:rPr>
                          <m:t>)</m:t>
                        </m:r>
                      </m:oMath>
                    </m:oMathPara>
                  </a14:m>
                  <a:endParaRPr lang="en-GB" sz="3200" dirty="0"/>
                </a:p>
              </p:txBody>
            </p:sp>
          </mc:Choice>
          <mc:Fallback xmlns="">
            <p:sp>
              <p:nvSpPr>
                <p:cNvPr id="5" name="TextBox 4">
                  <a:extLst>
                    <a:ext uri="{FF2B5EF4-FFF2-40B4-BE49-F238E27FC236}">
                      <a16:creationId xmlns:a16="http://schemas.microsoft.com/office/drawing/2014/main" id="{70A4F0D0-3DBC-4026-AC8C-1A4D7131F5BC}"/>
                    </a:ext>
                  </a:extLst>
                </p:cNvPr>
                <p:cNvSpPr txBox="1">
                  <a:spLocks noRot="1" noChangeAspect="1" noMove="1" noResize="1" noEditPoints="1" noAdjustHandles="1" noChangeArrowheads="1" noChangeShapeType="1" noTextEdit="1"/>
                </p:cNvSpPr>
                <p:nvPr/>
              </p:nvSpPr>
              <p:spPr>
                <a:xfrm>
                  <a:off x="7521390" y="5157239"/>
                  <a:ext cx="3608231" cy="49244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4ECBC21-62FF-4DE1-BF7D-92A6D3C5EFCC}"/>
                    </a:ext>
                  </a:extLst>
                </p:cNvPr>
                <p:cNvSpPr txBox="1"/>
                <p:nvPr/>
              </p:nvSpPr>
              <p:spPr>
                <a:xfrm>
                  <a:off x="7521390" y="5873967"/>
                  <a:ext cx="152772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𝑋</m:t>
                        </m:r>
                        <m:r>
                          <a:rPr lang="en-US" sz="3200" b="0" i="1" smtClean="0">
                            <a:latin typeface="Cambria Math" panose="02040503050406030204" pitchFamily="18" charset="0"/>
                          </a:rPr>
                          <m:t>𝛽</m:t>
                        </m:r>
                      </m:oMath>
                    </m:oMathPara>
                  </a14:m>
                  <a:endParaRPr lang="en-GB" sz="3200" dirty="0"/>
                </a:p>
              </p:txBody>
            </p:sp>
          </mc:Choice>
          <mc:Fallback>
            <p:sp>
              <p:nvSpPr>
                <p:cNvPr id="7" name="TextBox 6">
                  <a:extLst>
                    <a:ext uri="{FF2B5EF4-FFF2-40B4-BE49-F238E27FC236}">
                      <a16:creationId xmlns:a16="http://schemas.microsoft.com/office/drawing/2014/main" id="{64ECBC21-62FF-4DE1-BF7D-92A6D3C5EFCC}"/>
                    </a:ext>
                  </a:extLst>
                </p:cNvPr>
                <p:cNvSpPr txBox="1">
                  <a:spLocks noRot="1" noChangeAspect="1" noMove="1" noResize="1" noEditPoints="1" noAdjustHandles="1" noChangeArrowheads="1" noChangeShapeType="1" noTextEdit="1"/>
                </p:cNvSpPr>
                <p:nvPr/>
              </p:nvSpPr>
              <p:spPr>
                <a:xfrm>
                  <a:off x="7521390" y="5873967"/>
                  <a:ext cx="1527726" cy="492443"/>
                </a:xfrm>
                <a:prstGeom prst="rect">
                  <a:avLst/>
                </a:prstGeom>
                <a:blipFill>
                  <a:blip r:embed="rId5"/>
                  <a:stretch>
                    <a:fillRect t="-28750" r="-19200" b="-47500"/>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AB489590-0591-4AE0-B9F9-F6F6EF03AE3A}"/>
              </a:ext>
            </a:extLst>
          </p:cNvPr>
          <p:cNvGrpSpPr/>
          <p:nvPr/>
        </p:nvGrpSpPr>
        <p:grpSpPr>
          <a:xfrm>
            <a:off x="890588" y="2214368"/>
            <a:ext cx="7050305" cy="3441374"/>
            <a:chOff x="890588" y="2214368"/>
            <a:chExt cx="7050305" cy="3441374"/>
          </a:xfrm>
        </p:grpSpPr>
        <p:sp>
          <p:nvSpPr>
            <p:cNvPr id="11" name="Rectangle 10">
              <a:extLst>
                <a:ext uri="{FF2B5EF4-FFF2-40B4-BE49-F238E27FC236}">
                  <a16:creationId xmlns:a16="http://schemas.microsoft.com/office/drawing/2014/main" id="{05596422-935E-4022-9888-7394787E941F}"/>
                </a:ext>
              </a:extLst>
            </p:cNvPr>
            <p:cNvSpPr/>
            <p:nvPr/>
          </p:nvSpPr>
          <p:spPr>
            <a:xfrm>
              <a:off x="890588" y="2214368"/>
              <a:ext cx="1533525" cy="411116"/>
            </a:xfrm>
            <a:prstGeom prst="rect">
              <a:avLst/>
            </a:prstGeom>
            <a:noFill/>
            <a:ln w="38100">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Rounded Corners 11">
              <a:extLst>
                <a:ext uri="{FF2B5EF4-FFF2-40B4-BE49-F238E27FC236}">
                  <a16:creationId xmlns:a16="http://schemas.microsoft.com/office/drawing/2014/main" id="{36E3CAB0-F281-48B4-B632-D1F42390B074}"/>
                </a:ext>
              </a:extLst>
            </p:cNvPr>
            <p:cNvSpPr/>
            <p:nvPr/>
          </p:nvSpPr>
          <p:spPr>
            <a:xfrm>
              <a:off x="7538117" y="5216606"/>
              <a:ext cx="402776" cy="439136"/>
            </a:xfrm>
            <a:prstGeom prst="roundRect">
              <a:avLst/>
            </a:prstGeom>
            <a:noFill/>
            <a:ln w="28575">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D28C55A4-C49B-4D37-8B07-2CE7CB6B3787}"/>
              </a:ext>
            </a:extLst>
          </p:cNvPr>
          <p:cNvGrpSpPr/>
          <p:nvPr/>
        </p:nvGrpSpPr>
        <p:grpSpPr>
          <a:xfrm>
            <a:off x="219767" y="4535923"/>
            <a:ext cx="10148188" cy="1850512"/>
            <a:chOff x="1014878" y="4535923"/>
            <a:chExt cx="6753221" cy="1850512"/>
          </a:xfrm>
        </p:grpSpPr>
        <p:sp>
          <p:nvSpPr>
            <p:cNvPr id="46" name="Rectangle: Rounded Corners 45">
              <a:extLst>
                <a:ext uri="{FF2B5EF4-FFF2-40B4-BE49-F238E27FC236}">
                  <a16:creationId xmlns:a16="http://schemas.microsoft.com/office/drawing/2014/main" id="{64BFA693-DCE4-4AFE-9106-647ED915C76D}"/>
                </a:ext>
              </a:extLst>
            </p:cNvPr>
            <p:cNvSpPr/>
            <p:nvPr/>
          </p:nvSpPr>
          <p:spPr>
            <a:xfrm>
              <a:off x="7503847" y="5216606"/>
              <a:ext cx="264252" cy="441365"/>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9" name="Group 18">
              <a:extLst>
                <a:ext uri="{FF2B5EF4-FFF2-40B4-BE49-F238E27FC236}">
                  <a16:creationId xmlns:a16="http://schemas.microsoft.com/office/drawing/2014/main" id="{6FFA9890-8C09-4FE9-A22A-EC53A8134235}"/>
                </a:ext>
              </a:extLst>
            </p:cNvPr>
            <p:cNvGrpSpPr/>
            <p:nvPr/>
          </p:nvGrpSpPr>
          <p:grpSpPr>
            <a:xfrm>
              <a:off x="1014878" y="4535923"/>
              <a:ext cx="5138106" cy="1850512"/>
              <a:chOff x="1014878" y="4535923"/>
              <a:chExt cx="5138106" cy="1850512"/>
            </a:xfrm>
          </p:grpSpPr>
          <p:sp>
            <p:nvSpPr>
              <p:cNvPr id="42" name="Rectangle 41">
                <a:extLst>
                  <a:ext uri="{FF2B5EF4-FFF2-40B4-BE49-F238E27FC236}">
                    <a16:creationId xmlns:a16="http://schemas.microsoft.com/office/drawing/2014/main" id="{E722088A-DBD5-4BA8-BFEF-8E71175E1F26}"/>
                  </a:ext>
                </a:extLst>
              </p:cNvPr>
              <p:cNvSpPr/>
              <p:nvPr/>
            </p:nvSpPr>
            <p:spPr>
              <a:xfrm>
                <a:off x="1014878" y="4535923"/>
                <a:ext cx="2884425" cy="379133"/>
              </a:xfrm>
              <a:prstGeom prst="rect">
                <a:avLst/>
              </a:prstGeom>
              <a:noFill/>
              <a:ln w="38100">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Rounded Corners 46">
                <a:extLst>
                  <a:ext uri="{FF2B5EF4-FFF2-40B4-BE49-F238E27FC236}">
                    <a16:creationId xmlns:a16="http://schemas.microsoft.com/office/drawing/2014/main" id="{36AB0B07-6621-47E7-97BF-DA1B977FD90E}"/>
                  </a:ext>
                </a:extLst>
              </p:cNvPr>
              <p:cNvSpPr/>
              <p:nvPr/>
            </p:nvSpPr>
            <p:spPr>
              <a:xfrm>
                <a:off x="5873823" y="5893992"/>
                <a:ext cx="279161" cy="492443"/>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 name="Group 20">
            <a:extLst>
              <a:ext uri="{FF2B5EF4-FFF2-40B4-BE49-F238E27FC236}">
                <a16:creationId xmlns:a16="http://schemas.microsoft.com/office/drawing/2014/main" id="{9A6854F8-1D7B-4E84-AAFB-F147BDE19CAE}"/>
              </a:ext>
            </a:extLst>
          </p:cNvPr>
          <p:cNvGrpSpPr/>
          <p:nvPr/>
        </p:nvGrpSpPr>
        <p:grpSpPr>
          <a:xfrm>
            <a:off x="192518" y="5309768"/>
            <a:ext cx="8876759" cy="1076667"/>
            <a:chOff x="-1421267" y="5603758"/>
            <a:chExt cx="8876759" cy="1076667"/>
          </a:xfrm>
        </p:grpSpPr>
        <p:sp>
          <p:nvSpPr>
            <p:cNvPr id="43" name="Rectangle 42">
              <a:extLst>
                <a:ext uri="{FF2B5EF4-FFF2-40B4-BE49-F238E27FC236}">
                  <a16:creationId xmlns:a16="http://schemas.microsoft.com/office/drawing/2014/main" id="{ED52917F-8F6B-4630-81DC-4B6013FD7F93}"/>
                </a:ext>
              </a:extLst>
            </p:cNvPr>
            <p:cNvSpPr/>
            <p:nvPr/>
          </p:nvSpPr>
          <p:spPr>
            <a:xfrm>
              <a:off x="-1421267" y="5603758"/>
              <a:ext cx="5842049" cy="75248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Rounded Corners 47">
              <a:extLst>
                <a:ext uri="{FF2B5EF4-FFF2-40B4-BE49-F238E27FC236}">
                  <a16:creationId xmlns:a16="http://schemas.microsoft.com/office/drawing/2014/main" id="{578663CD-020D-4580-A43F-AEF629599CA7}"/>
                </a:ext>
              </a:extLst>
            </p:cNvPr>
            <p:cNvSpPr/>
            <p:nvPr/>
          </p:nvSpPr>
          <p:spPr>
            <a:xfrm>
              <a:off x="6814216" y="6187982"/>
              <a:ext cx="641276" cy="49244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Group 38">
            <a:extLst>
              <a:ext uri="{FF2B5EF4-FFF2-40B4-BE49-F238E27FC236}">
                <a16:creationId xmlns:a16="http://schemas.microsoft.com/office/drawing/2014/main" id="{F58FCE76-FFEA-4974-AD87-E5B269986550}"/>
              </a:ext>
            </a:extLst>
          </p:cNvPr>
          <p:cNvGrpSpPr/>
          <p:nvPr/>
        </p:nvGrpSpPr>
        <p:grpSpPr>
          <a:xfrm>
            <a:off x="4873840" y="2214368"/>
            <a:ext cx="5007007" cy="3443603"/>
            <a:chOff x="2631071" y="2566335"/>
            <a:chExt cx="5007007" cy="3443603"/>
          </a:xfrm>
        </p:grpSpPr>
        <p:sp>
          <p:nvSpPr>
            <p:cNvPr id="41" name="Rectangle 40">
              <a:extLst>
                <a:ext uri="{FF2B5EF4-FFF2-40B4-BE49-F238E27FC236}">
                  <a16:creationId xmlns:a16="http://schemas.microsoft.com/office/drawing/2014/main" id="{5311F149-F812-43A0-B4C5-75BFF1102750}"/>
                </a:ext>
              </a:extLst>
            </p:cNvPr>
            <p:cNvSpPr/>
            <p:nvPr/>
          </p:nvSpPr>
          <p:spPr>
            <a:xfrm>
              <a:off x="2631071" y="2566335"/>
              <a:ext cx="1695636" cy="41111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Rectangle: Rounded Corners 43">
              <a:extLst>
                <a:ext uri="{FF2B5EF4-FFF2-40B4-BE49-F238E27FC236}">
                  <a16:creationId xmlns:a16="http://schemas.microsoft.com/office/drawing/2014/main" id="{1D1F8316-F598-4AC9-82A1-A2BFA347CB3F}"/>
                </a:ext>
              </a:extLst>
            </p:cNvPr>
            <p:cNvSpPr/>
            <p:nvPr/>
          </p:nvSpPr>
          <p:spPr>
            <a:xfrm>
              <a:off x="6185232" y="5568573"/>
              <a:ext cx="1452846" cy="441365"/>
            </a:xfrm>
            <a:prstGeom prst="round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04502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1" end="1"/>
                                            </p:txEl>
                                          </p:spTgt>
                                        </p:tgtEl>
                                        <p:attrNameLst>
                                          <p:attrName>style.visibility</p:attrName>
                                        </p:attrNameLst>
                                      </p:cBhvr>
                                      <p:to>
                                        <p:strVal val="visible"/>
                                      </p:to>
                                    </p:set>
                                    <p:animEffect transition="in" filter="fade">
                                      <p:cBhvr>
                                        <p:cTn id="7" dur="1000"/>
                                        <p:tgtEl>
                                          <p:spTgt spid="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3" end="3"/>
                                            </p:txEl>
                                          </p:spTgt>
                                        </p:tgtEl>
                                        <p:attrNameLst>
                                          <p:attrName>style.visibility</p:attrName>
                                        </p:attrNameLst>
                                      </p:cBhvr>
                                      <p:to>
                                        <p:strVal val="visible"/>
                                      </p:to>
                                    </p:set>
                                    <p:animEffect transition="in" filter="fade">
                                      <p:cBhvr>
                                        <p:cTn id="12" dur="1000"/>
                                        <p:tgtEl>
                                          <p:spTgt spid="3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5" end="5"/>
                                            </p:txEl>
                                          </p:spTgt>
                                        </p:tgtEl>
                                        <p:attrNameLst>
                                          <p:attrName>style.visibility</p:attrName>
                                        </p:attrNameLst>
                                      </p:cBhvr>
                                      <p:to>
                                        <p:strVal val="visible"/>
                                      </p:to>
                                    </p:set>
                                    <p:animEffect transition="in" filter="fade">
                                      <p:cBhvr>
                                        <p:cTn id="17" dur="1000"/>
                                        <p:tgtEl>
                                          <p:spTgt spid="3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 name="Title 1">
            <a:extLst>
              <a:ext uri="{FF2B5EF4-FFF2-40B4-BE49-F238E27FC236}">
                <a16:creationId xmlns:a16="http://schemas.microsoft.com/office/drawing/2014/main" id="{96312335-CA1A-76C0-D2D3-BF1F58A8E45D}"/>
              </a:ext>
            </a:extLst>
          </p:cNvPr>
          <p:cNvSpPr>
            <a:spLocks noGrp="1"/>
          </p:cNvSpPr>
          <p:nvPr>
            <p:ph type="title"/>
          </p:nvPr>
        </p:nvSpPr>
        <p:spPr>
          <a:xfrm>
            <a:off x="0" y="0"/>
            <a:ext cx="12192000" cy="1325563"/>
          </a:xfrm>
        </p:spPr>
        <p:txBody>
          <a:bodyPr anchor="ctr">
            <a:normAutofit/>
          </a:bodyPr>
          <a:lstStyle/>
          <a:p>
            <a:pPr algn="ctr"/>
            <a:r>
              <a:rPr lang="en-GB" sz="5400" dirty="0">
                <a:latin typeface="Bahnschrift Light" panose="020B0502040204020203" pitchFamily="34" charset="0"/>
              </a:rPr>
              <a:t>First amongst equals</a:t>
            </a:r>
          </a:p>
        </p:txBody>
      </p:sp>
      <mc:AlternateContent xmlns:mc="http://schemas.openxmlformats.org/markup-compatibility/2006" xmlns:a14="http://schemas.microsoft.com/office/drawing/2010/main">
        <mc:Choice Requires="a14">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415598" y="1484183"/>
                <a:ext cx="10333083" cy="5170385"/>
              </a:xfrm>
              <a:prstGeom prst="rect">
                <a:avLst/>
              </a:prstGeom>
            </p:spPr>
            <p:txBody>
              <a:bodyPr spcFirstLastPara="1" vert="horz" wrap="square" lIns="121900" tIns="121900" rIns="121900" bIns="121900" rtlCol="0" anchor="t" anchorCtr="0">
                <a:noAutofit/>
              </a:bodyPr>
              <a:lstStyle/>
              <a:p>
                <a:pPr marL="0" indent="0">
                  <a:buNone/>
                </a:pPr>
                <a:r>
                  <a:rPr lang="en-US" dirty="0">
                    <a:latin typeface="Bahnschrift Light" panose="020B0502040204020203" pitchFamily="34" charset="0"/>
                  </a:rPr>
                  <a:t>Three broad purposes of statistics:</a:t>
                </a:r>
              </a:p>
              <a:p>
                <a:pPr marL="457200" indent="-457200"/>
                <a:r>
                  <a:rPr lang="en-US" dirty="0">
                    <a:latin typeface="Bahnschrift Light" panose="020B0502040204020203" pitchFamily="34" charset="0"/>
                  </a:rPr>
                  <a:t>Causal inference</a:t>
                </a:r>
              </a:p>
              <a:p>
                <a:pPr marL="457200" indent="-457200"/>
                <a:r>
                  <a:rPr lang="en-US" dirty="0">
                    <a:latin typeface="Bahnschrift Light" panose="020B0502040204020203" pitchFamily="34" charset="0"/>
                  </a:rPr>
                  <a:t>Prediction</a:t>
                </a:r>
              </a:p>
              <a:p>
                <a:pPr marL="457200" indent="-457200"/>
                <a:r>
                  <a:rPr lang="en-US" dirty="0">
                    <a:latin typeface="Bahnschrift Light" panose="020B0502040204020203" pitchFamily="34" charset="0"/>
                  </a:rPr>
                  <a:t>Descriptive</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Who do you think won the 2021 Japanese election?</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LDM have won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m:t>
                        </m:r>
                        <m:r>
                          <a:rPr lang="en-GB" b="0" i="1" smtClean="0">
                            <a:latin typeface="Cambria Math" panose="02040503050406030204" pitchFamily="18" charset="0"/>
                          </a:rPr>
                          <m:t>0</m:t>
                        </m:r>
                      </m:num>
                      <m:den>
                        <m:r>
                          <a:rPr lang="en-US" b="0" i="1" smtClean="0">
                            <a:latin typeface="Cambria Math" panose="02040503050406030204" pitchFamily="18" charset="0"/>
                          </a:rPr>
                          <m:t>2</m:t>
                        </m:r>
                        <m:r>
                          <a:rPr lang="en-GB" b="0" i="1" smtClean="0">
                            <a:latin typeface="Cambria Math" panose="02040503050406030204" pitchFamily="18" charset="0"/>
                          </a:rPr>
                          <m:t>1</m:t>
                        </m:r>
                      </m:den>
                    </m:f>
                    <m:r>
                      <a:rPr lang="en-US" b="0" i="1" smtClean="0">
                        <a:latin typeface="Cambria Math" panose="02040503050406030204" pitchFamily="18" charset="0"/>
                      </a:rPr>
                      <m:t>=95%</m:t>
                    </m:r>
                  </m:oMath>
                </a14:m>
                <a:r>
                  <a:rPr lang="en-US" dirty="0">
                    <a:latin typeface="Bahnschrift Light" panose="020B0502040204020203" pitchFamily="34" charset="0"/>
                  </a:rPr>
                  <a:t> (95% chance to win 2021).</a:t>
                </a:r>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𝑅𝑒𝑠𝑢𝑙</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𝑡</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𝑅𝑒𝑑</m:t>
                          </m:r>
                        </m:e>
                        <m:sub>
                          <m:r>
                            <a:rPr lang="en-GB" b="0" i="1" dirty="0" smtClean="0">
                              <a:latin typeface="Cambria Math" panose="02040503050406030204" pitchFamily="18" charset="0"/>
                            </a:rPr>
                            <m:t>𝑖</m:t>
                          </m:r>
                        </m:sub>
                      </m:sSub>
                    </m:oMath>
                  </m:oMathPara>
                </a14:m>
                <a:endParaRPr lang="en-US" dirty="0">
                  <a:latin typeface="Bahnschrift Light" panose="020B0502040204020203" pitchFamily="34" charset="0"/>
                </a:endParaRPr>
              </a:p>
            </p:txBody>
          </p:sp>
        </mc:Choice>
        <mc:Fallback xmlns="">
          <p:sp>
            <p:nvSpPr>
              <p:cNvPr id="32" name="Google Shape;371;p39">
                <a:extLst>
                  <a:ext uri="{FF2B5EF4-FFF2-40B4-BE49-F238E27FC236}">
                    <a16:creationId xmlns:a16="http://schemas.microsoft.com/office/drawing/2014/main" id="{5394189B-7847-4829-B059-EDBDC6134D1F}"/>
                  </a:ext>
                </a:extLst>
              </p:cNvPr>
              <p:cNvSpPr txBox="1">
                <a:spLocks noGrp="1" noRot="1" noChangeAspect="1" noMove="1" noResize="1" noEditPoints="1" noAdjustHandles="1" noChangeArrowheads="1" noChangeShapeType="1" noTextEdit="1"/>
              </p:cNvSpPr>
              <p:nvPr>
                <p:ph type="body" idx="1"/>
              </p:nvPr>
            </p:nvSpPr>
            <p:spPr>
              <a:xfrm>
                <a:off x="415598" y="1484183"/>
                <a:ext cx="10333083" cy="5170385"/>
              </a:xfrm>
              <a:prstGeom prst="rect">
                <a:avLst/>
              </a:prstGeom>
              <a:blipFill>
                <a:blip r:embed="rId3"/>
                <a:stretch>
                  <a:fillRect l="-885" t="-707"/>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F5983E3B-9ABE-4ABE-9135-B7859F6FB01C}"/>
              </a:ext>
            </a:extLst>
          </p:cNvPr>
          <p:cNvPicPr>
            <a:picLocks noChangeAspect="1"/>
          </p:cNvPicPr>
          <p:nvPr/>
        </p:nvPicPr>
        <p:blipFill rotWithShape="1">
          <a:blip r:embed="rId4"/>
          <a:srcRect l="61761" t="2313" r="26607"/>
          <a:stretch/>
        </p:blipFill>
        <p:spPr>
          <a:xfrm>
            <a:off x="10652129" y="158620"/>
            <a:ext cx="1418253" cy="6699380"/>
          </a:xfrm>
          <a:prstGeom prst="rect">
            <a:avLst/>
          </a:prstGeom>
        </p:spPr>
      </p:pic>
      <p:grpSp>
        <p:nvGrpSpPr>
          <p:cNvPr id="9" name="Group 8">
            <a:extLst>
              <a:ext uri="{FF2B5EF4-FFF2-40B4-BE49-F238E27FC236}">
                <a16:creationId xmlns:a16="http://schemas.microsoft.com/office/drawing/2014/main" id="{DB4F1A5C-4319-88DF-75BF-2E9B01EDA594}"/>
              </a:ext>
            </a:extLst>
          </p:cNvPr>
          <p:cNvGrpSpPr/>
          <p:nvPr/>
        </p:nvGrpSpPr>
        <p:grpSpPr>
          <a:xfrm>
            <a:off x="3768914" y="1971948"/>
            <a:ext cx="3114301" cy="1200329"/>
            <a:chOff x="3801795" y="3854877"/>
            <a:chExt cx="3114301" cy="1200329"/>
          </a:xfrm>
        </p:grpSpPr>
        <p:sp>
          <p:nvSpPr>
            <p:cNvPr id="6" name="Right Brace 5">
              <a:extLst>
                <a:ext uri="{FF2B5EF4-FFF2-40B4-BE49-F238E27FC236}">
                  <a16:creationId xmlns:a16="http://schemas.microsoft.com/office/drawing/2014/main" id="{D93CE428-D551-3EAF-F325-FF1EEFB4E06E}"/>
                </a:ext>
              </a:extLst>
            </p:cNvPr>
            <p:cNvSpPr/>
            <p:nvPr/>
          </p:nvSpPr>
          <p:spPr>
            <a:xfrm>
              <a:off x="3801795" y="3923414"/>
              <a:ext cx="180754" cy="106325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A92797B1-A8CA-202E-52FE-2A53A02756C7}"/>
                </a:ext>
              </a:extLst>
            </p:cNvPr>
            <p:cNvSpPr txBox="1"/>
            <p:nvPr/>
          </p:nvSpPr>
          <p:spPr>
            <a:xfrm>
              <a:off x="4151631" y="3854877"/>
              <a:ext cx="2764465" cy="1200329"/>
            </a:xfrm>
            <a:prstGeom prst="rect">
              <a:avLst/>
            </a:prstGeom>
            <a:noFill/>
          </p:spPr>
          <p:txBody>
            <a:bodyPr wrap="square" rtlCol="0">
              <a:spAutoFit/>
            </a:bodyPr>
            <a:lstStyle/>
            <a:p>
              <a:r>
                <a:rPr lang="en-GB" sz="2400" dirty="0">
                  <a:latin typeface="Bahnschrift Light" panose="020B0502040204020203" pitchFamily="34" charset="0"/>
                </a:rPr>
                <a:t>Linear models (and GLMs) can do all three</a:t>
              </a:r>
            </a:p>
          </p:txBody>
        </p:sp>
      </p:grpSp>
      <p:sp>
        <p:nvSpPr>
          <p:cNvPr id="10" name="TextBox 9">
            <a:extLst>
              <a:ext uri="{FF2B5EF4-FFF2-40B4-BE49-F238E27FC236}">
                <a16:creationId xmlns:a16="http://schemas.microsoft.com/office/drawing/2014/main" id="{594BC44A-5C24-99DA-9764-5595AED1BE61}"/>
              </a:ext>
            </a:extLst>
          </p:cNvPr>
          <p:cNvSpPr txBox="1"/>
          <p:nvPr/>
        </p:nvSpPr>
        <p:spPr>
          <a:xfrm>
            <a:off x="2170324" y="6192903"/>
            <a:ext cx="7442916" cy="461665"/>
          </a:xfrm>
          <a:prstGeom prst="rect">
            <a:avLst/>
          </a:prstGeom>
          <a:noFill/>
        </p:spPr>
        <p:txBody>
          <a:bodyPr wrap="square" rtlCol="0">
            <a:spAutoFit/>
          </a:bodyPr>
          <a:lstStyle/>
          <a:p>
            <a:r>
              <a:rPr lang="en-GB" sz="2400" dirty="0">
                <a:latin typeface="Bahnschrift Light" panose="020B0502040204020203" pitchFamily="34" charset="0"/>
              </a:rPr>
              <a:t>The model does not know it’s purpose, only you do.</a:t>
            </a:r>
          </a:p>
        </p:txBody>
      </p:sp>
      <p:sp>
        <p:nvSpPr>
          <p:cNvPr id="2" name="Rectangle 1">
            <a:extLst>
              <a:ext uri="{FF2B5EF4-FFF2-40B4-BE49-F238E27FC236}">
                <a16:creationId xmlns:a16="http://schemas.microsoft.com/office/drawing/2014/main" id="{E06228FA-2B1D-90D3-2D5C-BC63E0BFCC28}"/>
              </a:ext>
            </a:extLst>
          </p:cNvPr>
          <p:cNvSpPr/>
          <p:nvPr/>
        </p:nvSpPr>
        <p:spPr>
          <a:xfrm>
            <a:off x="10582275" y="158620"/>
            <a:ext cx="1488107" cy="4033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4932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fad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fade">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xEl>
                                              <p:pRg st="5" end="5"/>
                                            </p:txEl>
                                          </p:spTgt>
                                        </p:tgtEl>
                                        <p:attrNameLst>
                                          <p:attrName>style.visibility</p:attrName>
                                        </p:attrNameLst>
                                      </p:cBhvr>
                                      <p:to>
                                        <p:strVal val="visible"/>
                                      </p:to>
                                    </p:set>
                                    <p:animEffect transition="in" filter="fade">
                                      <p:cBhvr>
                                        <p:cTn id="27" dur="500"/>
                                        <p:tgtEl>
                                          <p:spTgt spid="32">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xEl>
                                              <p:pRg st="7" end="7"/>
                                            </p:txEl>
                                          </p:spTgt>
                                        </p:tgtEl>
                                        <p:attrNameLst>
                                          <p:attrName>style.visibility</p:attrName>
                                        </p:attrNameLst>
                                      </p:cBhvr>
                                      <p:to>
                                        <p:strVal val="visible"/>
                                      </p:to>
                                    </p:set>
                                    <p:animEffect transition="in" filter="fade">
                                      <p:cBhvr>
                                        <p:cTn id="35" dur="500"/>
                                        <p:tgtEl>
                                          <p:spTgt spid="32">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2">
                                            <p:txEl>
                                              <p:pRg st="8" end="8"/>
                                            </p:txEl>
                                          </p:spTgt>
                                        </p:tgtEl>
                                        <p:attrNameLst>
                                          <p:attrName>style.visibility</p:attrName>
                                        </p:attrNameLst>
                                      </p:cBhvr>
                                      <p:to>
                                        <p:strVal val="visible"/>
                                      </p:to>
                                    </p:set>
                                    <p:animEffect transition="in" filter="fade">
                                      <p:cBhvr>
                                        <p:cTn id="40" dur="500"/>
                                        <p:tgtEl>
                                          <p:spTgt spid="32">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0" nodeType="clickEffect">
                                  <p:stCondLst>
                                    <p:cond delay="0"/>
                                  </p:stCondLst>
                                  <p:childTnLst>
                                    <p:animEffect transition="out" filter="fade">
                                      <p:cBhvr>
                                        <p:cTn id="44" dur="500"/>
                                        <p:tgtEl>
                                          <p:spTgt spid="2"/>
                                        </p:tgtEl>
                                      </p:cBhvr>
                                    </p:animEffect>
                                    <p:set>
                                      <p:cBhvr>
                                        <p:cTn id="45" dur="1" fill="hold">
                                          <p:stCondLst>
                                            <p:cond delay="499"/>
                                          </p:stCondLst>
                                        </p:cTn>
                                        <p:tgtEl>
                                          <p:spTgt spid="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P spid="10" grpId="0"/>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CF1A-CA05-DF03-8262-75EE03794228}"/>
              </a:ext>
            </a:extLst>
          </p:cNvPr>
          <p:cNvSpPr>
            <a:spLocks noGrp="1"/>
          </p:cNvSpPr>
          <p:nvPr>
            <p:ph type="title"/>
          </p:nvPr>
        </p:nvSpPr>
        <p:spPr/>
        <p:txBody>
          <a:bodyPr/>
          <a:lstStyle/>
          <a:p>
            <a:r>
              <a:rPr lang="en-GB" dirty="0"/>
              <a:t>Uses and risks of modelling</a:t>
            </a:r>
          </a:p>
        </p:txBody>
      </p:sp>
    </p:spTree>
    <p:extLst>
      <p:ext uri="{BB962C8B-B14F-4D97-AF65-F5344CB8AC3E}">
        <p14:creationId xmlns:p14="http://schemas.microsoft.com/office/powerpoint/2010/main" val="63089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4" name="Title 1">
            <a:extLst>
              <a:ext uri="{FF2B5EF4-FFF2-40B4-BE49-F238E27FC236}">
                <a16:creationId xmlns:a16="http://schemas.microsoft.com/office/drawing/2014/main" id="{D40FE726-9F70-6FD6-4700-CD4141262CC6}"/>
              </a:ext>
            </a:extLst>
          </p:cNvPr>
          <p:cNvSpPr>
            <a:spLocks noGrp="1"/>
          </p:cNvSpPr>
          <p:nvPr>
            <p:ph type="title"/>
          </p:nvPr>
        </p:nvSpPr>
        <p:spPr>
          <a:xfrm>
            <a:off x="0" y="0"/>
            <a:ext cx="7514067" cy="1325563"/>
          </a:xfrm>
        </p:spPr>
        <p:txBody>
          <a:bodyPr anchor="ctr">
            <a:normAutofit/>
          </a:bodyPr>
          <a:lstStyle/>
          <a:p>
            <a:pPr algn="ctr"/>
            <a:r>
              <a:rPr lang="en-GB" sz="5400" dirty="0">
                <a:latin typeface="Bahnschrift Light" panose="020B0502040204020203" pitchFamily="34" charset="0"/>
              </a:rPr>
              <a:t>Monkey’s paw</a:t>
            </a:r>
          </a:p>
        </p:txBody>
      </p:sp>
      <p:sp>
        <p:nvSpPr>
          <p:cNvPr id="64" name="Google Shape;64;p14"/>
          <p:cNvSpPr txBox="1">
            <a:spLocks noGrp="1"/>
          </p:cNvSpPr>
          <p:nvPr>
            <p:ph type="body" idx="1"/>
          </p:nvPr>
        </p:nvSpPr>
        <p:spPr>
          <a:xfrm>
            <a:off x="0" y="1105786"/>
            <a:ext cx="7160800" cy="5360081"/>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GB" sz="2400" i="1" dirty="0">
                <a:latin typeface="Bahnschrift Light" panose="020B0502040204020203" pitchFamily="34" charset="0"/>
              </a:rPr>
              <a:t>The Monkey’s Paw</a:t>
            </a:r>
            <a:r>
              <a:rPr lang="en-GB" sz="2400" dirty="0">
                <a:latin typeface="Bahnschrift Light" panose="020B0502040204020203" pitchFamily="34" charset="0"/>
              </a:rPr>
              <a:t> is a short story from 1902 by W. W. Jacobs. </a:t>
            </a:r>
          </a:p>
          <a:p>
            <a:pPr marL="0" indent="0">
              <a:lnSpc>
                <a:spcPct val="100000"/>
              </a:lnSpc>
              <a:buNone/>
            </a:pPr>
            <a:endParaRPr lang="en-GB" sz="2400" dirty="0">
              <a:latin typeface="Bahnschrift Light" panose="020B0502040204020203" pitchFamily="34" charset="0"/>
            </a:endParaRPr>
          </a:p>
          <a:p>
            <a:pPr marL="0" indent="0">
              <a:lnSpc>
                <a:spcPct val="100000"/>
              </a:lnSpc>
              <a:buNone/>
            </a:pPr>
            <a:r>
              <a:rPr lang="en-GB" sz="2400" dirty="0">
                <a:latin typeface="Bahnschrift Light" panose="020B0502040204020203" pitchFamily="34" charset="0"/>
              </a:rPr>
              <a:t>A married couple come into possession of a wish granting monkey’s paw. They wish for money to buy a house. The husband goes to work the next morning but dies on the job. The wife gets his life insurance; enough to buy a house.</a:t>
            </a:r>
            <a:endParaRPr sz="2400" dirty="0">
              <a:latin typeface="Bahnschrift Light" panose="020B0502040204020203" pitchFamily="34" charset="0"/>
            </a:endParaRPr>
          </a:p>
          <a:p>
            <a:pPr marL="0" indent="0">
              <a:lnSpc>
                <a:spcPct val="100000"/>
              </a:lnSpc>
              <a:buNone/>
            </a:pPr>
            <a:endParaRPr sz="2400" dirty="0">
              <a:latin typeface="Bahnschrift Light" panose="020B0502040204020203" pitchFamily="34" charset="0"/>
            </a:endParaRPr>
          </a:p>
          <a:p>
            <a:pPr marL="0" indent="0">
              <a:lnSpc>
                <a:spcPct val="100000"/>
              </a:lnSpc>
              <a:buNone/>
            </a:pPr>
            <a:r>
              <a:rPr lang="en-GB" b="1" dirty="0">
                <a:latin typeface="Bahnschrift Light" panose="020B0502040204020203" pitchFamily="34" charset="0"/>
              </a:rPr>
              <a:t>Relevance to stats:</a:t>
            </a:r>
          </a:p>
          <a:p>
            <a:pPr marL="0" indent="0">
              <a:lnSpc>
                <a:spcPct val="100000"/>
              </a:lnSpc>
              <a:buNone/>
            </a:pPr>
            <a:r>
              <a:rPr lang="en-GB" sz="2400" dirty="0">
                <a:latin typeface="Bahnschrift Light" panose="020B0502040204020203" pitchFamily="34" charset="0"/>
              </a:rPr>
              <a:t>Models will (almost) always answer your question. Just because you get an answer, doesn’t mean it’s the truth. In stats, you will rarely know if you have suffered the Monkey’s Paw.</a:t>
            </a:r>
            <a:endParaRPr sz="2400" dirty="0">
              <a:latin typeface="Bahnschrift Light" panose="020B0502040204020203" pitchFamily="34" charset="0"/>
            </a:endParaRPr>
          </a:p>
        </p:txBody>
      </p:sp>
      <p:pic>
        <p:nvPicPr>
          <p:cNvPr id="65" name="Google Shape;65;p14"/>
          <p:cNvPicPr preferRelativeResize="0"/>
          <p:nvPr/>
        </p:nvPicPr>
        <p:blipFill>
          <a:blip r:embed="rId3">
            <a:alphaModFix/>
          </a:blip>
          <a:stretch>
            <a:fillRect/>
          </a:stretch>
        </p:blipFill>
        <p:spPr>
          <a:xfrm>
            <a:off x="7514067" y="203201"/>
            <a:ext cx="4537752" cy="6451601"/>
          </a:xfrm>
          <a:prstGeom prst="rect">
            <a:avLst/>
          </a:prstGeom>
          <a:noFill/>
          <a:ln>
            <a:noFill/>
          </a:ln>
        </p:spPr>
      </p:pic>
    </p:spTree>
    <p:extLst>
      <p:ext uri="{BB962C8B-B14F-4D97-AF65-F5344CB8AC3E}">
        <p14:creationId xmlns:p14="http://schemas.microsoft.com/office/powerpoint/2010/main" val="202900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Your key assumptions</a:t>
            </a:r>
            <a:br>
              <a:rPr lang="en-GB" sz="5400" dirty="0">
                <a:latin typeface="Bahnschrift Light" panose="020B0502040204020203" pitchFamily="34" charset="0"/>
              </a:rPr>
            </a:br>
            <a:r>
              <a:rPr lang="en-GB" sz="2400" dirty="0">
                <a:latin typeface="Bahnschrift Light" panose="020B0502040204020203" pitchFamily="34" charset="0"/>
              </a:rPr>
              <a:t>(in order of importance)</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57175" y="1651000"/>
            <a:ext cx="5572125" cy="4834860"/>
          </a:xfrm>
        </p:spPr>
        <p:txBody>
          <a:bodyPr>
            <a:normAutofit fontScale="92500" lnSpcReduction="20000"/>
          </a:bodyPr>
          <a:lstStyle/>
          <a:p>
            <a:pPr marL="514350" indent="-514350">
              <a:buFont typeface="+mj-lt"/>
              <a:buAutoNum type="arabicPeriod"/>
            </a:pPr>
            <a:r>
              <a:rPr lang="en-GB" b="1" dirty="0">
                <a:solidFill>
                  <a:srgbClr val="FFFF00"/>
                </a:solidFill>
                <a:latin typeface="Bahnschrift Light" panose="020B0502040204020203" pitchFamily="34" charset="0"/>
              </a:rPr>
              <a:t>Validity</a:t>
            </a:r>
            <a:endParaRPr lang="en-GB"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Your data can answer your research question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You’re not answering the question you think you are</a:t>
            </a:r>
          </a:p>
          <a:p>
            <a:pPr lvl="1"/>
            <a:r>
              <a:rPr lang="en-GB" dirty="0">
                <a:latin typeface="Bahnschrift Light" panose="020B0502040204020203" pitchFamily="34" charset="0"/>
              </a:rPr>
              <a:t>E.g.: Measuring test scores does not measure intelligence</a:t>
            </a:r>
          </a:p>
          <a:p>
            <a:pPr marL="514350" indent="-514350">
              <a:buFont typeface="+mj-lt"/>
              <a:buAutoNum type="arabicPeriod"/>
            </a:pPr>
            <a:r>
              <a:rPr lang="en-GB" b="1" dirty="0">
                <a:solidFill>
                  <a:srgbClr val="FFFF00"/>
                </a:solidFill>
                <a:latin typeface="Bahnschrift Light" panose="020B0502040204020203" pitchFamily="34" charset="0"/>
              </a:rPr>
              <a:t>Representativeness</a:t>
            </a:r>
            <a:endParaRPr lang="en-GB"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Your data adequately represents the “population” you want to understand</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You’re not describing the population you think you are</a:t>
            </a:r>
          </a:p>
          <a:p>
            <a:pPr lvl="1"/>
            <a:r>
              <a:rPr lang="en-GB" dirty="0">
                <a:latin typeface="Bahnschrift Light" panose="020B0502040204020203" pitchFamily="34" charset="0"/>
              </a:rPr>
              <a:t>E.g.: Polling Xbox players who they will vote for in an election</a:t>
            </a:r>
          </a:p>
        </p:txBody>
      </p:sp>
      <p:sp>
        <p:nvSpPr>
          <p:cNvPr id="6" name="Content Placeholder 2">
            <a:extLst>
              <a:ext uri="{FF2B5EF4-FFF2-40B4-BE49-F238E27FC236}">
                <a16:creationId xmlns:a16="http://schemas.microsoft.com/office/drawing/2014/main" id="{5D3BB515-97F5-926B-5170-DBC860FF9AC0}"/>
              </a:ext>
            </a:extLst>
          </p:cNvPr>
          <p:cNvSpPr txBox="1">
            <a:spLocks/>
          </p:cNvSpPr>
          <p:nvPr/>
        </p:nvSpPr>
        <p:spPr>
          <a:xfrm>
            <a:off x="6229261" y="1651000"/>
            <a:ext cx="5572125" cy="483486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3"/>
            </a:pPr>
            <a:r>
              <a:rPr lang="en-GB" b="1" dirty="0">
                <a:solidFill>
                  <a:srgbClr val="FFFF00"/>
                </a:solidFill>
                <a:latin typeface="Bahnschrift Light" panose="020B0502040204020203" pitchFamily="34" charset="0"/>
              </a:rPr>
              <a:t>Additivity</a:t>
            </a:r>
            <a:endParaRPr lang="en-GB" sz="1100" b="1"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The response is simply the result of </a:t>
            </a:r>
            <a:r>
              <a:rPr lang="en-GB" i="1" dirty="0">
                <a:latin typeface="Bahnschrift Light" panose="020B0502040204020203" pitchFamily="34" charset="0"/>
              </a:rPr>
              <a:t>adding</a:t>
            </a:r>
            <a:r>
              <a:rPr lang="en-GB" dirty="0">
                <a:latin typeface="Bahnschrift Light" panose="020B0502040204020203" pitchFamily="34" charset="0"/>
              </a:rPr>
              <a:t> up the influence of the predictor variables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Answer is too simplistic</a:t>
            </a:r>
          </a:p>
          <a:p>
            <a:pPr lvl="1"/>
            <a:r>
              <a:rPr lang="en-GB" dirty="0">
                <a:latin typeface="Bahnschrift Light" panose="020B0502040204020203" pitchFamily="34" charset="0"/>
              </a:rPr>
              <a:t>E.g.: Is height just the sum of age and nutrient intake?</a:t>
            </a:r>
          </a:p>
          <a:p>
            <a:pPr marL="514350" indent="-514350">
              <a:buFont typeface="+mj-lt"/>
              <a:buAutoNum type="arabicPeriod" startAt="3"/>
            </a:pPr>
            <a:r>
              <a:rPr lang="en-GB" b="1" dirty="0">
                <a:solidFill>
                  <a:srgbClr val="FFFF00"/>
                </a:solidFill>
                <a:latin typeface="Bahnschrift Light" panose="020B0502040204020203" pitchFamily="34" charset="0"/>
              </a:rPr>
              <a:t>Linearity</a:t>
            </a:r>
            <a:endParaRPr lang="en-GB" sz="1100" b="1"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Deterministic element is a linear function of your explanatory variables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Answer is too simplistic</a:t>
            </a:r>
          </a:p>
          <a:p>
            <a:pPr lvl="1"/>
            <a:r>
              <a:rPr lang="en-GB" dirty="0">
                <a:latin typeface="Bahnschrift Light" panose="020B0502040204020203" pitchFamily="34" charset="0"/>
              </a:rPr>
              <a:t>E.g.: Height does increase with age linearly</a:t>
            </a:r>
          </a:p>
        </p:txBody>
      </p:sp>
    </p:spTree>
    <p:extLst>
      <p:ext uri="{BB962C8B-B14F-4D97-AF65-F5344CB8AC3E}">
        <p14:creationId xmlns:p14="http://schemas.microsoft.com/office/powerpoint/2010/main" val="97778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animEffect transition="in" filter="fade">
                                      <p:cBhvr>
                                        <p:cTn id="51" dur="500"/>
                                        <p:tgtEl>
                                          <p:spTgt spid="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6">
                                            <p:txEl>
                                              <p:pRg st="1" end="1"/>
                                            </p:txEl>
                                          </p:spTgt>
                                        </p:tgtEl>
                                        <p:attrNameLst>
                                          <p:attrName>style.visibility</p:attrName>
                                        </p:attrNameLst>
                                      </p:cBhvr>
                                      <p:to>
                                        <p:strVal val="visible"/>
                                      </p:to>
                                    </p:set>
                                    <p:animEffect transition="in" filter="fade">
                                      <p:cBhvr>
                                        <p:cTn id="56" dur="500"/>
                                        <p:tgtEl>
                                          <p:spTgt spid="6">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animEffect transition="in" filter="fade">
                                      <p:cBhvr>
                                        <p:cTn id="61" dur="500"/>
                                        <p:tgtEl>
                                          <p:spTgt spid="6">
                                            <p:txEl>
                                              <p:pRg st="2" end="2"/>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
                                            <p:txEl>
                                              <p:pRg st="3" end="3"/>
                                            </p:txEl>
                                          </p:spTgt>
                                        </p:tgtEl>
                                        <p:attrNameLst>
                                          <p:attrName>style.visibility</p:attrName>
                                        </p:attrNameLst>
                                      </p:cBhvr>
                                      <p:to>
                                        <p:strVal val="visible"/>
                                      </p:to>
                                    </p:set>
                                    <p:animEffect transition="in" filter="fade">
                                      <p:cBhvr>
                                        <p:cTn id="64" dur="500"/>
                                        <p:tgtEl>
                                          <p:spTgt spid="6">
                                            <p:txEl>
                                              <p:pRg st="3" end="3"/>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6">
                                            <p:txEl>
                                              <p:pRg st="4" end="4"/>
                                            </p:txEl>
                                          </p:spTgt>
                                        </p:tgtEl>
                                        <p:attrNameLst>
                                          <p:attrName>style.visibility</p:attrName>
                                        </p:attrNameLst>
                                      </p:cBhvr>
                                      <p:to>
                                        <p:strVal val="visible"/>
                                      </p:to>
                                    </p:set>
                                    <p:animEffect transition="in" filter="fade">
                                      <p:cBhvr>
                                        <p:cTn id="69" dur="500"/>
                                        <p:tgtEl>
                                          <p:spTgt spid="6">
                                            <p:txEl>
                                              <p:pRg st="4" end="4"/>
                                            </p:txEl>
                                          </p:spTgt>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
                                            <p:txEl>
                                              <p:pRg st="5" end="5"/>
                                            </p:txEl>
                                          </p:spTgt>
                                        </p:tgtEl>
                                        <p:attrNameLst>
                                          <p:attrName>style.visibility</p:attrName>
                                        </p:attrNameLst>
                                      </p:cBhvr>
                                      <p:to>
                                        <p:strVal val="visible"/>
                                      </p:to>
                                    </p:set>
                                    <p:animEffect transition="in" filter="fade">
                                      <p:cBhvr>
                                        <p:cTn id="72" dur="500"/>
                                        <p:tgtEl>
                                          <p:spTgt spid="6">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
                                            <p:txEl>
                                              <p:pRg st="6" end="6"/>
                                            </p:txEl>
                                          </p:spTgt>
                                        </p:tgtEl>
                                        <p:attrNameLst>
                                          <p:attrName>style.visibility</p:attrName>
                                        </p:attrNameLst>
                                      </p:cBhvr>
                                      <p:to>
                                        <p:strVal val="visible"/>
                                      </p:to>
                                    </p:set>
                                    <p:animEffect transition="in" filter="fade">
                                      <p:cBhvr>
                                        <p:cTn id="77" dur="500"/>
                                        <p:tgtEl>
                                          <p:spTgt spid="6">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6">
                                            <p:txEl>
                                              <p:pRg st="7" end="7"/>
                                            </p:txEl>
                                          </p:spTgt>
                                        </p:tgtEl>
                                        <p:attrNameLst>
                                          <p:attrName>style.visibility</p:attrName>
                                        </p:attrNameLst>
                                      </p:cBhvr>
                                      <p:to>
                                        <p:strVal val="visible"/>
                                      </p:to>
                                    </p:set>
                                    <p:animEffect transition="in" filter="fade">
                                      <p:cBhvr>
                                        <p:cTn id="82" dur="500"/>
                                        <p:tgtEl>
                                          <p:spTgt spid="6">
                                            <p:txEl>
                                              <p:pRg st="7" end="7"/>
                                            </p:txEl>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
                                            <p:txEl>
                                              <p:pRg st="8" end="8"/>
                                            </p:txEl>
                                          </p:spTgt>
                                        </p:tgtEl>
                                        <p:attrNameLst>
                                          <p:attrName>style.visibility</p:attrName>
                                        </p:attrNameLst>
                                      </p:cBhvr>
                                      <p:to>
                                        <p:strVal val="visible"/>
                                      </p:to>
                                    </p:set>
                                    <p:animEffect transition="in" filter="fade">
                                      <p:cBhvr>
                                        <p:cTn id="85" dur="500"/>
                                        <p:tgtEl>
                                          <p:spTgt spid="6">
                                            <p:txEl>
                                              <p:pRg st="8" end="8"/>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6">
                                            <p:txEl>
                                              <p:pRg st="9" end="9"/>
                                            </p:txEl>
                                          </p:spTgt>
                                        </p:tgtEl>
                                        <p:attrNameLst>
                                          <p:attrName>style.visibility</p:attrName>
                                        </p:attrNameLst>
                                      </p:cBhvr>
                                      <p:to>
                                        <p:strVal val="visible"/>
                                      </p:to>
                                    </p:set>
                                    <p:animEffect transition="in" filter="fade">
                                      <p:cBhvr>
                                        <p:cTn id="90"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Your key assumptions</a:t>
            </a:r>
            <a:br>
              <a:rPr lang="en-GB" sz="5400" dirty="0">
                <a:latin typeface="Bahnschrift Light" panose="020B0502040204020203" pitchFamily="34" charset="0"/>
              </a:rPr>
            </a:br>
            <a:r>
              <a:rPr lang="en-GB" sz="2400" dirty="0">
                <a:latin typeface="Bahnschrift Light" panose="020B0502040204020203" pitchFamily="34" charset="0"/>
              </a:rPr>
              <a:t>(in order </a:t>
            </a:r>
            <a:r>
              <a:rPr lang="en-GB" sz="2400">
                <a:latin typeface="Bahnschrift Light" panose="020B0502040204020203" pitchFamily="34" charset="0"/>
              </a:rPr>
              <a:t>of importance)</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57175" y="1651000"/>
            <a:ext cx="5572125" cy="4834860"/>
          </a:xfrm>
        </p:spPr>
        <p:txBody>
          <a:bodyPr>
            <a:normAutofit fontScale="85000" lnSpcReduction="20000"/>
          </a:bodyPr>
          <a:lstStyle/>
          <a:p>
            <a:pPr marL="514350" indent="-514350">
              <a:buFont typeface="+mj-lt"/>
              <a:buAutoNum type="arabicPeriod" startAt="5"/>
            </a:pPr>
            <a:r>
              <a:rPr lang="en-GB" b="1" dirty="0">
                <a:solidFill>
                  <a:srgbClr val="FFFF00"/>
                </a:solidFill>
                <a:latin typeface="Bahnschrift Light" panose="020B0502040204020203" pitchFamily="34" charset="0"/>
              </a:rPr>
              <a:t>Independence of errors</a:t>
            </a:r>
          </a:p>
          <a:p>
            <a:pPr lvl="1"/>
            <a:r>
              <a:rPr lang="en-GB" dirty="0">
                <a:latin typeface="Bahnschrift Light" panose="020B0502040204020203" pitchFamily="34" charset="0"/>
              </a:rPr>
              <a:t>Meaning: We have independent observations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Overly confident in results</a:t>
            </a:r>
          </a:p>
          <a:p>
            <a:pPr lvl="1"/>
            <a:r>
              <a:rPr lang="en-GB" dirty="0">
                <a:latin typeface="Bahnschrift Light" panose="020B0502040204020203" pitchFamily="34" charset="0"/>
              </a:rPr>
              <a:t>E.g.: We measure the height of one family to estimate average human height</a:t>
            </a:r>
          </a:p>
          <a:p>
            <a:pPr lvl="1"/>
            <a:r>
              <a:rPr lang="en-GB" dirty="0">
                <a:latin typeface="Bahnschrift Light" panose="020B0502040204020203" pitchFamily="34" charset="0"/>
              </a:rPr>
              <a:t>Of concern: When analysing temporal, spatial, or hierarchical data</a:t>
            </a:r>
          </a:p>
          <a:p>
            <a:pPr marL="514350" indent="-514350">
              <a:buFont typeface="+mj-lt"/>
              <a:buAutoNum type="arabicPeriod" startAt="5"/>
            </a:pPr>
            <a:r>
              <a:rPr lang="en-GB" b="1" dirty="0">
                <a:solidFill>
                  <a:srgbClr val="FFFF00"/>
                </a:solidFill>
                <a:latin typeface="Bahnschrift Light" panose="020B0502040204020203" pitchFamily="34" charset="0"/>
              </a:rPr>
              <a:t>Equal variance of errors</a:t>
            </a:r>
          </a:p>
          <a:p>
            <a:pPr lvl="1"/>
            <a:r>
              <a:rPr lang="en-GB" dirty="0">
                <a:latin typeface="Bahnschrift Light" panose="020B0502040204020203" pitchFamily="34" charset="0"/>
              </a:rPr>
              <a:t>Meaning: The randomness is handled by the distribution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Results do not generalise</a:t>
            </a:r>
          </a:p>
          <a:p>
            <a:pPr lvl="1"/>
            <a:r>
              <a:rPr lang="en-GB" dirty="0">
                <a:latin typeface="Bahnschrift Light" panose="020B0502040204020203" pitchFamily="34" charset="0"/>
              </a:rPr>
              <a:t>E.g.: More than just age influences height</a:t>
            </a:r>
          </a:p>
          <a:p>
            <a:pPr lvl="1"/>
            <a:r>
              <a:rPr lang="en-GB" dirty="0">
                <a:latin typeface="Bahnschrift Light" panose="020B0502040204020203" pitchFamily="34" charset="0"/>
              </a:rPr>
              <a:t>Of concern: When making predictions (and when using P-values/NHST)</a:t>
            </a:r>
          </a:p>
          <a:p>
            <a:pPr lvl="1"/>
            <a:endParaRPr lang="en-GB" dirty="0">
              <a:latin typeface="Bahnschrift Light" panose="020B0502040204020203" pitchFamily="34" charset="0"/>
            </a:endParaRP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5D3BB515-97F5-926B-5170-DBC860FF9AC0}"/>
                  </a:ext>
                </a:extLst>
              </p:cNvPr>
              <p:cNvSpPr txBox="1">
                <a:spLocks/>
              </p:cNvSpPr>
              <p:nvPr/>
            </p:nvSpPr>
            <p:spPr>
              <a:xfrm>
                <a:off x="6229261" y="1651000"/>
                <a:ext cx="5572125" cy="48348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7"/>
                </a:pPr>
                <a:r>
                  <a:rPr lang="en-GB" b="1" dirty="0">
                    <a:solidFill>
                      <a:srgbClr val="FFFF00"/>
                    </a:solidFill>
                    <a:latin typeface="Bahnschrift Light" panose="020B0502040204020203" pitchFamily="34" charset="0"/>
                  </a:rPr>
                  <a:t>Normality of errors</a:t>
                </a:r>
              </a:p>
              <a:p>
                <a:pPr lvl="1"/>
                <a:r>
                  <a:rPr lang="en-GB" dirty="0">
                    <a:latin typeface="Bahnschrift Light" panose="020B0502040204020203" pitchFamily="34" charset="0"/>
                  </a:rPr>
                  <a:t>Meaning: The difference between what the model thinks, and reality is broadly </a:t>
                </a:r>
                <a14:m>
                  <m:oMath xmlns:m="http://schemas.openxmlformats.org/officeDocument/2006/math">
                    <m:r>
                      <a:rPr lang="en-GB" b="0" i="1" smtClean="0">
                        <a:latin typeface="Cambria Math" panose="02040503050406030204" pitchFamily="18" charset="0"/>
                      </a:rPr>
                      <m:t>𝑁𝑜𝑟𝑚𝑎𝑙𝑙𝑦</m:t>
                    </m:r>
                  </m:oMath>
                </a14:m>
                <a:r>
                  <a:rPr lang="en-GB" dirty="0">
                    <a:latin typeface="Bahnschrift Light" panose="020B0502040204020203" pitchFamily="34" charset="0"/>
                  </a:rPr>
                  <a:t> distributed</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Overly confident in results</a:t>
                </a:r>
              </a:p>
              <a:p>
                <a:pPr lvl="1"/>
                <a:r>
                  <a:rPr lang="en-GB" dirty="0">
                    <a:latin typeface="Bahnschrift Light" panose="020B0502040204020203" pitchFamily="34" charset="0"/>
                  </a:rPr>
                  <a:t>E.g.: We measure the height of one family to estimate average human height</a:t>
                </a:r>
              </a:p>
              <a:p>
                <a:pPr lvl="1"/>
                <a:r>
                  <a:rPr lang="en-GB" dirty="0">
                    <a:latin typeface="Bahnschrift Light" panose="020B0502040204020203" pitchFamily="34" charset="0"/>
                  </a:rPr>
                  <a:t>Of concern: Only relevant if attempting to predict individual data points.</a:t>
                </a:r>
              </a:p>
            </p:txBody>
          </p:sp>
        </mc:Choice>
        <mc:Fallback xmlns="">
          <p:sp>
            <p:nvSpPr>
              <p:cNvPr id="6" name="Content Placeholder 2">
                <a:extLst>
                  <a:ext uri="{FF2B5EF4-FFF2-40B4-BE49-F238E27FC236}">
                    <a16:creationId xmlns:a16="http://schemas.microsoft.com/office/drawing/2014/main" id="{5D3BB515-97F5-926B-5170-DBC860FF9AC0}"/>
                  </a:ext>
                </a:extLst>
              </p:cNvPr>
              <p:cNvSpPr txBox="1">
                <a:spLocks noRot="1" noChangeAspect="1" noMove="1" noResize="1" noEditPoints="1" noAdjustHandles="1" noChangeArrowheads="1" noChangeShapeType="1" noTextEdit="1"/>
              </p:cNvSpPr>
              <p:nvPr/>
            </p:nvSpPr>
            <p:spPr>
              <a:xfrm>
                <a:off x="6229261" y="1651000"/>
                <a:ext cx="5572125" cy="4834860"/>
              </a:xfrm>
              <a:prstGeom prst="rect">
                <a:avLst/>
              </a:prstGeom>
              <a:blipFill>
                <a:blip r:embed="rId2"/>
                <a:stretch>
                  <a:fillRect l="-2298" t="-2270" r="-1860"/>
                </a:stretch>
              </a:blipFill>
            </p:spPr>
            <p:txBody>
              <a:bodyPr/>
              <a:lstStyle/>
              <a:p>
                <a:r>
                  <a:rPr lang="en-GB">
                    <a:noFill/>
                  </a:rPr>
                  <a:t> </a:t>
                </a:r>
              </a:p>
            </p:txBody>
          </p:sp>
        </mc:Fallback>
      </mc:AlternateContent>
    </p:spTree>
    <p:extLst>
      <p:ext uri="{BB962C8B-B14F-4D97-AF65-F5344CB8AC3E}">
        <p14:creationId xmlns:p14="http://schemas.microsoft.com/office/powerpoint/2010/main" val="116670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fade">
                                      <p:cBhvr>
                                        <p:cTn id="53" dur="5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500"/>
                                        <p:tgtEl>
                                          <p:spTgt spid="3">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animEffect transition="in" filter="fade">
                                      <p:cBhvr>
                                        <p:cTn id="63" dur="500"/>
                                        <p:tgtEl>
                                          <p:spTgt spid="6">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6">
                                            <p:txEl>
                                              <p:pRg st="1" end="1"/>
                                            </p:txEl>
                                          </p:spTgt>
                                        </p:tgtEl>
                                        <p:attrNameLst>
                                          <p:attrName>style.visibility</p:attrName>
                                        </p:attrNameLst>
                                      </p:cBhvr>
                                      <p:to>
                                        <p:strVal val="visible"/>
                                      </p:to>
                                    </p:set>
                                    <p:animEffect transition="in" filter="fade">
                                      <p:cBhvr>
                                        <p:cTn id="68" dur="500"/>
                                        <p:tgtEl>
                                          <p:spTgt spid="6">
                                            <p:txEl>
                                              <p:pRg st="1" end="1"/>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
                                            <p:txEl>
                                              <p:pRg st="2" end="2"/>
                                            </p:txEl>
                                          </p:spTgt>
                                        </p:tgtEl>
                                        <p:attrNameLst>
                                          <p:attrName>style.visibility</p:attrName>
                                        </p:attrNameLst>
                                      </p:cBhvr>
                                      <p:to>
                                        <p:strVal val="visible"/>
                                      </p:to>
                                    </p:set>
                                    <p:animEffect transition="in" filter="fade">
                                      <p:cBhvr>
                                        <p:cTn id="73" dur="500"/>
                                        <p:tgtEl>
                                          <p:spTgt spid="6">
                                            <p:txEl>
                                              <p:pRg st="2" end="2"/>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
                                            <p:txEl>
                                              <p:pRg st="3" end="3"/>
                                            </p:txEl>
                                          </p:spTgt>
                                        </p:tgtEl>
                                        <p:attrNameLst>
                                          <p:attrName>style.visibility</p:attrName>
                                        </p:attrNameLst>
                                      </p:cBhvr>
                                      <p:to>
                                        <p:strVal val="visible"/>
                                      </p:to>
                                    </p:set>
                                    <p:animEffect transition="in" filter="fade">
                                      <p:cBhvr>
                                        <p:cTn id="76" dur="500"/>
                                        <p:tgtEl>
                                          <p:spTgt spid="6">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
                                            <p:txEl>
                                              <p:pRg st="4" end="4"/>
                                            </p:txEl>
                                          </p:spTgt>
                                        </p:tgtEl>
                                        <p:attrNameLst>
                                          <p:attrName>style.visibility</p:attrName>
                                        </p:attrNameLst>
                                      </p:cBhvr>
                                      <p:to>
                                        <p:strVal val="visible"/>
                                      </p:to>
                                    </p:set>
                                    <p:animEffect transition="in" filter="fade">
                                      <p:cBhvr>
                                        <p:cTn id="81" dur="500"/>
                                        <p:tgtEl>
                                          <p:spTgt spid="6">
                                            <p:txEl>
                                              <p:pRg st="4" end="4"/>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6">
                                            <p:txEl>
                                              <p:pRg st="5" end="5"/>
                                            </p:txEl>
                                          </p:spTgt>
                                        </p:tgtEl>
                                        <p:attrNameLst>
                                          <p:attrName>style.visibility</p:attrName>
                                        </p:attrNameLst>
                                      </p:cBhvr>
                                      <p:to>
                                        <p:strVal val="visible"/>
                                      </p:to>
                                    </p:set>
                                    <p:animEffect transition="in" filter="fade">
                                      <p:cBhvr>
                                        <p:cTn id="86"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5C0E6-8DF6-25FA-7CC4-1F0FA20B97C8}"/>
              </a:ext>
            </a:extLst>
          </p:cNvPr>
          <p:cNvSpPr>
            <a:spLocks noGrp="1"/>
          </p:cNvSpPr>
          <p:nvPr>
            <p:ph type="title"/>
          </p:nvPr>
        </p:nvSpPr>
        <p:spPr/>
        <p:txBody>
          <a:bodyPr/>
          <a:lstStyle/>
          <a:p>
            <a:r>
              <a:rPr lang="en-GB" dirty="0"/>
              <a:t>Which assumptions do we make here?</a:t>
            </a:r>
          </a:p>
        </p:txBody>
      </p:sp>
      <p:sp>
        <p:nvSpPr>
          <p:cNvPr id="3" name="Content Placeholder 2">
            <a:extLst>
              <a:ext uri="{FF2B5EF4-FFF2-40B4-BE49-F238E27FC236}">
                <a16:creationId xmlns:a16="http://schemas.microsoft.com/office/drawing/2014/main" id="{3E0D66B2-0A0B-52A2-F5A8-247DF057FAE2}"/>
              </a:ext>
            </a:extLst>
          </p:cNvPr>
          <p:cNvSpPr>
            <a:spLocks noGrp="1"/>
          </p:cNvSpPr>
          <p:nvPr>
            <p:ph idx="1"/>
          </p:nvPr>
        </p:nvSpPr>
        <p:spPr>
          <a:xfrm>
            <a:off x="0" y="1701209"/>
            <a:ext cx="6201295" cy="4965598"/>
          </a:xfrm>
        </p:spPr>
        <p:txBody>
          <a:bodyPr>
            <a:normAutofit fontScale="92500" lnSpcReduction="10000"/>
          </a:bodyPr>
          <a:lstStyle/>
          <a:p>
            <a:pPr marL="457200" indent="-457200">
              <a:buFont typeface="+mj-lt"/>
              <a:buAutoNum type="arabicPeriod"/>
            </a:pPr>
            <a:r>
              <a:rPr lang="en-GB" sz="2000" dirty="0">
                <a:solidFill>
                  <a:srgbClr val="FFFF00"/>
                </a:solidFill>
              </a:rPr>
              <a:t>Validity</a:t>
            </a:r>
          </a:p>
          <a:p>
            <a:pPr marL="800100" lvl="1" indent="-342900">
              <a:buFont typeface="+mj-lt"/>
              <a:buAutoNum type="arabicPeriod"/>
            </a:pPr>
            <a:r>
              <a:rPr lang="en-GB" sz="1800" dirty="0"/>
              <a:t>Possible that there are more people looking in 2019</a:t>
            </a:r>
          </a:p>
          <a:p>
            <a:pPr marL="457200" indent="-457200">
              <a:buFont typeface="+mj-lt"/>
              <a:buAutoNum type="arabicPeriod"/>
            </a:pPr>
            <a:r>
              <a:rPr lang="en-GB" sz="2000" dirty="0">
                <a:solidFill>
                  <a:srgbClr val="FFFF00"/>
                </a:solidFill>
              </a:rPr>
              <a:t>Representativeness</a:t>
            </a:r>
          </a:p>
          <a:p>
            <a:pPr marL="800100" lvl="1" indent="-342900">
              <a:buFont typeface="+mj-lt"/>
              <a:buAutoNum type="arabicPeriod"/>
            </a:pPr>
            <a:r>
              <a:rPr lang="en-GB" sz="1800" dirty="0"/>
              <a:t>Possibly just one birder in north in 1974</a:t>
            </a:r>
          </a:p>
          <a:p>
            <a:pPr marL="457200" indent="-457200">
              <a:buFont typeface="+mj-lt"/>
              <a:buAutoNum type="arabicPeriod"/>
            </a:pPr>
            <a:r>
              <a:rPr lang="en-GB" sz="2000" dirty="0">
                <a:solidFill>
                  <a:srgbClr val="FFFF00"/>
                </a:solidFill>
              </a:rPr>
              <a:t>Additivity</a:t>
            </a:r>
          </a:p>
          <a:p>
            <a:pPr marL="800100" lvl="1" indent="-342900">
              <a:buFont typeface="+mj-lt"/>
              <a:buAutoNum type="arabicPeriod"/>
            </a:pPr>
            <a:r>
              <a:rPr lang="en-GB" sz="1800" dirty="0"/>
              <a:t>Possible other variables influenced “spread”</a:t>
            </a:r>
          </a:p>
          <a:p>
            <a:pPr marL="457200" indent="-457200">
              <a:buFont typeface="+mj-lt"/>
              <a:buAutoNum type="arabicPeriod"/>
            </a:pPr>
            <a:r>
              <a:rPr lang="en-GB" sz="2000" dirty="0">
                <a:solidFill>
                  <a:srgbClr val="FFFF00"/>
                </a:solidFill>
              </a:rPr>
              <a:t>Linearity</a:t>
            </a:r>
          </a:p>
          <a:p>
            <a:pPr marL="800100" lvl="1" indent="-342900">
              <a:buFont typeface="+mj-lt"/>
              <a:buAutoNum type="arabicPeriod"/>
            </a:pPr>
            <a:r>
              <a:rPr lang="en-GB" sz="1800" dirty="0"/>
              <a:t>Possible spread over time was slow, then fast</a:t>
            </a:r>
          </a:p>
          <a:p>
            <a:pPr marL="457200" indent="-457200">
              <a:buFont typeface="+mj-lt"/>
              <a:buAutoNum type="arabicPeriod"/>
            </a:pPr>
            <a:r>
              <a:rPr lang="en-GB" sz="2000" dirty="0">
                <a:solidFill>
                  <a:srgbClr val="FFFF00"/>
                </a:solidFill>
              </a:rPr>
              <a:t>Independent errors</a:t>
            </a:r>
          </a:p>
          <a:p>
            <a:pPr marL="800100" lvl="1" indent="-342900">
              <a:buFont typeface="+mj-lt"/>
              <a:buAutoNum type="arabicPeriod"/>
            </a:pPr>
            <a:r>
              <a:rPr lang="en-GB" sz="1800" dirty="0"/>
              <a:t>Observations next to each other in space and time could be of the same bird</a:t>
            </a:r>
          </a:p>
          <a:p>
            <a:pPr marL="457200" indent="-457200">
              <a:buFont typeface="+mj-lt"/>
              <a:buAutoNum type="arabicPeriod"/>
            </a:pPr>
            <a:r>
              <a:rPr lang="en-GB" sz="2000" dirty="0">
                <a:solidFill>
                  <a:srgbClr val="FFFF00"/>
                </a:solidFill>
              </a:rPr>
              <a:t>Equal variance</a:t>
            </a:r>
          </a:p>
          <a:p>
            <a:pPr marL="800100" lvl="1" indent="-342900">
              <a:buFont typeface="+mj-lt"/>
              <a:buAutoNum type="arabicPeriod"/>
            </a:pPr>
            <a:r>
              <a:rPr lang="en-GB" sz="1800" dirty="0"/>
              <a:t>Probably ok?</a:t>
            </a:r>
          </a:p>
          <a:p>
            <a:pPr marL="457200" indent="-457200">
              <a:buFont typeface="+mj-lt"/>
              <a:buAutoNum type="arabicPeriod"/>
            </a:pPr>
            <a:r>
              <a:rPr lang="en-GB" sz="2000" dirty="0">
                <a:solidFill>
                  <a:srgbClr val="FFFF00"/>
                </a:solidFill>
              </a:rPr>
              <a:t>Normality of residuals</a:t>
            </a:r>
          </a:p>
          <a:p>
            <a:pPr marL="800100" lvl="1" indent="-342900">
              <a:buFont typeface="+mj-lt"/>
              <a:buAutoNum type="arabicPeriod"/>
            </a:pPr>
            <a:r>
              <a:rPr lang="en-GB" sz="1800" dirty="0"/>
              <a:t>Possible that observations by river are hard to explain</a:t>
            </a:r>
            <a:endParaRPr lang="en-GB" sz="1800" dirty="0">
              <a:solidFill>
                <a:srgbClr val="FFFF00"/>
              </a:solidFill>
            </a:endParaRPr>
          </a:p>
        </p:txBody>
      </p:sp>
      <p:pic>
        <p:nvPicPr>
          <p:cNvPr id="5" name="Picture Placeholder 4" descr="A screenshot of a map&#10;&#10;Description automatically generated">
            <a:extLst>
              <a:ext uri="{FF2B5EF4-FFF2-40B4-BE49-F238E27FC236}">
                <a16:creationId xmlns:a16="http://schemas.microsoft.com/office/drawing/2014/main" id="{F084CF3A-6EDA-554A-3255-478D6C62E2B4}"/>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836" t="-27861" r="-1" b="-16283"/>
          <a:stretch/>
        </p:blipFill>
        <p:spPr>
          <a:xfrm>
            <a:off x="6359525" y="0"/>
            <a:ext cx="5832475" cy="6858000"/>
          </a:xfrm>
          <a:prstGeom prst="rect">
            <a:avLst/>
          </a:prstGeom>
        </p:spPr>
      </p:pic>
    </p:spTree>
    <p:extLst>
      <p:ext uri="{BB962C8B-B14F-4D97-AF65-F5344CB8AC3E}">
        <p14:creationId xmlns:p14="http://schemas.microsoft.com/office/powerpoint/2010/main" val="399475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fade">
                                      <p:cBhvr>
                                        <p:cTn id="53" dur="5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500"/>
                                        <p:tgtEl>
                                          <p:spTgt spid="3">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xEl>
                                              <p:pRg st="12" end="12"/>
                                            </p:txEl>
                                          </p:spTgt>
                                        </p:tgtEl>
                                        <p:attrNameLst>
                                          <p:attrName>style.visibility</p:attrName>
                                        </p:attrNameLst>
                                      </p:cBhvr>
                                      <p:to>
                                        <p:strVal val="visible"/>
                                      </p:to>
                                    </p:set>
                                    <p:animEffect transition="in" filter="fade">
                                      <p:cBhvr>
                                        <p:cTn id="63" dur="500"/>
                                        <p:tgtEl>
                                          <p:spTgt spid="3">
                                            <p:txEl>
                                              <p:pRg st="12" end="12"/>
                                            </p:tx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sbs_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ahnschrift Light">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bs_slide_template.potx" id="{ECECA26D-C7D9-428D-8AE3-0DEBE87A348A}" vid="{A052F16A-C2E7-4086-BA7D-A0C2C9C1F8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sbs_template</Template>
  <TotalTime>3391</TotalTime>
  <Words>1615</Words>
  <Application>Microsoft Office PowerPoint</Application>
  <PresentationFormat>Widescreen</PresentationFormat>
  <Paragraphs>232</Paragraphs>
  <Slides>24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Roboto</vt:lpstr>
      <vt:lpstr>Aptos</vt:lpstr>
      <vt:lpstr>Bahnschrift Light</vt:lpstr>
      <vt:lpstr>Cambria Math</vt:lpstr>
      <vt:lpstr>sbs_template</vt:lpstr>
      <vt:lpstr>Introduction to linear models</vt:lpstr>
      <vt:lpstr>Stats: making the simple seem complicated</vt:lpstr>
      <vt:lpstr>Statistics and data</vt:lpstr>
      <vt:lpstr>Statistics and data</vt:lpstr>
      <vt:lpstr>Doing “stats” by hand</vt:lpstr>
      <vt:lpstr>“Stats” by hand</vt:lpstr>
      <vt:lpstr>More realism</vt:lpstr>
      <vt:lpstr>What stats does</vt:lpstr>
      <vt:lpstr>What about variation?</vt:lpstr>
      <vt:lpstr>Variation</vt:lpstr>
      <vt:lpstr>Normal distribution</vt:lpstr>
      <vt:lpstr>Our model</vt:lpstr>
      <vt:lpstr>Goal of statistics</vt:lpstr>
      <vt:lpstr>The Normal distribution</vt:lpstr>
      <vt:lpstr>Beware the histomancer</vt:lpstr>
      <vt:lpstr>“Do you drink coffee?”</vt:lpstr>
      <vt:lpstr>PowerPoint Presentation</vt:lpstr>
      <vt:lpstr>If you drink coffee, what is the average number of coffees you drink in a year?</vt:lpstr>
      <vt:lpstr>First amongst equals</vt:lpstr>
      <vt:lpstr>Uses and risks of modelling</vt:lpstr>
      <vt:lpstr>Monkey’s paw</vt:lpstr>
      <vt:lpstr>Your key assumptions (in order of importance)</vt:lpstr>
      <vt:lpstr>Your key assumptions (in order of importance)</vt:lpstr>
      <vt:lpstr>Which assumptions do we make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linear models</dc:title>
  <dc:creator>Roos, Deon</dc:creator>
  <cp:lastModifiedBy>Roos, Deon</cp:lastModifiedBy>
  <cp:revision>24</cp:revision>
  <dcterms:created xsi:type="dcterms:W3CDTF">2024-06-28T13:38:41Z</dcterms:created>
  <dcterms:modified xsi:type="dcterms:W3CDTF">2024-09-16T13:00:57Z</dcterms:modified>
</cp:coreProperties>
</file>