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31"/>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 id="343" r:id="rId26"/>
    <p:sldId id="346" r:id="rId27"/>
    <p:sldId id="347" r:id="rId28"/>
    <p:sldId id="348" r:id="rId29"/>
    <p:sldId id="34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337" autoAdjust="0"/>
  </p:normalViewPr>
  <p:slideViewPr>
    <p:cSldViewPr snapToGrid="0">
      <p:cViewPr varScale="1">
        <p:scale>
          <a:sx n="109" d="100"/>
          <a:sy n="109" d="100"/>
        </p:scale>
        <p:origin x="138"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09/08/2024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09/08/2024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09/08/2024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09/08/2024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gif"/></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Some form of:</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the </a:t>
                </a:r>
                <a:r>
                  <a:rPr lang="en-GB"/>
                  <a:t>idealised distribution overlaps the real data</a:t>
                </a:r>
                <a:endParaRPr lang="en-GB" dirty="0"/>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6" descr="A graph with a curve&#10;&#10;Description automatically generated">
            <a:extLst>
              <a:ext uri="{FF2B5EF4-FFF2-40B4-BE49-F238E27FC236}">
                <a16:creationId xmlns:a16="http://schemas.microsoft.com/office/drawing/2014/main" id="{D662EDAD-8168-4274-ACB5-C583D52506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525" y="0"/>
            <a:ext cx="5751871" cy="6858000"/>
          </a:xfrm>
          <a:prstGeom prst="rect">
            <a:avLst/>
          </a:prstGeom>
        </p:spPr>
      </p:pic>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br>
              <a:rPr lang="en-GB" sz="5400" dirty="0">
                <a:latin typeface="Bahnschrift Light" panose="020B0502040204020203" pitchFamily="34" charset="0"/>
              </a:rPr>
            </a:br>
            <a:r>
              <a:rPr lang="en-GB" sz="2400" dirty="0">
                <a:latin typeface="Bahnschrift Light" panose="020B0502040204020203" pitchFamily="34" charset="0"/>
              </a:rPr>
              <a:t>(in order)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77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lvl="1"/>
            <a:r>
              <a:rPr lang="en-GB" dirty="0">
                <a:latin typeface="Bahnschrift Light" panose="020B0502040204020203" pitchFamily="34" charset="0"/>
              </a:rPr>
              <a:t>Of concern: Always</a:t>
            </a:r>
          </a:p>
          <a:p>
            <a:pPr marL="514350" indent="-514350">
              <a:buFont typeface="+mj-lt"/>
              <a:buAutoNum type="arabicPeriod"/>
            </a:pPr>
            <a:r>
              <a:rPr lang="en-GB" b="1" dirty="0">
                <a:solidFill>
                  <a:srgbClr val="FFFF00"/>
                </a:solidFill>
                <a:latin typeface="Bahnschrift Light" panose="020B0502040204020203" pitchFamily="34" charset="0"/>
              </a:rPr>
              <a:t>Representativeness</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adequately represents the “population” you want to understand</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describing the population you think you are</a:t>
            </a:r>
          </a:p>
          <a:p>
            <a:pPr lvl="1"/>
            <a:r>
              <a:rPr lang="en-GB" dirty="0">
                <a:latin typeface="Bahnschrift Light" panose="020B0502040204020203" pitchFamily="34" charset="0"/>
              </a:rPr>
              <a:t>E.g.: Polling Xbox players who they will vote for in an election</a:t>
            </a:r>
          </a:p>
          <a:p>
            <a:pPr lvl="1"/>
            <a:r>
              <a:rPr lang="en-GB" dirty="0">
                <a:latin typeface="Bahnschrift Light" panose="020B0502040204020203" pitchFamily="34" charset="0"/>
              </a:rPr>
              <a:t>Of concern: Always</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Additivity</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The response is simply the result of </a:t>
            </a:r>
            <a:r>
              <a:rPr lang="en-GB" i="1" dirty="0">
                <a:latin typeface="Bahnschrift Light" panose="020B0502040204020203" pitchFamily="34" charset="0"/>
              </a:rPr>
              <a:t>adding</a:t>
            </a:r>
            <a:r>
              <a:rPr lang="en-GB" dirty="0">
                <a:latin typeface="Bahnschrift Light" panose="020B0502040204020203" pitchFamily="34" charset="0"/>
              </a:rPr>
              <a:t> up the influence of the predictor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a:p>
            <a:pPr lvl="1"/>
            <a:r>
              <a:rPr lang="en-GB" dirty="0">
                <a:latin typeface="Bahnschrift Light" panose="020B0502040204020203" pitchFamily="34" charset="0"/>
              </a:rPr>
              <a:t>Of concern: Almost always</a:t>
            </a:r>
          </a:p>
          <a:p>
            <a:pPr marL="514350" indent="-514350">
              <a:buFont typeface="+mj-lt"/>
              <a:buAutoNum type="arabicPeriod" startAt="3"/>
            </a:pPr>
            <a:r>
              <a:rPr lang="en-GB" b="1" dirty="0">
                <a:solidFill>
                  <a:srgbClr val="FFFF00"/>
                </a:solidFill>
                <a:latin typeface="Bahnschrift Light" panose="020B0502040204020203" pitchFamily="34" charset="0"/>
              </a:rPr>
              <a:t>Linearity</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a:p>
            <a:pPr lvl="1"/>
            <a:r>
              <a:rPr lang="en-GB" dirty="0">
                <a:latin typeface="Bahnschrift Light" panose="020B0502040204020203" pitchFamily="34" charset="0"/>
              </a:rPr>
              <a:t>Of concern: Almost always</a:t>
            </a:r>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fade">
                                      <p:cBhvr>
                                        <p:cTn id="39" dur="500"/>
                                        <p:tgtEl>
                                          <p:spTgt spid="3">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500"/>
                                        <p:tgtEl>
                                          <p:spTgt spid="3">
                                            <p:txEl>
                                              <p:pRg st="10" end="10"/>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
                                            <p:txEl>
                                              <p:pRg st="11" end="11"/>
                                            </p:txEl>
                                          </p:spTgt>
                                        </p:tgtEl>
                                        <p:attrNameLst>
                                          <p:attrName>style.visibility</p:attrName>
                                        </p:attrNameLst>
                                      </p:cBhvr>
                                      <p:to>
                                        <p:strVal val="visible"/>
                                      </p:to>
                                    </p:set>
                                    <p:animEffect transition="in" filter="fade">
                                      <p:cBhvr>
                                        <p:cTn id="48" dur="500"/>
                                        <p:tgtEl>
                                          <p:spTgt spid="3">
                                            <p:txEl>
                                              <p:pRg st="11" end="11"/>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
                                            <p:txEl>
                                              <p:pRg st="1" end="1"/>
                                            </p:txEl>
                                          </p:spTgt>
                                        </p:tgtEl>
                                        <p:attrNameLst>
                                          <p:attrName>style.visibility</p:attrName>
                                        </p:attrNameLst>
                                      </p:cBhvr>
                                      <p:to>
                                        <p:strVal val="visible"/>
                                      </p:to>
                                    </p:set>
                                    <p:animEffect transition="in" filter="fade">
                                      <p:cBhvr>
                                        <p:cTn id="56" dur="500"/>
                                        <p:tgtEl>
                                          <p:spTgt spid="6">
                                            <p:txEl>
                                              <p:pRg st="1" end="1"/>
                                            </p:txEl>
                                          </p:spTgt>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
                                            <p:txEl>
                                              <p:pRg st="2" end="2"/>
                                            </p:txEl>
                                          </p:spTgt>
                                        </p:tgtEl>
                                        <p:attrNameLst>
                                          <p:attrName>style.visibility</p:attrName>
                                        </p:attrNameLst>
                                      </p:cBhvr>
                                      <p:to>
                                        <p:strVal val="visible"/>
                                      </p:to>
                                    </p:set>
                                    <p:animEffect transition="in" filter="fade">
                                      <p:cBhvr>
                                        <p:cTn id="59" dur="500"/>
                                        <p:tgtEl>
                                          <p:spTgt spid="6">
                                            <p:txEl>
                                              <p:pRg st="2" end="2"/>
                                            </p:txEl>
                                          </p:spTgt>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fade">
                                      <p:cBhvr>
                                        <p:cTn id="62" dur="500"/>
                                        <p:tgtEl>
                                          <p:spTgt spid="6">
                                            <p:txEl>
                                              <p:pRg st="3" end="3"/>
                                            </p:txEl>
                                          </p:spTgt>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
                                            <p:txEl>
                                              <p:pRg st="4" end="4"/>
                                            </p:txEl>
                                          </p:spTgt>
                                        </p:tgtEl>
                                        <p:attrNameLst>
                                          <p:attrName>style.visibility</p:attrName>
                                        </p:attrNameLst>
                                      </p:cBhvr>
                                      <p:to>
                                        <p:strVal val="visible"/>
                                      </p:to>
                                    </p:set>
                                    <p:animEffect transition="in" filter="fade">
                                      <p:cBhvr>
                                        <p:cTn id="65" dur="500"/>
                                        <p:tgtEl>
                                          <p:spTgt spid="6">
                                            <p:txEl>
                                              <p:pRg st="4" end="4"/>
                                            </p:txEl>
                                          </p:spTgt>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
                                            <p:txEl>
                                              <p:pRg st="5" end="5"/>
                                            </p:txEl>
                                          </p:spTgt>
                                        </p:tgtEl>
                                        <p:attrNameLst>
                                          <p:attrName>style.visibility</p:attrName>
                                        </p:attrNameLst>
                                      </p:cBhvr>
                                      <p:to>
                                        <p:strVal val="visible"/>
                                      </p:to>
                                    </p:set>
                                    <p:animEffect transition="in" filter="fade">
                                      <p:cBhvr>
                                        <p:cTn id="68" dur="500"/>
                                        <p:tgtEl>
                                          <p:spTgt spid="6">
                                            <p:txEl>
                                              <p:pRg st="5" end="5"/>
                                            </p:txEl>
                                          </p:spTgt>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6">
                                            <p:txEl>
                                              <p:pRg st="6" end="6"/>
                                            </p:txEl>
                                          </p:spTgt>
                                        </p:tgtEl>
                                        <p:attrNameLst>
                                          <p:attrName>style.visibility</p:attrName>
                                        </p:attrNameLst>
                                      </p:cBhvr>
                                      <p:to>
                                        <p:strVal val="visible"/>
                                      </p:to>
                                    </p:set>
                                    <p:animEffect transition="in" filter="fade">
                                      <p:cBhvr>
                                        <p:cTn id="71" dur="500"/>
                                        <p:tgtEl>
                                          <p:spTgt spid="6">
                                            <p:txEl>
                                              <p:pRg st="6" end="6"/>
                                            </p:txEl>
                                          </p:spTgt>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6">
                                            <p:txEl>
                                              <p:pRg st="7" end="7"/>
                                            </p:txEl>
                                          </p:spTgt>
                                        </p:tgtEl>
                                        <p:attrNameLst>
                                          <p:attrName>style.visibility</p:attrName>
                                        </p:attrNameLst>
                                      </p:cBhvr>
                                      <p:to>
                                        <p:strVal val="visible"/>
                                      </p:to>
                                    </p:set>
                                    <p:animEffect transition="in" filter="fade">
                                      <p:cBhvr>
                                        <p:cTn id="74" dur="500"/>
                                        <p:tgtEl>
                                          <p:spTgt spid="6">
                                            <p:txEl>
                                              <p:pRg st="7" end="7"/>
                                            </p:txEl>
                                          </p:spTgt>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
                                            <p:txEl>
                                              <p:pRg st="8" end="8"/>
                                            </p:txEl>
                                          </p:spTgt>
                                        </p:tgtEl>
                                        <p:attrNameLst>
                                          <p:attrName>style.visibility</p:attrName>
                                        </p:attrNameLst>
                                      </p:cBhvr>
                                      <p:to>
                                        <p:strVal val="visible"/>
                                      </p:to>
                                    </p:set>
                                    <p:animEffect transition="in" filter="fade">
                                      <p:cBhvr>
                                        <p:cTn id="77" dur="500"/>
                                        <p:tgtEl>
                                          <p:spTgt spid="6">
                                            <p:txEl>
                                              <p:pRg st="8" end="8"/>
                                            </p:txEl>
                                          </p:spTgt>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
                                            <p:txEl>
                                              <p:pRg st="9" end="9"/>
                                            </p:txEl>
                                          </p:spTgt>
                                        </p:tgtEl>
                                        <p:attrNameLst>
                                          <p:attrName>style.visibility</p:attrName>
                                        </p:attrNameLst>
                                      </p:cBhvr>
                                      <p:to>
                                        <p:strVal val="visible"/>
                                      </p:to>
                                    </p:set>
                                    <p:animEffect transition="in" filter="fade">
                                      <p:cBhvr>
                                        <p:cTn id="80" dur="500"/>
                                        <p:tgtEl>
                                          <p:spTgt spid="6">
                                            <p:txEl>
                                              <p:pRg st="9" end="9"/>
                                            </p:txEl>
                                          </p:spTgt>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
                                            <p:txEl>
                                              <p:pRg st="10" end="10"/>
                                            </p:txEl>
                                          </p:spTgt>
                                        </p:tgtEl>
                                        <p:attrNameLst>
                                          <p:attrName>style.visibility</p:attrName>
                                        </p:attrNameLst>
                                      </p:cBhvr>
                                      <p:to>
                                        <p:strVal val="visible"/>
                                      </p:to>
                                    </p:set>
                                    <p:animEffect transition="in" filter="fade">
                                      <p:cBhvr>
                                        <p:cTn id="83" dur="500"/>
                                        <p:tgtEl>
                                          <p:spTgt spid="6">
                                            <p:txEl>
                                              <p:pRg st="10" end="10"/>
                                            </p:txEl>
                                          </p:spTgt>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
                                            <p:txEl>
                                              <p:pRg st="11" end="11"/>
                                            </p:txEl>
                                          </p:spTgt>
                                        </p:tgtEl>
                                        <p:attrNameLst>
                                          <p:attrName>style.visibility</p:attrName>
                                        </p:attrNameLst>
                                      </p:cBhvr>
                                      <p:to>
                                        <p:strVal val="visible"/>
                                      </p:to>
                                    </p:set>
                                    <p:animEffect transition="in" filter="fade">
                                      <p:cBhvr>
                                        <p:cTn id="86" dur="500"/>
                                        <p:tgtEl>
                                          <p:spTgt spid="6">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br>
              <a:rPr lang="en-GB" sz="5400" dirty="0">
                <a:latin typeface="Bahnschrift Light" panose="020B0502040204020203" pitchFamily="34" charset="0"/>
              </a:rPr>
            </a:br>
            <a:r>
              <a:rPr lang="en-GB" sz="2400" dirty="0">
                <a:latin typeface="Bahnschrift Light" panose="020B0502040204020203" pitchFamily="34" charset="0"/>
              </a:rPr>
              <a:t>(in order)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85000" lnSpcReduction="20000"/>
          </a:bodyPr>
          <a:lstStyle/>
          <a:p>
            <a:pPr marL="514350" indent="-514350">
              <a:buFont typeface="+mj-lt"/>
              <a:buAutoNum type="arabicPeriod" startAt="5"/>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lvl="1"/>
            <a:r>
              <a:rPr lang="en-GB" dirty="0">
                <a:latin typeface="Bahnschrift Light" panose="020B0502040204020203" pitchFamily="34" charset="0"/>
              </a:rPr>
              <a:t>Of concern: When analysing temporal, spatial, or hierarchical data</a:t>
            </a:r>
          </a:p>
          <a:p>
            <a:pPr marL="514350" indent="-514350">
              <a:buFont typeface="+mj-lt"/>
              <a:buAutoNum type="arabicPeriod" startAt="5"/>
            </a:pPr>
            <a:r>
              <a:rPr lang="en-GB" b="1" dirty="0">
                <a:solidFill>
                  <a:srgbClr val="FFFF00"/>
                </a:solidFill>
                <a:latin typeface="Bahnschrift Light" panose="020B0502040204020203" pitchFamily="34" charset="0"/>
              </a:rPr>
              <a:t>Equal variance of errors</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lvl="1"/>
            <a:r>
              <a:rPr lang="en-GB" dirty="0">
                <a:latin typeface="Bahnschrift Light" panose="020B0502040204020203" pitchFamily="34" charset="0"/>
              </a:rPr>
              <a:t>Of concern: When making predictions (and when using P-values/NHST)</a:t>
            </a:r>
          </a:p>
          <a:p>
            <a:pPr lvl="1"/>
            <a:endParaRPr lang="en-GB" dirty="0">
              <a:latin typeface="Bahnschrift Light" panose="020B0502040204020203" pitchFamily="34" charset="0"/>
            </a:endParaRPr>
          </a:p>
        </p:txBody>
      </p:sp>
      <mc:AlternateContent xmlns:mc="http://schemas.openxmlformats.org/markup-compatibility/2006">
        <mc:Choice xmlns:a14="http://schemas.microsoft.com/office/drawing/2010/main" Requires="a14">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7"/>
                </a:pPr>
                <a:r>
                  <a:rPr lang="en-GB" b="1" dirty="0">
                    <a:solidFill>
                      <a:srgbClr val="FFFF00"/>
                    </a:solidFill>
                    <a:latin typeface="Bahnschrift Light" panose="020B0502040204020203" pitchFamily="34" charset="0"/>
                  </a:rPr>
                  <a:t>Normality of errors</a:t>
                </a:r>
              </a:p>
              <a:p>
                <a:pPr lvl="1"/>
                <a:r>
                  <a:rPr lang="en-GB" dirty="0">
                    <a:latin typeface="Bahnschrift Light" panose="020B0502040204020203" pitchFamily="34" charset="0"/>
                  </a:rPr>
                  <a:t>Meaning: The difference between what the model thinks, and reality is broadly </a:t>
                </a:r>
                <a14:m>
                  <m:oMath xmlns:m="http://schemas.openxmlformats.org/officeDocument/2006/math">
                    <m:r>
                      <a:rPr lang="en-GB" b="0" i="1" smtClean="0">
                        <a:latin typeface="Cambria Math" panose="02040503050406030204" pitchFamily="18" charset="0"/>
                      </a:rPr>
                      <m:t>𝑁𝑜𝑟𝑚𝑎𝑙𝑙𝑦</m:t>
                    </m:r>
                  </m:oMath>
                </a14:m>
                <a:r>
                  <a:rPr lang="en-GB" dirty="0">
                    <a:latin typeface="Bahnschrift Light" panose="020B0502040204020203" pitchFamily="34" charset="0"/>
                  </a:rPr>
                  <a:t> distributed</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lvl="1"/>
                <a:r>
                  <a:rPr lang="en-GB" dirty="0">
                    <a:latin typeface="Bahnschrift Light" panose="020B0502040204020203" pitchFamily="34" charset="0"/>
                  </a:rPr>
                  <a:t>Of concern: Only relevant if attempting to predict individual data points.</a:t>
                </a:r>
              </a:p>
            </p:txBody>
          </p:sp>
        </mc:Choice>
        <mc:Fallback>
          <p:sp>
            <p:nvSpPr>
              <p:cNvPr id="6" name="Content Placeholder 2">
                <a:extLst>
                  <a:ext uri="{FF2B5EF4-FFF2-40B4-BE49-F238E27FC236}">
                    <a16:creationId xmlns:a16="http://schemas.microsoft.com/office/drawing/2014/main" id="{5D3BB515-97F5-926B-5170-DBC860FF9AC0}"/>
                  </a:ext>
                </a:extLst>
              </p:cNvPr>
              <p:cNvSpPr txBox="1">
                <a:spLocks noRot="1" noChangeAspect="1" noMove="1" noResize="1" noEditPoints="1" noAdjustHandles="1" noChangeArrowheads="1" noChangeShapeType="1" noTextEdit="1"/>
              </p:cNvSpPr>
              <p:nvPr/>
            </p:nvSpPr>
            <p:spPr>
              <a:xfrm>
                <a:off x="6229261" y="1651000"/>
                <a:ext cx="5572125" cy="4834860"/>
              </a:xfrm>
              <a:prstGeom prst="rect">
                <a:avLst/>
              </a:prstGeom>
              <a:blipFill>
                <a:blip r:embed="rId2"/>
                <a:stretch>
                  <a:fillRect l="-2298" t="-2270" r="-1860"/>
                </a:stretch>
              </a:blipFill>
            </p:spPr>
            <p:txBody>
              <a:bodyPr/>
              <a:lstStyle/>
              <a:p>
                <a:r>
                  <a:rPr lang="en-GB">
                    <a:noFill/>
                  </a:rPr>
                  <a:t> </a:t>
                </a:r>
              </a:p>
            </p:txBody>
          </p:sp>
        </mc:Fallback>
      </mc:AlternateContent>
    </p:spTree>
    <p:extLst>
      <p:ext uri="{BB962C8B-B14F-4D97-AF65-F5344CB8AC3E}">
        <p14:creationId xmlns:p14="http://schemas.microsoft.com/office/powerpoint/2010/main" val="3973458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500"/>
                                        <p:tgtEl>
                                          <p:spTgt spid="3">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9" end="9"/>
                                            </p:txEl>
                                          </p:spTgt>
                                        </p:tgtEl>
                                        <p:attrNameLst>
                                          <p:attrName>style.visibility</p:attrName>
                                        </p:attrNameLst>
                                      </p:cBhvr>
                                      <p:to>
                                        <p:strVal val="visible"/>
                                      </p:to>
                                    </p:set>
                                    <p:animEffect transition="in" filter="fade">
                                      <p:cBhvr>
                                        <p:cTn id="36" dur="500"/>
                                        <p:tgtEl>
                                          <p:spTgt spid="3">
                                            <p:txEl>
                                              <p:pRg st="9" end="9"/>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animEffect transition="in" filter="fade">
                                      <p:cBhvr>
                                        <p:cTn id="39" dur="500"/>
                                        <p:tgtEl>
                                          <p:spTgt spid="3">
                                            <p:txEl>
                                              <p:pRg st="10" end="10"/>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11" end="11"/>
                                            </p:txEl>
                                          </p:spTgt>
                                        </p:tgtEl>
                                        <p:attrNameLst>
                                          <p:attrName>style.visibility</p:attrName>
                                        </p:attrNameLst>
                                      </p:cBhvr>
                                      <p:to>
                                        <p:strVal val="visible"/>
                                      </p:to>
                                    </p:set>
                                    <p:animEffect transition="in" filter="fade">
                                      <p:cBhvr>
                                        <p:cTn id="42" dur="500"/>
                                        <p:tgtEl>
                                          <p:spTgt spid="3">
                                            <p:txEl>
                                              <p:pRg st="11" end="1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fade">
                                      <p:cBhvr>
                                        <p:cTn id="47" dur="500"/>
                                        <p:tgtEl>
                                          <p:spTgt spid="6">
                                            <p:txEl>
                                              <p:pRg st="0" end="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
                                            <p:txEl>
                                              <p:pRg st="1" end="1"/>
                                            </p:txEl>
                                          </p:spTgt>
                                        </p:tgtEl>
                                        <p:attrNameLst>
                                          <p:attrName>style.visibility</p:attrName>
                                        </p:attrNameLst>
                                      </p:cBhvr>
                                      <p:to>
                                        <p:strVal val="visible"/>
                                      </p:to>
                                    </p:set>
                                    <p:animEffect transition="in" filter="fade">
                                      <p:cBhvr>
                                        <p:cTn id="50" dur="500"/>
                                        <p:tgtEl>
                                          <p:spTgt spid="6">
                                            <p:txEl>
                                              <p:pRg st="1" end="1"/>
                                            </p:txEl>
                                          </p:spTgt>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
                                            <p:txEl>
                                              <p:pRg st="2" end="2"/>
                                            </p:txEl>
                                          </p:spTgt>
                                        </p:tgtEl>
                                        <p:attrNameLst>
                                          <p:attrName>style.visibility</p:attrName>
                                        </p:attrNameLst>
                                      </p:cBhvr>
                                      <p:to>
                                        <p:strVal val="visible"/>
                                      </p:to>
                                    </p:set>
                                    <p:animEffect transition="in" filter="fade">
                                      <p:cBhvr>
                                        <p:cTn id="53" dur="500"/>
                                        <p:tgtEl>
                                          <p:spTgt spid="6">
                                            <p:txEl>
                                              <p:pRg st="2" end="2"/>
                                            </p:txEl>
                                          </p:spTgt>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
                                            <p:txEl>
                                              <p:pRg st="3" end="3"/>
                                            </p:txEl>
                                          </p:spTgt>
                                        </p:tgtEl>
                                        <p:attrNameLst>
                                          <p:attrName>style.visibility</p:attrName>
                                        </p:attrNameLst>
                                      </p:cBhvr>
                                      <p:to>
                                        <p:strVal val="visible"/>
                                      </p:to>
                                    </p:set>
                                    <p:animEffect transition="in" filter="fade">
                                      <p:cBhvr>
                                        <p:cTn id="56" dur="500"/>
                                        <p:tgtEl>
                                          <p:spTgt spid="6">
                                            <p:txEl>
                                              <p:pRg st="3" end="3"/>
                                            </p:txEl>
                                          </p:spTgt>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
                                            <p:txEl>
                                              <p:pRg st="4" end="4"/>
                                            </p:txEl>
                                          </p:spTgt>
                                        </p:tgtEl>
                                        <p:attrNameLst>
                                          <p:attrName>style.visibility</p:attrName>
                                        </p:attrNameLst>
                                      </p:cBhvr>
                                      <p:to>
                                        <p:strVal val="visible"/>
                                      </p:to>
                                    </p:set>
                                    <p:animEffect transition="in" filter="fade">
                                      <p:cBhvr>
                                        <p:cTn id="59" dur="500"/>
                                        <p:tgtEl>
                                          <p:spTgt spid="6">
                                            <p:txEl>
                                              <p:pRg st="4" end="4"/>
                                            </p:txEl>
                                          </p:spTgt>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
                                            <p:txEl>
                                              <p:pRg st="5" end="5"/>
                                            </p:txEl>
                                          </p:spTgt>
                                        </p:tgtEl>
                                        <p:attrNameLst>
                                          <p:attrName>style.visibility</p:attrName>
                                        </p:attrNameLst>
                                      </p:cBhvr>
                                      <p:to>
                                        <p:strVal val="visible"/>
                                      </p:to>
                                    </p:set>
                                    <p:animEffect transition="in" filter="fade">
                                      <p:cBhvr>
                                        <p:cTn id="62"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15BFA-A43D-27F5-47F6-F8D5A08E9362}"/>
              </a:ext>
            </a:extLst>
          </p:cNvPr>
          <p:cNvSpPr>
            <a:spLocks noGrp="1"/>
          </p:cNvSpPr>
          <p:nvPr>
            <p:ph type="title"/>
          </p:nvPr>
        </p:nvSpPr>
        <p:spPr/>
        <p:txBody>
          <a:bodyPr/>
          <a:lstStyle/>
          <a:p>
            <a:r>
              <a:rPr lang="en-GB" dirty="0"/>
              <a:t>Validity</a:t>
            </a:r>
          </a:p>
        </p:txBody>
      </p:sp>
      <p:sp>
        <p:nvSpPr>
          <p:cNvPr id="3" name="Content Placeholder 2">
            <a:extLst>
              <a:ext uri="{FF2B5EF4-FFF2-40B4-BE49-F238E27FC236}">
                <a16:creationId xmlns:a16="http://schemas.microsoft.com/office/drawing/2014/main" id="{D4AF04A5-7A82-3AF3-8E47-5F23DFEB6D9C}"/>
              </a:ext>
            </a:extLst>
          </p:cNvPr>
          <p:cNvSpPr>
            <a:spLocks noGrp="1"/>
          </p:cNvSpPr>
          <p:nvPr>
            <p:ph idx="1"/>
          </p:nvPr>
        </p:nvSpPr>
        <p:spPr/>
        <p:txBody>
          <a:bodyPr/>
          <a:lstStyle/>
          <a:p>
            <a:r>
              <a:rPr lang="en-GB" dirty="0"/>
              <a:t>Often caused by </a:t>
            </a:r>
            <a:r>
              <a:rPr lang="en-GB" b="1" dirty="0">
                <a:solidFill>
                  <a:srgbClr val="FF0000"/>
                </a:solidFill>
              </a:rPr>
              <a:t>measurement error</a:t>
            </a:r>
          </a:p>
          <a:p>
            <a:r>
              <a:rPr lang="en-GB" dirty="0"/>
              <a:t>Measuring data accurately often quite difficult</a:t>
            </a:r>
          </a:p>
          <a:p>
            <a:r>
              <a:rPr lang="en-GB" dirty="0"/>
              <a:t>Results is systematic bias</a:t>
            </a:r>
          </a:p>
          <a:p>
            <a:r>
              <a:rPr lang="en-GB" dirty="0"/>
              <a:t>Almost always underestimating relationship</a:t>
            </a:r>
          </a:p>
          <a:p>
            <a:r>
              <a:rPr lang="en-GB" dirty="0"/>
              <a:t>Can be accounted for in models but cannot be “diagnosed” from an existing data</a:t>
            </a:r>
          </a:p>
        </p:txBody>
      </p:sp>
      <p:pic>
        <p:nvPicPr>
          <p:cNvPr id="10" name="Picture Placeholder 9" descr="A graph with dots on it&#10;&#10;Description automatically generated">
            <a:extLst>
              <a:ext uri="{FF2B5EF4-FFF2-40B4-BE49-F238E27FC236}">
                <a16:creationId xmlns:a16="http://schemas.microsoft.com/office/drawing/2014/main" id="{C8168757-CA6E-DB79-967A-E7495109F02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pic>
        <p:nvPicPr>
          <p:cNvPr id="14" name="Picture 13" descr="A graph of a line with red dots and numbers&#10;&#10;Description automatically generated">
            <a:extLst>
              <a:ext uri="{FF2B5EF4-FFF2-40B4-BE49-F238E27FC236}">
                <a16:creationId xmlns:a16="http://schemas.microsoft.com/office/drawing/2014/main" id="{AC12F14A-0CAF-0F13-4962-A6E9FCE699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16" name="Picture 15" descr="A graph with lines and dots&#10;&#10;Description automatically generated">
            <a:extLst>
              <a:ext uri="{FF2B5EF4-FFF2-40B4-BE49-F238E27FC236}">
                <a16:creationId xmlns:a16="http://schemas.microsoft.com/office/drawing/2014/main" id="{7C229F65-C6DD-34B8-9626-94B28BB8C3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20" name="Picture 19" descr="A graph with white dots on a black background&#10;&#10;Description automatically generated">
            <a:extLst>
              <a:ext uri="{FF2B5EF4-FFF2-40B4-BE49-F238E27FC236}">
                <a16:creationId xmlns:a16="http://schemas.microsoft.com/office/drawing/2014/main" id="{345C4C10-2FDD-E7F4-E1F6-61676FAFC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spTree>
    <p:extLst>
      <p:ext uri="{BB962C8B-B14F-4D97-AF65-F5344CB8AC3E}">
        <p14:creationId xmlns:p14="http://schemas.microsoft.com/office/powerpoint/2010/main" val="930854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B427F-82FC-E4D5-280C-469A33A460E2}"/>
              </a:ext>
            </a:extLst>
          </p:cNvPr>
          <p:cNvSpPr>
            <a:spLocks noGrp="1"/>
          </p:cNvSpPr>
          <p:nvPr>
            <p:ph type="title"/>
          </p:nvPr>
        </p:nvSpPr>
        <p:spPr/>
        <p:txBody>
          <a:bodyPr/>
          <a:lstStyle/>
          <a:p>
            <a:r>
              <a:rPr lang="en-GB" dirty="0"/>
              <a:t>Representativeness</a:t>
            </a:r>
          </a:p>
        </p:txBody>
      </p:sp>
      <p:sp>
        <p:nvSpPr>
          <p:cNvPr id="3" name="Content Placeholder 2">
            <a:extLst>
              <a:ext uri="{FF2B5EF4-FFF2-40B4-BE49-F238E27FC236}">
                <a16:creationId xmlns:a16="http://schemas.microsoft.com/office/drawing/2014/main" id="{8741F10A-C85C-F95B-2988-3DD1D77A7AC4}"/>
              </a:ext>
            </a:extLst>
          </p:cNvPr>
          <p:cNvSpPr>
            <a:spLocks noGrp="1"/>
          </p:cNvSpPr>
          <p:nvPr>
            <p:ph idx="1"/>
          </p:nvPr>
        </p:nvSpPr>
        <p:spPr/>
        <p:txBody>
          <a:bodyPr/>
          <a:lstStyle/>
          <a:p>
            <a:r>
              <a:rPr lang="en-GB" dirty="0"/>
              <a:t>Often caused by poorly thought out study/experimental design</a:t>
            </a:r>
          </a:p>
          <a:p>
            <a:r>
              <a:rPr lang="en-GB" dirty="0"/>
              <a:t>Obscures the true relationship</a:t>
            </a:r>
          </a:p>
          <a:p>
            <a:r>
              <a:rPr lang="en-GB" dirty="0"/>
              <a:t>The data </a:t>
            </a:r>
            <a:r>
              <a:rPr lang="en-GB" b="1" dirty="0">
                <a:solidFill>
                  <a:srgbClr val="FF0000"/>
                </a:solidFill>
              </a:rPr>
              <a:t>does not represent </a:t>
            </a:r>
            <a:r>
              <a:rPr lang="en-GB" dirty="0"/>
              <a:t>the truth</a:t>
            </a:r>
          </a:p>
          <a:p>
            <a:r>
              <a:rPr lang="en-GB" dirty="0"/>
              <a:t>Leading us to become biassed</a:t>
            </a:r>
          </a:p>
          <a:p>
            <a:r>
              <a:rPr lang="en-GB" dirty="0"/>
              <a:t>Can be accounted for in models but cannot be “diagnosed” from an existing data</a:t>
            </a:r>
          </a:p>
        </p:txBody>
      </p:sp>
      <p:pic>
        <p:nvPicPr>
          <p:cNvPr id="6" name="Picture Placeholder 5" descr="A screen shot of a black screen&#10;&#10;Description automatically generated">
            <a:extLst>
              <a:ext uri="{FF2B5EF4-FFF2-40B4-BE49-F238E27FC236}">
                <a16:creationId xmlns:a16="http://schemas.microsoft.com/office/drawing/2014/main" id="{DF275C32-5A24-AD7C-5058-FDB9B7FA9DB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pic>
        <p:nvPicPr>
          <p:cNvPr id="8" name="Picture 7" descr="A screen shot of a black grid&#10;&#10;Description automatically generated">
            <a:extLst>
              <a:ext uri="{FF2B5EF4-FFF2-40B4-BE49-F238E27FC236}">
                <a16:creationId xmlns:a16="http://schemas.microsoft.com/office/drawing/2014/main" id="{6C53479F-1583-4D98-6FBD-6AC10103E6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10" name="Picture 9" descr="A screen shot of a graph&#10;&#10;Description automatically generated">
            <a:extLst>
              <a:ext uri="{FF2B5EF4-FFF2-40B4-BE49-F238E27FC236}">
                <a16:creationId xmlns:a16="http://schemas.microsoft.com/office/drawing/2014/main" id="{CA988208-48DF-C480-3A9F-4B8C5D93B7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2663387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FC011-92C3-69D1-2451-52FD695F30E2}"/>
              </a:ext>
            </a:extLst>
          </p:cNvPr>
          <p:cNvSpPr>
            <a:spLocks noGrp="1"/>
          </p:cNvSpPr>
          <p:nvPr>
            <p:ph type="title"/>
          </p:nvPr>
        </p:nvSpPr>
        <p:spPr/>
        <p:txBody>
          <a:bodyPr/>
          <a:lstStyle/>
          <a:p>
            <a:r>
              <a:rPr lang="en-GB" dirty="0"/>
              <a:t>Additivity &amp; Linearity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D91ABB0-4E2C-A04F-9BD6-33D4E81AC14D}"/>
                  </a:ext>
                </a:extLst>
              </p:cNvPr>
              <p:cNvSpPr>
                <a:spLocks noGrp="1"/>
              </p:cNvSpPr>
              <p:nvPr>
                <p:ph idx="1"/>
              </p:nvPr>
            </p:nvSpPr>
            <p:spPr/>
            <p:txBody>
              <a:bodyPr/>
              <a:lstStyle/>
              <a:p>
                <a:r>
                  <a:rPr lang="en-GB" dirty="0"/>
                  <a:t>Often caused by </a:t>
                </a:r>
                <a:r>
                  <a:rPr lang="en-GB" b="1" dirty="0">
                    <a:solidFill>
                      <a:srgbClr val="FF0000"/>
                    </a:solidFill>
                  </a:rPr>
                  <a:t>model misspecification</a:t>
                </a:r>
              </a:p>
              <a:p>
                <a:pPr lvl="1"/>
                <a:r>
                  <a:rPr lang="en-GB" dirty="0"/>
                  <a:t>I.e. </a:t>
                </a:r>
                <a14:m>
                  <m:oMath xmlns:m="http://schemas.openxmlformats.org/officeDocument/2006/math">
                    <m:r>
                      <a:rPr lang="en-GB" b="0" i="1" smtClean="0">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𝑋</m:t>
                    </m:r>
                  </m:oMath>
                </a14:m>
                <a:r>
                  <a:rPr lang="en-GB" dirty="0"/>
                  <a:t> when alternative should be used</a:t>
                </a:r>
              </a:p>
              <a:p>
                <a:r>
                  <a:rPr lang="en-GB" dirty="0"/>
                  <a:t>Fit can look fine but doesn’t capture the data well at all</a:t>
                </a:r>
              </a:p>
              <a:p>
                <a:r>
                  <a:rPr lang="en-GB" dirty="0"/>
                  <a:t>Leads to overly simplistic and flawed inference</a:t>
                </a:r>
              </a:p>
            </p:txBody>
          </p:sp>
        </mc:Choice>
        <mc:Fallback>
          <p:sp>
            <p:nvSpPr>
              <p:cNvPr id="3" name="Content Placeholder 2">
                <a:extLst>
                  <a:ext uri="{FF2B5EF4-FFF2-40B4-BE49-F238E27FC236}">
                    <a16:creationId xmlns:a16="http://schemas.microsoft.com/office/drawing/2014/main" id="{7D91ABB0-4E2C-A04F-9BD6-33D4E81AC14D}"/>
                  </a:ext>
                </a:extLst>
              </p:cNvPr>
              <p:cNvSpPr>
                <a:spLocks noGrp="1" noRot="1" noChangeAspect="1" noMove="1" noResize="1" noEditPoints="1" noAdjustHandles="1" noChangeArrowheads="1" noChangeShapeType="1" noTextEdit="1"/>
              </p:cNvSpPr>
              <p:nvPr>
                <p:ph idx="1"/>
              </p:nvPr>
            </p:nvSpPr>
            <p:spPr>
              <a:blipFill>
                <a:blip r:embed="rId2"/>
                <a:stretch>
                  <a:fillRect l="-1770" r="-1672"/>
                </a:stretch>
              </a:blipFill>
            </p:spPr>
            <p:txBody>
              <a:bodyPr/>
              <a:lstStyle/>
              <a:p>
                <a:r>
                  <a:rPr lang="en-GB">
                    <a:noFill/>
                  </a:rPr>
                  <a:t> </a:t>
                </a:r>
              </a:p>
            </p:txBody>
          </p:sp>
        </mc:Fallback>
      </mc:AlternateContent>
      <p:pic>
        <p:nvPicPr>
          <p:cNvPr id="6" name="Picture Placeholder 5" descr="A graph of a curve&#10;&#10;Description automatically generated">
            <a:extLst>
              <a:ext uri="{FF2B5EF4-FFF2-40B4-BE49-F238E27FC236}">
                <a16:creationId xmlns:a16="http://schemas.microsoft.com/office/drawing/2014/main" id="{CCFD8EB5-A770-D446-5289-8F7396038CCC}"/>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pic>
        <p:nvPicPr>
          <p:cNvPr id="8" name="Picture 7" descr="A graph of a line and a line&#10;&#10;Description automatically generated with medium confidence">
            <a:extLst>
              <a:ext uri="{FF2B5EF4-FFF2-40B4-BE49-F238E27FC236}">
                <a16:creationId xmlns:a16="http://schemas.microsoft.com/office/drawing/2014/main" id="{3B54955B-F349-D141-08A1-174586B71D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10" name="Picture 9" descr="A graph of a graph with white dots&#10;&#10;Description automatically generated">
            <a:extLst>
              <a:ext uri="{FF2B5EF4-FFF2-40B4-BE49-F238E27FC236}">
                <a16:creationId xmlns:a16="http://schemas.microsoft.com/office/drawing/2014/main" id="{43D71A01-7B29-DC1D-584C-09CB047825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2450241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fade">
                                      <p:cBhvr>
                                        <p:cTn id="23" dur="500"/>
                                        <p:tgtEl>
                                          <p:spTgt spid="3">
                                            <p:txEl>
                                              <p:pRg st="3" end="3"/>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5C0E6-8DF6-25FA-7CC4-1F0FA20B97C8}"/>
              </a:ext>
            </a:extLst>
          </p:cNvPr>
          <p:cNvSpPr>
            <a:spLocks noGrp="1"/>
          </p:cNvSpPr>
          <p:nvPr>
            <p:ph type="title"/>
          </p:nvPr>
        </p:nvSpPr>
        <p:spPr/>
        <p:txBody>
          <a:bodyPr/>
          <a:lstStyle/>
          <a:p>
            <a:r>
              <a:rPr lang="en-GB" dirty="0"/>
              <a:t>Which assumptions do we make here?</a:t>
            </a:r>
          </a:p>
        </p:txBody>
      </p:sp>
      <p:sp>
        <p:nvSpPr>
          <p:cNvPr id="3" name="Content Placeholder 2">
            <a:extLst>
              <a:ext uri="{FF2B5EF4-FFF2-40B4-BE49-F238E27FC236}">
                <a16:creationId xmlns:a16="http://schemas.microsoft.com/office/drawing/2014/main" id="{3E0D66B2-0A0B-52A2-F5A8-247DF057FAE2}"/>
              </a:ext>
            </a:extLst>
          </p:cNvPr>
          <p:cNvSpPr>
            <a:spLocks noGrp="1"/>
          </p:cNvSpPr>
          <p:nvPr>
            <p:ph idx="1"/>
          </p:nvPr>
        </p:nvSpPr>
        <p:spPr>
          <a:xfrm>
            <a:off x="0" y="1701209"/>
            <a:ext cx="6201295" cy="4965598"/>
          </a:xfrm>
        </p:spPr>
        <p:txBody>
          <a:bodyPr>
            <a:normAutofit fontScale="92500" lnSpcReduction="20000"/>
          </a:bodyPr>
          <a:lstStyle/>
          <a:p>
            <a:pPr marL="457200" indent="-457200">
              <a:buFont typeface="+mj-lt"/>
              <a:buAutoNum type="arabicPeriod"/>
            </a:pPr>
            <a:r>
              <a:rPr lang="en-GB" sz="2000" dirty="0">
                <a:solidFill>
                  <a:srgbClr val="FFFF00"/>
                </a:solidFill>
              </a:rPr>
              <a:t>Validity</a:t>
            </a:r>
          </a:p>
          <a:p>
            <a:pPr marL="800100" lvl="1" indent="-342900">
              <a:buFont typeface="+mj-lt"/>
              <a:buAutoNum type="arabicPeriod"/>
            </a:pPr>
            <a:r>
              <a:rPr lang="en-GB" sz="1800" dirty="0"/>
              <a:t>Safe to assume people were as good at detecting eagles in 1974 as in 2019?</a:t>
            </a:r>
          </a:p>
          <a:p>
            <a:pPr marL="457200" indent="-457200">
              <a:buFont typeface="+mj-lt"/>
              <a:buAutoNum type="arabicPeriod"/>
            </a:pPr>
            <a:r>
              <a:rPr lang="en-GB" sz="2000" dirty="0">
                <a:solidFill>
                  <a:srgbClr val="FFFF00"/>
                </a:solidFill>
              </a:rPr>
              <a:t>Representativeness</a:t>
            </a:r>
          </a:p>
          <a:p>
            <a:pPr marL="800100" lvl="1" indent="-342900">
              <a:buFont typeface="+mj-lt"/>
              <a:buAutoNum type="arabicPeriod"/>
            </a:pPr>
            <a:r>
              <a:rPr lang="en-GB" sz="1800" dirty="0"/>
              <a:t>Safe to assume it wasn’t just a handful of bird watchers in 1974 surveying the north?</a:t>
            </a:r>
          </a:p>
          <a:p>
            <a:pPr marL="457200" indent="-457200">
              <a:buFont typeface="+mj-lt"/>
              <a:buAutoNum type="arabicPeriod"/>
            </a:pPr>
            <a:r>
              <a:rPr lang="en-GB" sz="2000" dirty="0">
                <a:solidFill>
                  <a:srgbClr val="FFFF00"/>
                </a:solidFill>
              </a:rPr>
              <a:t>Additivity</a:t>
            </a:r>
          </a:p>
          <a:p>
            <a:pPr marL="800100" lvl="1" indent="-342900">
              <a:buFont typeface="+mj-lt"/>
              <a:buAutoNum type="arabicPeriod"/>
            </a:pPr>
            <a:r>
              <a:rPr lang="en-GB" sz="1800" dirty="0"/>
              <a:t>Safe to assume “recovery” was just because of Clean Water Act?</a:t>
            </a:r>
          </a:p>
          <a:p>
            <a:pPr marL="457200" indent="-457200">
              <a:buFont typeface="+mj-lt"/>
              <a:buAutoNum type="arabicPeriod"/>
            </a:pPr>
            <a:r>
              <a:rPr lang="en-GB" sz="2000" dirty="0">
                <a:solidFill>
                  <a:srgbClr val="FFFF00"/>
                </a:solidFill>
              </a:rPr>
              <a:t>Linearity</a:t>
            </a:r>
          </a:p>
          <a:p>
            <a:pPr marL="800100" lvl="1" indent="-342900">
              <a:buFont typeface="+mj-lt"/>
              <a:buAutoNum type="arabicPeriod"/>
            </a:pPr>
            <a:r>
              <a:rPr lang="en-GB" sz="1800" dirty="0"/>
              <a:t>Safe to assume growth was linear, not e.g. exponential?</a:t>
            </a:r>
          </a:p>
          <a:p>
            <a:pPr marL="457200" indent="-457200">
              <a:buFont typeface="+mj-lt"/>
              <a:buAutoNum type="arabicPeriod"/>
            </a:pPr>
            <a:r>
              <a:rPr lang="en-GB" sz="2000" dirty="0">
                <a:solidFill>
                  <a:srgbClr val="FFFF00"/>
                </a:solidFill>
              </a:rPr>
              <a:t>Independent errors</a:t>
            </a:r>
          </a:p>
          <a:p>
            <a:pPr marL="800100" lvl="1" indent="-342900">
              <a:buFont typeface="+mj-lt"/>
              <a:buAutoNum type="arabicPeriod"/>
            </a:pPr>
            <a:r>
              <a:rPr lang="en-GB" sz="1800" dirty="0"/>
              <a:t>Are observations next to each in space, and over time, independent?</a:t>
            </a:r>
          </a:p>
          <a:p>
            <a:pPr marL="457200" indent="-457200">
              <a:buFont typeface="+mj-lt"/>
              <a:buAutoNum type="arabicPeriod"/>
            </a:pPr>
            <a:r>
              <a:rPr lang="en-GB" sz="2000" dirty="0">
                <a:solidFill>
                  <a:srgbClr val="FFFF00"/>
                </a:solidFill>
              </a:rPr>
              <a:t>Equal variance</a:t>
            </a:r>
          </a:p>
          <a:p>
            <a:pPr marL="800100" lvl="1" indent="-342900">
              <a:buFont typeface="+mj-lt"/>
              <a:buAutoNum type="arabicPeriod"/>
            </a:pPr>
            <a:r>
              <a:rPr lang="en-GB" sz="1800" dirty="0"/>
              <a:t>Can only check once model has been fit</a:t>
            </a:r>
          </a:p>
          <a:p>
            <a:pPr marL="457200" indent="-457200">
              <a:buFont typeface="+mj-lt"/>
              <a:buAutoNum type="arabicPeriod"/>
            </a:pPr>
            <a:r>
              <a:rPr lang="en-GB" sz="2000" dirty="0">
                <a:solidFill>
                  <a:srgbClr val="FFFF00"/>
                </a:solidFill>
              </a:rPr>
              <a:t>Normality of residuals</a:t>
            </a:r>
          </a:p>
          <a:p>
            <a:pPr marL="800100" lvl="1" indent="-342900">
              <a:buFont typeface="+mj-lt"/>
              <a:buAutoNum type="arabicPeriod"/>
            </a:pPr>
            <a:r>
              <a:rPr lang="en-GB" sz="1800" dirty="0"/>
              <a:t>Can only check once model has been fit</a:t>
            </a:r>
            <a:endParaRPr lang="en-GB" sz="1800" dirty="0">
              <a:solidFill>
                <a:srgbClr val="FFFF00"/>
              </a:solidFill>
            </a:endParaRPr>
          </a:p>
        </p:txBody>
      </p:sp>
      <p:pic>
        <p:nvPicPr>
          <p:cNvPr id="5" name="Picture Placeholder 4" descr="A screenshot of a map&#10;&#10;Description automatically generated">
            <a:extLst>
              <a:ext uri="{FF2B5EF4-FFF2-40B4-BE49-F238E27FC236}">
                <a16:creationId xmlns:a16="http://schemas.microsoft.com/office/drawing/2014/main" id="{F084CF3A-6EDA-554A-3255-478D6C62E2B4}"/>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l="-836" t="-27861" r="-1" b="-16283"/>
          <a:stretch/>
        </p:blipFill>
        <p:spPr>
          <a:xfrm>
            <a:off x="6359525" y="0"/>
            <a:ext cx="5832475" cy="6858000"/>
          </a:xfrm>
          <a:prstGeom prst="rect">
            <a:avLst/>
          </a:prstGeom>
        </p:spPr>
      </p:pic>
    </p:spTree>
    <p:extLst>
      <p:ext uri="{BB962C8B-B14F-4D97-AF65-F5344CB8AC3E}">
        <p14:creationId xmlns:p14="http://schemas.microsoft.com/office/powerpoint/2010/main" val="39947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9" end="9"/>
                                            </p:txEl>
                                          </p:spTgt>
                                        </p:tgtEl>
                                        <p:attrNameLst>
                                          <p:attrName>style.visibility</p:attrName>
                                        </p:attrNameLst>
                                      </p:cBhvr>
                                      <p:to>
                                        <p:strVal val="visible"/>
                                      </p:to>
                                    </p:set>
                                    <p:animEffect transition="in" filter="fade">
                                      <p:cBhvr>
                                        <p:cTn id="50" dur="500"/>
                                        <p:tgtEl>
                                          <p:spTgt spid="3">
                                            <p:txEl>
                                              <p:pRg st="9" end="9"/>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
                                            <p:txEl>
                                              <p:pRg st="10" end="10"/>
                                            </p:txEl>
                                          </p:spTgt>
                                        </p:tgtEl>
                                        <p:attrNameLst>
                                          <p:attrName>style.visibility</p:attrName>
                                        </p:attrNameLst>
                                      </p:cBhvr>
                                      <p:to>
                                        <p:strVal val="visible"/>
                                      </p:to>
                                    </p:set>
                                    <p:animEffect transition="in" filter="fade">
                                      <p:cBhvr>
                                        <p:cTn id="55" dur="500"/>
                                        <p:tgtEl>
                                          <p:spTgt spid="3">
                                            <p:txEl>
                                              <p:pRg st="10" end="1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
                                            <p:txEl>
                                              <p:pRg st="11" end="11"/>
                                            </p:txEl>
                                          </p:spTgt>
                                        </p:tgtEl>
                                        <p:attrNameLst>
                                          <p:attrName>style.visibility</p:attrName>
                                        </p:attrNameLst>
                                      </p:cBhvr>
                                      <p:to>
                                        <p:strVal val="visible"/>
                                      </p:to>
                                    </p:set>
                                    <p:animEffect transition="in" filter="fade">
                                      <p:cBhvr>
                                        <p:cTn id="60" dur="500"/>
                                        <p:tgtEl>
                                          <p:spTgt spid="3">
                                            <p:txEl>
                                              <p:pRg st="11" end="11"/>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
                                            <p:txEl>
                                              <p:pRg st="12" end="12"/>
                                            </p:txEl>
                                          </p:spTgt>
                                        </p:tgtEl>
                                        <p:attrNameLst>
                                          <p:attrName>style.visibility</p:attrName>
                                        </p:attrNameLst>
                                      </p:cBhvr>
                                      <p:to>
                                        <p:strVal val="visible"/>
                                      </p:to>
                                    </p:set>
                                    <p:animEffect transition="in" filter="fade">
                                      <p:cBhvr>
                                        <p:cTn id="65" dur="500"/>
                                        <p:tgtEl>
                                          <p:spTgt spid="3">
                                            <p:txEl>
                                              <p:pRg st="12" end="12"/>
                                            </p:txEl>
                                          </p:spTgt>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
                                            <p:txEl>
                                              <p:pRg st="13" end="13"/>
                                            </p:txEl>
                                          </p:spTgt>
                                        </p:tgtEl>
                                        <p:attrNameLst>
                                          <p:attrName>style.visibility</p:attrName>
                                        </p:attrNameLst>
                                      </p:cBhvr>
                                      <p:to>
                                        <p:strVal val="visible"/>
                                      </p:to>
                                    </p:set>
                                    <p:animEffect transition="in" filter="fade">
                                      <p:cBhvr>
                                        <p:cTn id="68"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2466</TotalTime>
  <Words>1972</Words>
  <Application>Microsoft Office PowerPoint</Application>
  <PresentationFormat>Widescreen</PresentationFormat>
  <Paragraphs>271</Paragraphs>
  <Slides>29</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 (in order)</vt:lpstr>
      <vt:lpstr>Your key assumptions (in order)</vt:lpstr>
      <vt:lpstr>Validity</vt:lpstr>
      <vt:lpstr>Representativeness</vt:lpstr>
      <vt:lpstr>Additivity &amp; Linearity</vt:lpstr>
      <vt:lpstr>Which assumptions do we make here?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Deon Roos</cp:lastModifiedBy>
  <cp:revision>14</cp:revision>
  <dcterms:created xsi:type="dcterms:W3CDTF">2024-06-28T13:38:41Z</dcterms:created>
  <dcterms:modified xsi:type="dcterms:W3CDTF">2024-08-09T13:29:40Z</dcterms:modified>
</cp:coreProperties>
</file>