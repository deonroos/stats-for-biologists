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7" r:id="rId3"/>
    <p:sldId id="288" r:id="rId4"/>
    <p:sldId id="305" r:id="rId5"/>
    <p:sldId id="306" r:id="rId6"/>
    <p:sldId id="308" r:id="rId7"/>
    <p:sldId id="307" r:id="rId8"/>
    <p:sldId id="309" r:id="rId9"/>
    <p:sldId id="310" r:id="rId10"/>
    <p:sldId id="311" r:id="rId11"/>
    <p:sldId id="313" r:id="rId12"/>
    <p:sldId id="314" r:id="rId13"/>
    <p:sldId id="324" r:id="rId14"/>
    <p:sldId id="316" r:id="rId15"/>
    <p:sldId id="317" r:id="rId16"/>
    <p:sldId id="315" r:id="rId17"/>
    <p:sldId id="325" r:id="rId18"/>
    <p:sldId id="303" r:id="rId19"/>
    <p:sldId id="3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956F05C-6DDD-422D-918C-314E9DA21D16}">
          <p14:sldIdLst>
            <p14:sldId id="257"/>
            <p14:sldId id="287"/>
            <p14:sldId id="288"/>
            <p14:sldId id="305"/>
            <p14:sldId id="306"/>
            <p14:sldId id="308"/>
            <p14:sldId id="307"/>
            <p14:sldId id="309"/>
            <p14:sldId id="310"/>
            <p14:sldId id="311"/>
            <p14:sldId id="313"/>
            <p14:sldId id="314"/>
            <p14:sldId id="324"/>
            <p14:sldId id="316"/>
            <p14:sldId id="317"/>
            <p14:sldId id="315"/>
            <p14:sldId id="325"/>
            <p14:sldId id="303"/>
            <p14:sldId id="31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6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74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5976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30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72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7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74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32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35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890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4E24-41AE-F2CF-6A31-4B219D7FF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85D76-968C-67F0-C66E-506640107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65A56-F312-4FC8-1434-D0B76F05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9CEB4-F855-966E-729E-FFDC8DF6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6859A-671B-B909-2339-926606DB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806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B475-942C-4A23-A4EA-2580EABC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71F5-936B-4035-9F86-6FD1BD273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3F82A-49AE-46DD-A16A-7083C557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7676-C212-4803-93A5-304A74E7C3F6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E12B4-51CF-4406-AD70-279DA6C1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CEA7-051F-43A8-8BB6-7B204720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0580-A738-49E0-8221-275B179AE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766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80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6FFCA-D54E-40C3-ADD4-34D72280AA8D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8133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jpg"/><Relationship Id="rId4" Type="http://schemas.openxmlformats.org/officeDocument/2006/relationships/image" Target="../media/image2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50281-0281-48A9-9D6A-9C5E0E62C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864311"/>
          </a:xfrm>
        </p:spPr>
        <p:txBody>
          <a:bodyPr>
            <a:normAutofit/>
          </a:bodyPr>
          <a:lstStyle/>
          <a:p>
            <a:r>
              <a:rPr lang="en-GB" dirty="0"/>
              <a:t>Using “</a:t>
            </a:r>
            <a:r>
              <a:rPr lang="en-GB" i="1" dirty="0"/>
              <a:t>Machine Learning</a:t>
            </a:r>
            <a:r>
              <a:rPr lang="en-GB" dirty="0"/>
              <a:t>” (</a:t>
            </a:r>
            <a:r>
              <a:rPr lang="en-GB" dirty="0" err="1"/>
              <a:t>a.k.a</a:t>
            </a:r>
            <a:r>
              <a:rPr lang="en-GB" dirty="0"/>
              <a:t> statistics) to estimate the unknown</a:t>
            </a:r>
          </a:p>
        </p:txBody>
      </p:sp>
      <p:pic>
        <p:nvPicPr>
          <p:cNvPr id="5" name="Picture 4" descr="A close - up of a forest&#10;&#10;Description automatically generated with low confidence">
            <a:extLst>
              <a:ext uri="{FF2B5EF4-FFF2-40B4-BE49-F238E27FC236}">
                <a16:creationId xmlns:a16="http://schemas.microsoft.com/office/drawing/2014/main" id="{0E71F5F5-5442-457D-917B-81B1E6E056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61"/>
          <a:stretch/>
        </p:blipFill>
        <p:spPr>
          <a:xfrm>
            <a:off x="0" y="2166151"/>
            <a:ext cx="12192000" cy="469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0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57A29-B437-4FE5-A5A6-A9DC70CF4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0778"/>
            <a:ext cx="11360800" cy="763600"/>
          </a:xfrm>
        </p:spPr>
        <p:txBody>
          <a:bodyPr/>
          <a:lstStyle/>
          <a:p>
            <a:r>
              <a:rPr lang="en-GB" dirty="0"/>
              <a:t>How does the optimiser (and MLE)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12816-E7F1-4A19-9DF0-F418DE07E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360504" cy="4828656"/>
          </a:xfrm>
        </p:spPr>
        <p:txBody>
          <a:bodyPr/>
          <a:lstStyle/>
          <a:p>
            <a:pPr marL="152396" indent="0">
              <a:buNone/>
            </a:pPr>
            <a:r>
              <a:rPr lang="en-GB" dirty="0"/>
              <a:t>Previously I said;</a:t>
            </a:r>
          </a:p>
          <a:p>
            <a:pPr marL="152396" indent="0">
              <a:buNone/>
            </a:pPr>
            <a:r>
              <a:rPr lang="en-GB" dirty="0"/>
              <a:t>‘The “algorithm” tries many different possible values for all parameters.’</a:t>
            </a:r>
          </a:p>
          <a:p>
            <a:pPr marL="152396" indent="0">
              <a:buNone/>
            </a:pPr>
            <a:endParaRPr lang="en-GB" dirty="0"/>
          </a:p>
          <a:p>
            <a:pPr marL="152396" indent="0">
              <a:buNone/>
            </a:pPr>
            <a:r>
              <a:rPr lang="en-GB" dirty="0"/>
              <a:t>But that’s not very satisfying.</a:t>
            </a:r>
          </a:p>
          <a:p>
            <a:pPr marL="152396" indent="0">
              <a:buNone/>
            </a:pPr>
            <a:endParaRPr lang="en-GB" dirty="0"/>
          </a:p>
          <a:p>
            <a:pPr marL="152396" indent="0">
              <a:buNone/>
            </a:pPr>
            <a:r>
              <a:rPr lang="en-GB" dirty="0"/>
              <a:t>What follows is complex.</a:t>
            </a:r>
          </a:p>
          <a:p>
            <a:pPr marL="152396" indent="0">
              <a:buNone/>
            </a:pPr>
            <a:endParaRPr lang="en-GB" dirty="0"/>
          </a:p>
          <a:p>
            <a:pPr marL="152396" indent="0">
              <a:buNone/>
            </a:pPr>
            <a:r>
              <a:rPr lang="en-GB" dirty="0"/>
              <a:t>I do not expect you to understand, I just want to give you an idea of how the engine works.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E75573-FA8A-40AD-AB7A-B0C37059A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28" y="941244"/>
            <a:ext cx="5448772" cy="5745978"/>
          </a:xfrm>
          <a:prstGeom prst="rect">
            <a:avLst/>
          </a:prstGeom>
        </p:spPr>
      </p:pic>
      <p:sp>
        <p:nvSpPr>
          <p:cNvPr id="14" name="Google Shape;445;p27">
            <a:extLst>
              <a:ext uri="{FF2B5EF4-FFF2-40B4-BE49-F238E27FC236}">
                <a16:creationId xmlns:a16="http://schemas.microsoft.com/office/drawing/2014/main" id="{8C183E97-1645-4781-BD5C-4157FA9FA0EE}"/>
              </a:ext>
            </a:extLst>
          </p:cNvPr>
          <p:cNvSpPr/>
          <p:nvPr/>
        </p:nvSpPr>
        <p:spPr>
          <a:xfrm>
            <a:off x="2367540" y="934378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26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0EAD-A16F-4124-AA09-7B9654B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67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Behind the scenes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E6009-2A6F-493A-A005-1C4A975A7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558867"/>
          </a:xfrm>
        </p:spPr>
        <p:txBody>
          <a:bodyPr/>
          <a:lstStyle/>
          <a:p>
            <a:pPr marL="152396" indent="0">
              <a:buNone/>
            </a:pPr>
            <a:r>
              <a:rPr lang="en-GB" dirty="0"/>
              <a:t>The “rating” (a.k.a. the Likelihood) equation</a:t>
            </a:r>
          </a:p>
          <a:p>
            <a:pPr lvl="1"/>
            <a:endParaRPr lang="en-GB" dirty="0"/>
          </a:p>
        </p:txBody>
      </p:sp>
      <p:sp>
        <p:nvSpPr>
          <p:cNvPr id="4" name="Google Shape;445;p27">
            <a:extLst>
              <a:ext uri="{FF2B5EF4-FFF2-40B4-BE49-F238E27FC236}">
                <a16:creationId xmlns:a16="http://schemas.microsoft.com/office/drawing/2014/main" id="{C2ED93CC-CA52-4C1E-B83D-7A6245373516}"/>
              </a:ext>
            </a:extLst>
          </p:cNvPr>
          <p:cNvSpPr/>
          <p:nvPr/>
        </p:nvSpPr>
        <p:spPr>
          <a:xfrm>
            <a:off x="4284918" y="816119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35BCDE-A31F-48F6-983E-CFB8ED9626BF}"/>
                  </a:ext>
                </a:extLst>
              </p:cNvPr>
              <p:cNvSpPr txBox="1"/>
              <p:nvPr/>
            </p:nvSpPr>
            <p:spPr>
              <a:xfrm>
                <a:off x="0" y="2135168"/>
                <a:ext cx="12192000" cy="988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GB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e>
                          <m:r>
                            <a:rPr lang="en-GB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en-GB" sz="240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GB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GB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∏"/>
                          <m:supHide m:val="on"/>
                          <m:ctrlPr>
                            <a:rPr lang="en-GB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𝐶𝐻</m:t>
                          </m:r>
                        </m:sub>
                        <m:sup/>
                        <m:e>
                          <m:r>
                            <a:rPr lang="en-GB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GB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GB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GB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GB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𝑒𝑛𝑐𝑜𝑢𝑛𝑡𝑒𝑟𝑒𝑑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GB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35BCDE-A31F-48F6-983E-CFB8ED962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35168"/>
                <a:ext cx="12192000" cy="9882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A276A243-6D28-4798-85DA-34F3C6D4C6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3163120"/>
                <a:ext cx="12192000" cy="3692313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>
                <a:lvl1pPr marL="609585" lvl="0" indent="-457189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●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219170" lvl="1" indent="-423323" algn="l" defTabSz="914400" rtl="0" eaLnBrk="1" latinLnBrk="0" hangingPunct="1">
                  <a:lnSpc>
                    <a:spcPct val="90000"/>
                  </a:lnSpc>
                  <a:spcBef>
                    <a:spcPts val="2133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○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754" lvl="2" indent="-423323" algn="l" defTabSz="914400" rtl="0" eaLnBrk="1" latinLnBrk="0" hangingPunct="1">
                  <a:lnSpc>
                    <a:spcPct val="90000"/>
                  </a:lnSpc>
                  <a:spcBef>
                    <a:spcPts val="2133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■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38339" lvl="3" indent="-423323" algn="l" defTabSz="914400" rtl="0" eaLnBrk="1" latinLnBrk="0" hangingPunct="1">
                  <a:lnSpc>
                    <a:spcPct val="90000"/>
                  </a:lnSpc>
                  <a:spcBef>
                    <a:spcPts val="2133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●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47924" lvl="4" indent="-423323" algn="l" defTabSz="914400" rtl="0" eaLnBrk="1" latinLnBrk="0" hangingPunct="1">
                  <a:lnSpc>
                    <a:spcPct val="90000"/>
                  </a:lnSpc>
                  <a:spcBef>
                    <a:spcPts val="2133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○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657509" lvl="5" indent="-423323" algn="l" defTabSz="914400" rtl="0" eaLnBrk="1" latinLnBrk="0" hangingPunct="1">
                  <a:lnSpc>
                    <a:spcPct val="90000"/>
                  </a:lnSpc>
                  <a:spcBef>
                    <a:spcPts val="2133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■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267093" lvl="6" indent="-423323" algn="l" defTabSz="914400" rtl="0" eaLnBrk="1" latinLnBrk="0" hangingPunct="1">
                  <a:lnSpc>
                    <a:spcPct val="90000"/>
                  </a:lnSpc>
                  <a:spcBef>
                    <a:spcPts val="2133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●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76678" lvl="7" indent="-423323" algn="l" defTabSz="914400" rtl="0" eaLnBrk="1" latinLnBrk="0" hangingPunct="1">
                  <a:lnSpc>
                    <a:spcPct val="90000"/>
                  </a:lnSpc>
                  <a:spcBef>
                    <a:spcPts val="2133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○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263" lvl="8" indent="-423323" algn="l" defTabSz="914400" rtl="0" eaLnBrk="1" latinLnBrk="0" hangingPunct="1">
                  <a:lnSpc>
                    <a:spcPct val="90000"/>
                  </a:lnSpc>
                  <a:spcBef>
                    <a:spcPts val="2133"/>
                  </a:spcBef>
                  <a:spcAft>
                    <a:spcPts val="2133"/>
                  </a:spcAft>
                  <a:buSzPts val="1400"/>
                  <a:buFont typeface="Arial" panose="020B0604020202020204" pitchFamily="34" charset="0"/>
                  <a:buChar char="■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52396" indent="0">
                  <a:buFont typeface="Arial" panose="020B0604020202020204" pitchFamily="34" charset="0"/>
                  <a:buNone/>
                </a:pPr>
                <a:r>
                  <a:rPr lang="en-GB" dirty="0"/>
                  <a:t>Read as;</a:t>
                </a:r>
              </a:p>
              <a:p>
                <a:pPr marL="152396" indent="0">
                  <a:buNone/>
                </a:pPr>
                <a:r>
                  <a:rPr lang="en-GB" sz="2400" dirty="0">
                    <a:solidFill>
                      <a:srgbClr val="C00000"/>
                    </a:solidFill>
                  </a:rPr>
                  <a:t>The likelihood (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), for any given value of the number of individuals (</a:t>
                </a:r>
                <a:r>
                  <a:rPr lang="en-GB" sz="2400" i="1" dirty="0">
                    <a:solidFill>
                      <a:srgbClr val="C00000"/>
                    </a:solidFill>
                  </a:rPr>
                  <a:t>N</a:t>
                </a:r>
                <a:r>
                  <a:rPr lang="en-GB" sz="2400" dirty="0">
                    <a:solidFill>
                      <a:srgbClr val="C00000"/>
                    </a:solidFill>
                  </a:rPr>
                  <a:t>) and for any given value(s) of capture probabilities (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), is conditional (|) on the data (i.e., how well do the parameter values work with the data?)</a:t>
                </a:r>
                <a:r>
                  <a:rPr lang="en-GB" sz="2400" dirty="0"/>
                  <a:t>.</a:t>
                </a:r>
              </a:p>
              <a:p>
                <a:pPr marL="152396" indent="0">
                  <a:buNone/>
                </a:pPr>
                <a:r>
                  <a:rPr lang="en-GB" sz="2400" dirty="0"/>
                  <a:t> </a:t>
                </a:r>
              </a:p>
              <a:p>
                <a:pPr marL="152396" indent="0">
                  <a:buNone/>
                </a:pPr>
                <a:r>
                  <a:rPr lang="en-GB" sz="2400" dirty="0"/>
                  <a:t>This is proportional to (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GB" sz="2400" dirty="0"/>
                  <a:t>) </a:t>
                </a:r>
                <a:r>
                  <a:rPr lang="en-GB" sz="2400" dirty="0">
                    <a:solidFill>
                      <a:srgbClr val="7030A0"/>
                    </a:solidFill>
                  </a:rPr>
                  <a:t>the factorial (!) of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400" dirty="0">
                    <a:solidFill>
                      <a:srgbClr val="7030A0"/>
                    </a:solidFill>
                  </a:rPr>
                  <a:t> (e.g. if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400" dirty="0">
                    <a:solidFill>
                      <a:srgbClr val="7030A0"/>
                    </a:solidFill>
                  </a:rPr>
                  <a:t> = 3,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400" dirty="0">
                    <a:solidFill>
                      <a:srgbClr val="7030A0"/>
                    </a:solidFill>
                  </a:rPr>
                  <a:t>! = 3 * 2 * 1), divided by the factorial of the number of individuals never encountered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>
                    <a:solidFill>
                      <a:srgbClr val="7030A0"/>
                    </a:solidFill>
                  </a:rPr>
                  <a:t>), </a:t>
                </a:r>
                <a:r>
                  <a:rPr lang="en-GB" sz="2400" dirty="0">
                    <a:solidFill>
                      <a:srgbClr val="00B050"/>
                    </a:solidFill>
                  </a:rPr>
                  <a:t>multiplied by the product (∏) of the cumulative probability (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400" dirty="0">
                    <a:solidFill>
                      <a:srgbClr val="00B050"/>
                    </a:solidFill>
                  </a:rPr>
                  <a:t>) of each capture history (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𝐶𝐻</m:t>
                    </m:r>
                  </m:oMath>
                </a14:m>
                <a:r>
                  <a:rPr lang="en-GB" sz="2400" dirty="0">
                    <a:solidFill>
                      <a:srgbClr val="00B050"/>
                    </a:solidFill>
                  </a:rPr>
                  <a:t>) to the power of the respective number of individuals who had that specific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𝐶𝐻</m:t>
                    </m:r>
                  </m:oMath>
                </a14:m>
                <a:r>
                  <a:rPr lang="en-GB" sz="2400" dirty="0">
                    <a:solidFill>
                      <a:srgbClr val="00B050"/>
                    </a:solidFill>
                  </a:rPr>
                  <a:t>, multiplied by the probability of not encountering individuals, to the power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A276A243-6D28-4798-85DA-34F3C6D4C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63120"/>
                <a:ext cx="12192000" cy="3692313"/>
              </a:xfrm>
              <a:prstGeom prst="rect">
                <a:avLst/>
              </a:prstGeom>
              <a:blipFill>
                <a:blip r:embed="rId3"/>
                <a:stretch>
                  <a:fillRect t="-1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19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305B-E1F6-474F-A1A3-2447BE09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Let’s calculate MLE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2A56C8F-A716-4763-A2BD-3958CECB5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0040" y="1325563"/>
                <a:ext cx="10515600" cy="65341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u="sng" dirty="0"/>
                  <a:t>Let’s try 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1" i="1" u="sng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800" b="1" i="1" u="sng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GB" sz="2800" b="1" i="1" u="sng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u="sng" dirty="0"/>
                  <a:t> is </a:t>
                </a:r>
                <a:r>
                  <a:rPr lang="en-GB" b="1" u="sng" dirty="0">
                    <a:solidFill>
                      <a:srgbClr val="7030A0"/>
                    </a:solidFill>
                  </a:rPr>
                  <a:t>10</a:t>
                </a:r>
                <a:r>
                  <a:rPr lang="en-GB" u="sng" dirty="0"/>
                  <a:t> (i.e. we failed to encounter 10 animals)</a:t>
                </a:r>
              </a:p>
              <a:p>
                <a:endParaRPr lang="en-GB" u="sng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2A56C8F-A716-4763-A2BD-3958CECB5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0040" y="1325563"/>
                <a:ext cx="10515600" cy="653415"/>
              </a:xfrm>
              <a:blipFill>
                <a:blip r:embed="rId2"/>
                <a:stretch>
                  <a:fillRect l="-1043" t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6">
                <a:extLst>
                  <a:ext uri="{FF2B5EF4-FFF2-40B4-BE49-F238E27FC236}">
                    <a16:creationId xmlns:a16="http://schemas.microsoft.com/office/drawing/2014/main" id="{A83E4B6B-9EC4-470A-8982-E216EEF56E07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-1" y="1780176"/>
              <a:ext cx="12192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32343">
                      <a:extLst>
                        <a:ext uri="{9D8B030D-6E8A-4147-A177-3AD203B41FA5}">
                          <a16:colId xmlns:a16="http://schemas.microsoft.com/office/drawing/2014/main" val="2895432955"/>
                        </a:ext>
                      </a:extLst>
                    </a:gridCol>
                    <a:gridCol w="2735909">
                      <a:extLst>
                        <a:ext uri="{9D8B030D-6E8A-4147-A177-3AD203B41FA5}">
                          <a16:colId xmlns:a16="http://schemas.microsoft.com/office/drawing/2014/main" val="407578712"/>
                        </a:ext>
                      </a:extLst>
                    </a:gridCol>
                    <a:gridCol w="3677348">
                      <a:extLst>
                        <a:ext uri="{9D8B030D-6E8A-4147-A177-3AD203B41FA5}">
                          <a16:colId xmlns:a16="http://schemas.microsoft.com/office/drawing/2014/main" val="4255770807"/>
                        </a:ext>
                      </a:extLst>
                    </a:gridCol>
                    <a:gridCol w="2946400">
                      <a:extLst>
                        <a:ext uri="{9D8B030D-6E8A-4147-A177-3AD203B41FA5}">
                          <a16:colId xmlns:a16="http://schemas.microsoft.com/office/drawing/2014/main" val="38849782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Capture History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2400" b="1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GB" sz="2400" b="1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𝑪𝑯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GB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Probability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Expected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2400" b="1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GB" sz="2400" b="1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𝑪𝑯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0366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24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  <m:r>
                                    <a:rPr lang="en-GB" sz="2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  <m:r>
                                    <a:rPr lang="en-GB" sz="2400" b="1" i="1" kern="1200" smtClean="0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𝟏𝟎</m:t>
                                  </m:r>
                                </m:e>
                              </m:d>
                              <m:r>
                                <a:rPr lang="en-GB" sz="2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∗</m:t>
                              </m:r>
                            </m:oMath>
                          </a14:m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 0.5 * 0.5 =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21.25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79548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24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  <m:r>
                                    <a:rPr lang="en-GB" sz="2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  <m:r>
                                    <a:rPr lang="en-GB" sz="2400" b="1" i="1" kern="1200" smtClean="0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𝟏𝟎</m:t>
                                  </m:r>
                                </m:e>
                              </m:d>
                              <m:r>
                                <a:rPr lang="en-GB" sz="2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∗</m:t>
                              </m:r>
                            </m:oMath>
                          </a14:m>
                          <a:r>
                            <a:rPr lang="en-GB" sz="2400" b="0" i="0" dirty="0">
                              <a:solidFill>
                                <a:schemeClr val="tx1"/>
                              </a:solidFill>
                            </a:rPr>
                            <a:t> 0.5* </a:t>
                          </a:r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(1-0.5) =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21.25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532236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24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  <m:r>
                                    <a:rPr lang="en-GB" sz="2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  <m:r>
                                    <a:rPr lang="en-GB" sz="2400" b="1" i="1" kern="1200" smtClean="0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𝟏𝟎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2400" b="0" i="0" dirty="0">
                              <a:solidFill>
                                <a:schemeClr val="tx1"/>
                              </a:solidFill>
                            </a:rPr>
                            <a:t> * (1-0.5) * </a:t>
                          </a:r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 =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21.25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99438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6">
                <a:extLst>
                  <a:ext uri="{FF2B5EF4-FFF2-40B4-BE49-F238E27FC236}">
                    <a16:creationId xmlns:a16="http://schemas.microsoft.com/office/drawing/2014/main" id="{A83E4B6B-9EC4-470A-8982-E216EEF56E07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-1" y="1780176"/>
              <a:ext cx="12192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32343">
                      <a:extLst>
                        <a:ext uri="{9D8B030D-6E8A-4147-A177-3AD203B41FA5}">
                          <a16:colId xmlns:a16="http://schemas.microsoft.com/office/drawing/2014/main" val="2895432955"/>
                        </a:ext>
                      </a:extLst>
                    </a:gridCol>
                    <a:gridCol w="2735909">
                      <a:extLst>
                        <a:ext uri="{9D8B030D-6E8A-4147-A177-3AD203B41FA5}">
                          <a16:colId xmlns:a16="http://schemas.microsoft.com/office/drawing/2014/main" val="407578712"/>
                        </a:ext>
                      </a:extLst>
                    </a:gridCol>
                    <a:gridCol w="3677348">
                      <a:extLst>
                        <a:ext uri="{9D8B030D-6E8A-4147-A177-3AD203B41FA5}">
                          <a16:colId xmlns:a16="http://schemas.microsoft.com/office/drawing/2014/main" val="4255770807"/>
                        </a:ext>
                      </a:extLst>
                    </a:gridCol>
                    <a:gridCol w="2946400">
                      <a:extLst>
                        <a:ext uri="{9D8B030D-6E8A-4147-A177-3AD203B41FA5}">
                          <a16:colId xmlns:a16="http://schemas.microsoft.com/office/drawing/2014/main" val="388497827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Capture History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563" t="-10667" r="-242762" b="-3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Probability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3430" t="-10667" r="-620" b="-3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03666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51575" t="-109211" r="-80763" b="-2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21.25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79548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51575" t="-212000" r="-80763" b="-1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21.25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532236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51575" t="-312000" r="-80763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21.25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99438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8">
                <a:extLst>
                  <a:ext uri="{FF2B5EF4-FFF2-40B4-BE49-F238E27FC236}">
                    <a16:creationId xmlns:a16="http://schemas.microsoft.com/office/drawing/2014/main" id="{9193AF54-45D3-4A5A-B5E2-4DF67BC730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040" y="3970584"/>
                <a:ext cx="10515600" cy="6534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u="sng" dirty="0"/>
                  <a:t>How about 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u="sng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b="1" i="1" u="sng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GB" b="1" i="1" u="sng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u="sng" dirty="0"/>
                  <a:t> is </a:t>
                </a:r>
                <a:r>
                  <a:rPr lang="en-GB" b="1" u="sng" dirty="0">
                    <a:solidFill>
                      <a:srgbClr val="7030A0"/>
                    </a:solidFill>
                  </a:rPr>
                  <a:t>30</a:t>
                </a:r>
              </a:p>
            </p:txBody>
          </p:sp>
        </mc:Choice>
        <mc:Fallback xmlns="">
          <p:sp>
            <p:nvSpPr>
              <p:cNvPr id="11" name="Content Placeholder 8">
                <a:extLst>
                  <a:ext uri="{FF2B5EF4-FFF2-40B4-BE49-F238E27FC236}">
                    <a16:creationId xmlns:a16="http://schemas.microsoft.com/office/drawing/2014/main" id="{9193AF54-45D3-4A5A-B5E2-4DF67BC73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3970584"/>
                <a:ext cx="10515600" cy="653415"/>
              </a:xfrm>
              <a:prstGeom prst="rect">
                <a:avLst/>
              </a:prstGeom>
              <a:blipFill>
                <a:blip r:embed="rId4"/>
                <a:stretch>
                  <a:fillRect l="-1217" t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6">
                <a:extLst>
                  <a:ext uri="{FF2B5EF4-FFF2-40B4-BE49-F238E27FC236}">
                    <a16:creationId xmlns:a16="http://schemas.microsoft.com/office/drawing/2014/main" id="{7804E81A-EA41-4C0E-9B88-A775C311493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0" y="4386168"/>
              <a:ext cx="12192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32343">
                      <a:extLst>
                        <a:ext uri="{9D8B030D-6E8A-4147-A177-3AD203B41FA5}">
                          <a16:colId xmlns:a16="http://schemas.microsoft.com/office/drawing/2014/main" val="2895432955"/>
                        </a:ext>
                      </a:extLst>
                    </a:gridCol>
                    <a:gridCol w="2735909">
                      <a:extLst>
                        <a:ext uri="{9D8B030D-6E8A-4147-A177-3AD203B41FA5}">
                          <a16:colId xmlns:a16="http://schemas.microsoft.com/office/drawing/2014/main" val="407578712"/>
                        </a:ext>
                      </a:extLst>
                    </a:gridCol>
                    <a:gridCol w="3809428">
                      <a:extLst>
                        <a:ext uri="{9D8B030D-6E8A-4147-A177-3AD203B41FA5}">
                          <a16:colId xmlns:a16="http://schemas.microsoft.com/office/drawing/2014/main" val="4255770807"/>
                        </a:ext>
                      </a:extLst>
                    </a:gridCol>
                    <a:gridCol w="2814320">
                      <a:extLst>
                        <a:ext uri="{9D8B030D-6E8A-4147-A177-3AD203B41FA5}">
                          <a16:colId xmlns:a16="http://schemas.microsoft.com/office/drawing/2014/main" val="38849782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Capture History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2400" b="1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GB" sz="2400" b="1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𝑪𝑯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GB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Probability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Expected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2400" b="1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GB" sz="2400" b="1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𝑪𝑯</m:t>
                                  </m:r>
                                </m:sub>
                              </m:sSub>
                            </m:oMath>
                          </a14:m>
                          <a:endParaRPr lang="en-GB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0366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24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  <m:r>
                                    <a:rPr lang="en-GB" sz="2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  <m:r>
                                    <a:rPr lang="en-GB" sz="2400" b="1" i="1" kern="1200" smtClean="0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𝟑𝟎</m:t>
                                  </m:r>
                                </m:e>
                              </m:d>
                              <m:r>
                                <a:rPr lang="en-GB" sz="2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∗</m:t>
                              </m:r>
                            </m:oMath>
                          </a14:m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 0.5 * 0.5 =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26.25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79548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24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  <m:r>
                                    <a:rPr lang="en-GB" sz="2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  <m:r>
                                    <a:rPr lang="en-GB" sz="2400" b="1" i="1" kern="1200" smtClean="0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𝟑𝟎</m:t>
                                  </m:r>
                                </m:e>
                              </m:d>
                              <m:r>
                                <a:rPr lang="en-GB" sz="2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∗</m:t>
                              </m:r>
                            </m:oMath>
                          </a14:m>
                          <a:r>
                            <a:rPr lang="en-GB" sz="2400" b="0" i="0" dirty="0">
                              <a:solidFill>
                                <a:schemeClr val="tx1"/>
                              </a:solidFill>
                            </a:rPr>
                            <a:t> 0.5* </a:t>
                          </a:r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(1-0.5) =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26.25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532236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24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  <m:r>
                                    <a:rPr lang="en-GB" sz="2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  <m:r>
                                    <a:rPr lang="en-GB" sz="2400" b="1" i="1" kern="1200" smtClean="0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𝟑𝟎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2400" b="0" i="0" dirty="0">
                              <a:solidFill>
                                <a:schemeClr val="tx1"/>
                              </a:solidFill>
                            </a:rPr>
                            <a:t> * (1-0.5) * </a:t>
                          </a:r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 =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26.25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99438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Content Placeholder 6">
                <a:extLst>
                  <a:ext uri="{FF2B5EF4-FFF2-40B4-BE49-F238E27FC236}">
                    <a16:creationId xmlns:a16="http://schemas.microsoft.com/office/drawing/2014/main" id="{7804E81A-EA41-4C0E-9B88-A775C311493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0" y="4386168"/>
              <a:ext cx="12192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32343">
                      <a:extLst>
                        <a:ext uri="{9D8B030D-6E8A-4147-A177-3AD203B41FA5}">
                          <a16:colId xmlns:a16="http://schemas.microsoft.com/office/drawing/2014/main" val="2895432955"/>
                        </a:ext>
                      </a:extLst>
                    </a:gridCol>
                    <a:gridCol w="2735909">
                      <a:extLst>
                        <a:ext uri="{9D8B030D-6E8A-4147-A177-3AD203B41FA5}">
                          <a16:colId xmlns:a16="http://schemas.microsoft.com/office/drawing/2014/main" val="407578712"/>
                        </a:ext>
                      </a:extLst>
                    </a:gridCol>
                    <a:gridCol w="3809428">
                      <a:extLst>
                        <a:ext uri="{9D8B030D-6E8A-4147-A177-3AD203B41FA5}">
                          <a16:colId xmlns:a16="http://schemas.microsoft.com/office/drawing/2014/main" val="4255770807"/>
                        </a:ext>
                      </a:extLst>
                    </a:gridCol>
                    <a:gridCol w="2814320">
                      <a:extLst>
                        <a:ext uri="{9D8B030D-6E8A-4147-A177-3AD203B41FA5}">
                          <a16:colId xmlns:a16="http://schemas.microsoft.com/office/drawing/2014/main" val="388497827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Capture History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4018" t="-9333" r="-243304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</a:rPr>
                            <a:t>Probability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3117" t="-9333" r="-649" b="-3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03666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146240" t="-107895" r="-74400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26.25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79548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146240" t="-210667" r="-744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26.25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532236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146240" t="-310667" r="-74400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26.25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99438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647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CE828E-1521-4B9B-AD56-6179B917AC5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21026"/>
                <a:ext cx="12192000" cy="1325563"/>
              </a:xfrm>
            </p:spPr>
            <p:txBody>
              <a:bodyPr/>
              <a:lstStyle/>
              <a:p>
                <a:pPr algn="ctr"/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4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4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= 10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= 0.5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CE828E-1521-4B9B-AD56-6179B917AC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21026"/>
                <a:ext cx="121920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CFDF8D-E7AF-48B0-BBF0-349F0DC3F383}"/>
                  </a:ext>
                </a:extLst>
              </p:cNvPr>
              <p:cNvSpPr txBox="1"/>
              <p:nvPr/>
            </p:nvSpPr>
            <p:spPr>
              <a:xfrm>
                <a:off x="1739900" y="2489850"/>
                <a:ext cx="10452100" cy="988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smtClean="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GB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𝟖𝟓</m:t>
                          </m:r>
                          <m:r>
                            <a:rPr lang="en-GB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GB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GB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∏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𝐶𝐻</m:t>
                          </m:r>
                        </m:sub>
                        <m:sup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(0.25</m:t>
                          </m:r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𝐶𝐻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sup>
                          </m:sSup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∗ 0.25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∗ 0.25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0.25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00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CFDF8D-E7AF-48B0-BBF0-349F0DC3F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2489850"/>
                <a:ext cx="10452100" cy="9882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3C273E-B68A-42E0-BFD0-1A70F688A53D}"/>
                  </a:ext>
                </a:extLst>
              </p:cNvPr>
              <p:cNvSpPr txBox="1"/>
              <p:nvPr/>
            </p:nvSpPr>
            <p:spPr>
              <a:xfrm>
                <a:off x="1542865" y="3471476"/>
                <a:ext cx="5753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GB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GB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𝟕𝟔𝟑𝟏𝟖𝟒</m:t>
                      </m:r>
                      <m:r>
                        <a:rPr lang="en-GB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GB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𝟏𝟐𝟏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∗6.681912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−52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3C273E-B68A-42E0-BFD0-1A70F688A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865" y="3471476"/>
                <a:ext cx="57531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F94718-D588-46B5-800B-897C2A6E4430}"/>
                  </a:ext>
                </a:extLst>
              </p:cNvPr>
              <p:cNvSpPr txBox="1"/>
              <p:nvPr/>
            </p:nvSpPr>
            <p:spPr>
              <a:xfrm>
                <a:off x="0" y="1399967"/>
                <a:ext cx="12192000" cy="988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en-GB" sz="240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∏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𝐶𝐻</m:t>
                          </m:r>
                        </m:sub>
                        <m:sup/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𝑒𝑛𝑐𝑜𝑢𝑛𝑡𝑒𝑟𝑒𝑑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F94718-D588-46B5-800B-897C2A6E4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99967"/>
                <a:ext cx="12192000" cy="9882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98FE12-C4C1-41DC-8D81-6EFDB2C8FF1A}"/>
                  </a:ext>
                </a:extLst>
              </p:cNvPr>
              <p:cNvSpPr txBox="1"/>
              <p:nvPr/>
            </p:nvSpPr>
            <p:spPr>
              <a:xfrm>
                <a:off x="1728806" y="4103275"/>
                <a:ext cx="2587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5.187291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+70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98FE12-C4C1-41DC-8D81-6EFDB2C8F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806" y="4103275"/>
                <a:ext cx="2587587" cy="461665"/>
              </a:xfrm>
              <a:prstGeom prst="rect">
                <a:avLst/>
              </a:prstGeom>
              <a:blipFill>
                <a:blip r:embed="rId6"/>
                <a:stretch>
                  <a:fillRect r="-4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57;p13">
            <a:extLst>
              <a:ext uri="{FF2B5EF4-FFF2-40B4-BE49-F238E27FC236}">
                <a16:creationId xmlns:a16="http://schemas.microsoft.com/office/drawing/2014/main" id="{8F2FC47D-9799-4A72-B0BF-25A9571C6223}"/>
              </a:ext>
            </a:extLst>
          </p:cNvPr>
          <p:cNvSpPr/>
          <p:nvPr/>
        </p:nvSpPr>
        <p:spPr>
          <a:xfrm>
            <a:off x="4784687" y="1029181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D15AF5-6D6C-467E-9E90-27E77FAD477B}"/>
                  </a:ext>
                </a:extLst>
              </p:cNvPr>
              <p:cNvSpPr txBox="1"/>
              <p:nvPr/>
            </p:nvSpPr>
            <p:spPr>
              <a:xfrm>
                <a:off x="1739900" y="4735074"/>
                <a:ext cx="933663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51,872,910,000,000,002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626,644,064,642,484,628,620,480,602,880,426,460,084,042,624,462,424,266</m:t>
                      </m:r>
                    </m:oMath>
                  </m:oMathPara>
                </a14:m>
                <a:endParaRPr lang="en-GB" sz="1600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D15AF5-6D6C-467E-9E90-27E77FAD4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4735074"/>
                <a:ext cx="933663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15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CE828E-1521-4B9B-AD56-6179B917AC5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21026"/>
                <a:ext cx="12192000" cy="1325563"/>
              </a:xfrm>
            </p:spPr>
            <p:txBody>
              <a:bodyPr/>
              <a:lstStyle/>
              <a:p>
                <a:pPr algn="ctr"/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4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4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= 30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= 0.5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CE828E-1521-4B9B-AD56-6179B917AC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21026"/>
                <a:ext cx="121920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CFDF8D-E7AF-48B0-BBF0-349F0DC3F383}"/>
                  </a:ext>
                </a:extLst>
              </p:cNvPr>
              <p:cNvSpPr txBox="1"/>
              <p:nvPr/>
            </p:nvSpPr>
            <p:spPr>
              <a:xfrm>
                <a:off x="1785649" y="2441629"/>
                <a:ext cx="28448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2.47757</m:t>
                      </m:r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+72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CFDF8D-E7AF-48B0-BBF0-349F0DC3F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49" y="2441629"/>
                <a:ext cx="28448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F94718-D588-46B5-800B-897C2A6E4430}"/>
                  </a:ext>
                </a:extLst>
              </p:cNvPr>
              <p:cNvSpPr txBox="1"/>
              <p:nvPr/>
            </p:nvSpPr>
            <p:spPr>
              <a:xfrm>
                <a:off x="0" y="1399967"/>
                <a:ext cx="7612352" cy="988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en-GB" sz="240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∏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𝐶𝐻</m:t>
                          </m:r>
                        </m:sub>
                        <m:sup/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𝑒𝑛𝑐𝑜𝑢𝑛𝑡𝑒𝑟𝑒𝑑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F94718-D588-46B5-800B-897C2A6E4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99967"/>
                <a:ext cx="7612352" cy="9882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57;p13">
            <a:extLst>
              <a:ext uri="{FF2B5EF4-FFF2-40B4-BE49-F238E27FC236}">
                <a16:creationId xmlns:a16="http://schemas.microsoft.com/office/drawing/2014/main" id="{8F2FC47D-9799-4A72-B0BF-25A9571C6223}"/>
              </a:ext>
            </a:extLst>
          </p:cNvPr>
          <p:cNvSpPr/>
          <p:nvPr/>
        </p:nvSpPr>
        <p:spPr>
          <a:xfrm>
            <a:off x="4784687" y="1029181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0D1758-1C52-4508-882C-1DF5612A2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352" y="2222500"/>
            <a:ext cx="4395733" cy="4635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8">
                <a:extLst>
                  <a:ext uri="{FF2B5EF4-FFF2-40B4-BE49-F238E27FC236}">
                    <a16:creationId xmlns:a16="http://schemas.microsoft.com/office/drawing/2014/main" id="{8521B94F-83FB-4977-AEFE-12B3B27208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3223873"/>
                <a:ext cx="7239000" cy="36131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rating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=30</m:t>
                    </m:r>
                  </m:oMath>
                </a14:m>
                <a:r>
                  <a:rPr lang="en-GB" dirty="0"/>
                  <a:t> is higher than the rating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=10</m:t>
                    </m:r>
                  </m:oMath>
                </a14:m>
                <a:r>
                  <a:rPr lang="en-GB" dirty="0"/>
                  <a:t>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we only tried these two values, we’d assume that there were 30 animals that we never encountered.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u="sng" dirty="0"/>
              </a:p>
            </p:txBody>
          </p:sp>
        </mc:Choice>
        <mc:Fallback xmlns="">
          <p:sp>
            <p:nvSpPr>
              <p:cNvPr id="10" name="Content Placeholder 8">
                <a:extLst>
                  <a:ext uri="{FF2B5EF4-FFF2-40B4-BE49-F238E27FC236}">
                    <a16:creationId xmlns:a16="http://schemas.microsoft.com/office/drawing/2014/main" id="{8521B94F-83FB-4977-AEFE-12B3B27208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3223873"/>
                <a:ext cx="7239000" cy="3613101"/>
              </a:xfrm>
              <a:blipFill>
                <a:blip r:embed="rId6"/>
                <a:stretch>
                  <a:fillRect l="-1684" t="-28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01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BC2E-F8BC-4B74-8B89-7154CE54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GB" dirty="0"/>
              <a:t>Let the optimiser work</a:t>
            </a:r>
          </a:p>
        </p:txBody>
      </p:sp>
      <p:sp>
        <p:nvSpPr>
          <p:cNvPr id="4" name="Google Shape;57;p13">
            <a:extLst>
              <a:ext uri="{FF2B5EF4-FFF2-40B4-BE49-F238E27FC236}">
                <a16:creationId xmlns:a16="http://schemas.microsoft.com/office/drawing/2014/main" id="{C5B0A7D1-70DE-4ED9-8B08-AA003523C8BF}"/>
              </a:ext>
            </a:extLst>
          </p:cNvPr>
          <p:cNvSpPr/>
          <p:nvPr/>
        </p:nvSpPr>
        <p:spPr>
          <a:xfrm>
            <a:off x="1381087" y="1067281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FF41BF-8C04-4629-97CA-BC0D73A4B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914" y="556011"/>
            <a:ext cx="5448772" cy="57459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DD0304C1-DE63-4742-AF55-7DAD230225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600" y="1536633"/>
                <a:ext cx="5360504" cy="4555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52396" indent="0">
                  <a:buFont typeface="Arial" panose="020B0604020202020204" pitchFamily="34" charset="0"/>
                  <a:buNone/>
                </a:pPr>
                <a:r>
                  <a:rPr lang="en-GB" dirty="0"/>
                  <a:t>We “maximise” the likelihood when we find the best possible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8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8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152396" indent="0">
                  <a:buFont typeface="Arial" panose="020B0604020202020204" pitchFamily="34" charset="0"/>
                  <a:buNone/>
                </a:pPr>
                <a:endParaRPr lang="en-GB" dirty="0"/>
              </a:p>
              <a:p>
                <a:pPr marL="152396" indent="0">
                  <a:buNone/>
                </a:pPr>
                <a:r>
                  <a:rPr lang="en-GB" dirty="0"/>
                  <a:t>In reality, the optimiser is trying combinations of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8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8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, to find the best values for both. </a:t>
                </a:r>
              </a:p>
              <a:p>
                <a:pPr marL="152396" indent="0">
                  <a:buNone/>
                </a:pPr>
                <a:endParaRPr lang="en-GB" dirty="0"/>
              </a:p>
              <a:p>
                <a:pPr marL="152396" indent="0">
                  <a:buNone/>
                </a:pPr>
                <a:r>
                  <a:rPr lang="en-GB" dirty="0"/>
                  <a:t>There is another use of the likelihood…</a:t>
                </a:r>
              </a:p>
            </p:txBody>
          </p:sp>
        </mc:Choice>
        <mc:Fallback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DD0304C1-DE63-4742-AF55-7DAD23022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1536633"/>
                <a:ext cx="5360504" cy="4555200"/>
              </a:xfrm>
              <a:prstGeom prst="rect">
                <a:avLst/>
              </a:prstGeom>
              <a:blipFill>
                <a:blip r:embed="rId3"/>
                <a:stretch>
                  <a:fillRect t="-3213" r="-20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19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E083-F894-431A-9E18-FEA63E495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Which model best fits our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7A624-7F5D-46A2-A568-F09298ABA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477480"/>
            <a:ext cx="7223089" cy="487679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When running analysis, you will invariably have multiple models (each of which reflect a different </a:t>
            </a:r>
            <a:r>
              <a:rPr lang="en-GB" i="1" dirty="0"/>
              <a:t>process</a:t>
            </a:r>
            <a:r>
              <a:rPr lang="en-GB" dirty="0"/>
              <a:t>), all trying to explain the same pattern, e.g.,</a:t>
            </a:r>
          </a:p>
          <a:p>
            <a:r>
              <a:rPr lang="en-GB" dirty="0"/>
              <a:t>Out of all the models (i.e., </a:t>
            </a:r>
            <a:r>
              <a:rPr lang="en-GB" i="1" dirty="0"/>
              <a:t>processes</a:t>
            </a:r>
            <a:r>
              <a:rPr lang="en-GB" dirty="0"/>
              <a:t>) that we’ve run, how do we choose the most likely model?</a:t>
            </a:r>
          </a:p>
          <a:p>
            <a:r>
              <a:rPr lang="en-GB" dirty="0"/>
              <a:t>AIC</a:t>
            </a:r>
          </a:p>
          <a:p>
            <a:pPr lvl="1"/>
            <a:r>
              <a:rPr lang="en-GB" dirty="0"/>
              <a:t>“An Information Criteria” or “Information Criterion A”</a:t>
            </a:r>
          </a:p>
          <a:p>
            <a:pPr lvl="1"/>
            <a:r>
              <a:rPr lang="en-GB" dirty="0"/>
              <a:t>“Improperly” called Akaike’s Information Criteria</a:t>
            </a:r>
          </a:p>
          <a:p>
            <a:pPr lvl="2"/>
            <a:r>
              <a:rPr lang="en-GB" dirty="0"/>
              <a:t>He never named it after himself</a:t>
            </a:r>
          </a:p>
        </p:txBody>
      </p:sp>
      <p:pic>
        <p:nvPicPr>
          <p:cNvPr id="53" name="Picture 52" descr="A person wearing glasses&#10;&#10;Description automatically generated with low confidence">
            <a:extLst>
              <a:ext uri="{FF2B5EF4-FFF2-40B4-BE49-F238E27FC236}">
                <a16:creationId xmlns:a16="http://schemas.microsoft.com/office/drawing/2014/main" id="{B7868F4F-A484-421C-96D8-234AC10EB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613" y="1081792"/>
            <a:ext cx="3902876" cy="527248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5E30726-EA69-40FA-A48D-D2F850F2FCC0}"/>
              </a:ext>
            </a:extLst>
          </p:cNvPr>
          <p:cNvSpPr txBox="1"/>
          <p:nvPr/>
        </p:nvSpPr>
        <p:spPr>
          <a:xfrm>
            <a:off x="8509000" y="6354279"/>
            <a:ext cx="3501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0" dirty="0">
                <a:effectLst/>
              </a:rPr>
              <a:t>赤池 弘次</a:t>
            </a:r>
            <a:r>
              <a:rPr lang="en-US" altLang="ja-JP" b="0" dirty="0">
                <a:effectLst/>
              </a:rPr>
              <a:t>, </a:t>
            </a:r>
            <a:r>
              <a:rPr lang="en-GB" b="0" i="1" dirty="0">
                <a:effectLst/>
              </a:rPr>
              <a:t>Akaike </a:t>
            </a:r>
            <a:r>
              <a:rPr lang="en-GB" b="0" i="1" dirty="0" err="1">
                <a:effectLst/>
              </a:rPr>
              <a:t>Hirotsugu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101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AB89-2ADB-432F-92C2-007C3A2C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Overfitting and underfitting</a:t>
            </a:r>
          </a:p>
        </p:txBody>
      </p:sp>
      <p:sp>
        <p:nvSpPr>
          <p:cNvPr id="4" name="Google Shape;57;p13">
            <a:extLst>
              <a:ext uri="{FF2B5EF4-FFF2-40B4-BE49-F238E27FC236}">
                <a16:creationId xmlns:a16="http://schemas.microsoft.com/office/drawing/2014/main" id="{1E155B42-85A8-47D1-BF73-713D3DFF8AAF}"/>
              </a:ext>
            </a:extLst>
          </p:cNvPr>
          <p:cNvSpPr/>
          <p:nvPr/>
        </p:nvSpPr>
        <p:spPr>
          <a:xfrm>
            <a:off x="4784687" y="1029181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69A735-4C81-4945-9FC2-B97EB2BD2D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01"/>
          <a:stretch/>
        </p:blipFill>
        <p:spPr>
          <a:xfrm>
            <a:off x="2146299" y="1476782"/>
            <a:ext cx="7988663" cy="5250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3D6A1B-5D7E-4731-8E97-EEE78F3BAE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" r="95148" b="63061"/>
          <a:stretch/>
        </p:blipFill>
        <p:spPr>
          <a:xfrm>
            <a:off x="1701438" y="2657881"/>
            <a:ext cx="355600" cy="19395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065CA9-96F5-4037-82B3-04D8A3708D58}"/>
              </a:ext>
            </a:extLst>
          </p:cNvPr>
          <p:cNvSpPr/>
          <p:nvPr/>
        </p:nvSpPr>
        <p:spPr>
          <a:xfrm>
            <a:off x="2146299" y="1476782"/>
            <a:ext cx="3949701" cy="2396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7F2DE5-9FCA-430F-82C8-8132CB913541}"/>
              </a:ext>
            </a:extLst>
          </p:cNvPr>
          <p:cNvSpPr/>
          <p:nvPr/>
        </p:nvSpPr>
        <p:spPr>
          <a:xfrm>
            <a:off x="6118186" y="1459522"/>
            <a:ext cx="3949701" cy="2396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811C1F-470F-4852-BE8A-30E66BA767AA}"/>
              </a:ext>
            </a:extLst>
          </p:cNvPr>
          <p:cNvSpPr/>
          <p:nvPr/>
        </p:nvSpPr>
        <p:spPr>
          <a:xfrm>
            <a:off x="2146298" y="3981064"/>
            <a:ext cx="8077925" cy="2396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A picture containing bedroom&#10;&#10;Description automatically generated">
            <a:extLst>
              <a:ext uri="{FF2B5EF4-FFF2-40B4-BE49-F238E27FC236}">
                <a16:creationId xmlns:a16="http://schemas.microsoft.com/office/drawing/2014/main" id="{19529921-A380-4136-8F3D-2B7E698ED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786" y="1394462"/>
            <a:ext cx="5942014" cy="44507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506C32-C055-481E-A6E2-ADD4A59384CD}"/>
              </a:ext>
            </a:extLst>
          </p:cNvPr>
          <p:cNvSpPr txBox="1"/>
          <p:nvPr/>
        </p:nvSpPr>
        <p:spPr>
          <a:xfrm>
            <a:off x="6547245" y="1426138"/>
            <a:ext cx="45743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Overfit: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Explains data almost “perfectly”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I.e. model fit (line) goes through each observation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But “costs” lots of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E.g. here we’ve used 5 parameters with only 5 observations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84B40-10A2-41D9-A576-C40FD4C73F16}"/>
              </a:ext>
            </a:extLst>
          </p:cNvPr>
          <p:cNvSpPr txBox="1"/>
          <p:nvPr/>
        </p:nvSpPr>
        <p:spPr>
          <a:xfrm>
            <a:off x="2428946" y="4184600"/>
            <a:ext cx="93947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Underfit: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Explains poorly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I.e. prediction (line) doesn’t really match the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But is very “cheap”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E.g. here we’ve used 2 parameters with only 5 observations</a:t>
            </a:r>
          </a:p>
        </p:txBody>
      </p:sp>
    </p:spTree>
    <p:extLst>
      <p:ext uri="{BB962C8B-B14F-4D97-AF65-F5344CB8AC3E}">
        <p14:creationId xmlns:p14="http://schemas.microsoft.com/office/powerpoint/2010/main" val="7405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/>
      <p:bldP spid="13" grpId="1"/>
      <p:bldP spid="14" grpId="0"/>
      <p:bldP spid="1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6938B-348B-45D0-9E42-AD2B954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Using AIC to find most the “parsimonious”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FFC81-65C1-4892-9D46-9277502ED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08175"/>
          </a:xfrm>
        </p:spPr>
        <p:txBody>
          <a:bodyPr/>
          <a:lstStyle/>
          <a:p>
            <a:r>
              <a:rPr lang="en-GB" dirty="0"/>
              <a:t>To do so, we use the best Likelihood (MLE) value (“rating”) for each of the different models that we’ve run.</a:t>
            </a:r>
          </a:p>
          <a:p>
            <a:r>
              <a:rPr lang="en-GB" dirty="0"/>
              <a:t>Though we need to tweak the Likelihood</a:t>
            </a:r>
          </a:p>
          <a:p>
            <a:pPr lvl="1"/>
            <a:r>
              <a:rPr lang="en-GB" dirty="0"/>
              <a:t>(and we’ll use this to choose which house we’ll buy)</a:t>
            </a:r>
          </a:p>
        </p:txBody>
      </p:sp>
      <p:sp>
        <p:nvSpPr>
          <p:cNvPr id="4" name="Google Shape;57;p13">
            <a:extLst>
              <a:ext uri="{FF2B5EF4-FFF2-40B4-BE49-F238E27FC236}">
                <a16:creationId xmlns:a16="http://schemas.microsoft.com/office/drawing/2014/main" id="{F926A7E4-FC3A-4C5D-9B97-F441C295EB39}"/>
              </a:ext>
            </a:extLst>
          </p:cNvPr>
          <p:cNvSpPr/>
          <p:nvPr/>
        </p:nvSpPr>
        <p:spPr>
          <a:xfrm>
            <a:off x="4784687" y="1029181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Picture 6" descr="Chart, line chart, histogram&#10;&#10;Description automatically generated">
            <a:extLst>
              <a:ext uri="{FF2B5EF4-FFF2-40B4-BE49-F238E27FC236}">
                <a16:creationId xmlns:a16="http://schemas.microsoft.com/office/drawing/2014/main" id="{17D609EE-407F-48AD-AA84-846862B08B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8" b="8666"/>
          <a:stretch/>
        </p:blipFill>
        <p:spPr>
          <a:xfrm>
            <a:off x="3336022" y="3584417"/>
            <a:ext cx="5519955" cy="327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3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For a single model: </a:t>
            </a:r>
            <a:br>
              <a:rPr lang="en-GB" dirty="0"/>
            </a:br>
            <a:r>
              <a:rPr lang="en-GB" dirty="0"/>
              <a:t>Likelihood to Log-Likelihood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32A9F-D566-49FF-ABCF-83482147C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92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First, log transform the likelihood: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299228-5113-46C7-8631-379FBD8BA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37" y="2374900"/>
            <a:ext cx="10617563" cy="4247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350992-8B63-4285-ABEF-A1B34EB33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37" y="2374901"/>
            <a:ext cx="10617562" cy="4247026"/>
          </a:xfrm>
          <a:prstGeom prst="rect">
            <a:avLst/>
          </a:prstGeom>
        </p:spPr>
      </p:pic>
      <p:sp>
        <p:nvSpPr>
          <p:cNvPr id="8" name="Google Shape;57;p13">
            <a:extLst>
              <a:ext uri="{FF2B5EF4-FFF2-40B4-BE49-F238E27FC236}">
                <a16:creationId xmlns:a16="http://schemas.microsoft.com/office/drawing/2014/main" id="{D30A40CB-6AFD-4E65-BD9A-1965FAA14D71}"/>
              </a:ext>
            </a:extLst>
          </p:cNvPr>
          <p:cNvSpPr/>
          <p:nvPr/>
        </p:nvSpPr>
        <p:spPr>
          <a:xfrm>
            <a:off x="4784687" y="1272950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18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For a single model: </a:t>
            </a:r>
            <a:br>
              <a:rPr lang="en-GB" dirty="0"/>
            </a:br>
            <a:r>
              <a:rPr lang="en-GB" dirty="0"/>
              <a:t>Log-Likelihood to -2*Log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32A9F-D566-49FF-ABCF-83482147C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92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Then, multiply the log transform by -2:</a:t>
            </a:r>
          </a:p>
        </p:txBody>
      </p:sp>
      <p:sp>
        <p:nvSpPr>
          <p:cNvPr id="8" name="Google Shape;57;p13">
            <a:extLst>
              <a:ext uri="{FF2B5EF4-FFF2-40B4-BE49-F238E27FC236}">
                <a16:creationId xmlns:a16="http://schemas.microsoft.com/office/drawing/2014/main" id="{D30A40CB-6AFD-4E65-BD9A-1965FAA14D71}"/>
              </a:ext>
            </a:extLst>
          </p:cNvPr>
          <p:cNvSpPr/>
          <p:nvPr/>
        </p:nvSpPr>
        <p:spPr>
          <a:xfrm>
            <a:off x="4733705" y="1272950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B4469C-6DC4-4313-A241-914F9D71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37" y="2374901"/>
            <a:ext cx="10617562" cy="4247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C66EF4-0A39-40AE-B184-5B9EBECC4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35" y="2334116"/>
            <a:ext cx="10719527" cy="428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6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Each model will have a single -2Log Likelihood</a:t>
            </a:r>
          </a:p>
        </p:txBody>
      </p:sp>
      <p:sp>
        <p:nvSpPr>
          <p:cNvPr id="8" name="Google Shape;57;p13">
            <a:extLst>
              <a:ext uri="{FF2B5EF4-FFF2-40B4-BE49-F238E27FC236}">
                <a16:creationId xmlns:a16="http://schemas.microsoft.com/office/drawing/2014/main" id="{D30A40CB-6AFD-4E65-BD9A-1965FAA14D71}"/>
              </a:ext>
            </a:extLst>
          </p:cNvPr>
          <p:cNvSpPr/>
          <p:nvPr/>
        </p:nvSpPr>
        <p:spPr>
          <a:xfrm>
            <a:off x="4784687" y="1029181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B95D8E-B640-4CB5-BF71-A88D057CD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552" y="1325563"/>
            <a:ext cx="6866667" cy="5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94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Savvy house buyers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B32A9F-D566-49FF-ABCF-83482147C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7"/>
                <a:ext cx="10515600" cy="3684954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We have a choice of 3 houses. Which one do we buy?</a:t>
                </a:r>
              </a:p>
              <a:p>
                <a:r>
                  <a:rPr lang="en-GB" dirty="0"/>
                  <a:t>I give a rating to each house, where the lower the rating, the more I like the house.</a:t>
                </a:r>
              </a:p>
              <a:p>
                <a:pPr lvl="1"/>
                <a:r>
                  <a:rPr lang="en-GB" dirty="0"/>
                  <a:t>(for models, this is the -2LogLikelihood (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dirty="0"/>
                  <a:t>))</a:t>
                </a:r>
              </a:p>
              <a:p>
                <a:r>
                  <a:rPr lang="en-GB" dirty="0"/>
                  <a:t>Each house costs a certain amount (£) </a:t>
                </a:r>
              </a:p>
              <a:p>
                <a:pPr lvl="1"/>
                <a:r>
                  <a:rPr lang="en-GB" dirty="0"/>
                  <a:t>(for models, this is the number of parameters)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Our aim is to get the best house we can, for the lowest cost!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B32A9F-D566-49FF-ABCF-83482147C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7"/>
                <a:ext cx="10515600" cy="3684954"/>
              </a:xfrm>
              <a:blipFill>
                <a:blip r:embed="rId2"/>
                <a:stretch>
                  <a:fillRect l="-1043" t="-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57;p13">
            <a:extLst>
              <a:ext uri="{FF2B5EF4-FFF2-40B4-BE49-F238E27FC236}">
                <a16:creationId xmlns:a16="http://schemas.microsoft.com/office/drawing/2014/main" id="{D30A40CB-6AFD-4E65-BD9A-1965FAA14D71}"/>
              </a:ext>
            </a:extLst>
          </p:cNvPr>
          <p:cNvSpPr/>
          <p:nvPr/>
        </p:nvSpPr>
        <p:spPr>
          <a:xfrm>
            <a:off x="4784687" y="1029181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/>
              <p:nvPr/>
            </p:nvSpPr>
            <p:spPr>
              <a:xfrm>
                <a:off x="2954357" y="5032520"/>
                <a:ext cx="6096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4400" b="0" i="0" smtClean="0">
                          <a:latin typeface="Cambria Math" panose="02040503050406030204" pitchFamily="18" charset="0"/>
                        </a:rPr>
                        <m:t>AIC</m:t>
                      </m:r>
                      <m:r>
                        <a:rPr lang="en-GB" sz="4400" b="0" i="0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357" y="5032520"/>
                <a:ext cx="6096000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189F0C-3D67-4310-A4CA-70C273AB8C92}"/>
                  </a:ext>
                </a:extLst>
              </p:cNvPr>
              <p:cNvSpPr txBox="1"/>
              <p:nvPr/>
            </p:nvSpPr>
            <p:spPr>
              <a:xfrm>
                <a:off x="4220348" y="5695315"/>
                <a:ext cx="375130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where;</a:t>
                </a:r>
              </a:p>
              <a:p>
                <a14:m>
                  <m:oMath xmlns:m="http://schemas.openxmlformats.org/officeDocument/2006/math"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GB" sz="1800" i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dirty="0"/>
                  <a:t> is the -2 log Likelihood,</a:t>
                </a:r>
              </a:p>
              <a:p>
                <a:r>
                  <a:rPr lang="en-GB" dirty="0"/>
                  <a:t>K is the number of parameters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189F0C-3D67-4310-A4CA-70C273AB8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348" y="5695315"/>
                <a:ext cx="3751302" cy="923330"/>
              </a:xfrm>
              <a:prstGeom prst="rect">
                <a:avLst/>
              </a:prstGeom>
              <a:blipFill>
                <a:blip r:embed="rId4"/>
                <a:stretch>
                  <a:fillRect l="-1299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30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Let’s buy a house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/>
              <p:nvPr/>
            </p:nvSpPr>
            <p:spPr>
              <a:xfrm>
                <a:off x="3048000" y="6088559"/>
                <a:ext cx="6096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4400" b="0" i="0" smtClean="0">
                          <a:latin typeface="Cambria Math" panose="02040503050406030204" pitchFamily="18" charset="0"/>
                        </a:rPr>
                        <m:t>AIC</m:t>
                      </m:r>
                      <m:r>
                        <a:rPr lang="en-GB" sz="4400" b="0" i="0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6088559"/>
                <a:ext cx="6096000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949164B-5903-41E7-B445-35F9D6B46E79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325563"/>
              <a:ext cx="10646664" cy="50292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58063380"/>
                        </a:ext>
                      </a:extLst>
                    </a:gridCol>
                    <a:gridCol w="2252472">
                      <a:extLst>
                        <a:ext uri="{9D8B030D-6E8A-4147-A177-3AD203B41FA5}">
                          <a16:colId xmlns:a16="http://schemas.microsoft.com/office/drawing/2014/main" val="4248961987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751522896"/>
                        </a:ext>
                      </a:extLst>
                    </a:gridCol>
                    <a:gridCol w="2621280">
                      <a:extLst>
                        <a:ext uri="{9D8B030D-6E8A-4147-A177-3AD203B41FA5}">
                          <a16:colId xmlns:a16="http://schemas.microsoft.com/office/drawing/2014/main" val="3029197366"/>
                        </a:ext>
                      </a:extLst>
                    </a:gridCol>
                    <a:gridCol w="2499360">
                      <a:extLst>
                        <a:ext uri="{9D8B030D-6E8A-4147-A177-3AD203B41FA5}">
                          <a16:colId xmlns:a16="http://schemas.microsoft.com/office/drawing/2014/main" val="1723384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The house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Deon’s Rating (-2lnL)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Cost (K)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AIC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∆AIC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9924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-250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£75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1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𝟏𝟗𝟔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𝟗𝟔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17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-200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£2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b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1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i="1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𝟗𝟔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196</m:t>
                                </m:r>
                                <m:r>
                                  <a:rPr lang="en-GB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GB" sz="2000" b="1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𝟏𝟗𝟔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dk1"/>
                            </a:solidFill>
                            <a:effectLst/>
                          </a:endParaRPr>
                        </a:p>
                        <a:p>
                          <a:pPr algn="ctr"/>
                          <a:endParaRPr lang="en-GB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8161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-100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£1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𝟗𝟖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98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𝟏𝟗𝟔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𝟗𝟖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3373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949164B-5903-41E7-B445-35F9D6B46E7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73519126"/>
                  </p:ext>
                </p:extLst>
              </p:nvPr>
            </p:nvGraphicFramePr>
            <p:xfrm>
              <a:off x="838200" y="1325563"/>
              <a:ext cx="10646664" cy="475996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58063380"/>
                        </a:ext>
                      </a:extLst>
                    </a:gridCol>
                    <a:gridCol w="2252472">
                      <a:extLst>
                        <a:ext uri="{9D8B030D-6E8A-4147-A177-3AD203B41FA5}">
                          <a16:colId xmlns:a16="http://schemas.microsoft.com/office/drawing/2014/main" val="4248961987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751522896"/>
                        </a:ext>
                      </a:extLst>
                    </a:gridCol>
                    <a:gridCol w="2621280">
                      <a:extLst>
                        <a:ext uri="{9D8B030D-6E8A-4147-A177-3AD203B41FA5}">
                          <a16:colId xmlns:a16="http://schemas.microsoft.com/office/drawing/2014/main" val="3029197366"/>
                        </a:ext>
                      </a:extLst>
                    </a:gridCol>
                    <a:gridCol w="2499360">
                      <a:extLst>
                        <a:ext uri="{9D8B030D-6E8A-4147-A177-3AD203B41FA5}">
                          <a16:colId xmlns:a16="http://schemas.microsoft.com/office/drawing/2014/main" val="1723384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The house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Deon’s Rating (-2lnL)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Cost (K)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AIC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∆AIC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9924850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-250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£75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930" t="-27500" r="-95814" b="-20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6098" t="-27500" r="-488" b="-200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1784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-200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£2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930" t="-126971" r="-9581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6098" t="-126971" r="-48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81612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-100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£1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930" t="-227917" r="-95814" b="-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6098" t="-227917" r="-488" b="-4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33734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 descr="A large white house with a pool in front of it&#10;&#10;Description automatically generated with low confidence">
            <a:extLst>
              <a:ext uri="{FF2B5EF4-FFF2-40B4-BE49-F238E27FC236}">
                <a16:creationId xmlns:a16="http://schemas.microsoft.com/office/drawing/2014/main" id="{8A390711-D944-4F36-B5B1-746379961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11" y="1741774"/>
            <a:ext cx="2072081" cy="1383321"/>
          </a:xfrm>
          <a:prstGeom prst="rect">
            <a:avLst/>
          </a:prstGeom>
        </p:spPr>
      </p:pic>
      <p:pic>
        <p:nvPicPr>
          <p:cNvPr id="16" name="Picture 15" descr="A house with a large front yard&#10;&#10;Description automatically generated with low confidence">
            <a:extLst>
              <a:ext uri="{FF2B5EF4-FFF2-40B4-BE49-F238E27FC236}">
                <a16:creationId xmlns:a16="http://schemas.microsoft.com/office/drawing/2014/main" id="{406199C3-58FB-4498-AAFA-2CC3527CD6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11" y="3250930"/>
            <a:ext cx="2072081" cy="1165546"/>
          </a:xfrm>
          <a:prstGeom prst="rect">
            <a:avLst/>
          </a:prstGeom>
        </p:spPr>
      </p:pic>
      <p:pic>
        <p:nvPicPr>
          <p:cNvPr id="18" name="Picture 17" descr="A picture containing grass, outdoor, tree, building&#10;&#10;Description automatically generated">
            <a:extLst>
              <a:ext uri="{FF2B5EF4-FFF2-40B4-BE49-F238E27FC236}">
                <a16:creationId xmlns:a16="http://schemas.microsoft.com/office/drawing/2014/main" id="{28FAAB80-E2DD-4370-9EB3-5B051BBB0F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34" y="4542311"/>
            <a:ext cx="1954635" cy="146597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DE64102-C7B7-4E58-9B26-B1F596F2A00D}"/>
              </a:ext>
            </a:extLst>
          </p:cNvPr>
          <p:cNvSpPr/>
          <p:nvPr/>
        </p:nvSpPr>
        <p:spPr>
          <a:xfrm>
            <a:off x="2978092" y="1239630"/>
            <a:ext cx="2151077" cy="4943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655F23-EFA4-4CBB-8977-2E8CC752813D}"/>
              </a:ext>
            </a:extLst>
          </p:cNvPr>
          <p:cNvSpPr/>
          <p:nvPr/>
        </p:nvSpPr>
        <p:spPr>
          <a:xfrm>
            <a:off x="5129169" y="1235108"/>
            <a:ext cx="1187741" cy="4943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31F27B-F8B9-4E53-86EC-2674BE3290BA}"/>
              </a:ext>
            </a:extLst>
          </p:cNvPr>
          <p:cNvSpPr/>
          <p:nvPr/>
        </p:nvSpPr>
        <p:spPr>
          <a:xfrm>
            <a:off x="8497713" y="1239630"/>
            <a:ext cx="3188151" cy="4943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F5AD19-6C20-486F-9BE5-EAFF222DBCD7}"/>
              </a:ext>
            </a:extLst>
          </p:cNvPr>
          <p:cNvSpPr/>
          <p:nvPr/>
        </p:nvSpPr>
        <p:spPr>
          <a:xfrm>
            <a:off x="6331773" y="1235108"/>
            <a:ext cx="2151077" cy="4943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09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98CA-6CDE-4EA1-A4D7-AFA2A95F7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773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Model selection with AIC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14CB06-917F-41A2-A509-75440974C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354" y="1689055"/>
            <a:ext cx="4385683" cy="493824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We select the model with the lowest AIC</a:t>
            </a:r>
          </a:p>
          <a:p>
            <a:pPr lvl="1"/>
            <a:r>
              <a:rPr lang="en-GB" dirty="0"/>
              <a:t>This will be the model where ∆AIC = 0</a:t>
            </a:r>
          </a:p>
          <a:p>
            <a:r>
              <a:rPr lang="en-GB" dirty="0"/>
              <a:t>Any models with ∆AIC &gt; 2, we reject them</a:t>
            </a:r>
          </a:p>
          <a:p>
            <a:r>
              <a:rPr lang="en-GB" dirty="0"/>
              <a:t>If there are models with ∆AIC &lt; 2, both models are valid.</a:t>
            </a:r>
          </a:p>
          <a:p>
            <a:pPr lvl="1"/>
            <a:r>
              <a:rPr lang="en-GB" dirty="0"/>
              <a:t>Of those two models, you choose which one to use</a:t>
            </a:r>
          </a:p>
          <a:p>
            <a:r>
              <a:rPr lang="en-GB" dirty="0"/>
              <a:t>Always run the simplest possible model!</a:t>
            </a:r>
          </a:p>
          <a:p>
            <a:pPr lvl="1"/>
            <a:r>
              <a:rPr lang="en-GB" dirty="0"/>
              <a:t>What if I’d only considered mansions? I’d have to buy a mansion.</a:t>
            </a:r>
          </a:p>
          <a:p>
            <a:pPr lvl="1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16D51-CBF2-4224-BD22-DF3A64313E0F}"/>
              </a:ext>
            </a:extLst>
          </p:cNvPr>
          <p:cNvSpPr txBox="1"/>
          <p:nvPr/>
        </p:nvSpPr>
        <p:spPr>
          <a:xfrm>
            <a:off x="7361323" y="6257971"/>
            <a:ext cx="1967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No more p-values!</a:t>
            </a:r>
          </a:p>
        </p:txBody>
      </p:sp>
      <p:pic>
        <p:nvPicPr>
          <p:cNvPr id="11" name="Picture 10" descr="A house with a large front yard&#10;&#10;Description automatically generated with low confidence">
            <a:extLst>
              <a:ext uri="{FF2B5EF4-FFF2-40B4-BE49-F238E27FC236}">
                <a16:creationId xmlns:a16="http://schemas.microsoft.com/office/drawing/2014/main" id="{3E1B232A-57DB-42FB-86CF-1285215F6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510" y="1745739"/>
            <a:ext cx="7409135" cy="416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5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Which house do we choose now?</a:t>
            </a:r>
          </a:p>
        </p:txBody>
      </p:sp>
      <p:sp>
        <p:nvSpPr>
          <p:cNvPr id="8" name="Google Shape;57;p13">
            <a:extLst>
              <a:ext uri="{FF2B5EF4-FFF2-40B4-BE49-F238E27FC236}">
                <a16:creationId xmlns:a16="http://schemas.microsoft.com/office/drawing/2014/main" id="{D30A40CB-6AFD-4E65-BD9A-1965FAA14D71}"/>
              </a:ext>
            </a:extLst>
          </p:cNvPr>
          <p:cNvSpPr/>
          <p:nvPr/>
        </p:nvSpPr>
        <p:spPr>
          <a:xfrm>
            <a:off x="4784687" y="1029181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/>
              <p:nvPr/>
            </p:nvSpPr>
            <p:spPr>
              <a:xfrm>
                <a:off x="3047999" y="5284112"/>
                <a:ext cx="6096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4400" b="0" i="0" smtClean="0">
                          <a:latin typeface="Cambria Math" panose="02040503050406030204" pitchFamily="18" charset="0"/>
                        </a:rPr>
                        <m:t>AIC</m:t>
                      </m:r>
                      <m:r>
                        <a:rPr lang="en-GB" sz="4400" b="0" i="0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9" y="5284112"/>
                <a:ext cx="6096000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949164B-5903-41E7-B445-35F9D6B46E79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325563"/>
              <a:ext cx="10646664" cy="356616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58063380"/>
                        </a:ext>
                      </a:extLst>
                    </a:gridCol>
                    <a:gridCol w="2252472">
                      <a:extLst>
                        <a:ext uri="{9D8B030D-6E8A-4147-A177-3AD203B41FA5}">
                          <a16:colId xmlns:a16="http://schemas.microsoft.com/office/drawing/2014/main" val="4248961987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751522896"/>
                        </a:ext>
                      </a:extLst>
                    </a:gridCol>
                    <a:gridCol w="2621280">
                      <a:extLst>
                        <a:ext uri="{9D8B030D-6E8A-4147-A177-3AD203B41FA5}">
                          <a16:colId xmlns:a16="http://schemas.microsoft.com/office/drawing/2014/main" val="3029197366"/>
                        </a:ext>
                      </a:extLst>
                    </a:gridCol>
                    <a:gridCol w="2499360">
                      <a:extLst>
                        <a:ext uri="{9D8B030D-6E8A-4147-A177-3AD203B41FA5}">
                          <a16:colId xmlns:a16="http://schemas.microsoft.com/office/drawing/2014/main" val="1723384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The house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Deon’s Rating (-2lnL)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Cost (K)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AIC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∆AIC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9924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-250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£75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1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i="0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b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1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17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-100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£1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𝟗𝟖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98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i="0" kern="12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1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3373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949164B-5903-41E7-B445-35F9D6B46E7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7846660"/>
                  </p:ext>
                </p:extLst>
              </p:nvPr>
            </p:nvGraphicFramePr>
            <p:xfrm>
              <a:off x="838200" y="1325563"/>
              <a:ext cx="10646664" cy="32969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58063380"/>
                        </a:ext>
                      </a:extLst>
                    </a:gridCol>
                    <a:gridCol w="2252472">
                      <a:extLst>
                        <a:ext uri="{9D8B030D-6E8A-4147-A177-3AD203B41FA5}">
                          <a16:colId xmlns:a16="http://schemas.microsoft.com/office/drawing/2014/main" val="4248961987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751522896"/>
                        </a:ext>
                      </a:extLst>
                    </a:gridCol>
                    <a:gridCol w="2621280">
                      <a:extLst>
                        <a:ext uri="{9D8B030D-6E8A-4147-A177-3AD203B41FA5}">
                          <a16:colId xmlns:a16="http://schemas.microsoft.com/office/drawing/2014/main" val="3029197366"/>
                        </a:ext>
                      </a:extLst>
                    </a:gridCol>
                    <a:gridCol w="2499360">
                      <a:extLst>
                        <a:ext uri="{9D8B030D-6E8A-4147-A177-3AD203B41FA5}">
                          <a16:colId xmlns:a16="http://schemas.microsoft.com/office/drawing/2014/main" val="1723384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The house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Deon’s Rating (-2lnL)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Cost (K)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AIC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rgbClr val="7030A0"/>
                              </a:solidFill>
                            </a:rPr>
                            <a:t>∆AIC</a:t>
                          </a:r>
                          <a:endParaRPr lang="en-GB" b="1" i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9924850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-250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£75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930" t="-27500" r="-95814" b="-10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6098" t="-27500" r="-488" b="-100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1784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-100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/>
                            <a:t>£1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930" t="-126971" r="-95814" b="-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6098" t="-126971" r="-488" b="-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33734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 descr="A large white house with a pool in front of it&#10;&#10;Description automatically generated with low confidence">
            <a:extLst>
              <a:ext uri="{FF2B5EF4-FFF2-40B4-BE49-F238E27FC236}">
                <a16:creationId xmlns:a16="http://schemas.microsoft.com/office/drawing/2014/main" id="{8A390711-D944-4F36-B5B1-746379961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11" y="1741774"/>
            <a:ext cx="2072081" cy="1383321"/>
          </a:xfrm>
          <a:prstGeom prst="rect">
            <a:avLst/>
          </a:prstGeom>
        </p:spPr>
      </p:pic>
      <p:pic>
        <p:nvPicPr>
          <p:cNvPr id="18" name="Picture 17" descr="A picture containing grass, outdoor, tree, building&#10;&#10;Description automatically generated">
            <a:extLst>
              <a:ext uri="{FF2B5EF4-FFF2-40B4-BE49-F238E27FC236}">
                <a16:creationId xmlns:a16="http://schemas.microsoft.com/office/drawing/2014/main" id="{28FAAB80-E2DD-4370-9EB3-5B051BBB0F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33" y="3140801"/>
            <a:ext cx="1954635" cy="146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01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63CC99-C0FF-4EC8-B6F6-44AB2CFD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869" y="1715394"/>
            <a:ext cx="4901466" cy="50321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A0A385-B295-4E6B-9B8C-D693CB55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56478"/>
            <a:ext cx="11360800" cy="1318616"/>
          </a:xfrm>
        </p:spPr>
        <p:txBody>
          <a:bodyPr/>
          <a:lstStyle/>
          <a:p>
            <a:pPr algn="ctr"/>
            <a:r>
              <a:rPr lang="en-GB" dirty="0"/>
              <a:t>No amount of clever statistics can save you from the Monkey’s paw!</a:t>
            </a:r>
          </a:p>
        </p:txBody>
      </p:sp>
      <p:sp>
        <p:nvSpPr>
          <p:cNvPr id="6" name="Google Shape;374;p39">
            <a:extLst>
              <a:ext uri="{FF2B5EF4-FFF2-40B4-BE49-F238E27FC236}">
                <a16:creationId xmlns:a16="http://schemas.microsoft.com/office/drawing/2014/main" id="{148B1B88-469A-45AB-AA75-244E16CFE4BF}"/>
              </a:ext>
            </a:extLst>
          </p:cNvPr>
          <p:cNvSpPr/>
          <p:nvPr/>
        </p:nvSpPr>
        <p:spPr>
          <a:xfrm>
            <a:off x="4347583" y="1575094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9603A869-7F0F-4757-8E8B-7C46126F19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9084" y="1855177"/>
                <a:ext cx="6077554" cy="4809392"/>
              </a:xfrm>
            </p:spPr>
            <p:txBody>
              <a:bodyPr/>
              <a:lstStyle/>
              <a:p>
                <a:pPr marL="152396" indent="0">
                  <a:buNone/>
                </a:pPr>
                <a:r>
                  <a:rPr lang="en-GB" dirty="0"/>
                  <a:t>Figure shows the results of using AIC to choose which variables to include in a model.</a:t>
                </a:r>
              </a:p>
              <a:p>
                <a:pPr marL="152396" indent="0">
                  <a:buNone/>
                </a:pPr>
                <a:endParaRPr lang="en-GB" dirty="0"/>
              </a:p>
              <a:p>
                <a:pPr marL="152396" indent="0">
                  <a:buNone/>
                </a:pPr>
                <a:r>
                  <a:rPr lang="en-GB" dirty="0"/>
                  <a:t>In truth, none of the variables had any effect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yet AIC suggests that these 3 variables did!</a:t>
                </a:r>
              </a:p>
              <a:p>
                <a:pPr marL="152396" indent="0">
                  <a:buNone/>
                </a:pPr>
                <a:endParaRPr lang="en-GB" dirty="0"/>
              </a:p>
              <a:p>
                <a:pPr marL="152396" indent="0">
                  <a:buNone/>
                </a:pPr>
                <a:r>
                  <a:rPr lang="en-GB" dirty="0"/>
                  <a:t>The only protection against the Monkey’s paw is your biological training.</a:t>
                </a:r>
              </a:p>
            </p:txBody>
          </p:sp>
        </mc:Choice>
        <mc:Fallback xmlns=""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9603A869-7F0F-4757-8E8B-7C46126F19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9084" y="1855177"/>
                <a:ext cx="6077554" cy="4809392"/>
              </a:xfrm>
              <a:blipFill>
                <a:blip r:embed="rId3"/>
                <a:stretch>
                  <a:fillRect t="-1141" r="-1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35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8B48-F8BF-4A74-9842-D6FDE75B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44B44-F49F-4063-9F34-8A4D4F542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277"/>
            <a:ext cx="10515600" cy="466468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An optimiser tries different parameter values and finds those parameter values which </a:t>
            </a:r>
            <a:r>
              <a:rPr lang="en-GB" i="1" dirty="0"/>
              <a:t>Maximise the likelihood, </a:t>
            </a:r>
            <a:r>
              <a:rPr lang="en-GB" dirty="0"/>
              <a:t>giving us the Maximum Likelihood Estimate.</a:t>
            </a:r>
          </a:p>
          <a:p>
            <a:pPr lvl="1"/>
            <a:r>
              <a:rPr lang="en-GB" dirty="0"/>
              <a:t>The Likelihood is just calculated from an equation</a:t>
            </a:r>
          </a:p>
          <a:p>
            <a:pPr lvl="1"/>
            <a:r>
              <a:rPr lang="en-GB" dirty="0"/>
              <a:t>A model will </a:t>
            </a:r>
            <a:r>
              <a:rPr lang="en-GB" i="1" dirty="0"/>
              <a:t>almost</a:t>
            </a:r>
            <a:r>
              <a:rPr lang="en-GB" dirty="0"/>
              <a:t> always provide parameter estimates. Just because a model can give you values, does not make them reliable.</a:t>
            </a:r>
          </a:p>
          <a:p>
            <a:r>
              <a:rPr lang="en-GB" dirty="0"/>
              <a:t>We can use the MLE of each model to find the most parsimonious model that was tested.</a:t>
            </a:r>
          </a:p>
          <a:p>
            <a:pPr lvl="1"/>
            <a:r>
              <a:rPr lang="en-GB" dirty="0"/>
              <a:t>If two of your lowest models have a ∆AIC ≤ 2 (e.g., 0 and 1.2), you cannot use AIC to distinguish between them.</a:t>
            </a:r>
          </a:p>
          <a:p>
            <a:r>
              <a:rPr lang="en-GB" dirty="0"/>
              <a:t>AIC is a method to distinguish between models, but it doesn’t mean you can turn your brain off! Trust your biological training!</a:t>
            </a:r>
          </a:p>
        </p:txBody>
      </p:sp>
      <p:sp>
        <p:nvSpPr>
          <p:cNvPr id="4" name="Google Shape;57;p13">
            <a:extLst>
              <a:ext uri="{FF2B5EF4-FFF2-40B4-BE49-F238E27FC236}">
                <a16:creationId xmlns:a16="http://schemas.microsoft.com/office/drawing/2014/main" id="{5651DEF5-8110-430A-B22F-3FBBB7C3E18F}"/>
              </a:ext>
            </a:extLst>
          </p:cNvPr>
          <p:cNvSpPr/>
          <p:nvPr/>
        </p:nvSpPr>
        <p:spPr>
          <a:xfrm>
            <a:off x="4784687" y="1029181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66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48</TotalTime>
  <Words>1358</Words>
  <Application>Microsoft Office PowerPoint</Application>
  <PresentationFormat>Widescreen</PresentationFormat>
  <Paragraphs>182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Bahnschrift Light</vt:lpstr>
      <vt:lpstr>Cambria Math</vt:lpstr>
      <vt:lpstr>sbs_template</vt:lpstr>
      <vt:lpstr>Using “Machine Learning” (a.k.a statistics) to estimate the unknown</vt:lpstr>
      <vt:lpstr>How does the optimiser (and MLE) work?</vt:lpstr>
      <vt:lpstr>Behind the scenes</vt:lpstr>
      <vt:lpstr>Let’s calculate MLE</vt:lpstr>
      <vt:lpstr>When f_0 = 10 and p = 0.5</vt:lpstr>
      <vt:lpstr>When f_0 = 30 and p = 0.5</vt:lpstr>
      <vt:lpstr>Let the optimiser work</vt:lpstr>
      <vt:lpstr>Which model best fits our data?</vt:lpstr>
      <vt:lpstr>Overfitting and underfitting</vt:lpstr>
      <vt:lpstr>Using AIC to find most the “parsimonious” model</vt:lpstr>
      <vt:lpstr>For a single model:  Likelihood to Log-Likelihood</vt:lpstr>
      <vt:lpstr>For a single model:  Log-Likelihood to -2*Log Likelihood</vt:lpstr>
      <vt:lpstr>Each model will have a single -2Log Likelihood</vt:lpstr>
      <vt:lpstr>Savvy house buyers</vt:lpstr>
      <vt:lpstr>Let’s buy a house</vt:lpstr>
      <vt:lpstr>Model selection with AIC</vt:lpstr>
      <vt:lpstr>Which house do we choose now?</vt:lpstr>
      <vt:lpstr>No amount of clever statistics can save you from the Monkey’s paw!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</cp:revision>
  <dcterms:created xsi:type="dcterms:W3CDTF">2024-08-08T11:21:53Z</dcterms:created>
  <dcterms:modified xsi:type="dcterms:W3CDTF">2024-08-08T12:10:01Z</dcterms:modified>
</cp:coreProperties>
</file>