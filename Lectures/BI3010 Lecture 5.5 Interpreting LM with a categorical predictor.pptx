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2" r:id="rId3"/>
    <p:sldId id="283" r:id="rId4"/>
    <p:sldId id="286" r:id="rId5"/>
    <p:sldId id="287" r:id="rId6"/>
    <p:sldId id="303" r:id="rId7"/>
    <p:sldId id="284" r:id="rId8"/>
    <p:sldId id="288" r:id="rId9"/>
    <p:sldId id="304" r:id="rId10"/>
    <p:sldId id="289" r:id="rId11"/>
    <p:sldId id="306" r:id="rId12"/>
    <p:sldId id="293" r:id="rId13"/>
    <p:sldId id="305" r:id="rId14"/>
    <p:sldId id="296" r:id="rId15"/>
    <p:sldId id="297" r:id="rId16"/>
    <p:sldId id="295" r:id="rId17"/>
    <p:sldId id="298" r:id="rId18"/>
    <p:sldId id="299" r:id="rId19"/>
    <p:sldId id="300" r:id="rId20"/>
    <p:sldId id="307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3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86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49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53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62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86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97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57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91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06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435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F0DD-65FF-72E9-E04F-9DE0F4CC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66999-0343-422D-D688-74CCBE2D3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5337-863F-9BE8-EB80-98CA0CAC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A44AC-190E-14C8-46C9-0569541C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B0A2F-E8CB-C3B8-E4C1-D8371DE5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46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44561-F434-46E9-9D5F-467389065464}" type="datetimeFigureOut">
              <a:rPr lang="en-GB" smtClean="0"/>
              <a:t>07/10/2024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005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FF73-172F-E494-30C4-2C9EE137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77C44-EE3B-E77E-39A0-7B72EB667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categorical explanatory variables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08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D4E562DF-E19D-AA27-A97B-CE1EA3A77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7" y="2502580"/>
            <a:ext cx="3048387" cy="3048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40908-F271-D9D2-C6A6-9C32BE5C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From theory to implementation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55CAB6-8D98-94FE-A8CB-E3CF882C57D8}"/>
              </a:ext>
            </a:extLst>
          </p:cNvPr>
          <p:cNvCxnSpPr>
            <a:cxnSpLocks/>
          </p:cNvCxnSpPr>
          <p:nvPr/>
        </p:nvCxnSpPr>
        <p:spPr>
          <a:xfrm>
            <a:off x="3107154" y="4031236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277CF8BA-7D4E-243E-743E-C4E2389503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939" r="71" b="-1154"/>
          <a:stretch/>
        </p:blipFill>
        <p:spPr>
          <a:xfrm>
            <a:off x="4433777" y="2946363"/>
            <a:ext cx="2713742" cy="216974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B64ED-7BF1-A16B-91BF-112C45F539B8}"/>
              </a:ext>
            </a:extLst>
          </p:cNvPr>
          <p:cNvCxnSpPr>
            <a:cxnSpLocks/>
          </p:cNvCxnSpPr>
          <p:nvPr/>
        </p:nvCxnSpPr>
        <p:spPr>
          <a:xfrm>
            <a:off x="7147519" y="3886971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7C63EFB6-915E-5B6A-EC50-261350DE77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142" y="2243240"/>
            <a:ext cx="2991732" cy="356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1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8D56-C588-6D75-D596-2198F460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The core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5ED3-393D-9153-D3A9-E48DDBC00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12192000" cy="5240194"/>
          </a:xfrm>
        </p:spPr>
        <p:txBody>
          <a:bodyPr/>
          <a:lstStyle/>
          <a:p>
            <a:r>
              <a:rPr lang="en-GB" dirty="0"/>
              <a:t>We continue using the same function from last week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cs typeface="Courier New" panose="02070309020205020404" pitchFamily="49" charset="0"/>
              </a:rPr>
              <a:t>We need to give the function specific information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dataset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model formula</a:t>
            </a:r>
          </a:p>
        </p:txBody>
      </p:sp>
    </p:spTree>
    <p:extLst>
      <p:ext uri="{BB962C8B-B14F-4D97-AF65-F5344CB8AC3E}">
        <p14:creationId xmlns:p14="http://schemas.microsoft.com/office/powerpoint/2010/main" val="10559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The data</a:t>
            </a:r>
          </a:p>
        </p:txBody>
      </p:sp>
    </p:spTree>
    <p:extLst>
      <p:ext uri="{BB962C8B-B14F-4D97-AF65-F5344CB8AC3E}">
        <p14:creationId xmlns:p14="http://schemas.microsoft.com/office/powerpoint/2010/main" val="132548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5A36-5856-345F-A93E-E7FB9CF1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sure your data is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ADB15-81CB-A31D-5B02-4EB89751E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the data in “tabular” form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each row is an observation</a:t>
            </a:r>
          </a:p>
          <a:p>
            <a:pPr lvl="1"/>
            <a:r>
              <a:rPr lang="en-GB" dirty="0"/>
              <a:t>each column is a variable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6FAE826-2C0F-26A6-AE57-631ECE8DED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399" b="13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1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The formula</a:t>
            </a:r>
          </a:p>
        </p:txBody>
      </p:sp>
    </p:spTree>
    <p:extLst>
      <p:ext uri="{BB962C8B-B14F-4D97-AF65-F5344CB8AC3E}">
        <p14:creationId xmlns:p14="http://schemas.microsoft.com/office/powerpoint/2010/main" val="59642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733E-2252-9A81-00BA-12171197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BC78-C7ED-C5BE-6EEE-49944185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to understand if average horn length is different in the two regions</a:t>
            </a:r>
          </a:p>
          <a:p>
            <a:pPr lvl="1"/>
            <a:r>
              <a:rPr lang="en-GB" dirty="0"/>
              <a:t>Response variable = horn length</a:t>
            </a:r>
          </a:p>
          <a:p>
            <a:pPr lvl="1"/>
            <a:r>
              <a:rPr lang="en-GB" dirty="0"/>
              <a:t>Explanatory variable = region</a:t>
            </a:r>
          </a:p>
          <a:p>
            <a:r>
              <a:rPr lang="en-GB" dirty="0"/>
              <a:t>To convey this to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horn ~ region</a:t>
            </a:r>
          </a:p>
          <a:p>
            <a:pPr lvl="1"/>
            <a:r>
              <a:rPr lang="en-GB" dirty="0"/>
              <a:t>In English: “Horn length as a function of region”</a:t>
            </a:r>
          </a:p>
          <a:p>
            <a:pPr lvl="1"/>
            <a:r>
              <a:rPr lang="en-GB" dirty="0"/>
              <a:t>In actual English: “Horn length is different in the two regions”</a:t>
            </a:r>
          </a:p>
        </p:txBody>
      </p:sp>
      <p:pic>
        <p:nvPicPr>
          <p:cNvPr id="12" name="Picture Placeholder 11" descr="A person with a ram lying in the snow&#10;&#10;Description automatically generated">
            <a:extLst>
              <a:ext uri="{FF2B5EF4-FFF2-40B4-BE49-F238E27FC236}">
                <a16:creationId xmlns:a16="http://schemas.microsoft.com/office/drawing/2014/main" id="{C04E6F11-BD2B-9699-76E4-9708802DD8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1" r="3173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85440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F204-3D87-6068-E5F5-29F97B45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Running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D3BB6-5A91-E7D4-D799-6B659D7ACEB7}"/>
              </a:ext>
            </a:extLst>
          </p:cNvPr>
          <p:cNvSpPr txBox="1">
            <a:spLocks/>
          </p:cNvSpPr>
          <p:nvPr/>
        </p:nvSpPr>
        <p:spPr>
          <a:xfrm>
            <a:off x="2934585" y="3115339"/>
            <a:ext cx="7783033" cy="3551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(horn ~ region,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data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shp_data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B47B95E-C2B3-6D0D-E8B7-D63494B659E3}"/>
              </a:ext>
            </a:extLst>
          </p:cNvPr>
          <p:cNvGrpSpPr/>
          <p:nvPr/>
        </p:nvGrpSpPr>
        <p:grpSpPr>
          <a:xfrm>
            <a:off x="435564" y="2972728"/>
            <a:ext cx="4517436" cy="715089"/>
            <a:chOff x="435564" y="2972728"/>
            <a:chExt cx="4517436" cy="715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F45767-DE66-6481-4951-0EC8DDC5087E}"/>
                </a:ext>
              </a:extLst>
            </p:cNvPr>
            <p:cNvSpPr/>
            <p:nvPr/>
          </p:nvSpPr>
          <p:spPr>
            <a:xfrm>
              <a:off x="3000375" y="3135965"/>
              <a:ext cx="1952625" cy="400191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DB8977-4C5D-F6AC-1DC2-54A62A7169D8}"/>
                </a:ext>
              </a:extLst>
            </p:cNvPr>
            <p:cNvSpPr txBox="1"/>
            <p:nvPr/>
          </p:nvSpPr>
          <p:spPr>
            <a:xfrm>
              <a:off x="435564" y="2972728"/>
              <a:ext cx="2355833" cy="715089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Call the stored </a:t>
              </a:r>
              <a:br>
                <a:rPr lang="en-GB" dirty="0"/>
              </a:br>
              <a:r>
                <a:rPr lang="en-GB" dirty="0"/>
                <a:t>output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shp_model</a:t>
              </a:r>
              <a:r>
                <a:rPr lang="en-GB" dirty="0"/>
                <a:t>”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613530B-DBB5-25A4-E218-C712E740F571}"/>
                </a:ext>
              </a:extLst>
            </p:cNvPr>
            <p:cNvCxnSpPr>
              <a:stCxn id="15" idx="3"/>
              <a:endCxn id="4" idx="1"/>
            </p:cNvCxnSpPr>
            <p:nvPr/>
          </p:nvCxnSpPr>
          <p:spPr>
            <a:xfrm>
              <a:off x="2791397" y="3330273"/>
              <a:ext cx="208978" cy="5788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8BC786-871A-F58F-6E36-8A30D2B81E4E}"/>
              </a:ext>
            </a:extLst>
          </p:cNvPr>
          <p:cNvGrpSpPr/>
          <p:nvPr/>
        </p:nvGrpSpPr>
        <p:grpSpPr>
          <a:xfrm>
            <a:off x="4383057" y="3139151"/>
            <a:ext cx="1970942" cy="1374458"/>
            <a:chOff x="4383057" y="3139151"/>
            <a:chExt cx="1970942" cy="13744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73E8CB-EEE8-1306-D134-25328B2307D7}"/>
                </a:ext>
              </a:extLst>
            </p:cNvPr>
            <p:cNvSpPr/>
            <p:nvPr/>
          </p:nvSpPr>
          <p:spPr>
            <a:xfrm>
              <a:off x="5126831" y="3139151"/>
              <a:ext cx="483394" cy="3976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34D671-A696-1A25-ABA6-B66D94514F72}"/>
                </a:ext>
              </a:extLst>
            </p:cNvPr>
            <p:cNvSpPr txBox="1"/>
            <p:nvPr/>
          </p:nvSpPr>
          <p:spPr>
            <a:xfrm>
              <a:off x="4383057" y="4104986"/>
              <a:ext cx="1970942" cy="4086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Store the results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F0B7280-55AB-2488-DE6B-01B0336EF992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V="1">
              <a:off x="5368528" y="3536819"/>
              <a:ext cx="0" cy="5681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622B27-78BF-B480-8F10-80E0A892A560}"/>
              </a:ext>
            </a:extLst>
          </p:cNvPr>
          <p:cNvGrpSpPr/>
          <p:nvPr/>
        </p:nvGrpSpPr>
        <p:grpSpPr>
          <a:xfrm>
            <a:off x="4958285" y="2058995"/>
            <a:ext cx="4807221" cy="2026490"/>
            <a:chOff x="4958285" y="2058995"/>
            <a:chExt cx="4807221" cy="20264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2A3B13-9C91-54B8-94D5-0ACBA29AF8A0}"/>
                </a:ext>
              </a:extLst>
            </p:cNvPr>
            <p:cNvSpPr/>
            <p:nvPr/>
          </p:nvSpPr>
          <p:spPr>
            <a:xfrm>
              <a:off x="5684706" y="3138489"/>
              <a:ext cx="706570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DBA0A6-5790-F897-8009-3001E1634041}"/>
                </a:ext>
              </a:extLst>
            </p:cNvPr>
            <p:cNvSpPr/>
            <p:nvPr/>
          </p:nvSpPr>
          <p:spPr>
            <a:xfrm>
              <a:off x="9639299" y="3687817"/>
              <a:ext cx="126207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7AD1CE-3F3F-24E3-FCF2-EC442B870D25}"/>
                </a:ext>
              </a:extLst>
            </p:cNvPr>
            <p:cNvSpPr txBox="1"/>
            <p:nvPr/>
          </p:nvSpPr>
          <p:spPr>
            <a:xfrm>
              <a:off x="4958285" y="2058995"/>
              <a:ext cx="2159411" cy="408623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Run a linear model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12FB7C7-981D-88F0-7855-C93DE4B669F7}"/>
                </a:ext>
              </a:extLst>
            </p:cNvPr>
            <p:cNvCxnSpPr>
              <a:cxnSpLocks/>
              <a:stCxn id="11" idx="2"/>
              <a:endCxn id="5" idx="0"/>
            </p:cNvCxnSpPr>
            <p:nvPr/>
          </p:nvCxnSpPr>
          <p:spPr>
            <a:xfrm>
              <a:off x="6037991" y="2467618"/>
              <a:ext cx="0" cy="670871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78C766-CAAD-17D3-B2CB-13655975AD0A}"/>
              </a:ext>
            </a:extLst>
          </p:cNvPr>
          <p:cNvGrpSpPr/>
          <p:nvPr/>
        </p:nvGrpSpPr>
        <p:grpSpPr>
          <a:xfrm>
            <a:off x="6424614" y="1445920"/>
            <a:ext cx="5443691" cy="2090236"/>
            <a:chOff x="6424614" y="1445920"/>
            <a:chExt cx="5443691" cy="20902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2A2DCA-487B-06A6-2A29-C308F423F4FA}"/>
                </a:ext>
              </a:extLst>
            </p:cNvPr>
            <p:cNvSpPr/>
            <p:nvPr/>
          </p:nvSpPr>
          <p:spPr>
            <a:xfrm>
              <a:off x="6424614" y="3138488"/>
              <a:ext cx="2767010" cy="397668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B3F493-B338-4121-4DF2-1498D7EFC6B3}"/>
                </a:ext>
              </a:extLst>
            </p:cNvPr>
            <p:cNvSpPr txBox="1"/>
            <p:nvPr/>
          </p:nvSpPr>
          <p:spPr>
            <a:xfrm>
              <a:off x="8430392" y="1445920"/>
              <a:ext cx="3437913" cy="1021556"/>
            </a:xfrm>
            <a:prstGeom prst="round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We ask the model to find the </a:t>
              </a:r>
              <a:br>
                <a:rPr lang="en-GB" dirty="0"/>
              </a:br>
              <a:r>
                <a:rPr lang="en-GB" dirty="0"/>
                <a:t>average horn length in the two</a:t>
              </a:r>
              <a:br>
                <a:rPr lang="en-GB" dirty="0"/>
              </a:br>
              <a:r>
                <a:rPr lang="en-GB" dirty="0"/>
                <a:t>regions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977033C-B73C-C5C8-2911-B3A7EF163213}"/>
                </a:ext>
              </a:extLst>
            </p:cNvPr>
            <p:cNvCxnSpPr>
              <a:cxnSpLocks/>
              <a:stCxn id="12" idx="1"/>
              <a:endCxn id="7" idx="0"/>
            </p:cNvCxnSpPr>
            <p:nvPr/>
          </p:nvCxnSpPr>
          <p:spPr>
            <a:xfrm flipH="1">
              <a:off x="7808119" y="1956698"/>
              <a:ext cx="622273" cy="1181790"/>
            </a:xfrm>
            <a:prstGeom prst="straightConnector1">
              <a:avLst/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C715CFE-F8DB-DD62-BAA2-4BA8527F8FAF}"/>
              </a:ext>
            </a:extLst>
          </p:cNvPr>
          <p:cNvGrpSpPr/>
          <p:nvPr/>
        </p:nvGrpSpPr>
        <p:grpSpPr>
          <a:xfrm>
            <a:off x="6424613" y="3687958"/>
            <a:ext cx="4293005" cy="1343099"/>
            <a:chOff x="6424613" y="3687958"/>
            <a:chExt cx="4293005" cy="13430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26EDB8-9B77-D55D-0600-02BE84636E1B}"/>
                </a:ext>
              </a:extLst>
            </p:cNvPr>
            <p:cNvSpPr/>
            <p:nvPr/>
          </p:nvSpPr>
          <p:spPr>
            <a:xfrm>
              <a:off x="6424613" y="3687958"/>
              <a:ext cx="3183143" cy="397668"/>
            </a:xfrm>
            <a:prstGeom prst="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EBADD3-9200-5577-9959-66590EBCF412}"/>
                </a:ext>
              </a:extLst>
            </p:cNvPr>
            <p:cNvSpPr txBox="1"/>
            <p:nvPr/>
          </p:nvSpPr>
          <p:spPr>
            <a:xfrm>
              <a:off x="7577392" y="4622434"/>
              <a:ext cx="3140226" cy="408623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Use the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shp_data</a:t>
              </a:r>
              <a:r>
                <a:rPr lang="en-GB" dirty="0"/>
                <a:t>” dataset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2F18FA8-4D1C-1DA5-D8F5-8E6734745AB7}"/>
                </a:ext>
              </a:extLst>
            </p:cNvPr>
            <p:cNvCxnSpPr>
              <a:cxnSpLocks/>
              <a:stCxn id="13" idx="0"/>
              <a:endCxn id="8" idx="2"/>
            </p:cNvCxnSpPr>
            <p:nvPr/>
          </p:nvCxnSpPr>
          <p:spPr>
            <a:xfrm flipH="1" flipV="1">
              <a:off x="8016185" y="4085626"/>
              <a:ext cx="1131320" cy="536808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43B668-28DC-C523-AF01-E897BDD376B7}"/>
              </a:ext>
            </a:extLst>
          </p:cNvPr>
          <p:cNvGrpSpPr/>
          <p:nvPr/>
        </p:nvGrpSpPr>
        <p:grpSpPr>
          <a:xfrm>
            <a:off x="9220292" y="2986685"/>
            <a:ext cx="2844943" cy="715089"/>
            <a:chOff x="9220292" y="2986685"/>
            <a:chExt cx="2844943" cy="7150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8F1E3F-B265-4AC5-F108-9F328C783D5C}"/>
                </a:ext>
              </a:extLst>
            </p:cNvPr>
            <p:cNvSpPr/>
            <p:nvPr/>
          </p:nvSpPr>
          <p:spPr>
            <a:xfrm>
              <a:off x="9220292" y="3135965"/>
              <a:ext cx="128587" cy="400191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F4EC050-2162-5D68-3DF6-F269278E3351}"/>
                </a:ext>
              </a:extLst>
            </p:cNvPr>
            <p:cNvSpPr txBox="1"/>
            <p:nvPr/>
          </p:nvSpPr>
          <p:spPr>
            <a:xfrm>
              <a:off x="10323296" y="2986685"/>
              <a:ext cx="1741939" cy="715089"/>
            </a:xfrm>
            <a:prstGeom prst="round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There is more </a:t>
              </a:r>
              <a:br>
                <a:rPr lang="en-GB" dirty="0"/>
              </a:br>
              <a:r>
                <a:rPr lang="en-GB" dirty="0"/>
                <a:t>information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695008-1229-B66E-CA38-1ED1DCA555D8}"/>
                </a:ext>
              </a:extLst>
            </p:cNvPr>
            <p:cNvCxnSpPr>
              <a:cxnSpLocks/>
              <a:stCxn id="35" idx="1"/>
              <a:endCxn id="9" idx="3"/>
            </p:cNvCxnSpPr>
            <p:nvPr/>
          </p:nvCxnSpPr>
          <p:spPr>
            <a:xfrm flipH="1" flipV="1">
              <a:off x="9348879" y="3336061"/>
              <a:ext cx="974417" cy="8169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942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Interpret results</a:t>
            </a:r>
          </a:p>
        </p:txBody>
      </p:sp>
    </p:spTree>
    <p:extLst>
      <p:ext uri="{BB962C8B-B14F-4D97-AF65-F5344CB8AC3E}">
        <p14:creationId xmlns:p14="http://schemas.microsoft.com/office/powerpoint/2010/main" val="348794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B6EF-C833-EAE2-3F20-7F9E27BB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what?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don’t do stats for the sake of it</a:t>
                </a:r>
              </a:p>
              <a:p>
                <a:r>
                  <a:rPr lang="en-GB" dirty="0"/>
                  <a:t>We’re trying to learn</a:t>
                </a:r>
              </a:p>
              <a:p>
                <a:r>
                  <a:rPr lang="en-GB" dirty="0"/>
                  <a:t>Our current model has two parameters we want to learn</a:t>
                </a:r>
              </a:p>
              <a:p>
                <a:pPr lvl="1"/>
                <a:r>
                  <a:rPr lang="en-GB" dirty="0"/>
                  <a:t>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Difference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How do we get that information?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11" descr="A person with a ram lying in the snow&#10;&#10;Description automatically generated">
            <a:extLst>
              <a:ext uri="{FF2B5EF4-FFF2-40B4-BE49-F238E27FC236}">
                <a16:creationId xmlns:a16="http://schemas.microsoft.com/office/drawing/2014/main" id="{CDC5D5A6-648E-B76E-4449-BD29DDD190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2" r="9623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77436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58F9-03AC-76F4-8850-FAC9D33CBFD4}"/>
              </a:ext>
            </a:extLst>
          </p:cNvPr>
          <p:cNvSpPr txBox="1">
            <a:spLocks/>
          </p:cNvSpPr>
          <p:nvPr/>
        </p:nvSpPr>
        <p:spPr>
          <a:xfrm>
            <a:off x="0" y="1690688"/>
            <a:ext cx="9718158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horn ~ region, data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-46.09 -10.69  -2.81  11.82  44.28 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322.462      3.383  95.326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regionSkeena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8.933      4.784   1.867   0.0671 .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18.22 on 56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0.05862,	Adjusted R-squared:  0.04181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3.487 on 1 and 56 DF,  p-value: 0.06709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E92F1-2DDA-BB4B-D155-F89866C97477}"/>
              </a:ext>
            </a:extLst>
          </p:cNvPr>
          <p:cNvSpPr/>
          <p:nvPr/>
        </p:nvSpPr>
        <p:spPr>
          <a:xfrm>
            <a:off x="63793" y="3385056"/>
            <a:ext cx="4453123" cy="1142146"/>
          </a:xfrm>
          <a:prstGeom prst="rect">
            <a:avLst/>
          </a:prstGeom>
          <a:solidFill>
            <a:srgbClr val="000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64A3B-757B-79EB-284A-42ED736B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F2EA63-4357-CF65-69D1-DB9AD2260DA1}"/>
              </a:ext>
            </a:extLst>
          </p:cNvPr>
          <p:cNvGrpSpPr/>
          <p:nvPr/>
        </p:nvGrpSpPr>
        <p:grpSpPr>
          <a:xfrm>
            <a:off x="85060" y="1690688"/>
            <a:ext cx="8763471" cy="585787"/>
            <a:chOff x="85060" y="1690688"/>
            <a:chExt cx="8763471" cy="5857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43C4C1-378E-CC60-997B-4C89FE8F567E}"/>
                </a:ext>
              </a:extLst>
            </p:cNvPr>
            <p:cNvSpPr/>
            <p:nvPr/>
          </p:nvSpPr>
          <p:spPr>
            <a:xfrm>
              <a:off x="85060" y="1690688"/>
              <a:ext cx="6230680" cy="5857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8A51F5-E2D8-4561-72C5-7FC28BB8DE42}"/>
                </a:ext>
              </a:extLst>
            </p:cNvPr>
            <p:cNvSpPr txBox="1"/>
            <p:nvPr/>
          </p:nvSpPr>
          <p:spPr>
            <a:xfrm>
              <a:off x="6632473" y="1810613"/>
              <a:ext cx="2216058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Which model this is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01DE62-6AE4-FE13-EDCC-A35629387A49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6337005" y="2014924"/>
              <a:ext cx="2954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8807D1-3EF3-403E-6853-9222F45624F3}"/>
              </a:ext>
            </a:extLst>
          </p:cNvPr>
          <p:cNvGrpSpPr/>
          <p:nvPr/>
        </p:nvGrpSpPr>
        <p:grpSpPr>
          <a:xfrm>
            <a:off x="85060" y="2480786"/>
            <a:ext cx="9978970" cy="772777"/>
            <a:chOff x="85060" y="1690688"/>
            <a:chExt cx="9978970" cy="772777"/>
          </a:xfrm>
          <a:solidFill>
            <a:srgbClr val="000000">
              <a:alpha val="56078"/>
            </a:srgbClr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5335F-4E2A-21EE-02E1-90A2AF5182DC}"/>
                </a:ext>
              </a:extLst>
            </p:cNvPr>
            <p:cNvSpPr/>
            <p:nvPr/>
          </p:nvSpPr>
          <p:spPr>
            <a:xfrm>
              <a:off x="85060" y="1690688"/>
              <a:ext cx="6230680" cy="77277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69914A-0B9D-6FB0-3072-47DF60470833}"/>
                </a:ext>
              </a:extLst>
            </p:cNvPr>
            <p:cNvSpPr txBox="1"/>
            <p:nvPr/>
          </p:nvSpPr>
          <p:spPr>
            <a:xfrm>
              <a:off x="6632473" y="1885044"/>
              <a:ext cx="3431557" cy="40862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Simple description of residuals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282903-36C9-4505-42C0-16BF734A2305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6337005" y="2089355"/>
              <a:ext cx="295468" cy="1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0A48A2-91C0-852C-FDBB-8D7381BF5CCD}"/>
              </a:ext>
            </a:extLst>
          </p:cNvPr>
          <p:cNvGrpSpPr/>
          <p:nvPr/>
        </p:nvGrpSpPr>
        <p:grpSpPr>
          <a:xfrm>
            <a:off x="42530" y="3709469"/>
            <a:ext cx="8729330" cy="2361722"/>
            <a:chOff x="42530" y="3709469"/>
            <a:chExt cx="8729330" cy="2361722"/>
          </a:xfrm>
          <a:solidFill>
            <a:srgbClr val="000000">
              <a:alpha val="56078"/>
            </a:srgbClr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09D76C-1153-F7D7-209D-0EDC7612E0C4}"/>
                </a:ext>
              </a:extLst>
            </p:cNvPr>
            <p:cNvSpPr/>
            <p:nvPr/>
          </p:nvSpPr>
          <p:spPr>
            <a:xfrm>
              <a:off x="4549886" y="3709469"/>
              <a:ext cx="2892056" cy="8696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754680-3831-C6A6-BA95-241F5C05BC6C}"/>
                </a:ext>
              </a:extLst>
            </p:cNvPr>
            <p:cNvSpPr/>
            <p:nvPr/>
          </p:nvSpPr>
          <p:spPr>
            <a:xfrm>
              <a:off x="42530" y="4527202"/>
              <a:ext cx="8729330" cy="1543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34AD86F-B29D-330F-FB41-AD470FB0954A}"/>
              </a:ext>
            </a:extLst>
          </p:cNvPr>
          <p:cNvSpPr/>
          <p:nvPr/>
        </p:nvSpPr>
        <p:spPr>
          <a:xfrm>
            <a:off x="-35357" y="2412043"/>
            <a:ext cx="6436157" cy="1031302"/>
          </a:xfrm>
          <a:prstGeom prst="rect">
            <a:avLst/>
          </a:prstGeom>
          <a:solidFill>
            <a:srgbClr val="000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97D50A-BC4D-0D9C-85A0-DC6933BF299E}"/>
              </a:ext>
            </a:extLst>
          </p:cNvPr>
          <p:cNvGrpSpPr/>
          <p:nvPr/>
        </p:nvGrpSpPr>
        <p:grpSpPr>
          <a:xfrm>
            <a:off x="85060" y="3415216"/>
            <a:ext cx="11621238" cy="1057976"/>
            <a:chOff x="85060" y="1690689"/>
            <a:chExt cx="11621238" cy="10579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15CFE5-0DA9-3ABE-0078-E4A03A03EEF2}"/>
                </a:ext>
              </a:extLst>
            </p:cNvPr>
            <p:cNvSpPr/>
            <p:nvPr/>
          </p:nvSpPr>
          <p:spPr>
            <a:xfrm>
              <a:off x="85060" y="1690689"/>
              <a:ext cx="4431856" cy="105797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6A3AF4-0E40-B85A-D7DB-34891D8363ED}"/>
                </a:ext>
              </a:extLst>
            </p:cNvPr>
            <p:cNvSpPr txBox="1"/>
            <p:nvPr/>
          </p:nvSpPr>
          <p:spPr>
            <a:xfrm>
              <a:off x="6632473" y="1704287"/>
              <a:ext cx="5073825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biologically important parameter estimates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7E9AC0-E545-DE77-13C1-A700DD2CA187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4516916" y="1908599"/>
              <a:ext cx="21155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353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7" grpId="1" animBg="1"/>
      <p:bldP spid="4" grpId="0" animBg="1"/>
      <p:bldP spid="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F6CF-09DA-FC41-19CD-BC863B3A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DC91-1B72-1C74-1747-B82E4DA63492}"/>
              </a:ext>
            </a:extLst>
          </p:cNvPr>
          <p:cNvSpPr txBox="1">
            <a:spLocks/>
          </p:cNvSpPr>
          <p:nvPr/>
        </p:nvSpPr>
        <p:spPr>
          <a:xfrm>
            <a:off x="1327213" y="2719891"/>
            <a:ext cx="10623361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				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Intercept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)   322.462      3.383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regionSkeena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8.933      4.784</a:t>
            </a:r>
            <a:endParaRPr lang="en-GB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Plot results</a:t>
            </a:r>
          </a:p>
        </p:txBody>
      </p:sp>
    </p:spTree>
    <p:extLst>
      <p:ext uri="{BB962C8B-B14F-4D97-AF65-F5344CB8AC3E}">
        <p14:creationId xmlns:p14="http://schemas.microsoft.com/office/powerpoint/2010/main" val="285160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2472538" y="2546476"/>
                <a:ext cx="7705725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538" y="2546476"/>
                <a:ext cx="7705725" cy="1015663"/>
              </a:xfrm>
              <a:prstGeom prst="rect">
                <a:avLst/>
              </a:prstGeom>
              <a:blipFill>
                <a:blip r:embed="rId2"/>
                <a:stretch>
                  <a:fillRect t="-19880" r="-5301" b="-39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C346456-7489-72E7-4B3E-7F9AD082BAE7}"/>
              </a:ext>
            </a:extLst>
          </p:cNvPr>
          <p:cNvGrpSpPr/>
          <p:nvPr/>
        </p:nvGrpSpPr>
        <p:grpSpPr>
          <a:xfrm>
            <a:off x="4129910" y="2773033"/>
            <a:ext cx="2410619" cy="746700"/>
            <a:chOff x="4374356" y="3406775"/>
            <a:chExt cx="2410619" cy="7467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9A9F06-4997-900C-06E9-78C0237EC4E7}"/>
                </a:ext>
              </a:extLst>
            </p:cNvPr>
            <p:cNvSpPr/>
            <p:nvPr/>
          </p:nvSpPr>
          <p:spPr>
            <a:xfrm>
              <a:off x="43743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258B0A-D19B-A7F2-FD72-3BCBCE76D032}"/>
                </a:ext>
              </a:extLst>
            </p:cNvPr>
            <p:cNvSpPr/>
            <p:nvPr/>
          </p:nvSpPr>
          <p:spPr>
            <a:xfrm>
              <a:off x="60380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766DCB-6155-AB8F-375A-51B1228D3F6D}"/>
              </a:ext>
            </a:extLst>
          </p:cNvPr>
          <p:cNvGrpSpPr/>
          <p:nvPr/>
        </p:nvGrpSpPr>
        <p:grpSpPr>
          <a:xfrm>
            <a:off x="3161700" y="3519733"/>
            <a:ext cx="3826689" cy="1641905"/>
            <a:chOff x="3451411" y="3672133"/>
            <a:chExt cx="3826689" cy="164190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3DF176-2855-150C-397B-9F6340DE813D}"/>
                </a:ext>
              </a:extLst>
            </p:cNvPr>
            <p:cNvSpPr txBox="1"/>
            <p:nvPr/>
          </p:nvSpPr>
          <p:spPr>
            <a:xfrm>
              <a:off x="3451411" y="4483041"/>
              <a:ext cx="3826689" cy="830997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can get these by doing:</a:t>
              </a:r>
              <a:br>
                <a:rPr lang="en-GB" sz="2400" dirty="0"/>
              </a:b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summary(</a:t>
              </a:r>
              <a:r>
                <a:rPr lang="en-GB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shp_model</a:t>
              </a: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887E948-0102-D0AA-B757-EEED6CCB26A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4719636" y="3693336"/>
              <a:ext cx="645120" cy="78970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5B2CEF1-76E6-AE33-63FA-8EEFCD99F786}"/>
                </a:ext>
              </a:extLst>
            </p:cNvPr>
            <p:cNvCxnSpPr>
              <a:cxnSpLocks/>
              <a:stCxn id="8" idx="0"/>
              <a:endCxn id="7" idx="2"/>
            </p:cNvCxnSpPr>
            <p:nvPr/>
          </p:nvCxnSpPr>
          <p:spPr>
            <a:xfrm flipV="1">
              <a:off x="5364756" y="3672133"/>
              <a:ext cx="1092025" cy="81090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418396" y="2773033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1701" y="5204044"/>
                <a:ext cx="3826689" cy="910837"/>
              </a:xfrm>
              <a:prstGeom prst="rect">
                <a:avLst/>
              </a:prstGeom>
              <a:ln w="28575">
                <a:solidFill>
                  <a:srgbClr val="00B0F0"/>
                </a:solidFill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Estimate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s-E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Intercept</a:t>
                </a: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  322.462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E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regionSkeena</a:t>
                </a: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8.933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lang="en-GB" sz="1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701" y="5204044"/>
                <a:ext cx="3826689" cy="910837"/>
              </a:xfrm>
              <a:prstGeom prst="rect">
                <a:avLst/>
              </a:prstGeom>
              <a:blipFill>
                <a:blip r:embed="rId3"/>
                <a:stretch>
                  <a:fillRect l="-1108" t="-4545" b="-1299"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72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186477" y="3262769"/>
                <a:ext cx="876714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=322.5+8.9×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477" y="3262769"/>
                <a:ext cx="8767148" cy="1015663"/>
              </a:xfrm>
              <a:prstGeom prst="rect">
                <a:avLst/>
              </a:prstGeom>
              <a:blipFill>
                <a:blip r:embed="rId2"/>
                <a:stretch>
                  <a:fillRect t="-19162" r="-6259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250907" y="3406775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470D94-6A2A-7D2A-1A7F-48C1BE12A71F}"/>
              </a:ext>
            </a:extLst>
          </p:cNvPr>
          <p:cNvGrpSpPr/>
          <p:nvPr/>
        </p:nvGrpSpPr>
        <p:grpSpPr>
          <a:xfrm>
            <a:off x="7028047" y="1877611"/>
            <a:ext cx="3013967" cy="1529164"/>
            <a:chOff x="6523222" y="1877611"/>
            <a:chExt cx="3013967" cy="15291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32BA6F-45BF-1760-7154-89E6D61328C4}"/>
                </a:ext>
              </a:extLst>
            </p:cNvPr>
            <p:cNvSpPr txBox="1"/>
            <p:nvPr/>
          </p:nvSpPr>
          <p:spPr>
            <a:xfrm>
              <a:off x="6523222" y="1877611"/>
              <a:ext cx="3013967" cy="830997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just need values </a:t>
              </a:r>
              <a:br>
                <a:rPr lang="en-GB" sz="2400" dirty="0"/>
              </a:br>
              <a:r>
                <a:rPr lang="en-GB" sz="2400" dirty="0"/>
                <a:t>to plug in here</a:t>
              </a:r>
              <a:endParaRPr lang="en-GB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731F947-13A5-1E8F-8C7F-ECACC6B462BE}"/>
                </a:ext>
              </a:extLst>
            </p:cNvPr>
            <p:cNvCxnSpPr>
              <a:stCxn id="14" idx="2"/>
              <a:endCxn id="13" idx="0"/>
            </p:cNvCxnSpPr>
            <p:nvPr/>
          </p:nvCxnSpPr>
          <p:spPr>
            <a:xfrm flipH="1">
              <a:off x="8020681" y="2708608"/>
              <a:ext cx="9525" cy="6981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396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8066-0FFC-10B1-F716-608CE4BB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up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C2ED-2699-4FB6-5005-513ABF074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26613"/>
            <a:ext cx="4953000" cy="5240194"/>
          </a:xfrm>
        </p:spPr>
        <p:txBody>
          <a:bodyPr/>
          <a:lstStyle/>
          <a:p>
            <a:r>
              <a:rPr lang="en-GB" dirty="0"/>
              <a:t>We want a simple list of all values of region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GB" dirty="0"/>
              <a:t> is excellent at doing this</a:t>
            </a:r>
          </a:p>
          <a:p>
            <a:r>
              <a:rPr lang="en-GB" dirty="0"/>
              <a:t>We can use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 </a:t>
            </a:r>
            <a:r>
              <a:rPr lang="en-GB" dirty="0"/>
              <a:t>function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 </a:t>
            </a:r>
            <a:r>
              <a:rPr lang="en-GB" dirty="0"/>
              <a:t>for “combine”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80B601-3623-DA8D-983C-7D0256BAB5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2400" y="2685987"/>
            <a:ext cx="6959600" cy="37465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region &lt;- c(“Skeena”, “Peace”)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Creates a variable with just two values, Peace and Skeena.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44814-3088-607D-3224-752023C3F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837" y="4678518"/>
            <a:ext cx="4338944" cy="84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0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282574" y="1913803"/>
                <a:ext cx="87249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=322.5+8.9×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574" y="1913803"/>
                <a:ext cx="8724900" cy="1015663"/>
              </a:xfrm>
              <a:prstGeom prst="rect">
                <a:avLst/>
              </a:prstGeom>
              <a:blipFill>
                <a:blip r:embed="rId2"/>
                <a:stretch>
                  <a:fillRect t="-19760" r="-6494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5EF19FC-A138-67B0-B4FD-35A977254EAF}"/>
              </a:ext>
            </a:extLst>
          </p:cNvPr>
          <p:cNvGrpSpPr/>
          <p:nvPr/>
        </p:nvGrpSpPr>
        <p:grpSpPr>
          <a:xfrm>
            <a:off x="6556539" y="2057809"/>
            <a:ext cx="4338944" cy="1948995"/>
            <a:chOff x="6312104" y="3406775"/>
            <a:chExt cx="4338944" cy="194899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0E1E91-F845-0A32-8426-ACF3CDD3DDBA}"/>
                </a:ext>
              </a:extLst>
            </p:cNvPr>
            <p:cNvGrpSpPr/>
            <p:nvPr/>
          </p:nvGrpSpPr>
          <p:grpSpPr>
            <a:xfrm>
              <a:off x="7127082" y="3406775"/>
              <a:ext cx="2568248" cy="1104900"/>
              <a:chOff x="7127082" y="3406775"/>
              <a:chExt cx="2568248" cy="11049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0A242C2-B7FF-48FF-DFA7-04F698ECCE2A}"/>
                  </a:ext>
                </a:extLst>
              </p:cNvPr>
              <p:cNvSpPr/>
              <p:nvPr/>
            </p:nvSpPr>
            <p:spPr>
              <a:xfrm>
                <a:off x="7127082" y="3406775"/>
                <a:ext cx="2568248" cy="74670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8C31F92-4A47-A20F-C028-C09E3A173B86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 flipV="1">
                <a:off x="8411206" y="4153475"/>
                <a:ext cx="0" cy="358200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55D999-646A-5ABE-03B0-035229179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2104" y="4511675"/>
              <a:ext cx="4338944" cy="844095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A61DDA0-F427-6277-5E52-F84A361776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8258" y="4780230"/>
                <a:ext cx="12250257" cy="1399125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latin typeface="Bahnschrift Light" panose="020B0502040204020203" pitchFamily="34" charset="0"/>
                  </a:rPr>
                  <a:t>But we’re back to multiplying 8.9 by “Skeena”. Why?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Because we want to avoid having to do this by hand: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×1.96)+(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×1.96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A61DDA0-F427-6277-5E52-F84A3617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258" y="4780230"/>
                <a:ext cx="12250257" cy="1399125"/>
              </a:xfrm>
              <a:prstGeom prst="rect">
                <a:avLst/>
              </a:prstGeom>
              <a:blipFill>
                <a:blip r:embed="rId4"/>
                <a:stretch>
                  <a:fillRect l="-746" t="-11304" b="-3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6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pPr algn="ctr"/>
            <a:r>
              <a:rPr lang="en-GB" dirty="0"/>
              <a:t>The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C365E-323F-A581-1C6A-8F0E7B48D60C}"/>
              </a:ext>
            </a:extLst>
          </p:cNvPr>
          <p:cNvSpPr txBox="1"/>
          <p:nvPr/>
        </p:nvSpPr>
        <p:spPr>
          <a:xfrm>
            <a:off x="0" y="1021382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fake data (and put in data frame)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(region = c("Skeena", "Peace"))</a:t>
            </a: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Use predict function to apply equation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predict(m1,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Extract the average fit for each region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upper and lower 95% confidence intervals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nu_data$low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nu_data$upp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35CB8-1338-271C-E697-0483BC32B87C}"/>
              </a:ext>
            </a:extLst>
          </p:cNvPr>
          <p:cNvSpPr txBox="1"/>
          <p:nvPr/>
        </p:nvSpPr>
        <p:spPr>
          <a:xfrm>
            <a:off x="2057400" y="5098682"/>
            <a:ext cx="10058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Results in a dataset called </a:t>
            </a:r>
            <a:r>
              <a:rPr lang="en-GB" sz="2800" dirty="0" err="1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region      fit      low    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 Skeena 331.3949 324.7648 338.0251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 Peace 322.4617 315.8315 329.0918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8F34D-FA29-CCCC-E92E-92D79A6C3A2E}"/>
              </a:ext>
            </a:extLst>
          </p:cNvPr>
          <p:cNvSpPr/>
          <p:nvPr/>
        </p:nvSpPr>
        <p:spPr>
          <a:xfrm>
            <a:off x="0" y="1021382"/>
            <a:ext cx="12192000" cy="3970318"/>
          </a:xfrm>
          <a:prstGeom prst="rect">
            <a:avLst/>
          </a:prstGeom>
          <a:solidFill>
            <a:srgbClr val="000000">
              <a:alpha val="83137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98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8" name="Picture Placeholder 7" descr="A graph with numbers and a point&#10;&#10;Description automatically generated with medium confidence">
            <a:extLst>
              <a:ext uri="{FF2B5EF4-FFF2-40B4-BE49-F238E27FC236}">
                <a16:creationId xmlns:a16="http://schemas.microsoft.com/office/drawing/2014/main" id="{36CC1682-1E0A-0573-E656-2ED2788D0C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5983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low,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12" name="Picture Placeholder 11" descr="A graph with lines and dots&#10;&#10;Description automatically generated">
            <a:extLst>
              <a:ext uri="{FF2B5EF4-FFF2-40B4-BE49-F238E27FC236}">
                <a16:creationId xmlns:a16="http://schemas.microsoft.com/office/drawing/2014/main" id="{129AF0A3-EB1B-5D6B-4090-659008CEB3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6919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943099"/>
            <a:ext cx="10868025" cy="47237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Fitting models in R is easy</a:t>
            </a:r>
          </a:p>
          <a:p>
            <a:pPr lvl="1"/>
            <a:r>
              <a:rPr lang="en-GB" dirty="0"/>
              <a:t>Ensure data is in tabular form</a:t>
            </a:r>
          </a:p>
          <a:p>
            <a:pPr lvl="1"/>
            <a:r>
              <a:rPr lang="en-GB" dirty="0"/>
              <a:t>Get the formula that captures your question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cs typeface="Courier New" panose="02070309020205020404" pitchFamily="49" charset="0"/>
              </a:rPr>
              <a:t>handles all of the theory</a:t>
            </a:r>
          </a:p>
          <a:p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dirty="0">
                <a:cs typeface="Courier New" panose="02070309020205020404" pitchFamily="49" charset="0"/>
              </a:rPr>
              <a:t> to extract the parameter estimates</a:t>
            </a:r>
          </a:p>
          <a:p>
            <a:r>
              <a:rPr lang="en-GB" dirty="0">
                <a:cs typeface="Courier New" panose="02070309020205020404" pitchFamily="49" charset="0"/>
              </a:rPr>
              <a:t>Report the estimates!</a:t>
            </a:r>
          </a:p>
          <a:p>
            <a:r>
              <a:rPr lang="en-GB" dirty="0">
                <a:cs typeface="Courier New" panose="02070309020205020404" pitchFamily="49" charset="0"/>
              </a:rPr>
              <a:t>Create a simple version of your explanatory variable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predict()</a:t>
            </a:r>
            <a:r>
              <a:rPr lang="en-GB" dirty="0">
                <a:cs typeface="Courier New" panose="02070309020205020404" pitchFamily="49" charset="0"/>
              </a:rPr>
              <a:t> to generate fitted values &amp; standard errors of fit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Convert standard errors to 95% CI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Plot them</a:t>
            </a:r>
          </a:p>
          <a:p>
            <a:endParaRPr lang="en-GB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207</TotalTime>
  <Words>874</Words>
  <Application>Microsoft Office PowerPoint</Application>
  <PresentationFormat>Widescreen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Bahnschrift Light</vt:lpstr>
      <vt:lpstr>Cambria Math</vt:lpstr>
      <vt:lpstr>Courier New</vt:lpstr>
      <vt:lpstr>sbs_template</vt:lpstr>
      <vt:lpstr>Linear models in R</vt:lpstr>
      <vt:lpstr>From theory to implementation</vt:lpstr>
      <vt:lpstr>The core function</vt:lpstr>
      <vt:lpstr>Step 1: The data</vt:lpstr>
      <vt:lpstr>Make sure your data is ready</vt:lpstr>
      <vt:lpstr>Step 2: The formula</vt:lpstr>
      <vt:lpstr>Model formula</vt:lpstr>
      <vt:lpstr>Running the model</vt:lpstr>
      <vt:lpstr>Step 3: Interpret results</vt:lpstr>
      <vt:lpstr>Now what?</vt:lpstr>
      <vt:lpstr>summary(shp_model) </vt:lpstr>
      <vt:lpstr>Done?</vt:lpstr>
      <vt:lpstr>Step 4: Plot results</vt:lpstr>
      <vt:lpstr>Our objective to make the figure</vt:lpstr>
      <vt:lpstr>Our objective to make the figure</vt:lpstr>
      <vt:lpstr>Making up data</vt:lpstr>
      <vt:lpstr>Our objective to make the figure</vt:lpstr>
      <vt:lpstr>The code</vt:lpstr>
      <vt:lpstr>ggplot</vt:lpstr>
      <vt:lpstr>ggplot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4</cp:revision>
  <dcterms:created xsi:type="dcterms:W3CDTF">2024-07-23T13:46:15Z</dcterms:created>
  <dcterms:modified xsi:type="dcterms:W3CDTF">2024-10-07T10:17:07Z</dcterms:modified>
</cp:coreProperties>
</file>