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336" r:id="rId2"/>
    <p:sldId id="321" r:id="rId3"/>
    <p:sldId id="322" r:id="rId4"/>
    <p:sldId id="284" r:id="rId5"/>
    <p:sldId id="340" r:id="rId6"/>
    <p:sldId id="283" r:id="rId7"/>
    <p:sldId id="339" r:id="rId8"/>
    <p:sldId id="341" r:id="rId9"/>
    <p:sldId id="286" r:id="rId10"/>
    <p:sldId id="271" r:id="rId11"/>
    <p:sldId id="323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11FEE-74B5-48C4-8D5A-E44E5DF1B3F0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CC55-0A6F-4404-9C90-4131CB6BE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06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81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0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504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25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62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62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90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37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43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AFD1-44B7-3E4C-5214-57818E25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7A2E-B0C5-5590-824D-92D3C5F27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E019-BD30-438D-3FB8-110D2FBF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AD67-1D8B-D3C8-60D7-85527C8A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36C8-D38B-ED48-838F-5424F89B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31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3982-E506-133D-B7AD-40599B3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1831-4692-07D9-A5E3-3BEAF575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A3CA-B2C9-3CCE-B961-D11EDA6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6228-0CA8-208B-4B33-9750499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2AD3-B64B-B95E-8ABD-DDE68009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8B97-B115-4DC6-A120-037A11F248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2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eonroos.shinyapps.io/Distribution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48CD-56DB-D4E0-DC02-395FFA99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3610"/>
            <a:ext cx="9144000" cy="2082814"/>
          </a:xfrm>
        </p:spPr>
        <p:txBody>
          <a:bodyPr>
            <a:noAutofit/>
          </a:bodyPr>
          <a:lstStyle/>
          <a:p>
            <a:r>
              <a:rPr lang="en-GB" sz="8800" dirty="0"/>
              <a:t>Introduction to GLMs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5051A12-B99B-0CD8-D76D-D26863FD992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4768555"/>
                <a:ext cx="9144000" cy="462882"/>
              </a:xfrm>
            </p:spPr>
            <p:txBody>
              <a:bodyPr/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Why can’t you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5051A12-B99B-0CD8-D76D-D26863FD9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4768555"/>
                <a:ext cx="9144000" cy="462882"/>
              </a:xfrm>
              <a:blipFill>
                <a:blip r:embed="rId2"/>
                <a:stretch>
                  <a:fillRect t="-19737" b="-19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198F-AB6B-3057-9A47-2570A4B1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of a substance&#10;&#10;Description automatically generated with medium confidence">
            <a:extLst>
              <a:ext uri="{FF2B5EF4-FFF2-40B4-BE49-F238E27FC236}">
                <a16:creationId xmlns:a16="http://schemas.microsoft.com/office/drawing/2014/main" id="{06C1F2E0-AE1D-CA36-1553-B433DB200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1" y="1050483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AE919-99FE-E06D-5CB1-82316BFC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sz="2000" dirty="0"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change in blood pressure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patient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mean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standard deviation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linear predictor, where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intercept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slope for sodium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  <a:blipFill>
                <a:blip r:embed="rId3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541F004B-42F6-8747-5145-FCB750D7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6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702C0-0E7E-35EC-AD78-145B1825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B41E91A7-4873-245E-0EFF-98EF0A9A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3D2FA3-CE82-9D8F-F10B-3F61C338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Now estimated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10.1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−18.4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  <a:blipFill>
                <a:blip r:embed="rId3"/>
                <a:stretch>
                  <a:fillRect l="-2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normal substance&#10;&#10;Description automatically generated with medium confidence">
            <a:extLst>
              <a:ext uri="{FF2B5EF4-FFF2-40B4-BE49-F238E27FC236}">
                <a16:creationId xmlns:a16="http://schemas.microsoft.com/office/drawing/2014/main" id="{D4780465-B792-8BD1-D4D8-3E60CE1C2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309BE9A-DE44-F233-F077-414A5A4D9CA3}"/>
              </a:ext>
            </a:extLst>
          </p:cNvPr>
          <p:cNvGrpSpPr/>
          <p:nvPr/>
        </p:nvGrpSpPr>
        <p:grpSpPr>
          <a:xfrm>
            <a:off x="7796213" y="1325563"/>
            <a:ext cx="3125787" cy="1736646"/>
            <a:chOff x="7796213" y="1325563"/>
            <a:chExt cx="3125787" cy="17366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/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=10.1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7D4B2AB-6B67-4241-4EA3-D0B611BADA3C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7796213" y="1902143"/>
              <a:ext cx="1069037" cy="1160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05FA61-A0A6-47EC-CD1B-98D33C0E2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4913" y="1902143"/>
              <a:ext cx="40337" cy="917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FFF366-9047-2982-6F3E-BFFF6A782739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9437400" y="1697832"/>
              <a:ext cx="420975" cy="254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ACAC14-2DCF-DE56-2844-AC4E42F60C1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9437400" y="1325563"/>
              <a:ext cx="1484600" cy="3722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FCB0D9-23C4-C290-8109-567D7DC2C254}"/>
              </a:ext>
            </a:extLst>
          </p:cNvPr>
          <p:cNvGrpSpPr/>
          <p:nvPr/>
        </p:nvGrpSpPr>
        <p:grpSpPr>
          <a:xfrm>
            <a:off x="6030912" y="5188658"/>
            <a:ext cx="1403614" cy="1118640"/>
            <a:chOff x="5969000" y="5221995"/>
            <a:chExt cx="1403614" cy="1118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/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−18.4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6D3E37-2F85-9150-485A-C55E7D7C7A7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670807" y="5221995"/>
              <a:ext cx="0" cy="71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36EC59-41DF-8518-5BCD-F6579C873C09}"/>
              </a:ext>
            </a:extLst>
          </p:cNvPr>
          <p:cNvGrpSpPr/>
          <p:nvPr/>
        </p:nvGrpSpPr>
        <p:grpSpPr>
          <a:xfrm>
            <a:off x="9539288" y="3062209"/>
            <a:ext cx="1255523" cy="1754899"/>
            <a:chOff x="9539288" y="3062209"/>
            <a:chExt cx="1255523" cy="17548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154D2A-4933-B50C-7054-D584295D7F07}"/>
                </a:ext>
              </a:extLst>
            </p:cNvPr>
            <p:cNvGrpSpPr/>
            <p:nvPr/>
          </p:nvGrpSpPr>
          <p:grpSpPr>
            <a:xfrm>
              <a:off x="9539288" y="3062209"/>
              <a:ext cx="709612" cy="419179"/>
              <a:chOff x="9539288" y="3062209"/>
              <a:chExt cx="709612" cy="4191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A41B4A6-BAE0-D3FA-77A2-3502701FF713}"/>
                  </a:ext>
                </a:extLst>
              </p:cNvPr>
              <p:cNvCxnSpPr/>
              <p:nvPr/>
            </p:nvCxnSpPr>
            <p:spPr>
              <a:xfrm>
                <a:off x="9539288" y="3481388"/>
                <a:ext cx="7048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64094C-DAD7-BC4D-A66C-1FBCDD41DA14}"/>
                  </a:ext>
                </a:extLst>
              </p:cNvPr>
              <p:cNvCxnSpPr/>
              <p:nvPr/>
            </p:nvCxnSpPr>
            <p:spPr>
              <a:xfrm flipV="1">
                <a:off x="10248900" y="3062209"/>
                <a:ext cx="0" cy="414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E7066A1-E4F1-4A32-C136-885D1CF4AADC}"/>
                </a:ext>
              </a:extLst>
            </p:cNvPr>
            <p:cNvGrpSpPr/>
            <p:nvPr/>
          </p:nvGrpSpPr>
          <p:grpSpPr>
            <a:xfrm>
              <a:off x="9693465" y="3476625"/>
              <a:ext cx="1101346" cy="1340483"/>
              <a:chOff x="9693465" y="3476625"/>
              <a:chExt cx="1101346" cy="13404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/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solidFill>
                    <a:srgbClr val="000000">
                      <a:alpha val="58824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9.6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579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CFE3D83-A39F-7C96-75FE-70E9AD615D93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V="1">
                <a:off x="10244138" y="3476625"/>
                <a:ext cx="0" cy="9318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7511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if our error is not Normal?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What do you notice about the data?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must be non-negative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is integers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if we force a linear model?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Can we have </a:t>
                </a:r>
                <a:r>
                  <a:rPr lang="en-GB" i="1" dirty="0">
                    <a:latin typeface="Bahnschrift Light" panose="020B0502040204020203" pitchFamily="34" charset="0"/>
                  </a:rPr>
                  <a:t>negative</a:t>
                </a:r>
                <a:r>
                  <a:rPr lang="en-GB" dirty="0">
                    <a:latin typeface="Bahnschrift Light" panose="020B0502040204020203" pitchFamily="34" charset="0"/>
                  </a:rPr>
                  <a:t> customers?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Is our randomness best captured with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  <a:blipFill>
                <a:blip r:embed="rId2"/>
                <a:stretch>
                  <a:fillRect l="-1993" t="-2114" r="-1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03BC124C-DED6-DDFC-535D-E1407CEB4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7" name="Picture 6" descr="A graph with a line on it&#10;&#10;Description automatically generated">
            <a:extLst>
              <a:ext uri="{FF2B5EF4-FFF2-40B4-BE49-F238E27FC236}">
                <a16:creationId xmlns:a16="http://schemas.microsoft.com/office/drawing/2014/main" id="{8A1FE994-0568-8B22-2010-6D9FE0970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9" name="Picture 8" descr="A graph with green lines and white text&#10;&#10;Description automatically generated">
            <a:extLst>
              <a:ext uri="{FF2B5EF4-FFF2-40B4-BE49-F238E27FC236}">
                <a16:creationId xmlns:a16="http://schemas.microsoft.com/office/drawing/2014/main" id="{AE021E41-92E0-54E4-077E-79958B4A9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0" y="1325563"/>
            <a:ext cx="5928239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C97B-2A24-4749-7DD1-EB84BB21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0129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Allowing suitable randomness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Distributions determine how “randomness” around the prediction works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Most distributions are not described with mean and variance parameters as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Some might have just one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), others may have multiple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𝑇𝑤𝑒𝑒𝑑𝑖𝑒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Often, we refer to the collection of parameters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  <a:blipFill>
                <a:blip r:embed="rId2"/>
                <a:stretch>
                  <a:fillRect l="-1638" r="-1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oup of graphs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CFD20235-6DF1-A1F0-DB8E-A10C0E56D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15" y="1101969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A6D2-8461-4F4F-E43B-B52CA4BF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hlinkClick r:id="rId2"/>
              </a:rPr>
              <a:t>https://deonroos.shinyapps.io/Distributions/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3CC0-E744-EBEF-EC3A-A82CFF53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9291"/>
            <a:ext cx="12192000" cy="55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9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BEDB-A682-9831-D8AC-CBA67B5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functions</a:t>
            </a:r>
          </a:p>
        </p:txBody>
      </p:sp>
    </p:spTree>
    <p:extLst>
      <p:ext uri="{BB962C8B-B14F-4D97-AF65-F5344CB8AC3E}">
        <p14:creationId xmlns:p14="http://schemas.microsoft.com/office/powerpoint/2010/main" val="176671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931BBF-9217-1B8A-3F3C-952FAA3C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341596"/>
            <a:ext cx="5838825" cy="5449570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07FDE7A1-5652-4B5E-F991-DB608FA25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0" name="Picture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0C4BE3E0-528C-5B63-ADBC-57E00220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2" name="Picture 11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70940246-B651-47A3-8D1D-4E8DB46D7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Using a </a:t>
                </a:r>
                <a:r>
                  <a:rPr lang="en-GB" b="1" dirty="0">
                    <a:solidFill>
                      <a:srgbClr val="FFFF00"/>
                    </a:solidFill>
                    <a:latin typeface="Bahnschrift Light" panose="020B0502040204020203" pitchFamily="34" charset="0"/>
                  </a:rPr>
                  <a:t>link function </a:t>
                </a:r>
                <a:r>
                  <a:rPr lang="en-GB" dirty="0">
                    <a:latin typeface="Bahnschrift Light" panose="020B0502040204020203" pitchFamily="34" charset="0"/>
                  </a:rPr>
                  <a:t>we transform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(the linear predictor, not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Fit a straight line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Can always </a:t>
                </a:r>
                <a:r>
                  <a:rPr lang="en-GB" dirty="0" err="1">
                    <a:latin typeface="Bahnschrift Light" panose="020B0502040204020203" pitchFamily="34" charset="0"/>
                  </a:rPr>
                  <a:t>backtransform</a:t>
                </a:r>
                <a:r>
                  <a:rPr lang="en-GB" dirty="0">
                    <a:latin typeface="Bahnschrift Light" panose="020B0502040204020203" pitchFamily="34" charset="0"/>
                  </a:rPr>
                  <a:t> the data onto the response scale.</a:t>
                </a:r>
              </a:p>
              <a:p>
                <a:r>
                  <a:rPr lang="en-GB" b="1" u="sng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Important: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This is not the same as transforming </a:t>
                </a:r>
                <a14:m>
                  <m:oMath xmlns:m="http://schemas.openxmlformats.org/officeDocument/2006/math">
                    <m:r>
                      <a:rPr lang="en-GB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!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fit is still linear </a:t>
                </a:r>
                <a:r>
                  <a:rPr lang="en-GB" i="1" dirty="0">
                    <a:latin typeface="Bahnschrift Light" panose="020B0502040204020203" pitchFamily="34" charset="0"/>
                  </a:rPr>
                  <a:t>on the link scale!</a:t>
                </a:r>
                <a:endParaRPr lang="en-GB" i="1" dirty="0">
                  <a:solidFill>
                    <a:schemeClr val="tx1"/>
                  </a:solidFill>
                  <a:latin typeface="Bahnschrift Light" panose="020B0502040204020203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  <a:blipFill>
                <a:blip r:embed="rId6"/>
                <a:stretch>
                  <a:fillRect l="-1786" r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1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61BF2CB-5378-9386-1F7B-B693ACC6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9196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Why use link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Link functions mathematically convert the linear predictor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such that the values can exist between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Generally, leads to a linear trend (great for fitting)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Maintains natural bounds of the data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Is the bridge between our response variable and the linear predictor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  <a:blipFill>
                <a:blip r:embed="rId3"/>
                <a:stretch>
                  <a:fillRect l="-1969" t="-2270" r="-4048" b="-6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4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ECA6-4D4B-9E7A-6EDA-E3FB4F30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C3D-2707-D053-B754-D08CC759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p:pic>
        <p:nvPicPr>
          <p:cNvPr id="13" name="Picture 12" descr="A graph on a black background&#10;&#10;Description automatically generated">
            <a:extLst>
              <a:ext uri="{FF2B5EF4-FFF2-40B4-BE49-F238E27FC236}">
                <a16:creationId xmlns:a16="http://schemas.microsoft.com/office/drawing/2014/main" id="{81A8C9C7-862F-024F-C351-C59293A0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25" y="993581"/>
            <a:ext cx="10059950" cy="58644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D58651-6D79-9E5B-34E7-42B1914264C8}"/>
              </a:ext>
            </a:extLst>
          </p:cNvPr>
          <p:cNvSpPr/>
          <p:nvPr/>
        </p:nvSpPr>
        <p:spPr>
          <a:xfrm>
            <a:off x="4505899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D94F1-2000-6779-14E9-C2D3DAA396E4}"/>
              </a:ext>
            </a:extLst>
          </p:cNvPr>
          <p:cNvSpPr/>
          <p:nvPr/>
        </p:nvSpPr>
        <p:spPr>
          <a:xfrm>
            <a:off x="7921128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60AF582-B543-E4FC-DD1D-74A8845CC46D}"/>
              </a:ext>
            </a:extLst>
          </p:cNvPr>
          <p:cNvGrpSpPr/>
          <p:nvPr/>
        </p:nvGrpSpPr>
        <p:grpSpPr>
          <a:xfrm>
            <a:off x="6019800" y="2397021"/>
            <a:ext cx="6096000" cy="2734446"/>
            <a:chOff x="6248400" y="1768371"/>
            <a:chExt cx="6096000" cy="27344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/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𝐷𝑖𝑠𝑡𝑟𝑖𝑏𝑢𝑡𝑖𝑜𝑛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GB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01A866-4557-A06B-857A-F7615447CF1E}"/>
                </a:ext>
              </a:extLst>
            </p:cNvPr>
            <p:cNvSpPr txBox="1"/>
            <p:nvPr/>
          </p:nvSpPr>
          <p:spPr>
            <a:xfrm>
              <a:off x="6626438" y="3117822"/>
              <a:ext cx="5339923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family = </a:t>
              </a:r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Dist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(“g”)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b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D16D3A-D948-2BB7-38F7-A5CC646D4BD9}"/>
              </a:ext>
            </a:extLst>
          </p:cNvPr>
          <p:cNvGrpSpPr/>
          <p:nvPr/>
        </p:nvGrpSpPr>
        <p:grpSpPr>
          <a:xfrm>
            <a:off x="5585172" y="2397021"/>
            <a:ext cx="6096000" cy="2303558"/>
            <a:chOff x="5829300" y="1768371"/>
            <a:chExt cx="6096000" cy="2303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/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𝑁𝑜𝑟𝑚𝑎𝑙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A97372-D3CE-0B37-F1C5-880DE954610B}"/>
                </a:ext>
              </a:extLst>
            </p:cNvPr>
            <p:cNvSpPr txBox="1"/>
            <p:nvPr/>
          </p:nvSpPr>
          <p:spPr>
            <a:xfrm>
              <a:off x="6851745" y="3117822"/>
              <a:ext cx="40511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GLMs; oversimplified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1619249"/>
            <a:ext cx="6010164" cy="4962525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Know your research question!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your response variable (</a:t>
            </a:r>
            <a:r>
              <a:rPr lang="en-GB" i="1" dirty="0">
                <a:latin typeface="Bahnschrift Light" panose="020B0502040204020203" pitchFamily="34" charset="0"/>
              </a:rPr>
              <a:t>stochastic element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Identify which distribution(s) best characterise your randomness.</a:t>
            </a:r>
            <a:endParaRPr lang="en-GB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the process behind the data (</a:t>
            </a:r>
            <a:r>
              <a:rPr lang="en-GB" i="1" dirty="0">
                <a:latin typeface="Bahnschrift Light" panose="020B0502040204020203" pitchFamily="34" charset="0"/>
              </a:rPr>
              <a:t>deterministic element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Combine into a model that can answer your question.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Use the default link function or any valid alternative.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Fit the model.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Check your assumption(</a:t>
            </a: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s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Answer your question (but beware the Monkey’s Paw).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16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531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Bahnschrift Light</vt:lpstr>
      <vt:lpstr>Cambria Math</vt:lpstr>
      <vt:lpstr>Courier New</vt:lpstr>
      <vt:lpstr>sbs_template</vt:lpstr>
      <vt:lpstr>Introduction to GLMs</vt:lpstr>
      <vt:lpstr>Can we reduce blood pressure?</vt:lpstr>
      <vt:lpstr>Can we reduce blood pressure?</vt:lpstr>
      <vt:lpstr>What if our error is not Normal?</vt:lpstr>
      <vt:lpstr>Changing distributions</vt:lpstr>
      <vt:lpstr>Allowing suitable randomness</vt:lpstr>
      <vt:lpstr>https://deonroos.shinyapps.io/Distributions/ </vt:lpstr>
      <vt:lpstr>Link functions</vt:lpstr>
      <vt:lpstr>The missing link</vt:lpstr>
      <vt:lpstr>Why use link function</vt:lpstr>
      <vt:lpstr>The missing link</vt:lpstr>
      <vt:lpstr>GLMs; oversimplified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</cp:revision>
  <dcterms:created xsi:type="dcterms:W3CDTF">2024-07-26T12:34:26Z</dcterms:created>
  <dcterms:modified xsi:type="dcterms:W3CDTF">2024-09-12T09:58:13Z</dcterms:modified>
</cp:coreProperties>
</file>