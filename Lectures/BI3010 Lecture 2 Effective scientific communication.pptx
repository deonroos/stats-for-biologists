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2"/>
  </p:notesMasterIdLst>
  <p:sldIdLst>
    <p:sldId id="256" r:id="rId2"/>
    <p:sldId id="330" r:id="rId3"/>
    <p:sldId id="331" r:id="rId4"/>
    <p:sldId id="332" r:id="rId5"/>
    <p:sldId id="352" r:id="rId6"/>
    <p:sldId id="333" r:id="rId7"/>
    <p:sldId id="298" r:id="rId8"/>
    <p:sldId id="302" r:id="rId9"/>
    <p:sldId id="303" r:id="rId10"/>
    <p:sldId id="306" r:id="rId11"/>
    <p:sldId id="334" r:id="rId12"/>
    <p:sldId id="305" r:id="rId13"/>
    <p:sldId id="329" r:id="rId14"/>
    <p:sldId id="335" r:id="rId15"/>
    <p:sldId id="336" r:id="rId16"/>
    <p:sldId id="337" r:id="rId17"/>
    <p:sldId id="338" r:id="rId18"/>
    <p:sldId id="339" r:id="rId19"/>
    <p:sldId id="340" r:id="rId20"/>
    <p:sldId id="341" r:id="rId21"/>
    <p:sldId id="342" r:id="rId22"/>
    <p:sldId id="343" r:id="rId23"/>
    <p:sldId id="344" r:id="rId24"/>
    <p:sldId id="345" r:id="rId25"/>
    <p:sldId id="353" r:id="rId26"/>
    <p:sldId id="349" r:id="rId27"/>
    <p:sldId id="346" r:id="rId28"/>
    <p:sldId id="347" r:id="rId29"/>
    <p:sldId id="348" r:id="rId30"/>
    <p:sldId id="351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6283" autoAdjust="0"/>
  </p:normalViewPr>
  <p:slideViewPr>
    <p:cSldViewPr snapToGrid="0">
      <p:cViewPr varScale="1">
        <p:scale>
          <a:sx n="109" d="100"/>
          <a:sy n="109" d="100"/>
        </p:scale>
        <p:origin x="138" y="1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EC31B-32E0-41B0-B2C2-379AB01D7078}" type="datetimeFigureOut">
              <a:rPr lang="en-GB" smtClean="0"/>
              <a:t>04/09/2024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2B187E-988C-4654-B963-B3B3AF05EE4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27157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2B187E-988C-4654-B963-B3B3AF05EE4B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25654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2B187E-988C-4654-B963-B3B3AF05EE4B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62348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2B187E-988C-4654-B963-B3B3AF05EE4B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49548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2B187E-988C-4654-B963-B3B3AF05EE4B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64687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EF085-90BA-6B79-A198-AE27F69DC1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567" y="565410"/>
            <a:ext cx="6096000" cy="2863589"/>
          </a:xfrm>
        </p:spPr>
        <p:txBody>
          <a:bodyPr anchor="ctr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960FB6-F389-7EDD-D9DB-A406B89F35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4567" y="3552161"/>
            <a:ext cx="6096000" cy="2607569"/>
          </a:xfrm>
        </p:spPr>
        <p:txBody>
          <a:bodyPr anchor="ctr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001CD27-4DF4-05EC-92B4-C7555C3D018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50677" y="0"/>
            <a:ext cx="5741324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5E048B3-2145-631D-3138-1DF0AD6D38F2}"/>
              </a:ext>
            </a:extLst>
          </p:cNvPr>
          <p:cNvCxnSpPr/>
          <p:nvPr/>
        </p:nvCxnSpPr>
        <p:spPr>
          <a:xfrm>
            <a:off x="1313411" y="3491345"/>
            <a:ext cx="375735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8936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30639-2CA7-2272-840E-F8F595ABC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201295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D59DF2-E981-9079-7762-2C88651F5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26613"/>
            <a:ext cx="6201295" cy="524019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EC5A3C4-A2EA-7545-B99B-E8F489810F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59525" y="0"/>
            <a:ext cx="5832475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44037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B9374-2DD6-FA11-BF6F-AE419E0A6B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1426614"/>
            <a:ext cx="5893724" cy="516220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FA4DDC-5EE8-4D0D-208A-D5A4CC40A5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1295" y="0"/>
            <a:ext cx="5990705" cy="5162204"/>
          </a:xfrm>
        </p:spPr>
        <p:txBody>
          <a:bodyPr anchor="ctr"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96FFCEF-D528-27F4-CF96-A8F674BCA08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20129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E6B47C7-8888-2E6B-0D7C-CF46BFD9A3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01295" y="5162204"/>
            <a:ext cx="5990705" cy="16957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37086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FFACB-206F-5777-5BAD-5BF8E9669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84E6FA-39AF-0043-523E-B277169D81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9A0AF4-8461-F6DF-F592-54CFA693C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A6AD0-D223-4878-8425-27A3A9C2BE85}" type="datetimeFigureOut">
              <a:rPr lang="en-GB" smtClean="0"/>
              <a:t>04/09/2024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E5C58F-9BBD-50FA-B899-3B5F919C2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AE1F42-328A-B3A8-7FA7-0BF8528BA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37D83-7601-49DB-B350-7418673556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8873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958E7-8733-1588-CE76-0710036CC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043C91-73BF-C49E-46BA-834638FC0B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FDC1F7-08BE-633D-0E8D-18F30CEE5A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4D961F-706F-451E-ABF3-F672C1F454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36AEAE-47C4-6C9C-5B4C-F6E31977E8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72731F-9715-FADD-FEBD-65D90CABA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A6AD0-D223-4878-8425-27A3A9C2BE85}" type="datetimeFigureOut">
              <a:rPr lang="en-GB" smtClean="0"/>
              <a:t>04/09/2024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E7A07B-AF32-2EA1-F513-0D1F38BAB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B01B04-63C5-991E-FD0F-2ED9257DC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37D83-7601-49DB-B350-7418673556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2557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13767-1669-64A9-2C16-1A1F6165D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1F01AD-E823-7B4D-D421-EF7BE290C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A6AD0-D223-4878-8425-27A3A9C2BE85}" type="datetimeFigureOut">
              <a:rPr lang="en-GB" smtClean="0"/>
              <a:t>04/09/2024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13AC7F-2C26-3190-A705-5FC5DD18B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DF203F-F57C-7145-B743-4A084B3A5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37D83-7601-49DB-B350-7418673556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4422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E02D19-147D-AD60-6ACC-2F7283CEE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A6AD0-D223-4878-8425-27A3A9C2BE85}" type="datetimeFigureOut">
              <a:rPr lang="en-GB" smtClean="0"/>
              <a:t>04/09/2024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CF569D-7098-9B6D-B851-1B18E6DB6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18D08F-69F0-C410-CAC9-DF16A0BF9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37D83-7601-49DB-B350-7418673556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32143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C2567-4A48-3F47-EF88-E32A67EDD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F90797-1FEC-B310-9CA0-6642F4FE7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BDC1EB-E335-7190-8BFD-48E25C309A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154E58-0B6A-491E-7CE0-88114C141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A6AD0-D223-4878-8425-27A3A9C2BE85}" type="datetimeFigureOut">
              <a:rPr lang="en-GB" smtClean="0"/>
              <a:t>04/09/2024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198572-7396-BEBC-0D56-24BE2A95E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2279F2-BB85-6763-45F1-D73C041BD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37D83-7601-49DB-B350-7418673556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46683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83E09-8249-AC15-7FC0-A0BAD598E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C329DF-266D-F8F8-A195-53A7576BBF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CFA6F2-3F6B-26F9-74E6-E4E35007E9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14BCDB-42E3-AB80-31A3-907D1B597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A6AD0-D223-4878-8425-27A3A9C2BE85}" type="datetimeFigureOut">
              <a:rPr lang="en-GB" smtClean="0"/>
              <a:t>04/09/2024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6EC699-83D3-6581-966B-8882D2158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550ABE-17BA-CEDA-390B-2BA6E004B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37D83-7601-49DB-B350-7418673556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84325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1BF0F-4D20-22A7-227D-78B4DDCA7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010818-F611-B1A2-8A19-C3130A329F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543987-925F-B621-E68B-A3BED9350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A6AD0-D223-4878-8425-27A3A9C2BE85}" type="datetimeFigureOut">
              <a:rPr lang="en-GB" smtClean="0"/>
              <a:t>04/09/2024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52031D-ADF7-744B-5905-8C84ADA49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7D02BB-73AF-8339-0B3A-B736F5E38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37D83-7601-49DB-B350-7418673556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2879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A4840D-0D28-B8EB-88E1-65CDAE3316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3A8637-D9F6-1719-1804-4B3705C901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A50F13-C53E-CA05-E313-C1579E84E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A6AD0-D223-4878-8425-27A3A9C2BE85}" type="datetimeFigureOut">
              <a:rPr lang="en-GB" smtClean="0"/>
              <a:t>04/09/2024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09B7E-626E-8018-4CBE-414FB0F1D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0D0C27-06BF-1AD4-3587-FD26F1D7B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37D83-7601-49DB-B350-7418673556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94592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17CD0-7B88-F9FB-803E-113D19A359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5CED62-A5FC-1FB9-E163-1AFC61A926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E63310-52F6-51FB-0D9F-3C8F99E18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A6AD0-D223-4878-8425-27A3A9C2BE85}" type="datetimeFigureOut">
              <a:rPr lang="en-GB" smtClean="0"/>
              <a:t>04/09/2024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79D96F-D491-2FEB-7C72-B67A17527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F0635-971A-B587-DD88-4E2F2CD9B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37D83-7601-49DB-B350-7418673556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71624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DBCEE-32D3-4607-B16B-B46CE4F47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168338-BEEE-4DBF-BEA2-D2464688BD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9110DB-94B3-469E-9827-3E74674AD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FF236-AE1D-412A-9EC8-AA8F87AA5209}" type="datetimeFigureOut">
              <a:rPr lang="en-GB" smtClean="0"/>
              <a:t>04/09/2024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7584CC-F476-4764-821C-7AC0D644A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08A9CF-384D-433F-88ED-A1B90D758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480F2-2078-46F8-845B-093EAA8A3C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30109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FFACB-206F-5777-5BAD-5BF8E9669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104015"/>
            <a:ext cx="10515600" cy="175398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388529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246E56-8908-0E6A-4E62-88CF6D359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D1896B-C040-3D2C-A619-0B877E3383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B1AC1E-960F-82DB-0E5A-2F328EAC2C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0A6AD0-D223-4878-8425-27A3A9C2BE85}" type="datetimeFigureOut">
              <a:rPr lang="en-GB" smtClean="0"/>
              <a:t>04/09/2024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CFF5B2-21B1-9528-920D-DD4BF8C0BD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D16DDC-4E03-310B-1091-75EB5EDC36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937D83-7601-49DB-B350-7418673556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06900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7" Type="http://schemas.openxmlformats.org/officeDocument/2006/relationships/image" Target="../media/image19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0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E1645-1BFF-139D-08D4-917882E7F1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i="1" dirty="0"/>
              <a:t>Effective</a:t>
            </a:r>
            <a:r>
              <a:rPr lang="en-GB" dirty="0"/>
              <a:t> scientific communication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B3983B-1F2D-D2EA-126C-F907DF68D3E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How to do data visualisation in an effective way</a:t>
            </a:r>
          </a:p>
        </p:txBody>
      </p:sp>
    </p:spTree>
    <p:extLst>
      <p:ext uri="{BB962C8B-B14F-4D97-AF65-F5344CB8AC3E}">
        <p14:creationId xmlns:p14="http://schemas.microsoft.com/office/powerpoint/2010/main" val="3096933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80DD9-9EF7-8EC3-9962-426163C44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visualise?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087975-1157-4721-9FDC-178B5C0CC5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13 datasets from different “treatments”</a:t>
            </a:r>
          </a:p>
          <a:p>
            <a:r>
              <a:rPr lang="en-GB" dirty="0"/>
              <a:t>If your hypothesis was:</a:t>
            </a:r>
          </a:p>
          <a:p>
            <a:pPr lvl="1"/>
            <a:r>
              <a:rPr lang="en-GB" dirty="0"/>
              <a:t>“There is no difference between these treatments”</a:t>
            </a:r>
          </a:p>
          <a:p>
            <a:pPr lvl="1"/>
            <a:r>
              <a:rPr lang="en-GB" dirty="0"/>
              <a:t>Would you reject or accept?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C3F45D3-447E-F348-16E5-465854AA63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9055157"/>
              </p:ext>
            </p:extLst>
          </p:nvPr>
        </p:nvGraphicFramePr>
        <p:xfrm>
          <a:off x="6201294" y="0"/>
          <a:ext cx="5990706" cy="6857998"/>
        </p:xfrm>
        <a:graphic>
          <a:graphicData uri="http://schemas.openxmlformats.org/drawingml/2006/table">
            <a:tbl>
              <a:tblPr/>
              <a:tblGrid>
                <a:gridCol w="998451">
                  <a:extLst>
                    <a:ext uri="{9D8B030D-6E8A-4147-A177-3AD203B41FA5}">
                      <a16:colId xmlns:a16="http://schemas.microsoft.com/office/drawing/2014/main" val="790592716"/>
                    </a:ext>
                  </a:extLst>
                </a:gridCol>
                <a:gridCol w="998451">
                  <a:extLst>
                    <a:ext uri="{9D8B030D-6E8A-4147-A177-3AD203B41FA5}">
                      <a16:colId xmlns:a16="http://schemas.microsoft.com/office/drawing/2014/main" val="2201809949"/>
                    </a:ext>
                  </a:extLst>
                </a:gridCol>
                <a:gridCol w="998451">
                  <a:extLst>
                    <a:ext uri="{9D8B030D-6E8A-4147-A177-3AD203B41FA5}">
                      <a16:colId xmlns:a16="http://schemas.microsoft.com/office/drawing/2014/main" val="3569464386"/>
                    </a:ext>
                  </a:extLst>
                </a:gridCol>
                <a:gridCol w="998451">
                  <a:extLst>
                    <a:ext uri="{9D8B030D-6E8A-4147-A177-3AD203B41FA5}">
                      <a16:colId xmlns:a16="http://schemas.microsoft.com/office/drawing/2014/main" val="1725550767"/>
                    </a:ext>
                  </a:extLst>
                </a:gridCol>
                <a:gridCol w="998451">
                  <a:extLst>
                    <a:ext uri="{9D8B030D-6E8A-4147-A177-3AD203B41FA5}">
                      <a16:colId xmlns:a16="http://schemas.microsoft.com/office/drawing/2014/main" val="1752848633"/>
                    </a:ext>
                  </a:extLst>
                </a:gridCol>
                <a:gridCol w="998451">
                  <a:extLst>
                    <a:ext uri="{9D8B030D-6E8A-4147-A177-3AD203B41FA5}">
                      <a16:colId xmlns:a16="http://schemas.microsoft.com/office/drawing/2014/main" val="2430981204"/>
                    </a:ext>
                  </a:extLst>
                </a:gridCol>
              </a:tblGrid>
              <a:tr h="48985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Treatments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Mean x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Mean 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Std dev x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Std dev 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Corr(</a:t>
                      </a:r>
                      <a:r>
                        <a:rPr lang="en-GB" sz="16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x,y</a:t>
                      </a:r>
                      <a:r>
                        <a:rPr lang="en-GB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9866292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A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54.3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47.8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16.8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26.9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-0.1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2099944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B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54.3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47.8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16.8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26.9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-0.1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8235006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C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54.3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47.8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16.8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26.9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-0.1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5821248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D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54.3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47.8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16.8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26.9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-0.1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308852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54.3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47.8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16.8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26.9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-0.1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711564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F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54.3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47.8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16.8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26.9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-0.1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734727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G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54.3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47.8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16.8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26.9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-0.1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4552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H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54.3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47.8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16.8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26.9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-0.1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8322004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I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54.3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47.8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16.8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26.9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-0.1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2467607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J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54.3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47.8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16.8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26.9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-0.1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8582985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K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54.3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47.8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16.8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26.9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-0.1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2478261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L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54.3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47.8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16.8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26.9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-0.1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9951294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M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54.3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47.8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16.8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26.9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-0.1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58784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1530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11B13-4BA2-B40A-E71D-896751EF6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GB" dirty="0"/>
              <a:t>Why visualise?</a:t>
            </a:r>
          </a:p>
        </p:txBody>
      </p:sp>
      <p:pic>
        <p:nvPicPr>
          <p:cNvPr id="4" name="Picture 3" descr="A screenshot of a computer game&#10;&#10;Description automatically generated">
            <a:extLst>
              <a:ext uri="{FF2B5EF4-FFF2-40B4-BE49-F238E27FC236}">
                <a16:creationId xmlns:a16="http://schemas.microsoft.com/office/drawing/2014/main" id="{3BC4383A-3158-9D6D-0CEE-375DBD8CF34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48" r="17685"/>
          <a:stretch/>
        </p:blipFill>
        <p:spPr>
          <a:xfrm>
            <a:off x="0" y="1197429"/>
            <a:ext cx="7823200" cy="5660571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27E227C-A3D4-289F-9A11-D5C0967992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3811529"/>
              </p:ext>
            </p:extLst>
          </p:nvPr>
        </p:nvGraphicFramePr>
        <p:xfrm>
          <a:off x="8026404" y="1197429"/>
          <a:ext cx="4165596" cy="5311418"/>
        </p:xfrm>
        <a:graphic>
          <a:graphicData uri="http://schemas.openxmlformats.org/drawingml/2006/table">
            <a:tbl>
              <a:tblPr/>
              <a:tblGrid>
                <a:gridCol w="694266">
                  <a:extLst>
                    <a:ext uri="{9D8B030D-6E8A-4147-A177-3AD203B41FA5}">
                      <a16:colId xmlns:a16="http://schemas.microsoft.com/office/drawing/2014/main" val="790592716"/>
                    </a:ext>
                  </a:extLst>
                </a:gridCol>
                <a:gridCol w="694266">
                  <a:extLst>
                    <a:ext uri="{9D8B030D-6E8A-4147-A177-3AD203B41FA5}">
                      <a16:colId xmlns:a16="http://schemas.microsoft.com/office/drawing/2014/main" val="2201809949"/>
                    </a:ext>
                  </a:extLst>
                </a:gridCol>
                <a:gridCol w="694266">
                  <a:extLst>
                    <a:ext uri="{9D8B030D-6E8A-4147-A177-3AD203B41FA5}">
                      <a16:colId xmlns:a16="http://schemas.microsoft.com/office/drawing/2014/main" val="3569464386"/>
                    </a:ext>
                  </a:extLst>
                </a:gridCol>
                <a:gridCol w="694266">
                  <a:extLst>
                    <a:ext uri="{9D8B030D-6E8A-4147-A177-3AD203B41FA5}">
                      <a16:colId xmlns:a16="http://schemas.microsoft.com/office/drawing/2014/main" val="1725550767"/>
                    </a:ext>
                  </a:extLst>
                </a:gridCol>
                <a:gridCol w="694266">
                  <a:extLst>
                    <a:ext uri="{9D8B030D-6E8A-4147-A177-3AD203B41FA5}">
                      <a16:colId xmlns:a16="http://schemas.microsoft.com/office/drawing/2014/main" val="1752848633"/>
                    </a:ext>
                  </a:extLst>
                </a:gridCol>
                <a:gridCol w="694266">
                  <a:extLst>
                    <a:ext uri="{9D8B030D-6E8A-4147-A177-3AD203B41FA5}">
                      <a16:colId xmlns:a16="http://schemas.microsoft.com/office/drawing/2014/main" val="2430981204"/>
                    </a:ext>
                  </a:extLst>
                </a:gridCol>
              </a:tblGrid>
              <a:tr h="37938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Treatments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Mean x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Mean 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Std dev x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Std dev 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Corr(</a:t>
                      </a:r>
                      <a:r>
                        <a:rPr lang="en-GB" sz="11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x,y</a:t>
                      </a:r>
                      <a:r>
                        <a:rPr lang="en-GB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9866292"/>
                  </a:ext>
                </a:extLst>
              </a:tr>
              <a:tr h="37938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A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54.3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47.8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16.8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26.9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-0.1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2099944"/>
                  </a:ext>
                </a:extLst>
              </a:tr>
              <a:tr h="37938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B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54.3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47.8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16.8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26.9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-0.1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8235006"/>
                  </a:ext>
                </a:extLst>
              </a:tr>
              <a:tr h="37938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C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54.3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47.8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16.8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26.9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-0.1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5821248"/>
                  </a:ext>
                </a:extLst>
              </a:tr>
              <a:tr h="37938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D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54.3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47.8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16.8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26.9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-0.1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308852"/>
                  </a:ext>
                </a:extLst>
              </a:tr>
              <a:tr h="37938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54.3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47.8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16.8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26.9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-0.1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711564"/>
                  </a:ext>
                </a:extLst>
              </a:tr>
              <a:tr h="37938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F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54.3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47.8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16.8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26.9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-0.1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734727"/>
                  </a:ext>
                </a:extLst>
              </a:tr>
              <a:tr h="37938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G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54.3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47.8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16.8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26.9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-0.1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4552"/>
                  </a:ext>
                </a:extLst>
              </a:tr>
              <a:tr h="37938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H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54.3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47.8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16.8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26.9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-0.1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8322004"/>
                  </a:ext>
                </a:extLst>
              </a:tr>
              <a:tr h="37938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I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54.3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47.8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16.8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26.9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-0.1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2467607"/>
                  </a:ext>
                </a:extLst>
              </a:tr>
              <a:tr h="37938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J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54.3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47.8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16.8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26.9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-0.1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8582985"/>
                  </a:ext>
                </a:extLst>
              </a:tr>
              <a:tr h="37938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K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54.3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47.8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16.8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26.9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-0.1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2478261"/>
                  </a:ext>
                </a:extLst>
              </a:tr>
              <a:tr h="37938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L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54.3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47.8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16.8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26.9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-0.1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9951294"/>
                  </a:ext>
                </a:extLst>
              </a:tr>
              <a:tr h="37938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M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54.3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47.8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16.8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26.9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-0.1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58784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7957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11B13-4BA2-B40A-E71D-896751EF6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GB" dirty="0"/>
              <a:t>Why visualise?</a:t>
            </a:r>
          </a:p>
        </p:txBody>
      </p:sp>
      <p:pic>
        <p:nvPicPr>
          <p:cNvPr id="4" name="Picture 3" descr="A screenshot of a computer game&#10;&#10;Description automatically generated">
            <a:extLst>
              <a:ext uri="{FF2B5EF4-FFF2-40B4-BE49-F238E27FC236}">
                <a16:creationId xmlns:a16="http://schemas.microsoft.com/office/drawing/2014/main" id="{3BC4383A-3158-9D6D-0CEE-375DBD8CF34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48" r="17685"/>
          <a:stretch/>
        </p:blipFill>
        <p:spPr>
          <a:xfrm>
            <a:off x="0" y="1197429"/>
            <a:ext cx="7823200" cy="566057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22812C-CCD9-22D3-055E-348D5AD4AA3F}"/>
              </a:ext>
            </a:extLst>
          </p:cNvPr>
          <p:cNvSpPr txBox="1">
            <a:spLocks/>
          </p:cNvSpPr>
          <p:nvPr/>
        </p:nvSpPr>
        <p:spPr>
          <a:xfrm>
            <a:off x="8021255" y="1875099"/>
            <a:ext cx="4039565" cy="456252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Calculating summary statistics is great</a:t>
            </a:r>
          </a:p>
          <a:p>
            <a:r>
              <a:rPr lang="en-GB" dirty="0"/>
              <a:t>But not sufficient</a:t>
            </a:r>
          </a:p>
          <a:p>
            <a:r>
              <a:rPr lang="en-GB" dirty="0"/>
              <a:t>Summary stats (e.g. means) obscures a lot of information</a:t>
            </a:r>
          </a:p>
          <a:p>
            <a:r>
              <a:rPr lang="en-GB" dirty="0"/>
              <a:t>Visualisations (normally) don’t</a:t>
            </a:r>
          </a:p>
        </p:txBody>
      </p:sp>
    </p:spTree>
    <p:extLst>
      <p:ext uri="{BB962C8B-B14F-4D97-AF65-F5344CB8AC3E}">
        <p14:creationId xmlns:p14="http://schemas.microsoft.com/office/powerpoint/2010/main" val="1722096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A74D7-EF37-15F0-55B7-9F561B47B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3 uses of graphics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DF7C9D-5EFD-3778-73C2-301F1FCA1A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GB" dirty="0"/>
              <a:t>“Exploratory analysis”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dirty="0"/>
              <a:t>Goal is to see things you did not expect or even know to look for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Summarising fitted models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dirty="0"/>
              <a:t>Convince yourself that your model warrants your trust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Presenting results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dirty="0"/>
              <a:t>Communicate your results to a broad audience to understand big picture</a:t>
            </a:r>
          </a:p>
        </p:txBody>
      </p:sp>
      <p:pic>
        <p:nvPicPr>
          <p:cNvPr id="6" name="Picture Placeholder 5" descr="A graph of different colored bars&#10;&#10;Description automatically generated">
            <a:extLst>
              <a:ext uri="{FF2B5EF4-FFF2-40B4-BE49-F238E27FC236}">
                <a16:creationId xmlns:a16="http://schemas.microsoft.com/office/drawing/2014/main" id="{1635407C-4674-FCA8-D457-9496FBC5796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  <p:pic>
        <p:nvPicPr>
          <p:cNvPr id="8" name="Picture 7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74CB6F4A-E27C-812D-EA01-9A2400281B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0129" y="0"/>
            <a:ext cx="5751871" cy="6858000"/>
          </a:xfrm>
          <a:prstGeom prst="rect">
            <a:avLst/>
          </a:prstGeom>
        </p:spPr>
      </p:pic>
      <p:pic>
        <p:nvPicPr>
          <p:cNvPr id="10" name="Picture 9" descr="A screen shot of a graph&#10;&#10;Description automatically generated">
            <a:extLst>
              <a:ext uri="{FF2B5EF4-FFF2-40B4-BE49-F238E27FC236}">
                <a16:creationId xmlns:a16="http://schemas.microsoft.com/office/drawing/2014/main" id="{4499970F-5E35-50B8-53EC-DA1F4BB1B8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9826" y="0"/>
            <a:ext cx="57518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146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6D751-B33A-A35F-8BF6-693F4328A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When visuals hide information</a:t>
            </a:r>
          </a:p>
        </p:txBody>
      </p:sp>
    </p:spTree>
    <p:extLst>
      <p:ext uri="{BB962C8B-B14F-4D97-AF65-F5344CB8AC3E}">
        <p14:creationId xmlns:p14="http://schemas.microsoft.com/office/powerpoint/2010/main" val="1494831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8A25E5B-FE8D-4373-AF64-9341CADFB7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14193" b="24434"/>
          <a:stretch/>
        </p:blipFill>
        <p:spPr>
          <a:xfrm>
            <a:off x="0" y="-1"/>
            <a:ext cx="12191999" cy="6858001"/>
          </a:xfrm>
        </p:spPr>
      </p:pic>
      <p:pic>
        <p:nvPicPr>
          <p:cNvPr id="9" name="Picture 8" descr="A picture containing tree, outdoor, grass, branch&#10;&#10;Description automatically generated">
            <a:extLst>
              <a:ext uri="{FF2B5EF4-FFF2-40B4-BE49-F238E27FC236}">
                <a16:creationId xmlns:a16="http://schemas.microsoft.com/office/drawing/2014/main" id="{B2CCDC11-8F09-445A-BF03-96EE1127AD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9120" y="1919224"/>
            <a:ext cx="2743200" cy="184099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4101341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C86823D-06E9-405C-970B-905D1597FA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0C65718-7F52-4298-814E-1B4454657269}"/>
              </a:ext>
            </a:extLst>
          </p:cNvPr>
          <p:cNvCxnSpPr/>
          <p:nvPr/>
        </p:nvCxnSpPr>
        <p:spPr>
          <a:xfrm flipV="1">
            <a:off x="3865944" y="3727049"/>
            <a:ext cx="1840375" cy="98384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1377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4BBC3-5AF3-F73F-7D8E-BC3524AF8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Our research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1E01AB-C70A-BF9B-C0BA-9F261E9F58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How is percentage of old growth forest related to the density of orangutan nests in a 1 ha area?</a:t>
            </a:r>
          </a:p>
          <a:p>
            <a:r>
              <a:rPr lang="en-GB" dirty="0"/>
              <a:t>Is there a relationship?</a:t>
            </a:r>
          </a:p>
          <a:p>
            <a:r>
              <a:rPr lang="en-GB" dirty="0"/>
              <a:t>Is it worth going through the pain of doing statistics?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2BEBDD5-9A62-7877-53B1-86C2952ECC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6267" y="2309283"/>
            <a:ext cx="5181600" cy="3029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513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7A584-CF1A-30C4-AF94-562072B04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GB" dirty="0"/>
              <a:t>Is there a relationship?</a:t>
            </a:r>
          </a:p>
        </p:txBody>
      </p:sp>
      <p:pic>
        <p:nvPicPr>
          <p:cNvPr id="4" name="Picture 3" descr="A screen shot of a graph&#10;&#10;Description automatically generated">
            <a:extLst>
              <a:ext uri="{FF2B5EF4-FFF2-40B4-BE49-F238E27FC236}">
                <a16:creationId xmlns:a16="http://schemas.microsoft.com/office/drawing/2014/main" id="{3E31C920-543F-495E-CBA7-48F8D43CE6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497" y="1197429"/>
            <a:ext cx="12192000" cy="5660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34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7A584-CF1A-30C4-AF94-562072B04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GB" dirty="0"/>
              <a:t>Is there a relationship?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65FB59-EC30-3908-9D82-0752A1651E02}"/>
              </a:ext>
            </a:extLst>
          </p:cNvPr>
          <p:cNvSpPr txBox="1">
            <a:spLocks/>
          </p:cNvSpPr>
          <p:nvPr/>
        </p:nvSpPr>
        <p:spPr>
          <a:xfrm>
            <a:off x="0" y="3429000"/>
            <a:ext cx="12192000" cy="100493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dirty="0"/>
              <a:t>Does density of orangutan nests increase with percentage of old growth forest?</a:t>
            </a:r>
          </a:p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24420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CB4E1-9E01-6D53-C2E8-CF33A6C2E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What’s wrong with this figure?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213406-3C9E-4DBD-B828-0F4E4B6BBC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Axes are the wrong way around</a:t>
            </a:r>
          </a:p>
          <a:p>
            <a:r>
              <a:rPr lang="en-GB" dirty="0"/>
              <a:t>Values of colours are hard to read</a:t>
            </a:r>
          </a:p>
          <a:p>
            <a:r>
              <a:rPr lang="en-GB" dirty="0"/>
              <a:t>Size of points are hard to read</a:t>
            </a:r>
          </a:p>
          <a:p>
            <a:r>
              <a:rPr lang="en-GB" dirty="0"/>
              <a:t>Facets add extra complexity</a:t>
            </a:r>
          </a:p>
          <a:p>
            <a:r>
              <a:rPr lang="en-GB" dirty="0"/>
              <a:t>Ultimately, does a poor job of explaining the relationship we want it to explain</a:t>
            </a:r>
          </a:p>
        </p:txBody>
      </p:sp>
      <p:pic>
        <p:nvPicPr>
          <p:cNvPr id="11" name="Picture Placeholder 10" descr="A screen shot of a graph&#10;&#10;Description automatically generated">
            <a:extLst>
              <a:ext uri="{FF2B5EF4-FFF2-40B4-BE49-F238E27FC236}">
                <a16:creationId xmlns:a16="http://schemas.microsoft.com/office/drawing/2014/main" id="{D0633492-2C9A-4F36-3E61-6D11FB56D20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588052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6D751-B33A-A35F-8BF6-693F4328A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Optical illusions</a:t>
            </a:r>
          </a:p>
        </p:txBody>
      </p:sp>
    </p:spTree>
    <p:extLst>
      <p:ext uri="{BB962C8B-B14F-4D97-AF65-F5344CB8AC3E}">
        <p14:creationId xmlns:p14="http://schemas.microsoft.com/office/powerpoint/2010/main" val="4257438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FFEC2D53-EEAC-BFA4-AABE-397FE469BF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8714"/>
            <a:ext cx="12192000" cy="5660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58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screen shot of a computer screen&#10;&#10;Description automatically generated">
            <a:extLst>
              <a:ext uri="{FF2B5EF4-FFF2-40B4-BE49-F238E27FC236}">
                <a16:creationId xmlns:a16="http://schemas.microsoft.com/office/drawing/2014/main" id="{EC9EDD58-7193-E8D7-7432-06315E9D1D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8714"/>
            <a:ext cx="12192000" cy="5660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772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6B8D859B-56A8-7651-1154-22AB8C3EE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8714"/>
            <a:ext cx="12192000" cy="5660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327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67785DDE-59A6-13E9-0A17-B3D9472E09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8714"/>
            <a:ext cx="12192000" cy="5660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057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 shot of a computer&#10;&#10;Description automatically generated">
            <a:extLst>
              <a:ext uri="{FF2B5EF4-FFF2-40B4-BE49-F238E27FC236}">
                <a16:creationId xmlns:a16="http://schemas.microsoft.com/office/drawing/2014/main" id="{1B7AA4D0-F53C-ECAC-9F0C-D2FF5C091D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8714"/>
            <a:ext cx="12192000" cy="5660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277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graph&#10;&#10;Description automatically generated">
            <a:extLst>
              <a:ext uri="{FF2B5EF4-FFF2-40B4-BE49-F238E27FC236}">
                <a16:creationId xmlns:a16="http://schemas.microsoft.com/office/drawing/2014/main" id="{70090DD9-9271-EE8B-C7A8-184EFFED8E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8714"/>
            <a:ext cx="12192000" cy="566057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4C0E209-45CA-F784-DC62-731FC63B7D86}"/>
                  </a:ext>
                </a:extLst>
              </p:cNvPr>
              <p:cNvSpPr txBox="1"/>
              <p:nvPr/>
            </p:nvSpPr>
            <p:spPr>
              <a:xfrm>
                <a:off x="756355" y="1348735"/>
                <a:ext cx="1110419" cy="578882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?=7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4C0E209-45CA-F784-DC62-731FC63B7D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355" y="1348735"/>
                <a:ext cx="1110419" cy="578882"/>
              </a:xfrm>
              <a:prstGeom prst="roundRect">
                <a:avLst/>
              </a:prstGeom>
              <a:blipFill>
                <a:blip r:embed="rId3"/>
                <a:stretch>
                  <a:fillRect t="-7216" r="-11957" b="-2061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5C6F885-1183-A905-46F1-833C76581AC5}"/>
                  </a:ext>
                </a:extLst>
              </p:cNvPr>
              <p:cNvSpPr txBox="1"/>
              <p:nvPr/>
            </p:nvSpPr>
            <p:spPr>
              <a:xfrm>
                <a:off x="3222977" y="1348735"/>
                <a:ext cx="1110419" cy="578882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?=7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5C6F885-1183-A905-46F1-833C76581A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2977" y="1348735"/>
                <a:ext cx="1110419" cy="578882"/>
              </a:xfrm>
              <a:prstGeom prst="roundRect">
                <a:avLst/>
              </a:prstGeom>
              <a:blipFill>
                <a:blip r:embed="rId4"/>
                <a:stretch>
                  <a:fillRect t="-7216" r="-11957" b="-2061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6381C49-0C34-A4DD-8DB0-7751BC63EFD2}"/>
                  </a:ext>
                </a:extLst>
              </p:cNvPr>
              <p:cNvSpPr txBox="1"/>
              <p:nvPr/>
            </p:nvSpPr>
            <p:spPr>
              <a:xfrm>
                <a:off x="5566399" y="1348735"/>
                <a:ext cx="1110419" cy="578882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?=3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6381C49-0C34-A4DD-8DB0-7751BC63EF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6399" y="1348735"/>
                <a:ext cx="1110419" cy="578882"/>
              </a:xfrm>
              <a:prstGeom prst="roundRect">
                <a:avLst/>
              </a:prstGeom>
              <a:blipFill>
                <a:blip r:embed="rId5"/>
                <a:stretch>
                  <a:fillRect t="-7216" r="-11957" b="-2061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78EE4B8-4CDB-4D7A-0861-16414B156FF6}"/>
                  </a:ext>
                </a:extLst>
              </p:cNvPr>
              <p:cNvSpPr txBox="1"/>
              <p:nvPr/>
            </p:nvSpPr>
            <p:spPr>
              <a:xfrm>
                <a:off x="7819287" y="1348735"/>
                <a:ext cx="1110419" cy="578882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?=4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78EE4B8-4CDB-4D7A-0861-16414B156F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9287" y="1348735"/>
                <a:ext cx="1110419" cy="578882"/>
              </a:xfrm>
              <a:prstGeom prst="roundRect">
                <a:avLst/>
              </a:prstGeom>
              <a:blipFill>
                <a:blip r:embed="rId6"/>
                <a:stretch>
                  <a:fillRect t="-7216" r="-11957" b="-2061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2DABA84-D23C-E51A-461F-929F955B4A33}"/>
                  </a:ext>
                </a:extLst>
              </p:cNvPr>
              <p:cNvSpPr txBox="1"/>
              <p:nvPr/>
            </p:nvSpPr>
            <p:spPr>
              <a:xfrm>
                <a:off x="10376444" y="1348735"/>
                <a:ext cx="1110419" cy="578882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?=8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2DABA84-D23C-E51A-461F-929F955B4A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76444" y="1348735"/>
                <a:ext cx="1110419" cy="578882"/>
              </a:xfrm>
              <a:prstGeom prst="roundRect">
                <a:avLst/>
              </a:prstGeom>
              <a:blipFill>
                <a:blip r:embed="rId7"/>
                <a:stretch>
                  <a:fillRect t="-7216" r="-11957" b="-2061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94987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9CF64-A155-9730-D07F-C75F9AF12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Guidance, not 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0CBC05-83FC-7F4C-E0FD-0232A56D2A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None of the different ways to visualise are always wrong or always right</a:t>
            </a:r>
          </a:p>
          <a:p>
            <a:r>
              <a:rPr lang="en-GB" dirty="0"/>
              <a:t>Depends on the context</a:t>
            </a:r>
          </a:p>
          <a:p>
            <a:r>
              <a:rPr lang="en-GB" dirty="0"/>
              <a:t>Consider what you’re trying to do and use the most appropriate option</a:t>
            </a:r>
          </a:p>
        </p:txBody>
      </p:sp>
      <p:pic>
        <p:nvPicPr>
          <p:cNvPr id="6" name="Picture Placeholder 5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9977A2F0-C357-090A-10FB-BEC3AA847DB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073387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6D751-B33A-A35F-8BF6-693F4328A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Where each fail in their own special way</a:t>
            </a:r>
          </a:p>
        </p:txBody>
      </p:sp>
    </p:spTree>
    <p:extLst>
      <p:ext uri="{BB962C8B-B14F-4D97-AF65-F5344CB8AC3E}">
        <p14:creationId xmlns:p14="http://schemas.microsoft.com/office/powerpoint/2010/main" val="2552094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61" descr="A black square with white dots&#10;&#10;Description automatically generated">
            <a:extLst>
              <a:ext uri="{FF2B5EF4-FFF2-40B4-BE49-F238E27FC236}">
                <a16:creationId xmlns:a16="http://schemas.microsoft.com/office/drawing/2014/main" id="{FF8D00B7-F973-7537-79D9-5F555E43FB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0129" y="0"/>
            <a:ext cx="5751871" cy="6858000"/>
          </a:xfrm>
          <a:prstGeom prst="rect">
            <a:avLst/>
          </a:prstGeom>
        </p:spPr>
      </p:pic>
      <p:pic>
        <p:nvPicPr>
          <p:cNvPr id="60" name="Picture Placeholder 59" descr="A black and white square with a white circle in the middle&#10;&#10;Description automatically generated">
            <a:extLst>
              <a:ext uri="{FF2B5EF4-FFF2-40B4-BE49-F238E27FC236}">
                <a16:creationId xmlns:a16="http://schemas.microsoft.com/office/drawing/2014/main" id="{4BAA40D4-D0AB-0FDD-EA43-A9EF4B332ED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3842E86-F139-1CFF-3DBD-DE8459796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Intensity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CBB4B-28C7-402B-44F4-3084E92841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same intensity can look different if plotted on top of another layer of intensity</a:t>
            </a:r>
          </a:p>
          <a:p>
            <a:r>
              <a:rPr lang="en-GB" dirty="0"/>
              <a:t>Avoid using multiple intensities</a:t>
            </a:r>
          </a:p>
        </p:txBody>
      </p:sp>
    </p:spTree>
    <p:extLst>
      <p:ext uri="{BB962C8B-B14F-4D97-AF65-F5344CB8AC3E}">
        <p14:creationId xmlns:p14="http://schemas.microsoft.com/office/powerpoint/2010/main" val="40095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42E86-F139-1CFF-3DBD-DE8459796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Angle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CBB4B-28C7-402B-44F4-3084E92841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Are purple angles the same?</a:t>
            </a:r>
          </a:p>
          <a:p>
            <a:r>
              <a:rPr lang="en-GB" dirty="0"/>
              <a:t>Comparing multiple angles can lead to optical illusion where identical angles appear different</a:t>
            </a:r>
          </a:p>
          <a:p>
            <a:r>
              <a:rPr lang="en-GB" dirty="0"/>
              <a:t>All coloured line segments have the same angle</a:t>
            </a:r>
          </a:p>
        </p:txBody>
      </p:sp>
      <p:pic>
        <p:nvPicPr>
          <p:cNvPr id="15" name="Picture Placeholder 14" descr="A graph on a screen&#10;&#10;Description automatically generated">
            <a:extLst>
              <a:ext uri="{FF2B5EF4-FFF2-40B4-BE49-F238E27FC236}">
                <a16:creationId xmlns:a16="http://schemas.microsoft.com/office/drawing/2014/main" id="{2DF6CD06-6358-FD36-3A55-35E39ED3E42C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4236248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screen shot of a graph&#10;&#10;Description automatically generated">
            <a:extLst>
              <a:ext uri="{FF2B5EF4-FFF2-40B4-BE49-F238E27FC236}">
                <a16:creationId xmlns:a16="http://schemas.microsoft.com/office/drawing/2014/main" id="{C17C1666-4F4A-CA0C-F313-191D03B479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0129" y="0"/>
            <a:ext cx="5751871" cy="6858000"/>
          </a:xfrm>
          <a:prstGeom prst="rect">
            <a:avLst/>
          </a:prstGeom>
        </p:spPr>
      </p:pic>
      <p:pic>
        <p:nvPicPr>
          <p:cNvPr id="7" name="Picture Placeholder 6" descr="A screenshot of a cell phone&#10;&#10;Description automatically generated">
            <a:extLst>
              <a:ext uri="{FF2B5EF4-FFF2-40B4-BE49-F238E27FC236}">
                <a16:creationId xmlns:a16="http://schemas.microsoft.com/office/drawing/2014/main" id="{2AD54A6A-69F0-325D-3220-49E42804F23E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3842E86-F139-1CFF-3DBD-DE8459796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Length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CBB4B-28C7-402B-44F4-3084E92841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Comparing baselines (puke green) are easy</a:t>
            </a:r>
          </a:p>
          <a:p>
            <a:r>
              <a:rPr lang="en-GB" dirty="0"/>
              <a:t>Are any colour triplets, or pairs, the same?</a:t>
            </a:r>
          </a:p>
          <a:p>
            <a:r>
              <a:rPr lang="en-GB" dirty="0"/>
              <a:t>But comparing other groups is hard (e.g. is orange in top and bottom bars the same?)</a:t>
            </a:r>
          </a:p>
          <a:p>
            <a:r>
              <a:rPr lang="en-GB" dirty="0"/>
              <a:t>Avoid stacking bars on each other</a:t>
            </a:r>
          </a:p>
        </p:txBody>
      </p:sp>
    </p:spTree>
    <p:extLst>
      <p:ext uri="{BB962C8B-B14F-4D97-AF65-F5344CB8AC3E}">
        <p14:creationId xmlns:p14="http://schemas.microsoft.com/office/powerpoint/2010/main" val="307978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4160A-32D8-590E-5C5A-2F663BB5D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Colour blindness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3C09DA-5F80-B03A-A26F-D09B5CDBD2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Roughly 5% of humans are colourblind</a:t>
            </a:r>
          </a:p>
          <a:p>
            <a:r>
              <a:rPr lang="en-GB" dirty="0"/>
              <a:t>Colours to avoid</a:t>
            </a:r>
          </a:p>
          <a:p>
            <a:pPr lvl="1"/>
            <a:r>
              <a:rPr lang="en-GB" dirty="0"/>
              <a:t>Red and green</a:t>
            </a:r>
          </a:p>
          <a:p>
            <a:pPr lvl="1"/>
            <a:r>
              <a:rPr lang="en-GB" dirty="0"/>
              <a:t>Red and blue</a:t>
            </a:r>
          </a:p>
          <a:p>
            <a:r>
              <a:rPr lang="en-GB" dirty="0"/>
              <a:t>Really easy to use colour blind friendly colour palettes</a:t>
            </a:r>
          </a:p>
          <a:p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palette.colors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(palette = "Okabe-Ito")</a:t>
            </a:r>
          </a:p>
          <a:p>
            <a:r>
              <a:rPr lang="en-GB" dirty="0"/>
              <a:t>This is now the default in R</a:t>
            </a: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02A49A27-5923-28EF-4528-EBD6592736A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/>
          <a:srcRect l="160" t="-31942" r="1534" b="-33317"/>
          <a:stretch/>
        </p:blipFill>
        <p:spPr>
          <a:xfrm>
            <a:off x="6359525" y="0"/>
            <a:ext cx="58324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785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6D751-B33A-A35F-8BF6-693F4328A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Incorporate concepts</a:t>
            </a:r>
          </a:p>
        </p:txBody>
      </p:sp>
    </p:spTree>
    <p:extLst>
      <p:ext uri="{BB962C8B-B14F-4D97-AF65-F5344CB8AC3E}">
        <p14:creationId xmlns:p14="http://schemas.microsoft.com/office/powerpoint/2010/main" val="2347299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7A584-CF1A-30C4-AF94-562072B04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GB" dirty="0"/>
              <a:t>Let’s improve this</a:t>
            </a:r>
          </a:p>
        </p:txBody>
      </p:sp>
      <p:pic>
        <p:nvPicPr>
          <p:cNvPr id="4" name="Picture 3" descr="A screen shot of a graph&#10;&#10;Description automatically generated">
            <a:extLst>
              <a:ext uri="{FF2B5EF4-FFF2-40B4-BE49-F238E27FC236}">
                <a16:creationId xmlns:a16="http://schemas.microsoft.com/office/drawing/2014/main" id="{3E31C920-543F-495E-CBA7-48F8D43CE6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497" y="1197429"/>
            <a:ext cx="12192000" cy="5660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048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CB4E1-9E01-6D53-C2E8-CF33A6C2E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What’s should we change?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213406-3C9E-4DBD-B828-0F4E4B6BBC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Response variable on the Y-axis</a:t>
            </a:r>
          </a:p>
          <a:p>
            <a:r>
              <a:rPr lang="en-GB" dirty="0"/>
              <a:t>Reduce the amount of information we are asking the reader to process</a:t>
            </a:r>
          </a:p>
          <a:p>
            <a:pPr lvl="1"/>
            <a:r>
              <a:rPr lang="en-GB" dirty="0"/>
              <a:t>Always make life easy for your reader</a:t>
            </a:r>
          </a:p>
        </p:txBody>
      </p:sp>
      <p:pic>
        <p:nvPicPr>
          <p:cNvPr id="11" name="Picture Placeholder 10" descr="A screen shot of a graph&#10;&#10;Description automatically generated">
            <a:extLst>
              <a:ext uri="{FF2B5EF4-FFF2-40B4-BE49-F238E27FC236}">
                <a16:creationId xmlns:a16="http://schemas.microsoft.com/office/drawing/2014/main" id="{D0633492-2C9A-4F36-3E61-6D11FB56D20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209276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91B59-79CD-3415-A5BC-E934A9F78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GB" dirty="0"/>
              <a:t>Our improved figure</a:t>
            </a:r>
          </a:p>
        </p:txBody>
      </p:sp>
      <p:pic>
        <p:nvPicPr>
          <p:cNvPr id="4" name="Picture 3" descr="A screen shot of a black background&#10;&#10;Description automatically generated">
            <a:extLst>
              <a:ext uri="{FF2B5EF4-FFF2-40B4-BE49-F238E27FC236}">
                <a16:creationId xmlns:a16="http://schemas.microsoft.com/office/drawing/2014/main" id="{E6E27147-D95D-3670-B395-1DE88869EE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66929"/>
            <a:ext cx="12192000" cy="5660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643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0AD84-C7F6-B255-4556-35BBED053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Effective visual communication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72C54C-C367-C05E-469D-E28A515414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Primary objective is to keep the amount of information to an absolute minimum</a:t>
            </a:r>
          </a:p>
          <a:p>
            <a:r>
              <a:rPr lang="en-GB" dirty="0"/>
              <a:t>The more your audience has to think, the less effective you are</a:t>
            </a:r>
          </a:p>
          <a:p>
            <a:r>
              <a:rPr lang="en-GB" dirty="0"/>
              <a:t>KISS; “Keep it simple, stupid”</a:t>
            </a:r>
          </a:p>
        </p:txBody>
      </p:sp>
      <p:pic>
        <p:nvPicPr>
          <p:cNvPr id="6" name="Picture Placeholder 5" descr="A screen shot of a graph&#10;&#10;Description automatically generated">
            <a:extLst>
              <a:ext uri="{FF2B5EF4-FFF2-40B4-BE49-F238E27FC236}">
                <a16:creationId xmlns:a16="http://schemas.microsoft.com/office/drawing/2014/main" id="{75D88F87-53D6-286F-B126-0F7E37F3592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>
          <a:xfrm>
            <a:off x="6359525" y="0"/>
            <a:ext cx="5832475" cy="6858000"/>
          </a:xfrm>
        </p:spPr>
      </p:pic>
    </p:spTree>
    <p:extLst>
      <p:ext uri="{BB962C8B-B14F-4D97-AF65-F5344CB8AC3E}">
        <p14:creationId xmlns:p14="http://schemas.microsoft.com/office/powerpoint/2010/main" val="3535857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sbs_slide_templat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Bahnschrift Light">
      <a:majorFont>
        <a:latin typeface="Bahnschrift Light"/>
        <a:ea typeface=""/>
        <a:cs typeface=""/>
      </a:majorFont>
      <a:minorFont>
        <a:latin typeface="Bahnschrif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A73481AF-5549-42F3-8B18-F5ECBED35AE0}" vid="{3EE02A52-7366-4D84-849D-12FD7F0396E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sbs_slide_template</Template>
  <TotalTime>848</TotalTime>
  <Words>719</Words>
  <Application>Microsoft Office PowerPoint</Application>
  <PresentationFormat>Widescreen</PresentationFormat>
  <Paragraphs>248</Paragraphs>
  <Slides>30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7" baseType="lpstr">
      <vt:lpstr>Aptos</vt:lpstr>
      <vt:lpstr>Aptos Narrow</vt:lpstr>
      <vt:lpstr>Arial</vt:lpstr>
      <vt:lpstr>Bahnschrift Light</vt:lpstr>
      <vt:lpstr>Cambria Math</vt:lpstr>
      <vt:lpstr>Courier New</vt:lpstr>
      <vt:lpstr>sbs_slide_template</vt:lpstr>
      <vt:lpstr>Effective scientific communication</vt:lpstr>
      <vt:lpstr>Why visualise?</vt:lpstr>
      <vt:lpstr>Why visualise?</vt:lpstr>
      <vt:lpstr>Why visualise?</vt:lpstr>
      <vt:lpstr>3 uses of graphics</vt:lpstr>
      <vt:lpstr>When visuals hide information</vt:lpstr>
      <vt:lpstr>PowerPoint Presentation</vt:lpstr>
      <vt:lpstr>PowerPoint Presentation</vt:lpstr>
      <vt:lpstr>Our research question</vt:lpstr>
      <vt:lpstr>Is there a relationship?</vt:lpstr>
      <vt:lpstr>Is there a relationship?</vt:lpstr>
      <vt:lpstr>What’s wrong with this figure?</vt:lpstr>
      <vt:lpstr>Optical illusions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Guidance, not rules</vt:lpstr>
      <vt:lpstr>Where each fail in their own special way</vt:lpstr>
      <vt:lpstr>Intensity</vt:lpstr>
      <vt:lpstr>Angle</vt:lpstr>
      <vt:lpstr>Length</vt:lpstr>
      <vt:lpstr>Colour blindness</vt:lpstr>
      <vt:lpstr>Incorporate concepts</vt:lpstr>
      <vt:lpstr>Let’s improve this</vt:lpstr>
      <vt:lpstr>What’s should we change?</vt:lpstr>
      <vt:lpstr>Our improved figure</vt:lpstr>
      <vt:lpstr>Effective visual communication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Effective scientific communication</dc:title>
  <dc:creator>Roos, Deon</dc:creator>
  <cp:lastModifiedBy>Roos, Deon</cp:lastModifiedBy>
  <cp:revision>5</cp:revision>
  <dcterms:created xsi:type="dcterms:W3CDTF">2024-07-03T11:14:26Z</dcterms:created>
  <dcterms:modified xsi:type="dcterms:W3CDTF">2024-09-04T10:48:43Z</dcterms:modified>
</cp:coreProperties>
</file>