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4"/>
  </p:notesMasterIdLst>
  <p:sldIdLst>
    <p:sldId id="336" r:id="rId2"/>
    <p:sldId id="321" r:id="rId3"/>
    <p:sldId id="322" r:id="rId4"/>
    <p:sldId id="284" r:id="rId5"/>
    <p:sldId id="340" r:id="rId6"/>
    <p:sldId id="283" r:id="rId7"/>
    <p:sldId id="339" r:id="rId8"/>
    <p:sldId id="341" r:id="rId9"/>
    <p:sldId id="286" r:id="rId10"/>
    <p:sldId id="271" r:id="rId11"/>
    <p:sldId id="323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11FEE-74B5-48C4-8D5A-E44E5DF1B3F0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34CC55-0A6F-4404-9C90-4131CB6BEF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066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814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700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4003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5041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253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623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7623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690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370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28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2438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1AFD1-44B7-3E4C-5214-57818E25BE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87A2E-B0C5-5590-824D-92D3C5F27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7E019-BD30-438D-3FB8-110D2FBF0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CAD67-1D8B-D3C8-60D7-85527C8A3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B36C8-D38B-ED48-838F-5424F89B5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31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03982-E506-133D-B7AD-40599B3D7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F1831-4692-07D9-A5E3-3BEAF5759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3A3CA-B2C9-3CCE-B961-D11EDA6ED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C8B97-B115-4DC6-A120-037A11F24859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C6228-0CA8-208B-4B33-97504992F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92AD3-B64B-B95E-8ABD-DDE68009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693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8C8B97-B115-4DC6-A120-037A11F24859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6CAECD-3AF0-445F-9CF0-D10D8ADDDF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7204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deonroos.shinyapps.io/Distributions/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748CD-56DB-D4E0-DC02-395FFA993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63610"/>
            <a:ext cx="9144000" cy="2082814"/>
          </a:xfrm>
        </p:spPr>
        <p:txBody>
          <a:bodyPr>
            <a:noAutofit/>
          </a:bodyPr>
          <a:lstStyle/>
          <a:p>
            <a:r>
              <a:rPr lang="en-GB" sz="8800" dirty="0"/>
              <a:t>Introduction to GLMs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15051A12-B99B-0CD8-D76D-D26863FD9923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524000" y="4768555"/>
                <a:ext cx="9144000" cy="462882"/>
              </a:xfrm>
            </p:spPr>
            <p:txBody>
              <a:bodyPr/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Why can’t you be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15051A12-B99B-0CD8-D76D-D26863FD99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524000" y="4768555"/>
                <a:ext cx="9144000" cy="462882"/>
              </a:xfrm>
              <a:blipFill>
                <a:blip r:embed="rId2"/>
                <a:stretch>
                  <a:fillRect t="-19737" b="-197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3567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2198F-AB6B-3057-9A47-2570A4B1E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graph of a substance&#10;&#10;Description automatically generated with medium confidence">
            <a:extLst>
              <a:ext uri="{FF2B5EF4-FFF2-40B4-BE49-F238E27FC236}">
                <a16:creationId xmlns:a16="http://schemas.microsoft.com/office/drawing/2014/main" id="{06C1F2E0-AE1D-CA36-1553-B433DB2004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1" y="1050483"/>
            <a:ext cx="6223000" cy="58075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8AE919-99FE-E06D-5CB1-82316BFC6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Can we reduce blood pressure?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D7504F-66E6-A841-BC68-2421556AF5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6553" y="1325562"/>
                <a:ext cx="5643283" cy="53990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9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sz="2000" dirty="0">
                    <a:latin typeface="Bahnschrift Light" panose="020B0502040204020203" pitchFamily="34" charset="0"/>
                  </a:rPr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000" dirty="0">
                    <a:latin typeface="Bahnschrift Light" panose="020B0502040204020203" pitchFamily="34" charset="0"/>
                  </a:rPr>
                  <a:t> is change in blood pressure</a:t>
                </a: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2000" dirty="0">
                    <a:latin typeface="Bahnschrift Light" panose="020B0502040204020203" pitchFamily="34" charset="0"/>
                  </a:rPr>
                  <a:t> is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GB" sz="2000" dirty="0">
                    <a:latin typeface="Bahnschrift Light" panose="020B0502040204020203" pitchFamily="34" charset="0"/>
                  </a:rPr>
                  <a:t> patient</a:t>
                </a: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2000" dirty="0">
                    <a:latin typeface="Bahnschrift Light" panose="020B0502040204020203" pitchFamily="34" charset="0"/>
                  </a:rPr>
                  <a:t> is the mean</a:t>
                </a: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sz="2000" dirty="0">
                    <a:latin typeface="Bahnschrift Light" panose="020B0502040204020203" pitchFamily="34" charset="0"/>
                  </a:rPr>
                  <a:t> is the standard deviation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𝑁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000" dirty="0">
                    <a:latin typeface="Bahnschrift Light" panose="020B0502040204020203" pitchFamily="34" charset="0"/>
                  </a:rPr>
                  <a:t> is the linear predictor, where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1600" dirty="0">
                    <a:latin typeface="Bahnschrift Light" panose="020B0502040204020203" pitchFamily="34" charset="0"/>
                  </a:rPr>
                  <a:t> is the intercept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600" dirty="0">
                    <a:latin typeface="Bahnschrift Light" panose="020B0502040204020203" pitchFamily="34" charset="0"/>
                  </a:rPr>
                  <a:t> is the slope for sodium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D7504F-66E6-A841-BC68-2421556AF5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6553" y="1325562"/>
                <a:ext cx="5643283" cy="5399087"/>
              </a:xfrm>
              <a:blipFill>
                <a:blip r:embed="rId3"/>
                <a:stretch>
                  <a:fillRect l="-10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graph of a line&#10;&#10;Description automatically generated">
            <a:extLst>
              <a:ext uri="{FF2B5EF4-FFF2-40B4-BE49-F238E27FC236}">
                <a16:creationId xmlns:a16="http://schemas.microsoft.com/office/drawing/2014/main" id="{541F004B-42F6-8747-5145-FCB750D721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1050482"/>
            <a:ext cx="6223000" cy="580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2658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702C0-0E7E-35EC-AD78-145B1825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line&#10;&#10;Description automatically generated">
            <a:extLst>
              <a:ext uri="{FF2B5EF4-FFF2-40B4-BE49-F238E27FC236}">
                <a16:creationId xmlns:a16="http://schemas.microsoft.com/office/drawing/2014/main" id="{B41E91A7-4873-245E-0EFF-98EF0A9A7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1050482"/>
            <a:ext cx="6223000" cy="58075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3D2FA3-CE82-9D8F-F10B-3F61C3381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Can we reduce blood pressure?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6E8DD-47D2-762F-35EA-9706814C6B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8736" y="2070100"/>
                <a:ext cx="4991100" cy="46545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9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>
                    <a:latin typeface="Bahnschrift Light" panose="020B0502040204020203" pitchFamily="34" charset="0"/>
                  </a:rPr>
                  <a:t>Now estimated as: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10.1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9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−18.4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9.6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𝑁𝑎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6E8DD-47D2-762F-35EA-9706814C6B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8736" y="2070100"/>
                <a:ext cx="4991100" cy="4654549"/>
              </a:xfrm>
              <a:blipFill>
                <a:blip r:embed="rId3"/>
                <a:stretch>
                  <a:fillRect l="-24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graph of a normal substance&#10;&#10;Description automatically generated with medium confidence">
            <a:extLst>
              <a:ext uri="{FF2B5EF4-FFF2-40B4-BE49-F238E27FC236}">
                <a16:creationId xmlns:a16="http://schemas.microsoft.com/office/drawing/2014/main" id="{D4780465-B792-8BD1-D4D8-3E60CE1C20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1050482"/>
            <a:ext cx="6223000" cy="5807518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2309BE9A-DE44-F233-F077-414A5A4D9CA3}"/>
              </a:ext>
            </a:extLst>
          </p:cNvPr>
          <p:cNvGrpSpPr/>
          <p:nvPr/>
        </p:nvGrpSpPr>
        <p:grpSpPr>
          <a:xfrm>
            <a:off x="7796213" y="1325563"/>
            <a:ext cx="3125787" cy="1736646"/>
            <a:chOff x="7796213" y="1325563"/>
            <a:chExt cx="3125787" cy="17366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4939551-23B7-B9FE-E1A2-B68772A04C6F}"/>
                    </a:ext>
                  </a:extLst>
                </p:cNvPr>
                <p:cNvSpPr txBox="1"/>
                <p:nvPr/>
              </p:nvSpPr>
              <p:spPr>
                <a:xfrm>
                  <a:off x="8293100" y="1493520"/>
                  <a:ext cx="1144300" cy="408623"/>
                </a:xfrm>
                <a:prstGeom prst="roundRect">
                  <a:avLst/>
                </a:prstGeom>
                <a:solidFill>
                  <a:srgbClr val="000000">
                    <a:alpha val="5882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=10.1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4939551-23B7-B9FE-E1A2-B68772A04C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3100" y="1493520"/>
                  <a:ext cx="1144300" cy="408623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7D4B2AB-6B67-4241-4EA3-D0B611BADA3C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 flipH="1">
              <a:off x="7796213" y="1902143"/>
              <a:ext cx="1069037" cy="11600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005FA61-A0A6-47EC-CD1B-98D33C0E2D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24913" y="1902143"/>
              <a:ext cx="40337" cy="9172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4FFF366-9047-2982-6F3E-BFFF6A782739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9437400" y="1697832"/>
              <a:ext cx="420975" cy="2547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2ACAC14-2DCF-DE56-2844-AC4E42F60C1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9437400" y="1325563"/>
              <a:ext cx="1484600" cy="3722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FFCB0D9-23C4-C290-8109-567D7DC2C254}"/>
              </a:ext>
            </a:extLst>
          </p:cNvPr>
          <p:cNvGrpSpPr/>
          <p:nvPr/>
        </p:nvGrpSpPr>
        <p:grpSpPr>
          <a:xfrm>
            <a:off x="6030912" y="5188658"/>
            <a:ext cx="1403614" cy="1118640"/>
            <a:chOff x="5969000" y="5221995"/>
            <a:chExt cx="1403614" cy="11186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8F177E8-F973-2EB5-5690-7A48D3FD655A}"/>
                    </a:ext>
                  </a:extLst>
                </p:cNvPr>
                <p:cNvSpPr txBox="1"/>
                <p:nvPr/>
              </p:nvSpPr>
              <p:spPr>
                <a:xfrm>
                  <a:off x="5969000" y="5932012"/>
                  <a:ext cx="1403614" cy="408623"/>
                </a:xfrm>
                <a:prstGeom prst="roundRect">
                  <a:avLst/>
                </a:prstGeom>
                <a:solidFill>
                  <a:srgbClr val="000000">
                    <a:alpha val="5882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b="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−18.4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8F177E8-F973-2EB5-5690-7A48D3FD65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9000" y="5932012"/>
                  <a:ext cx="1403614" cy="408623"/>
                </a:xfrm>
                <a:prstGeom prst="roundRect">
                  <a:avLst/>
                </a:prstGeom>
                <a:blipFill>
                  <a:blip r:embed="rId6"/>
                  <a:stretch>
                    <a:fillRect b="-434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E6D3E37-2F85-9150-485A-C55E7D7C7A7A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6670807" y="5221995"/>
              <a:ext cx="0" cy="71001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D36EC59-41DF-8518-5BCD-F6579C873C09}"/>
              </a:ext>
            </a:extLst>
          </p:cNvPr>
          <p:cNvGrpSpPr/>
          <p:nvPr/>
        </p:nvGrpSpPr>
        <p:grpSpPr>
          <a:xfrm>
            <a:off x="9539288" y="3062209"/>
            <a:ext cx="1255523" cy="1754899"/>
            <a:chOff x="9539288" y="3062209"/>
            <a:chExt cx="1255523" cy="175489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C154D2A-4933-B50C-7054-D584295D7F07}"/>
                </a:ext>
              </a:extLst>
            </p:cNvPr>
            <p:cNvGrpSpPr/>
            <p:nvPr/>
          </p:nvGrpSpPr>
          <p:grpSpPr>
            <a:xfrm>
              <a:off x="9539288" y="3062209"/>
              <a:ext cx="709612" cy="419179"/>
              <a:chOff x="9539288" y="3062209"/>
              <a:chExt cx="709612" cy="419179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A41B4A6-BAE0-D3FA-77A2-3502701FF713}"/>
                  </a:ext>
                </a:extLst>
              </p:cNvPr>
              <p:cNvCxnSpPr/>
              <p:nvPr/>
            </p:nvCxnSpPr>
            <p:spPr>
              <a:xfrm>
                <a:off x="9539288" y="3481388"/>
                <a:ext cx="70485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964094C-DAD7-BC4D-A66C-1FBCDD41DA14}"/>
                  </a:ext>
                </a:extLst>
              </p:cNvPr>
              <p:cNvCxnSpPr/>
              <p:nvPr/>
            </p:nvCxnSpPr>
            <p:spPr>
              <a:xfrm flipV="1">
                <a:off x="10248900" y="3062209"/>
                <a:ext cx="0" cy="41441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E7066A1-E4F1-4A32-C136-885D1CF4AADC}"/>
                </a:ext>
              </a:extLst>
            </p:cNvPr>
            <p:cNvGrpSpPr/>
            <p:nvPr/>
          </p:nvGrpSpPr>
          <p:grpSpPr>
            <a:xfrm>
              <a:off x="9693465" y="3476625"/>
              <a:ext cx="1101346" cy="1340483"/>
              <a:chOff x="9693465" y="3476625"/>
              <a:chExt cx="1101346" cy="134048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63DACF1D-66A3-DD23-A1AA-CAA3FBF478A7}"/>
                      </a:ext>
                    </a:extLst>
                  </p:cNvPr>
                  <p:cNvSpPr txBox="1"/>
                  <p:nvPr/>
                </p:nvSpPr>
                <p:spPr>
                  <a:xfrm>
                    <a:off x="9693465" y="4408485"/>
                    <a:ext cx="1101346" cy="408623"/>
                  </a:xfrm>
                  <a:prstGeom prst="roundRect">
                    <a:avLst/>
                  </a:prstGeom>
                  <a:solidFill>
                    <a:srgbClr val="000000">
                      <a:alpha val="58824"/>
                    </a:srgbClr>
                  </a:solidFill>
                  <a:ln>
                    <a:solidFill>
                      <a:schemeClr val="tx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9.6</m:t>
                          </m:r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63DACF1D-66A3-DD23-A1AA-CAA3FBF478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93465" y="4408485"/>
                    <a:ext cx="1101346" cy="408623"/>
                  </a:xfrm>
                  <a:prstGeom prst="roundRect">
                    <a:avLst/>
                  </a:prstGeom>
                  <a:blipFill>
                    <a:blip r:embed="rId7"/>
                    <a:stretch>
                      <a:fillRect b="-5797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BCFE3D83-A39F-7C96-75FE-70E9AD615D93}"/>
                  </a:ext>
                </a:extLst>
              </p:cNvPr>
              <p:cNvCxnSpPr>
                <a:cxnSpLocks/>
                <a:stCxn id="8" idx="0"/>
              </p:cNvCxnSpPr>
              <p:nvPr/>
            </p:nvCxnSpPr>
            <p:spPr>
              <a:xfrm flipV="1">
                <a:off x="10244138" y="3476625"/>
                <a:ext cx="0" cy="93186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6751117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What if our error is not Normal?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3850" y="1683521"/>
                <a:ext cx="5505450" cy="4898253"/>
              </a:xfrm>
            </p:spPr>
            <p:txBody>
              <a:bodyPr>
                <a:normAutofit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What do you notice about the data?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Response must be non-negative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Response is integers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What if we force a linear model?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Can we have </a:t>
                </a:r>
                <a:r>
                  <a:rPr lang="en-GB" i="1" dirty="0">
                    <a:latin typeface="Bahnschrift Light" panose="020B0502040204020203" pitchFamily="34" charset="0"/>
                  </a:rPr>
                  <a:t>negative</a:t>
                </a:r>
                <a:r>
                  <a:rPr lang="en-GB" dirty="0">
                    <a:latin typeface="Bahnschrift Light" panose="020B0502040204020203" pitchFamily="34" charset="0"/>
                  </a:rPr>
                  <a:t> customers?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Is our randomness best captured with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distribution?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850" y="1683521"/>
                <a:ext cx="5505450" cy="4898253"/>
              </a:xfrm>
              <a:blipFill>
                <a:blip r:embed="rId2"/>
                <a:stretch>
                  <a:fillRect l="-1993" t="-2114" r="-15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graph with white lines on a black background&#10;&#10;Description automatically generated">
            <a:extLst>
              <a:ext uri="{FF2B5EF4-FFF2-40B4-BE49-F238E27FC236}">
                <a16:creationId xmlns:a16="http://schemas.microsoft.com/office/drawing/2014/main" id="{03BC124C-DED6-DDFC-535D-E1407CEB40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761" y="1325563"/>
            <a:ext cx="5928239" cy="5532437"/>
          </a:xfrm>
          <a:prstGeom prst="rect">
            <a:avLst/>
          </a:prstGeom>
        </p:spPr>
      </p:pic>
      <p:pic>
        <p:nvPicPr>
          <p:cNvPr id="7" name="Picture 6" descr="A graph with a line on it&#10;&#10;Description automatically generated">
            <a:extLst>
              <a:ext uri="{FF2B5EF4-FFF2-40B4-BE49-F238E27FC236}">
                <a16:creationId xmlns:a16="http://schemas.microsoft.com/office/drawing/2014/main" id="{8A1FE994-0568-8B22-2010-6D9FE09707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761" y="1325563"/>
            <a:ext cx="5928239" cy="5532437"/>
          </a:xfrm>
          <a:prstGeom prst="rect">
            <a:avLst/>
          </a:prstGeom>
        </p:spPr>
      </p:pic>
      <p:pic>
        <p:nvPicPr>
          <p:cNvPr id="9" name="Picture 8" descr="A graph with green lines and white text&#10;&#10;Description automatically generated">
            <a:extLst>
              <a:ext uri="{FF2B5EF4-FFF2-40B4-BE49-F238E27FC236}">
                <a16:creationId xmlns:a16="http://schemas.microsoft.com/office/drawing/2014/main" id="{AE021E41-92E0-54E4-077E-79958B4A9A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760" y="1325563"/>
            <a:ext cx="5928239" cy="553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4887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2C97B-2A24-4749-7DD1-EB84BB210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Changing distributions</a:t>
            </a:r>
          </a:p>
        </p:txBody>
      </p:sp>
    </p:spTree>
    <p:extLst>
      <p:ext uri="{BB962C8B-B14F-4D97-AF65-F5344CB8AC3E}">
        <p14:creationId xmlns:p14="http://schemas.microsoft.com/office/powerpoint/2010/main" val="3601296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Allowing suitable randomness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185" y="1619249"/>
                <a:ext cx="5583115" cy="496252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𝐷𝑖𝑠𝑡𝑟𝑖𝑏𝑢𝑡𝑖𝑜𝑛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b="0" i="0" dirty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dirty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Distributions determine how “randomness” around the prediction works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Most distributions are not described with mean and variance parameters as in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𝑁𝑜𝑟𝑚𝑎𝑙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Some might have just one (e.g.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), others may have multiple (e.g.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𝑇𝑤𝑒𝑒𝑑𝑖𝑒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)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Often, we refer to the collection of parameters as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185" y="1619249"/>
                <a:ext cx="5583115" cy="4962525"/>
              </a:xfrm>
              <a:blipFill>
                <a:blip r:embed="rId2"/>
                <a:stretch>
                  <a:fillRect l="-1638" r="-1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group of graphs with numbers and symbols&#10;&#10;Description automatically generated with medium confidence">
            <a:extLst>
              <a:ext uri="{FF2B5EF4-FFF2-40B4-BE49-F238E27FC236}">
                <a16:creationId xmlns:a16="http://schemas.microsoft.com/office/drawing/2014/main" id="{CFD20235-6DF1-A1F0-DB8E-A10C0E56D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015" y="1101969"/>
            <a:ext cx="56388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499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DA6D2-8461-4F4F-E43B-B52CA4BF4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>
                <a:hlinkClick r:id="rId2"/>
              </a:rPr>
              <a:t>https://deonroos.shinyapps.io/Distributions/</a:t>
            </a:r>
            <a:r>
              <a:rPr lang="en-GB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A63CC0-E744-EBEF-EC3A-A82CFF53D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89291"/>
            <a:ext cx="12192000" cy="556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393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3BEDB-A682-9831-D8AC-CBA67B503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Link functions</a:t>
            </a:r>
          </a:p>
        </p:txBody>
      </p:sp>
    </p:spTree>
    <p:extLst>
      <p:ext uri="{BB962C8B-B14F-4D97-AF65-F5344CB8AC3E}">
        <p14:creationId xmlns:p14="http://schemas.microsoft.com/office/powerpoint/2010/main" val="17667138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931BBF-9217-1B8A-3F3C-952FAA3CB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341596"/>
            <a:ext cx="5838825" cy="5449570"/>
          </a:xfrm>
          <a:prstGeom prst="rect">
            <a:avLst/>
          </a:prstGeom>
        </p:spPr>
      </p:pic>
      <p:pic>
        <p:nvPicPr>
          <p:cNvPr id="8" name="Picture 7" descr="A screen shot of a graph&#10;&#10;Description automatically generated">
            <a:extLst>
              <a:ext uri="{FF2B5EF4-FFF2-40B4-BE49-F238E27FC236}">
                <a16:creationId xmlns:a16="http://schemas.microsoft.com/office/drawing/2014/main" id="{07FDE7A1-5652-4B5E-F991-DB608FA250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325563"/>
            <a:ext cx="5838825" cy="5449570"/>
          </a:xfrm>
          <a:prstGeom prst="rect">
            <a:avLst/>
          </a:prstGeom>
        </p:spPr>
      </p:pic>
      <p:pic>
        <p:nvPicPr>
          <p:cNvPr id="10" name="Picture 9" descr="A graph with a line and a line&#10;&#10;Description automatically generated with medium confidence">
            <a:extLst>
              <a:ext uri="{FF2B5EF4-FFF2-40B4-BE49-F238E27FC236}">
                <a16:creationId xmlns:a16="http://schemas.microsoft.com/office/drawing/2014/main" id="{0C4BE3E0-528C-5B63-ADBC-57E002205A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325563"/>
            <a:ext cx="5838825" cy="5449570"/>
          </a:xfrm>
          <a:prstGeom prst="rect">
            <a:avLst/>
          </a:prstGeom>
        </p:spPr>
      </p:pic>
      <p:pic>
        <p:nvPicPr>
          <p:cNvPr id="12" name="Picture 11" descr="A graph with a line and dots&#10;&#10;Description automatically generated with medium confidence">
            <a:extLst>
              <a:ext uri="{FF2B5EF4-FFF2-40B4-BE49-F238E27FC236}">
                <a16:creationId xmlns:a16="http://schemas.microsoft.com/office/drawing/2014/main" id="{70940246-B651-47A3-8D1D-4E8DB46D77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325563"/>
            <a:ext cx="5838825" cy="54495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The missing link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" y="1325563"/>
                <a:ext cx="6143624" cy="531320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𝐷𝑖𝑠𝑡𝑟𝑖𝑏𝑢𝑡𝑖𝑜𝑛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Using a </a:t>
                </a:r>
                <a:r>
                  <a:rPr lang="en-GB" b="1" dirty="0">
                    <a:solidFill>
                      <a:srgbClr val="FFFF00"/>
                    </a:solidFill>
                    <a:latin typeface="Bahnschrift Light" panose="020B0502040204020203" pitchFamily="34" charset="0"/>
                  </a:rPr>
                  <a:t>link function </a:t>
                </a:r>
                <a:r>
                  <a:rPr lang="en-GB" dirty="0">
                    <a:latin typeface="Bahnschrift Light" panose="020B0502040204020203" pitchFamily="34" charset="0"/>
                  </a:rPr>
                  <a:t>we transform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(the linear predictor, not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)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Fit a straight line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.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Can always </a:t>
                </a:r>
                <a:r>
                  <a:rPr lang="en-GB" dirty="0" err="1">
                    <a:latin typeface="Bahnschrift Light" panose="020B0502040204020203" pitchFamily="34" charset="0"/>
                  </a:rPr>
                  <a:t>backtransform</a:t>
                </a:r>
                <a:r>
                  <a:rPr lang="en-GB" dirty="0">
                    <a:latin typeface="Bahnschrift Light" panose="020B0502040204020203" pitchFamily="34" charset="0"/>
                  </a:rPr>
                  <a:t> the data onto the response scale.</a:t>
                </a:r>
              </a:p>
              <a:p>
                <a:r>
                  <a:rPr lang="en-GB" b="1" u="sng" dirty="0">
                    <a:solidFill>
                      <a:schemeClr val="tx1"/>
                    </a:solidFill>
                    <a:latin typeface="Bahnschrift Light" panose="020B0502040204020203" pitchFamily="34" charset="0"/>
                  </a:rPr>
                  <a:t>Important:</a:t>
                </a:r>
              </a:p>
              <a:p>
                <a:pPr lvl="1"/>
                <a:r>
                  <a:rPr lang="en-GB" dirty="0">
                    <a:solidFill>
                      <a:schemeClr val="tx1"/>
                    </a:solidFill>
                    <a:latin typeface="Bahnschrift Light" panose="020B0502040204020203" pitchFamily="34" charset="0"/>
                  </a:rPr>
                  <a:t>This is not the same as transforming </a:t>
                </a:r>
                <a14:m>
                  <m:oMath xmlns:m="http://schemas.openxmlformats.org/officeDocument/2006/math">
                    <m:r>
                      <a:rPr lang="en-GB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Bahnschrift Light" panose="020B0502040204020203" pitchFamily="34" charset="0"/>
                  </a:rPr>
                  <a:t>!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The fit is still linear </a:t>
                </a:r>
                <a:r>
                  <a:rPr lang="en-GB" i="1" dirty="0">
                    <a:latin typeface="Bahnschrift Light" panose="020B0502040204020203" pitchFamily="34" charset="0"/>
                  </a:rPr>
                  <a:t>on the link scale!</a:t>
                </a:r>
                <a:endParaRPr lang="en-GB" i="1" dirty="0">
                  <a:solidFill>
                    <a:schemeClr val="tx1"/>
                  </a:solidFill>
                  <a:latin typeface="Bahnschrift Light" panose="020B0502040204020203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1325563"/>
                <a:ext cx="6143624" cy="5313203"/>
              </a:xfrm>
              <a:blipFill>
                <a:blip r:embed="rId6"/>
                <a:stretch>
                  <a:fillRect l="-1786" r="-20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5123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61BF2CB-5378-9386-1F7B-B693ACC60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89196"/>
            <a:ext cx="5838825" cy="54495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Why use link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175" y="1651000"/>
                <a:ext cx="5572125" cy="4834860"/>
              </a:xfrm>
            </p:spPr>
            <p:txBody>
              <a:bodyPr>
                <a:normAutofit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Link functions mathematically convert the linear predictor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) such that the values can exist between 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GB" dirty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Generally, leads to a linear trend (great for fitting)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Maintains natural bounds of the data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Is the bridge between our response variable and the linear predictor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175" y="1651000"/>
                <a:ext cx="5572125" cy="4834860"/>
              </a:xfrm>
              <a:blipFill>
                <a:blip r:embed="rId3"/>
                <a:stretch>
                  <a:fillRect l="-1969" t="-2270" r="-4048" b="-6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0431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2ECA6-4D4B-9E7A-6EDA-E3FB4F309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87C3D-2707-D053-B754-D08CC759E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The missing link</a:t>
            </a:r>
          </a:p>
        </p:txBody>
      </p:sp>
      <p:pic>
        <p:nvPicPr>
          <p:cNvPr id="13" name="Picture 12" descr="A graph on a black background&#10;&#10;Description automatically generated">
            <a:extLst>
              <a:ext uri="{FF2B5EF4-FFF2-40B4-BE49-F238E27FC236}">
                <a16:creationId xmlns:a16="http://schemas.microsoft.com/office/drawing/2014/main" id="{81A8C9C7-862F-024F-C351-C59293A01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025" y="993581"/>
            <a:ext cx="10059950" cy="586441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1D58651-6D79-9E5B-34E7-42B1914264C8}"/>
              </a:ext>
            </a:extLst>
          </p:cNvPr>
          <p:cNvSpPr/>
          <p:nvPr/>
        </p:nvSpPr>
        <p:spPr>
          <a:xfrm>
            <a:off x="4505899" y="993581"/>
            <a:ext cx="3415229" cy="5770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9D94F1-2000-6779-14E9-C2D3DAA396E4}"/>
              </a:ext>
            </a:extLst>
          </p:cNvPr>
          <p:cNvSpPr/>
          <p:nvPr/>
        </p:nvSpPr>
        <p:spPr>
          <a:xfrm>
            <a:off x="7921128" y="993581"/>
            <a:ext cx="3415229" cy="5770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551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660AF582-B543-E4FC-DD1D-74A8845CC46D}"/>
              </a:ext>
            </a:extLst>
          </p:cNvPr>
          <p:cNvGrpSpPr/>
          <p:nvPr/>
        </p:nvGrpSpPr>
        <p:grpSpPr>
          <a:xfrm>
            <a:off x="6019800" y="2397021"/>
            <a:ext cx="6096000" cy="2734446"/>
            <a:chOff x="6248400" y="1768371"/>
            <a:chExt cx="6096000" cy="27344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01CEA6D-5AE0-1451-554F-DB24CDBE21C9}"/>
                    </a:ext>
                  </a:extLst>
                </p:cNvPr>
                <p:cNvSpPr txBox="1"/>
                <p:nvPr/>
              </p:nvSpPr>
              <p:spPr>
                <a:xfrm>
                  <a:off x="6248400" y="1768371"/>
                  <a:ext cx="6096000" cy="10772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GB" sz="32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𝐷𝑖𝑠𝑡𝑟𝑖𝑏𝑢𝑡𝑖𝑜𝑛</m:t>
                        </m:r>
                        <m:d>
                          <m:d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GB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oMath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GB" sz="32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GB" sz="32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⁡</m:t>
                        </m:r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)=</m:t>
                        </m:r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01CEA6D-5AE0-1451-554F-DB24CDBE21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400" y="1768371"/>
                  <a:ext cx="6096000" cy="107721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D01A866-4557-A06B-857A-F7615447CF1E}"/>
                </a:ext>
              </a:extLst>
            </p:cNvPr>
            <p:cNvSpPr txBox="1"/>
            <p:nvPr/>
          </p:nvSpPr>
          <p:spPr>
            <a:xfrm>
              <a:off x="6626438" y="3117822"/>
              <a:ext cx="5339923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 err="1">
                  <a:solidFill>
                    <a:srgbClr val="FFFF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GB" sz="2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lm</a:t>
              </a:r>
              <a: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(y ~ x,</a:t>
              </a:r>
            </a:p>
            <a:p>
              <a: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en-GB" sz="2800" dirty="0">
                  <a:solidFill>
                    <a:srgbClr val="FFFF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family = </a:t>
              </a:r>
              <a:r>
                <a:rPr lang="en-GB" sz="2800" dirty="0" err="1">
                  <a:solidFill>
                    <a:srgbClr val="FFFF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Dist</a:t>
              </a:r>
              <a:r>
                <a:rPr lang="en-GB" sz="2800" dirty="0">
                  <a:solidFill>
                    <a:srgbClr val="FFFF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(“g”)</a:t>
              </a:r>
              <a: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  <a:b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data = </a:t>
              </a:r>
              <a:r>
                <a:rPr lang="en-GB" sz="2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my_data</a:t>
              </a:r>
              <a: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0D16D3A-D948-2BB7-38F7-A5CC646D4BD9}"/>
              </a:ext>
            </a:extLst>
          </p:cNvPr>
          <p:cNvGrpSpPr/>
          <p:nvPr/>
        </p:nvGrpSpPr>
        <p:grpSpPr>
          <a:xfrm>
            <a:off x="5585172" y="2397021"/>
            <a:ext cx="6096000" cy="2303558"/>
            <a:chOff x="5829300" y="1768371"/>
            <a:chExt cx="6096000" cy="23035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A1D25EC-EF57-E64E-5E1E-459B11D4F702}"/>
                    </a:ext>
                  </a:extLst>
                </p:cNvPr>
                <p:cNvSpPr txBox="1"/>
                <p:nvPr/>
              </p:nvSpPr>
              <p:spPr>
                <a:xfrm>
                  <a:off x="5829300" y="1768371"/>
                  <a:ext cx="6096000" cy="10772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GB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𝑁𝑜𝑟𝑚𝑎𝑙</m:t>
                        </m:r>
                        <m:d>
                          <m:d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GB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GB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GB" sz="3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oMath>
                      <m:oMath xmlns:m="http://schemas.openxmlformats.org/officeDocument/2006/math"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A1D25EC-EF57-E64E-5E1E-459B11D4F7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9300" y="1768371"/>
                  <a:ext cx="6096000" cy="107721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4A97372-D3CE-0B37-F1C5-880DE954610B}"/>
                </a:ext>
              </a:extLst>
            </p:cNvPr>
            <p:cNvSpPr txBox="1"/>
            <p:nvPr/>
          </p:nvSpPr>
          <p:spPr>
            <a:xfrm>
              <a:off x="6851745" y="3117822"/>
              <a:ext cx="405110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lm</a:t>
              </a:r>
              <a: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(y ~ x,</a:t>
              </a:r>
            </a:p>
            <a:p>
              <a: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data = </a:t>
              </a:r>
              <a:r>
                <a:rPr lang="en-GB" sz="2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my_data</a:t>
              </a:r>
              <a:r>
                <a:rPr lang="en-GB" sz="2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GLMs; oversimplified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BA6F-FFE0-43B0-753F-6E3B955C3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753" y="1619249"/>
            <a:ext cx="6010164" cy="4962525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Know your research question!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Think about your response variable.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>
                <a:solidFill>
                  <a:srgbClr val="FFFF00"/>
                </a:solidFill>
                <a:latin typeface="Bahnschrift Light" panose="020B0502040204020203" pitchFamily="34" charset="0"/>
              </a:rPr>
              <a:t>Identify which distribution best characterise your randomness.</a:t>
            </a:r>
            <a:endParaRPr lang="en-GB" dirty="0">
              <a:latin typeface="Bahnschrift Light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Think about the process behind the data.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Combine into a model that can answer your question.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>
                <a:solidFill>
                  <a:srgbClr val="FFFF00"/>
                </a:solidFill>
                <a:latin typeface="Bahnschrift Light" panose="020B0502040204020203" pitchFamily="34" charset="0"/>
              </a:rPr>
              <a:t>Use the default link function or any valid alternative.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Fit the model.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Check your assumption(</a:t>
            </a:r>
            <a:r>
              <a:rPr lang="en-GB" dirty="0">
                <a:solidFill>
                  <a:srgbClr val="FFFF00"/>
                </a:solidFill>
                <a:latin typeface="Bahnschrift Light" panose="020B0502040204020203" pitchFamily="34" charset="0"/>
              </a:rPr>
              <a:t>s</a:t>
            </a:r>
            <a:r>
              <a:rPr lang="en-GB" dirty="0">
                <a:latin typeface="Bahnschrift Light" panose="020B0502040204020203" pitchFamily="34" charset="0"/>
              </a:rPr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Answer your question (but beware the Monkey’s Paw).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3166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522</Words>
  <Application>Microsoft Office PowerPoint</Application>
  <PresentationFormat>Widescreen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Bahnschrift Light</vt:lpstr>
      <vt:lpstr>Cambria Math</vt:lpstr>
      <vt:lpstr>Courier New</vt:lpstr>
      <vt:lpstr>sbs_template</vt:lpstr>
      <vt:lpstr>Introduction to GLMs</vt:lpstr>
      <vt:lpstr>Can we reduce blood pressure?</vt:lpstr>
      <vt:lpstr>Can we reduce blood pressure?</vt:lpstr>
      <vt:lpstr>What if our error is not Normal?</vt:lpstr>
      <vt:lpstr>Changing distributions</vt:lpstr>
      <vt:lpstr>Allowing suitable randomness</vt:lpstr>
      <vt:lpstr>https://deonroos.shinyapps.io/Distributions/ </vt:lpstr>
      <vt:lpstr>Link functions</vt:lpstr>
      <vt:lpstr>The missing link</vt:lpstr>
      <vt:lpstr>Why use link function</vt:lpstr>
      <vt:lpstr>The missing link</vt:lpstr>
      <vt:lpstr>GLMs; oversimplified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4</cp:revision>
  <dcterms:created xsi:type="dcterms:W3CDTF">2024-07-26T12:34:26Z</dcterms:created>
  <dcterms:modified xsi:type="dcterms:W3CDTF">2024-09-13T09:33:19Z</dcterms:modified>
</cp:coreProperties>
</file>