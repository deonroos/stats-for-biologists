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307" r:id="rId3"/>
    <p:sldId id="311" r:id="rId4"/>
    <p:sldId id="308" r:id="rId5"/>
    <p:sldId id="309" r:id="rId6"/>
    <p:sldId id="310" r:id="rId7"/>
    <p:sldId id="312" r:id="rId8"/>
    <p:sldId id="313" r:id="rId9"/>
    <p:sldId id="314" r:id="rId10"/>
    <p:sldId id="315" r:id="rId11"/>
    <p:sldId id="316" r:id="rId12"/>
    <p:sldId id="317" r:id="rId13"/>
    <p:sldId id="305" r:id="rId14"/>
    <p:sldId id="30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B01288-9136-467D-9DC0-9664A6086215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AAD0B0-2BE5-4CCA-8A87-668A11EBE3C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8276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9f8dfbc3a1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9f8dfbc3a1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4218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6814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91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704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5600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4707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3804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3233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731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021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7825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770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9364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4F88-8AA3-F83B-E332-1B67C54BC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5237BD-17F5-D5CE-9243-50470C860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B1F86-7278-C9F6-E3C0-C274D9FC4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BFC96-C5AD-4B8C-B2E4-AF6E6CF7ECBA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B199A-E121-CBDF-3180-0EAB590AF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D1A4-E347-04C0-0E70-49706B98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8351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658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4BFC96-C5AD-4B8C-B2E4-AF6E6CF7ECBA}" type="datetimeFigureOut">
              <a:rPr lang="en-GB" smtClean="0"/>
              <a:t>05/08/2024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7925A-BB76-4D16-A27F-1856974403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54499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98D9C-DD53-AF2A-73CA-9B05550721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AIC &amp; NHST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C4908-BF8B-F6A0-3856-4F1F5F7108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Additions to Linear Models</a:t>
            </a:r>
          </a:p>
        </p:txBody>
      </p:sp>
    </p:spTree>
    <p:extLst>
      <p:ext uri="{BB962C8B-B14F-4D97-AF65-F5344CB8AC3E}">
        <p14:creationId xmlns:p14="http://schemas.microsoft.com/office/powerpoint/2010/main" val="935469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FD712-6B15-2451-9479-3F588889D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commonly used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0BE0A-8364-5600-57DF-D676A4E38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An (Akaike’s) Information Criterion</a:t>
            </a:r>
          </a:p>
          <a:p>
            <a:pPr lvl="1"/>
            <a:r>
              <a:rPr lang="en-GB" dirty="0"/>
              <a:t>AIC</a:t>
            </a:r>
          </a:p>
          <a:p>
            <a:r>
              <a:rPr lang="en-GB" dirty="0"/>
              <a:t>Null Hypothesis Significance Testing</a:t>
            </a:r>
          </a:p>
          <a:p>
            <a:pPr lvl="1"/>
            <a:r>
              <a:rPr lang="en-GB" dirty="0"/>
              <a:t>NHST</a:t>
            </a:r>
          </a:p>
          <a:p>
            <a:r>
              <a:rPr lang="en-GB" dirty="0"/>
              <a:t>Form two different paradigms (i.e. schools of thought)</a:t>
            </a:r>
          </a:p>
          <a:p>
            <a:r>
              <a:rPr lang="en-GB" dirty="0"/>
              <a:t>Both are misused frequently</a:t>
            </a:r>
          </a:p>
          <a:p>
            <a:r>
              <a:rPr lang="en-GB" dirty="0"/>
              <a:t>But are useful tools in specific circumstances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ABA56A2-35BF-8455-8129-31174849CDD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0110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10586-9949-B24C-486A-04C458CEC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Null Hypothesis Significance Testing</a:t>
            </a:r>
          </a:p>
        </p:txBody>
      </p:sp>
    </p:spTree>
    <p:extLst>
      <p:ext uri="{BB962C8B-B14F-4D97-AF65-F5344CB8AC3E}">
        <p14:creationId xmlns:p14="http://schemas.microsoft.com/office/powerpoint/2010/main" val="426392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966F4-61DB-2206-A799-D1DDD327F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65FC6-1568-023E-2E9F-E29AE7DD54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Which species of penguins are larger?</a:t>
            </a:r>
          </a:p>
          <a:p>
            <a:r>
              <a:rPr lang="en-GB" dirty="0"/>
              <a:t>Under NHST, we rephrase our question to a hypothesis (or statement) that we attempt to reject</a:t>
            </a:r>
          </a:p>
          <a:p>
            <a:r>
              <a:rPr lang="en-GB" dirty="0"/>
              <a:t>“There is </a:t>
            </a:r>
            <a:r>
              <a:rPr lang="en-GB" b="1" dirty="0">
                <a:solidFill>
                  <a:srgbClr val="FFFF00"/>
                </a:solidFill>
              </a:rPr>
              <a:t>no</a:t>
            </a:r>
            <a:r>
              <a:rPr lang="en-GB" dirty="0"/>
              <a:t> difference in size between the three species of penguins”</a:t>
            </a:r>
          </a:p>
          <a:p>
            <a:r>
              <a:rPr lang="en-GB" dirty="0"/>
              <a:t>We now set out to disprove this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DA49049-FCF3-724A-DC8C-2B33DC07A38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753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E61AD-1DE5-725B-1522-BCB33D83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so negative?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CB3B7-CC55-43E6-8F4A-EFDE96A48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NHST closely follows a philosophy of science described by Karl Popper</a:t>
            </a:r>
          </a:p>
          <a:p>
            <a:r>
              <a:rPr lang="en-GB" dirty="0"/>
              <a:t>Popper sought to distinguish between “science” and “pseudo-science”</a:t>
            </a:r>
          </a:p>
          <a:p>
            <a:r>
              <a:rPr lang="en-GB" dirty="0"/>
              <a:t>They argued that “science” tries to prove itself wrong, while “pseudo-science” tries to prove itself right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75025EA-54DE-2567-B59C-649CE34C75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450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E61AD-1DE5-725B-1522-BCB33D83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so negative?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4CB3B7-CC55-43E6-8F4A-EFDE96A48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we cannot prove that we are wrong, then we assume we are right</a:t>
            </a:r>
          </a:p>
          <a:p>
            <a:r>
              <a:rPr lang="en-GB" dirty="0"/>
              <a:t>Keeping in mind that new data might come along that might change this</a:t>
            </a:r>
          </a:p>
          <a:p>
            <a:r>
              <a:rPr lang="en-GB" dirty="0"/>
              <a:t>When people refer to the “scientific method”, this is generally what they mean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75025EA-54DE-2567-B59C-649CE34C75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504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45EB2-422E-8273-202C-3C5DAC610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P-values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2DED4-73A4-3A8D-43CE-F31AE4678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Using null hypotheses requires some metric to say if the null is more likely to be wrong or right</a:t>
            </a:r>
          </a:p>
          <a:p>
            <a:r>
              <a:rPr lang="en-GB" dirty="0"/>
              <a:t>P-values quantify the probability that a value is different to zero</a:t>
            </a:r>
          </a:p>
          <a:p>
            <a:r>
              <a:rPr lang="en-GB" dirty="0"/>
              <a:t>Basically, a P-value is the probability that two values are different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0CFC7A9-9CDD-6792-96DF-D76486BA68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6607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DC8ACED-3CB1-4C12-164C-4906C7026A1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level</a:t>
                </a:r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DC8ACED-3CB1-4C12-164C-4906C7026A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D27ED-04A7-5356-D5A4-9B65A66E2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Getting a P-value does not quite get us to NHST</a:t>
            </a:r>
          </a:p>
          <a:p>
            <a:r>
              <a:rPr lang="en-GB" dirty="0"/>
              <a:t>For that, we need some threshold for a probability which we deem to be meaningful</a:t>
            </a:r>
          </a:p>
          <a:p>
            <a:r>
              <a:rPr lang="en-GB" dirty="0"/>
              <a:t>Choice is entirely arbitrary</a:t>
            </a:r>
          </a:p>
          <a:p>
            <a:r>
              <a:rPr lang="en-GB" dirty="0"/>
              <a:t>But researchers tend to fixate (incorrectly) on a threshold of 5%</a:t>
            </a:r>
          </a:p>
          <a:p>
            <a:pPr lvl="1"/>
            <a:r>
              <a:rPr lang="en-GB" dirty="0"/>
              <a:t>I.e. there is a 5% chance that the two values are the same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85AB75A-690D-4645-2F96-1737A3B352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81224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B5089E2-BB20-D90F-2A74-219E5D0950E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=0.05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B5089E2-BB20-D90F-2A74-219E5D0950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6B6B7F-6C8B-3E40-80B8-CFD283B682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To be very, very clear</a:t>
                </a:r>
              </a:p>
              <a:p>
                <a:r>
                  <a:rPr lang="en-GB" dirty="0"/>
                  <a:t>Putting the threshold at 5% (or P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GB" dirty="0"/>
                  <a:t> 0.05) is completely arbitrary</a:t>
                </a:r>
              </a:p>
              <a:p>
                <a:r>
                  <a:rPr lang="en-GB" dirty="0"/>
                  <a:t>There is zero (!) statistical rationale for this</a:t>
                </a:r>
              </a:p>
              <a:p>
                <a:r>
                  <a:rPr lang="en-GB" dirty="0"/>
                  <a:t>Could be as dumb as we have 5 fingers on one hand, so let’s set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 to 5%</a:t>
                </a:r>
              </a:p>
              <a:p>
                <a:r>
                  <a:rPr lang="en-GB" dirty="0"/>
                  <a:t>The person who developed this method even warned that 5% should not be thought of as being meaningful </a:t>
                </a:r>
              </a:p>
              <a:p>
                <a:pPr lvl="1"/>
                <a:r>
                  <a:rPr lang="en-GB" dirty="0"/>
                  <a:t>Yet people still 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n-GB" dirty="0"/>
                  <a:t> blindly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6B6B7F-6C8B-3E40-80B8-CFD283B682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70" t="-1047" r="-3343" b="-6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13F86DE-156A-5AE5-590D-4FAD8F33707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9899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37DEB-A8B5-72E5-C970-ACAE2019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Steps to use NHST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B915F-3459-F447-7D19-AF5FF460A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Run your model as you normally would</a:t>
            </a:r>
          </a:p>
          <a:p>
            <a:r>
              <a:rPr lang="en-GB" dirty="0"/>
              <a:t>Pull the summary information up</a:t>
            </a:r>
          </a:p>
          <a:p>
            <a:r>
              <a:rPr lang="en-GB" dirty="0"/>
              <a:t>Check the P-values for each parameter</a:t>
            </a:r>
          </a:p>
          <a:p>
            <a:r>
              <a:rPr lang="en-GB" dirty="0"/>
              <a:t>See which are below 0.05</a:t>
            </a:r>
          </a:p>
          <a:p>
            <a:r>
              <a:rPr lang="en-GB" dirty="0"/>
              <a:t>These are “significant”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A4CAE5-4469-2178-2F34-8E54B204B2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3368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39755-B19C-E22A-4F86-037A61230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Information Criterion</a:t>
            </a:r>
          </a:p>
        </p:txBody>
      </p:sp>
    </p:spTree>
    <p:extLst>
      <p:ext uri="{BB962C8B-B14F-4D97-AF65-F5344CB8AC3E}">
        <p14:creationId xmlns:p14="http://schemas.microsoft.com/office/powerpoint/2010/main" val="1264772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D9F97-0544-3B24-C570-38C58F4F6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B26BF-C98C-5EA9-01A2-8B55EF557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DA91D6B-8C54-4D73-F03C-3C35F4D2216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74119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312335-CA1A-76C0-D2D3-BF1F58A8E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 anchor="ctr"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First amongst equals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Google Shape;371;p39">
                <a:extLst>
                  <a:ext uri="{FF2B5EF4-FFF2-40B4-BE49-F238E27FC236}">
                    <a16:creationId xmlns:a16="http://schemas.microsoft.com/office/drawing/2014/main" id="{5394189B-7847-4829-B059-EDBDC6134D1F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415598" y="1484183"/>
                <a:ext cx="10333083" cy="5170385"/>
              </a:xfrm>
              <a:prstGeom prst="rect">
                <a:avLst/>
              </a:prstGeom>
            </p:spPr>
            <p:txBody>
              <a:bodyPr spcFirstLastPara="1" vert="horz" wrap="square" lIns="121900" tIns="121900" rIns="121900" bIns="121900" rtlCol="0" anchor="t" anchorCtr="0">
                <a:no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Bahnschrift Light" panose="020B0502040204020203" pitchFamily="34" charset="0"/>
                  </a:rPr>
                  <a:t>Three broad purposes of statistics:</a:t>
                </a:r>
              </a:p>
              <a:p>
                <a:pPr marL="457200" indent="-457200"/>
                <a:r>
                  <a:rPr lang="en-US" dirty="0">
                    <a:latin typeface="Bahnschrift Light" panose="020B0502040204020203" pitchFamily="34" charset="0"/>
                  </a:rPr>
                  <a:t>Causal inference</a:t>
                </a:r>
              </a:p>
              <a:p>
                <a:pPr marL="457200" indent="-457200"/>
                <a:r>
                  <a:rPr lang="en-US" dirty="0">
                    <a:latin typeface="Bahnschrift Light" panose="020B0502040204020203" pitchFamily="34" charset="0"/>
                  </a:rPr>
                  <a:t>Prediction</a:t>
                </a:r>
              </a:p>
              <a:p>
                <a:pPr marL="457200" indent="-457200"/>
                <a:r>
                  <a:rPr lang="en-US" dirty="0">
                    <a:latin typeface="Bahnschrift Light" panose="020B0502040204020203" pitchFamily="34" charset="0"/>
                  </a:rPr>
                  <a:t>Descriptive</a:t>
                </a:r>
              </a:p>
              <a:p>
                <a:pPr marL="0" indent="0">
                  <a:buNone/>
                </a:pPr>
                <a:endParaRPr lang="en-US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Bahnschrift Light" panose="020B0502040204020203" pitchFamily="34" charset="0"/>
                  </a:rPr>
                  <a:t>Who do you think won the 2021 Japanese election?</a:t>
                </a:r>
              </a:p>
              <a:p>
                <a:pPr marL="0" indent="0">
                  <a:buNone/>
                </a:pPr>
                <a:endParaRPr lang="en-US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Bahnschrift Light" panose="020B0502040204020203" pitchFamily="34" charset="0"/>
                  </a:rPr>
                  <a:t>LDM have won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=95%</m:t>
                    </m:r>
                  </m:oMath>
                </a14:m>
                <a:r>
                  <a:rPr lang="en-US" dirty="0">
                    <a:latin typeface="Bahnschrift Light" panose="020B0502040204020203" pitchFamily="34" charset="0"/>
                  </a:rPr>
                  <a:t> (95% chance to win 2021).</a:t>
                </a:r>
              </a:p>
              <a:p>
                <a:pPr marL="0" indent="0">
                  <a:buNone/>
                </a:pPr>
                <a:br>
                  <a:rPr lang="en-GB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𝑅𝑒𝑠𝑢𝑙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𝐷𝑖𝑠𝑡𝑟𝑖𝑏𝑢𝑡𝑖𝑜𝑛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GB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𝑅𝑒𝑑</m:t>
                          </m:r>
                        </m:e>
                        <m:sub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2" name="Google Shape;371;p39">
                <a:extLst>
                  <a:ext uri="{FF2B5EF4-FFF2-40B4-BE49-F238E27FC236}">
                    <a16:creationId xmlns:a16="http://schemas.microsoft.com/office/drawing/2014/main" id="{5394189B-7847-4829-B059-EDBDC6134D1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15598" y="1484183"/>
                <a:ext cx="10333083" cy="5170385"/>
              </a:xfrm>
              <a:prstGeom prst="rect">
                <a:avLst/>
              </a:prstGeom>
              <a:blipFill>
                <a:blip r:embed="rId3"/>
                <a:stretch>
                  <a:fillRect l="-885" t="-58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5983E3B-9ABE-4ABE-9135-B7859F6FB01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1761" t="2313" r="26607"/>
          <a:stretch/>
        </p:blipFill>
        <p:spPr>
          <a:xfrm>
            <a:off x="10652129" y="158620"/>
            <a:ext cx="1418253" cy="669938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B4F1A5C-4319-88DF-75BF-2E9B01EDA594}"/>
              </a:ext>
            </a:extLst>
          </p:cNvPr>
          <p:cNvGrpSpPr/>
          <p:nvPr/>
        </p:nvGrpSpPr>
        <p:grpSpPr>
          <a:xfrm>
            <a:off x="3768914" y="1971948"/>
            <a:ext cx="3114301" cy="1200329"/>
            <a:chOff x="3801795" y="3854877"/>
            <a:chExt cx="3114301" cy="1200329"/>
          </a:xfrm>
        </p:grpSpPr>
        <p:sp>
          <p:nvSpPr>
            <p:cNvPr id="6" name="Right Brace 5">
              <a:extLst>
                <a:ext uri="{FF2B5EF4-FFF2-40B4-BE49-F238E27FC236}">
                  <a16:creationId xmlns:a16="http://schemas.microsoft.com/office/drawing/2014/main" id="{D93CE428-D551-3EAF-F325-FF1EEFB4E06E}"/>
                </a:ext>
              </a:extLst>
            </p:cNvPr>
            <p:cNvSpPr/>
            <p:nvPr/>
          </p:nvSpPr>
          <p:spPr>
            <a:xfrm>
              <a:off x="3801795" y="3923414"/>
              <a:ext cx="180754" cy="1063256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2797B1-A8CA-202E-52FE-2A53A02756C7}"/>
                </a:ext>
              </a:extLst>
            </p:cNvPr>
            <p:cNvSpPr txBox="1"/>
            <p:nvPr/>
          </p:nvSpPr>
          <p:spPr>
            <a:xfrm>
              <a:off x="4151631" y="3854877"/>
              <a:ext cx="276446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latin typeface="Bahnschrift Light" panose="020B0502040204020203" pitchFamily="34" charset="0"/>
                </a:rPr>
                <a:t>Linear models and GLMs can do all three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94BC44A-5C24-99DA-9764-5595AED1BE61}"/>
              </a:ext>
            </a:extLst>
          </p:cNvPr>
          <p:cNvSpPr txBox="1"/>
          <p:nvPr/>
        </p:nvSpPr>
        <p:spPr>
          <a:xfrm>
            <a:off x="2170324" y="6192903"/>
            <a:ext cx="7442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Bahnschrift Light" panose="020B0502040204020203" pitchFamily="34" charset="0"/>
              </a:rPr>
              <a:t>The model does not know it’s purpose, only you do.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6228FA-2B1D-90D3-2D5C-BC63E0BFCC28}"/>
              </a:ext>
            </a:extLst>
          </p:cNvPr>
          <p:cNvSpPr/>
          <p:nvPr/>
        </p:nvSpPr>
        <p:spPr>
          <a:xfrm>
            <a:off x="10582275" y="158620"/>
            <a:ext cx="1488107" cy="4033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325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uiExpand="1" build="p"/>
      <p:bldP spid="10" grpId="0"/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A962E-623F-4A33-9271-D822D9C9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763600"/>
          </a:xfrm>
        </p:spPr>
        <p:txBody>
          <a:bodyPr/>
          <a:lstStyle/>
          <a:p>
            <a:pPr algn="ctr"/>
            <a:r>
              <a:rPr lang="en-GB" dirty="0"/>
              <a:t>A family of confusion</a:t>
            </a:r>
          </a:p>
        </p:txBody>
      </p:sp>
      <p:grpSp>
        <p:nvGrpSpPr>
          <p:cNvPr id="95" name="Group 94">
            <a:extLst>
              <a:ext uri="{FF2B5EF4-FFF2-40B4-BE49-F238E27FC236}">
                <a16:creationId xmlns:a16="http://schemas.microsoft.com/office/drawing/2014/main" id="{14BD0FBE-1901-44C1-B2BF-04A0F26F2F78}"/>
              </a:ext>
            </a:extLst>
          </p:cNvPr>
          <p:cNvGrpSpPr/>
          <p:nvPr/>
        </p:nvGrpSpPr>
        <p:grpSpPr>
          <a:xfrm>
            <a:off x="7302365" y="1107020"/>
            <a:ext cx="2088545" cy="2126089"/>
            <a:chOff x="5476773" y="830264"/>
            <a:chExt cx="1566409" cy="1594567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E6A70E16-FEC9-4152-B419-97B35E22CD42}"/>
                </a:ext>
              </a:extLst>
            </p:cNvPr>
            <p:cNvGrpSpPr/>
            <p:nvPr/>
          </p:nvGrpSpPr>
          <p:grpSpPr>
            <a:xfrm>
              <a:off x="5476773" y="1341040"/>
              <a:ext cx="1566409" cy="1083791"/>
              <a:chOff x="6155850" y="1341040"/>
              <a:chExt cx="1566409" cy="1083791"/>
            </a:xfrm>
          </p:grpSpPr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33F65E5-54E3-4F6D-8E50-D41D0D93A99A}"/>
                  </a:ext>
                </a:extLst>
              </p:cNvPr>
              <p:cNvSpPr/>
              <p:nvPr/>
            </p:nvSpPr>
            <p:spPr>
              <a:xfrm>
                <a:off x="7287658" y="2021511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39613A30-CEA7-43EB-9DD4-31A2596A3525}"/>
                  </a:ext>
                </a:extLst>
              </p:cNvPr>
              <p:cNvSpPr/>
              <p:nvPr/>
            </p:nvSpPr>
            <p:spPr>
              <a:xfrm>
                <a:off x="6155850" y="2021511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4B801E74-A95D-44EA-B4DF-54DAACC4A3E1}"/>
                  </a:ext>
                </a:extLst>
              </p:cNvPr>
              <p:cNvSpPr/>
              <p:nvPr/>
            </p:nvSpPr>
            <p:spPr>
              <a:xfrm>
                <a:off x="6725536" y="1341040"/>
                <a:ext cx="434601" cy="403319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Z</a:t>
                </a: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A41A44C1-653D-4DC3-8B5B-5B648C14E08A}"/>
                  </a:ext>
                </a:extLst>
              </p:cNvPr>
              <p:cNvCxnSpPr>
                <a:stCxn id="32" idx="5"/>
                <a:endCxn id="28" idx="1"/>
              </p:cNvCxnSpPr>
              <p:nvPr/>
            </p:nvCxnSpPr>
            <p:spPr>
              <a:xfrm>
                <a:off x="7096491" y="1685294"/>
                <a:ext cx="254813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6AE978E5-F091-4821-96C6-B724F076F9B2}"/>
                  </a:ext>
                </a:extLst>
              </p:cNvPr>
              <p:cNvCxnSpPr>
                <a:stCxn id="30" idx="7"/>
                <a:endCxn id="32" idx="3"/>
              </p:cNvCxnSpPr>
              <p:nvPr/>
            </p:nvCxnSpPr>
            <p:spPr>
              <a:xfrm flipV="1">
                <a:off x="6526806" y="1685294"/>
                <a:ext cx="262376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9C42D1A-BCCF-453E-9579-4AFC9AB8A212}"/>
                </a:ext>
              </a:extLst>
            </p:cNvPr>
            <p:cNvSpPr txBox="1"/>
            <p:nvPr/>
          </p:nvSpPr>
          <p:spPr>
            <a:xfrm>
              <a:off x="5991889" y="830264"/>
              <a:ext cx="589345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Pipe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354C2958-F320-4C48-A8CA-5C868A94C0AF}"/>
              </a:ext>
            </a:extLst>
          </p:cNvPr>
          <p:cNvGrpSpPr/>
          <p:nvPr/>
        </p:nvGrpSpPr>
        <p:grpSpPr>
          <a:xfrm>
            <a:off x="4701277" y="1116175"/>
            <a:ext cx="2088545" cy="2137851"/>
            <a:chOff x="3525957" y="837131"/>
            <a:chExt cx="1566409" cy="1603388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ADABC815-811B-49C9-992B-C158E810C735}"/>
                </a:ext>
              </a:extLst>
            </p:cNvPr>
            <p:cNvGrpSpPr/>
            <p:nvPr/>
          </p:nvGrpSpPr>
          <p:grpSpPr>
            <a:xfrm>
              <a:off x="3525957" y="1356728"/>
              <a:ext cx="1566409" cy="1083791"/>
              <a:chOff x="4205034" y="1356728"/>
              <a:chExt cx="1566409" cy="1083791"/>
            </a:xfrm>
          </p:grpSpPr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5C522C8-ABFA-4058-9BAE-C456C9C05CF4}"/>
                  </a:ext>
                </a:extLst>
              </p:cNvPr>
              <p:cNvSpPr/>
              <p:nvPr/>
            </p:nvSpPr>
            <p:spPr>
              <a:xfrm>
                <a:off x="5336842" y="2037199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AD059DA1-CEFB-4BBD-A284-532D2AC070BD}"/>
                  </a:ext>
                </a:extLst>
              </p:cNvPr>
              <p:cNvSpPr/>
              <p:nvPr/>
            </p:nvSpPr>
            <p:spPr>
              <a:xfrm>
                <a:off x="4205034" y="2037199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A4066AC-A54A-467D-88E0-DF35BA925149}"/>
                  </a:ext>
                </a:extLst>
              </p:cNvPr>
              <p:cNvSpPr/>
              <p:nvPr/>
            </p:nvSpPr>
            <p:spPr>
              <a:xfrm>
                <a:off x="4774720" y="1356728"/>
                <a:ext cx="434601" cy="403319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Z</a:t>
                </a:r>
              </a:p>
            </p:txBody>
          </p: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A75A2A15-38D9-4ED3-93A0-ADB28A204398}"/>
                  </a:ext>
                </a:extLst>
              </p:cNvPr>
              <p:cNvCxnSpPr>
                <a:stCxn id="20" idx="3"/>
                <a:endCxn id="19" idx="7"/>
              </p:cNvCxnSpPr>
              <p:nvPr/>
            </p:nvCxnSpPr>
            <p:spPr>
              <a:xfrm flipH="1">
                <a:off x="4575990" y="1700982"/>
                <a:ext cx="262376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28B291C2-904F-4007-89AA-0095EB52F029}"/>
                  </a:ext>
                </a:extLst>
              </p:cNvPr>
              <p:cNvCxnSpPr>
                <a:stCxn id="20" idx="5"/>
                <a:endCxn id="18" idx="1"/>
              </p:cNvCxnSpPr>
              <p:nvPr/>
            </p:nvCxnSpPr>
            <p:spPr>
              <a:xfrm>
                <a:off x="5145675" y="1700982"/>
                <a:ext cx="254813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4B113D6-8AAE-4097-851A-4EC467169931}"/>
                </a:ext>
              </a:extLst>
            </p:cNvPr>
            <p:cNvSpPr txBox="1"/>
            <p:nvPr/>
          </p:nvSpPr>
          <p:spPr>
            <a:xfrm>
              <a:off x="4041874" y="837131"/>
              <a:ext cx="614591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Fork</a:t>
              </a:r>
            </a:p>
          </p:txBody>
        </p:sp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8ED9010-4665-484F-8E6C-DA3A0A970AC1}"/>
              </a:ext>
            </a:extLst>
          </p:cNvPr>
          <p:cNvGrpSpPr/>
          <p:nvPr/>
        </p:nvGrpSpPr>
        <p:grpSpPr>
          <a:xfrm>
            <a:off x="4701276" y="4003391"/>
            <a:ext cx="2088545" cy="2203955"/>
            <a:chOff x="3525957" y="3002543"/>
            <a:chExt cx="1566409" cy="1652966"/>
          </a:xfrm>
        </p:grpSpPr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80F3DDA8-C395-407E-9906-32803A28160A}"/>
                </a:ext>
              </a:extLst>
            </p:cNvPr>
            <p:cNvGrpSpPr/>
            <p:nvPr/>
          </p:nvGrpSpPr>
          <p:grpSpPr>
            <a:xfrm>
              <a:off x="3525957" y="3571718"/>
              <a:ext cx="1566409" cy="1083791"/>
              <a:chOff x="4205034" y="3383452"/>
              <a:chExt cx="1566409" cy="1083791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2E45509B-490B-4D1A-9F28-C9A5842BB263}"/>
                  </a:ext>
                </a:extLst>
              </p:cNvPr>
              <p:cNvSpPr/>
              <p:nvPr/>
            </p:nvSpPr>
            <p:spPr>
              <a:xfrm>
                <a:off x="5336842" y="4063923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36BE5D0A-4C42-4390-AE7C-F0ED68019773}"/>
                  </a:ext>
                </a:extLst>
              </p:cNvPr>
              <p:cNvSpPr/>
              <p:nvPr/>
            </p:nvSpPr>
            <p:spPr>
              <a:xfrm>
                <a:off x="4205034" y="4063923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1F01C355-0AE3-4E43-B31E-6F67F82CCD9D}"/>
                  </a:ext>
                </a:extLst>
              </p:cNvPr>
              <p:cNvSpPr/>
              <p:nvPr/>
            </p:nvSpPr>
            <p:spPr>
              <a:xfrm>
                <a:off x="4774720" y="3383452"/>
                <a:ext cx="434601" cy="403319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Z</a:t>
                </a:r>
              </a:p>
            </p:txBody>
          </p: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ADC4F697-437D-4542-850E-E5CD624387BF}"/>
                  </a:ext>
                </a:extLst>
              </p:cNvPr>
              <p:cNvCxnSpPr>
                <a:stCxn id="24" idx="7"/>
                <a:endCxn id="25" idx="3"/>
              </p:cNvCxnSpPr>
              <p:nvPr/>
            </p:nvCxnSpPr>
            <p:spPr>
              <a:xfrm flipV="1">
                <a:off x="4575990" y="3727706"/>
                <a:ext cx="262376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D75AC29F-F300-4106-B39B-5A6067C1B02E}"/>
                  </a:ext>
                </a:extLst>
              </p:cNvPr>
              <p:cNvCxnSpPr>
                <a:stCxn id="23" idx="1"/>
                <a:endCxn id="25" idx="5"/>
              </p:cNvCxnSpPr>
              <p:nvPr/>
            </p:nvCxnSpPr>
            <p:spPr>
              <a:xfrm flipH="1" flipV="1">
                <a:off x="5145675" y="3727706"/>
                <a:ext cx="254813" cy="39528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B55EC461-1B4D-48D9-9BB9-A14CB9D35624}"/>
                </a:ext>
              </a:extLst>
            </p:cNvPr>
            <p:cNvSpPr txBox="1"/>
            <p:nvPr/>
          </p:nvSpPr>
          <p:spPr>
            <a:xfrm>
              <a:off x="3916253" y="3002543"/>
              <a:ext cx="947615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Collider</a:t>
              </a: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F5E09E6D-8182-477A-BD15-6D9591EDBFCB}"/>
              </a:ext>
            </a:extLst>
          </p:cNvPr>
          <p:cNvGrpSpPr/>
          <p:nvPr/>
        </p:nvGrpSpPr>
        <p:grpSpPr>
          <a:xfrm>
            <a:off x="2105497" y="1107019"/>
            <a:ext cx="2088545" cy="2147005"/>
            <a:chOff x="1579122" y="830264"/>
            <a:chExt cx="1566409" cy="1610254"/>
          </a:xfrm>
        </p:grpSpPr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DB27D496-C095-4342-98D0-7DFBB84BDDDE}"/>
                </a:ext>
              </a:extLst>
            </p:cNvPr>
            <p:cNvGrpSpPr/>
            <p:nvPr/>
          </p:nvGrpSpPr>
          <p:grpSpPr>
            <a:xfrm>
              <a:off x="1579122" y="2037198"/>
              <a:ext cx="1566409" cy="403320"/>
              <a:chOff x="2258199" y="2037198"/>
              <a:chExt cx="1566409" cy="403320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8FBB8E71-E714-4C1E-A0D6-B82B425268CB}"/>
                  </a:ext>
                </a:extLst>
              </p:cNvPr>
              <p:cNvSpPr/>
              <p:nvPr/>
            </p:nvSpPr>
            <p:spPr>
              <a:xfrm>
                <a:off x="3390007" y="2037198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FCDD6CE4-68CF-47F3-9E4C-E6AA8659F717}"/>
                  </a:ext>
                </a:extLst>
              </p:cNvPr>
              <p:cNvSpPr/>
              <p:nvPr/>
            </p:nvSpPr>
            <p:spPr>
              <a:xfrm>
                <a:off x="2258199" y="2037198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CA601D8D-B31A-4808-9732-653AA3E5E614}"/>
                  </a:ext>
                </a:extLst>
              </p:cNvPr>
              <p:cNvCxnSpPr>
                <a:cxnSpLocks/>
                <a:stCxn id="57" idx="6"/>
                <a:endCxn id="56" idx="2"/>
              </p:cNvCxnSpPr>
              <p:nvPr/>
            </p:nvCxnSpPr>
            <p:spPr>
              <a:xfrm>
                <a:off x="2692801" y="2238858"/>
                <a:ext cx="69720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B5EA05AE-3093-4CAF-B304-8831AB0AEC87}"/>
                </a:ext>
              </a:extLst>
            </p:cNvPr>
            <p:cNvSpPr txBox="1"/>
            <p:nvPr/>
          </p:nvSpPr>
          <p:spPr>
            <a:xfrm>
              <a:off x="2032548" y="830264"/>
              <a:ext cx="680716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Truth</a:t>
              </a: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652350C0-6E90-4B50-B9CA-A1EB04836BE6}"/>
              </a:ext>
            </a:extLst>
          </p:cNvPr>
          <p:cNvGrpSpPr/>
          <p:nvPr/>
        </p:nvGrpSpPr>
        <p:grpSpPr>
          <a:xfrm>
            <a:off x="2074345" y="3999555"/>
            <a:ext cx="2101718" cy="2221236"/>
            <a:chOff x="1555759" y="2999666"/>
            <a:chExt cx="1576288" cy="1665927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269D0486-88B7-4726-BC32-815475763AFF}"/>
                </a:ext>
              </a:extLst>
            </p:cNvPr>
            <p:cNvGrpSpPr/>
            <p:nvPr/>
          </p:nvGrpSpPr>
          <p:grpSpPr>
            <a:xfrm>
              <a:off x="1555759" y="4262273"/>
              <a:ext cx="1566409" cy="403320"/>
              <a:chOff x="2234836" y="4074007"/>
              <a:chExt cx="1566409" cy="403320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2ACE33B8-C5A6-4F98-9755-0547D01854CB}"/>
                  </a:ext>
                </a:extLst>
              </p:cNvPr>
              <p:cNvSpPr/>
              <p:nvPr/>
            </p:nvSpPr>
            <p:spPr>
              <a:xfrm>
                <a:off x="3366644" y="4074007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040BF24B-65C1-4101-9092-AD49AD343F57}"/>
                  </a:ext>
                </a:extLst>
              </p:cNvPr>
              <p:cNvSpPr/>
              <p:nvPr/>
            </p:nvSpPr>
            <p:spPr>
              <a:xfrm>
                <a:off x="2234836" y="4074007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A5890CE-8281-4FD1-96C8-60F3F0094FC0}"/>
                </a:ext>
              </a:extLst>
            </p:cNvPr>
            <p:cNvSpPr txBox="1"/>
            <p:nvPr/>
          </p:nvSpPr>
          <p:spPr>
            <a:xfrm>
              <a:off x="1748014" y="2999666"/>
              <a:ext cx="1384033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Coincidence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9B8E94E-931F-4959-8839-F3CD81C64B46}"/>
              </a:ext>
            </a:extLst>
          </p:cNvPr>
          <p:cNvGrpSpPr/>
          <p:nvPr/>
        </p:nvGrpSpPr>
        <p:grpSpPr>
          <a:xfrm>
            <a:off x="7012630" y="4003390"/>
            <a:ext cx="2887030" cy="2234268"/>
            <a:chOff x="5259472" y="3002542"/>
            <a:chExt cx="2165272" cy="1675701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1572508C-6C04-477C-BEE0-69897BE62DF7}"/>
                </a:ext>
              </a:extLst>
            </p:cNvPr>
            <p:cNvGrpSpPr/>
            <p:nvPr/>
          </p:nvGrpSpPr>
          <p:grpSpPr>
            <a:xfrm>
              <a:off x="5259472" y="3482857"/>
              <a:ext cx="2165272" cy="1195386"/>
              <a:chOff x="5938549" y="3482857"/>
              <a:chExt cx="2165272" cy="1195386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6674F3F0-220D-4F18-B188-AAF77B01E2A1}"/>
                  </a:ext>
                </a:extLst>
              </p:cNvPr>
              <p:cNvSpPr/>
              <p:nvPr/>
            </p:nvSpPr>
            <p:spPr>
              <a:xfrm>
                <a:off x="7669220" y="3482857"/>
                <a:ext cx="434601" cy="403320"/>
              </a:xfrm>
              <a:prstGeom prst="ellipse">
                <a:avLst/>
              </a:prstGeom>
              <a:solidFill>
                <a:srgbClr val="434343"/>
              </a:solidFill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Y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2D53BDBE-54FC-442D-8CDE-41E6E793354A}"/>
                  </a:ext>
                </a:extLst>
              </p:cNvPr>
              <p:cNvSpPr/>
              <p:nvPr/>
            </p:nvSpPr>
            <p:spPr>
              <a:xfrm>
                <a:off x="5938549" y="3482858"/>
                <a:ext cx="434602" cy="403319"/>
              </a:xfrm>
              <a:prstGeom prst="ellipse">
                <a:avLst/>
              </a:prstGeom>
              <a:solidFill>
                <a:schemeClr val="accent5">
                  <a:lumMod val="50000"/>
                </a:schemeClr>
              </a:solidFill>
              <a:ln w="381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X</a:t>
                </a: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480A74BE-D5F4-4C32-9151-8EC13A98740A}"/>
                  </a:ext>
                </a:extLst>
              </p:cNvPr>
              <p:cNvSpPr/>
              <p:nvPr/>
            </p:nvSpPr>
            <p:spPr>
              <a:xfrm>
                <a:off x="6803885" y="3482859"/>
                <a:ext cx="434601" cy="403319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Z</a:t>
                </a:r>
              </a:p>
            </p:txBody>
          </p: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40013FDE-CAFD-45FF-82A7-CFFF72045FA6}"/>
                  </a:ext>
                </a:extLst>
              </p:cNvPr>
              <p:cNvCxnSpPr>
                <a:cxnSpLocks/>
                <a:stCxn id="43" idx="6"/>
                <a:endCxn id="44" idx="2"/>
              </p:cNvCxnSpPr>
              <p:nvPr/>
            </p:nvCxnSpPr>
            <p:spPr>
              <a:xfrm>
                <a:off x="6373151" y="3684518"/>
                <a:ext cx="430734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08C0A6E7-AF67-4C21-A2BF-5BBAE5D7F026}"/>
                  </a:ext>
                </a:extLst>
              </p:cNvPr>
              <p:cNvCxnSpPr>
                <a:stCxn id="44" idx="6"/>
                <a:endCxn id="42" idx="2"/>
              </p:cNvCxnSpPr>
              <p:nvPr/>
            </p:nvCxnSpPr>
            <p:spPr>
              <a:xfrm flipV="1">
                <a:off x="7238486" y="3684517"/>
                <a:ext cx="430734" cy="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0D74FCBD-9648-48D3-B3A4-8FB638E75F1C}"/>
                  </a:ext>
                </a:extLst>
              </p:cNvPr>
              <p:cNvSpPr/>
              <p:nvPr/>
            </p:nvSpPr>
            <p:spPr>
              <a:xfrm>
                <a:off x="6809961" y="4274924"/>
                <a:ext cx="434601" cy="403319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2400" dirty="0"/>
                  <a:t>V</a:t>
                </a:r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3517A162-BFD9-4153-959B-667DA7DA9D65}"/>
                  </a:ext>
                </a:extLst>
              </p:cNvPr>
              <p:cNvCxnSpPr>
                <a:stCxn id="44" idx="4"/>
                <a:endCxn id="53" idx="0"/>
              </p:cNvCxnSpPr>
              <p:nvPr/>
            </p:nvCxnSpPr>
            <p:spPr>
              <a:xfrm>
                <a:off x="7021186" y="3886178"/>
                <a:ext cx="6076" cy="38874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ACA1F83-E692-469A-A7E6-FE1A4F1BA5C1}"/>
                </a:ext>
              </a:extLst>
            </p:cNvPr>
            <p:cNvSpPr txBox="1"/>
            <p:nvPr/>
          </p:nvSpPr>
          <p:spPr>
            <a:xfrm>
              <a:off x="5772080" y="3002542"/>
              <a:ext cx="1353976" cy="3462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400" dirty="0"/>
                <a:t>Descendant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B6E6F98-52DE-4720-8926-DE231BDEF8E8}"/>
              </a:ext>
            </a:extLst>
          </p:cNvPr>
          <p:cNvGrpSpPr/>
          <p:nvPr/>
        </p:nvGrpSpPr>
        <p:grpSpPr>
          <a:xfrm>
            <a:off x="163861" y="1107019"/>
            <a:ext cx="4102415" cy="2227852"/>
            <a:chOff x="122895" y="830264"/>
            <a:chExt cx="3076811" cy="1670889"/>
          </a:xfrm>
        </p:grpSpPr>
        <p:sp>
          <p:nvSpPr>
            <p:cNvPr id="80" name="Rectangle: Rounded Corners 79">
              <a:extLst>
                <a:ext uri="{FF2B5EF4-FFF2-40B4-BE49-F238E27FC236}">
                  <a16:creationId xmlns:a16="http://schemas.microsoft.com/office/drawing/2014/main" id="{3F73FB6C-EC80-45BC-9808-2990E5D15689}"/>
                </a:ext>
              </a:extLst>
            </p:cNvPr>
            <p:cNvSpPr/>
            <p:nvPr/>
          </p:nvSpPr>
          <p:spPr>
            <a:xfrm>
              <a:off x="122895" y="1379358"/>
              <a:ext cx="1018793" cy="5727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/>
                <a:t>What we hope for</a:t>
              </a:r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2790BEF0-411A-4BD3-87C7-1727DA02977B}"/>
                </a:ext>
              </a:extLst>
            </p:cNvPr>
            <p:cNvSpPr/>
            <p:nvPr/>
          </p:nvSpPr>
          <p:spPr>
            <a:xfrm>
              <a:off x="1512643" y="830264"/>
              <a:ext cx="1687063" cy="1670889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CCED1CC3-FE97-4FDE-87A3-EADDCA37CBAA}"/>
                </a:ext>
              </a:extLst>
            </p:cNvPr>
            <p:cNvCxnSpPr>
              <a:stCxn id="81" idx="1"/>
              <a:endCxn id="80" idx="3"/>
            </p:cNvCxnSpPr>
            <p:nvPr/>
          </p:nvCxnSpPr>
          <p:spPr>
            <a:xfrm flipH="1" flipV="1">
              <a:off x="1141688" y="1665708"/>
              <a:ext cx="370955" cy="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8DC9AF6F-6644-4A08-A07D-5DFBEEE9F5EF}"/>
              </a:ext>
            </a:extLst>
          </p:cNvPr>
          <p:cNvGrpSpPr/>
          <p:nvPr/>
        </p:nvGrpSpPr>
        <p:grpSpPr>
          <a:xfrm>
            <a:off x="4347583" y="1107020"/>
            <a:ext cx="7765876" cy="5239993"/>
            <a:chOff x="3260687" y="830264"/>
            <a:chExt cx="5824407" cy="3929995"/>
          </a:xfrm>
        </p:grpSpPr>
        <p:sp>
          <p:nvSpPr>
            <p:cNvPr id="75" name="Rectangle: Rounded Corners 74">
              <a:extLst>
                <a:ext uri="{FF2B5EF4-FFF2-40B4-BE49-F238E27FC236}">
                  <a16:creationId xmlns:a16="http://schemas.microsoft.com/office/drawing/2014/main" id="{101F06F6-9CF0-4BED-B6A1-DDFB98A8F2E6}"/>
                </a:ext>
              </a:extLst>
            </p:cNvPr>
            <p:cNvSpPr/>
            <p:nvPr/>
          </p:nvSpPr>
          <p:spPr>
            <a:xfrm>
              <a:off x="7740388" y="2238857"/>
              <a:ext cx="1344706" cy="1117583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Different types of confounding relationships</a:t>
              </a:r>
            </a:p>
          </p:txBody>
        </p:sp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B908BFC6-17A6-4583-BAFE-110E79EB5CCA}"/>
                </a:ext>
              </a:extLst>
            </p:cNvPr>
            <p:cNvSpPr/>
            <p:nvPr/>
          </p:nvSpPr>
          <p:spPr>
            <a:xfrm>
              <a:off x="3260687" y="830264"/>
              <a:ext cx="4304191" cy="3929995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B0680D51-4539-4B60-8332-1E7F181C2CB4}"/>
                </a:ext>
              </a:extLst>
            </p:cNvPr>
            <p:cNvCxnSpPr>
              <a:cxnSpLocks/>
              <a:stCxn id="76" idx="3"/>
              <a:endCxn id="75" idx="1"/>
            </p:cNvCxnSpPr>
            <p:nvPr/>
          </p:nvCxnSpPr>
          <p:spPr>
            <a:xfrm>
              <a:off x="7564878" y="2795262"/>
              <a:ext cx="175510" cy="23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5F520EF-D276-4C68-A8C5-CBEACE0C6A1B}"/>
              </a:ext>
            </a:extLst>
          </p:cNvPr>
          <p:cNvGrpSpPr/>
          <p:nvPr/>
        </p:nvGrpSpPr>
        <p:grpSpPr>
          <a:xfrm>
            <a:off x="71737" y="3917577"/>
            <a:ext cx="4142879" cy="2429436"/>
            <a:chOff x="53802" y="2938182"/>
            <a:chExt cx="3107159" cy="1822077"/>
          </a:xfrm>
        </p:grpSpPr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21C3E82A-EE21-4D48-8BD5-B545464A0257}"/>
                </a:ext>
              </a:extLst>
            </p:cNvPr>
            <p:cNvSpPr/>
            <p:nvPr/>
          </p:nvSpPr>
          <p:spPr>
            <a:xfrm>
              <a:off x="1505919" y="2938182"/>
              <a:ext cx="1655042" cy="182207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400"/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EAB6EF53-E4B3-4A5C-AFF3-ABBE451F43DE}"/>
                </a:ext>
              </a:extLst>
            </p:cNvPr>
            <p:cNvSpPr/>
            <p:nvPr/>
          </p:nvSpPr>
          <p:spPr>
            <a:xfrm>
              <a:off x="53802" y="3564994"/>
              <a:ext cx="1121200" cy="572700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Associated by chance</a:t>
              </a:r>
            </a:p>
          </p:txBody>
        </p: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E23BD477-E813-49E7-AADC-A7F491CFD7AC}"/>
                </a:ext>
              </a:extLst>
            </p:cNvPr>
            <p:cNvCxnSpPr>
              <a:cxnSpLocks/>
              <a:stCxn id="87" idx="1"/>
              <a:endCxn id="88" idx="3"/>
            </p:cNvCxnSpPr>
            <p:nvPr/>
          </p:nvCxnSpPr>
          <p:spPr>
            <a:xfrm flipH="1">
              <a:off x="1175002" y="3849221"/>
              <a:ext cx="330917" cy="21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991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136</TotalTime>
  <Words>527</Words>
  <Application>Microsoft Office PowerPoint</Application>
  <PresentationFormat>Widescreen</PresentationFormat>
  <Paragraphs>87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Bahnschrift Light</vt:lpstr>
      <vt:lpstr>Cambria Math</vt:lpstr>
      <vt:lpstr>sbs_template</vt:lpstr>
      <vt:lpstr>AIC &amp; NHST</vt:lpstr>
      <vt:lpstr>Two commonly used methods</vt:lpstr>
      <vt:lpstr>Null Hypothesis Significance Testing</vt:lpstr>
      <vt:lpstr>Question</vt:lpstr>
      <vt:lpstr>Why so negative?</vt:lpstr>
      <vt:lpstr>Why so negative?</vt:lpstr>
      <vt:lpstr>P-values</vt:lpstr>
      <vt:lpstr>α level</vt:lpstr>
      <vt:lpstr>α=0.05</vt:lpstr>
      <vt:lpstr>Steps to use NHST</vt:lpstr>
      <vt:lpstr>Information Criterion</vt:lpstr>
      <vt:lpstr>PowerPoint Presentation</vt:lpstr>
      <vt:lpstr>First amongst equals</vt:lpstr>
      <vt:lpstr>A family of confusion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1</cp:revision>
  <dcterms:created xsi:type="dcterms:W3CDTF">2024-08-05T10:21:27Z</dcterms:created>
  <dcterms:modified xsi:type="dcterms:W3CDTF">2024-08-05T12:37:35Z</dcterms:modified>
</cp:coreProperties>
</file>