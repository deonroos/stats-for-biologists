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6" r:id="rId4"/>
    <p:sldId id="263" r:id="rId5"/>
    <p:sldId id="264" r:id="rId6"/>
    <p:sldId id="265" r:id="rId7"/>
    <p:sldId id="267" r:id="rId8"/>
    <p:sldId id="268" r:id="rId9"/>
    <p:sldId id="269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9" r:id="rId18"/>
    <p:sldId id="280" r:id="rId19"/>
    <p:sldId id="281" r:id="rId20"/>
    <p:sldId id="282" r:id="rId21"/>
    <p:sldId id="283" r:id="rId22"/>
    <p:sldId id="284" r:id="rId23"/>
    <p:sldId id="289" r:id="rId24"/>
    <p:sldId id="285" r:id="rId25"/>
    <p:sldId id="286" r:id="rId26"/>
    <p:sldId id="293" r:id="rId27"/>
    <p:sldId id="288" r:id="rId28"/>
    <p:sldId id="290" r:id="rId29"/>
    <p:sldId id="29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394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528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7865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2376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234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27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93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66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20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75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528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B74F6-5D01-8F06-2385-DCDD48FB8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02C9F-B031-59D3-E5D5-6F736939D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03FEE-055C-649A-5612-B705DDD1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11E72-E4E1-71A8-4D92-71D1C0BE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213F2-2AFA-CAE6-DC6B-05C64A14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724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81AEF-EFD0-49F0-8351-DBA5636B01C3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228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9CFB2-053D-8E30-78CA-C023B148A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Model diagnostics for linear models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3802A-D323-B4F6-EAE0-0FE7A1B05B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Beware the Monkey’s Paw</a:t>
            </a:r>
          </a:p>
        </p:txBody>
      </p:sp>
    </p:spTree>
    <p:extLst>
      <p:ext uri="{BB962C8B-B14F-4D97-AF65-F5344CB8AC3E}">
        <p14:creationId xmlns:p14="http://schemas.microsoft.com/office/powerpoint/2010/main" val="198521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F22234-C895-669A-318D-C34F6DC2D29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Assumption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𝑁𝑜𝑟𝑚𝑎𝑙𝑖𝑡𝑦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F22234-C895-669A-318D-C34F6DC2D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3825" b="-202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0E425DCF-D916-040C-5326-97168F418B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426613"/>
                <a:ext cx="6201295" cy="524019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We’re still fitting a model that assumes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/>
                  <a:t>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We still assume our residuals should be normally distributed,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Meaning:</a:t>
                </a:r>
              </a:p>
              <a:p>
                <a:pPr lvl="1"/>
                <a:r>
                  <a:rPr lang="en-GB" dirty="0"/>
                  <a:t>Observations should lie within the estimate standard deviation (SD)</a:t>
                </a:r>
              </a:p>
              <a:p>
                <a:pPr lvl="1"/>
                <a:r>
                  <a:rPr lang="en-GB" dirty="0"/>
                  <a:t>Ca. 69% should be within </a:t>
                </a:r>
                <a:r>
                  <a:rPr lang="en-GB" dirty="0">
                    <a:solidFill>
                      <a:srgbClr val="FF0000"/>
                    </a:solidFill>
                  </a:rPr>
                  <a:t>1 SD</a:t>
                </a:r>
              </a:p>
              <a:p>
                <a:pPr lvl="1"/>
                <a:r>
                  <a:rPr lang="en-GB" dirty="0"/>
                  <a:t>Ca. 95% should be within </a:t>
                </a:r>
                <a:r>
                  <a:rPr lang="en-GB" dirty="0">
                    <a:solidFill>
                      <a:srgbClr val="FF0000"/>
                    </a:solidFill>
                  </a:rPr>
                  <a:t>2 SD</a:t>
                </a:r>
              </a:p>
              <a:p>
                <a:pPr lvl="1"/>
                <a:r>
                  <a:rPr lang="en-GB" dirty="0"/>
                  <a:t>Ca. 97.5% should be within </a:t>
                </a:r>
                <a:r>
                  <a:rPr lang="en-GB" dirty="0">
                    <a:solidFill>
                      <a:srgbClr val="FF0000"/>
                    </a:solidFill>
                  </a:rPr>
                  <a:t>3 SD</a:t>
                </a:r>
              </a:p>
            </p:txBody>
          </p:sp>
        </mc:Choice>
        <mc:Fallback xmlns="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0E425DCF-D916-040C-5326-97168F418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26613"/>
                <a:ext cx="6201295" cy="5240194"/>
              </a:xfrm>
              <a:prstGeom prst="rect">
                <a:avLst/>
              </a:prstGeom>
              <a:blipFill>
                <a:blip r:embed="rId3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Content Placeholder 27" descr="A screen shot of a black screen&#10;&#10;Description automatically generated">
            <a:extLst>
              <a:ext uri="{FF2B5EF4-FFF2-40B4-BE49-F238E27FC236}">
                <a16:creationId xmlns:a16="http://schemas.microsoft.com/office/drawing/2014/main" id="{C28031A8-9983-6ABA-C39F-A02D2D396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189" y="0"/>
            <a:ext cx="5746812" cy="6851969"/>
          </a:xfrm>
        </p:spPr>
      </p:pic>
      <p:pic>
        <p:nvPicPr>
          <p:cNvPr id="32" name="Picture 31" descr="A screen shot of a black screen&#10;&#10;Description automatically generated">
            <a:extLst>
              <a:ext uri="{FF2B5EF4-FFF2-40B4-BE49-F238E27FC236}">
                <a16:creationId xmlns:a16="http://schemas.microsoft.com/office/drawing/2014/main" id="{39CBDBA5-7F85-1865-1C29-80876C885F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-6031"/>
            <a:ext cx="5751871" cy="6858000"/>
          </a:xfrm>
          <a:prstGeom prst="rect">
            <a:avLst/>
          </a:prstGeom>
        </p:spPr>
      </p:pic>
      <p:pic>
        <p:nvPicPr>
          <p:cNvPr id="36" name="Picture 35" descr="A screen shot of a graph&#10;&#10;Description automatically generated">
            <a:extLst>
              <a:ext uri="{FF2B5EF4-FFF2-40B4-BE49-F238E27FC236}">
                <a16:creationId xmlns:a16="http://schemas.microsoft.com/office/drawing/2014/main" id="{8E92E927-376F-FDE2-E97D-3F812CFAB9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8" y="0"/>
            <a:ext cx="5751871" cy="6858000"/>
          </a:xfrm>
          <a:prstGeom prst="rect">
            <a:avLst/>
          </a:prstGeom>
        </p:spPr>
      </p:pic>
      <p:pic>
        <p:nvPicPr>
          <p:cNvPr id="39" name="Picture 38" descr="A screen shot of a graph&#10;&#10;Description automatically generated">
            <a:extLst>
              <a:ext uri="{FF2B5EF4-FFF2-40B4-BE49-F238E27FC236}">
                <a16:creationId xmlns:a16="http://schemas.microsoft.com/office/drawing/2014/main" id="{FE4EC0BE-0C62-521D-7159-546F835ADD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6" y="0"/>
            <a:ext cx="5751871" cy="6858000"/>
          </a:xfrm>
          <a:prstGeom prst="rect">
            <a:avLst/>
          </a:prstGeom>
        </p:spPr>
      </p:pic>
      <p:pic>
        <p:nvPicPr>
          <p:cNvPr id="41" name="Picture 40" descr="A screenshot of a graph&#10;&#10;Description automatically generated">
            <a:extLst>
              <a:ext uri="{FF2B5EF4-FFF2-40B4-BE49-F238E27FC236}">
                <a16:creationId xmlns:a16="http://schemas.microsoft.com/office/drawing/2014/main" id="{636C6E24-0D62-1993-1B4B-BE1C60AC79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-6031"/>
            <a:ext cx="5751871" cy="6858000"/>
          </a:xfrm>
          <a:prstGeom prst="rect">
            <a:avLst/>
          </a:prstGeom>
        </p:spPr>
      </p:pic>
      <p:pic>
        <p:nvPicPr>
          <p:cNvPr id="43" name="Picture 42" descr="A screenshot of a screen&#10;&#10;Description automatically generated">
            <a:extLst>
              <a:ext uri="{FF2B5EF4-FFF2-40B4-BE49-F238E27FC236}">
                <a16:creationId xmlns:a16="http://schemas.microsoft.com/office/drawing/2014/main" id="{DD11E886-CE6B-EB47-6120-3DBA707086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-6031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5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n a black background&#10;&#10;Description automatically generated">
            <a:extLst>
              <a:ext uri="{FF2B5EF4-FFF2-40B4-BE49-F238E27FC236}">
                <a16:creationId xmlns:a16="http://schemas.microsoft.com/office/drawing/2014/main" id="{53D4EB3F-C5CA-9DC9-EF41-14BAC13FC5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51871" cy="6858000"/>
          </a:xfrm>
          <a:prstGeom prst="rect">
            <a:avLst/>
          </a:prstGeom>
        </p:spPr>
      </p:pic>
      <p:pic>
        <p:nvPicPr>
          <p:cNvPr id="9" name="Picture 8" descr="A screenshot of a screen&#10;&#10;Description automatically generated">
            <a:extLst>
              <a:ext uri="{FF2B5EF4-FFF2-40B4-BE49-F238E27FC236}">
                <a16:creationId xmlns:a16="http://schemas.microsoft.com/office/drawing/2014/main" id="{8F470286-C3F9-FBF1-A92B-E79DA8701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-6031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5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35E9-F84C-1AB6-2F20-C3851533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four horseman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9BC3-FB58-6CF4-D49A-5F092D68C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/>
              <a:t>Returns four diagnostics plots</a:t>
            </a:r>
          </a:p>
          <a:p>
            <a:r>
              <a:rPr lang="en-GB" dirty="0"/>
              <a:t>Are these the same as last week?</a:t>
            </a:r>
          </a:p>
        </p:txBody>
      </p:sp>
      <p:pic>
        <p:nvPicPr>
          <p:cNvPr id="6" name="Picture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FE9D985-8AC3-9C3B-CEEF-DB0BB83E8B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0" y="0"/>
            <a:ext cx="5832475" cy="6858000"/>
          </a:xfrm>
        </p:spPr>
      </p:pic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405167F-DDAE-0E49-31C3-4592327A1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7" y="0"/>
            <a:ext cx="574615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E84015-4B0A-1D79-6155-9AA05F4CA90F}"/>
              </a:ext>
            </a:extLst>
          </p:cNvPr>
          <p:cNvSpPr txBox="1"/>
          <p:nvPr/>
        </p:nvSpPr>
        <p:spPr>
          <a:xfrm>
            <a:off x="3130736" y="2966674"/>
            <a:ext cx="5930530" cy="64698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/>
              <a:t>Why are they slightly different?</a:t>
            </a:r>
          </a:p>
        </p:txBody>
      </p:sp>
    </p:spTree>
    <p:extLst>
      <p:ext uri="{BB962C8B-B14F-4D97-AF65-F5344CB8AC3E}">
        <p14:creationId xmlns:p14="http://schemas.microsoft.com/office/powerpoint/2010/main" val="344427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5" descr="A red and white graph&#10;&#10;Description automatically generated">
            <a:extLst>
              <a:ext uri="{FF2B5EF4-FFF2-40B4-BE49-F238E27FC236}">
                <a16:creationId xmlns:a16="http://schemas.microsoft.com/office/drawing/2014/main" id="{D3BD6AB8-CA1A-5B15-1FED-9D92C8E6C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0" y="0"/>
            <a:ext cx="5832475" cy="6858000"/>
          </a:xfrm>
          <a:prstGeom prst="rect">
            <a:avLst/>
          </a:prstGeom>
        </p:spPr>
      </p:pic>
      <p:pic>
        <p:nvPicPr>
          <p:cNvPr id="3" name="Picture 2" descr="A screenshot of a screen&#10;&#10;Description automatically generated">
            <a:extLst>
              <a:ext uri="{FF2B5EF4-FFF2-40B4-BE49-F238E27FC236}">
                <a16:creationId xmlns:a16="http://schemas.microsoft.com/office/drawing/2014/main" id="{0A1D09FE-5F3E-6CE8-C2BF-1AAE52C35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-6031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0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FE9D985-8AC3-9C3B-CEEF-DB0BB83E8B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27275" y="0"/>
            <a:ext cx="5832475" cy="6858000"/>
          </a:xfrm>
        </p:spPr>
      </p:pic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405167F-DDAE-0E49-31C3-4592327A1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7" y="0"/>
            <a:ext cx="5746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4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screen shot of a graph&#10;&#10;Description automatically generated">
            <a:extLst>
              <a:ext uri="{FF2B5EF4-FFF2-40B4-BE49-F238E27FC236}">
                <a16:creationId xmlns:a16="http://schemas.microsoft.com/office/drawing/2014/main" id="{0FDED07D-1CB7-078B-2083-5785F73769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" b="740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F342D2-ECE6-BD85-E861-F0FF5795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Fitted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2E718-2256-893A-EA88-4924F86B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Orientation:</a:t>
            </a:r>
          </a:p>
          <a:p>
            <a:pPr lvl="1"/>
            <a:r>
              <a:rPr lang="en-GB" dirty="0"/>
              <a:t>Y-axis: Residual error</a:t>
            </a:r>
          </a:p>
          <a:p>
            <a:pPr lvl="1"/>
            <a:r>
              <a:rPr lang="en-GB" dirty="0"/>
              <a:t>X-axis: Predicted (“Fitted”) values</a:t>
            </a:r>
          </a:p>
          <a:p>
            <a:pPr lvl="1"/>
            <a:r>
              <a:rPr lang="en-GB" dirty="0"/>
              <a:t>Dashed line at 0 residual is when our model perfectly predicts an observation</a:t>
            </a:r>
          </a:p>
          <a:p>
            <a:pPr lvl="1"/>
            <a:r>
              <a:rPr lang="en-GB" dirty="0"/>
              <a:t>Red line is a moving average</a:t>
            </a:r>
          </a:p>
          <a:p>
            <a:r>
              <a:rPr lang="en-GB" dirty="0"/>
              <a:t>Two “groups” because left is Peace (horns of 322 mm), right is Skeena (331 mm)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72EE2F-714A-3519-BA9F-9240E0788B79}"/>
              </a:ext>
            </a:extLst>
          </p:cNvPr>
          <p:cNvGrpSpPr/>
          <p:nvPr/>
        </p:nvGrpSpPr>
        <p:grpSpPr>
          <a:xfrm>
            <a:off x="7410450" y="742654"/>
            <a:ext cx="3732933" cy="1634490"/>
            <a:chOff x="6399447" y="4921250"/>
            <a:chExt cx="3732933" cy="16344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47EC84-3B4A-10CC-BCC1-A75D4D8B94C1}"/>
                </a:ext>
              </a:extLst>
            </p:cNvPr>
            <p:cNvSpPr txBox="1"/>
            <p:nvPr/>
          </p:nvSpPr>
          <p:spPr>
            <a:xfrm>
              <a:off x="7139042" y="4921250"/>
              <a:ext cx="2993338" cy="163449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Row 33 in dataset</a:t>
              </a:r>
            </a:p>
            <a:p>
              <a:r>
                <a:rPr lang="en-GB" dirty="0"/>
                <a:t>322 predicted horn length</a:t>
              </a:r>
            </a:p>
            <a:p>
              <a:r>
                <a:rPr lang="en-GB" dirty="0"/>
                <a:t>367 actual horn length</a:t>
              </a:r>
            </a:p>
            <a:p>
              <a:r>
                <a:rPr lang="en-GB" dirty="0"/>
                <a:t>45 residual error</a:t>
              </a:r>
            </a:p>
            <a:p>
              <a:r>
                <a:rPr lang="en-GB" dirty="0"/>
                <a:t>Horn length from 1975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DD132AF-0B08-271C-315D-54E48FDD659A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 flipV="1">
              <a:off x="6399447" y="5371602"/>
              <a:ext cx="739595" cy="3668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202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42D2-ECE6-BD85-E861-F0FF5795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Fitted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B2E718-2256-893A-EA88-4924F86B0A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What we want to see:</a:t>
                </a:r>
              </a:p>
              <a:p>
                <a:r>
                  <a:rPr lang="en-GB" dirty="0"/>
                  <a:t>Broadly equal spread of residuals for each Peace and Skeena</a:t>
                </a:r>
              </a:p>
              <a:p>
                <a:r>
                  <a:rPr lang="en-GB" dirty="0"/>
                  <a:t>Happy that it’s equal?</a:t>
                </a:r>
              </a:p>
              <a:p>
                <a:r>
                  <a:rPr lang="en-GB" dirty="0"/>
                  <a:t>Small dataset (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=58</m:t>
                    </m:r>
                  </m:oMath>
                </a14:m>
                <a:r>
                  <a:rPr lang="en-GB" dirty="0"/>
                  <a:t>), so matching assumptions perfectly very unlikely, even if there is no problem</a:t>
                </a:r>
              </a:p>
              <a:p>
                <a:r>
                  <a:rPr lang="en-GB" dirty="0"/>
                  <a:t>Model is suitable in my view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B2E718-2256-893A-EA88-4924F86B0A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28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Placeholder 11" descr="A screen shot of a graph&#10;&#10;Description automatically generated">
            <a:extLst>
              <a:ext uri="{FF2B5EF4-FFF2-40B4-BE49-F238E27FC236}">
                <a16:creationId xmlns:a16="http://schemas.microsoft.com/office/drawing/2014/main" id="{05DDE428-E4E0-C770-746E-66E868AD9EC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" b="740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pic>
        <p:nvPicPr>
          <p:cNvPr id="9" name="Picture 8" descr="A screenshot of a screen&#10;&#10;Description automatically generated">
            <a:extLst>
              <a:ext uri="{FF2B5EF4-FFF2-40B4-BE49-F238E27FC236}">
                <a16:creationId xmlns:a16="http://schemas.microsoft.com/office/drawing/2014/main" id="{B650A6BD-5FD5-68B2-C867-D5FF3D8B3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5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70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796A1AD-BD72-06EE-C3FF-71149BB9E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616"/>
            <a:ext cx="12192000" cy="5655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2454954" y="2272790"/>
            <a:ext cx="151293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Fine (</a:t>
            </a:r>
            <a:r>
              <a:rPr lang="en-GB" sz="2400" dirty="0" err="1"/>
              <a:t>ish</a:t>
            </a:r>
            <a:r>
              <a:rPr lang="en-GB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248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screen shot of a graph&#10;&#10;Description automatically generated">
            <a:extLst>
              <a:ext uri="{FF2B5EF4-FFF2-40B4-BE49-F238E27FC236}">
                <a16:creationId xmlns:a16="http://schemas.microsoft.com/office/drawing/2014/main" id="{7985ECD6-DC60-DC32-3C73-DE0FE8738C6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" b="740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977205-240C-42A4-A315-2B5B7C5B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Scale-Location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17EA51-5CD4-71F0-F27D-F4807D4702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Residuals (y-axis) are now:</a:t>
                </a:r>
              </a:p>
              <a:p>
                <a:pPr lvl="1"/>
                <a:r>
                  <a:rPr lang="en-GB" dirty="0"/>
                  <a:t>Standardised (divide by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Square rooted (all values are positive)</a:t>
                </a:r>
              </a:p>
              <a:p>
                <a:r>
                  <a:rPr lang="en-GB" dirty="0"/>
                  <a:t>We want to see two things here:</a:t>
                </a:r>
              </a:p>
              <a:p>
                <a:pPr lvl="1"/>
                <a:r>
                  <a:rPr lang="en-GB" dirty="0"/>
                  <a:t>Ca. 95% of Std. Residuals are &lt; 2</a:t>
                </a:r>
              </a:p>
              <a:p>
                <a:pPr lvl="1"/>
                <a:r>
                  <a:rPr lang="en-GB" dirty="0"/>
                  <a:t>Equal variations in groups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17EA51-5CD4-71F0-F27D-F4807D4702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 r="-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54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796A1AD-BD72-06EE-C3FF-71149BB9E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616"/>
            <a:ext cx="12192000" cy="5655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2454954" y="2272790"/>
            <a:ext cx="151293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Fine (</a:t>
            </a:r>
            <a:r>
              <a:rPr lang="en-GB" sz="2400" dirty="0" err="1"/>
              <a:t>ish</a:t>
            </a:r>
            <a:r>
              <a:rPr lang="en-GB" sz="24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4B4380-9D52-CBEF-C1C4-67BFDFADF6E4}"/>
              </a:ext>
            </a:extLst>
          </p:cNvPr>
          <p:cNvSpPr txBox="1"/>
          <p:nvPr/>
        </p:nvSpPr>
        <p:spPr>
          <a:xfrm>
            <a:off x="2746589" y="5144606"/>
            <a:ext cx="92966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Good</a:t>
            </a:r>
          </a:p>
        </p:txBody>
      </p:sp>
    </p:spTree>
    <p:extLst>
      <p:ext uri="{BB962C8B-B14F-4D97-AF65-F5344CB8AC3E}">
        <p14:creationId xmlns:p14="http://schemas.microsoft.com/office/powerpoint/2010/main" val="133164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7EA0-F7F1-1A3D-346A-8A8DECF4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Q-Q Residuals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0225B-D6D1-A2D4-995B-83F7D9A20B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assume our residuals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𝑁𝑜𝑟𝑚𝑎𝑙𝑙𝑦</m:t>
                    </m:r>
                  </m:oMath>
                </a14:m>
                <a:r>
                  <a:rPr lang="en-GB" dirty="0"/>
                  <a:t> distributed</a:t>
                </a:r>
              </a:p>
              <a:p>
                <a:r>
                  <a:rPr lang="en-GB" dirty="0"/>
                  <a:t>Y-axis are standardised residuals</a:t>
                </a:r>
              </a:p>
              <a:p>
                <a:pPr lvl="1"/>
                <a:r>
                  <a:rPr lang="en-GB" dirty="0"/>
                  <a:t>To 1 standard deviation</a:t>
                </a:r>
              </a:p>
              <a:p>
                <a:r>
                  <a:rPr lang="en-GB" dirty="0"/>
                  <a:t>X-axis are what we would assume, given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(0, 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𝑁𝑜𝑟𝑚𝑎𝑙𝑙𝑦</m:t>
                    </m:r>
                  </m:oMath>
                </a14:m>
                <a:r>
                  <a:rPr lang="en-GB" dirty="0"/>
                  <a:t> distributed, then points should mostly lie on the dashed line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0225B-D6D1-A2D4-995B-83F7D9A20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8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on a black background&#10;&#10;Description automatically generated">
            <a:extLst>
              <a:ext uri="{FF2B5EF4-FFF2-40B4-BE49-F238E27FC236}">
                <a16:creationId xmlns:a16="http://schemas.microsoft.com/office/drawing/2014/main" id="{2A4970A4-4366-FED3-C558-00AD4179D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51871" cy="6858000"/>
          </a:xfrm>
          <a:prstGeom prst="rect">
            <a:avLst/>
          </a:prstGeom>
        </p:spPr>
      </p:pic>
      <p:pic>
        <p:nvPicPr>
          <p:cNvPr id="14" name="Picture Placeholder 13" descr="A screen shot of a graph&#10;&#10;Description automatically generated">
            <a:extLst>
              <a:ext uri="{FF2B5EF4-FFF2-40B4-BE49-F238E27FC236}">
                <a16:creationId xmlns:a16="http://schemas.microsoft.com/office/drawing/2014/main" id="{DC9ED358-8DE2-9B68-91A2-0390A9692F9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" b="740"/>
          <a:stretch>
            <a:fillRect/>
          </a:stretch>
        </p:blipFill>
        <p:spPr/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92F39A3-5B9B-B869-74CF-1DC03656FAC4}"/>
              </a:ext>
            </a:extLst>
          </p:cNvPr>
          <p:cNvGrpSpPr/>
          <p:nvPr/>
        </p:nvGrpSpPr>
        <p:grpSpPr>
          <a:xfrm>
            <a:off x="3506680" y="826797"/>
            <a:ext cx="7981025" cy="682407"/>
            <a:chOff x="3506680" y="826797"/>
            <a:chExt cx="7981025" cy="682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DAE3500-9591-579E-5C3A-2F11CF42F056}"/>
                    </a:ext>
                  </a:extLst>
                </p:cNvPr>
                <p:cNvSpPr txBox="1"/>
                <p:nvPr/>
              </p:nvSpPr>
              <p:spPr>
                <a:xfrm>
                  <a:off x="5298673" y="826797"/>
                  <a:ext cx="3278704" cy="408623"/>
                </a:xfrm>
                <a:prstGeom prst="round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Assumed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</m:oMath>
                  </a14:m>
                  <a:r>
                    <a:rPr lang="en-GB" dirty="0"/>
                    <a:t> distribution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DAE3500-9591-579E-5C3A-2F11CF42F0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8673" y="826797"/>
                  <a:ext cx="3278704" cy="408623"/>
                </a:xfrm>
                <a:prstGeom prst="roundRect">
                  <a:avLst/>
                </a:prstGeom>
                <a:blipFill>
                  <a:blip r:embed="rId5"/>
                  <a:stretch>
                    <a:fillRect l="-741" t="-4348" r="-2407" b="-1449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8A4949C-94DE-7211-2BC2-BBBB138D37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6680" y="1031108"/>
              <a:ext cx="17919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E77C8C7-49A3-DEF0-F72F-3280D87A2093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8577377" y="1031109"/>
              <a:ext cx="2910328" cy="4780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7023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796A1AD-BD72-06EE-C3FF-71149BB9E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616"/>
            <a:ext cx="12192000" cy="5655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2454954" y="2272790"/>
            <a:ext cx="151293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Fine (</a:t>
            </a:r>
            <a:r>
              <a:rPr lang="en-GB" sz="2400" dirty="0" err="1"/>
              <a:t>ish</a:t>
            </a:r>
            <a:r>
              <a:rPr lang="en-GB" sz="24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4B4380-9D52-CBEF-C1C4-67BFDFADF6E4}"/>
              </a:ext>
            </a:extLst>
          </p:cNvPr>
          <p:cNvSpPr txBox="1"/>
          <p:nvPr/>
        </p:nvSpPr>
        <p:spPr>
          <a:xfrm>
            <a:off x="2746589" y="5144606"/>
            <a:ext cx="92966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Good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10D156-A5DC-7BBC-2062-39E8540709E3}"/>
              </a:ext>
            </a:extLst>
          </p:cNvPr>
          <p:cNvSpPr txBox="1"/>
          <p:nvPr/>
        </p:nvSpPr>
        <p:spPr>
          <a:xfrm>
            <a:off x="8909171" y="2272790"/>
            <a:ext cx="92966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Good</a:t>
            </a:r>
          </a:p>
        </p:txBody>
      </p:sp>
    </p:spTree>
    <p:extLst>
      <p:ext uri="{BB962C8B-B14F-4D97-AF65-F5344CB8AC3E}">
        <p14:creationId xmlns:p14="http://schemas.microsoft.com/office/powerpoint/2010/main" val="120637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 shot of a graph&#10;&#10;Description automatically generated">
            <a:extLst>
              <a:ext uri="{FF2B5EF4-FFF2-40B4-BE49-F238E27FC236}">
                <a16:creationId xmlns:a16="http://schemas.microsoft.com/office/drawing/2014/main" id="{586C85B5-3619-6FAE-DDBE-867E163FE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3" y="17860"/>
            <a:ext cx="5751871" cy="6858000"/>
          </a:xfrm>
          <a:prstGeom prst="rect">
            <a:avLst/>
          </a:prstGeom>
        </p:spPr>
      </p:pic>
      <p:pic>
        <p:nvPicPr>
          <p:cNvPr id="29" name="Picture 28" descr="A graph with a line and dots&#10;&#10;Description automatically generated">
            <a:extLst>
              <a:ext uri="{FF2B5EF4-FFF2-40B4-BE49-F238E27FC236}">
                <a16:creationId xmlns:a16="http://schemas.microsoft.com/office/drawing/2014/main" id="{50D41C2A-8B17-7318-9AA2-46C0643FB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-1786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F8F9D0-BCA8-A228-E187-6E4FFF827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79886-4A2A-8658-5FC8-52540C946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Last week we were looking for observations that had a disproportionate effect on the straight line</a:t>
            </a:r>
          </a:p>
          <a:p>
            <a:r>
              <a:rPr lang="en-GB" dirty="0"/>
              <a:t>We don’t have a straight line now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6CB0D80-B5A7-1C09-40E6-F54D9FCF0C68}"/>
              </a:ext>
            </a:extLst>
          </p:cNvPr>
          <p:cNvGrpSpPr/>
          <p:nvPr/>
        </p:nvGrpSpPr>
        <p:grpSpPr>
          <a:xfrm>
            <a:off x="9307912" y="4585930"/>
            <a:ext cx="2397082" cy="715089"/>
            <a:chOff x="10410422" y="2234446"/>
            <a:chExt cx="2388196" cy="715089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D9C8686-A364-D098-AF0D-CE4DD24708A2}"/>
                </a:ext>
              </a:extLst>
            </p:cNvPr>
            <p:cNvSpPr txBox="1"/>
            <p:nvPr/>
          </p:nvSpPr>
          <p:spPr>
            <a:xfrm>
              <a:off x="10410422" y="2234446"/>
              <a:ext cx="1776658" cy="715089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High Leverage</a:t>
              </a:r>
            </a:p>
            <a:p>
              <a:r>
                <a:rPr lang="en-GB" dirty="0"/>
                <a:t>High Influence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CE5255C-EF92-9B86-DF8D-70054F1BA343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2187080" y="2591991"/>
              <a:ext cx="6115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077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F9D0-BCA8-A228-E187-6E4FFF827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79886-4A2A-8658-5FC8-52540C946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Instead, we now check how our residuals are distributed according to standard deviation</a:t>
            </a:r>
          </a:p>
          <a:p>
            <a:pPr lvl="1"/>
            <a:r>
              <a:rPr lang="en-GB" dirty="0"/>
              <a:t>Ca. 69% should be within </a:t>
            </a:r>
            <a:r>
              <a:rPr lang="en-GB" dirty="0">
                <a:solidFill>
                  <a:srgbClr val="FF0000"/>
                </a:solidFill>
              </a:rPr>
              <a:t>1 SD</a:t>
            </a:r>
          </a:p>
          <a:p>
            <a:pPr lvl="1"/>
            <a:r>
              <a:rPr lang="en-GB" dirty="0"/>
              <a:t>Ca. 95% should be within </a:t>
            </a:r>
            <a:r>
              <a:rPr lang="en-GB" dirty="0">
                <a:solidFill>
                  <a:srgbClr val="FF0000"/>
                </a:solidFill>
              </a:rPr>
              <a:t>2 SD</a:t>
            </a:r>
          </a:p>
          <a:p>
            <a:pPr lvl="1"/>
            <a:r>
              <a:rPr lang="en-GB" dirty="0"/>
              <a:t>Ca. 97.5% should be within </a:t>
            </a:r>
            <a:r>
              <a:rPr lang="en-GB" dirty="0">
                <a:solidFill>
                  <a:srgbClr val="FF0000"/>
                </a:solidFill>
              </a:rPr>
              <a:t>3 SD</a:t>
            </a:r>
          </a:p>
          <a:p>
            <a:r>
              <a:rPr lang="en-GB" dirty="0"/>
              <a:t>Seems good</a:t>
            </a:r>
          </a:p>
        </p:txBody>
      </p:sp>
      <p:pic>
        <p:nvPicPr>
          <p:cNvPr id="5" name="Picture 4" descr="A screen shot of a graph&#10;&#10;Description automatically generated">
            <a:extLst>
              <a:ext uri="{FF2B5EF4-FFF2-40B4-BE49-F238E27FC236}">
                <a16:creationId xmlns:a16="http://schemas.microsoft.com/office/drawing/2014/main" id="{E9D0AABC-E71A-08ED-9F0E-4987DC2CE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842" y="0"/>
            <a:ext cx="5746158" cy="6858000"/>
          </a:xfrm>
          <a:prstGeom prst="rect">
            <a:avLst/>
          </a:prstGeom>
        </p:spPr>
      </p:pic>
      <p:pic>
        <p:nvPicPr>
          <p:cNvPr id="6" name="Picture 5" descr="A screenshot of a screen&#10;&#10;Description automatically generated">
            <a:extLst>
              <a:ext uri="{FF2B5EF4-FFF2-40B4-BE49-F238E27FC236}">
                <a16:creationId xmlns:a16="http://schemas.microsoft.com/office/drawing/2014/main" id="{3F1054BB-87B0-D757-6943-632F26447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1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796A1AD-BD72-06EE-C3FF-71149BB9E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616"/>
            <a:ext cx="12192000" cy="5655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2454954" y="2272790"/>
            <a:ext cx="151293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Fine (</a:t>
            </a:r>
            <a:r>
              <a:rPr lang="en-GB" sz="2400" dirty="0" err="1"/>
              <a:t>ish</a:t>
            </a:r>
            <a:r>
              <a:rPr lang="en-GB" sz="24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4B4380-9D52-CBEF-C1C4-67BFDFADF6E4}"/>
              </a:ext>
            </a:extLst>
          </p:cNvPr>
          <p:cNvSpPr txBox="1"/>
          <p:nvPr/>
        </p:nvSpPr>
        <p:spPr>
          <a:xfrm>
            <a:off x="2746589" y="5144606"/>
            <a:ext cx="92966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Good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10D156-A5DC-7BBC-2062-39E8540709E3}"/>
              </a:ext>
            </a:extLst>
          </p:cNvPr>
          <p:cNvSpPr txBox="1"/>
          <p:nvPr/>
        </p:nvSpPr>
        <p:spPr>
          <a:xfrm>
            <a:off x="8909171" y="2272790"/>
            <a:ext cx="92966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Good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5E84A4-82F0-EF7C-8AED-D2416FB4E519}"/>
              </a:ext>
            </a:extLst>
          </p:cNvPr>
          <p:cNvSpPr txBox="1"/>
          <p:nvPr/>
        </p:nvSpPr>
        <p:spPr>
          <a:xfrm>
            <a:off x="8909171" y="5144606"/>
            <a:ext cx="92966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Good</a:t>
            </a:r>
          </a:p>
        </p:txBody>
      </p:sp>
    </p:spTree>
    <p:extLst>
      <p:ext uri="{BB962C8B-B14F-4D97-AF65-F5344CB8AC3E}">
        <p14:creationId xmlns:p14="http://schemas.microsoft.com/office/powerpoint/2010/main" val="396778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CC69-E5F5-2D98-3C63-8A954030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Linear models with categorical variable: Full workflow example</a:t>
            </a:r>
          </a:p>
        </p:txBody>
      </p:sp>
    </p:spTree>
    <p:extLst>
      <p:ext uri="{BB962C8B-B14F-4D97-AF65-F5344CB8AC3E}">
        <p14:creationId xmlns:p14="http://schemas.microsoft.com/office/powerpoint/2010/main" val="368404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17F1-8622-E2E2-C93C-0F82FA82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watches the most Netflix?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68B16-900F-3D03-D7CF-1242FB6B8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Which “region” watched the most Netflix in 2022?</a:t>
            </a:r>
          </a:p>
          <a:p>
            <a:r>
              <a:rPr lang="en-GB" dirty="0"/>
              <a:t>Let’s find out:</a:t>
            </a:r>
          </a:p>
          <a:p>
            <a:pPr lvl="1"/>
            <a:r>
              <a:rPr lang="en-GB" dirty="0"/>
              <a:t>Average total time spent watching Netflix since opening account per country (response)</a:t>
            </a:r>
          </a:p>
          <a:p>
            <a:pPr lvl="1"/>
            <a:r>
              <a:rPr lang="en-GB" dirty="0"/>
              <a:t>Region (explanatory)</a:t>
            </a:r>
          </a:p>
        </p:txBody>
      </p:sp>
      <p:pic>
        <p:nvPicPr>
          <p:cNvPr id="12" name="Picture Placeholder 11" descr="A group of squares with different colors&#10;&#10;Description automatically generated">
            <a:extLst>
              <a:ext uri="{FF2B5EF4-FFF2-40B4-BE49-F238E27FC236}">
                <a16:creationId xmlns:a16="http://schemas.microsoft.com/office/drawing/2014/main" id="{ABB5D76A-0626-CE22-4D54-8A9A28933D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7" t="18969" r="25979" b="34192"/>
          <a:stretch/>
        </p:blipFill>
        <p:spPr>
          <a:xfrm>
            <a:off x="6359525" y="2159000"/>
            <a:ext cx="5832475" cy="2540000"/>
          </a:xfrm>
        </p:spPr>
      </p:pic>
    </p:spTree>
    <p:extLst>
      <p:ext uri="{BB962C8B-B14F-4D97-AF65-F5344CB8AC3E}">
        <p14:creationId xmlns:p14="http://schemas.microsoft.com/office/powerpoint/2010/main" val="258701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5A7CB-468A-8934-00AE-D1B288E1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Get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8C783E-4056-97C0-7FE9-B2B447D6FE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6359525" cy="5240194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Ensure data is in tabular form</a:t>
                </a:r>
              </a:p>
              <a:p>
                <a:r>
                  <a:rPr lang="en-GB" dirty="0"/>
                  <a:t>Each row represents the average from country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b="0" dirty="0"/>
                  <a:t>The 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th</m:t>
                        </m:r>
                      </m:sup>
                    </m:sSup>
                  </m:oMath>
                </a14:m>
                <a:r>
                  <a:rPr lang="en-GB" dirty="0"/>
                  <a:t> country”</a:t>
                </a:r>
              </a:p>
              <a:p>
                <a:r>
                  <a:rPr lang="en-GB" dirty="0"/>
                  <a:t>For each country, we have a measure of:</a:t>
                </a:r>
              </a:p>
              <a:p>
                <a:pPr lvl="1"/>
                <a:r>
                  <a:rPr lang="en-GB" dirty="0"/>
                  <a:t>Average Netflix time (minutes)</a:t>
                </a:r>
              </a:p>
              <a:p>
                <a:pPr lvl="1"/>
                <a:r>
                  <a:rPr lang="en-GB" dirty="0"/>
                  <a:t>The region each country is in</a:t>
                </a:r>
              </a:p>
              <a:p>
                <a:pPr marL="0" indent="0">
                  <a:buNone/>
                </a:pPr>
                <a:endParaRPr lang="en-GB" sz="2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net_dat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&lt;- read.csv(“</a:t>
                </a:r>
                <a:r>
                  <a:rPr lang="en-GB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file_path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”,</a:t>
                </a:r>
                <a:b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       header = TRUE)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8C783E-4056-97C0-7FE9-B2B447D6F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6359525" cy="5240194"/>
              </a:xfrm>
              <a:blipFill>
                <a:blip r:embed="rId2"/>
                <a:stretch>
                  <a:fillRect l="-1726" t="-17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F9D3AB1E-4157-C606-6FE5-D20B1D80D54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-9572"/>
          <a:stretch/>
        </p:blipFill>
        <p:spPr>
          <a:xfrm>
            <a:off x="6359525" y="0"/>
            <a:ext cx="5832475" cy="685800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F3E23C-F699-38E7-E7D3-408015C9D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640" y="1594798"/>
            <a:ext cx="5674245" cy="411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5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ED65133-F257-999A-B86D-36C3775449C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-868" t="-95823" r="-1" b="-96695"/>
          <a:stretch/>
        </p:blipFill>
        <p:spPr>
          <a:xfrm>
            <a:off x="6359525" y="0"/>
            <a:ext cx="5832475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021807-0483-8BA4-1538-8771D5B7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Explore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1E992-4CCE-CA04-4BEF-A423870FA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Explore the data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cc_dat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cc_dat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  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       y =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netflix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GB" dirty="0"/>
              <a:t>How reliable is the sampling?</a:t>
            </a:r>
          </a:p>
          <a:p>
            <a:r>
              <a:rPr lang="en-GB" dirty="0"/>
              <a:t>Foresee any issues for the analysis?</a:t>
            </a:r>
          </a:p>
        </p:txBody>
      </p:sp>
      <p:pic>
        <p:nvPicPr>
          <p:cNvPr id="11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8C775983-67F9-A5D4-D2E3-0861E5CD8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4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A58F7-80BB-5D30-9648-B75CB88B4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3: Fit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4686A-7776-C2AF-F61D-9F07A7EFC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Unless we see any issues, we can proceed to fitting a linear model</a:t>
            </a:r>
          </a:p>
          <a:p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net_mod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netflix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~ region,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    data =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net_dat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/>
              <a:t>Easiest step to do</a:t>
            </a:r>
          </a:p>
          <a:p>
            <a:r>
              <a:rPr lang="en-GB" dirty="0"/>
              <a:t>Keep in mind how groups are handled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1B34D70-8FCD-3E65-B539-6F276F762F5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5981" r="15981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6" name="Picture 5" descr="A screen shot of a black grid&#10;&#10;Description automatically generated">
            <a:extLst>
              <a:ext uri="{FF2B5EF4-FFF2-40B4-BE49-F238E27FC236}">
                <a16:creationId xmlns:a16="http://schemas.microsoft.com/office/drawing/2014/main" id="{98430C6B-76CE-D9A5-E6F9-4A4359FB3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AE52412-A7CE-4EE1-74CF-7F254312AC76}"/>
              </a:ext>
            </a:extLst>
          </p:cNvPr>
          <p:cNvGrpSpPr/>
          <p:nvPr/>
        </p:nvGrpSpPr>
        <p:grpSpPr>
          <a:xfrm>
            <a:off x="7058992" y="399169"/>
            <a:ext cx="888385" cy="5682542"/>
            <a:chOff x="7523102" y="422983"/>
            <a:chExt cx="888385" cy="56825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FD157EF-3B3D-792F-9711-424F63005BE1}"/>
                    </a:ext>
                  </a:extLst>
                </p:cNvPr>
                <p:cNvSpPr txBox="1"/>
                <p:nvPr/>
              </p:nvSpPr>
              <p:spPr>
                <a:xfrm>
                  <a:off x="7523102" y="2806483"/>
                  <a:ext cx="88838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30000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FD157EF-3B3D-792F-9711-424F63005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3102" y="2806483"/>
                  <a:ext cx="888385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CA9682E-57BA-2849-FA81-1DEA47CC56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71417" y="422983"/>
              <a:ext cx="40070" cy="5682542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7C4D1B-A8E3-C1FB-076B-D9C284E297D3}"/>
              </a:ext>
            </a:extLst>
          </p:cNvPr>
          <p:cNvGrpSpPr/>
          <p:nvPr/>
        </p:nvGrpSpPr>
        <p:grpSpPr>
          <a:xfrm>
            <a:off x="8128751" y="329719"/>
            <a:ext cx="1061509" cy="3808586"/>
            <a:chOff x="7413758" y="4231569"/>
            <a:chExt cx="1061509" cy="38085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E04926C-2D33-A4E4-F71A-6A9E332237B0}"/>
                    </a:ext>
                  </a:extLst>
                </p:cNvPr>
                <p:cNvSpPr txBox="1"/>
                <p:nvPr/>
              </p:nvSpPr>
              <p:spPr>
                <a:xfrm>
                  <a:off x="7413758" y="5812696"/>
                  <a:ext cx="106150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−20000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E04926C-2D33-A4E4-F71A-6A9E33223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3758" y="5812696"/>
                  <a:ext cx="1061509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FB4BE02-03F2-3050-D20A-7D36AD47AB18}"/>
                </a:ext>
              </a:extLst>
            </p:cNvPr>
            <p:cNvCxnSpPr>
              <a:cxnSpLocks/>
            </p:cNvCxnSpPr>
            <p:nvPr/>
          </p:nvCxnSpPr>
          <p:spPr>
            <a:xfrm>
              <a:off x="8371417" y="4231569"/>
              <a:ext cx="0" cy="380858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FEEEF6-8602-3543-4180-1477DB627EFC}"/>
                  </a:ext>
                </a:extLst>
              </p:cNvPr>
              <p:cNvSpPr txBox="1"/>
              <p:nvPr/>
            </p:nvSpPr>
            <p:spPr>
              <a:xfrm>
                <a:off x="9380734" y="191353"/>
                <a:ext cx="9089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FEEEF6-8602-3543-4180-1477DB627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734" y="191353"/>
                <a:ext cx="908902" cy="369332"/>
              </a:xfrm>
              <a:prstGeom prst="rect">
                <a:avLst/>
              </a:prstGeom>
              <a:blipFill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102D41DD-8B5D-4AED-1BFE-F0E765733332}"/>
              </a:ext>
            </a:extLst>
          </p:cNvPr>
          <p:cNvGrpSpPr/>
          <p:nvPr/>
        </p:nvGrpSpPr>
        <p:grpSpPr>
          <a:xfrm>
            <a:off x="10461963" y="329719"/>
            <a:ext cx="1061509" cy="2864421"/>
            <a:chOff x="7416285" y="4185269"/>
            <a:chExt cx="1061509" cy="28644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EEC056A-B9F8-CCF7-28A9-1FFA6D21FB48}"/>
                    </a:ext>
                  </a:extLst>
                </p:cNvPr>
                <p:cNvSpPr txBox="1"/>
                <p:nvPr/>
              </p:nvSpPr>
              <p:spPr>
                <a:xfrm>
                  <a:off x="7416285" y="5181113"/>
                  <a:ext cx="106150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−15000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EEC056A-B9F8-CCF7-28A9-1FFA6D21FB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6285" y="5181113"/>
                  <a:ext cx="1061509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A3B2D4C-C46E-3DD1-B539-14DB7184DC14}"/>
                </a:ext>
              </a:extLst>
            </p:cNvPr>
            <p:cNvCxnSpPr>
              <a:cxnSpLocks/>
            </p:cNvCxnSpPr>
            <p:nvPr/>
          </p:nvCxnSpPr>
          <p:spPr>
            <a:xfrm>
              <a:off x="8371417" y="4185269"/>
              <a:ext cx="0" cy="2864421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738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EB3B-F52C-1B6A-79FB-F39DD1DF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Diagnose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DD8CA2-16CF-C394-6C13-2CFE76286A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With model run, we need to check for the Monkey’s Paw</a:t>
                </a:r>
              </a:p>
              <a:p>
                <a:r>
                  <a:rPr lang="en-GB" dirty="0"/>
                  <a:t>Check diagnostics</a:t>
                </a:r>
              </a:p>
              <a:p>
                <a:r>
                  <a:rPr lang="en-GB" dirty="0"/>
                  <a:t>Note that with multiple categories, we get the Leverage plot again</a:t>
                </a:r>
              </a:p>
              <a:p>
                <a:r>
                  <a:rPr lang="en-GB" dirty="0"/>
                  <a:t>Any issues?</a:t>
                </a:r>
              </a:p>
              <a:p>
                <a:pPr lvl="1"/>
                <a:r>
                  <a:rPr lang="en-GB" dirty="0"/>
                  <a:t>Unequal variance?</a:t>
                </a:r>
              </a:p>
              <a:p>
                <a:pPr lvl="1"/>
                <a:r>
                  <a:rPr lang="en-GB" dirty="0"/>
                  <a:t>Starting to stretch that assumption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𝑁𝑜𝑟𝑚𝑎𝑙𝑙𝑦</m:t>
                    </m:r>
                  </m:oMath>
                </a14:m>
                <a:r>
                  <a:rPr lang="en-GB" dirty="0"/>
                  <a:t> distributed residuals</a:t>
                </a:r>
              </a:p>
              <a:p>
                <a:pPr lvl="1"/>
                <a:r>
                  <a:rPr lang="en-GB" dirty="0"/>
                  <a:t>But tiny sample size</a:t>
                </a:r>
              </a:p>
              <a:p>
                <a:pPr lvl="1"/>
                <a:r>
                  <a:rPr lang="en-GB" dirty="0"/>
                  <a:t>Can we still proceed?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DD8CA2-16CF-C394-6C13-2CFE76286A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Placeholder 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EFD0A13-85B5-FC01-349D-262973942AB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" b="74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8679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EB3B-F52C-1B6A-79FB-F39DD1DF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5: Summarise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DD8CA2-16CF-C394-6C13-2CFE76286A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model has four parameters to estimate</a:t>
                </a:r>
              </a:p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summary(</a:t>
                </a:r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net_mod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=63848 </m:t>
                    </m:r>
                  </m:oMath>
                </a14:m>
                <a:r>
                  <a:rPr lang="en-GB" dirty="0"/>
                  <a:t>(Minutes in Africa)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=31052</m:t>
                    </m:r>
                  </m:oMath>
                </a14:m>
                <a:r>
                  <a:rPr lang="en-GB" dirty="0"/>
                  <a:t> (Difference with America)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−1576</m:t>
                    </m:r>
                  </m:oMath>
                </a14:m>
                <a:r>
                  <a:rPr lang="en-GB" dirty="0"/>
                  <a:t> (Difference with Asia)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−3847</m:t>
                    </m:r>
                  </m:oMath>
                </a14:m>
                <a:r>
                  <a:rPr lang="en-GB" dirty="0"/>
                  <a:t> (Difference with Europe)</a:t>
                </a:r>
              </a:p>
              <a:p>
                <a:r>
                  <a:rPr lang="en-GB" dirty="0"/>
                  <a:t>Which region watches the most television?</a:t>
                </a:r>
              </a:p>
              <a:p>
                <a:r>
                  <a:rPr lang="en-GB" dirty="0"/>
                  <a:t>Which region watches the least Netflix?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DD8CA2-16CF-C394-6C13-2CFE76286A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823482-A2F5-FAA3-1E6B-ABCA7CA830D2}"/>
              </a:ext>
            </a:extLst>
          </p:cNvPr>
          <p:cNvSpPr txBox="1">
            <a:spLocks/>
          </p:cNvSpPr>
          <p:nvPr/>
        </p:nvSpPr>
        <p:spPr>
          <a:xfrm>
            <a:off x="6201295" y="1325563"/>
            <a:ext cx="6201295" cy="5240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net_mod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netflix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~ region, data =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net_dat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Residuals: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Min     1Q Median     3Q    Max 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-36895  -8615   1316  12452  23877 </a:t>
            </a:r>
          </a:p>
          <a:p>
            <a:pPr marL="0" indent="0">
              <a:buNone/>
            </a:pPr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Estimate Std. Error t value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63848      10567   6.042 2.92e-07 ***</a:t>
            </a:r>
          </a:p>
          <a:p>
            <a:pPr marL="0" indent="0">
              <a:buNone/>
            </a:pP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regionAmerica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31052      11814   2.628   0.0118 *  </a:t>
            </a:r>
          </a:p>
          <a:p>
            <a:pPr marL="0" indent="0">
              <a:buNone/>
            </a:pP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regionAsia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-1576      12503  -0.126   0.9003    </a:t>
            </a:r>
          </a:p>
          <a:p>
            <a:pPr marL="0" indent="0">
              <a:buNone/>
            </a:pP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regionEurope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-3847      10882  -0.354   0.7254    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  <a:p>
            <a:pPr marL="0" indent="0">
              <a:buNone/>
            </a:pPr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14940 on 44 degrees of freedom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0.4471,	Adjusted R-squared:  0.4094 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11.86 on 3 and 44 DF,  p-value: 8.043e-06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95F61-D332-DD03-59CB-B1A472066EB9}"/>
              </a:ext>
            </a:extLst>
          </p:cNvPr>
          <p:cNvSpPr/>
          <p:nvPr/>
        </p:nvSpPr>
        <p:spPr>
          <a:xfrm>
            <a:off x="1443554" y="3026390"/>
            <a:ext cx="3472477" cy="40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002970-0D5E-E164-012C-5A5D4243142A}"/>
              </a:ext>
            </a:extLst>
          </p:cNvPr>
          <p:cNvSpPr/>
          <p:nvPr/>
        </p:nvSpPr>
        <p:spPr>
          <a:xfrm>
            <a:off x="1443554" y="3429000"/>
            <a:ext cx="4441198" cy="40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0F2404-B3F9-F84E-F700-1286DAEB1610}"/>
              </a:ext>
            </a:extLst>
          </p:cNvPr>
          <p:cNvSpPr/>
          <p:nvPr/>
        </p:nvSpPr>
        <p:spPr>
          <a:xfrm>
            <a:off x="1443554" y="3831610"/>
            <a:ext cx="4006632" cy="40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3B2736-C16E-CD21-E58A-50E3986BD9BC}"/>
              </a:ext>
            </a:extLst>
          </p:cNvPr>
          <p:cNvSpPr/>
          <p:nvPr/>
        </p:nvSpPr>
        <p:spPr>
          <a:xfrm>
            <a:off x="1443554" y="4234220"/>
            <a:ext cx="4441198" cy="40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0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8" grpId="0" animBg="1"/>
      <p:bldP spid="10" grpId="0" animBg="1"/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926D-8AF2-836A-D358-5F9D2594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6: Plot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9840-1B7F-4094-F2AB-01EC6C4C7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 model fit, we can now show the full predicted relationship</a:t>
            </a:r>
          </a:p>
          <a:p>
            <a:r>
              <a:rPr lang="en-GB" dirty="0"/>
              <a:t>Generate fake values of explanatory variable</a:t>
            </a:r>
          </a:p>
          <a:p>
            <a:r>
              <a:rPr lang="en-GB" dirty="0"/>
              <a:t>Use predict to apply equation to fake data</a:t>
            </a:r>
          </a:p>
          <a:p>
            <a:r>
              <a:rPr lang="en-GB" dirty="0"/>
              <a:t>Convert SE to 95% CI</a:t>
            </a:r>
          </a:p>
          <a:p>
            <a:r>
              <a:rPr lang="en-GB" dirty="0"/>
              <a:t>Plot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7E3F776-5F7A-2A4B-4961-102BC248BC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55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926D-8AF2-836A-D358-5F9D2594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6: Plot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9840-1B7F-4094-F2AB-01EC6C4C7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359525" cy="5240194"/>
          </a:xfrm>
        </p:spPr>
        <p:txBody>
          <a:bodyPr/>
          <a:lstStyle/>
          <a:p>
            <a:r>
              <a:rPr lang="en-GB" dirty="0"/>
              <a:t>With model fit, we can now show the full predicted relationship</a:t>
            </a:r>
          </a:p>
          <a:p>
            <a:r>
              <a:rPr lang="en-GB" dirty="0"/>
              <a:t>Generate fake values of explanatory variable</a:t>
            </a:r>
          </a:p>
          <a:p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fake &lt;-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region = unique(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net_dat$region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predict(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net_mod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    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newdata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fake,</a:t>
            </a:r>
            <a:b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    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D2D5270-9790-3BF1-BDAE-72E6CD85A95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-8044" t="-157569" r="-188446" b="-33197"/>
          <a:stretch/>
        </p:blipFill>
        <p:spPr>
          <a:xfrm>
            <a:off x="6359525" y="191193"/>
            <a:ext cx="5832475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A95F97-17E1-C4FB-3AD8-96F69A1A0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755" y="1426613"/>
            <a:ext cx="535305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79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926D-8AF2-836A-D358-5F9D2594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6: Plot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9840-1B7F-4094-F2AB-01EC6C4C7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359525" cy="5240194"/>
          </a:xfrm>
        </p:spPr>
        <p:txBody>
          <a:bodyPr/>
          <a:lstStyle/>
          <a:p>
            <a:pPr marL="0" indent="0">
              <a:buNone/>
            </a:pP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fake$fit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</a:t>
            </a:r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fake$low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prds$fit-prds$se.fit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 1.96</a:t>
            </a:r>
          </a:p>
          <a:p>
            <a:pPr marL="0" indent="0">
              <a:buNone/>
            </a:pP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fake$upp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prds$fit+prds$se.fit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 1.96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A95F97-17E1-C4FB-3AD8-96F69A1A0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5" y="1426613"/>
            <a:ext cx="5353050" cy="2152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540ABD-9DD2-0924-D3A6-C4709E409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155" y="4081262"/>
            <a:ext cx="5810250" cy="1809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84B56D8-FA1E-6CA1-2329-96AEC2C7C130}"/>
              </a:ext>
            </a:extLst>
          </p:cNvPr>
          <p:cNvSpPr/>
          <p:nvPr/>
        </p:nvSpPr>
        <p:spPr>
          <a:xfrm>
            <a:off x="7755467" y="3860800"/>
            <a:ext cx="1433689" cy="223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A0E7E4-8674-79AB-E6B3-E3A5C38C52C8}"/>
              </a:ext>
            </a:extLst>
          </p:cNvPr>
          <p:cNvSpPr/>
          <p:nvPr/>
        </p:nvSpPr>
        <p:spPr>
          <a:xfrm>
            <a:off x="9151409" y="3868537"/>
            <a:ext cx="1433689" cy="223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399CF9-3ECE-7DB6-083B-7927083B318B}"/>
              </a:ext>
            </a:extLst>
          </p:cNvPr>
          <p:cNvSpPr/>
          <p:nvPr/>
        </p:nvSpPr>
        <p:spPr>
          <a:xfrm>
            <a:off x="10585098" y="3876274"/>
            <a:ext cx="1606902" cy="223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120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1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926D-8AF2-836A-D358-5F9D2594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6: Plot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9840-1B7F-4094-F2AB-01EC6C4C7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With model fit, we can now show the full predicted relationship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(fake) +</a:t>
            </a:r>
            <a:b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x = region,</a:t>
            </a:r>
            <a:b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y = fit))</a:t>
            </a:r>
          </a:p>
          <a:p>
            <a:r>
              <a:rPr lang="en-GB" dirty="0"/>
              <a:t>Add the 95% CI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… +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geom_errorbar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low,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GB" dirty="0"/>
          </a:p>
        </p:txBody>
      </p:sp>
      <p:pic>
        <p:nvPicPr>
          <p:cNvPr id="9" name="Picture Placeholder 8" descr="A screen shot of a graph&#10;&#10;Description automatically generated">
            <a:extLst>
              <a:ext uri="{FF2B5EF4-FFF2-40B4-BE49-F238E27FC236}">
                <a16:creationId xmlns:a16="http://schemas.microsoft.com/office/drawing/2014/main" id="{457B7D88-F919-57FF-BA91-E4988BDF8F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11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25FE903E-B0DA-1F79-31CD-69F9C9096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8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graph&#10;&#10;Description automatically generated">
            <a:extLst>
              <a:ext uri="{FF2B5EF4-FFF2-40B4-BE49-F238E27FC236}">
                <a16:creationId xmlns:a16="http://schemas.microsoft.com/office/drawing/2014/main" id="{DD9CC4E1-55D2-D3EF-C737-EFD050E5A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6926A4-5728-77C8-7061-E97F6671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7: Discuss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3F94A-4F01-BFFE-CF9B-34149B100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43199"/>
            <a:ext cx="6201295" cy="3923607"/>
          </a:xfrm>
        </p:spPr>
        <p:txBody>
          <a:bodyPr/>
          <a:lstStyle/>
          <a:p>
            <a:r>
              <a:rPr lang="en-GB" dirty="0"/>
              <a:t>Do some regions watch more Netflix than others?</a:t>
            </a:r>
          </a:p>
          <a:p>
            <a:r>
              <a:rPr lang="en-GB" dirty="0"/>
              <a:t>How conclusive is our evidence?</a:t>
            </a:r>
          </a:p>
          <a:p>
            <a:pPr lvl="1"/>
            <a:r>
              <a:rPr lang="en-GB" dirty="0"/>
              <a:t>Are there any alternative ways to interpret the results?</a:t>
            </a:r>
          </a:p>
        </p:txBody>
      </p:sp>
      <p:pic>
        <p:nvPicPr>
          <p:cNvPr id="7" name="Picture Placeholder 11" descr="A group of squares with different colors&#10;&#10;Description automatically generated">
            <a:extLst>
              <a:ext uri="{FF2B5EF4-FFF2-40B4-BE49-F238E27FC236}">
                <a16:creationId xmlns:a16="http://schemas.microsoft.com/office/drawing/2014/main" id="{7149C4B1-7612-5AAC-2B77-84B7BC61D0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7" t="18969" r="25979" b="34192"/>
          <a:stretch/>
        </p:blipFill>
        <p:spPr>
          <a:xfrm>
            <a:off x="184409" y="1054477"/>
            <a:ext cx="5832475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27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2A75-D96B-11A8-1F25-1A629FC1B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00211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err="1"/>
              <a:t>tl;dr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Complete analysis in 27 lines of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634939-8DB6-D292-62AA-F4B655BC3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488" y="1145822"/>
            <a:ext cx="10625175" cy="571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6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423</TotalTime>
  <Words>1197</Words>
  <Application>Microsoft Office PowerPoint</Application>
  <PresentationFormat>Widescreen</PresentationFormat>
  <Paragraphs>168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Bahnschrift Light</vt:lpstr>
      <vt:lpstr>Cambria Math</vt:lpstr>
      <vt:lpstr>Courier New</vt:lpstr>
      <vt:lpstr>sbs_template</vt:lpstr>
      <vt:lpstr>Model diagnostics for linear models </vt:lpstr>
      <vt:lpstr>Assumption of Normality</vt:lpstr>
      <vt:lpstr>PowerPoint Presentation</vt:lpstr>
      <vt:lpstr>The four horseman</vt:lpstr>
      <vt:lpstr>PowerPoint Presentation</vt:lpstr>
      <vt:lpstr>PowerPoint Presentation</vt:lpstr>
      <vt:lpstr>Residuals vs Fitted</vt:lpstr>
      <vt:lpstr>Residuals vs Fitted</vt:lpstr>
      <vt:lpstr>The four horseman</vt:lpstr>
      <vt:lpstr>Scale-Location</vt:lpstr>
      <vt:lpstr>The four horseman</vt:lpstr>
      <vt:lpstr>Q-Q Residuals</vt:lpstr>
      <vt:lpstr>The four horseman</vt:lpstr>
      <vt:lpstr>Residuals vs Leverage</vt:lpstr>
      <vt:lpstr>Residuals vs Leverage</vt:lpstr>
      <vt:lpstr>The four horseman</vt:lpstr>
      <vt:lpstr>Linear models with categorical variable: Full workflow example</vt:lpstr>
      <vt:lpstr>Who watches the most Netflix?</vt:lpstr>
      <vt:lpstr>Step 1: Get data</vt:lpstr>
      <vt:lpstr>Step 2: Explore data</vt:lpstr>
      <vt:lpstr>Step 3: Fit model</vt:lpstr>
      <vt:lpstr>Step 4: Diagnose</vt:lpstr>
      <vt:lpstr>Step 5: Summarise</vt:lpstr>
      <vt:lpstr>Step 6: Plot predictions</vt:lpstr>
      <vt:lpstr>Step 6: Plot predictions</vt:lpstr>
      <vt:lpstr>Step 6: Plot predictions</vt:lpstr>
      <vt:lpstr>Step 6: Plot predictions</vt:lpstr>
      <vt:lpstr>Step 7: Discuss</vt:lpstr>
      <vt:lpstr>tl;dr  Complete analysis in 27 lines of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5</cp:revision>
  <dcterms:created xsi:type="dcterms:W3CDTF">2024-07-24T09:42:52Z</dcterms:created>
  <dcterms:modified xsi:type="dcterms:W3CDTF">2024-09-06T13:53:39Z</dcterms:modified>
</cp:coreProperties>
</file>