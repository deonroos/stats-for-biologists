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0" r:id="rId3"/>
    <p:sldId id="256" r:id="rId4"/>
    <p:sldId id="263" r:id="rId5"/>
    <p:sldId id="264" r:id="rId6"/>
    <p:sldId id="265" r:id="rId7"/>
    <p:sldId id="267" r:id="rId8"/>
    <p:sldId id="268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9" r:id="rId18"/>
    <p:sldId id="280" r:id="rId19"/>
    <p:sldId id="281" r:id="rId20"/>
    <p:sldId id="282" r:id="rId21"/>
    <p:sldId id="283" r:id="rId22"/>
    <p:sldId id="284" r:id="rId23"/>
    <p:sldId id="289" r:id="rId24"/>
    <p:sldId id="285" r:id="rId25"/>
    <p:sldId id="286" r:id="rId26"/>
    <p:sldId id="293" r:id="rId27"/>
    <p:sldId id="288" r:id="rId28"/>
    <p:sldId id="290" r:id="rId29"/>
    <p:sldId id="29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8:01:39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 24575,'-4'-5'0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8:01:42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8:01:42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8:01:43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8:01:43.5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  <inkml:trace contextRef="#ctx0" brushRef="#br0" timeOffset="1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42.2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43.3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44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48.7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49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24575,'-4'0'0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54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54.9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55.3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0 24575,'0'4'0,"0"10"0,0 20 0,0 4-8191</inkml:trace>
  <inkml:trace contextRef="#ctx0" brushRef="#br0" timeOffset="1">53 654 24575,'0'4'0,"0"10"0,-4 12 0,-6 9 0,-1 12 0,-3 19 0,1-2-8191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00:55.7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24575,'4'26'0,"2"8"-8191</inkml:trace>
  <inkml:trace contextRef="#ctx0" brushRef="#br0" timeOffset="1">151 503 24575,'0'4'0,"0"6"0,0 6 0,0 3 0,4 13 0,2 0-8191</inkml:trace>
  <inkml:trace contextRef="#ctx0" brushRef="#br0" timeOffset="2">529 1056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1:40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1:41.5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1:41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2:13.2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2:13.5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9T09:22:17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394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528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86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2376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234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279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93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2660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202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756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65286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B74F6-5D01-8F06-2385-DCDD48FB8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902C9F-B031-59D3-E5D5-6F736939D7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03FEE-055C-649A-5612-B705DDD1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11E72-E4E1-71A8-4D92-71D1C0BE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213F2-2AFA-CAE6-DC6B-05C64A14C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72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381AEF-EFD0-49F0-8351-DBA5636B01C3}" type="datetimeFigureOut">
              <a:rPr lang="en-GB" smtClean="0"/>
              <a:t>09/10/2024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C8C82-2753-46D1-945A-6F75A68A5B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7228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customXml" Target="../ink/ink4.xml"/><Relationship Id="rId18" Type="http://schemas.openxmlformats.org/officeDocument/2006/relationships/customXml" Target="../ink/ink9.xml"/><Relationship Id="rId3" Type="http://schemas.openxmlformats.org/officeDocument/2006/relationships/image" Target="../media/image29.png"/><Relationship Id="rId21" Type="http://schemas.openxmlformats.org/officeDocument/2006/relationships/customXml" Target="../ink/ink12.xml"/><Relationship Id="rId7" Type="http://schemas.openxmlformats.org/officeDocument/2006/relationships/image" Target="../media/image32.png"/><Relationship Id="rId12" Type="http://schemas.openxmlformats.org/officeDocument/2006/relationships/customXml" Target="../ink/ink3.xml"/><Relationship Id="rId17" Type="http://schemas.openxmlformats.org/officeDocument/2006/relationships/customXml" Target="../ink/ink8.xml"/><Relationship Id="rId25" Type="http://schemas.openxmlformats.org/officeDocument/2006/relationships/image" Target="../media/image36.png"/><Relationship Id="rId2" Type="http://schemas.openxmlformats.org/officeDocument/2006/relationships/image" Target="../media/image28.png"/><Relationship Id="rId16" Type="http://schemas.openxmlformats.org/officeDocument/2006/relationships/customXml" Target="../ink/ink7.xml"/><Relationship Id="rId20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customXml" Target="../ink/ink2.xml"/><Relationship Id="rId24" Type="http://schemas.openxmlformats.org/officeDocument/2006/relationships/customXml" Target="../ink/ink14.xml"/><Relationship Id="rId5" Type="http://schemas.openxmlformats.org/officeDocument/2006/relationships/image" Target="../media/image300.png"/><Relationship Id="rId15" Type="http://schemas.openxmlformats.org/officeDocument/2006/relationships/customXml" Target="../ink/ink6.xml"/><Relationship Id="rId23" Type="http://schemas.openxmlformats.org/officeDocument/2006/relationships/image" Target="../media/image35.png"/><Relationship Id="rId10" Type="http://schemas.openxmlformats.org/officeDocument/2006/relationships/image" Target="../media/image34.png"/><Relationship Id="rId19" Type="http://schemas.openxmlformats.org/officeDocument/2006/relationships/customXml" Target="../ink/ink10.xml"/><Relationship Id="rId4" Type="http://schemas.openxmlformats.org/officeDocument/2006/relationships/image" Target="../media/image30.png"/><Relationship Id="rId9" Type="http://schemas.openxmlformats.org/officeDocument/2006/relationships/customXml" Target="../ink/ink1.xml"/><Relationship Id="rId14" Type="http://schemas.openxmlformats.org/officeDocument/2006/relationships/customXml" Target="../ink/ink5.xml"/><Relationship Id="rId22" Type="http://schemas.openxmlformats.org/officeDocument/2006/relationships/customXml" Target="../ink/ink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8.xml"/><Relationship Id="rId3" Type="http://schemas.openxmlformats.org/officeDocument/2006/relationships/image" Target="../media/image42.png"/><Relationship Id="rId7" Type="http://schemas.openxmlformats.org/officeDocument/2006/relationships/customXml" Target="../ink/ink17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5" Type="http://schemas.openxmlformats.org/officeDocument/2006/relationships/image" Target="../media/image34.png"/><Relationship Id="rId10" Type="http://schemas.openxmlformats.org/officeDocument/2006/relationships/customXml" Target="../ink/ink20.xml"/><Relationship Id="rId4" Type="http://schemas.openxmlformats.org/officeDocument/2006/relationships/customXml" Target="../ink/ink15.xml"/><Relationship Id="rId9" Type="http://schemas.openxmlformats.org/officeDocument/2006/relationships/customXml" Target="../ink/ink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9CFB2-053D-8E30-78CA-C023B148A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diagnostics for linear models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3802A-D323-B4F6-EAE0-0FE7A1B05B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Beware the Monkey’s Paw</a:t>
            </a:r>
          </a:p>
        </p:txBody>
      </p:sp>
    </p:spTree>
    <p:extLst>
      <p:ext uri="{BB962C8B-B14F-4D97-AF65-F5344CB8AC3E}">
        <p14:creationId xmlns:p14="http://schemas.microsoft.com/office/powerpoint/2010/main" val="1985218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Assumption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𝑁𝑜𝑟𝑚𝑎𝑙𝑖𝑡𝑦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825"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We’re still fitting a model that assumes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𝑆𝑘𝑒𝑒𝑛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We still assume our residuals should be normally distributed,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Meaning:</a:t>
                </a:r>
              </a:p>
              <a:p>
                <a:pPr lvl="1"/>
                <a:r>
                  <a:rPr lang="en-GB" dirty="0"/>
                  <a:t>Observations should lie within the estimate standard deviation (SD)</a:t>
                </a:r>
              </a:p>
              <a:p>
                <a:pPr lvl="1"/>
                <a:r>
                  <a:rPr lang="en-GB" dirty="0"/>
                  <a:t>Ca. 69%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1 SD</a:t>
                </a:r>
              </a:p>
              <a:p>
                <a:pPr lvl="1"/>
                <a:r>
                  <a:rPr lang="en-GB" dirty="0"/>
                  <a:t>Ca. 95%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2 SD</a:t>
                </a:r>
              </a:p>
              <a:p>
                <a:pPr lvl="1"/>
                <a:r>
                  <a:rPr lang="en-GB" dirty="0"/>
                  <a:t>Ca. 97.5%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3 SD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  <a:blipFill>
                <a:blip r:embed="rId3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Content Placeholder 27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C28031A8-9983-6ABA-C39F-A02D2D396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89" y="0"/>
            <a:ext cx="5746812" cy="6851969"/>
          </a:xfrm>
        </p:spPr>
      </p:pic>
      <p:pic>
        <p:nvPicPr>
          <p:cNvPr id="32" name="Picture 31" descr="A screen shot of a black screen&#10;&#10;Description automatically generated">
            <a:extLst>
              <a:ext uri="{FF2B5EF4-FFF2-40B4-BE49-F238E27FC236}">
                <a16:creationId xmlns:a16="http://schemas.microsoft.com/office/drawing/2014/main" id="{39CBDBA5-7F85-1865-1C29-80876C885F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-6031"/>
            <a:ext cx="5751871" cy="6858000"/>
          </a:xfrm>
          <a:prstGeom prst="rect">
            <a:avLst/>
          </a:prstGeom>
        </p:spPr>
      </p:pic>
      <p:pic>
        <p:nvPicPr>
          <p:cNvPr id="36" name="Picture 35" descr="A screen shot of a graph&#10;&#10;Description automatically generated">
            <a:extLst>
              <a:ext uri="{FF2B5EF4-FFF2-40B4-BE49-F238E27FC236}">
                <a16:creationId xmlns:a16="http://schemas.microsoft.com/office/drawing/2014/main" id="{8E92E927-376F-FDE2-E97D-3F812CFAB9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39" name="Picture 38" descr="A screen shot of a graph&#10;&#10;Description automatically generated">
            <a:extLst>
              <a:ext uri="{FF2B5EF4-FFF2-40B4-BE49-F238E27FC236}">
                <a16:creationId xmlns:a16="http://schemas.microsoft.com/office/drawing/2014/main" id="{FE4EC0BE-0C62-521D-7159-546F835ADD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6" y="0"/>
            <a:ext cx="5751871" cy="6858000"/>
          </a:xfrm>
          <a:prstGeom prst="rect">
            <a:avLst/>
          </a:prstGeom>
        </p:spPr>
      </p:pic>
      <p:pic>
        <p:nvPicPr>
          <p:cNvPr id="41" name="Picture 40" descr="A screenshot of a graph&#10;&#10;Description automatically generated">
            <a:extLst>
              <a:ext uri="{FF2B5EF4-FFF2-40B4-BE49-F238E27FC236}">
                <a16:creationId xmlns:a16="http://schemas.microsoft.com/office/drawing/2014/main" id="{636C6E24-0D62-1993-1B4B-BE1C60AC79A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-6031"/>
            <a:ext cx="5751871" cy="6858000"/>
          </a:xfrm>
          <a:prstGeom prst="rect">
            <a:avLst/>
          </a:prstGeom>
        </p:spPr>
      </p:pic>
      <p:pic>
        <p:nvPicPr>
          <p:cNvPr id="43" name="Picture 42" descr="A screenshot of a screen&#10;&#10;Description automatically generated">
            <a:extLst>
              <a:ext uri="{FF2B5EF4-FFF2-40B4-BE49-F238E27FC236}">
                <a16:creationId xmlns:a16="http://schemas.microsoft.com/office/drawing/2014/main" id="{DD11E886-CE6B-EB47-6120-3DBA707086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-6031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457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n a black background&#10;&#10;Description automatically generated">
            <a:extLst>
              <a:ext uri="{FF2B5EF4-FFF2-40B4-BE49-F238E27FC236}">
                <a16:creationId xmlns:a16="http://schemas.microsoft.com/office/drawing/2014/main" id="{53D4EB3F-C5CA-9DC9-EF41-14BAC13FC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  <p:pic>
        <p:nvPicPr>
          <p:cNvPr id="9" name="Picture 8" descr="A screenshot of a screen&#10;&#10;Description automatically generated">
            <a:extLst>
              <a:ext uri="{FF2B5EF4-FFF2-40B4-BE49-F238E27FC236}">
                <a16:creationId xmlns:a16="http://schemas.microsoft.com/office/drawing/2014/main" id="{8F470286-C3F9-FBF1-A92B-E79DA8701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-6031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7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535E9-F84C-1AB6-2F20-C38515339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four horseman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9BC3-FB58-6CF4-D49A-5F092D68C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shp_model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Returns four diagnostics plots</a:t>
            </a:r>
          </a:p>
          <a:p>
            <a:r>
              <a:rPr lang="en-GB" dirty="0"/>
              <a:t>Are these the same as last week?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FE9D985-8AC3-9C3B-CEEF-DB0BB83E8B5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0" y="0"/>
            <a:ext cx="5832475" cy="6858000"/>
          </a:xfrm>
        </p:spPr>
      </p:pic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8405167F-DDAE-0E49-31C3-4592327A1D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7" y="0"/>
            <a:ext cx="5746158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E84015-4B0A-1D79-6155-9AA05F4CA90F}"/>
              </a:ext>
            </a:extLst>
          </p:cNvPr>
          <p:cNvSpPr txBox="1"/>
          <p:nvPr/>
        </p:nvSpPr>
        <p:spPr>
          <a:xfrm>
            <a:off x="3130736" y="2966674"/>
            <a:ext cx="5930530" cy="6469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Why are they slightly different?</a:t>
            </a:r>
          </a:p>
        </p:txBody>
      </p:sp>
    </p:spTree>
    <p:extLst>
      <p:ext uri="{BB962C8B-B14F-4D97-AF65-F5344CB8AC3E}">
        <p14:creationId xmlns:p14="http://schemas.microsoft.com/office/powerpoint/2010/main" val="3444271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D3BD6AB8-CA1A-5B15-1FED-9D92C8E6C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0" y="0"/>
            <a:ext cx="5832475" cy="6858000"/>
          </a:xfrm>
          <a:prstGeom prst="rect">
            <a:avLst/>
          </a:prstGeom>
        </p:spPr>
      </p:pic>
      <p:pic>
        <p:nvPicPr>
          <p:cNvPr id="3" name="Picture 2" descr="A screenshot of a screen&#10;&#10;Description automatically generated">
            <a:extLst>
              <a:ext uri="{FF2B5EF4-FFF2-40B4-BE49-F238E27FC236}">
                <a16:creationId xmlns:a16="http://schemas.microsoft.com/office/drawing/2014/main" id="{0A1D09FE-5F3E-6CE8-C2BF-1AAE52C355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-6031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04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FE9D985-8AC3-9C3B-CEEF-DB0BB83E8B5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27275" y="0"/>
            <a:ext cx="5832475" cy="6858000"/>
          </a:xfrm>
        </p:spPr>
      </p:pic>
      <p:pic>
        <p:nvPicPr>
          <p:cNvPr id="5" name="Picture 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8405167F-DDAE-0E49-31C3-4592327A1D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7" y="0"/>
            <a:ext cx="5746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43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 descr="A screen shot of a graph&#10;&#10;Description automatically generated">
            <a:extLst>
              <a:ext uri="{FF2B5EF4-FFF2-40B4-BE49-F238E27FC236}">
                <a16:creationId xmlns:a16="http://schemas.microsoft.com/office/drawing/2014/main" id="{0FDED07D-1CB7-078B-2083-5785F73769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Orientation:</a:t>
            </a:r>
          </a:p>
          <a:p>
            <a:pPr lvl="1"/>
            <a:r>
              <a:rPr lang="en-GB" dirty="0"/>
              <a:t>Y-axis: Residual error</a:t>
            </a:r>
          </a:p>
          <a:p>
            <a:pPr lvl="1"/>
            <a:r>
              <a:rPr lang="en-GB" dirty="0"/>
              <a:t>X-axis: Predicted (“Fitted”) values</a:t>
            </a:r>
          </a:p>
          <a:p>
            <a:pPr lvl="1"/>
            <a:r>
              <a:rPr lang="en-GB" dirty="0"/>
              <a:t>Dashed line at 0 residual is when our model perfectly predicts an observation</a:t>
            </a:r>
          </a:p>
          <a:p>
            <a:pPr lvl="1"/>
            <a:r>
              <a:rPr lang="en-GB" dirty="0"/>
              <a:t>Red line is a moving average</a:t>
            </a:r>
          </a:p>
          <a:p>
            <a:r>
              <a:rPr lang="en-GB" dirty="0"/>
              <a:t>Two “groups” because left is Peace (horns of 322 mm), right is Skeena (331 mm)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472EE2F-714A-3519-BA9F-9240E0788B79}"/>
              </a:ext>
            </a:extLst>
          </p:cNvPr>
          <p:cNvGrpSpPr/>
          <p:nvPr/>
        </p:nvGrpSpPr>
        <p:grpSpPr>
          <a:xfrm>
            <a:off x="7410450" y="742654"/>
            <a:ext cx="3732933" cy="1634490"/>
            <a:chOff x="6399447" y="4921250"/>
            <a:chExt cx="3732933" cy="16344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47EC84-3B4A-10CC-BCC1-A75D4D8B94C1}"/>
                </a:ext>
              </a:extLst>
            </p:cNvPr>
            <p:cNvSpPr txBox="1"/>
            <p:nvPr/>
          </p:nvSpPr>
          <p:spPr>
            <a:xfrm>
              <a:off x="7139042" y="4921250"/>
              <a:ext cx="2993338" cy="163449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Row 33 in dataset</a:t>
              </a:r>
            </a:p>
            <a:p>
              <a:r>
                <a:rPr lang="en-GB" dirty="0"/>
                <a:t>322 predicted horn length</a:t>
              </a:r>
            </a:p>
            <a:p>
              <a:r>
                <a:rPr lang="en-GB" dirty="0"/>
                <a:t>367 actual horn length</a:t>
              </a:r>
            </a:p>
            <a:p>
              <a:r>
                <a:rPr lang="en-GB" dirty="0"/>
                <a:t>45 residual error</a:t>
              </a:r>
            </a:p>
            <a:p>
              <a:r>
                <a:rPr lang="en-GB" dirty="0"/>
                <a:t>Horn length from 1975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DD132AF-0B08-271C-315D-54E48FDD659A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 flipV="1">
              <a:off x="6399447" y="5371602"/>
              <a:ext cx="739595" cy="36689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020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B2E718-2256-893A-EA88-4924F86B0A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What we want to see:</a:t>
                </a:r>
              </a:p>
              <a:p>
                <a:r>
                  <a:rPr lang="en-GB" dirty="0"/>
                  <a:t>Broadly equal spread of residuals for each Peace and Skeena</a:t>
                </a:r>
              </a:p>
              <a:p>
                <a:r>
                  <a:rPr lang="en-GB" dirty="0"/>
                  <a:t>Happy that it’s equal?</a:t>
                </a:r>
              </a:p>
              <a:p>
                <a:r>
                  <a:rPr lang="en-GB" dirty="0"/>
                  <a:t>Small dataset (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=58</m:t>
                    </m:r>
                  </m:oMath>
                </a14:m>
                <a:r>
                  <a:rPr lang="en-GB" dirty="0"/>
                  <a:t>), so matching assumptions perfectly very unlikely, even if there is no problem</a:t>
                </a:r>
              </a:p>
              <a:p>
                <a:r>
                  <a:rPr lang="en-GB" dirty="0"/>
                  <a:t>Model is suitable in my view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B2E718-2256-893A-EA88-4924F86B0A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8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11" descr="A screen shot of a graph&#10;&#10;Description automatically generated">
            <a:extLst>
              <a:ext uri="{FF2B5EF4-FFF2-40B4-BE49-F238E27FC236}">
                <a16:creationId xmlns:a16="http://schemas.microsoft.com/office/drawing/2014/main" id="{05DDE428-E4E0-C770-746E-66E868AD9EC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9" name="Picture 8" descr="A screenshot of a screen&#10;&#10;Description automatically generated">
            <a:extLst>
              <a:ext uri="{FF2B5EF4-FFF2-40B4-BE49-F238E27FC236}">
                <a16:creationId xmlns:a16="http://schemas.microsoft.com/office/drawing/2014/main" id="{B650A6BD-5FD5-68B2-C867-D5FF3D8B38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707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796A1AD-BD72-06EE-C3FF-71149BB9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2616"/>
            <a:ext cx="12192000" cy="565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2454954" y="2272790"/>
            <a:ext cx="151293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Fine (</a:t>
            </a:r>
            <a:r>
              <a:rPr lang="en-GB" sz="2400" dirty="0" err="1"/>
              <a:t>ish</a:t>
            </a:r>
            <a:r>
              <a:rPr lang="en-GB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22483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 descr="A screen shot of a graph&#10;&#10;Description automatically generated">
            <a:extLst>
              <a:ext uri="{FF2B5EF4-FFF2-40B4-BE49-F238E27FC236}">
                <a16:creationId xmlns:a16="http://schemas.microsoft.com/office/drawing/2014/main" id="{7985ECD6-DC60-DC32-3C73-DE0FE8738C6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977205-240C-42A4-A315-2B5B7C5B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Scale-Location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Residuals (y-axis) are now:</a:t>
                </a:r>
              </a:p>
              <a:p>
                <a:pPr lvl="1"/>
                <a:r>
                  <a:rPr lang="en-GB" dirty="0"/>
                  <a:t>Standardised (divide by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Square rooted (all values are positive)</a:t>
                </a:r>
              </a:p>
              <a:p>
                <a:r>
                  <a:rPr lang="en-GB" dirty="0"/>
                  <a:t>We want to see two things here:</a:t>
                </a:r>
              </a:p>
              <a:p>
                <a:pPr lvl="1"/>
                <a:r>
                  <a:rPr lang="en-GB" dirty="0"/>
                  <a:t>Ca. 95% of Std. Residuals are &lt; 2</a:t>
                </a:r>
              </a:p>
              <a:p>
                <a:pPr lvl="1"/>
                <a:r>
                  <a:rPr lang="en-GB" dirty="0"/>
                  <a:t>Equal variations in groups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 r="-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54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796A1AD-BD72-06EE-C3FF-71149BB9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2616"/>
            <a:ext cx="12192000" cy="565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2454954" y="2272790"/>
            <a:ext cx="151293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Fine (</a:t>
            </a:r>
            <a:r>
              <a:rPr lang="en-GB" sz="2400" dirty="0" err="1"/>
              <a:t>ish</a:t>
            </a:r>
            <a:r>
              <a:rPr lang="en-GB" sz="24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4B4380-9D52-CBEF-C1C4-67BFDFADF6E4}"/>
              </a:ext>
            </a:extLst>
          </p:cNvPr>
          <p:cNvSpPr txBox="1"/>
          <p:nvPr/>
        </p:nvSpPr>
        <p:spPr>
          <a:xfrm>
            <a:off x="2746589" y="5144606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</p:spTree>
    <p:extLst>
      <p:ext uri="{BB962C8B-B14F-4D97-AF65-F5344CB8AC3E}">
        <p14:creationId xmlns:p14="http://schemas.microsoft.com/office/powerpoint/2010/main" val="1331643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B7EA0-F7F1-1A3D-346A-8A8DECF48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Q-Q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assume our residuals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</a:t>
                </a:r>
              </a:p>
              <a:p>
                <a:r>
                  <a:rPr lang="en-GB" dirty="0"/>
                  <a:t>Y-axis are standardised residuals</a:t>
                </a:r>
              </a:p>
              <a:p>
                <a:pPr lvl="1"/>
                <a:r>
                  <a:rPr lang="en-GB" dirty="0"/>
                  <a:t>To 1 standard deviation</a:t>
                </a:r>
              </a:p>
              <a:p>
                <a:r>
                  <a:rPr lang="en-GB" dirty="0"/>
                  <a:t>X-axis are what we would assume, 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(0, 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distributed, then points should mostly lie on the dashed line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8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graph on a black background&#10;&#10;Description automatically generated">
            <a:extLst>
              <a:ext uri="{FF2B5EF4-FFF2-40B4-BE49-F238E27FC236}">
                <a16:creationId xmlns:a16="http://schemas.microsoft.com/office/drawing/2014/main" id="{2A4970A4-4366-FED3-C558-00AD4179D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  <p:pic>
        <p:nvPicPr>
          <p:cNvPr id="14" name="Picture Placeholder 13" descr="A screen shot of a graph&#10;&#10;Description automatically generated">
            <a:extLst>
              <a:ext uri="{FF2B5EF4-FFF2-40B4-BE49-F238E27FC236}">
                <a16:creationId xmlns:a16="http://schemas.microsoft.com/office/drawing/2014/main" id="{DC9ED358-8DE2-9B68-91A2-0390A9692F9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>
            <a:fillRect/>
          </a:stretch>
        </p:blipFill>
        <p:spPr/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A92F39A3-5B9B-B869-74CF-1DC03656FAC4}"/>
              </a:ext>
            </a:extLst>
          </p:cNvPr>
          <p:cNvGrpSpPr/>
          <p:nvPr/>
        </p:nvGrpSpPr>
        <p:grpSpPr>
          <a:xfrm>
            <a:off x="3506680" y="826797"/>
            <a:ext cx="7981025" cy="682407"/>
            <a:chOff x="3506680" y="826797"/>
            <a:chExt cx="7981025" cy="682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/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Assumed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a14:m>
                  <a:r>
                    <a:rPr lang="en-GB" dirty="0"/>
                    <a:t> distribution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l="-741" t="-4348" r="-2407" b="-14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8A4949C-94DE-7211-2BC2-BBBB138D37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06680" y="1031108"/>
              <a:ext cx="17919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77C8C7-49A3-DEF0-F72F-3280D87A209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8577377" y="1031109"/>
              <a:ext cx="2910328" cy="4780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702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796A1AD-BD72-06EE-C3FF-71149BB9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2616"/>
            <a:ext cx="12192000" cy="565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2454954" y="2272790"/>
            <a:ext cx="151293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Fine (</a:t>
            </a:r>
            <a:r>
              <a:rPr lang="en-GB" sz="2400" dirty="0" err="1"/>
              <a:t>ish</a:t>
            </a:r>
            <a:r>
              <a:rPr lang="en-GB" sz="24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4B4380-9D52-CBEF-C1C4-67BFDFADF6E4}"/>
              </a:ext>
            </a:extLst>
          </p:cNvPr>
          <p:cNvSpPr txBox="1"/>
          <p:nvPr/>
        </p:nvSpPr>
        <p:spPr>
          <a:xfrm>
            <a:off x="2746589" y="5144606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10D156-A5DC-7BBC-2062-39E8540709E3}"/>
              </a:ext>
            </a:extLst>
          </p:cNvPr>
          <p:cNvSpPr txBox="1"/>
          <p:nvPr/>
        </p:nvSpPr>
        <p:spPr>
          <a:xfrm>
            <a:off x="8909171" y="2272790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</p:spTree>
    <p:extLst>
      <p:ext uri="{BB962C8B-B14F-4D97-AF65-F5344CB8AC3E}">
        <p14:creationId xmlns:p14="http://schemas.microsoft.com/office/powerpoint/2010/main" val="120637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586C85B5-3619-6FAE-DDBE-867E163FE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3" y="17860"/>
            <a:ext cx="5751871" cy="6858000"/>
          </a:xfrm>
          <a:prstGeom prst="rect">
            <a:avLst/>
          </a:prstGeom>
        </p:spPr>
      </p:pic>
      <p:pic>
        <p:nvPicPr>
          <p:cNvPr id="29" name="Picture 28" descr="A graph with a line and dots&#10;&#10;Description automatically generated">
            <a:extLst>
              <a:ext uri="{FF2B5EF4-FFF2-40B4-BE49-F238E27FC236}">
                <a16:creationId xmlns:a16="http://schemas.microsoft.com/office/drawing/2014/main" id="{50D41C2A-8B17-7318-9AA2-46C0643FB6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786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F8F9D0-BCA8-A228-E187-6E4FFF827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Leverage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79886-4A2A-8658-5FC8-52540C946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Last week we were looking for observations that had a disproportionate effect on the straight line</a:t>
            </a:r>
          </a:p>
          <a:p>
            <a:r>
              <a:rPr lang="en-GB" dirty="0"/>
              <a:t>We don’t have a straight line now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6CB0D80-B5A7-1C09-40E6-F54D9FCF0C68}"/>
              </a:ext>
            </a:extLst>
          </p:cNvPr>
          <p:cNvGrpSpPr/>
          <p:nvPr/>
        </p:nvGrpSpPr>
        <p:grpSpPr>
          <a:xfrm>
            <a:off x="9307912" y="4585930"/>
            <a:ext cx="2397082" cy="715089"/>
            <a:chOff x="10410422" y="2234446"/>
            <a:chExt cx="2388196" cy="71508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9C8686-A364-D098-AF0D-CE4DD24708A2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High Influence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CE5255C-EF92-9B86-DF8D-70054F1BA343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0777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F9D0-BCA8-A228-E187-6E4FFF827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Leverage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79886-4A2A-8658-5FC8-52540C946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Instead, we now check how our residuals are distributed according to standard deviation</a:t>
            </a:r>
          </a:p>
          <a:p>
            <a:pPr lvl="1"/>
            <a:r>
              <a:rPr lang="en-GB" dirty="0"/>
              <a:t>Ca. 69% should be within </a:t>
            </a:r>
            <a:r>
              <a:rPr lang="en-GB" dirty="0">
                <a:solidFill>
                  <a:srgbClr val="FF0000"/>
                </a:solidFill>
              </a:rPr>
              <a:t>1 SD</a:t>
            </a:r>
          </a:p>
          <a:p>
            <a:pPr lvl="1"/>
            <a:r>
              <a:rPr lang="en-GB" dirty="0"/>
              <a:t>Ca. 95% should be within </a:t>
            </a:r>
            <a:r>
              <a:rPr lang="en-GB" dirty="0">
                <a:solidFill>
                  <a:srgbClr val="FF0000"/>
                </a:solidFill>
              </a:rPr>
              <a:t>2 SD</a:t>
            </a:r>
          </a:p>
          <a:p>
            <a:pPr lvl="1"/>
            <a:r>
              <a:rPr lang="en-GB" dirty="0"/>
              <a:t>Ca. 97.5% should be within </a:t>
            </a:r>
            <a:r>
              <a:rPr lang="en-GB" dirty="0">
                <a:solidFill>
                  <a:srgbClr val="FF0000"/>
                </a:solidFill>
              </a:rPr>
              <a:t>3 SD</a:t>
            </a:r>
          </a:p>
          <a:p>
            <a:r>
              <a:rPr lang="en-GB" dirty="0"/>
              <a:t>Seems good</a:t>
            </a:r>
          </a:p>
        </p:txBody>
      </p:sp>
      <p:pic>
        <p:nvPicPr>
          <p:cNvPr id="5" name="Picture 4" descr="A screen shot of a graph&#10;&#10;Description automatically generated">
            <a:extLst>
              <a:ext uri="{FF2B5EF4-FFF2-40B4-BE49-F238E27FC236}">
                <a16:creationId xmlns:a16="http://schemas.microsoft.com/office/drawing/2014/main" id="{E9D0AABC-E71A-08ED-9F0E-4987DC2CE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842" y="0"/>
            <a:ext cx="5746158" cy="6858000"/>
          </a:xfrm>
          <a:prstGeom prst="rect">
            <a:avLst/>
          </a:prstGeom>
        </p:spPr>
      </p:pic>
      <p:pic>
        <p:nvPicPr>
          <p:cNvPr id="6" name="Picture 5" descr="A screenshot of a screen&#10;&#10;Description automatically generated">
            <a:extLst>
              <a:ext uri="{FF2B5EF4-FFF2-40B4-BE49-F238E27FC236}">
                <a16:creationId xmlns:a16="http://schemas.microsoft.com/office/drawing/2014/main" id="{3F1054BB-87B0-D757-6943-632F264470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415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796A1AD-BD72-06EE-C3FF-71149BB9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2616"/>
            <a:ext cx="12192000" cy="565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2454954" y="2272790"/>
            <a:ext cx="151293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Fine (</a:t>
            </a:r>
            <a:r>
              <a:rPr lang="en-GB" sz="2400" dirty="0" err="1"/>
              <a:t>ish</a:t>
            </a:r>
            <a:r>
              <a:rPr lang="en-GB" sz="24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4B4380-9D52-CBEF-C1C4-67BFDFADF6E4}"/>
              </a:ext>
            </a:extLst>
          </p:cNvPr>
          <p:cNvSpPr txBox="1"/>
          <p:nvPr/>
        </p:nvSpPr>
        <p:spPr>
          <a:xfrm>
            <a:off x="2746589" y="5144606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10D156-A5DC-7BBC-2062-39E8540709E3}"/>
              </a:ext>
            </a:extLst>
          </p:cNvPr>
          <p:cNvSpPr txBox="1"/>
          <p:nvPr/>
        </p:nvSpPr>
        <p:spPr>
          <a:xfrm>
            <a:off x="8909171" y="2272790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E84A4-82F0-EF7C-8AED-D2416FB4E519}"/>
              </a:ext>
            </a:extLst>
          </p:cNvPr>
          <p:cNvSpPr txBox="1"/>
          <p:nvPr/>
        </p:nvSpPr>
        <p:spPr>
          <a:xfrm>
            <a:off x="8909171" y="5144606"/>
            <a:ext cx="92966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Good</a:t>
            </a:r>
          </a:p>
        </p:txBody>
      </p:sp>
    </p:spTree>
    <p:extLst>
      <p:ext uri="{BB962C8B-B14F-4D97-AF65-F5344CB8AC3E}">
        <p14:creationId xmlns:p14="http://schemas.microsoft.com/office/powerpoint/2010/main" val="3967786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CC69-E5F5-2D98-3C63-8A954030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Linear models with categorical variable: Full workflow example</a:t>
            </a:r>
          </a:p>
        </p:txBody>
      </p:sp>
    </p:spTree>
    <p:extLst>
      <p:ext uri="{BB962C8B-B14F-4D97-AF65-F5344CB8AC3E}">
        <p14:creationId xmlns:p14="http://schemas.microsoft.com/office/powerpoint/2010/main" val="3684041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17F1-8622-E2E2-C93C-0F82FA82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watches the most Netflix?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8B16-900F-3D03-D7CF-1242FB6B8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“region” watched the most Netflix in 2022?</a:t>
            </a:r>
          </a:p>
          <a:p>
            <a:r>
              <a:rPr lang="en-GB" dirty="0"/>
              <a:t>Let’s find out:</a:t>
            </a:r>
          </a:p>
          <a:p>
            <a:pPr lvl="1"/>
            <a:r>
              <a:rPr lang="en-GB" dirty="0"/>
              <a:t>Average total time spent watching Netflix since opening account per country (response)</a:t>
            </a:r>
          </a:p>
          <a:p>
            <a:pPr lvl="1"/>
            <a:r>
              <a:rPr lang="en-GB" dirty="0"/>
              <a:t>Region (explanatory)</a:t>
            </a:r>
          </a:p>
        </p:txBody>
      </p:sp>
      <p:pic>
        <p:nvPicPr>
          <p:cNvPr id="12" name="Picture Placeholder 11" descr="A group of squares with different colors&#10;&#10;Description automatically generated">
            <a:extLst>
              <a:ext uri="{FF2B5EF4-FFF2-40B4-BE49-F238E27FC236}">
                <a16:creationId xmlns:a16="http://schemas.microsoft.com/office/drawing/2014/main" id="{ABB5D76A-0626-CE22-4D54-8A9A28933D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7" t="18969" r="25979" b="34192"/>
          <a:stretch/>
        </p:blipFill>
        <p:spPr>
          <a:xfrm>
            <a:off x="6359525" y="2159000"/>
            <a:ext cx="5832475" cy="2540000"/>
          </a:xfrm>
        </p:spPr>
      </p:pic>
    </p:spTree>
    <p:extLst>
      <p:ext uri="{BB962C8B-B14F-4D97-AF65-F5344CB8AC3E}">
        <p14:creationId xmlns:p14="http://schemas.microsoft.com/office/powerpoint/2010/main" val="2587014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A7CB-468A-8934-00AE-D1B288E1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Get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Ensure data is in tabular form</a:t>
                </a:r>
              </a:p>
              <a:p>
                <a:r>
                  <a:rPr lang="en-GB" dirty="0"/>
                  <a:t>Each row represents the average from country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b="0" dirty="0"/>
                  <a:t>The 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sup>
                    </m:sSup>
                  </m:oMath>
                </a14:m>
                <a:r>
                  <a:rPr lang="en-GB" dirty="0"/>
                  <a:t> country”</a:t>
                </a:r>
              </a:p>
              <a:p>
                <a:r>
                  <a:rPr lang="en-GB" dirty="0"/>
                  <a:t>For each country, we have a measure of:</a:t>
                </a:r>
              </a:p>
              <a:p>
                <a:pPr lvl="1"/>
                <a:r>
                  <a:rPr lang="en-GB" dirty="0"/>
                  <a:t>Average Netflix time (minutes)</a:t>
                </a:r>
              </a:p>
              <a:p>
                <a:pPr lvl="1"/>
                <a:r>
                  <a:rPr lang="en-GB" dirty="0"/>
                  <a:t>The region each country is in</a:t>
                </a:r>
              </a:p>
              <a:p>
                <a:pPr marL="0" indent="0">
                  <a:buNone/>
                </a:pPr>
                <a:endParaRPr lang="en-GB" sz="2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net_dat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&lt;- read.csv(“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file_path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”,</a:t>
                </a:r>
                <a:b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       header = TRUE)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2"/>
                <a:stretch>
                  <a:fillRect l="-1726" t="-174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9D3AB1E-4157-C606-6FE5-D20B1D80D54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-9572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EF3E23C-F699-38E7-E7D3-408015C9D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40" y="1594798"/>
            <a:ext cx="5674245" cy="411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5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ED65133-F257-999A-B86D-36C3775449C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868" t="-95823" r="-1" b="-96695"/>
          <a:stretch/>
        </p:blipFill>
        <p:spPr>
          <a:xfrm>
            <a:off x="6359525" y="0"/>
            <a:ext cx="5832475" cy="6858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021807-0483-8BA4-1538-8771D5B7C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Explore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1E992-4CCE-CA04-4BEF-A423870F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Explore the data</a:t>
            </a:r>
          </a:p>
          <a:p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(x = region,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 y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netflix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dirty="0"/>
              <a:t>How reliable is the sampling?</a:t>
            </a:r>
          </a:p>
          <a:p>
            <a:r>
              <a:rPr lang="en-GB" dirty="0"/>
              <a:t>Foresee any issues for the analysis?</a:t>
            </a:r>
          </a:p>
        </p:txBody>
      </p:sp>
      <p:pic>
        <p:nvPicPr>
          <p:cNvPr id="11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8C775983-67F9-A5D4-D2E3-0861E5CD8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45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A58F7-80BB-5D30-9648-B75CB88B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Fit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84686A-7776-C2AF-F61D-9F07A7EFC1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Unless we see any issues, we can proceed to fitting a linear model</a:t>
                </a:r>
              </a:p>
              <a:p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net_mod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&lt;- 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lm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netflix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~ region,</a:t>
                </a:r>
                <a:b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	    data = 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net_dat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r>
                  <a:rPr lang="en-GB" dirty="0"/>
                  <a:t>Easiest step to do</a:t>
                </a:r>
              </a:p>
              <a:p>
                <a:r>
                  <a:rPr lang="en-GB" dirty="0"/>
                  <a:t>Keep in mind how groups are handled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𝐴𝑚𝑒𝑟𝑖𝑐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𝐴𝑠𝑖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𝐴𝑓𝑟𝑖𝑐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84686A-7776-C2AF-F61D-9F07A7EF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1B34D70-8FCD-3E65-B539-6F276F762F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15981" r="15981"/>
          <a:stretch>
            <a:fillRect/>
          </a:stretch>
        </p:blipFill>
        <p:spPr>
          <a:prstGeom prst="rect">
            <a:avLst/>
          </a:prstGeom>
        </p:spPr>
      </p:pic>
      <p:pic>
        <p:nvPicPr>
          <p:cNvPr id="6" name="Picture 5" descr="A screen shot of a black grid&#10;&#10;Description automatically generated">
            <a:extLst>
              <a:ext uri="{FF2B5EF4-FFF2-40B4-BE49-F238E27FC236}">
                <a16:creationId xmlns:a16="http://schemas.microsoft.com/office/drawing/2014/main" id="{98430C6B-76CE-D9A5-E6F9-4A4359FB3E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AE52412-A7CE-4EE1-74CF-7F254312AC76}"/>
              </a:ext>
            </a:extLst>
          </p:cNvPr>
          <p:cNvGrpSpPr/>
          <p:nvPr/>
        </p:nvGrpSpPr>
        <p:grpSpPr>
          <a:xfrm>
            <a:off x="7058992" y="399169"/>
            <a:ext cx="888385" cy="5682542"/>
            <a:chOff x="7523102" y="422983"/>
            <a:chExt cx="888385" cy="56825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FD157EF-3B3D-792F-9711-424F63005BE1}"/>
                    </a:ext>
                  </a:extLst>
                </p:cNvPr>
                <p:cNvSpPr txBox="1"/>
                <p:nvPr/>
              </p:nvSpPr>
              <p:spPr>
                <a:xfrm>
                  <a:off x="7523102" y="2806483"/>
                  <a:ext cx="88838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30000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FD157EF-3B3D-792F-9711-424F63005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3102" y="2806483"/>
                  <a:ext cx="888385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A9682E-57BA-2849-FA81-1DEA47CC56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71417" y="422983"/>
              <a:ext cx="40070" cy="568254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7C4D1B-A8E3-C1FB-076B-D9C284E297D3}"/>
              </a:ext>
            </a:extLst>
          </p:cNvPr>
          <p:cNvGrpSpPr/>
          <p:nvPr/>
        </p:nvGrpSpPr>
        <p:grpSpPr>
          <a:xfrm>
            <a:off x="8128751" y="329719"/>
            <a:ext cx="1061509" cy="3808586"/>
            <a:chOff x="7413758" y="4231569"/>
            <a:chExt cx="1061509" cy="38085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E04926C-2D33-A4E4-F71A-6A9E332237B0}"/>
                    </a:ext>
                  </a:extLst>
                </p:cNvPr>
                <p:cNvSpPr txBox="1"/>
                <p:nvPr/>
              </p:nvSpPr>
              <p:spPr>
                <a:xfrm>
                  <a:off x="7413758" y="5812696"/>
                  <a:ext cx="106150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−20000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E04926C-2D33-A4E4-F71A-6A9E33223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3758" y="5812696"/>
                  <a:ext cx="1061509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FB4BE02-03F2-3050-D20A-7D36AD47AB18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231569"/>
              <a:ext cx="0" cy="380858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FEEEF6-8602-3543-4180-1477DB627EFC}"/>
                  </a:ext>
                </a:extLst>
              </p:cNvPr>
              <p:cNvSpPr txBox="1"/>
              <p:nvPr/>
            </p:nvSpPr>
            <p:spPr>
              <a:xfrm>
                <a:off x="9380734" y="191353"/>
                <a:ext cx="9089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FEEEF6-8602-3543-4180-1477DB627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734" y="191353"/>
                <a:ext cx="908902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102D41DD-8B5D-4AED-1BFE-F0E765733332}"/>
              </a:ext>
            </a:extLst>
          </p:cNvPr>
          <p:cNvGrpSpPr/>
          <p:nvPr/>
        </p:nvGrpSpPr>
        <p:grpSpPr>
          <a:xfrm>
            <a:off x="10461963" y="329719"/>
            <a:ext cx="1061509" cy="2864421"/>
            <a:chOff x="7416285" y="4185269"/>
            <a:chExt cx="1061509" cy="28644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EEC056A-B9F8-CCF7-28A9-1FFA6D21FB48}"/>
                    </a:ext>
                  </a:extLst>
                </p:cNvPr>
                <p:cNvSpPr txBox="1"/>
                <p:nvPr/>
              </p:nvSpPr>
              <p:spPr>
                <a:xfrm>
                  <a:off x="7416285" y="5181113"/>
                  <a:ext cx="106150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−15000</m:t>
                        </m:r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EEC056A-B9F8-CCF7-28A9-1FFA6D21FB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285" y="5181113"/>
                  <a:ext cx="1061509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A3B2D4C-C46E-3DD1-B539-14DB7184DC14}"/>
                </a:ext>
              </a:extLst>
            </p:cNvPr>
            <p:cNvCxnSpPr>
              <a:cxnSpLocks/>
            </p:cNvCxnSpPr>
            <p:nvPr/>
          </p:nvCxnSpPr>
          <p:spPr>
            <a:xfrm>
              <a:off x="8371417" y="4185269"/>
              <a:ext cx="0" cy="286442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AEE7170-4ECD-5073-3091-F961D2DE91E4}"/>
                  </a:ext>
                </a:extLst>
              </p14:cNvPr>
              <p14:cNvContentPartPr/>
              <p14:nvPr/>
            </p14:nvContentPartPr>
            <p14:xfrm>
              <a:off x="1564343" y="5312385"/>
              <a:ext cx="1800" cy="1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AEE7170-4ECD-5073-3091-F961D2DE91E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558223" y="5306265"/>
                <a:ext cx="1404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370350F-5143-FD5D-3669-1416FF47CCFE}"/>
                  </a:ext>
                </a:extLst>
              </p14:cNvPr>
              <p14:cNvContentPartPr/>
              <p14:nvPr/>
            </p14:nvContentPartPr>
            <p14:xfrm>
              <a:off x="2190383" y="2770065"/>
              <a:ext cx="360" cy="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370350F-5143-FD5D-3669-1416FF47CCF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184263" y="2763945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C942845F-BCBE-97C0-8EBD-B1C1344AF0DA}"/>
              </a:ext>
            </a:extLst>
          </p:cNvPr>
          <p:cNvGrpSpPr/>
          <p:nvPr/>
        </p:nvGrpSpPr>
        <p:grpSpPr>
          <a:xfrm>
            <a:off x="1257983" y="2552985"/>
            <a:ext cx="360" cy="360"/>
            <a:chOff x="1257983" y="2552985"/>
            <a:chExt cx="360" cy="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2A45A68-1CD4-1D5C-8A87-AEC56A33200D}"/>
                    </a:ext>
                  </a:extLst>
                </p14:cNvPr>
                <p14:cNvContentPartPr/>
                <p14:nvPr/>
              </p14:nvContentPartPr>
              <p14:xfrm>
                <a:off x="1257983" y="2552985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2A45A68-1CD4-1D5C-8A87-AEC56A3320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51863" y="254686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49DFF70-DB34-FE81-625E-C93CD5464619}"/>
                    </a:ext>
                  </a:extLst>
                </p14:cNvPr>
                <p14:cNvContentPartPr/>
                <p14:nvPr/>
              </p14:nvContentPartPr>
              <p14:xfrm>
                <a:off x="1257983" y="2552985"/>
                <a:ext cx="3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49DFF70-DB34-FE81-625E-C93CD546461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51863" y="254686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23014C-CB62-CA83-DBFD-6869314559DA}"/>
                  </a:ext>
                </a:extLst>
              </p14:cNvPr>
              <p14:cNvContentPartPr/>
              <p14:nvPr/>
            </p14:nvContentPartPr>
            <p14:xfrm>
              <a:off x="1257983" y="2878425"/>
              <a:ext cx="36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23014C-CB62-CA83-DBFD-6869314559D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51863" y="287230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3936937-F432-DB1B-DC2C-16E89CE5E1DF}"/>
                  </a:ext>
                </a:extLst>
              </p14:cNvPr>
              <p14:cNvContentPartPr/>
              <p14:nvPr/>
            </p14:nvContentPartPr>
            <p14:xfrm>
              <a:off x="2398901" y="5821065"/>
              <a:ext cx="360" cy="3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3936937-F432-DB1B-DC2C-16E89CE5E1D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392781" y="581494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7C18C6F-70DC-01CA-9901-4AE4FEEB60F8}"/>
                  </a:ext>
                </a:extLst>
              </p14:cNvPr>
              <p14:cNvContentPartPr/>
              <p14:nvPr/>
            </p14:nvContentPartPr>
            <p14:xfrm>
              <a:off x="2516621" y="5748345"/>
              <a:ext cx="360" cy="36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7C18C6F-70DC-01CA-9901-4AE4FEEB60F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510501" y="574222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76C9449-8803-B19D-5B27-6656BC82BDFD}"/>
                  </a:ext>
                </a:extLst>
              </p14:cNvPr>
              <p14:cNvContentPartPr/>
              <p14:nvPr/>
            </p14:nvContentPartPr>
            <p14:xfrm>
              <a:off x="1357781" y="2597985"/>
              <a:ext cx="360" cy="36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76C9449-8803-B19D-5B27-6656BC82BDF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51661" y="2591865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D49C2213-8F81-9DE0-E33D-8FFF866683EC}"/>
              </a:ext>
            </a:extLst>
          </p:cNvPr>
          <p:cNvGrpSpPr/>
          <p:nvPr/>
        </p:nvGrpSpPr>
        <p:grpSpPr>
          <a:xfrm>
            <a:off x="2062301" y="5929785"/>
            <a:ext cx="10800" cy="360"/>
            <a:chOff x="2062301" y="5929785"/>
            <a:chExt cx="10800" cy="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8B2622A-FEED-96A5-B178-80DBD7BE1D4F}"/>
                    </a:ext>
                  </a:extLst>
                </p14:cNvPr>
                <p14:cNvContentPartPr/>
                <p14:nvPr/>
              </p14:nvContentPartPr>
              <p14:xfrm>
                <a:off x="2072741" y="5929785"/>
                <a:ext cx="360" cy="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8B2622A-FEED-96A5-B178-80DBD7BE1D4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66621" y="592366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F99DCF5-481D-ADBE-3B63-2332E61B50CA}"/>
                    </a:ext>
                  </a:extLst>
                </p14:cNvPr>
                <p14:cNvContentPartPr/>
                <p14:nvPr/>
              </p14:nvContentPartPr>
              <p14:xfrm>
                <a:off x="2062301" y="5929785"/>
                <a:ext cx="1800" cy="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F99DCF5-481D-ADBE-3B63-2332E61B50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56181" y="5923665"/>
                  <a:ext cx="1404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C7E2048-6F4D-8228-DF11-4AC063AE5910}"/>
                  </a:ext>
                </a:extLst>
              </p14:cNvPr>
              <p14:cNvContentPartPr/>
              <p14:nvPr/>
            </p14:nvContentPartPr>
            <p14:xfrm>
              <a:off x="2752061" y="3005505"/>
              <a:ext cx="360" cy="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C7E2048-6F4D-8228-DF11-4AC063AE591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745941" y="2999385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8AF24EE-761C-C541-97BC-B439049AB0DC}"/>
              </a:ext>
            </a:extLst>
          </p:cNvPr>
          <p:cNvGrpSpPr/>
          <p:nvPr/>
        </p:nvGrpSpPr>
        <p:grpSpPr>
          <a:xfrm>
            <a:off x="2379821" y="4173345"/>
            <a:ext cx="37440" cy="346320"/>
            <a:chOff x="2379821" y="4173345"/>
            <a:chExt cx="37440" cy="3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41EC09-95C2-C515-866B-5D6EA93A90CE}"/>
                    </a:ext>
                  </a:extLst>
                </p14:cNvPr>
                <p14:cNvContentPartPr/>
                <p14:nvPr/>
              </p14:nvContentPartPr>
              <p14:xfrm>
                <a:off x="2416901" y="4173345"/>
                <a:ext cx="360" cy="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41EC09-95C2-C515-866B-5D6EA93A90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10781" y="41672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47E7132-80C9-EB4F-0677-77DDE76D89CF}"/>
                    </a:ext>
                  </a:extLst>
                </p14:cNvPr>
                <p14:cNvContentPartPr/>
                <p14:nvPr/>
              </p14:nvContentPartPr>
              <p14:xfrm>
                <a:off x="2379821" y="4191705"/>
                <a:ext cx="37440" cy="327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47E7132-80C9-EB4F-0677-77DDE76D89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373701" y="4185585"/>
                  <a:ext cx="49680" cy="34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0441ADCC-B63E-5F49-CF6C-BD8FC2DFAC00}"/>
                  </a:ext>
                </a:extLst>
              </p14:cNvPr>
              <p14:cNvContentPartPr/>
              <p14:nvPr/>
            </p14:nvContentPartPr>
            <p14:xfrm>
              <a:off x="2380901" y="4952025"/>
              <a:ext cx="190440" cy="3805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0441ADCC-B63E-5F49-CF6C-BD8FC2DFAC0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4781" y="4945905"/>
                <a:ext cx="202680" cy="39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7380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Diagnose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With model run, we need to check for the Monkey’s Paw</a:t>
                </a:r>
              </a:p>
              <a:p>
                <a:r>
                  <a:rPr lang="en-GB" dirty="0"/>
                  <a:t>Check diagnostics</a:t>
                </a:r>
              </a:p>
              <a:p>
                <a:r>
                  <a:rPr lang="en-GB" dirty="0"/>
                  <a:t>Note that with multiple categories, we get the Leverage plot again</a:t>
                </a:r>
              </a:p>
              <a:p>
                <a:r>
                  <a:rPr lang="en-GB" dirty="0"/>
                  <a:t>Any issues?</a:t>
                </a:r>
              </a:p>
              <a:p>
                <a:pPr lvl="1"/>
                <a:r>
                  <a:rPr lang="en-GB" dirty="0"/>
                  <a:t>Unequal variance?</a:t>
                </a:r>
              </a:p>
              <a:p>
                <a:pPr lvl="1"/>
                <a:r>
                  <a:rPr lang="en-GB" dirty="0"/>
                  <a:t>Starting to stretch that assumption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 residuals</a:t>
                </a:r>
              </a:p>
              <a:p>
                <a:pPr lvl="1"/>
                <a:r>
                  <a:rPr lang="en-GB" dirty="0"/>
                  <a:t>But tiny sample size</a:t>
                </a:r>
              </a:p>
              <a:p>
                <a:pPr lvl="1"/>
                <a:r>
                  <a:rPr lang="en-GB" dirty="0"/>
                  <a:t>Can we still proceed?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Placeholder 9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EEFD0A13-85B5-FC01-349D-262973942AB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679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5: Summarise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model has four parameters to estimate</a:t>
                </a:r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summary(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net_mod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=63848 </m:t>
                    </m:r>
                  </m:oMath>
                </a14:m>
                <a:r>
                  <a:rPr lang="en-GB" dirty="0"/>
                  <a:t>(Minutes in Africa)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=31052</m:t>
                    </m:r>
                  </m:oMath>
                </a14:m>
                <a:r>
                  <a:rPr lang="en-GB" dirty="0"/>
                  <a:t> (Difference with America)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−1576</m:t>
                    </m:r>
                  </m:oMath>
                </a14:m>
                <a:r>
                  <a:rPr lang="en-GB" dirty="0"/>
                  <a:t> (Difference with Asia)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−3847</m:t>
                    </m:r>
                  </m:oMath>
                </a14:m>
                <a:r>
                  <a:rPr lang="en-GB" dirty="0"/>
                  <a:t> (Difference with Europe)</a:t>
                </a:r>
              </a:p>
              <a:p>
                <a:r>
                  <a:rPr lang="en-GB" dirty="0"/>
                  <a:t>Which region watches the most television?</a:t>
                </a:r>
              </a:p>
              <a:p>
                <a:r>
                  <a:rPr lang="en-GB" dirty="0"/>
                  <a:t>Which region watches the least Netflix?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1823482-A2F5-FAA3-1E6B-ABCA7CA830D2}"/>
              </a:ext>
            </a:extLst>
          </p:cNvPr>
          <p:cNvSpPr txBox="1">
            <a:spLocks/>
          </p:cNvSpPr>
          <p:nvPr/>
        </p:nvSpPr>
        <p:spPr>
          <a:xfrm>
            <a:off x="6201295" y="132556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net_mod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netflix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~ region, data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net_dat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Min     1Q Median     3Q    Max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-36895  -8615   1316  12452  23877 </a:t>
            </a:r>
          </a:p>
          <a:p>
            <a:pPr marL="0" indent="0">
              <a:buNone/>
            </a:pP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Estimate Std. Error t value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63848      10567   6.042 2.92e-07 ***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regionAmerica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31052      11814   2.628   0.0118 *  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regionAsia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-1576      12503  -0.126   0.9003    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regionEurope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-3847      10882  -0.354   0.7254   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buNone/>
            </a:pP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14940 on 44 degrees of freedom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0.4471,	Adjusted R-squared:  0.4094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11.86 on 3 and 44 DF,  p-value: 8.043e-06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95F61-D332-DD03-59CB-B1A472066EB9}"/>
              </a:ext>
            </a:extLst>
          </p:cNvPr>
          <p:cNvSpPr/>
          <p:nvPr/>
        </p:nvSpPr>
        <p:spPr>
          <a:xfrm>
            <a:off x="1443554" y="3026390"/>
            <a:ext cx="3472477" cy="40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02970-0D5E-E164-012C-5A5D4243142A}"/>
              </a:ext>
            </a:extLst>
          </p:cNvPr>
          <p:cNvSpPr/>
          <p:nvPr/>
        </p:nvSpPr>
        <p:spPr>
          <a:xfrm>
            <a:off x="1443554" y="3429000"/>
            <a:ext cx="4441198" cy="40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0F2404-B3F9-F84E-F700-1286DAEB1610}"/>
              </a:ext>
            </a:extLst>
          </p:cNvPr>
          <p:cNvSpPr/>
          <p:nvPr/>
        </p:nvSpPr>
        <p:spPr>
          <a:xfrm>
            <a:off x="1443554" y="3831610"/>
            <a:ext cx="4006632" cy="40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3B2736-C16E-CD21-E58A-50E3986BD9BC}"/>
              </a:ext>
            </a:extLst>
          </p:cNvPr>
          <p:cNvSpPr/>
          <p:nvPr/>
        </p:nvSpPr>
        <p:spPr>
          <a:xfrm>
            <a:off x="1443554" y="4234220"/>
            <a:ext cx="4441198" cy="40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401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8" grpId="0" animBg="1"/>
      <p:bldP spid="10" grpId="0" animBg="1"/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dirty="0"/>
              <a:t>Use predict to apply equation to fake data</a:t>
            </a:r>
          </a:p>
          <a:p>
            <a:r>
              <a:rPr lang="en-GB" dirty="0"/>
              <a:t>Convert SE to 95% CI</a:t>
            </a:r>
          </a:p>
          <a:p>
            <a:r>
              <a:rPr lang="en-GB" dirty="0"/>
              <a:t>Plot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7E3F776-5F7A-2A4B-4961-102BC248BC5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2558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359525" cy="5240194"/>
          </a:xfrm>
        </p:spPr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fake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region = unique(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net_dat$region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prds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predict(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net_mod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newdata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fake,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TRUE)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5D2D5270-9790-3BF1-BDAE-72E6CD85A95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8044" t="-157569" r="-188446" b="-33197"/>
          <a:stretch/>
        </p:blipFill>
        <p:spPr>
          <a:xfrm>
            <a:off x="6359525" y="191193"/>
            <a:ext cx="5832475" cy="6858000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A95F97-17E1-C4FB-3AD8-96F69A1A0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755" y="1426613"/>
            <a:ext cx="535305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95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359525" cy="5240194"/>
          </a:xfrm>
        </p:spPr>
        <p:txBody>
          <a:bodyPr/>
          <a:lstStyle/>
          <a:p>
            <a:pPr marL="0" indent="0">
              <a:buNone/>
            </a:pP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prds$fit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fake$low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prds$fit-prds$se.fit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1.96</a:t>
            </a:r>
          </a:p>
          <a:p>
            <a:pPr marL="0" indent="0">
              <a:buNone/>
            </a:pP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fake$upp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prds$fit+prds$se.fit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1.96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A95F97-17E1-C4FB-3AD8-96F69A1A0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755" y="1426613"/>
            <a:ext cx="5353050" cy="2152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540ABD-9DD2-0924-D3A6-C4709E409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155" y="4081262"/>
            <a:ext cx="5810250" cy="18097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84B56D8-FA1E-6CA1-2329-96AEC2C7C130}"/>
              </a:ext>
            </a:extLst>
          </p:cNvPr>
          <p:cNvSpPr/>
          <p:nvPr/>
        </p:nvSpPr>
        <p:spPr>
          <a:xfrm>
            <a:off x="7755467" y="3860800"/>
            <a:ext cx="1433689" cy="223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A0E7E4-8674-79AB-E6B3-E3A5C38C52C8}"/>
              </a:ext>
            </a:extLst>
          </p:cNvPr>
          <p:cNvSpPr/>
          <p:nvPr/>
        </p:nvSpPr>
        <p:spPr>
          <a:xfrm>
            <a:off x="9151409" y="3868537"/>
            <a:ext cx="1433689" cy="223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399CF9-3ECE-7DB6-083B-7927083B318B}"/>
              </a:ext>
            </a:extLst>
          </p:cNvPr>
          <p:cNvSpPr/>
          <p:nvPr/>
        </p:nvSpPr>
        <p:spPr>
          <a:xfrm>
            <a:off x="10585098" y="3876274"/>
            <a:ext cx="1606902" cy="2235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0120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(fake) +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x = region,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y = fit))</a:t>
            </a:r>
          </a:p>
          <a:p>
            <a:r>
              <a:rPr lang="en-GB" dirty="0"/>
              <a:t>Add the 95% CI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 + 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geom_errorbar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region,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= low,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GB" dirty="0"/>
          </a:p>
        </p:txBody>
      </p:sp>
      <p:pic>
        <p:nvPicPr>
          <p:cNvPr id="9" name="Picture Placeholder 8" descr="A screen shot of a graph&#10;&#10;Description automatically generated">
            <a:extLst>
              <a:ext uri="{FF2B5EF4-FFF2-40B4-BE49-F238E27FC236}">
                <a16:creationId xmlns:a16="http://schemas.microsoft.com/office/drawing/2014/main" id="{457B7D88-F919-57FF-BA91-E4988BDF8F0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1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25FE903E-B0DA-1F79-31CD-69F9C9096E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D70CE1A-0EEC-26D4-AA5C-52DAAB6A8F1E}"/>
                  </a:ext>
                </a:extLst>
              </p14:cNvPr>
              <p14:cNvContentPartPr/>
              <p14:nvPr/>
            </p14:nvContentPartPr>
            <p14:xfrm>
              <a:off x="3005501" y="2751865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D70CE1A-0EEC-26D4-AA5C-52DAAB6A8F1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99381" y="2745745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D6930BD7-6A63-A3EC-E6D9-82E5EE059DA2}"/>
              </a:ext>
            </a:extLst>
          </p:cNvPr>
          <p:cNvGrpSpPr/>
          <p:nvPr/>
        </p:nvGrpSpPr>
        <p:grpSpPr>
          <a:xfrm>
            <a:off x="3177221" y="2851225"/>
            <a:ext cx="9720" cy="360"/>
            <a:chOff x="3177221" y="2851225"/>
            <a:chExt cx="9720" cy="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1276F6-2E14-0FCB-A5CA-E8F9D0AEFE40}"/>
                    </a:ext>
                  </a:extLst>
                </p14:cNvPr>
                <p14:cNvContentPartPr/>
                <p14:nvPr/>
              </p14:nvContentPartPr>
              <p14:xfrm>
                <a:off x="3177221" y="2851225"/>
                <a:ext cx="1800" cy="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1276F6-2E14-0FCB-A5CA-E8F9D0AEFE4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71101" y="2845105"/>
                  <a:ext cx="14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6C6424D-E1DE-CE37-98F2-03685C3D8843}"/>
                    </a:ext>
                  </a:extLst>
                </p14:cNvPr>
                <p14:cNvContentPartPr/>
                <p14:nvPr/>
              </p14:nvContentPartPr>
              <p14:xfrm>
                <a:off x="3186581" y="2851225"/>
                <a:ext cx="36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6C6424D-E1DE-CE37-98F2-03685C3D884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80461" y="284510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62F609-847E-FD16-EEA1-1C9A3C0E739C}"/>
              </a:ext>
            </a:extLst>
          </p:cNvPr>
          <p:cNvGrpSpPr/>
          <p:nvPr/>
        </p:nvGrpSpPr>
        <p:grpSpPr>
          <a:xfrm>
            <a:off x="3105221" y="2652145"/>
            <a:ext cx="360" cy="360"/>
            <a:chOff x="3105221" y="2652145"/>
            <a:chExt cx="360" cy="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E51F2D7-DC0E-9291-08C1-B5CBEEBC5224}"/>
                    </a:ext>
                  </a:extLst>
                </p14:cNvPr>
                <p14:cNvContentPartPr/>
                <p14:nvPr/>
              </p14:nvContentPartPr>
              <p14:xfrm>
                <a:off x="3105221" y="2652145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E51F2D7-DC0E-9291-08C1-B5CBEEBC522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99101" y="26460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A00323-5C7D-491F-05D3-6803CAF5AA0C}"/>
                    </a:ext>
                  </a:extLst>
                </p14:cNvPr>
                <p14:cNvContentPartPr/>
                <p14:nvPr/>
              </p14:nvContentPartPr>
              <p14:xfrm>
                <a:off x="3105221" y="2652145"/>
                <a:ext cx="360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A00323-5C7D-491F-05D3-6803CAF5AA0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99101" y="26460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89958C6-D501-4087-18BF-C7A9C3A31A00}"/>
                  </a:ext>
                </a:extLst>
              </p14:cNvPr>
              <p14:cNvContentPartPr/>
              <p14:nvPr/>
            </p14:nvContentPartPr>
            <p14:xfrm>
              <a:off x="3784181" y="2588785"/>
              <a:ext cx="360" cy="3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89958C6-D501-4087-18BF-C7A9C3A31A0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78061" y="2582665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628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DD9CC4E1-55D2-D3EF-C737-EFD050E5A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6926A4-5728-77C8-7061-E97F6671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7: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3F94A-4F01-BFFE-CF9B-34149B100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743199"/>
            <a:ext cx="6201295" cy="3923607"/>
          </a:xfrm>
        </p:spPr>
        <p:txBody>
          <a:bodyPr/>
          <a:lstStyle/>
          <a:p>
            <a:r>
              <a:rPr lang="en-GB" dirty="0"/>
              <a:t>Do some regions watch more Netflix than others?</a:t>
            </a:r>
          </a:p>
          <a:p>
            <a:r>
              <a:rPr lang="en-GB" dirty="0"/>
              <a:t>How conclusive is our evidence?</a:t>
            </a:r>
          </a:p>
          <a:p>
            <a:pPr lvl="1"/>
            <a:r>
              <a:rPr lang="en-GB" dirty="0"/>
              <a:t>Are there any alternative ways to interpret the results?</a:t>
            </a:r>
          </a:p>
        </p:txBody>
      </p:sp>
      <p:pic>
        <p:nvPicPr>
          <p:cNvPr id="7" name="Picture Placeholder 11" descr="A group of squares with different colors&#10;&#10;Description automatically generated">
            <a:extLst>
              <a:ext uri="{FF2B5EF4-FFF2-40B4-BE49-F238E27FC236}">
                <a16:creationId xmlns:a16="http://schemas.microsoft.com/office/drawing/2014/main" id="{7149C4B1-7612-5AAC-2B77-84B7BC61D0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7" t="18969" r="25979" b="34192"/>
          <a:stretch/>
        </p:blipFill>
        <p:spPr>
          <a:xfrm>
            <a:off x="184409" y="1054477"/>
            <a:ext cx="5832475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7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62A75-D96B-11A8-1F25-1A629FC1B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00211"/>
          </a:xfrm>
        </p:spPr>
        <p:txBody>
          <a:bodyPr>
            <a:normAutofit fontScale="90000"/>
          </a:bodyPr>
          <a:lstStyle/>
          <a:p>
            <a:pPr algn="ctr"/>
            <a:r>
              <a:rPr lang="en-GB" dirty="0" err="1"/>
              <a:t>tl;dr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Complete analysis in 27 lines of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34939-8DB6-D292-62AA-F4B655BC3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488" y="1145822"/>
            <a:ext cx="10625175" cy="57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63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512</TotalTime>
  <Words>1215</Words>
  <Application>Microsoft Office PowerPoint</Application>
  <PresentationFormat>Widescreen</PresentationFormat>
  <Paragraphs>169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Bahnschrift Light</vt:lpstr>
      <vt:lpstr>Cambria Math</vt:lpstr>
      <vt:lpstr>Courier New</vt:lpstr>
      <vt:lpstr>sbs_template</vt:lpstr>
      <vt:lpstr>Model diagnostics for linear models </vt:lpstr>
      <vt:lpstr>Assumption of Normality</vt:lpstr>
      <vt:lpstr>PowerPoint Presentation</vt:lpstr>
      <vt:lpstr>The four horseman</vt:lpstr>
      <vt:lpstr>PowerPoint Presentation</vt:lpstr>
      <vt:lpstr>PowerPoint Presentation</vt:lpstr>
      <vt:lpstr>Residuals vs Fitted</vt:lpstr>
      <vt:lpstr>Residuals vs Fitted</vt:lpstr>
      <vt:lpstr>The four horseman</vt:lpstr>
      <vt:lpstr>Scale-Location</vt:lpstr>
      <vt:lpstr>The four horseman</vt:lpstr>
      <vt:lpstr>Q-Q Residuals</vt:lpstr>
      <vt:lpstr>The four horseman</vt:lpstr>
      <vt:lpstr>Residuals vs Leverage</vt:lpstr>
      <vt:lpstr>Residuals vs Leverage</vt:lpstr>
      <vt:lpstr>The four horseman</vt:lpstr>
      <vt:lpstr>Linear models with categorical variable: Full workflow example</vt:lpstr>
      <vt:lpstr>Who watches the most Netflix?</vt:lpstr>
      <vt:lpstr>Step 1: Get data</vt:lpstr>
      <vt:lpstr>Step 2: Explore data</vt:lpstr>
      <vt:lpstr>Step 3: Fit model</vt:lpstr>
      <vt:lpstr>Step 4: Diagnose</vt:lpstr>
      <vt:lpstr>Step 5: Summarise</vt:lpstr>
      <vt:lpstr>Step 6: Plot predictions</vt:lpstr>
      <vt:lpstr>Step 6: Plot predictions</vt:lpstr>
      <vt:lpstr>Step 6: Plot predictions</vt:lpstr>
      <vt:lpstr>Step 6: Plot predictions</vt:lpstr>
      <vt:lpstr>Step 7: Discuss</vt:lpstr>
      <vt:lpstr>tl;dr  Complete analysis in 27 lines of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6</cp:revision>
  <dcterms:created xsi:type="dcterms:W3CDTF">2024-07-24T09:42:52Z</dcterms:created>
  <dcterms:modified xsi:type="dcterms:W3CDTF">2024-10-09T09:22:23Z</dcterms:modified>
</cp:coreProperties>
</file>