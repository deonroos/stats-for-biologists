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9" r:id="rId3"/>
    <p:sldId id="280" r:id="rId4"/>
    <p:sldId id="281" r:id="rId5"/>
    <p:sldId id="282" r:id="rId6"/>
    <p:sldId id="261" r:id="rId7"/>
    <p:sldId id="297" r:id="rId8"/>
    <p:sldId id="283" r:id="rId9"/>
    <p:sldId id="284" r:id="rId10"/>
    <p:sldId id="285" r:id="rId11"/>
    <p:sldId id="286" r:id="rId12"/>
    <p:sldId id="287" r:id="rId13"/>
    <p:sldId id="288" r:id="rId14"/>
    <p:sldId id="267" r:id="rId15"/>
    <p:sldId id="289" r:id="rId16"/>
    <p:sldId id="290" r:id="rId17"/>
    <p:sldId id="291" r:id="rId18"/>
    <p:sldId id="272" r:id="rId19"/>
    <p:sldId id="292" r:id="rId20"/>
    <p:sldId id="275" r:id="rId21"/>
    <p:sldId id="296" r:id="rId22"/>
    <p:sldId id="293" r:id="rId23"/>
    <p:sldId id="294" r:id="rId24"/>
    <p:sldId id="260" r:id="rId25"/>
    <p:sldId id="295" r:id="rId26"/>
    <p:sldId id="262" r:id="rId27"/>
    <p:sldId id="263" r:id="rId28"/>
    <p:sldId id="264" r:id="rId29"/>
    <p:sldId id="265" r:id="rId30"/>
    <p:sldId id="266" r:id="rId31"/>
    <p:sldId id="277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6283" autoAdjust="0"/>
  </p:normalViewPr>
  <p:slideViewPr>
    <p:cSldViewPr snapToGrid="0">
      <p:cViewPr varScale="1">
        <p:scale>
          <a:sx n="109" d="100"/>
          <a:sy n="109" d="100"/>
        </p:scale>
        <p:origin x="13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643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4936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807966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8096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C62B-EE64-493C-ACFA-F64AA6808250}" type="datetimeFigureOut">
              <a:rPr lang="en-GB" smtClean="0"/>
              <a:t>04/09/2024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07A69-F761-4E14-9FFA-E0B081D83E7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5104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C62B-EE64-493C-ACFA-F64AA6808250}" type="datetimeFigureOut">
              <a:rPr lang="en-GB" smtClean="0"/>
              <a:t>04/09/2024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07A69-F761-4E14-9FFA-E0B081D83E7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5916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C62B-EE64-493C-ACFA-F64AA6808250}" type="datetimeFigureOut">
              <a:rPr lang="en-GB" smtClean="0"/>
              <a:t>04/09/2024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07A69-F761-4E14-9FFA-E0B081D83E7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2133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C62B-EE64-493C-ACFA-F64AA6808250}" type="datetimeFigureOut">
              <a:rPr lang="en-GB" smtClean="0"/>
              <a:t>04/09/2024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07A69-F761-4E14-9FFA-E0B081D83E7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253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C62B-EE64-493C-ACFA-F64AA6808250}" type="datetimeFigureOut">
              <a:rPr lang="en-GB" smtClean="0"/>
              <a:t>04/09/2024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07A69-F761-4E14-9FFA-E0B081D83E7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1980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C62B-EE64-493C-ACFA-F64AA6808250}" type="datetimeFigureOut">
              <a:rPr lang="en-GB" smtClean="0"/>
              <a:t>04/09/2024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07A69-F761-4E14-9FFA-E0B081D83E7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6064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C62B-EE64-493C-ACFA-F64AA6808250}" type="datetimeFigureOut">
              <a:rPr lang="en-GB" smtClean="0"/>
              <a:t>04/09/2024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07A69-F761-4E14-9FFA-E0B081D83E7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23029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0BAB7-A431-A252-9ED3-157CA2F766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76E271-5917-5876-2D0B-227FEBC53C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484988-D3CE-1301-7E38-6B0FE5926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C62B-EE64-493C-ACFA-F64AA6808250}" type="datetimeFigureOut">
              <a:rPr lang="en-GB" smtClean="0"/>
              <a:t>04/09/2024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0882E2-8489-1084-2906-DB618ADBE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F47668-08CA-AE07-85ED-3403E060F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07A69-F761-4E14-9FFA-E0B081D83E7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76003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15C05-6CDD-4464-945C-DD90D592A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784A5-5013-4166-BB90-D2F7C2B4A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AE56C5-9256-4A58-992A-48CB132AD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F2DC2B-FEE6-469D-B9B0-5A8256869BC2}" type="datetimeFigureOut">
              <a:rPr lang="en-GB" smtClean="0"/>
              <a:t>04/09/2024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638F45-7E76-4D08-B0C2-FC2F84DCB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5D5848-3C61-4995-A4D6-C04591857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CCE39-1521-4D94-A9BB-D6B9EC0AF4F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81536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4CC62B-EE64-493C-ACFA-F64AA6808250}" type="datetimeFigureOut">
              <a:rPr lang="en-GB" smtClean="0"/>
              <a:t>04/09/2024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007A69-F761-4E14-9FFA-E0B081D83E7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58997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intro2r.com/" TargetMode="Externa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179B7-754E-E104-A267-7A4C9351555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Data visualisations in 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4BEFC0-28A8-CF10-08CC-B9A60646E7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 err="1"/>
              <a:t>Nosotros</a:t>
            </a:r>
            <a:r>
              <a:rPr lang="en-GB" dirty="0"/>
              <a:t> </a:t>
            </a:r>
            <a:r>
              <a:rPr lang="en-GB" dirty="0" err="1"/>
              <a:t>aprenderemos</a:t>
            </a:r>
            <a:r>
              <a:rPr lang="en-GB" dirty="0"/>
              <a:t> un nuevo </a:t>
            </a:r>
            <a:r>
              <a:rPr lang="en-GB" dirty="0" err="1"/>
              <a:t>iodma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2099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986F7-E703-28AD-1400-80F3AD4FD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skills to become a good scientist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85169-FCF6-72A0-0BCE-24FBA33A8A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order of importance</a:t>
            </a:r>
          </a:p>
          <a:p>
            <a:pPr lvl="1"/>
            <a:r>
              <a:rPr lang="en-US" dirty="0"/>
              <a:t>Biological/scientific understanding</a:t>
            </a:r>
          </a:p>
          <a:p>
            <a:pPr lvl="1"/>
            <a:r>
              <a:rPr lang="en-US" dirty="0"/>
              <a:t>Statistical understanding</a:t>
            </a:r>
          </a:p>
          <a:p>
            <a:pPr lvl="1"/>
            <a:r>
              <a:rPr lang="en-US" dirty="0"/>
              <a:t>Many other things…</a:t>
            </a:r>
          </a:p>
          <a:p>
            <a:pPr lvl="1"/>
            <a:r>
              <a:rPr lang="en-US" dirty="0"/>
              <a:t>Programming ability</a:t>
            </a:r>
          </a:p>
          <a:p>
            <a:endParaRPr lang="en-GB" dirty="0"/>
          </a:p>
          <a:p>
            <a:r>
              <a:rPr lang="en-GB" sz="2800" dirty="0"/>
              <a:t>Focussing on coding skills, leads to…</a:t>
            </a:r>
          </a:p>
          <a:p>
            <a:endParaRPr lang="en-GB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C92E7180-9A1E-52CD-005C-780390D9E44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 l="-31" t="29360" r="-613" b="41861"/>
          <a:stretch/>
        </p:blipFill>
        <p:spPr>
          <a:xfrm>
            <a:off x="6359525" y="1562100"/>
            <a:ext cx="5832475" cy="12573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A6385A1-E5C8-D473-0285-327B3C695D5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1484" t="30756" r="50000" b="20785"/>
          <a:stretch/>
        </p:blipFill>
        <p:spPr>
          <a:xfrm>
            <a:off x="7980629" y="3239875"/>
            <a:ext cx="2257425" cy="3175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3874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99BE1FB-BF70-0172-BD92-97BF01D6626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dirty="0"/>
                  <a:t>Implementing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GB" dirty="0"/>
                  <a:t> understanding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99BE1FB-BF70-0172-BD92-97BF01D662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4286" b="-207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46D777-B744-7515-8CAD-2C3CADC6A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common misconception is;</a:t>
            </a:r>
          </a:p>
          <a:p>
            <a:pPr lvl="1"/>
            <a:r>
              <a:rPr lang="en-US" dirty="0"/>
              <a:t>“I can code a model in R, therefore I understand the stats”</a:t>
            </a:r>
          </a:p>
          <a:p>
            <a:r>
              <a:rPr lang="en-US" dirty="0"/>
              <a:t>Can you copy and paste this code?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gam(y ~ s(x2, k = 50), data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method = "REML")</a:t>
            </a:r>
          </a:p>
          <a:p>
            <a:pPr lvl="1"/>
            <a:r>
              <a:rPr lang="en-US" dirty="0"/>
              <a:t>Congratulations, you’ve just run a </a:t>
            </a:r>
            <a:r>
              <a:rPr lang="en-US" dirty="0" err="1"/>
              <a:t>generalised</a:t>
            </a:r>
            <a:r>
              <a:rPr lang="en-US" dirty="0"/>
              <a:t> additive model, with the growth explained by scaled temperature, allowing a maximum of 50 knots, effectively using 9.59, for the thin plate regression spline basis.</a:t>
            </a:r>
          </a:p>
          <a:p>
            <a:endParaRPr lang="en-GB" dirty="0"/>
          </a:p>
        </p:txBody>
      </p:sp>
      <p:pic>
        <p:nvPicPr>
          <p:cNvPr id="14" name="Picture Placeholder 13" descr="A graph of growth rate&#10;&#10;Description automatically generated">
            <a:extLst>
              <a:ext uri="{FF2B5EF4-FFF2-40B4-BE49-F238E27FC236}">
                <a16:creationId xmlns:a16="http://schemas.microsoft.com/office/drawing/2014/main" id="{EDC3D520-D686-37BC-D9D7-A725C2907E1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766193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243FE-CBC1-4096-F08A-C4BFB8B8F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History of programming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D196A-4896-9BC6-3FE6-F44A672785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Raw binary code</a:t>
            </a:r>
          </a:p>
          <a:p>
            <a:pPr lvl="1"/>
            <a:r>
              <a:rPr lang="en-US" dirty="0"/>
              <a:t>0001 0110 1011</a:t>
            </a:r>
          </a:p>
          <a:p>
            <a:r>
              <a:rPr lang="en-US" dirty="0"/>
              <a:t>Low level languages</a:t>
            </a:r>
          </a:p>
          <a:p>
            <a:pPr lvl="1"/>
            <a:r>
              <a:rPr lang="en-US" dirty="0"/>
              <a:t>E.g. Assembly</a:t>
            </a:r>
          </a:p>
          <a:p>
            <a:pPr lvl="1"/>
            <a:r>
              <a:rPr lang="en-US" dirty="0"/>
              <a:t>Still coding in “machine” language</a:t>
            </a:r>
          </a:p>
          <a:p>
            <a:pPr lvl="1"/>
            <a:r>
              <a:rPr lang="en-US" dirty="0"/>
              <a:t>Very early symbolic language</a:t>
            </a:r>
          </a:p>
          <a:p>
            <a:pPr lvl="1"/>
            <a:r>
              <a:rPr lang="en-US" dirty="0"/>
              <a:t>Very difficult to code and debug</a:t>
            </a:r>
          </a:p>
          <a:p>
            <a:r>
              <a:rPr lang="en-US" dirty="0"/>
              <a:t>High level languages</a:t>
            </a:r>
          </a:p>
          <a:p>
            <a:pPr lvl="1"/>
            <a:r>
              <a:rPr lang="en-US" dirty="0"/>
              <a:t>E.g. R, C++, Python, Java, etc.</a:t>
            </a:r>
          </a:p>
          <a:p>
            <a:pPr lvl="1"/>
            <a:r>
              <a:rPr lang="en-US" dirty="0"/>
              <a:t>Handle conversion of phrases into raw binary</a:t>
            </a:r>
          </a:p>
          <a:p>
            <a:pPr lvl="1"/>
            <a:r>
              <a:rPr lang="en-US" dirty="0"/>
              <a:t>Conversion is called “compiling”</a:t>
            </a:r>
          </a:p>
          <a:p>
            <a:pPr lvl="1"/>
            <a:r>
              <a:rPr lang="en-US" dirty="0"/>
              <a:t>Code is “readable”, using English word</a:t>
            </a:r>
          </a:p>
          <a:p>
            <a:endParaRPr lang="en-GB" dirty="0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CC38C686-4ADE-178B-9E89-7CF9ADDAD53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14187" b="14187"/>
          <a:stretch>
            <a:fillRect/>
          </a:stretch>
        </p:blipFill>
        <p:spPr>
          <a:prstGeom prst="rect">
            <a:avLst/>
          </a:prstGeom>
        </p:spPr>
      </p:pic>
      <p:pic>
        <p:nvPicPr>
          <p:cNvPr id="6" name="Picture 5" descr="A picture containing text, receipt&#10;&#10;Description automatically generated">
            <a:extLst>
              <a:ext uri="{FF2B5EF4-FFF2-40B4-BE49-F238E27FC236}">
                <a16:creationId xmlns:a16="http://schemas.microsoft.com/office/drawing/2014/main" id="{DDAFF85A-5745-30D7-4961-6B068FA250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0682" y="244984"/>
            <a:ext cx="4032542" cy="64218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48A64A-FF8E-8F9A-4C01-DBB6CDCA8FC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834" t="14957" r="51000" b="9458"/>
          <a:stretch/>
        </p:blipFill>
        <p:spPr>
          <a:xfrm>
            <a:off x="6359525" y="1084855"/>
            <a:ext cx="5628640" cy="495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006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8958C-9425-F7AC-4A36-16451CAC1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 and RStudio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292D6-68D7-58A9-A620-C537B16BB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If you so wanted, you could code directly in R via the “console”</a:t>
            </a:r>
          </a:p>
          <a:p>
            <a:pPr lvl="1"/>
            <a:r>
              <a:rPr lang="en-US" dirty="0"/>
              <a:t>Working directly in the console can be fiddly and cause issues</a:t>
            </a:r>
          </a:p>
          <a:p>
            <a:pPr lvl="2"/>
            <a:r>
              <a:rPr lang="en-US" dirty="0"/>
              <a:t>Imagine writing an essay in Word without being able to save</a:t>
            </a:r>
          </a:p>
          <a:p>
            <a:r>
              <a:rPr lang="en-US" dirty="0"/>
              <a:t>R is the programming language</a:t>
            </a:r>
          </a:p>
          <a:p>
            <a:r>
              <a:rPr lang="en-US" dirty="0"/>
              <a:t>RStudio is an IDE</a:t>
            </a:r>
          </a:p>
          <a:p>
            <a:pPr lvl="1"/>
            <a:r>
              <a:rPr lang="en-US" dirty="0"/>
              <a:t>Integrated Developer Environment</a:t>
            </a:r>
          </a:p>
          <a:p>
            <a:pPr lvl="1"/>
            <a:r>
              <a:rPr lang="en-US" dirty="0"/>
              <a:t>An IDE is kind of like the Word equivalent for a given programming language</a:t>
            </a:r>
          </a:p>
          <a:p>
            <a:endParaRPr lang="en-GB" dirty="0"/>
          </a:p>
        </p:txBody>
      </p:sp>
      <p:pic>
        <p:nvPicPr>
          <p:cNvPr id="6" name="Picture 2" descr="RStudio | Open source &amp; professional software for data science teams -  RStudio">
            <a:extLst>
              <a:ext uri="{FF2B5EF4-FFF2-40B4-BE49-F238E27FC236}">
                <a16:creationId xmlns:a16="http://schemas.microsoft.com/office/drawing/2014/main" id="{AAD89D79-6ABB-C654-84E5-FFB956F858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0774" y="4377373"/>
            <a:ext cx="3609975" cy="1266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Logo, icon&#10;&#10;Description automatically generated">
            <a:extLst>
              <a:ext uri="{FF2B5EF4-FFF2-40B4-BE49-F238E27FC236}">
                <a16:creationId xmlns:a16="http://schemas.microsoft.com/office/drawing/2014/main" id="{A54E495A-C514-4B63-90FE-06297123AE1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-1939" r="71" b="-1154"/>
          <a:stretch/>
        </p:blipFill>
        <p:spPr>
          <a:xfrm>
            <a:off x="7828235" y="1426613"/>
            <a:ext cx="2713742" cy="2169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587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57;p13">
            <a:extLst>
              <a:ext uri="{FF2B5EF4-FFF2-40B4-BE49-F238E27FC236}">
                <a16:creationId xmlns:a16="http://schemas.microsoft.com/office/drawing/2014/main" id="{B7760AF7-843D-4BEF-B839-C6734DB9762E}"/>
              </a:ext>
            </a:extLst>
          </p:cNvPr>
          <p:cNvSpPr/>
          <p:nvPr/>
        </p:nvSpPr>
        <p:spPr>
          <a:xfrm>
            <a:off x="4695902" y="1132628"/>
            <a:ext cx="2622625" cy="105225"/>
          </a:xfrm>
          <a:custGeom>
            <a:avLst/>
            <a:gdLst/>
            <a:ahLst/>
            <a:cxnLst/>
            <a:rect l="l" t="t" r="r" b="b"/>
            <a:pathLst>
              <a:path w="104905" h="4209" extrusionOk="0">
                <a:moveTo>
                  <a:pt x="0" y="2010"/>
                </a:moveTo>
                <a:cubicBezTo>
                  <a:pt x="34411" y="-4246"/>
                  <a:pt x="71725" y="11060"/>
                  <a:pt x="104905" y="0"/>
                </a:cubicBezTo>
              </a:path>
            </a:pathLst>
          </a:custGeom>
          <a:noFill/>
          <a:ln w="19050" cap="flat" cmpd="sng">
            <a:solidFill>
              <a:srgbClr val="4C113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pic>
        <p:nvPicPr>
          <p:cNvPr id="15" name="Content Placeholder 4">
            <a:extLst>
              <a:ext uri="{FF2B5EF4-FFF2-40B4-BE49-F238E27FC236}">
                <a16:creationId xmlns:a16="http://schemas.microsoft.com/office/drawing/2014/main" id="{3B4485F5-6743-4C06-BEA1-94539A265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20046"/>
            <a:ext cx="12192000" cy="6553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4FFB3E7-B197-4570-B612-B3AD6591AB99}"/>
              </a:ext>
            </a:extLst>
          </p:cNvPr>
          <p:cNvSpPr txBox="1"/>
          <p:nvPr/>
        </p:nvSpPr>
        <p:spPr>
          <a:xfrm>
            <a:off x="1924813" y="2249363"/>
            <a:ext cx="2673809" cy="95410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The script editor;</a:t>
            </a:r>
          </a:p>
          <a:p>
            <a:pPr algn="ctr"/>
            <a:r>
              <a:rPr lang="en-GB" sz="2800" dirty="0"/>
              <a:t>e.g. Word for 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C46C9AC-BF15-47AB-BDB1-F4791F803056}"/>
              </a:ext>
            </a:extLst>
          </p:cNvPr>
          <p:cNvSpPr/>
          <p:nvPr/>
        </p:nvSpPr>
        <p:spPr>
          <a:xfrm>
            <a:off x="0" y="685800"/>
            <a:ext cx="6299200" cy="3777554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B90CB3-3D21-4851-9DAD-D95BCC0132D0}"/>
              </a:ext>
            </a:extLst>
          </p:cNvPr>
          <p:cNvSpPr txBox="1"/>
          <p:nvPr/>
        </p:nvSpPr>
        <p:spPr>
          <a:xfrm>
            <a:off x="1060276" y="5121372"/>
            <a:ext cx="4235198" cy="95410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The console;</a:t>
            </a:r>
          </a:p>
          <a:p>
            <a:pPr algn="ctr"/>
            <a:r>
              <a:rPr lang="en-GB" sz="2800" dirty="0"/>
              <a:t>e.g. Word without “save as”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B2AE72-EEE6-49DC-BC9E-26B7E69A2790}"/>
              </a:ext>
            </a:extLst>
          </p:cNvPr>
          <p:cNvSpPr/>
          <p:nvPr/>
        </p:nvSpPr>
        <p:spPr>
          <a:xfrm>
            <a:off x="-1" y="4463354"/>
            <a:ext cx="6299201" cy="2114287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E173AA-DA87-45C6-82F6-AB4DFF2681A8}"/>
              </a:ext>
            </a:extLst>
          </p:cNvPr>
          <p:cNvSpPr txBox="1"/>
          <p:nvPr/>
        </p:nvSpPr>
        <p:spPr>
          <a:xfrm>
            <a:off x="7662878" y="1132628"/>
            <a:ext cx="3407216" cy="1384995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Objects in environment,</a:t>
            </a:r>
          </a:p>
          <a:p>
            <a:pPr algn="ctr"/>
            <a:r>
              <a:rPr lang="en-GB" sz="2800" dirty="0"/>
              <a:t>e.g. stored data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BF4A83-7044-4BEC-8143-58B8CD8B3A97}"/>
              </a:ext>
            </a:extLst>
          </p:cNvPr>
          <p:cNvSpPr/>
          <p:nvPr/>
        </p:nvSpPr>
        <p:spPr>
          <a:xfrm>
            <a:off x="6504003" y="681036"/>
            <a:ext cx="5611797" cy="2372068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27B690-7993-4906-ACC9-5D7B117F34B2}"/>
              </a:ext>
            </a:extLst>
          </p:cNvPr>
          <p:cNvSpPr txBox="1"/>
          <p:nvPr/>
        </p:nvSpPr>
        <p:spPr>
          <a:xfrm>
            <a:off x="7781737" y="4150216"/>
            <a:ext cx="3407216" cy="1384995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Preview area,</a:t>
            </a:r>
          </a:p>
          <a:p>
            <a:pPr algn="ctr"/>
            <a:r>
              <a:rPr lang="en-GB" sz="2800" dirty="0"/>
              <a:t>e.g. see plots, animations, etc.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8DFB49-F593-4034-9A29-C78BE9FB75BB}"/>
              </a:ext>
            </a:extLst>
          </p:cNvPr>
          <p:cNvSpPr/>
          <p:nvPr/>
        </p:nvSpPr>
        <p:spPr>
          <a:xfrm>
            <a:off x="6504003" y="3053103"/>
            <a:ext cx="5611797" cy="3524537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79B19B8-37D6-4E0F-B080-71F0C2D1E036}"/>
              </a:ext>
            </a:extLst>
          </p:cNvPr>
          <p:cNvGrpSpPr/>
          <p:nvPr/>
        </p:nvGrpSpPr>
        <p:grpSpPr>
          <a:xfrm>
            <a:off x="3554581" y="947912"/>
            <a:ext cx="2971344" cy="1073853"/>
            <a:chOff x="3554581" y="947912"/>
            <a:chExt cx="2971344" cy="1073853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E6F28A7-6FAB-480F-8C80-9D2A46AF70C9}"/>
                </a:ext>
              </a:extLst>
            </p:cNvPr>
            <p:cNvSpPr txBox="1"/>
            <p:nvPr/>
          </p:nvSpPr>
          <p:spPr>
            <a:xfrm>
              <a:off x="3554581" y="1283101"/>
              <a:ext cx="2971344" cy="73866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dirty="0"/>
                <a:t>To run code, either press Run button, or press Ctrl + Enter (Or </a:t>
              </a:r>
              <a:r>
                <a:rPr lang="en-GB" sz="1400" dirty="0" err="1"/>
                <a:t>Cmd</a:t>
              </a:r>
              <a:r>
                <a:rPr lang="en-GB" sz="1400" dirty="0"/>
                <a:t> + Enter on Mac)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295B3CA-538E-48F0-844E-74FDAF906B05}"/>
                </a:ext>
              </a:extLst>
            </p:cNvPr>
            <p:cNvSpPr/>
            <p:nvPr/>
          </p:nvSpPr>
          <p:spPr>
            <a:xfrm>
              <a:off x="4802388" y="947912"/>
              <a:ext cx="475731" cy="184716"/>
            </a:xfrm>
            <a:prstGeom prst="rect">
              <a:avLst/>
            </a:pr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FCF9F74-AA32-4502-8203-E800632A9619}"/>
                </a:ext>
              </a:extLst>
            </p:cNvPr>
            <p:cNvCxnSpPr>
              <a:cxnSpLocks/>
              <a:stCxn id="16" idx="0"/>
              <a:endCxn id="17" idx="2"/>
            </p:cNvCxnSpPr>
            <p:nvPr/>
          </p:nvCxnSpPr>
          <p:spPr>
            <a:xfrm flipV="1">
              <a:off x="5040253" y="1132628"/>
              <a:ext cx="1" cy="150473"/>
            </a:xfrm>
            <a:prstGeom prst="straightConnector1">
              <a:avLst/>
            </a:prstGeom>
            <a:ln w="28575"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7588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AA588-4B7B-EBDF-72F5-76AB35256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 is a fancy calculator</a:t>
            </a:r>
          </a:p>
        </p:txBody>
      </p:sp>
    </p:spTree>
    <p:extLst>
      <p:ext uri="{BB962C8B-B14F-4D97-AF65-F5344CB8AC3E}">
        <p14:creationId xmlns:p14="http://schemas.microsoft.com/office/powerpoint/2010/main" val="128393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6E851-609E-F67F-ECD8-B3EACAB84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 is a fancy calculator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7EAA6-1A03-E027-86AD-AEC3C71A9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We can do very simple maths using R</a:t>
            </a:r>
          </a:p>
          <a:p>
            <a:r>
              <a:rPr lang="en-GB" dirty="0"/>
              <a:t>For example, 20 + 30 = ?</a:t>
            </a:r>
          </a:p>
          <a:p>
            <a:r>
              <a:rPr lang="en-GB" dirty="0"/>
              <a:t>In the R console, we can code this as;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20 + 30</a:t>
            </a:r>
          </a:p>
          <a:p>
            <a:pPr lvl="1"/>
            <a:r>
              <a:rPr lang="en-GB" dirty="0"/>
              <a:t>The “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GB" dirty="0"/>
              <a:t>” is a console prompt</a:t>
            </a:r>
          </a:p>
          <a:p>
            <a:pPr lvl="2"/>
            <a:r>
              <a:rPr lang="en-GB" dirty="0"/>
              <a:t>i.e. “I am ready for code”</a:t>
            </a:r>
          </a:p>
          <a:p>
            <a:pPr lvl="1"/>
            <a:r>
              <a:rPr lang="en-GB" dirty="0"/>
              <a:t>If we run the code (i.e. hit “Enter”)</a:t>
            </a:r>
          </a:p>
          <a:p>
            <a:r>
              <a:rPr lang="en-GB" dirty="0"/>
              <a:t>R returns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[1] 50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[1]</a:t>
            </a:r>
            <a:r>
              <a:rPr lang="en-GB" dirty="0"/>
              <a:t> means that this is the first value</a:t>
            </a:r>
          </a:p>
          <a:p>
            <a:pPr lvl="2"/>
            <a:r>
              <a:rPr lang="en-GB" dirty="0"/>
              <a:t>And in this case, the only value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r>
              <a:rPr lang="en-GB" dirty="0"/>
              <a:t> is the solution to 20 + 30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2C58A0-AEED-4F72-AD58-A8AB30E685B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53" t="46667" r="93125" b="48826"/>
          <a:stretch/>
        </p:blipFill>
        <p:spPr>
          <a:xfrm>
            <a:off x="7681937" y="2814770"/>
            <a:ext cx="3053471" cy="1228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355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471C7-A635-38F4-C688-74312AE06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5C1A04-D678-078F-5DA4-CB56CBFA2F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GB" dirty="0"/>
                  <a:t>The Lincoln-Peterson Estimator is an equation to estimate the population size</a:t>
                </a:r>
              </a:p>
              <a:p>
                <a:r>
                  <a:rPr lang="en-GB" dirty="0"/>
                  <a:t>Relies on catching, marking, releasing, then trying to recapture animals</a:t>
                </a:r>
              </a:p>
              <a:p>
                <a:r>
                  <a:rPr lang="en-GB" dirty="0"/>
                  <a:t>The equation is: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en-GB" dirty="0"/>
              </a:p>
              <a:p>
                <a:r>
                  <a:rPr lang="en-GB" dirty="0"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sz="2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2200" dirty="0"/>
                  <a:t> is the total number of animals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2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200" dirty="0"/>
                  <a:t> is the number of animals caught on day 1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22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sz="2200" dirty="0"/>
                  <a:t> is the number of animals caught on day 2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2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GB" sz="22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sz="2200" dirty="0"/>
                  <a:t> is the number of marked animals caught on day 2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5C1A04-D678-078F-5DA4-CB56CBFA2F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75" t="-581" r="-1868" b="-69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Placeholder 4" descr="A picture containing building, outdoor, mammal, house&#10;&#10;Description automatically generated">
            <a:extLst>
              <a:ext uri="{FF2B5EF4-FFF2-40B4-BE49-F238E27FC236}">
                <a16:creationId xmlns:a16="http://schemas.microsoft.com/office/drawing/2014/main" id="{C272BF81-1E08-4640-B166-A07C7879336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22" r="44968"/>
          <a:stretch/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3303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E0CFE-B4E3-FEA5-A764-A08EC2691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Newts!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7E01E4-5ADC-8ED8-C01D-50AC2F4F20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426613"/>
                <a:ext cx="6462346" cy="4719210"/>
              </a:xfrm>
            </p:spPr>
            <p:txBody>
              <a:bodyPr/>
              <a:lstStyle/>
              <a:p>
                <a:r>
                  <a:rPr lang="en-GB" dirty="0"/>
                  <a:t>On day 1 we catch and mark 20 crested newts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lang="en-GB" dirty="0"/>
                  <a:t>)</a:t>
                </a:r>
              </a:p>
              <a:p>
                <a:r>
                  <a:rPr lang="en-GB" dirty="0"/>
                  <a:t>On day 2, we catch 30 crested newts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=30</m:t>
                    </m:r>
                  </m:oMath>
                </a14:m>
                <a:r>
                  <a:rPr lang="en-GB" dirty="0"/>
                  <a:t>)</a:t>
                </a:r>
              </a:p>
              <a:p>
                <a:r>
                  <a:rPr lang="en-GB" dirty="0"/>
                  <a:t>Of which 10 have marks we put on yesterday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GB" dirty="0"/>
                  <a:t>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7E01E4-5ADC-8ED8-C01D-50AC2F4F20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426613"/>
                <a:ext cx="6462346" cy="4719210"/>
              </a:xfrm>
              <a:blipFill>
                <a:blip r:embed="rId2"/>
                <a:stretch>
                  <a:fillRect l="-169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609000B6-C1A2-8850-52C8-F15E5F098DF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930662" y="0"/>
                <a:ext cx="4261338" cy="6858000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dirty="0"/>
                  <a:t>In math jargon: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In R:</a:t>
                </a:r>
              </a:p>
              <a:p>
                <a:pPr marL="0" indent="0">
                  <a:buNone/>
                </a:pP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&gt; 20 * 30 / 10</a:t>
                </a:r>
              </a:p>
              <a:p>
                <a:pPr marL="0" indent="0">
                  <a:buNone/>
                </a:pP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[1] 60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609000B6-C1A2-8850-52C8-F15E5F098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0662" y="0"/>
                <a:ext cx="4261338" cy="6858000"/>
              </a:xfrm>
              <a:prstGeom prst="rect">
                <a:avLst/>
              </a:prstGeom>
              <a:blipFill>
                <a:blip r:embed="rId3"/>
                <a:stretch>
                  <a:fillRect l="-300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31926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0B12A-0F17-2EBA-A4A3-07D0487FF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objects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C36FC-86A4-ADBC-E563-F850FA3B53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Quite often, you can make your life easier by storing values for later use</a:t>
            </a:r>
          </a:p>
          <a:p>
            <a:r>
              <a:rPr lang="en-GB" dirty="0"/>
              <a:t>We store values (or datasets) as an “object”</a:t>
            </a:r>
          </a:p>
          <a:p>
            <a:r>
              <a:rPr lang="en-GB" dirty="0"/>
              <a:t>You’ll see them appear in your “Environment”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268D2E-0CE4-42E7-97FC-3108B0F3C1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7289" y="2948915"/>
            <a:ext cx="3478457" cy="3298924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6039900-5F80-F5FD-363F-32B9EDC84DA0}"/>
              </a:ext>
            </a:extLst>
          </p:cNvPr>
          <p:cNvSpPr txBox="1">
            <a:spLocks/>
          </p:cNvSpPr>
          <p:nvPr/>
        </p:nvSpPr>
        <p:spPr>
          <a:xfrm>
            <a:off x="7327289" y="662781"/>
            <a:ext cx="3672041" cy="21804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n1 &lt;- 20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n2 &lt;- 30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m2 &lt;- 10</a:t>
            </a:r>
          </a:p>
        </p:txBody>
      </p:sp>
    </p:spTree>
    <p:extLst>
      <p:ext uri="{BB962C8B-B14F-4D97-AF65-F5344CB8AC3E}">
        <p14:creationId xmlns:p14="http://schemas.microsoft.com/office/powerpoint/2010/main" val="2284554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0C1C6-6B46-E5EC-AFE4-33D05B70A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stored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objects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FCD0BF-66C3-7372-C328-750AFF4D92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Now that we have these values stored</a:t>
            </a:r>
          </a:p>
          <a:p>
            <a:r>
              <a:rPr lang="en-GB" dirty="0"/>
              <a:t>We can use them whenever we like</a:t>
            </a:r>
          </a:p>
          <a:p>
            <a:r>
              <a:rPr lang="en-GB" dirty="0"/>
              <a:t>We can even store the output if we wanted to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517A936-89B2-2053-F0B5-23D80AB1BBD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120" y="4026878"/>
            <a:ext cx="4899880" cy="26399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&gt; n1 * n2 / m2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[1] 60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&gt; N &lt;- n1 * n2 / m2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&gt; N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[1] 60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3E8C91-0EBE-F6F3-F5C3-C53D0F8587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889" y="539822"/>
            <a:ext cx="3478457" cy="3298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3979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ADBFF-5FA8-2D73-AFE8-1B3265C8E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180E-BEB8-7F3B-4F2F-165B78CCFF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GB" dirty="0"/>
              <a:t>At this point, we can do anything we want in R</a:t>
            </a:r>
          </a:p>
          <a:p>
            <a:r>
              <a:rPr lang="en-GB" dirty="0"/>
              <a:t>But doing so would require us to code every single part of the process</a:t>
            </a:r>
          </a:p>
          <a:p>
            <a:pPr lvl="1"/>
            <a:r>
              <a:rPr lang="en-GB" b="1" i="1" dirty="0"/>
              <a:t>Every. Single. Part</a:t>
            </a:r>
            <a:r>
              <a:rPr lang="en-GB" dirty="0"/>
              <a:t>…</a:t>
            </a:r>
            <a:endParaRPr lang="en-GB" sz="2400" dirty="0"/>
          </a:p>
          <a:p>
            <a:r>
              <a:rPr lang="en-GB" dirty="0"/>
              <a:t>An easier option is to use a “function”</a:t>
            </a:r>
          </a:p>
          <a:p>
            <a:r>
              <a:rPr lang="en-GB" dirty="0"/>
              <a:t>Functions are blocks of </a:t>
            </a:r>
            <a:r>
              <a:rPr lang="en-GB" b="1" i="1" dirty="0"/>
              <a:t>organised</a:t>
            </a:r>
            <a:r>
              <a:rPr lang="en-GB" dirty="0"/>
              <a:t>, </a:t>
            </a:r>
            <a:r>
              <a:rPr lang="en-GB" b="1" i="1" dirty="0"/>
              <a:t>reusable code </a:t>
            </a:r>
            <a:r>
              <a:rPr lang="en-GB" dirty="0"/>
              <a:t>(often written by someone else) that </a:t>
            </a:r>
            <a:r>
              <a:rPr lang="en-GB" b="1" i="1" dirty="0"/>
              <a:t>performs a specific action</a:t>
            </a:r>
          </a:p>
          <a:p>
            <a:pPr lvl="1"/>
            <a:r>
              <a:rPr lang="en-GB" dirty="0"/>
              <a:t>E.g.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logLik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(thing)</a:t>
            </a:r>
            <a:r>
              <a:rPr lang="en-GB" dirty="0">
                <a:cs typeface="Courier New" panose="02070309020205020404" pitchFamily="49" charset="0"/>
              </a:rPr>
              <a:t>calculates the log likelihood of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thing</a:t>
            </a:r>
            <a:endParaRPr lang="en-GB" dirty="0"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Picture Placeholder 3">
                <a:extLst>
                  <a:ext uri="{FF2B5EF4-FFF2-40B4-BE49-F238E27FC236}">
                    <a16:creationId xmlns:a16="http://schemas.microsoft.com/office/drawing/2014/main" id="{8A36D213-5272-F2AD-9ECD-0246F7EBB522}"/>
                  </a:ext>
                </a:extLst>
              </p:cNvPr>
              <p:cNvSpPr>
                <a:spLocks noGrp="1"/>
              </p:cNvSpPr>
              <p:nvPr>
                <p:ph type="pic" sz="quarter" idx="10"/>
              </p:nvPr>
            </p:nvSpPr>
            <p:spPr>
              <a:xfrm>
                <a:off x="6359525" y="2892668"/>
                <a:ext cx="5832475" cy="3965331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GB" sz="2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e>
                          <m:r>
                            <a:rPr lang="en-GB" sz="2800" i="1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en-GB" sz="2800">
                          <a:latin typeface="Cambria Math" panose="02040503050406030204" pitchFamily="18" charset="0"/>
                        </a:rPr>
                        <m:t>∝</m:t>
                      </m:r>
                      <m:f>
                        <m:fPr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GB" sz="2800" i="1">
                              <a:latin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sSub>
                            <m:sSubPr>
                              <m:ctrlPr>
                                <a:rPr lang="en-GB" sz="28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8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GB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GB" sz="2800" i="1" smtClean="0"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  <m:nary>
                        <m:naryPr>
                          <m:chr m:val="∏"/>
                          <m:supHide m:val="on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800" i="1">
                              <a:latin typeface="Cambria Math" panose="02040503050406030204" pitchFamily="18" charset="0"/>
                            </a:rPr>
                            <m:t>𝐶𝐻</m:t>
                          </m:r>
                        </m:sub>
                        <m:sup/>
                        <m:e>
                          <m:r>
                            <a:rPr lang="en-GB" sz="2800" i="1">
                              <a:latin typeface="Cambria Math" panose="02040503050406030204" pitchFamily="18" charset="0"/>
                            </a:rPr>
                            <m:t>𝑃</m:t>
                          </m:r>
                          <m:sSup>
                            <m:sSupPr>
                              <m:ctrlPr>
                                <a:rPr lang="en-GB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  <m:t>𝐶𝐻</m:t>
                                  </m:r>
                                </m:e>
                              </m:d>
                            </m:e>
                            <m:sup>
                              <m:sSub>
                                <m:sSubPr>
                                  <m:ctrlP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  <m:t>𝐶𝐻</m:t>
                                  </m:r>
                                </m:sub>
                              </m:sSub>
                            </m:sup>
                          </m:sSup>
                        </m:e>
                      </m:nary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2800" i="1">
                          <a:latin typeface="Cambria Math" panose="02040503050406030204" pitchFamily="18" charset="0"/>
                        </a:rPr>
                        <m:t>𝑃</m:t>
                      </m:r>
                      <m:sSup>
                        <m:sSupPr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e>
                          </m:d>
                        </m:e>
                        <m:sup>
                          <m:sSub>
                            <m:sSubPr>
                              <m:ctrlPr>
                                <a:rPr lang="en-GB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8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GB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" name="Picture Placeholder 3">
                <a:extLst>
                  <a:ext uri="{FF2B5EF4-FFF2-40B4-BE49-F238E27FC236}">
                    <a16:creationId xmlns:a16="http://schemas.microsoft.com/office/drawing/2014/main" id="{8A36D213-5272-F2AD-9ECD-0246F7EBB5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pic" sz="quarter" idx="10"/>
              </p:nvPr>
            </p:nvSpPr>
            <p:spPr>
              <a:xfrm>
                <a:off x="6359525" y="2892668"/>
                <a:ext cx="5832475" cy="3965331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7388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5DF38-1829-4A28-8585-32923D5BC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Anatomy of a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D1BAC-84E3-4274-8391-8CFB48545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pPr marL="0" indent="0" algn="ctr">
              <a:buNone/>
            </a:pPr>
            <a:r>
              <a:rPr lang="en-GB" dirty="0"/>
              <a:t>A function has two main components</a:t>
            </a:r>
          </a:p>
          <a:p>
            <a:endParaRPr lang="en-GB" dirty="0"/>
          </a:p>
          <a:p>
            <a:pPr marL="0" indent="0" algn="ctr">
              <a:buNone/>
            </a:pPr>
            <a:r>
              <a:rPr lang="en-GB" b="1" dirty="0" err="1">
                <a:solidFill>
                  <a:schemeClr val="bg2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a_function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argument1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, …)</a:t>
            </a:r>
          </a:p>
          <a:p>
            <a:pPr marL="0" indent="0" algn="ctr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0D20B95-B618-437D-9822-E5EEF3CEF86C}"/>
              </a:ext>
            </a:extLst>
          </p:cNvPr>
          <p:cNvGrpSpPr/>
          <p:nvPr/>
        </p:nvGrpSpPr>
        <p:grpSpPr>
          <a:xfrm>
            <a:off x="1525610" y="3275860"/>
            <a:ext cx="3908036" cy="2255007"/>
            <a:chOff x="1525610" y="3275860"/>
            <a:chExt cx="3908036" cy="2255007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A4DDCD3-506A-43B9-AF0C-BAE08B4BEEEE}"/>
                </a:ext>
              </a:extLst>
            </p:cNvPr>
            <p:cNvSpPr txBox="1"/>
            <p:nvPr/>
          </p:nvSpPr>
          <p:spPr>
            <a:xfrm>
              <a:off x="1525610" y="4145872"/>
              <a:ext cx="3908036" cy="1384995"/>
            </a:xfrm>
            <a:prstGeom prst="rect">
              <a:avLst/>
            </a:prstGeom>
            <a:noFill/>
            <a:ln w="28575">
              <a:solidFill>
                <a:schemeClr val="bg2">
                  <a:lumMod val="50000"/>
                  <a:lumOff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dirty="0"/>
                <a:t>The name of the function we want to use, always follow by ()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DCC52D4C-4902-4C1A-AC18-8E57F4A1E3AB}"/>
                </a:ext>
              </a:extLst>
            </p:cNvPr>
            <p:cNvCxnSpPr>
              <a:cxnSpLocks/>
              <a:endCxn id="4" idx="0"/>
            </p:cNvCxnSpPr>
            <p:nvPr/>
          </p:nvCxnSpPr>
          <p:spPr>
            <a:xfrm flipH="1">
              <a:off x="3479628" y="3275860"/>
              <a:ext cx="1092372" cy="870012"/>
            </a:xfrm>
            <a:prstGeom prst="straightConnector1">
              <a:avLst/>
            </a:prstGeom>
            <a:ln w="38100">
              <a:solidFill>
                <a:schemeClr val="bg2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037C1C1-313B-4396-B10E-0E2F5089B6D6}"/>
              </a:ext>
            </a:extLst>
          </p:cNvPr>
          <p:cNvGrpSpPr/>
          <p:nvPr/>
        </p:nvGrpSpPr>
        <p:grpSpPr>
          <a:xfrm>
            <a:off x="5797249" y="3275860"/>
            <a:ext cx="3685582" cy="2255007"/>
            <a:chOff x="5797249" y="3275860"/>
            <a:chExt cx="3685582" cy="225500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20DD32A-71FF-4ADA-A66D-38C2C5F3D5CE}"/>
                </a:ext>
              </a:extLst>
            </p:cNvPr>
            <p:cNvSpPr txBox="1"/>
            <p:nvPr/>
          </p:nvSpPr>
          <p:spPr>
            <a:xfrm>
              <a:off x="5797249" y="4145872"/>
              <a:ext cx="3685582" cy="1384995"/>
            </a:xfrm>
            <a:prstGeom prst="rect">
              <a:avLst/>
            </a:prstGeom>
            <a:noFill/>
            <a:ln w="28575">
              <a:solidFill>
                <a:schemeClr val="accent6">
                  <a:lumMod val="40000"/>
                  <a:lumOff val="6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dirty="0"/>
                <a:t>The information (or argument[s]) required for a function to work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0A710BE-79FE-4CF3-9DC3-2FF12061510A}"/>
                </a:ext>
              </a:extLst>
            </p:cNvPr>
            <p:cNvCxnSpPr>
              <a:endCxn id="8" idx="0"/>
            </p:cNvCxnSpPr>
            <p:nvPr/>
          </p:nvCxnSpPr>
          <p:spPr>
            <a:xfrm>
              <a:off x="6835806" y="3275860"/>
              <a:ext cx="804234" cy="870012"/>
            </a:xfrm>
            <a:prstGeom prst="straightConnector1">
              <a:avLst/>
            </a:prstGeom>
            <a:ln w="28575">
              <a:solidFill>
                <a:schemeClr val="accent6">
                  <a:lumMod val="40000"/>
                  <a:lumOff val="6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1A356B6-11C5-4A17-A5E0-EF4C5AB3EB86}"/>
              </a:ext>
            </a:extLst>
          </p:cNvPr>
          <p:cNvGrpSpPr/>
          <p:nvPr/>
        </p:nvGrpSpPr>
        <p:grpSpPr>
          <a:xfrm>
            <a:off x="7974623" y="1613118"/>
            <a:ext cx="4089387" cy="1815882"/>
            <a:chOff x="7939453" y="2107843"/>
            <a:chExt cx="4089387" cy="181588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6685308-BB09-4E69-A93E-15BDB928A634}"/>
                </a:ext>
              </a:extLst>
            </p:cNvPr>
            <p:cNvSpPr txBox="1"/>
            <p:nvPr/>
          </p:nvSpPr>
          <p:spPr>
            <a:xfrm>
              <a:off x="9264654" y="2107843"/>
              <a:ext cx="2764186" cy="181588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dirty="0"/>
                <a:t>Multiple arguments are distinguished with “,”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2A98DFF-5A00-481A-A903-E9FD78800084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7939453" y="3015784"/>
              <a:ext cx="1325201" cy="56504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4595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9C73D5-D02D-B808-11A1-3CC0C46FB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Lincoln-Petersen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E9B220-00FB-D23F-6978-2EC7CA6FD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This is my home made function</a:t>
            </a:r>
          </a:p>
          <a:p>
            <a:r>
              <a:rPr lang="en-GB" dirty="0"/>
              <a:t>It runs the Lincoln-Petersen Estimator</a:t>
            </a:r>
          </a:p>
          <a:p>
            <a:r>
              <a:rPr lang="en-GB" dirty="0"/>
              <a:t>And returns, to the user, the estimated population size</a:t>
            </a:r>
          </a:p>
          <a:p>
            <a:r>
              <a:rPr lang="en-GB" dirty="0"/>
              <a:t>I, the creator of the function, decided to call my arguments (i.e. the bits of information my function needs)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info1</a:t>
            </a:r>
            <a:r>
              <a:rPr lang="en-GB" dirty="0"/>
              <a:t>,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info2</a:t>
            </a:r>
            <a:r>
              <a:rPr lang="en-GB" dirty="0"/>
              <a:t> and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info3</a:t>
            </a:r>
            <a:r>
              <a:rPr lang="en-GB" dirty="0"/>
              <a:t>.</a:t>
            </a:r>
          </a:p>
          <a:p>
            <a:r>
              <a:rPr lang="en-GB" dirty="0"/>
              <a:t>Because we already had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n1</a:t>
            </a:r>
            <a:r>
              <a:rPr lang="en-GB" dirty="0"/>
              <a:t>,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n2</a:t>
            </a:r>
            <a:r>
              <a:rPr lang="en-GB" dirty="0"/>
              <a:t> and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m2</a:t>
            </a:r>
            <a:r>
              <a:rPr lang="en-GB" dirty="0"/>
              <a:t> stored as objects, we can just pass them to the function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3A521A-CD9B-41FB-0F03-175E391DA3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1295" y="2838405"/>
            <a:ext cx="5990705" cy="172406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6D5A3C6-76A3-3D19-0902-97EC33713011}"/>
                  </a:ext>
                </a:extLst>
              </p:cNvPr>
              <p:cNvSpPr txBox="1"/>
              <p:nvPr/>
            </p:nvSpPr>
            <p:spPr>
              <a:xfrm>
                <a:off x="7595088" y="1557802"/>
                <a:ext cx="2779835" cy="10483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32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GB" sz="320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GB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GB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GB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6D5A3C6-76A3-3D19-0902-97EC337130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088" y="1557802"/>
                <a:ext cx="2779835" cy="10483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4D7775C-1AF9-155D-D5DB-63D3048C12DD}"/>
              </a:ext>
            </a:extLst>
          </p:cNvPr>
          <p:cNvSpPr/>
          <p:nvPr/>
        </p:nvSpPr>
        <p:spPr>
          <a:xfrm>
            <a:off x="6096000" y="4017958"/>
            <a:ext cx="6096000" cy="78264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7080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E53E6-5045-3F7B-58FD-860053730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C9E1D-59C5-3F6E-371F-4B040CD0F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Say we had five values (1, 5, 8, 2, 4) which we want stored as a column of data</a:t>
            </a:r>
          </a:p>
          <a:p>
            <a:r>
              <a:rPr lang="en-GB" dirty="0"/>
              <a:t>This is, conceptually, a very trivial task, but to code it by hand is surprisingly complicated</a:t>
            </a:r>
          </a:p>
          <a:p>
            <a:r>
              <a:rPr lang="en-GB" dirty="0"/>
              <a:t>So instead, we can use a function to keep the task simple</a:t>
            </a:r>
          </a:p>
          <a:p>
            <a:r>
              <a:rPr lang="en-GB" dirty="0"/>
              <a:t>The function is called concatenate in English, or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c()</a:t>
            </a:r>
            <a:r>
              <a:rPr lang="en-GB" dirty="0"/>
              <a:t> in  R</a:t>
            </a:r>
          </a:p>
          <a:p>
            <a:pPr lvl="1"/>
            <a:r>
              <a:rPr lang="en-GB" sz="1600" dirty="0"/>
              <a:t>([1] refers to the index, R indexes from 1, not 0)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3ABEFA-B3B6-2F10-AF1C-65B4202DABC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3047" r="83291" b="39316"/>
          <a:stretch/>
        </p:blipFill>
        <p:spPr>
          <a:xfrm>
            <a:off x="8121244" y="1648138"/>
            <a:ext cx="2076052" cy="25242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204EF2-A9E3-E187-524D-A323F649579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14" t="39535" r="82247" b="53400"/>
          <a:stretch/>
        </p:blipFill>
        <p:spPr>
          <a:xfrm>
            <a:off x="6447052" y="4399809"/>
            <a:ext cx="5633646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00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9025C-5C54-5FAF-79E7-C054A183D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reason why people started using 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101FF-92BC-194A-B19A-18B9339B3F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Say we wanted to add 3 to each value in our column of data</a:t>
            </a:r>
          </a:p>
          <a:p>
            <a:r>
              <a:rPr lang="en-GB" dirty="0"/>
              <a:t>In most other languages, this would require some “heavy” coding</a:t>
            </a:r>
          </a:p>
          <a:p>
            <a:pPr lvl="1"/>
            <a:r>
              <a:rPr lang="en-GB" dirty="0"/>
              <a:t>Via something called </a:t>
            </a:r>
            <a:r>
              <a:rPr lang="en-GB" i="1" dirty="0"/>
              <a:t>for loops</a:t>
            </a:r>
            <a:r>
              <a:rPr lang="en-GB" dirty="0"/>
              <a:t> </a:t>
            </a:r>
          </a:p>
          <a:p>
            <a:r>
              <a:rPr lang="en-GB" dirty="0"/>
              <a:t>R is sometimes referred to as a </a:t>
            </a:r>
            <a:r>
              <a:rPr lang="en-GB" i="1" dirty="0"/>
              <a:t>vectorised</a:t>
            </a:r>
            <a:r>
              <a:rPr lang="en-GB" dirty="0"/>
              <a:t> language</a:t>
            </a:r>
          </a:p>
          <a:p>
            <a:pPr lvl="1"/>
            <a:r>
              <a:rPr lang="en-GB" dirty="0"/>
              <a:t>This means that we can use a whole column of data when doing maths/stats</a:t>
            </a:r>
          </a:p>
          <a:p>
            <a:pPr marL="457200" lvl="1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sz="1600" dirty="0"/>
              <a:t>(Nowadays, people use R cause everyone else uses R)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7C0A26-5DA1-5B82-45C5-AF19AD6D81F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14" t="36356" r="76835" b="43416"/>
          <a:stretch/>
        </p:blipFill>
        <p:spPr>
          <a:xfrm>
            <a:off x="6346008" y="1709878"/>
            <a:ext cx="5007792" cy="2526456"/>
          </a:xfrm>
          <a:prstGeom prst="rect">
            <a:avLst/>
          </a:prstGeom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47BBD43-D307-3711-92A7-7141635C481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519" t="58081" r="78259" b="33971"/>
          <a:stretch/>
        </p:blipFill>
        <p:spPr>
          <a:xfrm>
            <a:off x="6346008" y="4791919"/>
            <a:ext cx="5314320" cy="1122744"/>
          </a:xfrm>
          <a:prstGeom prst="rect">
            <a:avLst/>
          </a:prstGeom>
          <a:ln w="38100">
            <a:noFill/>
          </a:ln>
        </p:spPr>
      </p:pic>
    </p:spTree>
    <p:extLst>
      <p:ext uri="{BB962C8B-B14F-4D97-AF65-F5344CB8AC3E}">
        <p14:creationId xmlns:p14="http://schemas.microsoft.com/office/powerpoint/2010/main" val="2807576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074D7-0A4F-49E7-B47A-B6E6AF66F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Common R mistakes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534641-4F8A-4C03-AAB2-B6C8D5EF4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37567" cy="4351338"/>
          </a:xfrm>
        </p:spPr>
        <p:txBody>
          <a:bodyPr/>
          <a:lstStyle/>
          <a:p>
            <a:r>
              <a:rPr lang="en-GB" dirty="0"/>
              <a:t>Using wrong argument name</a:t>
            </a:r>
          </a:p>
          <a:p>
            <a:pPr lvl="1"/>
            <a:r>
              <a:rPr lang="en-GB" dirty="0"/>
              <a:t>E.g., there is no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GB" dirty="0"/>
              <a:t> argument</a:t>
            </a:r>
          </a:p>
          <a:p>
            <a:endParaRPr lang="en-GB" dirty="0"/>
          </a:p>
          <a:p>
            <a:r>
              <a:rPr lang="en-GB" dirty="0"/>
              <a:t>Typos</a:t>
            </a:r>
          </a:p>
          <a:p>
            <a:pPr lvl="1"/>
            <a:r>
              <a:rPr lang="en-GB" dirty="0"/>
              <a:t>E.g., extra commas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E.g. typo in function name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E.g. not closing brackets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C41737-19D1-4D24-98DA-7801F896CC54}"/>
              </a:ext>
            </a:extLst>
          </p:cNvPr>
          <p:cNvSpPr txBox="1"/>
          <p:nvPr/>
        </p:nvSpPr>
        <p:spPr>
          <a:xfrm>
            <a:off x="1425277" y="6042859"/>
            <a:ext cx="95973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If you get a warning you do not understand, paste it into Google!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C09798-26F5-0C2E-048B-03E2D61E9B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4662" y="2090062"/>
            <a:ext cx="6026539" cy="7468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815989-9B38-3676-4D0F-905CA7437A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4661" y="3203921"/>
            <a:ext cx="6026539" cy="75852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89754D2-D7B7-4F0B-561F-ECEC9369DD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4661" y="4281390"/>
            <a:ext cx="6069465" cy="74687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A0CCFC7-9075-7701-05E1-A4A665A1DD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4661" y="5347211"/>
            <a:ext cx="5362575" cy="619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76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07FB2-B860-8514-6C52-C922A1C6D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Getting more functions into 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D35D15-75CB-3CDD-5625-621C42F552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The base version of R has many functions</a:t>
            </a:r>
          </a:p>
          <a:p>
            <a:r>
              <a:rPr lang="en-GB" dirty="0"/>
              <a:t>But these are general purpose functions</a:t>
            </a:r>
          </a:p>
          <a:p>
            <a:pPr lvl="1"/>
            <a:r>
              <a:rPr lang="en-GB" dirty="0"/>
              <a:t>E.g. mean()</a:t>
            </a:r>
          </a:p>
          <a:p>
            <a:r>
              <a:rPr lang="en-GB" dirty="0"/>
              <a:t>In many cases we want to do some niche/specialised analysis, requiring specialised functions</a:t>
            </a:r>
          </a:p>
          <a:p>
            <a:r>
              <a:rPr lang="en-GB" dirty="0"/>
              <a:t>This is the big benefit of R</a:t>
            </a:r>
          </a:p>
          <a:p>
            <a:pPr lvl="1"/>
            <a:r>
              <a:rPr lang="en-GB" dirty="0"/>
              <a:t>Open source, so lots of people contribute to the software</a:t>
            </a:r>
          </a:p>
          <a:p>
            <a:r>
              <a:rPr lang="en-GB" dirty="0"/>
              <a:t>To get additional functions, we need to install a “package”</a:t>
            </a:r>
          </a:p>
          <a:p>
            <a:pPr lvl="1"/>
            <a:r>
              <a:rPr lang="en-GB" dirty="0"/>
              <a:t>“Package” because it is a package of functions</a:t>
            </a:r>
          </a:p>
        </p:txBody>
      </p:sp>
      <p:pic>
        <p:nvPicPr>
          <p:cNvPr id="5" name="Picture Placeholder 4" descr="A group of cardboard boxes&#10;&#10;Description automatically generated with low confidence">
            <a:extLst>
              <a:ext uri="{FF2B5EF4-FFF2-40B4-BE49-F238E27FC236}">
                <a16:creationId xmlns:a16="http://schemas.microsoft.com/office/drawing/2014/main" id="{E5D3055E-3031-D798-C56B-916C6F670F7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1" r="21651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967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DE6F9-B7D9-4945-A127-3D3DFE50E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To install a package;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1C647-210B-4030-A001-5BD86FE868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Relatively simple process;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Write the code to download the package (in R)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install.package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(“ggplot2”)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We use quotes to help R find the correct package </a:t>
            </a:r>
          </a:p>
          <a:p>
            <a:pPr marL="1428750" lvl="2" indent="-514350">
              <a:buFont typeface="+mj-lt"/>
              <a:buAutoNum type="arabicPeriod"/>
            </a:pPr>
            <a:r>
              <a:rPr lang="en-GB" dirty="0"/>
              <a:t>(searches for a string)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Once installed, it is on your computer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To actually use it, we need to load it in R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library(ggplot2)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We do not need quotes any more because R knows what it is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The function is called 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library</a:t>
            </a:r>
            <a:r>
              <a:rPr lang="en-GB" dirty="0"/>
              <a:t>, because we have a “library of packages”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Each time we open R, we will need to reload the package</a:t>
            </a:r>
          </a:p>
        </p:txBody>
      </p:sp>
    </p:spTree>
    <p:extLst>
      <p:ext uri="{BB962C8B-B14F-4D97-AF65-F5344CB8AC3E}">
        <p14:creationId xmlns:p14="http://schemas.microsoft.com/office/powerpoint/2010/main" val="933565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C03C2-793A-194F-C5B5-AB90DFC1E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ggplot2</a:t>
            </a:r>
          </a:p>
        </p:txBody>
      </p:sp>
    </p:spTree>
    <p:extLst>
      <p:ext uri="{BB962C8B-B14F-4D97-AF65-F5344CB8AC3E}">
        <p14:creationId xmlns:p14="http://schemas.microsoft.com/office/powerpoint/2010/main" val="14443546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8E6A0-02DB-4E11-B2CE-200684C26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Data visualisation toolkit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986BEB-34E9-417F-9B50-17FBD69D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84731" cy="4351338"/>
          </a:xfrm>
        </p:spPr>
        <p:txBody>
          <a:bodyPr/>
          <a:lstStyle/>
          <a:p>
            <a:r>
              <a:rPr lang="en-GB" dirty="0"/>
              <a:t>We’ll use R and an R package called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r>
              <a:rPr lang="en-GB" dirty="0"/>
              <a:t> to create figures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gg</a:t>
            </a:r>
            <a:r>
              <a:rPr lang="en-GB" dirty="0"/>
              <a:t> stands for “Grammar of Graphics”</a:t>
            </a:r>
          </a:p>
          <a:p>
            <a:pPr lvl="1"/>
            <a:r>
              <a:rPr lang="en-GB" dirty="0"/>
              <a:t>Based on a “design philosophy”</a:t>
            </a:r>
          </a:p>
          <a:p>
            <a:r>
              <a:rPr lang="en-GB" dirty="0"/>
              <a:t>Think of using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GB" dirty="0"/>
              <a:t> like the progression of a painting</a:t>
            </a:r>
          </a:p>
          <a:p>
            <a:pPr lvl="1"/>
            <a:r>
              <a:rPr lang="en-GB" dirty="0"/>
              <a:t>You create layers of “paint” one at a time</a:t>
            </a:r>
          </a:p>
          <a:p>
            <a:pPr lvl="1"/>
            <a:r>
              <a:rPr lang="en-GB" dirty="0"/>
              <a:t>We can change any layer at any time</a:t>
            </a:r>
          </a:p>
          <a:p>
            <a:r>
              <a:rPr lang="en-GB" dirty="0"/>
              <a:t>Familiarity with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GB" dirty="0"/>
              <a:t> often requested by employers (e.g., </a:t>
            </a:r>
            <a:r>
              <a:rPr lang="en-GB" dirty="0" err="1"/>
              <a:t>spotify</a:t>
            </a:r>
            <a:r>
              <a:rPr lang="en-GB" dirty="0"/>
              <a:t>)</a:t>
            </a:r>
          </a:p>
          <a:p>
            <a:endParaRPr lang="en-GB" dirty="0"/>
          </a:p>
        </p:txBody>
      </p:sp>
      <p:pic>
        <p:nvPicPr>
          <p:cNvPr id="7" name="Picture 6" descr="A picture containing icon&#10;&#10;Description automatically generated">
            <a:extLst>
              <a:ext uri="{FF2B5EF4-FFF2-40B4-BE49-F238E27FC236}">
                <a16:creationId xmlns:a16="http://schemas.microsoft.com/office/drawing/2014/main" id="{2E81E07F-5E41-4D6F-9BA7-00F5358D8B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6504" y="2444916"/>
            <a:ext cx="2527296" cy="2927453"/>
          </a:xfrm>
          <a:prstGeom prst="rect">
            <a:avLst/>
          </a:prstGeom>
        </p:spPr>
      </p:pic>
      <p:pic>
        <p:nvPicPr>
          <p:cNvPr id="10" name="Picture 9" descr="A collage of a person's face&#10;&#10;Description automatically generated with medium confidence">
            <a:extLst>
              <a:ext uri="{FF2B5EF4-FFF2-40B4-BE49-F238E27FC236}">
                <a16:creationId xmlns:a16="http://schemas.microsoft.com/office/drawing/2014/main" id="{2E9979A2-2C3A-4870-B08C-5171528CDF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2931" y="1879432"/>
            <a:ext cx="4302213" cy="4058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646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8E6A0-02DB-4E11-B2CE-200684C26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First hurdle: get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986BEB-34E9-417F-9B50-17FBD69D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38375"/>
            <a:ext cx="6784731" cy="3938588"/>
          </a:xfrm>
        </p:spPr>
        <p:txBody>
          <a:bodyPr/>
          <a:lstStyle/>
          <a:p>
            <a:r>
              <a:rPr lang="en-GB" dirty="0"/>
              <a:t>Install and load ggplot2 into R</a:t>
            </a:r>
          </a:p>
          <a:p>
            <a:pPr lvl="1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install.packages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(“ggplot2”)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library(ggplot2)</a:t>
            </a:r>
          </a:p>
          <a:p>
            <a:endParaRPr lang="en-GB" dirty="0"/>
          </a:p>
          <a:p>
            <a:r>
              <a:rPr lang="en-GB" dirty="0"/>
              <a:t>If you don’t do this, then R won’t know what you’re trying to do!</a:t>
            </a:r>
          </a:p>
          <a:p>
            <a:endParaRPr lang="en-GB" dirty="0"/>
          </a:p>
        </p:txBody>
      </p:sp>
      <p:pic>
        <p:nvPicPr>
          <p:cNvPr id="7" name="Picture 6" descr="A picture containing icon&#10;&#10;Description automatically generated">
            <a:extLst>
              <a:ext uri="{FF2B5EF4-FFF2-40B4-BE49-F238E27FC236}">
                <a16:creationId xmlns:a16="http://schemas.microsoft.com/office/drawing/2014/main" id="{2E81E07F-5E41-4D6F-9BA7-00F5358D8B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6504" y="2444916"/>
            <a:ext cx="2527296" cy="2927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249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8E6A0-02DB-4E11-B2CE-200684C26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pPr algn="ctr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GB" dirty="0"/>
              <a:t> layers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68A712D-122A-4548-8AF5-7D72DBF7E577}"/>
              </a:ext>
            </a:extLst>
          </p:cNvPr>
          <p:cNvGrpSpPr/>
          <p:nvPr/>
        </p:nvGrpSpPr>
        <p:grpSpPr>
          <a:xfrm>
            <a:off x="949569" y="2152494"/>
            <a:ext cx="6134353" cy="2030904"/>
            <a:chOff x="949569" y="2152494"/>
            <a:chExt cx="6134353" cy="2030904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FED3B212-9D2E-4E31-8881-96B65FFB6A75}"/>
                </a:ext>
              </a:extLst>
            </p:cNvPr>
            <p:cNvGrpSpPr/>
            <p:nvPr/>
          </p:nvGrpSpPr>
          <p:grpSpPr>
            <a:xfrm>
              <a:off x="3008303" y="3814066"/>
              <a:ext cx="4075619" cy="369332"/>
              <a:chOff x="3008303" y="3814066"/>
              <a:chExt cx="4075619" cy="369332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600EEC0-4107-47C9-9119-CF496351966E}"/>
                  </a:ext>
                </a:extLst>
              </p:cNvPr>
              <p:cNvSpPr txBox="1"/>
              <p:nvPr/>
            </p:nvSpPr>
            <p:spPr>
              <a:xfrm>
                <a:off x="3008303" y="3814066"/>
                <a:ext cx="2589192" cy="369332"/>
              </a:xfrm>
              <a:prstGeom prst="rect">
                <a:avLst/>
              </a:prstGeom>
              <a:noFill/>
              <a:ln w="28575">
                <a:solidFill>
                  <a:srgbClr val="7030A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Creates a blank canvas</a:t>
                </a: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F11A28E9-8B43-4576-ACD1-18FC28214B79}"/>
                  </a:ext>
                </a:extLst>
              </p:cNvPr>
              <p:cNvCxnSpPr>
                <a:cxnSpLocks/>
                <a:stCxn id="8" idx="3"/>
              </p:cNvCxnSpPr>
              <p:nvPr/>
            </p:nvCxnSpPr>
            <p:spPr>
              <a:xfrm>
                <a:off x="5597495" y="3998732"/>
                <a:ext cx="1486427" cy="2562"/>
              </a:xfrm>
              <a:prstGeom prst="straightConnector1">
                <a:avLst/>
              </a:prstGeom>
              <a:ln w="28575">
                <a:solidFill>
                  <a:srgbClr val="7030A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809F8F9-85C3-463B-AC3D-63F2F581E4D2}"/>
                </a:ext>
              </a:extLst>
            </p:cNvPr>
            <p:cNvCxnSpPr>
              <a:cxnSpLocks/>
              <a:endCxn id="8" idx="1"/>
            </p:cNvCxnSpPr>
            <p:nvPr/>
          </p:nvCxnSpPr>
          <p:spPr>
            <a:xfrm>
              <a:off x="949569" y="2152494"/>
              <a:ext cx="2058734" cy="1846238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D89BF4C-EEC8-4F03-8D72-246EBAA2CF76}"/>
              </a:ext>
            </a:extLst>
          </p:cNvPr>
          <p:cNvGrpSpPr/>
          <p:nvPr/>
        </p:nvGrpSpPr>
        <p:grpSpPr>
          <a:xfrm>
            <a:off x="1301261" y="2131262"/>
            <a:ext cx="4458604" cy="1129017"/>
            <a:chOff x="1890346" y="2152494"/>
            <a:chExt cx="4458604" cy="11290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3DF7F6E-79EA-4BC4-A0D4-F27096176C5C}"/>
                </a:ext>
              </a:extLst>
            </p:cNvPr>
            <p:cNvSpPr txBox="1"/>
            <p:nvPr/>
          </p:nvSpPr>
          <p:spPr>
            <a:xfrm>
              <a:off x="2882168" y="2635180"/>
              <a:ext cx="3466782" cy="646331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We tell R to use the unicorn data</a:t>
              </a: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EA4FEFA-7D81-41B8-A032-3D0A584D8C1E}"/>
                </a:ext>
              </a:extLst>
            </p:cNvPr>
            <p:cNvCxnSpPr>
              <a:cxnSpLocks/>
            </p:cNvCxnSpPr>
            <p:nvPr/>
          </p:nvCxnSpPr>
          <p:spPr>
            <a:xfrm>
              <a:off x="1890346" y="2154115"/>
              <a:ext cx="2039816" cy="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F43E9E85-994B-44DF-9A69-89B2338765FD}"/>
                </a:ext>
              </a:extLst>
            </p:cNvPr>
            <p:cNvCxnSpPr>
              <a:cxnSpLocks/>
              <a:stCxn id="31" idx="1"/>
            </p:cNvCxnSpPr>
            <p:nvPr/>
          </p:nvCxnSpPr>
          <p:spPr>
            <a:xfrm flipV="1">
              <a:off x="2882168" y="2152494"/>
              <a:ext cx="0" cy="805852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9F234F22-4E4F-4C56-B565-6BBE6387C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923" y="1825625"/>
            <a:ext cx="4257143" cy="4161905"/>
          </a:xfrm>
          <a:prstGeom prst="rect">
            <a:avLst/>
          </a:prstGeom>
        </p:spPr>
      </p:pic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B3180E98-AD28-41DE-917F-138C81739372}"/>
              </a:ext>
            </a:extLst>
          </p:cNvPr>
          <p:cNvSpPr txBox="1">
            <a:spLocks/>
          </p:cNvSpPr>
          <p:nvPr/>
        </p:nvSpPr>
        <p:spPr>
          <a:xfrm>
            <a:off x="307731" y="1830582"/>
            <a:ext cx="7010796" cy="4608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(data = unicorn)</a:t>
            </a:r>
          </a:p>
        </p:txBody>
      </p:sp>
    </p:spTree>
    <p:extLst>
      <p:ext uri="{BB962C8B-B14F-4D97-AF65-F5344CB8AC3E}">
        <p14:creationId xmlns:p14="http://schemas.microsoft.com/office/powerpoint/2010/main" val="1337300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8E6A0-02DB-4E11-B2CE-200684C26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pPr algn="ctr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GB" dirty="0"/>
              <a:t> layers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52B0461-FFE1-4EBD-9A59-B1C07ED5BB43}"/>
              </a:ext>
            </a:extLst>
          </p:cNvPr>
          <p:cNvGrpSpPr/>
          <p:nvPr/>
        </p:nvGrpSpPr>
        <p:grpSpPr>
          <a:xfrm>
            <a:off x="3348269" y="1860793"/>
            <a:ext cx="2411596" cy="1499300"/>
            <a:chOff x="3579985" y="967175"/>
            <a:chExt cx="2411596" cy="149930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2BD5A27-F2A2-4AD4-A962-942D1EB5D6C6}"/>
                </a:ext>
              </a:extLst>
            </p:cNvPr>
            <p:cNvSpPr txBox="1"/>
            <p:nvPr/>
          </p:nvSpPr>
          <p:spPr>
            <a:xfrm>
              <a:off x="3704541" y="1820144"/>
              <a:ext cx="2287040" cy="646331"/>
            </a:xfrm>
            <a:prstGeom prst="rect">
              <a:avLst/>
            </a:prstGeom>
            <a:noFill/>
            <a:ln w="28575">
              <a:solidFill>
                <a:srgbClr val="7030A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We add a new layer</a:t>
              </a:r>
              <a:br>
                <a:rPr lang="en-GB" dirty="0"/>
              </a:br>
              <a:r>
                <a:rPr lang="en-GB" dirty="0"/>
                <a:t>to the painting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E527199D-E71A-43B3-8C2C-7B723CACF7F6}"/>
                </a:ext>
              </a:extLst>
            </p:cNvPr>
            <p:cNvCxnSpPr>
              <a:cxnSpLocks/>
              <a:stCxn id="20" idx="1"/>
              <a:endCxn id="23" idx="4"/>
            </p:cNvCxnSpPr>
            <p:nvPr/>
          </p:nvCxnSpPr>
          <p:spPr>
            <a:xfrm flipV="1">
              <a:off x="3704541" y="1216331"/>
              <a:ext cx="2" cy="926979"/>
            </a:xfrm>
            <a:prstGeom prst="straightConnector1">
              <a:avLst/>
            </a:prstGeom>
            <a:ln w="28575"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965B91B-1F7F-4E9C-AFAA-75202DACDBB0}"/>
                </a:ext>
              </a:extLst>
            </p:cNvPr>
            <p:cNvSpPr/>
            <p:nvPr/>
          </p:nvSpPr>
          <p:spPr>
            <a:xfrm>
              <a:off x="3579985" y="967175"/>
              <a:ext cx="249115" cy="249156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AFAA8BD-23E3-4DB8-9016-CF894A86A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923" y="1825625"/>
            <a:ext cx="4257143" cy="4161905"/>
          </a:xfrm>
          <a:prstGeom prst="rect">
            <a:avLst/>
          </a:prstGeom>
        </p:spPr>
      </p:pic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DC9508A5-84E4-418B-953F-BC0E63273E75}"/>
              </a:ext>
            </a:extLst>
          </p:cNvPr>
          <p:cNvSpPr txBox="1">
            <a:spLocks/>
          </p:cNvSpPr>
          <p:nvPr/>
        </p:nvSpPr>
        <p:spPr>
          <a:xfrm>
            <a:off x="307731" y="1830582"/>
            <a:ext cx="7010796" cy="4608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(data = unicorn)+</a:t>
            </a:r>
          </a:p>
        </p:txBody>
      </p:sp>
    </p:spTree>
    <p:extLst>
      <p:ext uri="{BB962C8B-B14F-4D97-AF65-F5344CB8AC3E}">
        <p14:creationId xmlns:p14="http://schemas.microsoft.com/office/powerpoint/2010/main" val="941437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CAD5104-5A9B-4C56-BE17-5B491A61E5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0790" y="1830582"/>
            <a:ext cx="4257143" cy="41619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5D8E6A0-02DB-4E11-B2CE-200684C26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pPr algn="ctr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GB" dirty="0"/>
              <a:t> layers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4C3E229-C37F-4EF1-894C-0E0007B4B490}"/>
              </a:ext>
            </a:extLst>
          </p:cNvPr>
          <p:cNvGrpSpPr/>
          <p:nvPr/>
        </p:nvGrpSpPr>
        <p:grpSpPr>
          <a:xfrm>
            <a:off x="630115" y="2525128"/>
            <a:ext cx="1497016" cy="1489986"/>
            <a:chOff x="1219200" y="2525128"/>
            <a:chExt cx="1497016" cy="148998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8DA0524-8716-40B3-B199-F15AEEECDD0F}"/>
                </a:ext>
              </a:extLst>
            </p:cNvPr>
            <p:cNvCxnSpPr/>
            <p:nvPr/>
          </p:nvCxnSpPr>
          <p:spPr>
            <a:xfrm>
              <a:off x="1219200" y="2525128"/>
              <a:ext cx="1257300" cy="0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F010DED-FA85-4E15-B392-49A47E236E1F}"/>
                </a:ext>
              </a:extLst>
            </p:cNvPr>
            <p:cNvSpPr txBox="1"/>
            <p:nvPr/>
          </p:nvSpPr>
          <p:spPr>
            <a:xfrm>
              <a:off x="1219200" y="3091784"/>
              <a:ext cx="1497016" cy="923330"/>
            </a:xfrm>
            <a:prstGeom prst="rect">
              <a:avLst/>
            </a:prstGeom>
            <a:noFill/>
            <a:ln w="28575">
              <a:solidFill>
                <a:srgbClr val="7030A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We say the geometry will be a line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63EAACAB-C8A6-4221-B435-AC4E85B6D8AC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V="1">
              <a:off x="1219200" y="2525128"/>
              <a:ext cx="0" cy="1028321"/>
            </a:xfrm>
            <a:prstGeom prst="straightConnector1">
              <a:avLst/>
            </a:prstGeom>
            <a:ln w="28575"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9DEC1E5-2808-436D-AADE-89DD1224164C}"/>
              </a:ext>
            </a:extLst>
          </p:cNvPr>
          <p:cNvGrpSpPr/>
          <p:nvPr/>
        </p:nvGrpSpPr>
        <p:grpSpPr>
          <a:xfrm>
            <a:off x="2593731" y="2525128"/>
            <a:ext cx="4387361" cy="1489986"/>
            <a:chOff x="2453052" y="2525128"/>
            <a:chExt cx="4387361" cy="1489986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4F54820-2762-4830-B5BC-E901FFB5CDA9}"/>
                </a:ext>
              </a:extLst>
            </p:cNvPr>
            <p:cNvCxnSpPr>
              <a:cxnSpLocks/>
            </p:cNvCxnSpPr>
            <p:nvPr/>
          </p:nvCxnSpPr>
          <p:spPr>
            <a:xfrm>
              <a:off x="2453052" y="2525128"/>
              <a:ext cx="4387361" cy="0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A65A12E-2675-468C-94A1-BC9A745B3E8A}"/>
                </a:ext>
              </a:extLst>
            </p:cNvPr>
            <p:cNvSpPr txBox="1"/>
            <p:nvPr/>
          </p:nvSpPr>
          <p:spPr>
            <a:xfrm>
              <a:off x="4380563" y="3091784"/>
              <a:ext cx="1970077" cy="923330"/>
            </a:xfrm>
            <a:prstGeom prst="rect">
              <a:avLst/>
            </a:prstGeom>
            <a:noFill/>
            <a:ln w="28575">
              <a:solidFill>
                <a:srgbClr val="FFC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We decide what will be on the x and y axes</a:t>
              </a:r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2DB0FA68-FE47-4FAD-AF9F-E5F1E9B948D7}"/>
                </a:ext>
              </a:extLst>
            </p:cNvPr>
            <p:cNvCxnSpPr>
              <a:cxnSpLocks/>
              <a:stCxn id="28" idx="0"/>
            </p:cNvCxnSpPr>
            <p:nvPr/>
          </p:nvCxnSpPr>
          <p:spPr>
            <a:xfrm flipV="1">
              <a:off x="5365602" y="2525128"/>
              <a:ext cx="0" cy="566656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C3CEC7C-F4EC-4785-A197-EB535E4C909A}"/>
              </a:ext>
            </a:extLst>
          </p:cNvPr>
          <p:cNvGrpSpPr/>
          <p:nvPr/>
        </p:nvGrpSpPr>
        <p:grpSpPr>
          <a:xfrm>
            <a:off x="2080842" y="2514789"/>
            <a:ext cx="2307808" cy="1494418"/>
            <a:chOff x="2451128" y="2525128"/>
            <a:chExt cx="2307808" cy="1494418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6E403AB-D180-479D-B79B-93159FA12558}"/>
                </a:ext>
              </a:extLst>
            </p:cNvPr>
            <p:cNvCxnSpPr/>
            <p:nvPr/>
          </p:nvCxnSpPr>
          <p:spPr>
            <a:xfrm>
              <a:off x="2451128" y="2525128"/>
              <a:ext cx="390525" cy="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F95F0CD-D074-4C6F-84CC-E58F3523D37E}"/>
                </a:ext>
              </a:extLst>
            </p:cNvPr>
            <p:cNvSpPr txBox="1"/>
            <p:nvPr/>
          </p:nvSpPr>
          <p:spPr>
            <a:xfrm>
              <a:off x="2637087" y="3096216"/>
              <a:ext cx="2121849" cy="923330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We need to specify the aesthetics, using </a:t>
              </a:r>
              <a:r>
                <a:rPr lang="en-GB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aes</a:t>
              </a:r>
              <a:r>
                <a:rPr lang="en-GB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02B84852-F5D3-433B-8643-FA798FF9597A}"/>
                </a:ext>
              </a:extLst>
            </p:cNvPr>
            <p:cNvCxnSpPr>
              <a:cxnSpLocks/>
              <a:stCxn id="27" idx="1"/>
            </p:cNvCxnSpPr>
            <p:nvPr/>
          </p:nvCxnSpPr>
          <p:spPr>
            <a:xfrm flipV="1">
              <a:off x="2637087" y="2525129"/>
              <a:ext cx="1" cy="1032752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6E907174-BC88-42C5-A85F-0C43EA4E6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4066" y="1830582"/>
            <a:ext cx="4257143" cy="4161905"/>
          </a:xfrm>
          <a:prstGeom prst="rect">
            <a:avLst/>
          </a:prstGeom>
        </p:spPr>
      </p:pic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1ADD092D-EE6D-452B-A7A1-729331511D94}"/>
              </a:ext>
            </a:extLst>
          </p:cNvPr>
          <p:cNvSpPr txBox="1">
            <a:spLocks/>
          </p:cNvSpPr>
          <p:nvPr/>
        </p:nvSpPr>
        <p:spPr>
          <a:xfrm>
            <a:off x="307731" y="1830582"/>
            <a:ext cx="7010796" cy="4608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(data = unicorn)+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(x = skittle, y =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extinction_prob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28614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8E6A0-02DB-4E11-B2CE-200684C26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pPr algn="ctr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GB" dirty="0"/>
              <a:t> layers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1AB4663-93B4-41ED-B002-89805363C9B1}"/>
              </a:ext>
            </a:extLst>
          </p:cNvPr>
          <p:cNvGrpSpPr/>
          <p:nvPr/>
        </p:nvGrpSpPr>
        <p:grpSpPr>
          <a:xfrm>
            <a:off x="633046" y="2571750"/>
            <a:ext cx="5767754" cy="1493643"/>
            <a:chOff x="633046" y="2571750"/>
            <a:chExt cx="5767754" cy="1493643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924F460-2FB5-4F89-A672-B688B5E9CCB9}"/>
                </a:ext>
              </a:extLst>
            </p:cNvPr>
            <p:cNvSpPr txBox="1"/>
            <p:nvPr/>
          </p:nvSpPr>
          <p:spPr>
            <a:xfrm>
              <a:off x="1130770" y="3696061"/>
              <a:ext cx="4772306" cy="369332"/>
            </a:xfrm>
            <a:prstGeom prst="rect">
              <a:avLst/>
            </a:prstGeom>
            <a:noFill/>
            <a:ln w="28575">
              <a:solidFill>
                <a:srgbClr val="7030A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We can change the labels (</a:t>
              </a:r>
              <a:r>
                <a:rPr lang="en-GB" dirty="0">
                  <a:latin typeface="Courier New" panose="02070309020205020404" pitchFamily="49" charset="0"/>
                  <a:cs typeface="Courier New" panose="02070309020205020404" pitchFamily="49" charset="0"/>
                </a:rPr>
                <a:t>labs</a:t>
              </a:r>
              <a:r>
                <a:rPr lang="en-GB" dirty="0"/>
                <a:t>) of the axes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B7B0653-5ED8-4F66-9287-1A66B327D5FA}"/>
                </a:ext>
              </a:extLst>
            </p:cNvPr>
            <p:cNvSpPr/>
            <p:nvPr/>
          </p:nvSpPr>
          <p:spPr>
            <a:xfrm>
              <a:off x="633046" y="2571750"/>
              <a:ext cx="5767754" cy="752475"/>
            </a:xfrm>
            <a:prstGeom prst="rect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5BB32D5-2671-46FF-B77D-35EDB84F0D9F}"/>
                </a:ext>
              </a:extLst>
            </p:cNvPr>
            <p:cNvCxnSpPr>
              <a:cxnSpLocks/>
              <a:stCxn id="3" idx="0"/>
              <a:endCxn id="4" idx="2"/>
            </p:cNvCxnSpPr>
            <p:nvPr/>
          </p:nvCxnSpPr>
          <p:spPr>
            <a:xfrm flipV="1">
              <a:off x="3516923" y="3324225"/>
              <a:ext cx="0" cy="371836"/>
            </a:xfrm>
            <a:prstGeom prst="straightConnector1">
              <a:avLst/>
            </a:prstGeom>
            <a:ln w="28575"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5B37D59C-37E6-4BC8-80EF-2B2379953A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207" y="1831373"/>
            <a:ext cx="4257143" cy="416190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814049A-3D16-467E-A829-6668FBF7D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9207" y="1830582"/>
            <a:ext cx="4257143" cy="4161905"/>
          </a:xfrm>
          <a:prstGeom prst="rect">
            <a:avLst/>
          </a:prstGeom>
        </p:spPr>
      </p:pic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9176CB41-ECB9-4ED6-AD59-F59DD59875F7}"/>
              </a:ext>
            </a:extLst>
          </p:cNvPr>
          <p:cNvSpPr txBox="1">
            <a:spLocks/>
          </p:cNvSpPr>
          <p:nvPr/>
        </p:nvSpPr>
        <p:spPr>
          <a:xfrm>
            <a:off x="307731" y="1830582"/>
            <a:ext cx="7010796" cy="4608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(data = unicorn)+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(x = skittle, y =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extinction_prob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)+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labs(y = “Unicorn extinction probability”,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x = “Number of skittles”)</a:t>
            </a:r>
          </a:p>
        </p:txBody>
      </p:sp>
    </p:spTree>
    <p:extLst>
      <p:ext uri="{BB962C8B-B14F-4D97-AF65-F5344CB8AC3E}">
        <p14:creationId xmlns:p14="http://schemas.microsoft.com/office/powerpoint/2010/main" val="2539133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8E6A0-02DB-4E11-B2CE-200684C26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pPr algn="ctr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GB" dirty="0"/>
              <a:t> layers</a:t>
            </a:r>
          </a:p>
        </p:txBody>
      </p:sp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083F94D1-A7A2-4EF2-BA69-98F34A211C1F}"/>
              </a:ext>
            </a:extLst>
          </p:cNvPr>
          <p:cNvSpPr txBox="1">
            <a:spLocks/>
          </p:cNvSpPr>
          <p:nvPr/>
        </p:nvSpPr>
        <p:spPr>
          <a:xfrm>
            <a:off x="307731" y="1830582"/>
            <a:ext cx="7010796" cy="4608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(data = unicorn)+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(x = skittle, y =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extinction_prob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)+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labs(y = “Unicorn extinction probability”,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x = “Number of skittles”) +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geom_ribbon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(x = skittle, 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y =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extinction_prob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ymin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extinction_prob_lwr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ymax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extinction_prob_upp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alpha = 0.3)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397BB60-2A1C-4EDA-A8BD-5A4F5D11F75E}"/>
              </a:ext>
            </a:extLst>
          </p:cNvPr>
          <p:cNvGrpSpPr/>
          <p:nvPr/>
        </p:nvGrpSpPr>
        <p:grpSpPr>
          <a:xfrm>
            <a:off x="307731" y="3333750"/>
            <a:ext cx="6435969" cy="1896428"/>
            <a:chOff x="298215" y="3333750"/>
            <a:chExt cx="6873625" cy="189642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2E05D0A-25D5-4E72-AB64-8B11EC47F36C}"/>
                </a:ext>
              </a:extLst>
            </p:cNvPr>
            <p:cNvSpPr txBox="1"/>
            <p:nvPr/>
          </p:nvSpPr>
          <p:spPr>
            <a:xfrm>
              <a:off x="298215" y="3752850"/>
              <a:ext cx="1921109" cy="1477328"/>
            </a:xfrm>
            <a:prstGeom prst="rect">
              <a:avLst/>
            </a:prstGeom>
            <a:noFill/>
            <a:ln w="28575">
              <a:solidFill>
                <a:srgbClr val="7030A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We can use 95% CI to create a ribbon to show uncertainty.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232E12C-9B6B-4910-BBA4-04E6FED0F297}"/>
                </a:ext>
              </a:extLst>
            </p:cNvPr>
            <p:cNvSpPr/>
            <p:nvPr/>
          </p:nvSpPr>
          <p:spPr>
            <a:xfrm>
              <a:off x="2918080" y="3333750"/>
              <a:ext cx="4253760" cy="1457325"/>
            </a:xfrm>
            <a:prstGeom prst="rect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DCFA984-B0EA-403D-A0EE-7C546B8E0AB3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 flipV="1">
              <a:off x="2219324" y="4062413"/>
              <a:ext cx="698756" cy="429101"/>
            </a:xfrm>
            <a:prstGeom prst="straightConnector1">
              <a:avLst/>
            </a:prstGeom>
            <a:ln w="28575"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F7DBD13-2579-407D-B05B-6EE4CA7B5C49}"/>
              </a:ext>
            </a:extLst>
          </p:cNvPr>
          <p:cNvGrpSpPr/>
          <p:nvPr/>
        </p:nvGrpSpPr>
        <p:grpSpPr>
          <a:xfrm>
            <a:off x="2287473" y="5133975"/>
            <a:ext cx="1510059" cy="1581924"/>
            <a:chOff x="2850182" y="5133975"/>
            <a:chExt cx="1510059" cy="158192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083AE4E-4916-4CE2-A2EA-3FA809C0BFC8}"/>
                </a:ext>
              </a:extLst>
            </p:cNvPr>
            <p:cNvCxnSpPr/>
            <p:nvPr/>
          </p:nvCxnSpPr>
          <p:spPr>
            <a:xfrm>
              <a:off x="2886075" y="5133975"/>
              <a:ext cx="1438275" cy="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1F3ADE4-8BFF-43EC-B297-6A5360EFCE19}"/>
                </a:ext>
              </a:extLst>
            </p:cNvPr>
            <p:cNvSpPr txBox="1"/>
            <p:nvPr/>
          </p:nvSpPr>
          <p:spPr>
            <a:xfrm>
              <a:off x="2850182" y="5515570"/>
              <a:ext cx="1510059" cy="1200329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And make the ribbons 30%  transparent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33ED44AD-0D7F-4CE2-B9FB-864188ED6088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3605212" y="5153322"/>
              <a:ext cx="0" cy="362248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FC59B468-47BC-4C68-B7A8-732C7C0790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73" y="1830582"/>
            <a:ext cx="4257143" cy="416190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FDF6F6-70C3-41DD-949E-D8198E0650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373" y="1830582"/>
            <a:ext cx="4257143" cy="41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792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8E6A0-02DB-4E11-B2CE-200684C26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pPr algn="ctr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GB" dirty="0"/>
              <a:t> layers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4D55B48-8A20-450F-89D5-4AD429F37D10}"/>
              </a:ext>
            </a:extLst>
          </p:cNvPr>
          <p:cNvGrpSpPr/>
          <p:nvPr/>
        </p:nvGrpSpPr>
        <p:grpSpPr>
          <a:xfrm>
            <a:off x="710711" y="5247127"/>
            <a:ext cx="4520863" cy="1200329"/>
            <a:chOff x="1238250" y="5247127"/>
            <a:chExt cx="4520863" cy="120032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C115FBF-C480-4B9B-9772-09C150C352C3}"/>
                </a:ext>
              </a:extLst>
            </p:cNvPr>
            <p:cNvSpPr txBox="1"/>
            <p:nvPr/>
          </p:nvSpPr>
          <p:spPr>
            <a:xfrm>
              <a:off x="3939838" y="5247127"/>
              <a:ext cx="1819275" cy="1200329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Use a minimal theme to get something more pleasing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D187634-98D3-4134-9F62-F567B3132C98}"/>
                </a:ext>
              </a:extLst>
            </p:cNvPr>
            <p:cNvCxnSpPr/>
            <p:nvPr/>
          </p:nvCxnSpPr>
          <p:spPr>
            <a:xfrm>
              <a:off x="1238250" y="5505450"/>
              <a:ext cx="1905000" cy="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D2024337-B0F6-4D00-AC2C-37C47A2297C9}"/>
                </a:ext>
              </a:extLst>
            </p:cNvPr>
            <p:cNvCxnSpPr>
              <a:stCxn id="8" idx="1"/>
            </p:cNvCxnSpPr>
            <p:nvPr/>
          </p:nvCxnSpPr>
          <p:spPr>
            <a:xfrm flipH="1" flipV="1">
              <a:off x="3143250" y="5505450"/>
              <a:ext cx="796588" cy="341842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A8172801-5BAC-422F-BF21-C7CCEE2002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66" y="1847694"/>
            <a:ext cx="4257143" cy="416190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67DF3E1-F65C-4454-ABBA-C25F3A49E6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1666" y="1830582"/>
            <a:ext cx="4257143" cy="4161905"/>
          </a:xfrm>
          <a:prstGeom prst="rect">
            <a:avLst/>
          </a:prstGeom>
        </p:spPr>
      </p:pic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81ABA1E7-1672-4B9F-B7A6-D2583B8A1DC3}"/>
              </a:ext>
            </a:extLst>
          </p:cNvPr>
          <p:cNvSpPr txBox="1">
            <a:spLocks/>
          </p:cNvSpPr>
          <p:nvPr/>
        </p:nvSpPr>
        <p:spPr>
          <a:xfrm>
            <a:off x="307731" y="1830582"/>
            <a:ext cx="7010796" cy="4608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(data = unicorn)+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(x = skittle, y =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extinction_prob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)+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labs(y = “Unicorn extinction probability”,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x = “Number of skittles”) +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geom_ribbon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(x = skittle, 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y =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extinction_prob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ymin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extinction_prob_lwr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ymax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extinction_prob_upp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alpha = 0.3) +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theme_minimal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591090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8E6A0-02DB-4E11-B2CE-200684C26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You can move layers to suit your need</a:t>
            </a:r>
          </a:p>
        </p:txBody>
      </p:sp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083F94D1-A7A2-4EF2-BA69-98F34A211C1F}"/>
              </a:ext>
            </a:extLst>
          </p:cNvPr>
          <p:cNvSpPr txBox="1">
            <a:spLocks/>
          </p:cNvSpPr>
          <p:nvPr/>
        </p:nvSpPr>
        <p:spPr>
          <a:xfrm>
            <a:off x="276226" y="3429000"/>
            <a:ext cx="11915774" cy="28384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()+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geom_ribbon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(x = skittle, y = capture,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ymin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capture_lwr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ymax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capture_upp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alpha = 0.3) +     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(x = skittle, y = capture)+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labs(y = “Unicorn capture rate”, x = “Number of skittles”) +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theme_minimal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D821BD-1CC4-4489-9E00-ECBF9F8D16FA}"/>
              </a:ext>
            </a:extLst>
          </p:cNvPr>
          <p:cNvSpPr txBox="1"/>
          <p:nvPr/>
        </p:nvSpPr>
        <p:spPr>
          <a:xfrm>
            <a:off x="655492" y="1970910"/>
            <a:ext cx="1070344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The order that you arrange the layers will determine what you see in the final figure.</a:t>
            </a:r>
          </a:p>
          <a:p>
            <a:r>
              <a:rPr lang="en-GB" sz="2400" dirty="0"/>
              <a:t>Want ribbons behind the line? Move the ribbon layer earlier.</a:t>
            </a:r>
          </a:p>
        </p:txBody>
      </p:sp>
      <p:pic>
        <p:nvPicPr>
          <p:cNvPr id="12" name="Picture 11" descr="A collage of a person's face&#10;&#10;Description automatically generated with medium confidence">
            <a:extLst>
              <a:ext uri="{FF2B5EF4-FFF2-40B4-BE49-F238E27FC236}">
                <a16:creationId xmlns:a16="http://schemas.microsoft.com/office/drawing/2014/main" id="{F1DDC3AC-FD54-458D-9C0D-9EDD8D2AA7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1925" y="2943226"/>
            <a:ext cx="3781269" cy="3566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493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D6E2A-74AB-4EF3-A8BC-00BA78EC1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For more material on learning 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D2483-C506-48EE-8AA2-9621DB9885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0025"/>
            <a:ext cx="10515600" cy="4351338"/>
          </a:xfrm>
        </p:spPr>
        <p:txBody>
          <a:bodyPr/>
          <a:lstStyle/>
          <a:p>
            <a:pPr marL="0" indent="0" algn="ctr">
              <a:buNone/>
            </a:pPr>
            <a:r>
              <a:rPr lang="en-GB" dirty="0">
                <a:hlinkClick r:id="rId2"/>
              </a:rPr>
              <a:t>https://intro2r.com</a:t>
            </a:r>
            <a:r>
              <a:rPr lang="en-GB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5C87AF-32D5-4283-9408-2BB727E5CD1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7701" t="24807" r="30536" b="17417"/>
          <a:stretch/>
        </p:blipFill>
        <p:spPr>
          <a:xfrm>
            <a:off x="4536831" y="1969476"/>
            <a:ext cx="3191608" cy="4554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998062"/>
      </p:ext>
    </p:extLst>
  </p:cSld>
  <p:clrMapOvr>
    <a:masterClrMapping/>
  </p:clrMapOvr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445</TotalTime>
  <Words>1881</Words>
  <Application>Microsoft Office PowerPoint</Application>
  <PresentationFormat>Widescreen</PresentationFormat>
  <Paragraphs>232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Bahnschrift Light</vt:lpstr>
      <vt:lpstr>Cambria Math</vt:lpstr>
      <vt:lpstr>Courier New</vt:lpstr>
      <vt:lpstr>sbs_template</vt:lpstr>
      <vt:lpstr>Data visualisations in R</vt:lpstr>
      <vt:lpstr>Key skills to become a good scientist</vt:lpstr>
      <vt:lpstr>Implementing ≠ understanding</vt:lpstr>
      <vt:lpstr>History of programming language</vt:lpstr>
      <vt:lpstr>R and RStudio</vt:lpstr>
      <vt:lpstr>PowerPoint Presentation</vt:lpstr>
      <vt:lpstr>R is a fancy calculator</vt:lpstr>
      <vt:lpstr>R is a fancy calculator</vt:lpstr>
      <vt:lpstr>An example</vt:lpstr>
      <vt:lpstr>Newts!</vt:lpstr>
      <vt:lpstr>objects</vt:lpstr>
      <vt:lpstr>Using stored objects</vt:lpstr>
      <vt:lpstr>Functions</vt:lpstr>
      <vt:lpstr>Anatomy of a function</vt:lpstr>
      <vt:lpstr>Lincoln-Petersen</vt:lpstr>
      <vt:lpstr>Function examples</vt:lpstr>
      <vt:lpstr>The reason why people started using R</vt:lpstr>
      <vt:lpstr>Common R mistakes</vt:lpstr>
      <vt:lpstr>Getting more functions into R</vt:lpstr>
      <vt:lpstr>To install a package;</vt:lpstr>
      <vt:lpstr>ggplot2</vt:lpstr>
      <vt:lpstr>Data visualisation toolkit</vt:lpstr>
      <vt:lpstr>First hurdle: get ggplot2</vt:lpstr>
      <vt:lpstr>ggplot layers</vt:lpstr>
      <vt:lpstr>ggplot layers</vt:lpstr>
      <vt:lpstr>ggplot layers</vt:lpstr>
      <vt:lpstr>ggplot layers</vt:lpstr>
      <vt:lpstr>ggplot layers</vt:lpstr>
      <vt:lpstr>ggplot layers</vt:lpstr>
      <vt:lpstr>You can move layers to suit your need</vt:lpstr>
      <vt:lpstr>For more material on learning 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Roos, Deon</cp:lastModifiedBy>
  <cp:revision>6</cp:revision>
  <dcterms:created xsi:type="dcterms:W3CDTF">2024-07-04T13:37:53Z</dcterms:created>
  <dcterms:modified xsi:type="dcterms:W3CDTF">2024-09-04T15:18:08Z</dcterms:modified>
</cp:coreProperties>
</file>