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"/>
  </p:notesMasterIdLst>
  <p:sldIdLst>
    <p:sldId id="257" r:id="rId2"/>
    <p:sldId id="307" r:id="rId3"/>
    <p:sldId id="316" r:id="rId4"/>
    <p:sldId id="305" r:id="rId5"/>
    <p:sldId id="306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9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3FABBF-7016-4732-BDF5-1FFE5B69D4DF}" type="datetimeFigureOut">
              <a:rPr lang="en-GB" smtClean="0"/>
              <a:t>07/08/2024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3FD8DE-E564-4347-B6CD-EE25FEE541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3222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9f8dfbc3a1_1_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9f8dfbc3a1_1_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42188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768141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EF085-90BA-6B79-A198-AE27F69DC1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4567" y="565410"/>
            <a:ext cx="6096000" cy="2863589"/>
          </a:xfrm>
        </p:spPr>
        <p:txBody>
          <a:bodyPr anchor="ctr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960FB6-F389-7EDD-D9DB-A406B89F35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567" y="3552161"/>
            <a:ext cx="6096000" cy="2607569"/>
          </a:xfr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001CD27-4DF4-05EC-92B4-C7555C3D018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50677" y="0"/>
            <a:ext cx="5741324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5E048B3-2145-631D-3138-1DF0AD6D38F2}"/>
              </a:ext>
            </a:extLst>
          </p:cNvPr>
          <p:cNvCxnSpPr/>
          <p:nvPr/>
        </p:nvCxnSpPr>
        <p:spPr>
          <a:xfrm>
            <a:off x="1313411" y="3491345"/>
            <a:ext cx="375735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5730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30639-2CA7-2272-840E-F8F595ABC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201295" cy="1325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59DF2-E981-9079-7762-2C88651F5B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26613"/>
            <a:ext cx="6201295" cy="524019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EC5A3C4-A2EA-7545-B99B-E8F489810F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59525" y="0"/>
            <a:ext cx="5832475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5727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B9374-2DD6-FA11-BF6F-AE419E0A6B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426614"/>
            <a:ext cx="5893724" cy="516220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A4DDC-5EE8-4D0D-208A-D5A4CC40A5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1295" y="0"/>
            <a:ext cx="5990705" cy="5162204"/>
          </a:xfrm>
        </p:spPr>
        <p:txBody>
          <a:bodyPr anchor="ctr"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96FFCEF-D528-27F4-CF96-A8F674BCA08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20129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E6B47C7-8888-2E6B-0D7C-CF46BFD9A3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01295" y="5162204"/>
            <a:ext cx="5990705" cy="16957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503944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FFACB-206F-5777-5BAD-5BF8E9669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104015"/>
            <a:ext cx="10515600" cy="175398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911821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958E7-8733-1588-CE76-0710036CC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043C91-73BF-C49E-46BA-834638FC0B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FDC1F7-08BE-633D-0E8D-18F30CEE5A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4D961F-706F-451E-ABF3-F672C1F454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36AEAE-47C4-6C9C-5B4C-F6E31977E8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72731F-9715-FADD-FEBD-65D90CABA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74BAF-A271-4685-8071-8AAA99BFAABC}" type="datetimeFigureOut">
              <a:rPr lang="en-GB" smtClean="0"/>
              <a:t>07/08/2024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E7A07B-AF32-2EA1-F513-0D1F38BAB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B01B04-63C5-991E-FD0F-2ED9257DC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6A1F5-CA46-4F99-85E3-83F09305F2B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80817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13767-1669-64A9-2C16-1A1F6165D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1F01AD-E823-7B4D-D421-EF7BE290C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74BAF-A271-4685-8071-8AAA99BFAABC}" type="datetimeFigureOut">
              <a:rPr lang="en-GB" smtClean="0"/>
              <a:t>07/08/2024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13AC7F-2C26-3190-A705-5FC5DD18B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DF203F-F57C-7145-B743-4A084B3A5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6A1F5-CA46-4F99-85E3-83F09305F2B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44591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E02D19-147D-AD60-6ACC-2F7283CEE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74BAF-A271-4685-8071-8AAA99BFAABC}" type="datetimeFigureOut">
              <a:rPr lang="en-GB" smtClean="0"/>
              <a:t>07/08/2024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CF569D-7098-9B6D-B851-1B18E6DB6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18D08F-69F0-C410-CAC9-DF16A0BF9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6A1F5-CA46-4F99-85E3-83F09305F2B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44229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C2567-4A48-3F47-EF88-E32A67EDD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F90797-1FEC-B310-9CA0-6642F4FE7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BDC1EB-E335-7190-8BFD-48E25C309A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154E58-0B6A-491E-7CE0-88114C141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74BAF-A271-4685-8071-8AAA99BFAABC}" type="datetimeFigureOut">
              <a:rPr lang="en-GB" smtClean="0"/>
              <a:t>07/08/2024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198572-7396-BEBC-0D56-24BE2A95E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2279F2-BB85-6763-45F1-D73C041BD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6A1F5-CA46-4F99-85E3-83F09305F2B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01589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83E09-8249-AC15-7FC0-A0BAD598E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C329DF-266D-F8F8-A195-53A7576BBF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CFA6F2-3F6B-26F9-74E6-E4E35007E9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4BCDB-42E3-AB80-31A3-907D1B597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74BAF-A271-4685-8071-8AAA99BFAABC}" type="datetimeFigureOut">
              <a:rPr lang="en-GB" smtClean="0"/>
              <a:t>07/08/2024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6EC699-83D3-6581-966B-8882D2158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550ABE-17BA-CEDA-390B-2BA6E004B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6A1F5-CA46-4F99-85E3-83F09305F2B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5179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1BF0F-4D20-22A7-227D-78B4DDCA7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010818-F611-B1A2-8A19-C3130A329F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543987-925F-B621-E68B-A3BED9350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74BAF-A271-4685-8071-8AAA99BFAABC}" type="datetimeFigureOut">
              <a:rPr lang="en-GB" smtClean="0"/>
              <a:t>07/08/2024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2031D-ADF7-744B-5905-8C84ADA49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D02BB-73AF-8339-0B3A-B736F5E38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6A1F5-CA46-4F99-85E3-83F09305F2B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32575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A4840D-0D28-B8EB-88E1-65CDAE3316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3A8637-D9F6-1719-1804-4B3705C901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A50F13-C53E-CA05-E313-C1579E84E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74BAF-A271-4685-8071-8AAA99BFAABC}" type="datetimeFigureOut">
              <a:rPr lang="en-GB" smtClean="0"/>
              <a:t>07/08/2024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09B7E-626E-8018-4CBE-414FB0F1D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0D0C27-06BF-1AD4-3587-FD26F1D7B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6A1F5-CA46-4F99-85E3-83F09305F2B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76789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04BBB-7B89-DF3A-E37B-0CE11C01D6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E23C45-9C0E-934F-5B9E-4025C97AAD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F1CB38-CCE1-CE7F-538B-57EFE994BF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74BAF-A271-4685-8071-8AAA99BFAABC}" type="datetimeFigureOut">
              <a:rPr lang="en-GB" smtClean="0"/>
              <a:t>07/08/2024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814B22-D217-41CD-A85A-5297A83E3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221CD8-673B-08C9-F8FF-8933D4B807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6A1F5-CA46-4F99-85E3-83F09305F2B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15260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96305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246E56-8908-0E6A-4E62-88CF6D359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1896B-C040-3D2C-A619-0B877E3383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B1AC1E-960F-82DB-0E5A-2F328EAC2C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974BAF-A271-4685-8071-8AAA99BFAABC}" type="datetimeFigureOut">
              <a:rPr lang="en-GB" smtClean="0"/>
              <a:t>07/08/2024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CFF5B2-21B1-9528-920D-DD4BF8C0BD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D16DDC-4E03-310B-1091-75EB5EDC36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76A1F5-CA46-4F99-85E3-83F09305F2B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143629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98D9C-DD53-AF2A-73CA-9B05550721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AIC &amp; NHST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7C4908-BF8B-F6A0-3856-4F1F5F7108B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Additions to Linear Models</a:t>
            </a:r>
          </a:p>
        </p:txBody>
      </p:sp>
    </p:spTree>
    <p:extLst>
      <p:ext uri="{BB962C8B-B14F-4D97-AF65-F5344CB8AC3E}">
        <p14:creationId xmlns:p14="http://schemas.microsoft.com/office/powerpoint/2010/main" val="9354694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FD712-6B15-2451-9479-3F588889D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Two commonly used “additions” in modelling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90BE0A-8364-5600-57DF-D676A4E385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An (Akaike’s) Information Criterion</a:t>
            </a:r>
          </a:p>
          <a:p>
            <a:pPr lvl="1"/>
            <a:r>
              <a:rPr lang="en-GB" dirty="0"/>
              <a:t>AIC</a:t>
            </a:r>
          </a:p>
          <a:p>
            <a:r>
              <a:rPr lang="en-GB" dirty="0"/>
              <a:t>Null Hypothesis Significance Testing</a:t>
            </a:r>
          </a:p>
          <a:p>
            <a:pPr lvl="1"/>
            <a:r>
              <a:rPr lang="en-GB" dirty="0"/>
              <a:t>NHST</a:t>
            </a:r>
          </a:p>
          <a:p>
            <a:r>
              <a:rPr lang="en-GB" dirty="0"/>
              <a:t>Form two different paradigms (i.e. schools of thought)</a:t>
            </a:r>
          </a:p>
          <a:p>
            <a:r>
              <a:rPr lang="en-GB" dirty="0"/>
              <a:t>Both are misused frequently</a:t>
            </a:r>
          </a:p>
          <a:p>
            <a:r>
              <a:rPr lang="en-GB" dirty="0"/>
              <a:t>But are useful tools in specific circumstances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ABA56A2-35BF-8455-8129-31174849CDD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01102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39755-B19C-E22A-4F86-037A61230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Information Criterion</a:t>
            </a:r>
          </a:p>
        </p:txBody>
      </p:sp>
    </p:spTree>
    <p:extLst>
      <p:ext uri="{BB962C8B-B14F-4D97-AF65-F5344CB8AC3E}">
        <p14:creationId xmlns:p14="http://schemas.microsoft.com/office/powerpoint/2010/main" val="12647726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6312335-CA1A-76C0-D2D3-BF1F58A8E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 anchor="ctr">
            <a:normAutofit/>
          </a:bodyPr>
          <a:lstStyle/>
          <a:p>
            <a:pPr algn="ctr"/>
            <a:r>
              <a:rPr lang="en-GB" sz="5400" dirty="0">
                <a:latin typeface="Bahnschrift Light" panose="020B0502040204020203" pitchFamily="34" charset="0"/>
              </a:rPr>
              <a:t>First amongst equals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Google Shape;371;p39">
                <a:extLst>
                  <a:ext uri="{FF2B5EF4-FFF2-40B4-BE49-F238E27FC236}">
                    <a16:creationId xmlns:a16="http://schemas.microsoft.com/office/drawing/2014/main" id="{5394189B-7847-4829-B059-EDBDC6134D1F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415598" y="1484183"/>
                <a:ext cx="10333083" cy="5170385"/>
              </a:xfrm>
              <a:prstGeom prst="rect">
                <a:avLst/>
              </a:prstGeom>
            </p:spPr>
            <p:txBody>
              <a:bodyPr spcFirstLastPara="1" vert="horz" wrap="square" lIns="121900" tIns="121900" rIns="121900" bIns="121900" rtlCol="0" anchor="t" anchorCtr="0">
                <a:no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Bahnschrift Light" panose="020B0502040204020203" pitchFamily="34" charset="0"/>
                  </a:rPr>
                  <a:t>Three broad purposes of statistics:</a:t>
                </a:r>
              </a:p>
              <a:p>
                <a:pPr marL="457200" indent="-457200"/>
                <a:r>
                  <a:rPr lang="en-US" dirty="0">
                    <a:latin typeface="Bahnschrift Light" panose="020B0502040204020203" pitchFamily="34" charset="0"/>
                  </a:rPr>
                  <a:t>Causal inference</a:t>
                </a:r>
              </a:p>
              <a:p>
                <a:pPr marL="457200" indent="-457200"/>
                <a:r>
                  <a:rPr lang="en-US" dirty="0">
                    <a:latin typeface="Bahnschrift Light" panose="020B0502040204020203" pitchFamily="34" charset="0"/>
                  </a:rPr>
                  <a:t>Prediction</a:t>
                </a:r>
              </a:p>
              <a:p>
                <a:pPr marL="457200" indent="-457200"/>
                <a:r>
                  <a:rPr lang="en-US" dirty="0">
                    <a:latin typeface="Bahnschrift Light" panose="020B0502040204020203" pitchFamily="34" charset="0"/>
                  </a:rPr>
                  <a:t>Descriptive</a:t>
                </a:r>
              </a:p>
              <a:p>
                <a:pPr marL="0" indent="0">
                  <a:buNone/>
                </a:pPr>
                <a:endParaRPr lang="en-US" dirty="0">
                  <a:latin typeface="Bahnschrift Light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Bahnschrift Light" panose="020B0502040204020203" pitchFamily="34" charset="0"/>
                  </a:rPr>
                  <a:t>Who do you think won the 2021 Japanese election?</a:t>
                </a:r>
              </a:p>
              <a:p>
                <a:pPr marL="0" indent="0">
                  <a:buNone/>
                </a:pPr>
                <a:endParaRPr lang="en-US" dirty="0">
                  <a:latin typeface="Bahnschrift Light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Bahnschrift Light" panose="020B0502040204020203" pitchFamily="34" charset="0"/>
                  </a:rPr>
                  <a:t>LDM have won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=95%</m:t>
                    </m:r>
                  </m:oMath>
                </a14:m>
                <a:r>
                  <a:rPr lang="en-US" dirty="0">
                    <a:latin typeface="Bahnschrift Light" panose="020B0502040204020203" pitchFamily="34" charset="0"/>
                  </a:rPr>
                  <a:t> (95% chance to win 2021).</a:t>
                </a:r>
              </a:p>
              <a:p>
                <a:pPr marL="0" indent="0">
                  <a:buNone/>
                </a:pPr>
                <a:br>
                  <a:rPr lang="en-GB" b="0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𝑅𝑒𝑠𝑢𝑙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𝐷𝑖𝑠𝑡𝑟𝑖𝑏𝑢𝑡𝑖𝑜𝑛</m:t>
                      </m:r>
                      <m:d>
                        <m:d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𝑅𝑒𝑑</m:t>
                          </m:r>
                        </m:e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Bahnschrift Light" panose="020B0502040204020203" pitchFamily="34" charset="0"/>
                </a:endParaRPr>
              </a:p>
            </p:txBody>
          </p:sp>
        </mc:Choice>
        <mc:Fallback xmlns="">
          <p:sp>
            <p:nvSpPr>
              <p:cNvPr id="32" name="Google Shape;371;p39">
                <a:extLst>
                  <a:ext uri="{FF2B5EF4-FFF2-40B4-BE49-F238E27FC236}">
                    <a16:creationId xmlns:a16="http://schemas.microsoft.com/office/drawing/2014/main" id="{5394189B-7847-4829-B059-EDBDC6134D1F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15598" y="1484183"/>
                <a:ext cx="10333083" cy="5170385"/>
              </a:xfrm>
              <a:prstGeom prst="rect">
                <a:avLst/>
              </a:prstGeom>
              <a:blipFill>
                <a:blip r:embed="rId3"/>
                <a:stretch>
                  <a:fillRect l="-885" t="-58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F5983E3B-9ABE-4ABE-9135-B7859F6FB01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61761" t="2313" r="26607"/>
          <a:stretch/>
        </p:blipFill>
        <p:spPr>
          <a:xfrm>
            <a:off x="10652129" y="158620"/>
            <a:ext cx="1418253" cy="669938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DB4F1A5C-4319-88DF-75BF-2E9B01EDA594}"/>
              </a:ext>
            </a:extLst>
          </p:cNvPr>
          <p:cNvGrpSpPr/>
          <p:nvPr/>
        </p:nvGrpSpPr>
        <p:grpSpPr>
          <a:xfrm>
            <a:off x="3768914" y="1971948"/>
            <a:ext cx="3114301" cy="1200329"/>
            <a:chOff x="3801795" y="3854877"/>
            <a:chExt cx="3114301" cy="1200329"/>
          </a:xfrm>
        </p:grpSpPr>
        <p:sp>
          <p:nvSpPr>
            <p:cNvPr id="6" name="Right Brace 5">
              <a:extLst>
                <a:ext uri="{FF2B5EF4-FFF2-40B4-BE49-F238E27FC236}">
                  <a16:creationId xmlns:a16="http://schemas.microsoft.com/office/drawing/2014/main" id="{D93CE428-D551-3EAF-F325-FF1EEFB4E06E}"/>
                </a:ext>
              </a:extLst>
            </p:cNvPr>
            <p:cNvSpPr/>
            <p:nvPr/>
          </p:nvSpPr>
          <p:spPr>
            <a:xfrm>
              <a:off x="3801795" y="3923414"/>
              <a:ext cx="180754" cy="1063256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2797B1-A8CA-202E-52FE-2A53A02756C7}"/>
                </a:ext>
              </a:extLst>
            </p:cNvPr>
            <p:cNvSpPr txBox="1"/>
            <p:nvPr/>
          </p:nvSpPr>
          <p:spPr>
            <a:xfrm>
              <a:off x="4151631" y="3854877"/>
              <a:ext cx="2764465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400" dirty="0">
                  <a:latin typeface="Bahnschrift Light" panose="020B0502040204020203" pitchFamily="34" charset="0"/>
                </a:rPr>
                <a:t>Linear models and GLMs can do all three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594BC44A-5C24-99DA-9764-5595AED1BE61}"/>
              </a:ext>
            </a:extLst>
          </p:cNvPr>
          <p:cNvSpPr txBox="1"/>
          <p:nvPr/>
        </p:nvSpPr>
        <p:spPr>
          <a:xfrm>
            <a:off x="2170324" y="6192903"/>
            <a:ext cx="74429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latin typeface="Bahnschrift Light" panose="020B0502040204020203" pitchFamily="34" charset="0"/>
              </a:rPr>
              <a:t>The model does not know it’s purpose, only you do.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06228FA-2B1D-90D3-2D5C-BC63E0BFCC28}"/>
              </a:ext>
            </a:extLst>
          </p:cNvPr>
          <p:cNvSpPr/>
          <p:nvPr/>
        </p:nvSpPr>
        <p:spPr>
          <a:xfrm>
            <a:off x="10582275" y="158620"/>
            <a:ext cx="1488107" cy="40335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93254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uiExpand="1" build="p"/>
      <p:bldP spid="10" grpId="0"/>
      <p:bldP spid="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A962E-623F-4A33-9271-D822D9C94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0" cy="763600"/>
          </a:xfrm>
        </p:spPr>
        <p:txBody>
          <a:bodyPr/>
          <a:lstStyle/>
          <a:p>
            <a:pPr algn="ctr"/>
            <a:r>
              <a:rPr lang="en-GB" dirty="0"/>
              <a:t>A family of confusion</a:t>
            </a:r>
          </a:p>
        </p:txBody>
      </p:sp>
      <p:grpSp>
        <p:nvGrpSpPr>
          <p:cNvPr id="95" name="Group 94">
            <a:extLst>
              <a:ext uri="{FF2B5EF4-FFF2-40B4-BE49-F238E27FC236}">
                <a16:creationId xmlns:a16="http://schemas.microsoft.com/office/drawing/2014/main" id="{14BD0FBE-1901-44C1-B2BF-04A0F26F2F78}"/>
              </a:ext>
            </a:extLst>
          </p:cNvPr>
          <p:cNvGrpSpPr/>
          <p:nvPr/>
        </p:nvGrpSpPr>
        <p:grpSpPr>
          <a:xfrm>
            <a:off x="7302365" y="1107020"/>
            <a:ext cx="2088545" cy="2126089"/>
            <a:chOff x="5476773" y="830264"/>
            <a:chExt cx="1566409" cy="1594567"/>
          </a:xfrm>
        </p:grpSpPr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E6A70E16-FEC9-4152-B419-97B35E22CD42}"/>
                </a:ext>
              </a:extLst>
            </p:cNvPr>
            <p:cNvGrpSpPr/>
            <p:nvPr/>
          </p:nvGrpSpPr>
          <p:grpSpPr>
            <a:xfrm>
              <a:off x="5476773" y="1341040"/>
              <a:ext cx="1566409" cy="1083791"/>
              <a:chOff x="6155850" y="1341040"/>
              <a:chExt cx="1566409" cy="1083791"/>
            </a:xfrm>
          </p:grpSpPr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533F65E5-54E3-4F6D-8E50-D41D0D93A99A}"/>
                  </a:ext>
                </a:extLst>
              </p:cNvPr>
              <p:cNvSpPr/>
              <p:nvPr/>
            </p:nvSpPr>
            <p:spPr>
              <a:xfrm>
                <a:off x="7287658" y="2021511"/>
                <a:ext cx="434601" cy="403320"/>
              </a:xfrm>
              <a:prstGeom prst="ellipse">
                <a:avLst/>
              </a:prstGeom>
              <a:solidFill>
                <a:srgbClr val="434343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Y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39613A30-CEA7-43EB-9DD4-31A2596A3525}"/>
                  </a:ext>
                </a:extLst>
              </p:cNvPr>
              <p:cNvSpPr/>
              <p:nvPr/>
            </p:nvSpPr>
            <p:spPr>
              <a:xfrm>
                <a:off x="6155850" y="2021511"/>
                <a:ext cx="434602" cy="403319"/>
              </a:xfrm>
              <a:prstGeom prst="ellipse">
                <a:avLst/>
              </a:prstGeom>
              <a:solidFill>
                <a:schemeClr val="accent5">
                  <a:lumMod val="50000"/>
                </a:schemeClr>
              </a:solidFill>
              <a:ln w="3810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X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4B801E74-A95D-44EA-B4DF-54DAACC4A3E1}"/>
                  </a:ext>
                </a:extLst>
              </p:cNvPr>
              <p:cNvSpPr/>
              <p:nvPr/>
            </p:nvSpPr>
            <p:spPr>
              <a:xfrm>
                <a:off x="6725536" y="1341040"/>
                <a:ext cx="434601" cy="403319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Z</a:t>
                </a:r>
              </a:p>
            </p:txBody>
          </p: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A41A44C1-653D-4DC3-8B5B-5B648C14E08A}"/>
                  </a:ext>
                </a:extLst>
              </p:cNvPr>
              <p:cNvCxnSpPr>
                <a:stCxn id="32" idx="5"/>
                <a:endCxn id="28" idx="1"/>
              </p:cNvCxnSpPr>
              <p:nvPr/>
            </p:nvCxnSpPr>
            <p:spPr>
              <a:xfrm>
                <a:off x="7096491" y="1685294"/>
                <a:ext cx="254813" cy="39528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6AE978E5-F091-4821-96C6-B724F076F9B2}"/>
                  </a:ext>
                </a:extLst>
              </p:cNvPr>
              <p:cNvCxnSpPr>
                <a:stCxn id="30" idx="7"/>
                <a:endCxn id="32" idx="3"/>
              </p:cNvCxnSpPr>
              <p:nvPr/>
            </p:nvCxnSpPr>
            <p:spPr>
              <a:xfrm flipV="1">
                <a:off x="6526806" y="1685294"/>
                <a:ext cx="262376" cy="39528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9C42D1A-BCCF-453E-9579-4AFC9AB8A212}"/>
                </a:ext>
              </a:extLst>
            </p:cNvPr>
            <p:cNvSpPr txBox="1"/>
            <p:nvPr/>
          </p:nvSpPr>
          <p:spPr>
            <a:xfrm>
              <a:off x="5991889" y="830264"/>
              <a:ext cx="589345" cy="3462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400" dirty="0"/>
                <a:t>Pipe</a:t>
              </a:r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354C2958-F320-4C48-A8CA-5C868A94C0AF}"/>
              </a:ext>
            </a:extLst>
          </p:cNvPr>
          <p:cNvGrpSpPr/>
          <p:nvPr/>
        </p:nvGrpSpPr>
        <p:grpSpPr>
          <a:xfrm>
            <a:off x="4701277" y="1116175"/>
            <a:ext cx="2088545" cy="2137851"/>
            <a:chOff x="3525957" y="837131"/>
            <a:chExt cx="1566409" cy="1603388"/>
          </a:xfrm>
        </p:grpSpPr>
        <p:grpSp>
          <p:nvGrpSpPr>
            <p:cNvPr id="73" name="Group 72">
              <a:extLst>
                <a:ext uri="{FF2B5EF4-FFF2-40B4-BE49-F238E27FC236}">
                  <a16:creationId xmlns:a16="http://schemas.microsoft.com/office/drawing/2014/main" id="{ADABC815-811B-49C9-992B-C158E810C735}"/>
                </a:ext>
              </a:extLst>
            </p:cNvPr>
            <p:cNvGrpSpPr/>
            <p:nvPr/>
          </p:nvGrpSpPr>
          <p:grpSpPr>
            <a:xfrm>
              <a:off x="3525957" y="1356728"/>
              <a:ext cx="1566409" cy="1083791"/>
              <a:chOff x="4205034" y="1356728"/>
              <a:chExt cx="1566409" cy="1083791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75C522C8-ABFA-4058-9BAE-C456C9C05CF4}"/>
                  </a:ext>
                </a:extLst>
              </p:cNvPr>
              <p:cNvSpPr/>
              <p:nvPr/>
            </p:nvSpPr>
            <p:spPr>
              <a:xfrm>
                <a:off x="5336842" y="2037199"/>
                <a:ext cx="434601" cy="403320"/>
              </a:xfrm>
              <a:prstGeom prst="ellipse">
                <a:avLst/>
              </a:prstGeom>
              <a:solidFill>
                <a:srgbClr val="434343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Y</a:t>
                </a: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AD059DA1-CEFB-4BBD-A284-532D2AC070BD}"/>
                  </a:ext>
                </a:extLst>
              </p:cNvPr>
              <p:cNvSpPr/>
              <p:nvPr/>
            </p:nvSpPr>
            <p:spPr>
              <a:xfrm>
                <a:off x="4205034" y="2037199"/>
                <a:ext cx="434602" cy="403319"/>
              </a:xfrm>
              <a:prstGeom prst="ellipse">
                <a:avLst/>
              </a:prstGeom>
              <a:solidFill>
                <a:schemeClr val="accent5">
                  <a:lumMod val="50000"/>
                </a:schemeClr>
              </a:solidFill>
              <a:ln w="3810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X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4A4066AC-A54A-467D-88E0-DF35BA925149}"/>
                  </a:ext>
                </a:extLst>
              </p:cNvPr>
              <p:cNvSpPr/>
              <p:nvPr/>
            </p:nvSpPr>
            <p:spPr>
              <a:xfrm>
                <a:off x="4774720" y="1356728"/>
                <a:ext cx="434601" cy="403319"/>
              </a:xfrm>
              <a:prstGeom prst="ellipse">
                <a:avLst/>
              </a:prstGeom>
              <a:solidFill>
                <a:srgbClr val="434343"/>
              </a:solidFill>
              <a:ln w="38100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Z</a:t>
                </a:r>
              </a:p>
            </p:txBody>
          </p:sp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A75A2A15-38D9-4ED3-93A0-ADB28A204398}"/>
                  </a:ext>
                </a:extLst>
              </p:cNvPr>
              <p:cNvCxnSpPr>
                <a:stCxn id="20" idx="3"/>
                <a:endCxn id="19" idx="7"/>
              </p:cNvCxnSpPr>
              <p:nvPr/>
            </p:nvCxnSpPr>
            <p:spPr>
              <a:xfrm flipH="1">
                <a:off x="4575990" y="1700982"/>
                <a:ext cx="262376" cy="39528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28B291C2-904F-4007-89AA-0095EB52F029}"/>
                  </a:ext>
                </a:extLst>
              </p:cNvPr>
              <p:cNvCxnSpPr>
                <a:stCxn id="20" idx="5"/>
                <a:endCxn id="18" idx="1"/>
              </p:cNvCxnSpPr>
              <p:nvPr/>
            </p:nvCxnSpPr>
            <p:spPr>
              <a:xfrm>
                <a:off x="5145675" y="1700982"/>
                <a:ext cx="254813" cy="39528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4B113D6-8AAE-4097-851A-4EC467169931}"/>
                </a:ext>
              </a:extLst>
            </p:cNvPr>
            <p:cNvSpPr txBox="1"/>
            <p:nvPr/>
          </p:nvSpPr>
          <p:spPr>
            <a:xfrm>
              <a:off x="4041874" y="837131"/>
              <a:ext cx="614591" cy="3462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400" dirty="0"/>
                <a:t>Fork</a:t>
              </a:r>
            </a:p>
          </p:txBody>
        </p:sp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78ED9010-4665-484F-8E6C-DA3A0A970AC1}"/>
              </a:ext>
            </a:extLst>
          </p:cNvPr>
          <p:cNvGrpSpPr/>
          <p:nvPr/>
        </p:nvGrpSpPr>
        <p:grpSpPr>
          <a:xfrm>
            <a:off x="4701276" y="4003391"/>
            <a:ext cx="2088545" cy="2203955"/>
            <a:chOff x="3525957" y="3002543"/>
            <a:chExt cx="1566409" cy="1652966"/>
          </a:xfrm>
        </p:grpSpPr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80F3DDA8-C395-407E-9906-32803A28160A}"/>
                </a:ext>
              </a:extLst>
            </p:cNvPr>
            <p:cNvGrpSpPr/>
            <p:nvPr/>
          </p:nvGrpSpPr>
          <p:grpSpPr>
            <a:xfrm>
              <a:off x="3525957" y="3571718"/>
              <a:ext cx="1566409" cy="1083791"/>
              <a:chOff x="4205034" y="3383452"/>
              <a:chExt cx="1566409" cy="1083791"/>
            </a:xfrm>
          </p:grpSpPr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2E45509B-490B-4D1A-9F28-C9A5842BB263}"/>
                  </a:ext>
                </a:extLst>
              </p:cNvPr>
              <p:cNvSpPr/>
              <p:nvPr/>
            </p:nvSpPr>
            <p:spPr>
              <a:xfrm>
                <a:off x="5336842" y="4063923"/>
                <a:ext cx="434601" cy="403320"/>
              </a:xfrm>
              <a:prstGeom prst="ellipse">
                <a:avLst/>
              </a:prstGeom>
              <a:solidFill>
                <a:srgbClr val="434343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Y</a:t>
                </a: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36BE5D0A-4C42-4390-AE7C-F0ED68019773}"/>
                  </a:ext>
                </a:extLst>
              </p:cNvPr>
              <p:cNvSpPr/>
              <p:nvPr/>
            </p:nvSpPr>
            <p:spPr>
              <a:xfrm>
                <a:off x="4205034" y="4063923"/>
                <a:ext cx="434602" cy="403319"/>
              </a:xfrm>
              <a:prstGeom prst="ellipse">
                <a:avLst/>
              </a:prstGeom>
              <a:solidFill>
                <a:schemeClr val="accent5">
                  <a:lumMod val="50000"/>
                </a:schemeClr>
              </a:solidFill>
              <a:ln w="3810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X</a:t>
                </a: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1F01C355-0AE3-4E43-B31E-6F67F82CCD9D}"/>
                  </a:ext>
                </a:extLst>
              </p:cNvPr>
              <p:cNvSpPr/>
              <p:nvPr/>
            </p:nvSpPr>
            <p:spPr>
              <a:xfrm>
                <a:off x="4774720" y="3383452"/>
                <a:ext cx="434601" cy="403319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Z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ADC4F697-437D-4542-850E-E5CD624387BF}"/>
                  </a:ext>
                </a:extLst>
              </p:cNvPr>
              <p:cNvCxnSpPr>
                <a:stCxn id="24" idx="7"/>
                <a:endCxn id="25" idx="3"/>
              </p:cNvCxnSpPr>
              <p:nvPr/>
            </p:nvCxnSpPr>
            <p:spPr>
              <a:xfrm flipV="1">
                <a:off x="4575990" y="3727706"/>
                <a:ext cx="262376" cy="39528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D75AC29F-F300-4106-B39B-5A6067C1B02E}"/>
                  </a:ext>
                </a:extLst>
              </p:cNvPr>
              <p:cNvCxnSpPr>
                <a:stCxn id="23" idx="1"/>
                <a:endCxn id="25" idx="5"/>
              </p:cNvCxnSpPr>
              <p:nvPr/>
            </p:nvCxnSpPr>
            <p:spPr>
              <a:xfrm flipH="1" flipV="1">
                <a:off x="5145675" y="3727706"/>
                <a:ext cx="254813" cy="39528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55EC461-1B4D-48D9-9BB9-A14CB9D35624}"/>
                </a:ext>
              </a:extLst>
            </p:cNvPr>
            <p:cNvSpPr txBox="1"/>
            <p:nvPr/>
          </p:nvSpPr>
          <p:spPr>
            <a:xfrm>
              <a:off x="3916253" y="3002543"/>
              <a:ext cx="947615" cy="3462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400" dirty="0"/>
                <a:t>Collider</a:t>
              </a: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F5E09E6D-8182-477A-BD15-6D9591EDBFCB}"/>
              </a:ext>
            </a:extLst>
          </p:cNvPr>
          <p:cNvGrpSpPr/>
          <p:nvPr/>
        </p:nvGrpSpPr>
        <p:grpSpPr>
          <a:xfrm>
            <a:off x="2105497" y="1107019"/>
            <a:ext cx="2088545" cy="2147005"/>
            <a:chOff x="1579122" y="830264"/>
            <a:chExt cx="1566409" cy="1610254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DB27D496-C095-4342-98D0-7DFBB84BDDDE}"/>
                </a:ext>
              </a:extLst>
            </p:cNvPr>
            <p:cNvGrpSpPr/>
            <p:nvPr/>
          </p:nvGrpSpPr>
          <p:grpSpPr>
            <a:xfrm>
              <a:off x="1579122" y="2037198"/>
              <a:ext cx="1566409" cy="403320"/>
              <a:chOff x="2258199" y="2037198"/>
              <a:chExt cx="1566409" cy="403320"/>
            </a:xfrm>
          </p:grpSpPr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8FBB8E71-E714-4C1E-A0D6-B82B425268CB}"/>
                  </a:ext>
                </a:extLst>
              </p:cNvPr>
              <p:cNvSpPr/>
              <p:nvPr/>
            </p:nvSpPr>
            <p:spPr>
              <a:xfrm>
                <a:off x="3390007" y="2037198"/>
                <a:ext cx="434601" cy="403320"/>
              </a:xfrm>
              <a:prstGeom prst="ellipse">
                <a:avLst/>
              </a:prstGeom>
              <a:solidFill>
                <a:srgbClr val="434343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Y</a:t>
                </a:r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FCDD6CE4-68CF-47F3-9E4C-E6AA8659F717}"/>
                  </a:ext>
                </a:extLst>
              </p:cNvPr>
              <p:cNvSpPr/>
              <p:nvPr/>
            </p:nvSpPr>
            <p:spPr>
              <a:xfrm>
                <a:off x="2258199" y="2037198"/>
                <a:ext cx="434602" cy="403319"/>
              </a:xfrm>
              <a:prstGeom prst="ellipse">
                <a:avLst/>
              </a:prstGeom>
              <a:solidFill>
                <a:schemeClr val="accent5">
                  <a:lumMod val="50000"/>
                </a:schemeClr>
              </a:solidFill>
              <a:ln w="3810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X</a:t>
                </a:r>
              </a:p>
            </p:txBody>
          </p:sp>
          <p:cxnSp>
            <p:nvCxnSpPr>
              <p:cNvPr id="60" name="Straight Arrow Connector 59">
                <a:extLst>
                  <a:ext uri="{FF2B5EF4-FFF2-40B4-BE49-F238E27FC236}">
                    <a16:creationId xmlns:a16="http://schemas.microsoft.com/office/drawing/2014/main" id="{CA601D8D-B31A-4808-9732-653AA3E5E614}"/>
                  </a:ext>
                </a:extLst>
              </p:cNvPr>
              <p:cNvCxnSpPr>
                <a:cxnSpLocks/>
                <a:stCxn id="57" idx="6"/>
                <a:endCxn id="56" idx="2"/>
              </p:cNvCxnSpPr>
              <p:nvPr/>
            </p:nvCxnSpPr>
            <p:spPr>
              <a:xfrm>
                <a:off x="2692801" y="2238858"/>
                <a:ext cx="697206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B5EA05AE-3093-4CAF-B304-8831AB0AEC87}"/>
                </a:ext>
              </a:extLst>
            </p:cNvPr>
            <p:cNvSpPr txBox="1"/>
            <p:nvPr/>
          </p:nvSpPr>
          <p:spPr>
            <a:xfrm>
              <a:off x="2032548" y="830264"/>
              <a:ext cx="680716" cy="3462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400" dirty="0"/>
                <a:t>Truth</a:t>
              </a:r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652350C0-6E90-4B50-B9CA-A1EB04836BE6}"/>
              </a:ext>
            </a:extLst>
          </p:cNvPr>
          <p:cNvGrpSpPr/>
          <p:nvPr/>
        </p:nvGrpSpPr>
        <p:grpSpPr>
          <a:xfrm>
            <a:off x="2074345" y="3999555"/>
            <a:ext cx="2101718" cy="2221236"/>
            <a:chOff x="1555759" y="2999666"/>
            <a:chExt cx="1576288" cy="1665927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69D0486-88B7-4726-BC32-815475763AFF}"/>
                </a:ext>
              </a:extLst>
            </p:cNvPr>
            <p:cNvGrpSpPr/>
            <p:nvPr/>
          </p:nvGrpSpPr>
          <p:grpSpPr>
            <a:xfrm>
              <a:off x="1555759" y="4262273"/>
              <a:ext cx="1566409" cy="403320"/>
              <a:chOff x="2234836" y="4074007"/>
              <a:chExt cx="1566409" cy="403320"/>
            </a:xfrm>
          </p:grpSpPr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2ACE33B8-C5A6-4F98-9755-0547D01854CB}"/>
                  </a:ext>
                </a:extLst>
              </p:cNvPr>
              <p:cNvSpPr/>
              <p:nvPr/>
            </p:nvSpPr>
            <p:spPr>
              <a:xfrm>
                <a:off x="3366644" y="4074007"/>
                <a:ext cx="434601" cy="403320"/>
              </a:xfrm>
              <a:prstGeom prst="ellipse">
                <a:avLst/>
              </a:prstGeom>
              <a:solidFill>
                <a:srgbClr val="434343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Y</a:t>
                </a:r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040BF24B-65C1-4101-9092-AD49AD343F57}"/>
                  </a:ext>
                </a:extLst>
              </p:cNvPr>
              <p:cNvSpPr/>
              <p:nvPr/>
            </p:nvSpPr>
            <p:spPr>
              <a:xfrm>
                <a:off x="2234836" y="4074007"/>
                <a:ext cx="434602" cy="403319"/>
              </a:xfrm>
              <a:prstGeom prst="ellipse">
                <a:avLst/>
              </a:prstGeom>
              <a:solidFill>
                <a:schemeClr val="accent5">
                  <a:lumMod val="50000"/>
                </a:schemeClr>
              </a:solidFill>
              <a:ln w="3810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X</a:t>
                </a:r>
              </a:p>
            </p:txBody>
          </p:sp>
        </p:grp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2A5890CE-8281-4FD1-96C8-60F3F0094FC0}"/>
                </a:ext>
              </a:extLst>
            </p:cNvPr>
            <p:cNvSpPr txBox="1"/>
            <p:nvPr/>
          </p:nvSpPr>
          <p:spPr>
            <a:xfrm>
              <a:off x="1748014" y="2999666"/>
              <a:ext cx="1384033" cy="3462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400" dirty="0"/>
                <a:t>Coincidence</a:t>
              </a:r>
            </a:p>
          </p:txBody>
        </p:sp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F9B8E94E-931F-4959-8839-F3CD81C64B46}"/>
              </a:ext>
            </a:extLst>
          </p:cNvPr>
          <p:cNvGrpSpPr/>
          <p:nvPr/>
        </p:nvGrpSpPr>
        <p:grpSpPr>
          <a:xfrm>
            <a:off x="7012630" y="4003390"/>
            <a:ext cx="2887030" cy="2234268"/>
            <a:chOff x="5259472" y="3002542"/>
            <a:chExt cx="2165272" cy="1675701"/>
          </a:xfrm>
        </p:grpSpPr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1572508C-6C04-477C-BEE0-69897BE62DF7}"/>
                </a:ext>
              </a:extLst>
            </p:cNvPr>
            <p:cNvGrpSpPr/>
            <p:nvPr/>
          </p:nvGrpSpPr>
          <p:grpSpPr>
            <a:xfrm>
              <a:off x="5259472" y="3482857"/>
              <a:ext cx="2165272" cy="1195386"/>
              <a:chOff x="5938549" y="3482857"/>
              <a:chExt cx="2165272" cy="1195386"/>
            </a:xfrm>
          </p:grpSpPr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6674F3F0-220D-4F18-B188-AAF77B01E2A1}"/>
                  </a:ext>
                </a:extLst>
              </p:cNvPr>
              <p:cNvSpPr/>
              <p:nvPr/>
            </p:nvSpPr>
            <p:spPr>
              <a:xfrm>
                <a:off x="7669220" y="3482857"/>
                <a:ext cx="434601" cy="403320"/>
              </a:xfrm>
              <a:prstGeom prst="ellipse">
                <a:avLst/>
              </a:prstGeom>
              <a:solidFill>
                <a:srgbClr val="434343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Y</a:t>
                </a:r>
              </a:p>
            </p:txBody>
          </p:sp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2D53BDBE-54FC-442D-8CDE-41E6E793354A}"/>
                  </a:ext>
                </a:extLst>
              </p:cNvPr>
              <p:cNvSpPr/>
              <p:nvPr/>
            </p:nvSpPr>
            <p:spPr>
              <a:xfrm>
                <a:off x="5938549" y="3482858"/>
                <a:ext cx="434602" cy="403319"/>
              </a:xfrm>
              <a:prstGeom prst="ellipse">
                <a:avLst/>
              </a:prstGeom>
              <a:solidFill>
                <a:schemeClr val="accent5">
                  <a:lumMod val="50000"/>
                </a:schemeClr>
              </a:solidFill>
              <a:ln w="3810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X</a:t>
                </a:r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480A74BE-D5F4-4C32-9151-8EC13A98740A}"/>
                  </a:ext>
                </a:extLst>
              </p:cNvPr>
              <p:cNvSpPr/>
              <p:nvPr/>
            </p:nvSpPr>
            <p:spPr>
              <a:xfrm>
                <a:off x="6803885" y="3482859"/>
                <a:ext cx="434601" cy="403319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Z</a:t>
                </a:r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40013FDE-CAFD-45FF-82A7-CFFF72045FA6}"/>
                  </a:ext>
                </a:extLst>
              </p:cNvPr>
              <p:cNvCxnSpPr>
                <a:cxnSpLocks/>
                <a:stCxn id="43" idx="6"/>
                <a:endCxn id="44" idx="2"/>
              </p:cNvCxnSpPr>
              <p:nvPr/>
            </p:nvCxnSpPr>
            <p:spPr>
              <a:xfrm>
                <a:off x="6373151" y="3684518"/>
                <a:ext cx="430734" cy="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Arrow Connector 51">
                <a:extLst>
                  <a:ext uri="{FF2B5EF4-FFF2-40B4-BE49-F238E27FC236}">
                    <a16:creationId xmlns:a16="http://schemas.microsoft.com/office/drawing/2014/main" id="{08C0A6E7-AF67-4C21-A2BF-5BBAE5D7F026}"/>
                  </a:ext>
                </a:extLst>
              </p:cNvPr>
              <p:cNvCxnSpPr>
                <a:stCxn id="44" idx="6"/>
                <a:endCxn id="42" idx="2"/>
              </p:cNvCxnSpPr>
              <p:nvPr/>
            </p:nvCxnSpPr>
            <p:spPr>
              <a:xfrm flipV="1">
                <a:off x="7238486" y="3684517"/>
                <a:ext cx="430734" cy="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0D74FCBD-9648-48D3-B3A4-8FB638E75F1C}"/>
                  </a:ext>
                </a:extLst>
              </p:cNvPr>
              <p:cNvSpPr/>
              <p:nvPr/>
            </p:nvSpPr>
            <p:spPr>
              <a:xfrm>
                <a:off x="6809961" y="4274924"/>
                <a:ext cx="434601" cy="403319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V</a:t>
                </a:r>
              </a:p>
            </p:txBody>
          </p:sp>
          <p:cxnSp>
            <p:nvCxnSpPr>
              <p:cNvPr id="55" name="Straight Arrow Connector 54">
                <a:extLst>
                  <a:ext uri="{FF2B5EF4-FFF2-40B4-BE49-F238E27FC236}">
                    <a16:creationId xmlns:a16="http://schemas.microsoft.com/office/drawing/2014/main" id="{3517A162-BFD9-4153-959B-667DA7DA9D65}"/>
                  </a:ext>
                </a:extLst>
              </p:cNvPr>
              <p:cNvCxnSpPr>
                <a:stCxn id="44" idx="4"/>
                <a:endCxn id="53" idx="0"/>
              </p:cNvCxnSpPr>
              <p:nvPr/>
            </p:nvCxnSpPr>
            <p:spPr>
              <a:xfrm>
                <a:off x="7021186" y="3886178"/>
                <a:ext cx="6076" cy="388746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CACA1F83-E692-469A-A7E6-FE1A4F1BA5C1}"/>
                </a:ext>
              </a:extLst>
            </p:cNvPr>
            <p:cNvSpPr txBox="1"/>
            <p:nvPr/>
          </p:nvSpPr>
          <p:spPr>
            <a:xfrm>
              <a:off x="5772080" y="3002542"/>
              <a:ext cx="1353976" cy="3462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400" dirty="0"/>
                <a:t>Descendant</a:t>
              </a:r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1B6E6F98-52DE-4720-8926-DE231BDEF8E8}"/>
              </a:ext>
            </a:extLst>
          </p:cNvPr>
          <p:cNvGrpSpPr/>
          <p:nvPr/>
        </p:nvGrpSpPr>
        <p:grpSpPr>
          <a:xfrm>
            <a:off x="163861" y="1107019"/>
            <a:ext cx="4102415" cy="2227852"/>
            <a:chOff x="122895" y="830264"/>
            <a:chExt cx="3076811" cy="1670889"/>
          </a:xfrm>
        </p:grpSpPr>
        <p:sp>
          <p:nvSpPr>
            <p:cNvPr id="80" name="Rectangle: Rounded Corners 79">
              <a:extLst>
                <a:ext uri="{FF2B5EF4-FFF2-40B4-BE49-F238E27FC236}">
                  <a16:creationId xmlns:a16="http://schemas.microsoft.com/office/drawing/2014/main" id="{3F73FB6C-EC80-45BC-9808-2990E5D15689}"/>
                </a:ext>
              </a:extLst>
            </p:cNvPr>
            <p:cNvSpPr/>
            <p:nvPr/>
          </p:nvSpPr>
          <p:spPr>
            <a:xfrm>
              <a:off x="122895" y="1379358"/>
              <a:ext cx="1018793" cy="572700"/>
            </a:xfrm>
            <a:prstGeom prst="round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/>
                <a:t>What we hope for</a:t>
              </a:r>
            </a:p>
          </p:txBody>
        </p:sp>
        <p:sp>
          <p:nvSpPr>
            <p:cNvPr id="81" name="Rectangle: Rounded Corners 80">
              <a:extLst>
                <a:ext uri="{FF2B5EF4-FFF2-40B4-BE49-F238E27FC236}">
                  <a16:creationId xmlns:a16="http://schemas.microsoft.com/office/drawing/2014/main" id="{2790BEF0-411A-4BD3-87C7-1727DA02977B}"/>
                </a:ext>
              </a:extLst>
            </p:cNvPr>
            <p:cNvSpPr/>
            <p:nvPr/>
          </p:nvSpPr>
          <p:spPr>
            <a:xfrm>
              <a:off x="1512643" y="830264"/>
              <a:ext cx="1687063" cy="1670889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/>
            </a:p>
          </p:txBody>
        </p: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CCED1CC3-FE97-4FDE-87A3-EADDCA37CBAA}"/>
                </a:ext>
              </a:extLst>
            </p:cNvPr>
            <p:cNvCxnSpPr>
              <a:stCxn id="81" idx="1"/>
              <a:endCxn id="80" idx="3"/>
            </p:cNvCxnSpPr>
            <p:nvPr/>
          </p:nvCxnSpPr>
          <p:spPr>
            <a:xfrm flipH="1" flipV="1">
              <a:off x="1141688" y="1665708"/>
              <a:ext cx="370955" cy="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8DC9AF6F-6644-4A08-A07D-5DFBEEE9F5EF}"/>
              </a:ext>
            </a:extLst>
          </p:cNvPr>
          <p:cNvGrpSpPr/>
          <p:nvPr/>
        </p:nvGrpSpPr>
        <p:grpSpPr>
          <a:xfrm>
            <a:off x="4347583" y="1107020"/>
            <a:ext cx="7765876" cy="5239993"/>
            <a:chOff x="3260687" y="830264"/>
            <a:chExt cx="5824407" cy="3929995"/>
          </a:xfrm>
        </p:grpSpPr>
        <p:sp>
          <p:nvSpPr>
            <p:cNvPr id="75" name="Rectangle: Rounded Corners 74">
              <a:extLst>
                <a:ext uri="{FF2B5EF4-FFF2-40B4-BE49-F238E27FC236}">
                  <a16:creationId xmlns:a16="http://schemas.microsoft.com/office/drawing/2014/main" id="{101F06F6-9CF0-4BED-B6A1-DDFB98A8F2E6}"/>
                </a:ext>
              </a:extLst>
            </p:cNvPr>
            <p:cNvSpPr/>
            <p:nvPr/>
          </p:nvSpPr>
          <p:spPr>
            <a:xfrm>
              <a:off x="7740388" y="2238857"/>
              <a:ext cx="1344706" cy="1117583"/>
            </a:xfrm>
            <a:prstGeom prst="round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Different types of confounding relationships</a:t>
              </a:r>
            </a:p>
          </p:txBody>
        </p:sp>
        <p:sp>
          <p:nvSpPr>
            <p:cNvPr id="76" name="Rectangle: Rounded Corners 75">
              <a:extLst>
                <a:ext uri="{FF2B5EF4-FFF2-40B4-BE49-F238E27FC236}">
                  <a16:creationId xmlns:a16="http://schemas.microsoft.com/office/drawing/2014/main" id="{B908BFC6-17A6-4583-BAFE-110E79EB5CCA}"/>
                </a:ext>
              </a:extLst>
            </p:cNvPr>
            <p:cNvSpPr/>
            <p:nvPr/>
          </p:nvSpPr>
          <p:spPr>
            <a:xfrm>
              <a:off x="3260687" y="830264"/>
              <a:ext cx="4304191" cy="3929995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/>
            </a:p>
          </p:txBody>
        </p: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B0680D51-4539-4B60-8332-1E7F181C2CB4}"/>
                </a:ext>
              </a:extLst>
            </p:cNvPr>
            <p:cNvCxnSpPr>
              <a:cxnSpLocks/>
              <a:stCxn id="76" idx="3"/>
              <a:endCxn id="75" idx="1"/>
            </p:cNvCxnSpPr>
            <p:nvPr/>
          </p:nvCxnSpPr>
          <p:spPr>
            <a:xfrm>
              <a:off x="7564878" y="2795262"/>
              <a:ext cx="175510" cy="238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55F520EF-D276-4C68-A8C5-CBEACE0C6A1B}"/>
              </a:ext>
            </a:extLst>
          </p:cNvPr>
          <p:cNvGrpSpPr/>
          <p:nvPr/>
        </p:nvGrpSpPr>
        <p:grpSpPr>
          <a:xfrm>
            <a:off x="71737" y="3917577"/>
            <a:ext cx="4142879" cy="2429436"/>
            <a:chOff x="53802" y="2938182"/>
            <a:chExt cx="3107159" cy="1822077"/>
          </a:xfrm>
        </p:grpSpPr>
        <p:sp>
          <p:nvSpPr>
            <p:cNvPr id="87" name="Rectangle: Rounded Corners 86">
              <a:extLst>
                <a:ext uri="{FF2B5EF4-FFF2-40B4-BE49-F238E27FC236}">
                  <a16:creationId xmlns:a16="http://schemas.microsoft.com/office/drawing/2014/main" id="{21C3E82A-EE21-4D48-8BD5-B545464A0257}"/>
                </a:ext>
              </a:extLst>
            </p:cNvPr>
            <p:cNvSpPr/>
            <p:nvPr/>
          </p:nvSpPr>
          <p:spPr>
            <a:xfrm>
              <a:off x="1505919" y="2938182"/>
              <a:ext cx="1655042" cy="182207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/>
            </a:p>
          </p:txBody>
        </p:sp>
        <p:sp>
          <p:nvSpPr>
            <p:cNvPr id="88" name="Rectangle: Rounded Corners 87">
              <a:extLst>
                <a:ext uri="{FF2B5EF4-FFF2-40B4-BE49-F238E27FC236}">
                  <a16:creationId xmlns:a16="http://schemas.microsoft.com/office/drawing/2014/main" id="{EAB6EF53-E4B3-4A5C-AFF3-ABBE451F43DE}"/>
                </a:ext>
              </a:extLst>
            </p:cNvPr>
            <p:cNvSpPr/>
            <p:nvPr/>
          </p:nvSpPr>
          <p:spPr>
            <a:xfrm>
              <a:off x="53802" y="3564994"/>
              <a:ext cx="1121200" cy="572700"/>
            </a:xfrm>
            <a:prstGeom prst="round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Associated by chance</a:t>
              </a:r>
            </a:p>
          </p:txBody>
        </p: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E23BD477-E813-49E7-AADC-A7F491CFD7AC}"/>
                </a:ext>
              </a:extLst>
            </p:cNvPr>
            <p:cNvCxnSpPr>
              <a:cxnSpLocks/>
              <a:stCxn id="87" idx="1"/>
              <a:endCxn id="88" idx="3"/>
            </p:cNvCxnSpPr>
            <p:nvPr/>
          </p:nvCxnSpPr>
          <p:spPr>
            <a:xfrm flipH="1">
              <a:off x="1175002" y="3849221"/>
              <a:ext cx="330917" cy="212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19915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bs_templat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Bahnschrift Light">
      <a:majorFont>
        <a:latin typeface="Bahnschrift Light"/>
        <a:ea typeface=""/>
        <a:cs typeface=""/>
      </a:majorFont>
      <a:minorFont>
        <a:latin typeface="Bahnschrif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bs_slide_template.potx" id="{ECECA26D-C7D9-428D-8AE3-0DEBE87A348A}" vid="{A052F16A-C2E7-4086-BA7D-A0C2C9C1F83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sbs_template</Template>
  <TotalTime>2</TotalTime>
  <Words>167</Words>
  <Application>Microsoft Office PowerPoint</Application>
  <PresentationFormat>Widescreen</PresentationFormat>
  <Paragraphs>50</Paragraphs>
  <Slides>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Arial</vt:lpstr>
      <vt:lpstr>Bahnschrift Light</vt:lpstr>
      <vt:lpstr>Cambria Math</vt:lpstr>
      <vt:lpstr>sbs_template</vt:lpstr>
      <vt:lpstr>AIC &amp; NHST</vt:lpstr>
      <vt:lpstr>Two commonly used “additions” in modelling</vt:lpstr>
      <vt:lpstr>Information Criterion</vt:lpstr>
      <vt:lpstr>First amongst equals</vt:lpstr>
      <vt:lpstr>A family of confusion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Roos, Deon</dc:creator>
  <cp:lastModifiedBy>Roos, Deon</cp:lastModifiedBy>
  <cp:revision>1</cp:revision>
  <dcterms:created xsi:type="dcterms:W3CDTF">2024-08-07T15:19:01Z</dcterms:created>
  <dcterms:modified xsi:type="dcterms:W3CDTF">2024-08-07T15:21:19Z</dcterms:modified>
</cp:coreProperties>
</file>