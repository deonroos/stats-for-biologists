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326" r:id="rId3"/>
    <p:sldId id="327" r:id="rId4"/>
    <p:sldId id="309" r:id="rId5"/>
    <p:sldId id="311" r:id="rId6"/>
    <p:sldId id="328" r:id="rId7"/>
    <p:sldId id="329" r:id="rId8"/>
    <p:sldId id="316" r:id="rId9"/>
    <p:sldId id="317" r:id="rId10"/>
    <p:sldId id="315" r:id="rId11"/>
    <p:sldId id="330" r:id="rId12"/>
    <p:sldId id="325" r:id="rId13"/>
    <p:sldId id="31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956F05C-6DDD-422D-918C-314E9DA21D16}">
          <p14:sldIdLst>
            <p14:sldId id="256"/>
            <p14:sldId id="326"/>
            <p14:sldId id="327"/>
            <p14:sldId id="309"/>
            <p14:sldId id="311"/>
            <p14:sldId id="328"/>
            <p14:sldId id="329"/>
            <p14:sldId id="316"/>
            <p14:sldId id="317"/>
            <p14:sldId id="315"/>
            <p14:sldId id="330"/>
            <p14:sldId id="325"/>
            <p14:sldId id="31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5444" autoAdjust="0"/>
  </p:normalViewPr>
  <p:slideViewPr>
    <p:cSldViewPr snapToGrid="0">
      <p:cViewPr varScale="1">
        <p:scale>
          <a:sx n="100" d="100"/>
          <a:sy n="100" d="100"/>
        </p:scale>
        <p:origin x="108" y="3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7E2432-6654-47D3-BA2E-C79365803F14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4A1917-8758-4A60-BF7C-DAA43A92293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96453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1917-8758-4A60-BF7C-DAA43A92293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6143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B4A1917-8758-4A60-BF7C-DAA43A92293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601338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EF085-90BA-6B79-A198-AE27F69DC1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4567" y="565410"/>
            <a:ext cx="6096000" cy="2863589"/>
          </a:xfrm>
        </p:spPr>
        <p:txBody>
          <a:bodyPr anchor="ctr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960FB6-F389-7EDD-D9DB-A406B89F35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567" y="3552161"/>
            <a:ext cx="6096000" cy="2607569"/>
          </a:xfrm>
        </p:spPr>
        <p:txBody>
          <a:bodyPr anchor="ctr"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001CD27-4DF4-05EC-92B4-C7555C3D018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450677" y="0"/>
            <a:ext cx="5741324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5E048B3-2145-631D-3138-1DF0AD6D38F2}"/>
              </a:ext>
            </a:extLst>
          </p:cNvPr>
          <p:cNvCxnSpPr/>
          <p:nvPr/>
        </p:nvCxnSpPr>
        <p:spPr>
          <a:xfrm>
            <a:off x="1313411" y="3491345"/>
            <a:ext cx="375735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723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30639-2CA7-2272-840E-F8F595ABC7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6201295" cy="1325563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D59DF2-E981-9079-7762-2C88651F5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426613"/>
            <a:ext cx="6201295" cy="524019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BEC5A3C4-A2EA-7545-B99B-E8F489810FE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59525" y="0"/>
            <a:ext cx="5832475" cy="6858000"/>
          </a:xfrm>
        </p:spPr>
        <p:txBody>
          <a:bodyPr/>
          <a:lstStyle/>
          <a:p>
            <a:r>
              <a:rPr lang="en-US"/>
              <a:t>Click icon to add picture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56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B9374-2DD6-FA11-BF6F-AE419E0A6B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0" y="1426614"/>
            <a:ext cx="5893724" cy="516220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FA4DDC-5EE8-4D0D-208A-D5A4CC40A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1295" y="0"/>
            <a:ext cx="5990705" cy="5162204"/>
          </a:xfrm>
        </p:spPr>
        <p:txBody>
          <a:bodyPr anchor="ctr"/>
          <a:lstStyle>
            <a:lvl1pPr algn="ctr">
              <a:defRPr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96FFCEF-D528-27F4-CF96-A8F674BCA083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620129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/>
              <a:t>Click to edit Master title style</a:t>
            </a:r>
            <a:endParaRPr lang="en-GB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E6B47C7-8888-2E6B-0D7C-CF46BFD9A30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01295" y="5162204"/>
            <a:ext cx="5990705" cy="169579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793740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FFACB-206F-5777-5BAD-5BF8E966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5104015"/>
            <a:ext cx="10515600" cy="1753985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59765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958E7-8733-1588-CE76-0710036CC1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043C91-73BF-C49E-46BA-834638FC0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FDC1F7-08BE-633D-0E8D-18F30CEE5A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24D961F-706F-451E-ABF3-F672C1F454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6AEAE-47C4-6C9C-5B4C-F6E31977E8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72731F-9715-FADD-FEBD-65D90CAB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E7A07B-AF32-2EA1-F513-0D1F38BAB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EB01B04-63C5-991E-FD0F-2ED9257DC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30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13767-1669-64A9-2C16-1A1F6165D8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1F01AD-E823-7B4D-D421-EF7BE290C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13AC7F-2C26-3190-A705-5FC5DD18B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DF203F-F57C-7145-B743-4A084B3A5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59728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E02D19-147D-AD60-6ACC-2F7283CEE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4CF569D-7098-9B6D-B851-1B18E6DB6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18D08F-69F0-C410-CAC9-DF16A0BF9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1778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C2567-4A48-3F47-EF88-E32A67EDD9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F90797-1FEC-B310-9CA0-6642F4FE7D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BDC1EB-E335-7190-8BFD-48E25C309A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154E58-0B6A-491E-7CE0-88114C141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198572-7396-BEBC-0D56-24BE2A95E1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2279F2-BB85-6763-45F1-D73C041BD2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87456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83E09-8249-AC15-7FC0-A0BAD598E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C329DF-266D-F8F8-A195-53A7576BBF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1CFA6F2-3F6B-26F9-74E6-E4E35007E9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E14BCDB-42E3-AB80-31A3-907D1B5975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EC699-83D3-6581-966B-8882D2158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550ABE-17BA-CEDA-390B-2BA6E004B2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7327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BF0F-4D20-22A7-227D-78B4DDCA7B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6010818-F611-B1A2-8A19-C3130A329F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43987-925F-B621-E68B-A3BED9350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52031D-ADF7-744B-5905-8C84ADA49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D02BB-73AF-8339-0B3A-B736F5E38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23508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2A4840D-0D28-B8EB-88E1-65CDAE3316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3A8637-D9F6-1719-1804-4B3705C901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A50F13-C53E-CA05-E313-C1579E84EB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909B7E-626E-8018-4CBE-414FB0F1D8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D0C27-06BF-1AD4-3587-FD26F1D7BA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3089051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BD4E24-41AE-F2CF-6A31-4B219D7FFB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885D76-968C-67F0-C66E-5066401074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D65A56-F312-4FC8-1434-D0B76F05B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69CEB4-F855-966E-729E-FFDC8DF6D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6859A-671B-B909-2339-926606DB25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44806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AB475-942C-4A23-A4EA-2580EABC9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5971F5-936B-4035-9F86-6FD1BD273C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B3F82A-49AE-46DD-A16A-7083C5575D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7676-C212-4803-93A5-304A74E7C3F6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0E12B4-51CF-4406-AD70-279DA6C1D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D4CEA7-051F-43A8-8BB6-7B204720D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A80580-A738-49E0-8221-275B179AE84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1766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E246E56-8908-0E6A-4E62-88CF6D3590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D1896B-C040-3D2C-A619-0B877E3383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1AC1E-960F-82DB-0E5A-2F328EAC2C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46FFCA-D54E-40C3-ADD4-34D72280AA8D}" type="datetimeFigureOut">
              <a:rPr lang="en-GB" smtClean="0"/>
              <a:t>12/09/2024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CFF5B2-21B1-9528-920D-DD4BF8C0BD0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D16DDC-4E03-310B-1091-75EB5EDC36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76890B-B61A-467A-A671-E3C83A443BE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1681330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gi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3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3.jpg"/><Relationship Id="rId5" Type="http://schemas.openxmlformats.org/officeDocument/2006/relationships/image" Target="../media/image12.jpg"/><Relationship Id="rId4" Type="http://schemas.openxmlformats.org/officeDocument/2006/relationships/image" Target="../media/image11.jp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13.jpg"/><Relationship Id="rId4" Type="http://schemas.openxmlformats.org/officeDocument/2006/relationships/image" Target="../media/image11.jp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98D9C-DD53-AF2A-73CA-9B05550721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Information theory and criterion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7C4908-BF8B-F6A0-3856-4F1F5F7108B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Additions to Linear Models</a:t>
            </a:r>
          </a:p>
        </p:txBody>
      </p:sp>
    </p:spTree>
    <p:extLst>
      <p:ext uri="{BB962C8B-B14F-4D97-AF65-F5344CB8AC3E}">
        <p14:creationId xmlns:p14="http://schemas.microsoft.com/office/powerpoint/2010/main" val="9354694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D0EEAF-EFA8-49AD-0FF0-C4165D38F7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Overfitting and underfitting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0E7410-9F52-846D-5138-629E032B04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We have height data of an individual impala from ages 0 to 4</a:t>
            </a:r>
          </a:p>
          <a:p>
            <a:r>
              <a:rPr lang="en-GB" dirty="0"/>
              <a:t>Model 1: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</a:t>
            </a:r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age_factor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 lvl="1"/>
            <a:r>
              <a:rPr lang="en-GB" dirty="0"/>
              <a:t>5 parameters</a:t>
            </a:r>
          </a:p>
          <a:p>
            <a:r>
              <a:rPr lang="en-GB" dirty="0"/>
              <a:t>Model 2: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1)</a:t>
            </a:r>
          </a:p>
          <a:p>
            <a:pPr lvl="1"/>
            <a:r>
              <a:rPr lang="en-GB" dirty="0"/>
              <a:t>1 parameter</a:t>
            </a:r>
          </a:p>
          <a:p>
            <a:r>
              <a:rPr lang="en-GB" dirty="0"/>
              <a:t>Model 3:</a:t>
            </a:r>
          </a:p>
          <a:p>
            <a:pPr lvl="1"/>
            <a:r>
              <a:rPr lang="en-GB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age)</a:t>
            </a:r>
          </a:p>
          <a:p>
            <a:pPr lvl="1"/>
            <a:r>
              <a:rPr lang="en-GB" dirty="0"/>
              <a:t>2 parameters</a:t>
            </a:r>
          </a:p>
        </p:txBody>
      </p:sp>
      <p:pic>
        <p:nvPicPr>
          <p:cNvPr id="17" name="Picture 16" descr="A screen shot of a graph&#10;&#10;Description automatically generated">
            <a:extLst>
              <a:ext uri="{FF2B5EF4-FFF2-40B4-BE49-F238E27FC236}">
                <a16:creationId xmlns:a16="http://schemas.microsoft.com/office/drawing/2014/main" id="{BDC8B8EB-5350-8885-44CF-E0DCF889F0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19" name="Picture 18" descr="A screen shot of a graph&#10;&#10;Description automatically generated">
            <a:extLst>
              <a:ext uri="{FF2B5EF4-FFF2-40B4-BE49-F238E27FC236}">
                <a16:creationId xmlns:a16="http://schemas.microsoft.com/office/drawing/2014/main" id="{822193FF-D837-ABB9-106B-DD1DC8768D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21" name="Picture 20" descr="A graph of height and length&#10;&#10;Description automatically generated">
            <a:extLst>
              <a:ext uri="{FF2B5EF4-FFF2-40B4-BE49-F238E27FC236}">
                <a16:creationId xmlns:a16="http://schemas.microsoft.com/office/drawing/2014/main" id="{18008CF1-D372-B1A9-77FD-CEB01969EC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8" y="0"/>
            <a:ext cx="5751871" cy="6858000"/>
          </a:xfrm>
          <a:prstGeom prst="rect">
            <a:avLst/>
          </a:prstGeom>
        </p:spPr>
      </p:pic>
      <p:pic>
        <p:nvPicPr>
          <p:cNvPr id="23" name="Picture 22" descr="A graph of a red line&#10;&#10;Description automatically generated">
            <a:extLst>
              <a:ext uri="{FF2B5EF4-FFF2-40B4-BE49-F238E27FC236}">
                <a16:creationId xmlns:a16="http://schemas.microsoft.com/office/drawing/2014/main" id="{B1FA42B3-25FF-CA6E-B752-B8327D4F226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5006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A501D-2FF7-5304-FBAE-D8AB77EFF0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Parsimony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35B1B-5C22-837C-A327-D38BFC9F515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Overfit models:</a:t>
                </a:r>
              </a:p>
              <a:p>
                <a:pPr lvl="1"/>
                <a:r>
                  <a:rPr lang="en-US" dirty="0"/>
                  <a:t>Explains data almost “perfectly”</a:t>
                </a:r>
              </a:p>
              <a:p>
                <a:pPr lvl="1"/>
                <a:r>
                  <a:rPr lang="en-US" dirty="0"/>
                  <a:t>But “costs” lots of parameters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i="1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i="1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i="1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1+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2+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3+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GB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endParaRPr lang="en-US" dirty="0"/>
              </a:p>
              <a:p>
                <a:r>
                  <a:rPr lang="en-US" dirty="0"/>
                  <a:t>Underfit models:</a:t>
                </a:r>
              </a:p>
              <a:p>
                <a:pPr lvl="1"/>
                <a:r>
                  <a:rPr lang="en-US" dirty="0"/>
                  <a:t>Explains data very poorly</a:t>
                </a:r>
              </a:p>
              <a:p>
                <a:pPr lvl="1"/>
                <a:r>
                  <a:rPr lang="en-US" dirty="0"/>
                  <a:t>But “costs” very few parameters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GB" b="0" i="1" smtClean="0">
                        <a:latin typeface="Cambria Math" panose="02040503050406030204" pitchFamily="18" charset="0"/>
                      </a:rPr>
                      <m:t>𝜇</m:t>
                    </m:r>
                    <m:r>
                      <a:rPr lang="en-GB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GB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GB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FF35B1B-5C22-837C-A327-D38BFC9F515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77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Placeholder 4" descr="A picture containing bedroom&#10;&#10;Description automatically generated">
            <a:extLst>
              <a:ext uri="{FF2B5EF4-FFF2-40B4-BE49-F238E27FC236}">
                <a16:creationId xmlns:a16="http://schemas.microsoft.com/office/drawing/2014/main" id="{505C0710-1E00-D88E-15E5-874D62B862E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149" r="18149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  <p:pic>
        <p:nvPicPr>
          <p:cNvPr id="6" name="Picture 5" descr="A screen shot of a graph&#10;&#10;Description automatically generated">
            <a:extLst>
              <a:ext uri="{FF2B5EF4-FFF2-40B4-BE49-F238E27FC236}">
                <a16:creationId xmlns:a16="http://schemas.microsoft.com/office/drawing/2014/main" id="{E010FF59-74AE-45D0-FFE4-7414139C993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  <p:pic>
        <p:nvPicPr>
          <p:cNvPr id="4" name="Picture 3" descr="A graph of height and length&#10;&#10;Description automatically generated">
            <a:extLst>
              <a:ext uri="{FF2B5EF4-FFF2-40B4-BE49-F238E27FC236}">
                <a16:creationId xmlns:a16="http://schemas.microsoft.com/office/drawing/2014/main" id="{59ECFB5C-E36F-AD70-C189-112901608F5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16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1E083-F894-431A-9E18-FEA63E495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model best fits our data?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7A624-7F5D-46A2-A568-F09298ABAB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0200" y="1477480"/>
            <a:ext cx="7223089" cy="4876799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When running analysis, you will invariably have multiple models (each of which reflect a different </a:t>
            </a:r>
            <a:r>
              <a:rPr lang="en-GB" i="1" dirty="0"/>
              <a:t>process</a:t>
            </a:r>
            <a:r>
              <a:rPr lang="en-GB" dirty="0"/>
              <a:t>), all trying to explain the same pattern, e.g.,</a:t>
            </a:r>
          </a:p>
          <a:p>
            <a:r>
              <a:rPr lang="en-GB" dirty="0"/>
              <a:t>Out of all the models (i.e., </a:t>
            </a:r>
            <a:r>
              <a:rPr lang="en-GB" i="1" dirty="0"/>
              <a:t>processes</a:t>
            </a:r>
            <a:r>
              <a:rPr lang="en-GB" dirty="0"/>
              <a:t>) that we’ve run, how do we choose the most likely model?</a:t>
            </a:r>
          </a:p>
          <a:p>
            <a:r>
              <a:rPr lang="en-GB" dirty="0"/>
              <a:t>AIC</a:t>
            </a:r>
          </a:p>
          <a:p>
            <a:pPr lvl="1"/>
            <a:r>
              <a:rPr lang="en-GB" dirty="0"/>
              <a:t>“An Information Criteria” or “Information Criterion A”</a:t>
            </a:r>
          </a:p>
          <a:p>
            <a:pPr lvl="1"/>
            <a:r>
              <a:rPr lang="en-GB" dirty="0"/>
              <a:t>“Improperly” called Akaike’s Information Criteria</a:t>
            </a:r>
          </a:p>
          <a:p>
            <a:pPr lvl="2"/>
            <a:r>
              <a:rPr lang="en-GB" dirty="0"/>
              <a:t>He never named it after himself</a:t>
            </a:r>
          </a:p>
        </p:txBody>
      </p:sp>
      <p:pic>
        <p:nvPicPr>
          <p:cNvPr id="53" name="Picture 52" descr="A person wearing glasses&#10;&#10;Description automatically generated with low confidence">
            <a:extLst>
              <a:ext uri="{FF2B5EF4-FFF2-40B4-BE49-F238E27FC236}">
                <a16:creationId xmlns:a16="http://schemas.microsoft.com/office/drawing/2014/main" id="{B7868F4F-A484-421C-96D8-234AC10EB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4613" y="1081792"/>
            <a:ext cx="3902876" cy="5272487"/>
          </a:xfrm>
          <a:prstGeom prst="rect">
            <a:avLst/>
          </a:prstGeom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C5E30726-EA69-40FA-A48D-D2F850F2FCC0}"/>
              </a:ext>
            </a:extLst>
          </p:cNvPr>
          <p:cNvSpPr txBox="1"/>
          <p:nvPr/>
        </p:nvSpPr>
        <p:spPr>
          <a:xfrm>
            <a:off x="8509000" y="6354279"/>
            <a:ext cx="35010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b="0" dirty="0">
                <a:effectLst/>
              </a:rPr>
              <a:t>赤池 弘次</a:t>
            </a:r>
            <a:r>
              <a:rPr lang="en-US" altLang="ja-JP" b="0" dirty="0">
                <a:effectLst/>
              </a:rPr>
              <a:t>, </a:t>
            </a:r>
            <a:r>
              <a:rPr lang="en-GB" b="0" i="1" dirty="0">
                <a:effectLst/>
              </a:rPr>
              <a:t>Akaike </a:t>
            </a:r>
            <a:r>
              <a:rPr lang="en-GB" b="0" i="1" dirty="0" err="1">
                <a:effectLst/>
              </a:rPr>
              <a:t>Hirotsugu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610148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5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6938B-348B-45D0-9E42-AD2B9545AB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Using AIC to find most the “parsimonious”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FFC81-65C1-4892-9D46-9277502ED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080537"/>
          </a:xfrm>
        </p:spPr>
        <p:txBody>
          <a:bodyPr/>
          <a:lstStyle/>
          <a:p>
            <a:r>
              <a:rPr lang="en-GB" dirty="0"/>
              <a:t>To do so, we use the best Likelihood (MLE) value (“rating”) for each of the different models that we’ve run.</a:t>
            </a:r>
          </a:p>
        </p:txBody>
      </p:sp>
      <p:pic>
        <p:nvPicPr>
          <p:cNvPr id="7" name="Picture 6" descr="Chart, line chart, histogram&#10;&#10;Description automatically generated">
            <a:extLst>
              <a:ext uri="{FF2B5EF4-FFF2-40B4-BE49-F238E27FC236}">
                <a16:creationId xmlns:a16="http://schemas.microsoft.com/office/drawing/2014/main" id="{17D609EE-407F-48AD-AA84-846862B08BD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308" b="8666"/>
          <a:stretch/>
        </p:blipFill>
        <p:spPr>
          <a:xfrm>
            <a:off x="2451864" y="2734147"/>
            <a:ext cx="6953692" cy="4123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2318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graph with a curve&#10;&#10;Description automatically generated">
            <a:extLst>
              <a:ext uri="{FF2B5EF4-FFF2-40B4-BE49-F238E27FC236}">
                <a16:creationId xmlns:a16="http://schemas.microsoft.com/office/drawing/2014/main" id="{EFBDE51A-BC06-D0B1-99D2-4B8115B9FD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59525" y="0"/>
            <a:ext cx="575187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21D0369-FF85-2052-AE68-C4470633DD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Likelihood?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34D21-0A85-7BAD-6F80-70DEAD2B0A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We’ve been using likelihood the whole course</a:t>
            </a:r>
          </a:p>
          <a:p>
            <a:r>
              <a:rPr lang="en-GB" dirty="0"/>
              <a:t>The optimiser tries to maximise this for each set of parameters for each model</a:t>
            </a:r>
          </a:p>
          <a:p>
            <a:r>
              <a:rPr lang="en-GB" dirty="0"/>
              <a:t>This happens for:</a:t>
            </a:r>
          </a:p>
          <a:p>
            <a:r>
              <a:rPr lang="en-GB" dirty="0"/>
              <a:t>Model 1: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age_factor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r>
              <a:rPr lang="en-GB" dirty="0"/>
              <a:t>Model 2: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1)</a:t>
            </a:r>
          </a:p>
          <a:p>
            <a:r>
              <a:rPr lang="en-GB" dirty="0"/>
              <a:t>Model 3: </a:t>
            </a:r>
            <a:r>
              <a:rPr lang="en-GB" sz="2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lm</a:t>
            </a:r>
            <a:r>
              <a:rPr lang="en-GB" sz="2400" dirty="0">
                <a:latin typeface="Courier New" panose="02070309020205020404" pitchFamily="49" charset="0"/>
                <a:cs typeface="Courier New" panose="02070309020205020404" pitchFamily="49" charset="0"/>
              </a:rPr>
              <a:t>(height ~ age)</a:t>
            </a:r>
            <a:endParaRPr lang="en-GB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6" name="Picture Placeholder 5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E833C8F-27C9-7650-E33B-DEB16664C72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/>
      </p:pic>
      <p:pic>
        <p:nvPicPr>
          <p:cNvPr id="10" name="Picture 9" descr="A graph on a black background&#10;&#10;Description automatically generated">
            <a:extLst>
              <a:ext uri="{FF2B5EF4-FFF2-40B4-BE49-F238E27FC236}">
                <a16:creationId xmlns:a16="http://schemas.microsoft.com/office/drawing/2014/main" id="{E16982BB-A441-E55E-5220-096794B865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40129" y="0"/>
            <a:ext cx="575187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84507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71176-587E-57E3-87D1-43F616DBD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Maximised Likelihood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A8273-61DC-9AE8-0334-3E294CD04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Once the algorithm has finished, it tells us what the best likelihood was that it could find</a:t>
            </a:r>
          </a:p>
          <a:p>
            <a:r>
              <a:rPr lang="en-GB" dirty="0"/>
              <a:t>So long as we use the same data to fit each model, we use the likelihood as our “rating”</a:t>
            </a:r>
          </a:p>
          <a:p>
            <a:r>
              <a:rPr lang="en-GB" dirty="0"/>
              <a:t>But how do we deal with over- and under-fitting?</a:t>
            </a:r>
          </a:p>
        </p:txBody>
      </p:sp>
      <p:pic>
        <p:nvPicPr>
          <p:cNvPr id="5" name="Picture Placeholder 4" descr="A graph on a black background&#10;&#10;Description automatically generated">
            <a:extLst>
              <a:ext uri="{FF2B5EF4-FFF2-40B4-BE49-F238E27FC236}">
                <a16:creationId xmlns:a16="http://schemas.microsoft.com/office/drawing/2014/main" id="{0915B139-2770-9A89-B097-51489B75F66B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471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Savvy house buyers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32A9F-D566-49FF-ABCF-83482147C6B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33147"/>
                <a:ext cx="10515600" cy="3684954"/>
              </a:xfrm>
            </p:spPr>
            <p:txBody>
              <a:bodyPr>
                <a:normAutofit lnSpcReduction="10000"/>
              </a:bodyPr>
              <a:lstStyle/>
              <a:p>
                <a:pPr marL="0" indent="0" algn="ctr">
                  <a:buNone/>
                </a:pPr>
                <a:r>
                  <a:rPr lang="en-GB" dirty="0"/>
                  <a:t>We have a choice of 3 houses. Which one do we buy?</a:t>
                </a:r>
              </a:p>
              <a:p>
                <a:r>
                  <a:rPr lang="en-GB" dirty="0"/>
                  <a:t>I give a rating to each house, where the lower the rating, the more I like the house.</a:t>
                </a:r>
              </a:p>
              <a:p>
                <a:pPr lvl="1"/>
                <a:r>
                  <a:rPr lang="en-GB" dirty="0"/>
                  <a:t>(for models, this is the -2LogLikelihood (</a:t>
                </a:r>
                <a14:m>
                  <m:oMath xmlns:m="http://schemas.openxmlformats.org/officeDocument/2006/math">
                    <m:r>
                      <a:rPr lang="en-GB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GB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dirty="0"/>
                  <a:t>))</a:t>
                </a:r>
              </a:p>
              <a:p>
                <a:r>
                  <a:rPr lang="en-GB" dirty="0"/>
                  <a:t>Each house costs a certain amount (£) </a:t>
                </a:r>
              </a:p>
              <a:p>
                <a:pPr lvl="1"/>
                <a:r>
                  <a:rPr lang="en-GB" dirty="0"/>
                  <a:t>(for models, this is the number of parameters)</a:t>
                </a:r>
              </a:p>
              <a:p>
                <a:endParaRPr lang="en-GB" dirty="0"/>
              </a:p>
              <a:p>
                <a:pPr marL="0" indent="0" algn="ctr">
                  <a:buNone/>
                </a:pPr>
                <a:r>
                  <a:rPr lang="en-GB" dirty="0"/>
                  <a:t>Our aim is to get the best house we can, for the lowest cost!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9AB32A9F-D566-49FF-ABCF-83482147C6B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33147"/>
                <a:ext cx="10515600" cy="3684954"/>
              </a:xfrm>
              <a:blipFill>
                <a:blip r:embed="rId2"/>
                <a:stretch>
                  <a:fillRect l="-1043" t="-3636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/>
              <p:nvPr/>
            </p:nvSpPr>
            <p:spPr>
              <a:xfrm>
                <a:off x="2954357" y="5032520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400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4400" b="0" i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4357" y="5032520"/>
                <a:ext cx="6096000" cy="76944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189F0C-3D67-4310-A4CA-70C273AB8C92}"/>
                  </a:ext>
                </a:extLst>
              </p:cNvPr>
              <p:cNvSpPr txBox="1"/>
              <p:nvPr/>
            </p:nvSpPr>
            <p:spPr>
              <a:xfrm>
                <a:off x="4220348" y="5695315"/>
                <a:ext cx="3751302" cy="92333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GB" dirty="0"/>
                  <a:t>where;</a:t>
                </a:r>
              </a:p>
              <a:p>
                <a14:m>
                  <m:oMath xmlns:m="http://schemas.openxmlformats.org/officeDocument/2006/math">
                    <m:r>
                      <a:rPr lang="en-GB" sz="1800" b="0" i="0" smtClean="0">
                        <a:latin typeface="Cambria Math" panose="02040503050406030204" pitchFamily="18" charset="0"/>
                      </a:rPr>
                      <m:t>−2</m:t>
                    </m:r>
                    <m:r>
                      <a:rPr lang="en-GB" sz="1800" i="1">
                        <a:latin typeface="Cambria Math" panose="02040503050406030204" pitchFamily="18" charset="0"/>
                      </a:rPr>
                      <m:t>𝑙𝑛</m:t>
                    </m:r>
                    <m:r>
                      <a:rPr lang="en-GB" sz="1800" i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r>
                  <a:rPr lang="en-GB" dirty="0"/>
                  <a:t> is the -2 log Likelihood,</a:t>
                </a:r>
              </a:p>
              <a:p>
                <a:r>
                  <a:rPr lang="en-GB" dirty="0"/>
                  <a:t>K is the number of parameters</a:t>
                </a: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7189F0C-3D67-4310-A4CA-70C273AB8C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0348" y="5695315"/>
                <a:ext cx="3751302" cy="923330"/>
              </a:xfrm>
              <a:prstGeom prst="rect">
                <a:avLst/>
              </a:prstGeom>
              <a:blipFill>
                <a:blip r:embed="rId4"/>
                <a:stretch>
                  <a:fillRect l="-1299" t="-3289" b="-9211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933082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77841700"/>
                  </p:ext>
                </p:extLst>
              </p:nvPr>
            </p:nvGraphicFramePr>
            <p:xfrm>
              <a:off x="772668" y="1173163"/>
              <a:ext cx="10646664" cy="5029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The house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Deon’s Rating (-2lnL)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Cost (K)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AIC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∆AIC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𝟏𝟗𝟔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𝟗𝟔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-200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£2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200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GB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</m:t>
                                </m:r>
                                <m:r>
                                  <a:rPr lang="en-US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𝟗𝟔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196</m:t>
                                </m:r>
                                <m:r>
                                  <a:rPr lang="en-GB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−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𝟏𝟗𝟔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algn="ctr"/>
                          <a:endParaRPr lang="en-GB" sz="2000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81612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𝟗𝟖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𝟏𝟗𝟔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=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𝟗𝟖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977841700"/>
                  </p:ext>
                </p:extLst>
              </p:nvPr>
            </p:nvGraphicFramePr>
            <p:xfrm>
              <a:off x="772668" y="1173163"/>
              <a:ext cx="10646664" cy="502920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The house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Deon’s Rating (-2lnL)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Cost (K)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AIC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∆AIC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441" t="-46250" r="-95360" b="-20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341" t="-46250" r="-244" b="-20625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-200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£2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441" t="-145643" r="-95360" b="-105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341" t="-145643" r="-244" b="-1053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10381612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210441" t="-246667" r="-95360" b="-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2"/>
                          <a:stretch>
                            <a:fillRect l="-326341" t="-246667" r="-244" b="-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0" name="Rectangle 29">
            <a:extLst>
              <a:ext uri="{FF2B5EF4-FFF2-40B4-BE49-F238E27FC236}">
                <a16:creationId xmlns:a16="http://schemas.microsoft.com/office/drawing/2014/main" id="{4EF5AD19-6C20-486F-9BE5-EAFF222DBCD7}"/>
              </a:ext>
            </a:extLst>
          </p:cNvPr>
          <p:cNvSpPr/>
          <p:nvPr/>
        </p:nvSpPr>
        <p:spPr>
          <a:xfrm>
            <a:off x="6266241" y="1082708"/>
            <a:ext cx="2151077" cy="4943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Let’s buy a house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/>
              <p:nvPr/>
            </p:nvSpPr>
            <p:spPr>
              <a:xfrm>
                <a:off x="3048000" y="6120740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400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4400" b="0" i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8000" y="6120740"/>
                <a:ext cx="6096000" cy="769441"/>
              </a:xfrm>
              <a:prstGeom prst="rect">
                <a:avLst/>
              </a:prstGeom>
              <a:blipFill>
                <a:blip r:embed="rId3"/>
                <a:stretch>
                  <a:fillRect t="-17460" b="-35714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A large white house with a pool in front of it&#10;&#10;Description automatically generated with low confidence">
            <a:extLst>
              <a:ext uri="{FF2B5EF4-FFF2-40B4-BE49-F238E27FC236}">
                <a16:creationId xmlns:a16="http://schemas.microsoft.com/office/drawing/2014/main" id="{8A390711-D944-4F36-B5B1-746379961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18" y="1872143"/>
            <a:ext cx="2072081" cy="1383321"/>
          </a:xfrm>
          <a:prstGeom prst="rect">
            <a:avLst/>
          </a:prstGeom>
        </p:spPr>
      </p:pic>
      <p:pic>
        <p:nvPicPr>
          <p:cNvPr id="16" name="Picture 15" descr="A house with a large front yard&#10;&#10;Description automatically generated with low confidence">
            <a:extLst>
              <a:ext uri="{FF2B5EF4-FFF2-40B4-BE49-F238E27FC236}">
                <a16:creationId xmlns:a16="http://schemas.microsoft.com/office/drawing/2014/main" id="{406199C3-58FB-4498-AAFA-2CC3527CD6F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18" y="3381299"/>
            <a:ext cx="2072081" cy="1165546"/>
          </a:xfrm>
          <a:prstGeom prst="rect">
            <a:avLst/>
          </a:prstGeom>
        </p:spPr>
      </p:pic>
      <p:pic>
        <p:nvPicPr>
          <p:cNvPr id="18" name="Picture 17" descr="A picture containing grass, outdoor, tree, building&#10;&#10;Description automatically generated">
            <a:extLst>
              <a:ext uri="{FF2B5EF4-FFF2-40B4-BE49-F238E27FC236}">
                <a16:creationId xmlns:a16="http://schemas.microsoft.com/office/drawing/2014/main" id="{28FAAB80-E2DD-4370-9EB3-5B051BBB0F0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841" y="4672680"/>
            <a:ext cx="1954635" cy="1465976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0DE64102-C7B7-4E58-9B26-B1F596F2A00D}"/>
              </a:ext>
            </a:extLst>
          </p:cNvPr>
          <p:cNvSpPr/>
          <p:nvPr/>
        </p:nvSpPr>
        <p:spPr>
          <a:xfrm>
            <a:off x="2912560" y="1087230"/>
            <a:ext cx="2151077" cy="4943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655F23-EFA4-4CBB-8977-2E8CC752813D}"/>
              </a:ext>
            </a:extLst>
          </p:cNvPr>
          <p:cNvSpPr/>
          <p:nvPr/>
        </p:nvSpPr>
        <p:spPr>
          <a:xfrm>
            <a:off x="5063637" y="1082708"/>
            <a:ext cx="1187741" cy="4943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031F27B-F8B9-4E53-86EC-2674BE3290BA}"/>
              </a:ext>
            </a:extLst>
          </p:cNvPr>
          <p:cNvSpPr/>
          <p:nvPr/>
        </p:nvSpPr>
        <p:spPr>
          <a:xfrm>
            <a:off x="8432181" y="1087230"/>
            <a:ext cx="3188151" cy="494305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093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26" grpId="0" animBg="1"/>
      <p:bldP spid="27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5198CA-6CDE-4EA1-A4D7-AFA2A95F7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773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Model selection with AIC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C14CB06-917F-41A2-A509-75440974C2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2354" y="1689055"/>
            <a:ext cx="4385683" cy="4938248"/>
          </a:xfrm>
        </p:spPr>
        <p:txBody>
          <a:bodyPr>
            <a:normAutofit lnSpcReduction="10000"/>
          </a:bodyPr>
          <a:lstStyle/>
          <a:p>
            <a:r>
              <a:rPr lang="en-GB" dirty="0"/>
              <a:t>We select the model with the lowest AIC</a:t>
            </a:r>
          </a:p>
          <a:p>
            <a:pPr lvl="1"/>
            <a:r>
              <a:rPr lang="en-GB" dirty="0"/>
              <a:t>This will be the model where ∆AIC = 0</a:t>
            </a:r>
          </a:p>
          <a:p>
            <a:r>
              <a:rPr lang="en-GB" dirty="0"/>
              <a:t>Any models with ∆AIC &gt; 2, we reject them</a:t>
            </a:r>
          </a:p>
          <a:p>
            <a:r>
              <a:rPr lang="en-GB" dirty="0"/>
              <a:t>If there are models with ∆AIC &lt; 2, both models are valid.</a:t>
            </a:r>
          </a:p>
          <a:p>
            <a:pPr lvl="1"/>
            <a:r>
              <a:rPr lang="en-GB" dirty="0"/>
              <a:t>Some people argue to always choose the lowest </a:t>
            </a:r>
          </a:p>
          <a:p>
            <a:pPr lvl="1"/>
            <a:r>
              <a:rPr lang="en-GB" dirty="0"/>
              <a:t>Other argue </a:t>
            </a:r>
            <a:r>
              <a:rPr lang="en-GB"/>
              <a:t>that you </a:t>
            </a:r>
            <a:r>
              <a:rPr lang="en-GB" dirty="0"/>
              <a:t>choose which one to use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7216D51-CBF2-4224-BD22-DF3A64313E0F}"/>
              </a:ext>
            </a:extLst>
          </p:cNvPr>
          <p:cNvSpPr txBox="1"/>
          <p:nvPr/>
        </p:nvSpPr>
        <p:spPr>
          <a:xfrm>
            <a:off x="7361323" y="6257971"/>
            <a:ext cx="241132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i="1" dirty="0"/>
              <a:t>No more p-values!</a:t>
            </a:r>
          </a:p>
        </p:txBody>
      </p:sp>
      <p:pic>
        <p:nvPicPr>
          <p:cNvPr id="11" name="Picture 10" descr="A house with a large front yard&#10;&#10;Description automatically generated with low confidence">
            <a:extLst>
              <a:ext uri="{FF2B5EF4-FFF2-40B4-BE49-F238E27FC236}">
                <a16:creationId xmlns:a16="http://schemas.microsoft.com/office/drawing/2014/main" id="{3E1B232A-57DB-42FB-86CF-1285215F6F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0510" y="1745739"/>
            <a:ext cx="7409135" cy="4167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59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AF21E-929F-9100-9565-69DA9242B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does “best” mean?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C0B43-0B1A-D39B-EDB0-97154A769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/>
              <a:t>AIC tells us the “most parsimonious model” or “best model”</a:t>
            </a:r>
          </a:p>
          <a:p>
            <a:r>
              <a:rPr lang="en-GB" dirty="0"/>
              <a:t>Best is evaluated by finding the version of the model that most closely fits the data, as efficiently as possible</a:t>
            </a:r>
          </a:p>
          <a:p>
            <a:pPr lvl="1"/>
            <a:r>
              <a:rPr lang="en-GB" dirty="0"/>
              <a:t>Evaluating predictive performance</a:t>
            </a:r>
          </a:p>
          <a:p>
            <a:pPr lvl="1"/>
            <a:r>
              <a:rPr lang="en-GB" dirty="0"/>
              <a:t>I.e. which is the most accurate model</a:t>
            </a:r>
          </a:p>
          <a:p>
            <a:r>
              <a:rPr lang="en-GB" dirty="0"/>
              <a:t>Meaning AIC is useful for making predictive model more efficient</a:t>
            </a:r>
          </a:p>
          <a:p>
            <a:pPr lvl="1"/>
            <a:r>
              <a:rPr lang="en-GB" dirty="0"/>
              <a:t>Remember that confounding allows us to make very accurate predictions with no causation</a:t>
            </a:r>
          </a:p>
        </p:txBody>
      </p:sp>
      <p:pic>
        <p:nvPicPr>
          <p:cNvPr id="5" name="Picture Placeholder 4" descr="A screen shot of a cell phone&#10;&#10;Description automatically generated">
            <a:extLst>
              <a:ext uri="{FF2B5EF4-FFF2-40B4-BE49-F238E27FC236}">
                <a16:creationId xmlns:a16="http://schemas.microsoft.com/office/drawing/2014/main" id="{0CCBD3D3-9640-0891-0EFB-A3929C89B139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91" b="691"/>
          <a:stretch>
            <a:fillRect/>
          </a:stretch>
        </p:blipFill>
        <p:spPr>
          <a:xfrm>
            <a:off x="6359525" y="0"/>
            <a:ext cx="58324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7298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EDB75-127C-46A7-99D3-1101A69BCB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325563"/>
          </a:xfrm>
        </p:spPr>
        <p:txBody>
          <a:bodyPr/>
          <a:lstStyle/>
          <a:p>
            <a:pPr algn="ctr"/>
            <a:r>
              <a:rPr lang="en-GB" dirty="0"/>
              <a:t>Which house do we choose now?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/>
              <p:nvPr/>
            </p:nvSpPr>
            <p:spPr>
              <a:xfrm>
                <a:off x="3047999" y="5284112"/>
                <a:ext cx="609600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GB" sz="4400" b="0" i="0" smtClean="0">
                          <a:latin typeface="Cambria Math" panose="02040503050406030204" pitchFamily="18" charset="0"/>
                        </a:rPr>
                        <m:t>AIC</m:t>
                      </m:r>
                      <m:r>
                        <a:rPr lang="en-GB" sz="4400" b="0" i="0" smtClean="0">
                          <a:latin typeface="Cambria Math" panose="02040503050406030204" pitchFamily="18" charset="0"/>
                        </a:rPr>
                        <m:t>=−2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𝑙𝑛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GB" sz="4400" i="0">
                          <a:latin typeface="Cambria Math" panose="02040503050406030204" pitchFamily="18" charset="0"/>
                        </a:rPr>
                        <m:t>+2</m:t>
                      </m:r>
                      <m:r>
                        <a:rPr lang="en-GB" sz="4400" i="1">
                          <a:latin typeface="Cambria Math" panose="02040503050406030204" pitchFamily="18" charset="0"/>
                        </a:rPr>
                        <m:t>𝐾</m:t>
                      </m:r>
                    </m:oMath>
                  </m:oMathPara>
                </a14:m>
                <a:endParaRPr lang="en-GB" sz="4400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B2581D60-6C05-430C-8B74-3151AF2D7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47999" y="5284112"/>
                <a:ext cx="6096000" cy="76944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52620955"/>
                  </p:ext>
                </p:extLst>
              </p:nvPr>
            </p:nvGraphicFramePr>
            <p:xfrm>
              <a:off x="838200" y="1325563"/>
              <a:ext cx="10646664" cy="356616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The house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Deon’s Rating (-2lnL)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Cost (K)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AIC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∆AIC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25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0+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150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1" i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𝟎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𝟗𝟖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n-US" sz="2000" b="0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98</m:t>
                                </m:r>
                                <m:r>
                                  <a:rPr lang="en-GB" sz="2000" b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GB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𝟏𝟎𝟎</m:t>
                                </m:r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  <m:oMath xmlns:m="http://schemas.openxmlformats.org/officeDocument/2006/math">
                                <m:r>
                                  <a:rPr lang="en-GB" sz="200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GB" sz="2000" b="1" i="0" kern="12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 panose="02040503050406030204" pitchFamily="18" charset="0"/>
                                  </a:rPr>
                                  <m:t>𝟐</m:t>
                                </m:r>
                              </m:oMath>
                            </m:oMathPara>
                          </a14:m>
                          <a:endParaRPr lang="en-GB" sz="2000" b="1" kern="1200" dirty="0">
                            <a:solidFill>
                              <a:schemeClr val="tx1"/>
                            </a:solidFill>
                            <a:effectLst/>
                            <a:latin typeface="+mn-lt"/>
                            <a:ea typeface="+mn-ea"/>
                            <a:cs typeface="+mn-cs"/>
                          </a:endParaRP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6">
                <a:extLst>
                  <a:ext uri="{FF2B5EF4-FFF2-40B4-BE49-F238E27FC236}">
                    <a16:creationId xmlns:a16="http://schemas.microsoft.com/office/drawing/2014/main" id="{D949164B-5903-41E7-B445-35F9D6B46E79}"/>
                  </a:ext>
                </a:extLst>
              </p:cNvPr>
              <p:cNvGraphicFramePr>
                <a:graphicFrameLocks noGrp="1"/>
              </p:cNvGraphicFramePr>
              <p:nvPr>
                <p:ph idx="1"/>
                <p:extLst>
                  <p:ext uri="{D42A27DB-BD31-4B8C-83A1-F6EECF244321}">
                    <p14:modId xmlns:p14="http://schemas.microsoft.com/office/powerpoint/2010/main" val="2852620955"/>
                  </p:ext>
                </p:extLst>
              </p:nvPr>
            </p:nvGraphicFramePr>
            <p:xfrm>
              <a:off x="838200" y="1325563"/>
              <a:ext cx="10646664" cy="3566160"/>
            </p:xfrm>
            <a:graphic>
              <a:graphicData uri="http://schemas.openxmlformats.org/drawingml/2006/table">
                <a:tbl>
                  <a:tblPr firstRow="1" bandRow="1">
                    <a:tableStyleId>{9D7B26C5-4107-4FEC-AEDC-1716B250A1EF}</a:tableStyleId>
                  </a:tblPr>
                  <a:tblGrid>
                    <a:gridCol w="2103120">
                      <a:extLst>
                        <a:ext uri="{9D8B030D-6E8A-4147-A177-3AD203B41FA5}">
                          <a16:colId xmlns:a16="http://schemas.microsoft.com/office/drawing/2014/main" val="58063380"/>
                        </a:ext>
                      </a:extLst>
                    </a:gridCol>
                    <a:gridCol w="2252472">
                      <a:extLst>
                        <a:ext uri="{9D8B030D-6E8A-4147-A177-3AD203B41FA5}">
                          <a16:colId xmlns:a16="http://schemas.microsoft.com/office/drawing/2014/main" val="4248961987"/>
                        </a:ext>
                      </a:extLst>
                    </a:gridCol>
                    <a:gridCol w="1170432">
                      <a:extLst>
                        <a:ext uri="{9D8B030D-6E8A-4147-A177-3AD203B41FA5}">
                          <a16:colId xmlns:a16="http://schemas.microsoft.com/office/drawing/2014/main" val="751522896"/>
                        </a:ext>
                      </a:extLst>
                    </a:gridCol>
                    <a:gridCol w="2621280">
                      <a:extLst>
                        <a:ext uri="{9D8B030D-6E8A-4147-A177-3AD203B41FA5}">
                          <a16:colId xmlns:a16="http://schemas.microsoft.com/office/drawing/2014/main" val="3029197366"/>
                        </a:ext>
                      </a:extLst>
                    </a:gridCol>
                    <a:gridCol w="2499360">
                      <a:extLst>
                        <a:ext uri="{9D8B030D-6E8A-4147-A177-3AD203B41FA5}">
                          <a16:colId xmlns:a16="http://schemas.microsoft.com/office/drawing/2014/main" val="1723384714"/>
                        </a:ext>
                      </a:extLst>
                    </a:gridCol>
                  </a:tblGrid>
                  <a:tr h="640080"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The house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Deon’s Rating (-2lnL)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Cost (K)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AIC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GB" b="1" dirty="0">
                              <a:solidFill>
                                <a:schemeClr val="tx1"/>
                              </a:solidFill>
                            </a:rPr>
                            <a:t>∆AIC</a:t>
                          </a:r>
                          <a:endParaRPr lang="en-GB" b="1" i="1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549924850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-250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£75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930" t="-46058" r="-95814" b="-10539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6098" t="-46058" r="-488" b="-10539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417848"/>
                      </a:ext>
                    </a:extLst>
                  </a:tr>
                  <a:tr h="1463040">
                    <a:tc>
                      <a:txBody>
                        <a:bodyPr/>
                        <a:lstStyle/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  <a:p>
                          <a:endParaRPr lang="en-GB" dirty="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-100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GB" sz="2000" b="1" dirty="0">
                              <a:solidFill>
                                <a:schemeClr val="tx1"/>
                              </a:solidFill>
                            </a:rPr>
                            <a:t>£1 (mill)</a:t>
                          </a:r>
                        </a:p>
                      </a:txBody>
                      <a:tcPr anchor="ctr"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10930" t="-146667" r="-95814" b="-583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326098" t="-146667" r="-488" b="-583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491337345"/>
                      </a:ext>
                    </a:extLst>
                  </a:tr>
                </a:tbl>
              </a:graphicData>
            </a:graphic>
          </p:graphicFrame>
        </mc:Fallback>
      </mc:AlternateContent>
      <p:pic>
        <p:nvPicPr>
          <p:cNvPr id="5" name="Picture 4" descr="A large white house with a pool in front of it&#10;&#10;Description automatically generated with low confidence">
            <a:extLst>
              <a:ext uri="{FF2B5EF4-FFF2-40B4-BE49-F238E27FC236}">
                <a16:creationId xmlns:a16="http://schemas.microsoft.com/office/drawing/2014/main" id="{8A390711-D944-4F36-B5B1-746379961EB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961" y="1988620"/>
            <a:ext cx="2072081" cy="1383321"/>
          </a:xfrm>
          <a:prstGeom prst="rect">
            <a:avLst/>
          </a:prstGeom>
        </p:spPr>
      </p:pic>
      <p:pic>
        <p:nvPicPr>
          <p:cNvPr id="18" name="Picture 17" descr="A picture containing grass, outdoor, tree, building&#10;&#10;Description automatically generated">
            <a:extLst>
              <a:ext uri="{FF2B5EF4-FFF2-40B4-BE49-F238E27FC236}">
                <a16:creationId xmlns:a16="http://schemas.microsoft.com/office/drawing/2014/main" id="{28FAAB80-E2DD-4370-9EB3-5B051BBB0F0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683" y="3387647"/>
            <a:ext cx="1954635" cy="146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201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88B48-F8BF-4A74-9842-D6FDE75BB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255"/>
            <a:ext cx="12192000" cy="1325563"/>
          </a:xfrm>
        </p:spPr>
        <p:txBody>
          <a:bodyPr/>
          <a:lstStyle/>
          <a:p>
            <a:pPr algn="ctr"/>
            <a:r>
              <a:rPr lang="en-GB" dirty="0" err="1"/>
              <a:t>tl;dr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C44B44-F49F-4063-9F34-8A4D4F5424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2277"/>
            <a:ext cx="10515600" cy="4664686"/>
          </a:xfrm>
        </p:spPr>
        <p:txBody>
          <a:bodyPr>
            <a:normAutofit/>
          </a:bodyPr>
          <a:lstStyle/>
          <a:p>
            <a:r>
              <a:rPr lang="en-GB" dirty="0"/>
              <a:t>We can use the MLE (the “rating”) of each model to find the most parsimonious model that was tested.</a:t>
            </a:r>
          </a:p>
          <a:p>
            <a:r>
              <a:rPr lang="en-GB" dirty="0"/>
              <a:t>AIC attempts to optimise two features</a:t>
            </a:r>
          </a:p>
          <a:p>
            <a:pPr lvl="1"/>
            <a:r>
              <a:rPr lang="en-GB" dirty="0"/>
              <a:t>How well the model captures the data</a:t>
            </a:r>
          </a:p>
          <a:p>
            <a:pPr lvl="1"/>
            <a:r>
              <a:rPr lang="en-GB" dirty="0"/>
              <a:t>The number of parameters required to get that fit</a:t>
            </a:r>
          </a:p>
          <a:p>
            <a:r>
              <a:rPr lang="en-GB" dirty="0"/>
              <a:t>The end result is an efficient </a:t>
            </a:r>
            <a:r>
              <a:rPr lang="en-GB" i="1" dirty="0"/>
              <a:t>predictive</a:t>
            </a:r>
            <a:r>
              <a:rPr lang="en-GB" dirty="0"/>
              <a:t> model</a:t>
            </a:r>
          </a:p>
          <a:p>
            <a:r>
              <a:rPr lang="en-GB" dirty="0"/>
              <a:t>AIC does not help us understand causation</a:t>
            </a:r>
          </a:p>
          <a:p>
            <a:pPr lvl="1"/>
            <a:r>
              <a:rPr lang="en-GB" dirty="0"/>
              <a:t>Because confounding often allows for highly accurate predictions</a:t>
            </a:r>
          </a:p>
        </p:txBody>
      </p:sp>
    </p:spTree>
    <p:extLst>
      <p:ext uri="{BB962C8B-B14F-4D97-AF65-F5344CB8AC3E}">
        <p14:creationId xmlns:p14="http://schemas.microsoft.com/office/powerpoint/2010/main" val="1157666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sbs_templat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Bahnschrift Light">
      <a:majorFont>
        <a:latin typeface="Bahnschrift Light"/>
        <a:ea typeface=""/>
        <a:cs typeface=""/>
      </a:majorFont>
      <a:minorFont>
        <a:latin typeface="Bahnschrift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bs_slide_template.potx" id="{ECECA26D-C7D9-428D-8AE3-0DEBE87A348A}" vid="{A052F16A-C2E7-4086-BA7D-A0C2C9C1F83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sbs_template</Template>
  <TotalTime>287</TotalTime>
  <Words>858</Words>
  <Application>Microsoft Office PowerPoint</Application>
  <PresentationFormat>Widescreen</PresentationFormat>
  <Paragraphs>129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Aptos</vt:lpstr>
      <vt:lpstr>Arial</vt:lpstr>
      <vt:lpstr>Bahnschrift Light</vt:lpstr>
      <vt:lpstr>Cambria Math</vt:lpstr>
      <vt:lpstr>Courier New</vt:lpstr>
      <vt:lpstr>sbs_template</vt:lpstr>
      <vt:lpstr>Information theory and criterion</vt:lpstr>
      <vt:lpstr>Overfitting and underfitting</vt:lpstr>
      <vt:lpstr>Parsimony</vt:lpstr>
      <vt:lpstr>Which model best fits our data?</vt:lpstr>
      <vt:lpstr>Using AIC to find most the “parsimonious” model</vt:lpstr>
      <vt:lpstr>Likelihood?</vt:lpstr>
      <vt:lpstr>Maximised Likelihood</vt:lpstr>
      <vt:lpstr>Savvy house buyers</vt:lpstr>
      <vt:lpstr>Let’s buy a house</vt:lpstr>
      <vt:lpstr>Model selection with AIC</vt:lpstr>
      <vt:lpstr>What does “best” mean?</vt:lpstr>
      <vt:lpstr>Which house do we choose now?</vt:lpstr>
      <vt:lpstr>tl;dr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Roos, Deon</dc:creator>
  <cp:lastModifiedBy>Roos, Deon</cp:lastModifiedBy>
  <cp:revision>4</cp:revision>
  <dcterms:created xsi:type="dcterms:W3CDTF">2024-08-08T11:21:53Z</dcterms:created>
  <dcterms:modified xsi:type="dcterms:W3CDTF">2024-09-12T08:12:52Z</dcterms:modified>
</cp:coreProperties>
</file>