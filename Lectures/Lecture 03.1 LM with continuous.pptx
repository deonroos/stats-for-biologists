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79" r:id="rId7"/>
    <p:sldId id="261" r:id="rId8"/>
    <p:sldId id="262" r:id="rId9"/>
    <p:sldId id="263" r:id="rId10"/>
    <p:sldId id="264" r:id="rId11"/>
    <p:sldId id="265" r:id="rId12"/>
    <p:sldId id="266" r:id="rId13"/>
    <p:sldId id="268" r:id="rId14"/>
    <p:sldId id="269" r:id="rId15"/>
    <p:sldId id="270" r:id="rId16"/>
    <p:sldId id="271" r:id="rId17"/>
    <p:sldId id="273" r:id="rId18"/>
    <p:sldId id="272" r:id="rId19"/>
    <p:sldId id="281" r:id="rId20"/>
    <p:sldId id="282" r:id="rId21"/>
    <p:sldId id="283" r:id="rId22"/>
    <p:sldId id="284" r:id="rId23"/>
    <p:sldId id="285" r:id="rId24"/>
    <p:sldId id="286" r:id="rId25"/>
    <p:sldId id="287" r:id="rId26"/>
    <p:sldId id="288" r:id="rId27"/>
    <p:sldId id="302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186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26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EF085-90BA-6B79-A198-AE27F69DC1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567" y="565410"/>
            <a:ext cx="6096000" cy="2863589"/>
          </a:xfrm>
        </p:spPr>
        <p:txBody>
          <a:bodyPr anchor="ctr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960FB6-F389-7EDD-D9DB-A406B89F35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4567" y="3552161"/>
            <a:ext cx="6096000" cy="2607569"/>
          </a:xfrm>
        </p:spPr>
        <p:txBody>
          <a:bodyPr anchor="ctr"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001CD27-4DF4-05EC-92B4-C7555C3D018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50677" y="0"/>
            <a:ext cx="5741324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5E048B3-2145-631D-3138-1DF0AD6D38F2}"/>
              </a:ext>
            </a:extLst>
          </p:cNvPr>
          <p:cNvCxnSpPr/>
          <p:nvPr/>
        </p:nvCxnSpPr>
        <p:spPr>
          <a:xfrm>
            <a:off x="1313411" y="3491345"/>
            <a:ext cx="375735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67358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30639-2CA7-2272-840E-F8F595ABC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201295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D59DF2-E981-9079-7762-2C88651F5B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26613"/>
            <a:ext cx="6201295" cy="524019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BEC5A3C4-A2EA-7545-B99B-E8F489810FE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359525" y="0"/>
            <a:ext cx="5832475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19667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B9374-2DD6-FA11-BF6F-AE419E0A6B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0" y="1426614"/>
            <a:ext cx="5893724" cy="516220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FA4DDC-5EE8-4D0D-208A-D5A4CC40A5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1295" y="0"/>
            <a:ext cx="5990705" cy="5162204"/>
          </a:xfrm>
        </p:spPr>
        <p:txBody>
          <a:bodyPr anchor="ctr"/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96FFCEF-D528-27F4-CF96-A8F674BCA08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620129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E6B47C7-8888-2E6B-0D7C-CF46BFD9A30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01295" y="5162204"/>
            <a:ext cx="5990705" cy="16957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81393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FFACB-206F-5777-5BAD-5BF8E9669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104015"/>
            <a:ext cx="10515600" cy="175398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15313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958E7-8733-1588-CE76-0710036CC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043C91-73BF-C49E-46BA-834638FC0B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FDC1F7-08BE-633D-0E8D-18F30CEE5A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4D961F-706F-451E-ABF3-F672C1F454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36AEAE-47C4-6C9C-5B4C-F6E31977E8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72731F-9715-FADD-FEBD-65D90CABA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2C5A1-16B6-4222-AA63-3055D0E769E8}" type="datetimeFigureOut">
              <a:rPr lang="en-GB" smtClean="0"/>
              <a:t>05/09/2024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E7A07B-AF32-2EA1-F513-0D1F38BAB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B01B04-63C5-991E-FD0F-2ED9257DC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226FA-2DB1-4EB9-B606-131300BF9A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7050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13767-1669-64A9-2C16-1A1F6165D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1F01AD-E823-7B4D-D421-EF7BE290C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2C5A1-16B6-4222-AA63-3055D0E769E8}" type="datetimeFigureOut">
              <a:rPr lang="en-GB" smtClean="0"/>
              <a:t>05/09/2024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13AC7F-2C26-3190-A705-5FC5DD18B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DF203F-F57C-7145-B743-4A084B3A5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226FA-2DB1-4EB9-B606-131300BF9A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79249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E02D19-147D-AD60-6ACC-2F7283CEE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2C5A1-16B6-4222-AA63-3055D0E769E8}" type="datetimeFigureOut">
              <a:rPr lang="en-GB" smtClean="0"/>
              <a:t>05/09/2024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CF569D-7098-9B6D-B851-1B18E6DB6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18D08F-69F0-C410-CAC9-DF16A0BF9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226FA-2DB1-4EB9-B606-131300BF9A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24371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C2567-4A48-3F47-EF88-E32A67EDD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F90797-1FEC-B310-9CA0-6642F4FE7D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BDC1EB-E335-7190-8BFD-48E25C309A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154E58-0B6A-491E-7CE0-88114C141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2C5A1-16B6-4222-AA63-3055D0E769E8}" type="datetimeFigureOut">
              <a:rPr lang="en-GB" smtClean="0"/>
              <a:t>05/09/2024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198572-7396-BEBC-0D56-24BE2A95E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2279F2-BB85-6763-45F1-D73C041BD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226FA-2DB1-4EB9-B606-131300BF9A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11904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83E09-8249-AC15-7FC0-A0BAD598E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C329DF-266D-F8F8-A195-53A7576BBF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CFA6F2-3F6B-26F9-74E6-E4E35007E9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14BCDB-42E3-AB80-31A3-907D1B597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2C5A1-16B6-4222-AA63-3055D0E769E8}" type="datetimeFigureOut">
              <a:rPr lang="en-GB" smtClean="0"/>
              <a:t>05/09/2024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6EC699-83D3-6581-966B-8882D2158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550ABE-17BA-CEDA-390B-2BA6E004B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226FA-2DB1-4EB9-B606-131300BF9A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87193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1BF0F-4D20-22A7-227D-78B4DDCA7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010818-F611-B1A2-8A19-C3130A329F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543987-925F-B621-E68B-A3BED9350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2C5A1-16B6-4222-AA63-3055D0E769E8}" type="datetimeFigureOut">
              <a:rPr lang="en-GB" smtClean="0"/>
              <a:t>05/09/2024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52031D-ADF7-744B-5905-8C84ADA49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7D02BB-73AF-8339-0B3A-B736F5E38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226FA-2DB1-4EB9-B606-131300BF9A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77258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A4840D-0D28-B8EB-88E1-65CDAE3316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3A8637-D9F6-1719-1804-4B3705C901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A50F13-C53E-CA05-E313-C1579E84E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2C5A1-16B6-4222-AA63-3055D0E769E8}" type="datetimeFigureOut">
              <a:rPr lang="en-GB" smtClean="0"/>
              <a:t>05/09/2024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909B7E-626E-8018-4CBE-414FB0F1D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0D0C27-06BF-1AD4-3587-FD26F1D7B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226FA-2DB1-4EB9-B606-131300BF9A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20742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D4F82-1800-4F77-D104-3B50CA0DD4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839EC5-C784-6F3F-A877-94A77494EC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C34B09-7E73-B99D-9CCB-5A2B25144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2C5A1-16B6-4222-AA63-3055D0E769E8}" type="datetimeFigureOut">
              <a:rPr lang="en-GB" smtClean="0"/>
              <a:t>05/09/2024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6B0316-A157-2CF4-4A8F-1C46780C2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F8C718-5FCE-2241-8B80-5AA8EA945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226FA-2DB1-4EB9-B606-131300BF9A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44767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246E56-8908-0E6A-4E62-88CF6D359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D1896B-C040-3D2C-A619-0B877E3383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B1AC1E-960F-82DB-0E5A-2F328EAC2C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82C5A1-16B6-4222-AA63-3055D0E769E8}" type="datetimeFigureOut">
              <a:rPr lang="en-GB" smtClean="0"/>
              <a:t>05/09/2024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CFF5B2-21B1-9528-920D-DD4BF8C0BD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D16DDC-4E03-310B-1091-75EB5EDC36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F226FA-2DB1-4EB9-B606-131300BF9A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977232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0.png"/><Relationship Id="rId7" Type="http://schemas.openxmlformats.org/officeDocument/2006/relationships/image" Target="../media/image1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5" Type="http://schemas.openxmlformats.org/officeDocument/2006/relationships/image" Target="../media/image110.png"/><Relationship Id="rId4" Type="http://schemas.openxmlformats.org/officeDocument/2006/relationships/image" Target="../media/image10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gi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gif"/><Relationship Id="rId2" Type="http://schemas.openxmlformats.org/officeDocument/2006/relationships/image" Target="../media/image16.gif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gi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gif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CD2FE-D408-02B0-484B-B0AFD9D3A7F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Linear modelling theory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314DCB-1384-C7ED-C3DC-6865FE53100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With continuous explanatory variables</a:t>
            </a:r>
          </a:p>
        </p:txBody>
      </p:sp>
    </p:spTree>
    <p:extLst>
      <p:ext uri="{BB962C8B-B14F-4D97-AF65-F5344CB8AC3E}">
        <p14:creationId xmlns:p14="http://schemas.microsoft.com/office/powerpoint/2010/main" val="1378312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951A6-7F4A-884C-A450-BB7AE86A9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question</a:t>
            </a:r>
          </a:p>
        </p:txBody>
      </p:sp>
    </p:spTree>
    <p:extLst>
      <p:ext uri="{BB962C8B-B14F-4D97-AF65-F5344CB8AC3E}">
        <p14:creationId xmlns:p14="http://schemas.microsoft.com/office/powerpoint/2010/main" val="3858565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1BB08-C428-8B0B-8C2A-960C0FCEC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Predated predators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4734FE-52C7-2CF0-B2D8-57B8513F17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Pine martens are expanding their range south in UK</a:t>
            </a:r>
          </a:p>
          <a:p>
            <a:r>
              <a:rPr lang="en-GB" dirty="0"/>
              <a:t>Recolonising predators that can disrupt balance that has built up since their local extinction</a:t>
            </a:r>
          </a:p>
          <a:p>
            <a:r>
              <a:rPr lang="en-GB" dirty="0"/>
              <a:t>Many species already struggling</a:t>
            </a:r>
          </a:p>
          <a:p>
            <a:r>
              <a:rPr lang="en-GB" dirty="0"/>
              <a:t>Will pine martens returning cause the systems to collapse?</a:t>
            </a:r>
          </a:p>
        </p:txBody>
      </p:sp>
      <p:pic>
        <p:nvPicPr>
          <p:cNvPr id="5" name="PineMartenandTawny">
            <a:hlinkClick r:id="" action="ppaction://media"/>
            <a:extLst>
              <a:ext uri="{FF2B5EF4-FFF2-40B4-BE49-F238E27FC236}">
                <a16:creationId xmlns:a16="http://schemas.microsoft.com/office/drawing/2014/main" id="{7E747A65-CA49-998F-A06E-37A0F9690391}"/>
              </a:ext>
            </a:extLst>
          </p:cNvPr>
          <p:cNvPicPr>
            <a:picLocks noGrp="1" noChangeAspect="1"/>
          </p:cNvPicPr>
          <p:nvPr>
            <p:ph type="pic" sz="quarter" idx="10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26081" r="26081"/>
          <a:stretch>
            <a:fillRect/>
          </a:stretch>
        </p:blipFill>
        <p:spPr>
          <a:xfrm>
            <a:off x="6359525" y="0"/>
            <a:ext cx="58324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4908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6" dur="850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1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vol="80000">
                <p:cTn id="3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2F3BA-924D-749A-4144-BA031EE43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Our response variable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707EAE-1713-0F71-C42C-F2605457263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Local raptor workers catch breeding pairs of tawny owls in nests </a:t>
                </a:r>
              </a:p>
              <a:p>
                <a:r>
                  <a:rPr lang="en-GB" dirty="0"/>
                  <a:t>Data collected every year since 1979</a:t>
                </a:r>
              </a:p>
              <a:p>
                <a:r>
                  <a:rPr lang="en-GB" dirty="0"/>
                  <a:t>Within the area, 23 sites are monitored</a:t>
                </a:r>
              </a:p>
              <a:p>
                <a:r>
                  <a:rPr lang="en-GB" dirty="0"/>
                  <a:t>Our response variable is then the density of breeding tawny owl pairs in each site, in each year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/>
                  <a:t> = density of owls per site per year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707EAE-1713-0F71-C42C-F2605457263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70" r="-186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Placeholder 4" descr="A person holding a small white bird&#10;&#10;Description automatically generated">
            <a:extLst>
              <a:ext uri="{FF2B5EF4-FFF2-40B4-BE49-F238E27FC236}">
                <a16:creationId xmlns:a16="http://schemas.microsoft.com/office/drawing/2014/main" id="{1170F778-BD59-A9B6-5575-00BD3D67B314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657" r="21657"/>
          <a:stretch>
            <a:fillRect/>
          </a:stretch>
        </p:blipFill>
        <p:spPr>
          <a:xfrm>
            <a:off x="6359525" y="0"/>
            <a:ext cx="58324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93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2F3BA-924D-749A-4144-BA031EE43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Our explanatory variable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707EAE-1713-0F71-C42C-F2605457263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GB" dirty="0"/>
                  <a:t>Using camera trapping, researchers can estimate the number of pine marten at a site</a:t>
                </a:r>
              </a:p>
              <a:p>
                <a:r>
                  <a:rPr lang="en-GB" dirty="0"/>
                  <a:t>Within the area, 23 sites are monitored each year</a:t>
                </a:r>
              </a:p>
              <a:p>
                <a:r>
                  <a:rPr lang="en-GB" dirty="0"/>
                  <a:t>Our explanatory variable is then the density of pine marten in each site in each year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/>
                  <a:t> = pine marten density per site per year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707EAE-1713-0F71-C42C-F2605457263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70" r="-285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Placeholder 4" descr="A cat climbing a tree&#10;&#10;Description automatically generated">
            <a:extLst>
              <a:ext uri="{FF2B5EF4-FFF2-40B4-BE49-F238E27FC236}">
                <a16:creationId xmlns:a16="http://schemas.microsoft.com/office/drawing/2014/main" id="{7562A389-A120-886B-7943-A9FD88C6606D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714" r="15448"/>
          <a:stretch/>
        </p:blipFill>
        <p:spPr>
          <a:xfrm>
            <a:off x="6359525" y="0"/>
            <a:ext cx="58324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11340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93029-6D74-DE34-D70E-20838E348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r>
              <a:rPr lang="en-GB" dirty="0"/>
              <a:t>Question to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AB55343-B2B5-2352-38B4-187CA307BA0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1426613"/>
                <a:ext cx="12192000" cy="5240194"/>
              </a:xfrm>
            </p:spPr>
            <p:txBody>
              <a:bodyPr/>
              <a:lstStyle/>
              <a:p>
                <a:r>
                  <a:rPr lang="en-GB" dirty="0"/>
                  <a:t>We want to understand how owl density respond to pine marten occupancy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/>
                  <a:t> is owl density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/>
                  <a:t> is pine marten density</a:t>
                </a:r>
              </a:p>
              <a:p>
                <a:r>
                  <a:rPr lang="en-GB" dirty="0"/>
                  <a:t>Our current toolkit: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∼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𝑁𝑜𝑟𝑚𝑎𝑙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dirty="0"/>
              </a:p>
              <a:p>
                <a:pPr lvl="1"/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GB" dirty="0"/>
              </a:p>
              <a:p>
                <a:r>
                  <a:rPr lang="en-GB" dirty="0"/>
                  <a:t>Merging these together: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𝑁𝑜𝑟𝑚𝑎𝑙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AB55343-B2B5-2352-38B4-187CA307BA0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426613"/>
                <a:ext cx="12192000" cy="5240194"/>
              </a:xfrm>
              <a:blipFill>
                <a:blip r:embed="rId2"/>
                <a:stretch>
                  <a:fillRect l="-9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05906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7BC54-9A7C-9FB4-FC45-F2B8FD1C6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Get to know your data</a:t>
            </a:r>
          </a:p>
        </p:txBody>
      </p:sp>
    </p:spTree>
    <p:extLst>
      <p:ext uri="{BB962C8B-B14F-4D97-AF65-F5344CB8AC3E}">
        <p14:creationId xmlns:p14="http://schemas.microsoft.com/office/powerpoint/2010/main" val="36559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FFE9F9-3320-524D-5BCA-870450520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Pine marten time series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3B30DF-BD50-7D1C-8476-0DB9513893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Very low densities for first ca. 30 years</a:t>
            </a:r>
          </a:p>
          <a:p>
            <a:r>
              <a:rPr lang="en-GB" dirty="0"/>
              <a:t>Now up to ca. 3 pine martens per ha</a:t>
            </a:r>
          </a:p>
          <a:p>
            <a:r>
              <a:rPr lang="en-GB" dirty="0"/>
              <a:t>Do you learn anything about the system from this figure?</a:t>
            </a:r>
          </a:p>
          <a:p>
            <a:r>
              <a:rPr lang="en-GB" dirty="0"/>
              <a:t>Do you envisage any problems when we come to analyse this data?</a:t>
            </a:r>
          </a:p>
        </p:txBody>
      </p:sp>
      <p:pic>
        <p:nvPicPr>
          <p:cNvPr id="6" name="Picture Placeholder 5" descr="A graph of a graph showing a line of dots&#10;&#10;Description automatically generated with medium confidence">
            <a:extLst>
              <a:ext uri="{FF2B5EF4-FFF2-40B4-BE49-F238E27FC236}">
                <a16:creationId xmlns:a16="http://schemas.microsoft.com/office/drawing/2014/main" id="{47A0B96F-88A2-6FD4-D6C8-8C4E84DA07E4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606534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034EE1-5D50-2FF6-9E68-BE5641C9F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Tawny owl time series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A88AC6-A858-469C-5E83-E49E1FDC66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Tawny owls look somewhat stable</a:t>
            </a:r>
          </a:p>
          <a:p>
            <a:r>
              <a:rPr lang="en-GB" dirty="0"/>
              <a:t>Should we stop here and say pine martens are not predating tawny owls?</a:t>
            </a:r>
          </a:p>
          <a:p>
            <a:r>
              <a:rPr lang="en-GB" dirty="0"/>
              <a:t>What would a better visualisation be?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68857627-4FC5-2C6C-89FC-B54019FC41E2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1913172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9C1CF-1707-78F8-1BAB-9F5A6FA4D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Tawny versus pine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77B79F-630E-A235-6D8F-063C3F997B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Relationship a little clearer now</a:t>
            </a:r>
          </a:p>
          <a:p>
            <a:pPr lvl="1"/>
            <a:r>
              <a:rPr lang="en-GB" dirty="0"/>
              <a:t>But definitive?</a:t>
            </a:r>
          </a:p>
          <a:p>
            <a:r>
              <a:rPr lang="en-GB" dirty="0"/>
              <a:t>Why the big bulk of observations towards the left of the figure?</a:t>
            </a:r>
          </a:p>
          <a:p>
            <a:r>
              <a:rPr lang="en-GB" dirty="0"/>
              <a:t>Should we be concerned?</a:t>
            </a:r>
          </a:p>
        </p:txBody>
      </p:sp>
      <p:pic>
        <p:nvPicPr>
          <p:cNvPr id="6" name="Picture Placeholder 5" descr="A graph showing a number of white dots&#10;&#10;Description automatically generated">
            <a:extLst>
              <a:ext uri="{FF2B5EF4-FFF2-40B4-BE49-F238E27FC236}">
                <a16:creationId xmlns:a16="http://schemas.microsoft.com/office/drawing/2014/main" id="{D40EB33E-9525-F616-BA20-4DE0027395D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7795595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9C1CF-1707-78F8-1BAB-9F5A6FA4D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do we take away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77B79F-630E-A235-6D8F-063C3F997B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If there is a relationship, is it positive or negative?</a:t>
            </a:r>
          </a:p>
          <a:p>
            <a:r>
              <a:rPr lang="en-GB" dirty="0"/>
              <a:t>How strong is that relationship?</a:t>
            </a:r>
          </a:p>
          <a:p>
            <a:r>
              <a:rPr lang="en-GB" dirty="0"/>
              <a:t>How many tawny owls do we gain or lose for each additional pine marten?</a:t>
            </a:r>
          </a:p>
          <a:p>
            <a:r>
              <a:rPr lang="en-GB" dirty="0"/>
              <a:t>If pine marten densities increase to 5 per ha, are tawny owls going to go extinct?</a:t>
            </a:r>
          </a:p>
          <a:p>
            <a:r>
              <a:rPr lang="en-GB" dirty="0"/>
              <a:t>Should we intervene?</a:t>
            </a:r>
          </a:p>
        </p:txBody>
      </p:sp>
      <p:pic>
        <p:nvPicPr>
          <p:cNvPr id="6" name="Picture Placeholder 5" descr="A graph showing a number of white dots&#10;&#10;Description automatically generated">
            <a:extLst>
              <a:ext uri="{FF2B5EF4-FFF2-40B4-BE49-F238E27FC236}">
                <a16:creationId xmlns:a16="http://schemas.microsoft.com/office/drawing/2014/main" id="{D40EB33E-9525-F616-BA20-4DE0027395D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693888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BA3C8-EE17-6E99-E3EF-EDF17B71C6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We need two pieces of information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9D516CB-DD61-AB6A-1AFC-8EC197FC180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To answer our questions, we need two pieces of information</a:t>
                </a:r>
              </a:p>
              <a:p>
                <a:pPr lvl="1"/>
                <a:r>
                  <a:rPr lang="en-GB" dirty="0"/>
                  <a:t>What is the intercept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GB" dirty="0"/>
                  <a:t>)?</a:t>
                </a:r>
              </a:p>
              <a:p>
                <a:pPr lvl="1"/>
                <a:r>
                  <a:rPr lang="en-GB" dirty="0"/>
                  <a:t>What is the slope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dirty="0"/>
                  <a:t>)?</a:t>
                </a:r>
              </a:p>
              <a:p>
                <a:r>
                  <a:rPr lang="en-GB" dirty="0"/>
                  <a:t>An infinite number of possible combinations</a:t>
                </a:r>
              </a:p>
              <a:p>
                <a:r>
                  <a:rPr lang="en-GB" dirty="0"/>
                  <a:t>How do we figure out which one is best?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9D516CB-DD61-AB6A-1AFC-8EC197FC180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Placeholder 13" descr="A graph with white dots and red line&#10;&#10;Description automatically generated">
            <a:extLst>
              <a:ext uri="{FF2B5EF4-FFF2-40B4-BE49-F238E27FC236}">
                <a16:creationId xmlns:a16="http://schemas.microsoft.com/office/drawing/2014/main" id="{3FF64AEF-7FB0-8AD3-20AA-2CC3F60FAEB4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" t="-9125" r="-306" b="-8835"/>
          <a:stretch/>
        </p:blipFill>
        <p:spPr>
          <a:xfrm>
            <a:off x="6359525" y="0"/>
            <a:ext cx="5832475" cy="6858000"/>
          </a:xfrm>
        </p:spPr>
      </p:pic>
    </p:spTree>
    <p:extLst>
      <p:ext uri="{BB962C8B-B14F-4D97-AF65-F5344CB8AC3E}">
        <p14:creationId xmlns:p14="http://schemas.microsoft.com/office/powerpoint/2010/main" val="1274257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A screen shot of a graph&#10;&#10;Description automatically generated">
            <a:extLst>
              <a:ext uri="{FF2B5EF4-FFF2-40B4-BE49-F238E27FC236}">
                <a16:creationId xmlns:a16="http://schemas.microsoft.com/office/drawing/2014/main" id="{56B0C8BE-E055-9A63-28D0-5A37AA596A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97429"/>
            <a:ext cx="12192000" cy="566057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744B190-90DF-6296-CF6E-0ABAE53412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pPr algn="ctr"/>
            <a:r>
              <a:rPr lang="en-GB" dirty="0"/>
              <a:t>Which do you prefer?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3DDB596-E1D2-39A2-D7A4-D8D48CB65EF0}"/>
                  </a:ext>
                </a:extLst>
              </p:cNvPr>
              <p:cNvSpPr txBox="1"/>
              <p:nvPr/>
            </p:nvSpPr>
            <p:spPr>
              <a:xfrm>
                <a:off x="1524001" y="1580444"/>
                <a:ext cx="1814534" cy="408623"/>
              </a:xfrm>
              <a:prstGeom prst="roundRect">
                <a:avLst/>
              </a:prstGeom>
              <a:solidFill>
                <a:schemeClr val="bg1">
                  <a:lumMod val="75000"/>
                  <a:lumOff val="2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=30, 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3DDB596-E1D2-39A2-D7A4-D8D48CB65E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1" y="1580444"/>
                <a:ext cx="1814534" cy="408623"/>
              </a:xfrm>
              <a:prstGeom prst="roundRect">
                <a:avLst/>
              </a:prstGeom>
              <a:blipFill>
                <a:blip r:embed="rId3"/>
                <a:stretch>
                  <a:fillRect b="-869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9A9C026-2FC7-6C61-D379-626A8FA63723}"/>
                  </a:ext>
                </a:extLst>
              </p:cNvPr>
              <p:cNvSpPr txBox="1"/>
              <p:nvPr/>
            </p:nvSpPr>
            <p:spPr>
              <a:xfrm>
                <a:off x="5401734" y="1580443"/>
                <a:ext cx="1814534" cy="408623"/>
              </a:xfrm>
              <a:prstGeom prst="roundRect">
                <a:avLst/>
              </a:prstGeom>
              <a:solidFill>
                <a:schemeClr val="bg1">
                  <a:lumMod val="75000"/>
                  <a:lumOff val="2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=19, 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9A9C026-2FC7-6C61-D379-626A8FA637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1734" y="1580443"/>
                <a:ext cx="1814534" cy="408623"/>
              </a:xfrm>
              <a:prstGeom prst="roundRect">
                <a:avLst/>
              </a:prstGeom>
              <a:blipFill>
                <a:blip r:embed="rId4"/>
                <a:stretch>
                  <a:fillRect b="-869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1600667-AE38-5234-9C7B-9F86C1751A34}"/>
                  </a:ext>
                </a:extLst>
              </p:cNvPr>
              <p:cNvSpPr txBox="1"/>
              <p:nvPr/>
            </p:nvSpPr>
            <p:spPr>
              <a:xfrm>
                <a:off x="9279467" y="1580443"/>
                <a:ext cx="2150153" cy="408623"/>
              </a:xfrm>
              <a:prstGeom prst="roundRect">
                <a:avLst/>
              </a:prstGeom>
              <a:solidFill>
                <a:schemeClr val="bg1">
                  <a:lumMod val="75000"/>
                  <a:lumOff val="2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=47, 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=−0.5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1600667-AE38-5234-9C7B-9F86C1751A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79467" y="1580443"/>
                <a:ext cx="2150153" cy="408623"/>
              </a:xfrm>
              <a:prstGeom prst="roundRect">
                <a:avLst/>
              </a:prstGeom>
              <a:blipFill>
                <a:blip r:embed="rId5"/>
                <a:stretch>
                  <a:fillRect b="-869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E49A539-6999-4720-ED04-AA833B2A7277}"/>
                  </a:ext>
                </a:extLst>
              </p:cNvPr>
              <p:cNvSpPr txBox="1"/>
              <p:nvPr/>
            </p:nvSpPr>
            <p:spPr>
              <a:xfrm>
                <a:off x="1524001" y="4295703"/>
                <a:ext cx="1991007" cy="408623"/>
              </a:xfrm>
              <a:prstGeom prst="roundRect">
                <a:avLst/>
              </a:prstGeom>
              <a:solidFill>
                <a:schemeClr val="bg1">
                  <a:lumMod val="75000"/>
                  <a:lumOff val="2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=39, 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=−2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E49A539-6999-4720-ED04-AA833B2A72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1" y="4295703"/>
                <a:ext cx="1991007" cy="408623"/>
              </a:xfrm>
              <a:prstGeom prst="roundRect">
                <a:avLst/>
              </a:prstGeom>
              <a:blipFill>
                <a:blip r:embed="rId6"/>
                <a:stretch>
                  <a:fillRect b="-724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28BDF92-03AC-1040-9E02-7BB1B147ABE2}"/>
                  </a:ext>
                </a:extLst>
              </p:cNvPr>
              <p:cNvSpPr txBox="1"/>
              <p:nvPr/>
            </p:nvSpPr>
            <p:spPr>
              <a:xfrm>
                <a:off x="5401734" y="4299126"/>
                <a:ext cx="2150153" cy="408623"/>
              </a:xfrm>
              <a:prstGeom prst="roundRect">
                <a:avLst/>
              </a:prstGeom>
              <a:solidFill>
                <a:schemeClr val="bg1">
                  <a:lumMod val="75000"/>
                  <a:lumOff val="2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=30, 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=−0.3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28BDF92-03AC-1040-9E02-7BB1B147AB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1734" y="4299126"/>
                <a:ext cx="2150153" cy="408623"/>
              </a:xfrm>
              <a:prstGeom prst="roundRect">
                <a:avLst/>
              </a:prstGeom>
              <a:blipFill>
                <a:blip r:embed="rId7"/>
                <a:stretch>
                  <a:fillRect b="-869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4A99622-8C10-3D7A-A778-FB902128CA11}"/>
                  </a:ext>
                </a:extLst>
              </p:cNvPr>
              <p:cNvSpPr txBox="1"/>
              <p:nvPr/>
            </p:nvSpPr>
            <p:spPr>
              <a:xfrm>
                <a:off x="9279467" y="4295702"/>
                <a:ext cx="1991007" cy="408623"/>
              </a:xfrm>
              <a:prstGeom prst="roundRect">
                <a:avLst/>
              </a:prstGeom>
              <a:solidFill>
                <a:schemeClr val="bg1">
                  <a:lumMod val="75000"/>
                  <a:lumOff val="2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=45, 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=−8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4A99622-8C10-3D7A-A778-FB902128CA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79467" y="4295702"/>
                <a:ext cx="1991007" cy="408623"/>
              </a:xfrm>
              <a:prstGeom prst="roundRect">
                <a:avLst/>
              </a:prstGeom>
              <a:blipFill>
                <a:blip r:embed="rId8"/>
                <a:stretch>
                  <a:fillRect b="-724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15010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4B190-90DF-6296-CF6E-0ABAE53412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pPr algn="ctr"/>
            <a:r>
              <a:rPr lang="en-GB" dirty="0"/>
              <a:t>Which do you prefer?</a:t>
            </a:r>
          </a:p>
        </p:txBody>
      </p:sp>
      <p:pic>
        <p:nvPicPr>
          <p:cNvPr id="4" name="Picture 3" descr="A screen shot of a graph&#10;&#10;Description automatically generated">
            <a:extLst>
              <a:ext uri="{FF2B5EF4-FFF2-40B4-BE49-F238E27FC236}">
                <a16:creationId xmlns:a16="http://schemas.microsoft.com/office/drawing/2014/main" id="{1E37CEB3-6EB2-9DD2-59DE-0078F0B02D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97429"/>
            <a:ext cx="12192000" cy="5660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6768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B1A103-72C8-2297-38EB-41234BA6E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Line of best fit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CF5120-F5FB-0DF2-FF77-4088484353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When doing this by eye, we’re trying to fit a line that’s “balanced”</a:t>
            </a:r>
          </a:p>
          <a:p>
            <a:pPr lvl="1"/>
            <a:r>
              <a:rPr lang="en-GB" dirty="0"/>
              <a:t>As many points above as below the line</a:t>
            </a:r>
          </a:p>
          <a:p>
            <a:r>
              <a:rPr lang="en-GB" dirty="0"/>
              <a:t>The difference between the line and each point is called the </a:t>
            </a:r>
            <a:r>
              <a:rPr lang="en-GB" i="1" dirty="0"/>
              <a:t>residual error</a:t>
            </a:r>
            <a:endParaRPr lang="en-GB" dirty="0"/>
          </a:p>
          <a:p>
            <a:pPr lvl="1"/>
            <a:r>
              <a:rPr lang="en-GB" dirty="0"/>
              <a:t>Residual = “remaining” or “left behind”</a:t>
            </a:r>
          </a:p>
        </p:txBody>
      </p:sp>
      <p:pic>
        <p:nvPicPr>
          <p:cNvPr id="6" name="Picture Placeholder 5" descr="A graph with a red line and white dots&#10;&#10;Description automatically generated">
            <a:extLst>
              <a:ext uri="{FF2B5EF4-FFF2-40B4-BE49-F238E27FC236}">
                <a16:creationId xmlns:a16="http://schemas.microsoft.com/office/drawing/2014/main" id="{2D7EF57A-6023-186F-764B-1F7DAF1FF20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791614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B1A103-72C8-2297-38EB-41234BA6E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Model fitting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CF5120-F5FB-0DF2-FF77-4088484353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We did this line ourselves but we’re subjective</a:t>
            </a:r>
          </a:p>
          <a:p>
            <a:r>
              <a:rPr lang="en-GB" dirty="0"/>
              <a:t>And we don’t want to gather a thousand people to vote every time we want to fit a model</a:t>
            </a:r>
          </a:p>
          <a:p>
            <a:r>
              <a:rPr lang="en-GB" dirty="0"/>
              <a:t>And we want to consider more than 6 different combinations for each parameter</a:t>
            </a:r>
          </a:p>
          <a:p>
            <a:r>
              <a:rPr lang="en-GB" dirty="0"/>
              <a:t>How do we do that?</a:t>
            </a:r>
          </a:p>
        </p:txBody>
      </p:sp>
      <p:pic>
        <p:nvPicPr>
          <p:cNvPr id="6" name="Picture Placeholder 5" descr="A graph with a red line and white dots&#10;&#10;Description automatically generated">
            <a:extLst>
              <a:ext uri="{FF2B5EF4-FFF2-40B4-BE49-F238E27FC236}">
                <a16:creationId xmlns:a16="http://schemas.microsoft.com/office/drawing/2014/main" id="{2D7EF57A-6023-186F-764B-1F7DAF1FF20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412304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B50B0D-3F0C-33D4-500E-9AD1332931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Residual error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55069B-4931-5234-28CB-C023D37979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We can use residual error as a metric for evaluating each parameter combination</a:t>
            </a:r>
          </a:p>
          <a:p>
            <a:r>
              <a:rPr lang="en-GB" dirty="0"/>
              <a:t>For each parameter combination the model tries, there is residual error for each observation</a:t>
            </a:r>
          </a:p>
          <a:p>
            <a:r>
              <a:rPr lang="en-GB" dirty="0"/>
              <a:t>How would you use these residuals to figure out which parameters work best?</a:t>
            </a:r>
          </a:p>
        </p:txBody>
      </p:sp>
      <p:pic>
        <p:nvPicPr>
          <p:cNvPr id="6" name="Picture Placeholder 5" descr="A graph of a graph with lines and dots&#10;&#10;Description automatically generated">
            <a:extLst>
              <a:ext uri="{FF2B5EF4-FFF2-40B4-BE49-F238E27FC236}">
                <a16:creationId xmlns:a16="http://schemas.microsoft.com/office/drawing/2014/main" id="{CD6AEB72-E346-7535-C057-5F8EEA9C68E9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" t="-8268" r="466" b="-8558"/>
          <a:stretch/>
        </p:blipFill>
        <p:spPr>
          <a:xfrm>
            <a:off x="6359525" y="0"/>
            <a:ext cx="5832475" cy="6858000"/>
          </a:xfrm>
        </p:spPr>
      </p:pic>
    </p:spTree>
    <p:extLst>
      <p:ext uri="{BB962C8B-B14F-4D97-AF65-F5344CB8AC3E}">
        <p14:creationId xmlns:p14="http://schemas.microsoft.com/office/powerpoint/2010/main" val="128396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7B6A1-35A2-EA7D-0AD9-C3E320E94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MaCHiNe</a:t>
            </a:r>
            <a:r>
              <a:rPr lang="en-GB" dirty="0"/>
              <a:t> </a:t>
            </a:r>
            <a:r>
              <a:rPr lang="en-GB" dirty="0" err="1"/>
              <a:t>LEarNiNg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07899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D8A1FA-5737-B5F9-815A-3A556ECB32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pPr algn="ctr"/>
            <a:r>
              <a:rPr lang="en-GB" dirty="0"/>
              <a:t>Using residuals we can find the parameter combination that gives best fit</a:t>
            </a:r>
          </a:p>
        </p:txBody>
      </p:sp>
      <p:pic>
        <p:nvPicPr>
          <p:cNvPr id="3" name="Picture Placeholder 5" descr="A graph of a graph with lines and dots&#10;&#10;Description automatically generated">
            <a:extLst>
              <a:ext uri="{FF2B5EF4-FFF2-40B4-BE49-F238E27FC236}">
                <a16:creationId xmlns:a16="http://schemas.microsoft.com/office/drawing/2014/main" id="{FE80A6FA-5985-6FE5-9168-C27777F0001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" t="-8268" r="466" b="-8558"/>
          <a:stretch/>
        </p:blipFill>
        <p:spPr>
          <a:xfrm>
            <a:off x="838200" y="2143124"/>
            <a:ext cx="4074632" cy="4791075"/>
          </a:xfrm>
          <a:prstGeom prst="rect">
            <a:avLst/>
          </a:prstGeom>
        </p:spPr>
      </p:pic>
      <p:pic>
        <p:nvPicPr>
          <p:cNvPr id="4" name="Picture Placeholder 5" descr="A graph with a line&#10;&#10;Description automatically generated">
            <a:extLst>
              <a:ext uri="{FF2B5EF4-FFF2-40B4-BE49-F238E27FC236}">
                <a16:creationId xmlns:a16="http://schemas.microsoft.com/office/drawing/2014/main" id="{7A3E6159-DF52-AC1C-06CF-6D08B93D03F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9" t="-8972" r="-190" b="-8483"/>
          <a:stretch/>
        </p:blipFill>
        <p:spPr>
          <a:xfrm>
            <a:off x="6359525" y="1876424"/>
            <a:ext cx="4236645" cy="498157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1CCCDF4-7C2C-C267-8D24-7F164BC05157}"/>
              </a:ext>
            </a:extLst>
          </p:cNvPr>
          <p:cNvSpPr/>
          <p:nvPr/>
        </p:nvSpPr>
        <p:spPr>
          <a:xfrm>
            <a:off x="5857875" y="1714500"/>
            <a:ext cx="5581650" cy="51434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4594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40908-F271-D9D2-C6A6-9C32BE5CE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Artificial intelligence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0BA7F3-B1F0-6F0C-8BDD-1BF9B277D1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For each parameter combination</a:t>
            </a:r>
          </a:p>
          <a:p>
            <a:r>
              <a:rPr lang="en-GB" dirty="0"/>
              <a:t>We get a likelihood value</a:t>
            </a:r>
          </a:p>
          <a:p>
            <a:r>
              <a:rPr lang="en-GB" dirty="0"/>
              <a:t>Likelihood expresses how “likely” parameters match the observed data</a:t>
            </a:r>
          </a:p>
          <a:p>
            <a:r>
              <a:rPr lang="en-GB" dirty="0"/>
              <a:t>We want to likelihood to be as high as possible</a:t>
            </a:r>
          </a:p>
          <a:p>
            <a:r>
              <a:rPr lang="en-GB" i="1" dirty="0"/>
              <a:t>Maximum Likelihood Estimate </a:t>
            </a:r>
            <a:r>
              <a:rPr lang="en-GB" dirty="0"/>
              <a:t>(MLE)</a:t>
            </a:r>
          </a:p>
          <a:p>
            <a:r>
              <a:rPr lang="en-GB" sz="2000" dirty="0"/>
              <a:t>But in practice, it is computationally easier to minimise</a:t>
            </a:r>
          </a:p>
        </p:txBody>
      </p:sp>
      <p:pic>
        <p:nvPicPr>
          <p:cNvPr id="6" name="Picture Placeholder 5" descr="A graph with a line&#10;&#10;Description automatically generated">
            <a:extLst>
              <a:ext uri="{FF2B5EF4-FFF2-40B4-BE49-F238E27FC236}">
                <a16:creationId xmlns:a16="http://schemas.microsoft.com/office/drawing/2014/main" id="{603FCCAB-D6AB-946D-C461-13BA0137884A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77" r="7477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747416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ECED1-F288-8275-0BF9-A1A3CCCC25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433B9-F2F0-8A83-EC10-0B4CBB1835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All the computer must do is: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Try a couple of different parameter values for each parameter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Figure out which combination get the Likelihood as small as possible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Report to the user (us) what the best parameter combination was</a:t>
            </a:r>
          </a:p>
        </p:txBody>
      </p:sp>
      <p:pic>
        <p:nvPicPr>
          <p:cNvPr id="8" name="Picture Placeholder 7" descr="A screen shot of a graph&#10;&#10;Description automatically generated">
            <a:extLst>
              <a:ext uri="{FF2B5EF4-FFF2-40B4-BE49-F238E27FC236}">
                <a16:creationId xmlns:a16="http://schemas.microsoft.com/office/drawing/2014/main" id="{09E2B412-206A-456A-C8D2-528BB2CC40C4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/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7C95F415-F95A-7A51-5D59-D9E242C63860}"/>
              </a:ext>
            </a:extLst>
          </p:cNvPr>
          <p:cNvGrpSpPr/>
          <p:nvPr/>
        </p:nvGrpSpPr>
        <p:grpSpPr>
          <a:xfrm>
            <a:off x="8736828" y="295711"/>
            <a:ext cx="2865917" cy="715089"/>
            <a:chOff x="7234281" y="4657725"/>
            <a:chExt cx="2865917" cy="715089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5D6CCA1-E76E-1FC1-480E-B15DD35DE68E}"/>
                </a:ext>
              </a:extLst>
            </p:cNvPr>
            <p:cNvSpPr txBox="1"/>
            <p:nvPr/>
          </p:nvSpPr>
          <p:spPr>
            <a:xfrm>
              <a:off x="7234281" y="4657725"/>
              <a:ext cx="2505262" cy="715089"/>
            </a:xfrm>
            <a:prstGeom prst="round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/>
                <a:t>The worst parameter </a:t>
              </a:r>
              <a:br>
                <a:rPr lang="en-GB" dirty="0"/>
              </a:br>
              <a:r>
                <a:rPr lang="en-GB" dirty="0"/>
                <a:t>values (of those tried)</a:t>
              </a: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1FAEFC0F-8E1F-7266-015A-D15542768A7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39543" y="4657725"/>
              <a:ext cx="360655" cy="35754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3E4D753-556B-034F-26FF-6FFEB67E426A}"/>
              </a:ext>
            </a:extLst>
          </p:cNvPr>
          <p:cNvGrpSpPr/>
          <p:nvPr/>
        </p:nvGrpSpPr>
        <p:grpSpPr>
          <a:xfrm>
            <a:off x="7212965" y="4648200"/>
            <a:ext cx="2757444" cy="715089"/>
            <a:chOff x="7234281" y="4657725"/>
            <a:chExt cx="2757444" cy="715089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9CF2FEC-EE85-8916-F09B-357866D3663E}"/>
                </a:ext>
              </a:extLst>
            </p:cNvPr>
            <p:cNvSpPr txBox="1"/>
            <p:nvPr/>
          </p:nvSpPr>
          <p:spPr>
            <a:xfrm>
              <a:off x="7234281" y="4657725"/>
              <a:ext cx="2505262" cy="715089"/>
            </a:xfrm>
            <a:prstGeom prst="round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/>
                <a:t>The best parameter </a:t>
              </a:r>
              <a:br>
                <a:rPr lang="en-GB" dirty="0"/>
              </a:br>
              <a:r>
                <a:rPr lang="en-GB" dirty="0"/>
                <a:t>values (of those tried)</a:t>
              </a: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E2AD2972-5FB6-07B0-48E1-5C3149C7E213}"/>
                </a:ext>
              </a:extLst>
            </p:cNvPr>
            <p:cNvCxnSpPr>
              <a:cxnSpLocks/>
            </p:cNvCxnSpPr>
            <p:nvPr/>
          </p:nvCxnSpPr>
          <p:spPr>
            <a:xfrm>
              <a:off x="9739543" y="5015269"/>
              <a:ext cx="252182" cy="22348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800008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DC2D5-3F28-8F83-8A95-293E67E6E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do we learn biologically?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90A7671-B076-899B-A083-E3694A67E9A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Of the (very) crude approach we took to figure out which parameter values work best with the data, we learn: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=40</m:t>
                    </m:r>
                  </m:oMath>
                </a14:m>
                <a:endParaRPr lang="en-GB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=−3.5</m:t>
                    </m:r>
                  </m:oMath>
                </a14:m>
                <a:endParaRPr lang="en-GB" dirty="0"/>
              </a:p>
              <a:p>
                <a:r>
                  <a:rPr lang="en-GB" dirty="0"/>
                  <a:t>What do these numbers mean?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90A7671-B076-899B-A083-E3694A67E9A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Placeholder 5" descr="A person holding a small owl&#10;&#10;Description automatically generated">
            <a:extLst>
              <a:ext uri="{FF2B5EF4-FFF2-40B4-BE49-F238E27FC236}">
                <a16:creationId xmlns:a16="http://schemas.microsoft.com/office/drawing/2014/main" id="{5ECE84DA-7CDC-5F02-74CC-2FFED941C4FB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798" b="10798"/>
          <a:stretch>
            <a:fillRect/>
          </a:stretch>
        </p:blipFill>
        <p:spPr>
          <a:xfrm>
            <a:off x="6359525" y="0"/>
            <a:ext cx="58324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726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9DC50-FA71-1C24-466B-A9CCBA7EF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do we learn biologically?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7DD85E9-5CC1-0787-1F41-E9FEE5F819A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𝑁𝑜𝑟𝑚𝑎𝑙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GB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If there are no pine marten (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dirty="0"/>
                  <a:t>), then: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i="1" dirty="0"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GB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+0</m:t>
                      </m:r>
                    </m:oMath>
                  </m:oMathPara>
                </a14:m>
                <a:endParaRPr lang="en-GB" i="1" dirty="0"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GB" dirty="0"/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GB" dirty="0"/>
                  <a:t> is the intercept, when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GB" dirty="0"/>
              </a:p>
              <a:p>
                <a:r>
                  <a:rPr lang="en-GB" dirty="0"/>
                  <a:t>Our model suggests that when there are no pine marten, we would expect 40 tawny owls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7DD85E9-5CC1-0787-1F41-E9FEE5F819A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70" t="-1977" r="-1377" b="-279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Placeholder 5" descr="A person holding a small owl&#10;&#10;Description automatically generated">
            <a:extLst>
              <a:ext uri="{FF2B5EF4-FFF2-40B4-BE49-F238E27FC236}">
                <a16:creationId xmlns:a16="http://schemas.microsoft.com/office/drawing/2014/main" id="{01CFED87-0BE7-5A3D-2DE6-6531231A5F62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798" b="10798"/>
          <a:stretch>
            <a:fillRect/>
          </a:stretch>
        </p:blipFill>
        <p:spPr>
          <a:xfrm>
            <a:off x="6359525" y="0"/>
            <a:ext cx="58324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2725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9DC50-FA71-1C24-466B-A9CCBA7EF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do we learn biologically?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7DD85E9-5CC1-0787-1F41-E9FEE5F819A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𝑁𝑜𝑟𝑚𝑎𝑙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GB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=40+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dirty="0"/>
                  <a:t> was estimated as -3.5</a:t>
                </a:r>
              </a:p>
              <a:p>
                <a:r>
                  <a:rPr lang="en-GB" dirty="0"/>
                  <a:t>If there are 2 pine marten (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GB" dirty="0"/>
                  <a:t>), then: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40−3.5×2=33</m:t>
                    </m:r>
                  </m:oMath>
                </a14:m>
                <a:r>
                  <a:rPr lang="en-GB" dirty="0"/>
                  <a:t> tawny owls</a:t>
                </a:r>
              </a:p>
              <a:p>
                <a:r>
                  <a:rPr lang="en-GB" dirty="0"/>
                  <a:t>For every additional pine marten at a site, we lose 3.5 tawny owls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dirty="0"/>
                  <a:t> is the </a:t>
                </a:r>
                <a:r>
                  <a:rPr lang="en-GB" i="1" dirty="0"/>
                  <a:t>effect</a:t>
                </a:r>
                <a:r>
                  <a:rPr lang="en-GB" dirty="0"/>
                  <a:t> of pine martens on tawny owls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7DD85E9-5CC1-0787-1F41-E9FEE5F819A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70" r="-9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Placeholder 5" descr="A person holding a small owl&#10;&#10;Description automatically generated">
            <a:extLst>
              <a:ext uri="{FF2B5EF4-FFF2-40B4-BE49-F238E27FC236}">
                <a16:creationId xmlns:a16="http://schemas.microsoft.com/office/drawing/2014/main" id="{01CFED87-0BE7-5A3D-2DE6-6531231A5F62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798" b="10798"/>
          <a:stretch>
            <a:fillRect/>
          </a:stretch>
        </p:blipFill>
        <p:spPr>
          <a:xfrm>
            <a:off x="6359525" y="0"/>
            <a:ext cx="58324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9475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9DC50-FA71-1C24-466B-A9CCBA7EF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do we learn biologically?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7DD85E9-5CC1-0787-1F41-E9FEE5F819A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∼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𝑁𝑜𝑟𝑚𝑎𝑙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endParaRPr lang="en-GB" b="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=40−3.5×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GB" dirty="0"/>
              </a:p>
              <a:p>
                <a:r>
                  <a:rPr lang="en-GB" dirty="0"/>
                  <a:t>How many owls would we expect if pine marten density reaches 10 pine marten per 10 km</a:t>
                </a:r>
                <a:r>
                  <a:rPr lang="en-GB" baseline="30000" dirty="0"/>
                  <a:t>2</a:t>
                </a:r>
                <a:r>
                  <a:rPr lang="en-GB" dirty="0"/>
                  <a:t>?</a:t>
                </a:r>
              </a:p>
              <a:p>
                <a:pPr lvl="1"/>
                <a:r>
                  <a:rPr lang="en-GB" dirty="0"/>
                  <a:t>5 tawny owls</a:t>
                </a:r>
              </a:p>
              <a:p>
                <a:r>
                  <a:rPr lang="en-GB" dirty="0"/>
                  <a:t>How would we show the relationship as a whole?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7DD85E9-5CC1-0787-1F41-E9FEE5F819A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70" r="-216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Placeholder 5" descr="A person holding a small owl&#10;&#10;Description automatically generated">
            <a:extLst>
              <a:ext uri="{FF2B5EF4-FFF2-40B4-BE49-F238E27FC236}">
                <a16:creationId xmlns:a16="http://schemas.microsoft.com/office/drawing/2014/main" id="{01CFED87-0BE7-5A3D-2DE6-6531231A5F62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798" b="10798"/>
          <a:stretch>
            <a:fillRect/>
          </a:stretch>
        </p:blipFill>
        <p:spPr>
          <a:xfrm>
            <a:off x="6359525" y="0"/>
            <a:ext cx="5832475" cy="6858000"/>
          </a:xfrm>
          <a:prstGeom prst="rect">
            <a:avLst/>
          </a:prstGeom>
        </p:spPr>
      </p:pic>
      <p:pic>
        <p:nvPicPr>
          <p:cNvPr id="6" name="Picture 5" descr="A graph with lines in it&#10;&#10;Description automatically generated">
            <a:extLst>
              <a:ext uri="{FF2B5EF4-FFF2-40B4-BE49-F238E27FC236}">
                <a16:creationId xmlns:a16="http://schemas.microsoft.com/office/drawing/2014/main" id="{5875069C-6B92-4CD3-5CB5-C4D77369F9F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9525" y="662781"/>
            <a:ext cx="5847657" cy="5847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0140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257BF-315C-4A32-0704-0C6DE3E11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Answering our 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5184A3-1733-1DDA-EBD7-874A7C6AE2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Will pine martens returning cause the systems (with tawny owls) to collapse?</a:t>
            </a:r>
          </a:p>
          <a:p>
            <a:r>
              <a:rPr lang="en-GB" dirty="0"/>
              <a:t>Based on this model: “Yes”</a:t>
            </a:r>
          </a:p>
          <a:p>
            <a:r>
              <a:rPr lang="en-GB" dirty="0"/>
              <a:t>But any caveats?</a:t>
            </a:r>
          </a:p>
          <a:p>
            <a:pPr lvl="1"/>
            <a:r>
              <a:rPr lang="en-GB" dirty="0"/>
              <a:t>Do you really know if it’s pine marten </a:t>
            </a:r>
            <a:r>
              <a:rPr lang="en-GB" b="1" dirty="0">
                <a:solidFill>
                  <a:srgbClr val="FFFF00"/>
                </a:solidFill>
              </a:rPr>
              <a:t>causing</a:t>
            </a:r>
            <a:r>
              <a:rPr lang="en-GB" dirty="0"/>
              <a:t> this decline?</a:t>
            </a:r>
          </a:p>
          <a:p>
            <a:pPr lvl="1"/>
            <a:r>
              <a:rPr lang="en-GB" dirty="0"/>
              <a:t>Is the data suitable for answering the question?</a:t>
            </a:r>
          </a:p>
          <a:p>
            <a:pPr lvl="1"/>
            <a:r>
              <a:rPr lang="en-GB" dirty="0"/>
              <a:t>What hidden assumptions are there?</a:t>
            </a:r>
          </a:p>
          <a:p>
            <a:r>
              <a:rPr lang="en-GB" dirty="0"/>
              <a:t>Based on this model, being appropriately cautious: “Maybe”</a:t>
            </a:r>
          </a:p>
        </p:txBody>
      </p:sp>
      <p:pic>
        <p:nvPicPr>
          <p:cNvPr id="6" name="Picture Placeholder 5" descr="A graph on a black background&#10;&#10;Description automatically generated">
            <a:extLst>
              <a:ext uri="{FF2B5EF4-FFF2-40B4-BE49-F238E27FC236}">
                <a16:creationId xmlns:a16="http://schemas.microsoft.com/office/drawing/2014/main" id="{B8A3CFE3-52DB-B397-2BBB-7A87FFABFC4F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8019887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CB778-27FE-F11F-3899-530F9B253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 err="1"/>
              <a:t>tl;dr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42D8CE4-617E-577E-05F7-6375C1C2B25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0" y="1943099"/>
                <a:ext cx="10868025" cy="4723707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GB" dirty="0"/>
                  <a:t>We always start with a question</a:t>
                </a:r>
              </a:p>
              <a:p>
                <a:r>
                  <a:rPr lang="en-GB" dirty="0"/>
                  <a:t>Statistics is merely how we answer the question</a:t>
                </a:r>
                <a:endParaRPr lang="en-GB" sz="2400" dirty="0">
                  <a:cs typeface="Courier New" panose="02070309020205020404" pitchFamily="49" charset="0"/>
                </a:endParaRPr>
              </a:p>
              <a:p>
                <a:r>
                  <a:rPr lang="en-GB" dirty="0"/>
                  <a:t>Start by plotting your data – get a feel for what’s going on</a:t>
                </a:r>
              </a:p>
              <a:p>
                <a:r>
                  <a:rPr lang="en-GB" dirty="0"/>
                  <a:t>For linear models with continuous variables, we estimate an intercept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GB" dirty="0"/>
                  <a:t>) and a slope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dirty="0"/>
                  <a:t>)</a:t>
                </a:r>
              </a:p>
              <a:p>
                <a:r>
                  <a:rPr lang="en-GB" dirty="0"/>
                  <a:t>We use algorithms to estimate those values</a:t>
                </a:r>
              </a:p>
              <a:p>
                <a:r>
                  <a:rPr lang="en-GB" dirty="0"/>
                  <a:t>We can then interpret what those parameter values mean biologically</a:t>
                </a:r>
              </a:p>
              <a:p>
                <a:pPr lvl="1"/>
                <a:r>
                  <a:rPr lang="en-GB" dirty="0"/>
                  <a:t>Are they “big”? Should we be concerned? Happy?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42D8CE4-617E-577E-05F7-6375C1C2B2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943099"/>
                <a:ext cx="10868025" cy="4723707"/>
              </a:xfrm>
              <a:prstGeom prst="rect">
                <a:avLst/>
              </a:prstGeom>
              <a:blipFill>
                <a:blip r:embed="rId2"/>
                <a:stretch>
                  <a:fillRect l="-1010" t="-245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21499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sbs_templat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Bahnschrift Light">
      <a:majorFont>
        <a:latin typeface="Bahnschrift Light"/>
        <a:ea typeface=""/>
        <a:cs typeface=""/>
      </a:majorFont>
      <a:minorFont>
        <a:latin typeface="Bahnschrift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bs_slide_template.potx" id="{ECECA26D-C7D9-428D-8AE3-0DEBE87A348A}" vid="{A052F16A-C2E7-4086-BA7D-A0C2C9C1F83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sbs_template</Template>
  <TotalTime>701</TotalTime>
  <Words>1142</Words>
  <Application>Microsoft Office PowerPoint</Application>
  <PresentationFormat>Widescreen</PresentationFormat>
  <Paragraphs>139</Paragraphs>
  <Slides>27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Arial</vt:lpstr>
      <vt:lpstr>Bahnschrift Light</vt:lpstr>
      <vt:lpstr>Cambria Math</vt:lpstr>
      <vt:lpstr>Courier New</vt:lpstr>
      <vt:lpstr>sbs_template</vt:lpstr>
      <vt:lpstr>Linear modelling theory</vt:lpstr>
      <vt:lpstr>The question</vt:lpstr>
      <vt:lpstr>Predated predators</vt:lpstr>
      <vt:lpstr>Our response variable</vt:lpstr>
      <vt:lpstr>Our explanatory variable</vt:lpstr>
      <vt:lpstr>Question to model</vt:lpstr>
      <vt:lpstr>Get to know your data</vt:lpstr>
      <vt:lpstr>Pine marten time series</vt:lpstr>
      <vt:lpstr>Tawny owl time series</vt:lpstr>
      <vt:lpstr>Tawny versus pine</vt:lpstr>
      <vt:lpstr>What do we take away</vt:lpstr>
      <vt:lpstr>We need two pieces of information</vt:lpstr>
      <vt:lpstr>Which do you prefer?</vt:lpstr>
      <vt:lpstr>Which do you prefer?</vt:lpstr>
      <vt:lpstr>Line of best fit</vt:lpstr>
      <vt:lpstr>Model fitting</vt:lpstr>
      <vt:lpstr>Residual error</vt:lpstr>
      <vt:lpstr>MaCHiNe LEarNiNg</vt:lpstr>
      <vt:lpstr>Using residuals we can find the parameter combination that gives best fit</vt:lpstr>
      <vt:lpstr>Artificial intelligence</vt:lpstr>
      <vt:lpstr>MLE</vt:lpstr>
      <vt:lpstr>What do we learn biologically?</vt:lpstr>
      <vt:lpstr>What do we learn biologically?</vt:lpstr>
      <vt:lpstr>What do we learn biologically?</vt:lpstr>
      <vt:lpstr>What do we learn biologically?</vt:lpstr>
      <vt:lpstr>Answering our question</vt:lpstr>
      <vt:lpstr>tl;dr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Linear models</dc:title>
  <dc:creator>Roos, Deon</dc:creator>
  <cp:lastModifiedBy>Roos, Deon</cp:lastModifiedBy>
  <cp:revision>5</cp:revision>
  <dcterms:created xsi:type="dcterms:W3CDTF">2024-07-05T09:59:56Z</dcterms:created>
  <dcterms:modified xsi:type="dcterms:W3CDTF">2024-09-05T11:40:24Z</dcterms:modified>
</cp:coreProperties>
</file>