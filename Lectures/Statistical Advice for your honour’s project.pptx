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3CDB-CFEE-21E6-FE4B-34102D968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D595A-EC80-A134-E401-79B5D8CD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9FF6C-E2FC-9DB1-4617-14614BD1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7CC05-133E-A7B1-9662-AB8AF689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6909D-BF00-7F19-6DD8-013417FB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5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38BE-DB63-D956-FAC9-799E573D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2A446-E27F-3303-594B-04C80A4C6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3141-1733-BF5E-EF3C-9BFBD3F3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945E7-0A35-B970-3F6A-C808C55E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4BE66-857E-A0A1-8558-585C34DA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98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C0F5-9BF8-B324-FD76-144F48A4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46432-5AAE-38FD-7DF8-D18CEE7C1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B5672-5D1F-42FA-B61B-C260AD20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612F2-119E-BD20-B97E-5E0C0104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388-846F-D7E7-D92D-FEABC1DA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78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D64E-229B-7923-8D69-9CDBE20A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9D10-E8EC-476F-4757-9662F49DD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7368B-4082-B586-25A5-FBEB591D4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02EC2-5BA7-3EAE-D28A-9EE60241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0F55F-DFD8-F175-1D00-A2F668BC8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0B7E8-B790-9DE8-1B8E-BCD367C8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64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21C5-C202-7669-698A-6D3D5636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7D251-69F2-8A35-1498-53B89E2C3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6F79E-EC99-A7A2-1546-E85C943BD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41FD6-838B-526F-4BE0-D4716E3B8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761FD-BBA5-148F-E72B-8DD976ACE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B6483-B031-BE52-DF6B-964686B7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5E7DA-92E3-7C98-DF3B-13B5CD50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6E305-7F8B-3945-6C55-5B85707C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276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D5EB-A80C-937E-6127-DA7B3A2E7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74652-6294-D873-71F3-5C3E9643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28FCB-B67E-338B-CBF7-B545562D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426DE-D76C-85C8-C468-CC5F0D4E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91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DB97F3-EDF9-F482-ED92-BD02CE08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B4465-46B7-17CB-86AE-72614C54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8047C-E3A5-D805-E5E6-01474C17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83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AC51-51A2-2C9D-1642-8E474B75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A9AB8-7BC5-ABD7-28E3-4C675F4AD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D4CA5-9C97-8C42-4197-698076C8A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9038B-62B4-3BFF-8CBD-11BBC155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3CCE2-C816-313A-0D13-9AFBA81E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BA953-8720-B7FC-FDC0-841B73D4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31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8967-33DE-758E-7BAA-A2839EC5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F7338-FE9A-7B2E-0EEC-4203BE0B9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CC05F-1053-8EBE-075C-1E1C89CF9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4DDBC-1702-9566-A740-375DCDA3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5EDE0-FB74-46E4-08CC-DD92F9AF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D8D1-076A-9FC0-ADE0-2B51FDF3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77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DF94-C5A3-6A33-5776-8FDFD73B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E9EBD-110C-B1BB-14E7-DA43DD4F3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7C511-7C9A-F90C-68F7-E252AC74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7203-4E3E-4E93-84D8-1B6DFCE7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D2063-DF58-5873-76B3-E308A7D3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31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8075C-8509-1F97-C4B2-C7C3DF19D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4F459-E449-A5D3-8559-3D6500F42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AF851-3880-2171-E50A-A0E83204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EADE6-4C3B-D08F-32FD-62D82517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D8525-44E2-C4DF-E3C9-10F1AA61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795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AE398-B8E4-8544-E8DC-B38899C7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29E50-32D5-E136-52A2-4051AFF0C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512D5-1D84-766B-5B79-4108393D6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15-7D9B-4099-AB7F-6B96DDC2F47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578D-854A-FA7B-45FD-5547E2658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1C44-BCA2-06DA-39A3-7A187B8AA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0266F-7268-4EAB-99DA-0AC8A6658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02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52F1-CBC2-0B89-0A67-B5AFA95B3C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Statistical Advice for your honour’s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D2DCA-C531-03E4-71F0-FCEA02804A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8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ED859-AE0C-1121-7659-3514677A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BB616-D7C4-ED06-4D36-AD224590D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do not analyse anything in </a:t>
            </a:r>
            <a:r>
              <a:rPr lang="en-GB" dirty="0" err="1"/>
              <a:t>Rstudio</a:t>
            </a:r>
            <a:r>
              <a:rPr lang="en-GB" dirty="0"/>
              <a:t>, you do the analysis in R!</a:t>
            </a:r>
          </a:p>
          <a:p>
            <a:r>
              <a:rPr lang="en-GB" dirty="0"/>
              <a:t>An ANOVA is a special type of linear model. Just fit a linear model.</a:t>
            </a:r>
          </a:p>
          <a:p>
            <a:r>
              <a:rPr lang="en-GB" dirty="0"/>
              <a:t>A t-test is a weird type of linear model. Just fit a linear model.</a:t>
            </a:r>
          </a:p>
          <a:p>
            <a:r>
              <a:rPr lang="en-GB" dirty="0"/>
              <a:t>We’re not in </a:t>
            </a:r>
            <a:r>
              <a:rPr lang="en-GB"/>
              <a:t>the 1990s </a:t>
            </a:r>
            <a:r>
              <a:rPr lang="en-GB" dirty="0"/>
              <a:t>anymore.</a:t>
            </a:r>
          </a:p>
        </p:txBody>
      </p:sp>
    </p:spTree>
    <p:extLst>
      <p:ext uri="{BB962C8B-B14F-4D97-AF65-F5344CB8AC3E}">
        <p14:creationId xmlns:p14="http://schemas.microsoft.com/office/powerpoint/2010/main" val="134469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CBDD-5AAD-BDA8-31DC-F668DF1E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data Normal?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6FB04-A9F2-E3A3-01CA-03FC15A33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Do not test if your data is “Normally distributed”. </a:t>
            </a:r>
          </a:p>
          <a:p>
            <a:r>
              <a:rPr lang="en-GB" dirty="0"/>
              <a:t>Don’t use histograms to decide if your data is “Normally distributed”.</a:t>
            </a:r>
          </a:p>
          <a:p>
            <a:pPr lvl="1"/>
            <a:r>
              <a:rPr lang="en-GB" dirty="0"/>
              <a:t>Normally distributed data will quite often </a:t>
            </a:r>
            <a:r>
              <a:rPr lang="en-GB" i="1" dirty="0"/>
              <a:t>not</a:t>
            </a:r>
            <a:r>
              <a:rPr lang="en-GB" dirty="0"/>
              <a:t> have a bell shape!</a:t>
            </a:r>
          </a:p>
          <a:p>
            <a:pPr lvl="1"/>
            <a:r>
              <a:rPr lang="en-GB" dirty="0"/>
              <a:t>Only textbook examples have the “Normal” distribution.</a:t>
            </a:r>
          </a:p>
          <a:p>
            <a:r>
              <a:rPr lang="en-GB" dirty="0"/>
              <a:t>Even if your supervisor tells you to!!! They’re wrong!!!!!!</a:t>
            </a:r>
          </a:p>
          <a:p>
            <a:r>
              <a:rPr lang="en-GB" dirty="0"/>
              <a:t>Can your data only be positive? Then don’t use a Normal.</a:t>
            </a:r>
          </a:p>
          <a:p>
            <a:r>
              <a:rPr lang="en-GB" dirty="0"/>
              <a:t>Is your data integers? Then don’t use a Normal.</a:t>
            </a:r>
          </a:p>
          <a:p>
            <a:r>
              <a:rPr lang="en-GB" dirty="0"/>
              <a:t>Is your data bound (e.g. between 0 and 1, or 0% and 100%)? Then don’t use a Normal.</a:t>
            </a:r>
          </a:p>
          <a:p>
            <a:r>
              <a:rPr lang="en-GB" dirty="0"/>
              <a:t>Is your data continuous and you want to allow any value between negative and positive infinity? Then use a Normal!</a:t>
            </a:r>
          </a:p>
        </p:txBody>
      </p:sp>
    </p:spTree>
    <p:extLst>
      <p:ext uri="{BB962C8B-B14F-4D97-AF65-F5344CB8AC3E}">
        <p14:creationId xmlns:p14="http://schemas.microsoft.com/office/powerpoint/2010/main" val="322376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C648-0C99-655D-0D8B-3E32EC8C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Mixed effect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7F6861-4B4B-E1C5-1A06-C20A66E550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Some supervisors have their students use mixed effect models</a:t>
                </a:r>
              </a:p>
              <a:p>
                <a:r>
                  <a:rPr lang="en-GB" dirty="0"/>
                  <a:t>These are Linear Models or Generalised Linear Models that provide a different way to deal with categorical variables</a:t>
                </a:r>
              </a:p>
              <a:p>
                <a:r>
                  <a:rPr lang="en-GB" dirty="0"/>
                  <a:t>“Fixed effects” are variables like you use in LM and GLMs (like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“Random effects” are categorical variables dealt with in a special way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(0, 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As a very broad rule, you need </a:t>
                </a:r>
                <a:r>
                  <a:rPr lang="en-GB" i="1" dirty="0"/>
                  <a:t>AT LEAST </a:t>
                </a:r>
                <a:r>
                  <a:rPr lang="en-GB" dirty="0"/>
                  <a:t>6-10 levels in your categorical variable to include it as a random effect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7F6861-4B4B-E1C5-1A06-C20A66E550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081" r="-1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41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9B15-3777-122E-8736-92798D92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7155F-35D6-3BC0-762C-801F17099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I’d encourage you all to try and write the actual equations for your models</a:t>
            </a:r>
          </a:p>
          <a:p>
            <a:r>
              <a:rPr lang="en-GB" dirty="0"/>
              <a:t>Most supervisors won’t check if they are correct (so you won’t be marked down if wrong)</a:t>
            </a:r>
          </a:p>
          <a:p>
            <a:r>
              <a:rPr lang="en-GB" dirty="0"/>
              <a:t>But good for you to learn and actually understand what you are doing!!!</a:t>
            </a:r>
          </a:p>
        </p:txBody>
      </p:sp>
    </p:spTree>
    <p:extLst>
      <p:ext uri="{BB962C8B-B14F-4D97-AF65-F5344CB8AC3E}">
        <p14:creationId xmlns:p14="http://schemas.microsoft.com/office/powerpoint/2010/main" val="673037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BF00-5A24-7F23-7DAF-5C87F9DC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47411-940D-A4A4-5803-D477B2F4A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9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FBE7-A3DD-3810-F0B9-C8F2FC8E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008F1-480C-9483-17E0-D1B28423E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Don’t explain every single little coding choice you make when processing data</a:t>
            </a:r>
          </a:p>
          <a:p>
            <a:r>
              <a:rPr lang="en-GB" dirty="0"/>
              <a:t>Include your code as a supplementary material and everything is done</a:t>
            </a:r>
          </a:p>
          <a:p>
            <a:r>
              <a:rPr lang="en-GB" dirty="0"/>
              <a:t>Most (all?) supervisors won’t check, so you won’t be penalised if it’s wrong</a:t>
            </a:r>
          </a:p>
          <a:p>
            <a:pPr lvl="1"/>
            <a:r>
              <a:rPr lang="en-GB" dirty="0"/>
              <a:t>Multiple ways to process code, so there is no “correct” way</a:t>
            </a:r>
          </a:p>
        </p:txBody>
      </p:sp>
    </p:spTree>
    <p:extLst>
      <p:ext uri="{BB962C8B-B14F-4D97-AF65-F5344CB8AC3E}">
        <p14:creationId xmlns:p14="http://schemas.microsoft.com/office/powerpoint/2010/main" val="133991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419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Statistical Advice for your honour’s project</vt:lpstr>
      <vt:lpstr>PowerPoint Presentation</vt:lpstr>
      <vt:lpstr>Is my data Normal?</vt:lpstr>
      <vt:lpstr>Mixed effect models</vt:lpstr>
      <vt:lpstr>Equations</vt:lpstr>
      <vt:lpstr>Data</vt:lpstr>
      <vt:lpstr>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</cp:revision>
  <dcterms:created xsi:type="dcterms:W3CDTF">2025-11-16T14:25:59Z</dcterms:created>
  <dcterms:modified xsi:type="dcterms:W3CDTF">2025-11-16T21:35:57Z</dcterms:modified>
</cp:coreProperties>
</file>