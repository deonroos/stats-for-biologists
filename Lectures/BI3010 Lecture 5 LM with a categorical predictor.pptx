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257" r:id="rId2"/>
    <p:sldId id="321" r:id="rId3"/>
    <p:sldId id="322" r:id="rId4"/>
    <p:sldId id="258" r:id="rId5"/>
    <p:sldId id="259" r:id="rId6"/>
    <p:sldId id="260" r:id="rId7"/>
    <p:sldId id="261" r:id="rId8"/>
    <p:sldId id="280" r:id="rId9"/>
    <p:sldId id="324" r:id="rId10"/>
    <p:sldId id="279" r:id="rId11"/>
    <p:sldId id="318" r:id="rId12"/>
    <p:sldId id="319" r:id="rId13"/>
    <p:sldId id="325" r:id="rId14"/>
    <p:sldId id="326" r:id="rId15"/>
    <p:sldId id="281" r:id="rId16"/>
    <p:sldId id="323" r:id="rId17"/>
    <p:sldId id="287" r:id="rId18"/>
    <p:sldId id="288" r:id="rId19"/>
    <p:sldId id="336" r:id="rId20"/>
    <p:sldId id="327" r:id="rId21"/>
    <p:sldId id="329" r:id="rId22"/>
    <p:sldId id="331" r:id="rId23"/>
    <p:sldId id="333" r:id="rId24"/>
    <p:sldId id="334" r:id="rId25"/>
    <p:sldId id="335" r:id="rId26"/>
    <p:sldId id="332" r:id="rId27"/>
    <p:sldId id="320" r:id="rId28"/>
    <p:sldId id="330" r:id="rId29"/>
    <p:sldId id="302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0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2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306761-C467-451A-B631-B83A8FB7E2AD}" type="datetimeFigureOut">
              <a:rPr lang="en-GB" smtClean="0"/>
              <a:t>06/09/2024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DA05D5-BE59-48F1-821C-F6C56F891E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5272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DA05D5-BE59-48F1-821C-F6C56F891EAA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07787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DA05D5-BE59-48F1-821C-F6C56F891EAA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6685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EF085-90BA-6B79-A198-AE27F69DC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67" y="565410"/>
            <a:ext cx="6096000" cy="2863589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60FB6-F389-7EDD-D9DB-A406B89F3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567" y="3552161"/>
            <a:ext cx="6096000" cy="2607569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001CD27-4DF4-05EC-92B4-C7555C3D01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50677" y="0"/>
            <a:ext cx="5741324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5E048B3-2145-631D-3138-1DF0AD6D38F2}"/>
              </a:ext>
            </a:extLst>
          </p:cNvPr>
          <p:cNvCxnSpPr/>
          <p:nvPr/>
        </p:nvCxnSpPr>
        <p:spPr>
          <a:xfrm>
            <a:off x="1313411" y="3491345"/>
            <a:ext cx="37573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7081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30639-2CA7-2272-840E-F8F595AB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201295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59DF2-E981-9079-7762-2C88651F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6613"/>
            <a:ext cx="6201295" cy="524019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EC5A3C4-A2EA-7545-B99B-E8F489810F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59525" y="0"/>
            <a:ext cx="58324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0169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B9374-2DD6-FA11-BF6F-AE419E0A6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426614"/>
            <a:ext cx="5893724" cy="516220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A4DDC-5EE8-4D0D-208A-D5A4CC40A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1295" y="0"/>
            <a:ext cx="5990705" cy="5162204"/>
          </a:xfrm>
        </p:spPr>
        <p:txBody>
          <a:bodyPr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6FFCEF-D528-27F4-CF96-A8F674BCA08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2012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E6B47C7-8888-2E6B-0D7C-CF46BFD9A3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01295" y="5162204"/>
            <a:ext cx="5990705" cy="16957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4190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FFACB-206F-5777-5BAD-5BF8E9669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04015"/>
            <a:ext cx="10515600" cy="175398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8957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958E7-8733-1588-CE76-0710036CC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43C91-73BF-C49E-46BA-834638FC0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DC1F7-08BE-633D-0E8D-18F30CEE5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4D961F-706F-451E-ABF3-F672C1F454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36AEAE-47C4-6C9C-5B4C-F6E31977E8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72731F-9715-FADD-FEBD-65D90CABA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9FA64-2165-4ED8-BB13-AC16E72ED8FC}" type="datetimeFigureOut">
              <a:rPr lang="en-GB" smtClean="0"/>
              <a:t>06/09/2024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E7A07B-AF32-2EA1-F513-0D1F38BAB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B01B04-63C5-991E-FD0F-2ED9257DC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7EDE6-6D2F-458D-BBD0-56182CA817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4436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3767-1669-64A9-2C16-1A1F6165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1F01AD-E823-7B4D-D421-EF7BE290C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9FA64-2165-4ED8-BB13-AC16E72ED8FC}" type="datetimeFigureOut">
              <a:rPr lang="en-GB" smtClean="0"/>
              <a:t>06/09/2024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13AC7F-2C26-3190-A705-5FC5DD18B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F203F-F57C-7145-B743-4A084B3A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7EDE6-6D2F-458D-BBD0-56182CA817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8308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02D19-147D-AD60-6ACC-2F7283CEE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9FA64-2165-4ED8-BB13-AC16E72ED8FC}" type="datetimeFigureOut">
              <a:rPr lang="en-GB" smtClean="0"/>
              <a:t>06/09/2024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CF569D-7098-9B6D-B851-1B18E6DB6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8D08F-69F0-C410-CAC9-DF16A0BF9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7EDE6-6D2F-458D-BBD0-56182CA817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4300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C2567-4A48-3F47-EF88-E32A67EDD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90797-1FEC-B310-9CA0-6642F4FE7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DC1EB-E335-7190-8BFD-48E25C309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54E58-0B6A-491E-7CE0-88114C141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9FA64-2165-4ED8-BB13-AC16E72ED8FC}" type="datetimeFigureOut">
              <a:rPr lang="en-GB" smtClean="0"/>
              <a:t>06/09/2024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98572-7396-BEBC-0D56-24BE2A95E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279F2-BB85-6763-45F1-D73C041B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7EDE6-6D2F-458D-BBD0-56182CA817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5220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83E09-8249-AC15-7FC0-A0BAD598E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C329DF-266D-F8F8-A195-53A7576BB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FA6F2-3F6B-26F9-74E6-E4E35007E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4BCDB-42E3-AB80-31A3-907D1B597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9FA64-2165-4ED8-BB13-AC16E72ED8FC}" type="datetimeFigureOut">
              <a:rPr lang="en-GB" smtClean="0"/>
              <a:t>06/09/2024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EC699-83D3-6581-966B-8882D215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50ABE-17BA-CEDA-390B-2BA6E004B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7EDE6-6D2F-458D-BBD0-56182CA817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4008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1BF0F-4D20-22A7-227D-78B4DDCA7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10818-F611-B1A2-8A19-C3130A329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43987-925F-B621-E68B-A3BED9350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9FA64-2165-4ED8-BB13-AC16E72ED8FC}" type="datetimeFigureOut">
              <a:rPr lang="en-GB" smtClean="0"/>
              <a:t>06/09/2024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2031D-ADF7-744B-5905-8C84ADA49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D02BB-73AF-8339-0B3A-B736F5E38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7EDE6-6D2F-458D-BBD0-56182CA817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3411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A4840D-0D28-B8EB-88E1-65CDAE331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A8637-D9F6-1719-1804-4B3705C90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50F13-C53E-CA05-E313-C1579E84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9FA64-2165-4ED8-BB13-AC16E72ED8FC}" type="datetimeFigureOut">
              <a:rPr lang="en-GB" smtClean="0"/>
              <a:t>06/09/2024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09B7E-626E-8018-4CBE-414FB0F1D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D0C27-06BF-1AD4-3587-FD26F1D7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7EDE6-6D2F-458D-BBD0-56182CA817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43585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84ED-9E58-9305-CB3A-4F4B158F3C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1580E1-1396-1801-4D68-CDA90894AC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F27A1-86DF-0C01-07B6-A24FBD47A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9FA64-2165-4ED8-BB13-AC16E72ED8FC}" type="datetimeFigureOut">
              <a:rPr lang="en-GB" smtClean="0"/>
              <a:t>06/09/2024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D5DEA-D49C-A08F-7EC5-1C1A09D05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1ED67-E660-B6E8-2CD2-AEA6ECF4C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7EDE6-6D2F-458D-BBD0-56182CA817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21473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66AAF-4858-49E9-B86B-FBFED3DD34F6}" type="datetimeFigureOut">
              <a:rPr lang="en-GB" smtClean="0"/>
              <a:t>06/09/2024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FD51F-43B6-4DFB-8451-ED4C954B70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9300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46E56-8908-0E6A-4E62-88CF6D359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1896B-C040-3D2C-A619-0B877E338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1AC1E-960F-82DB-0E5A-2F328EAC2C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E9FA64-2165-4ED8-BB13-AC16E72ED8FC}" type="datetimeFigureOut">
              <a:rPr lang="en-GB" smtClean="0"/>
              <a:t>06/09/2024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FF5B2-21B1-9528-920D-DD4BF8C0B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16DDC-4E03-310B-1091-75EB5EDC3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37EDE6-6D2F-458D-BBD0-56182CA817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25010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gi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0.png"/><Relationship Id="rId10" Type="http://schemas.openxmlformats.org/officeDocument/2006/relationships/image" Target="../media/image23.png"/><Relationship Id="rId4" Type="http://schemas.openxmlformats.org/officeDocument/2006/relationships/image" Target="../media/image170.png"/><Relationship Id="rId9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gif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gi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CD2FE-D408-02B0-484B-B0AFD9D3A7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Linear modelling theory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314DCB-1384-C7ED-C3DC-6865FE5310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With categorical explanatory variables</a:t>
            </a:r>
          </a:p>
        </p:txBody>
      </p:sp>
    </p:spTree>
    <p:extLst>
      <p:ext uri="{BB962C8B-B14F-4D97-AF65-F5344CB8AC3E}">
        <p14:creationId xmlns:p14="http://schemas.microsoft.com/office/powerpoint/2010/main" val="1378312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2D8A1FA-5737-B5F9-815A-3A556ECB320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0" y="0"/>
                <a:ext cx="12192000" cy="1325563"/>
              </a:xfrm>
            </p:spPr>
            <p:txBody>
              <a:bodyPr/>
              <a:lstStyle/>
              <a:p>
                <a:pPr algn="ctr"/>
                <a:r>
                  <a:rPr lang="en-GB" dirty="0"/>
                  <a:t>Last week we used straight lines</a:t>
                </a:r>
                <a:br>
                  <a:rPr lang="en-GB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2D8A1FA-5737-B5F9-815A-3A556ECB32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0"/>
                <a:ext cx="12192000" cy="1325563"/>
              </a:xfrm>
              <a:blipFill>
                <a:blip r:embed="rId2"/>
                <a:stretch>
                  <a:fillRect t="-1336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Placeholder 5" descr="A graph of a graph with lines and dots&#10;&#10;Description automatically generated">
            <a:extLst>
              <a:ext uri="{FF2B5EF4-FFF2-40B4-BE49-F238E27FC236}">
                <a16:creationId xmlns:a16="http://schemas.microsoft.com/office/drawing/2014/main" id="{FE80A6FA-5985-6FE5-9168-C27777F0001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" t="-8268" r="466" b="-8558"/>
          <a:stretch/>
        </p:blipFill>
        <p:spPr>
          <a:xfrm>
            <a:off x="574675" y="1325563"/>
            <a:ext cx="4994276" cy="5872420"/>
          </a:xfrm>
          <a:prstGeom prst="rect">
            <a:avLst/>
          </a:prstGeom>
        </p:spPr>
      </p:pic>
      <p:pic>
        <p:nvPicPr>
          <p:cNvPr id="4" name="Picture Placeholder 5" descr="A graph with a line&#10;&#10;Description automatically generated">
            <a:extLst>
              <a:ext uri="{FF2B5EF4-FFF2-40B4-BE49-F238E27FC236}">
                <a16:creationId xmlns:a16="http://schemas.microsoft.com/office/drawing/2014/main" id="{7A3E6159-DF52-AC1C-06CF-6D08B93D03F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" t="-8972" r="-190" b="-8483"/>
          <a:stretch/>
        </p:blipFill>
        <p:spPr>
          <a:xfrm>
            <a:off x="6096000" y="980569"/>
            <a:ext cx="5222875" cy="6141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467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02E1C-A8AC-521C-B842-30D73B73C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 straight line?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29BA1-895F-A969-3337-1E4062885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14311"/>
            <a:ext cx="6201295" cy="5052496"/>
          </a:xfrm>
        </p:spPr>
        <p:txBody>
          <a:bodyPr/>
          <a:lstStyle/>
          <a:p>
            <a:r>
              <a:rPr lang="en-GB" dirty="0"/>
              <a:t>What do we do if we don’t have a continuous variable?</a:t>
            </a:r>
          </a:p>
          <a:p>
            <a:r>
              <a:rPr lang="en-GB" dirty="0"/>
              <a:t>What if we have groups?</a:t>
            </a:r>
          </a:p>
          <a:p>
            <a:r>
              <a:rPr lang="en-GB" dirty="0"/>
              <a:t>Can we draw a line between Control and Treatment?</a:t>
            </a:r>
          </a:p>
          <a:p>
            <a:r>
              <a:rPr lang="en-GB" dirty="0"/>
              <a:t>Is there such a thing as “half a control” or “a third of a treatment”?</a:t>
            </a:r>
          </a:p>
          <a:p>
            <a:r>
              <a:rPr lang="en-GB" dirty="0"/>
              <a:t>Clearly not, but how do we deal with this?</a:t>
            </a:r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  <p:pic>
        <p:nvPicPr>
          <p:cNvPr id="6" name="Picture Placeholder 5" descr="A screen shot of a cell phone screen&#10;&#10;Description automatically generated">
            <a:extLst>
              <a:ext uri="{FF2B5EF4-FFF2-40B4-BE49-F238E27FC236}">
                <a16:creationId xmlns:a16="http://schemas.microsoft.com/office/drawing/2014/main" id="{28583A9D-7BED-80C8-8B04-C7FA93A99AC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07B3C0B-61CD-47E0-297A-62E7BFD30DDC}"/>
              </a:ext>
            </a:extLst>
          </p:cNvPr>
          <p:cNvCxnSpPr/>
          <p:nvPr/>
        </p:nvCxnSpPr>
        <p:spPr>
          <a:xfrm flipV="1">
            <a:off x="6829778" y="1761067"/>
            <a:ext cx="5260622" cy="29915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4987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951A6-7F4A-884C-A450-BB7AE86A9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question</a:t>
            </a:r>
          </a:p>
        </p:txBody>
      </p:sp>
    </p:spTree>
    <p:extLst>
      <p:ext uri="{BB962C8B-B14F-4D97-AF65-F5344CB8AC3E}">
        <p14:creationId xmlns:p14="http://schemas.microsoft.com/office/powerpoint/2010/main" val="3858565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1BB08-C428-8B0B-8C2A-960C0FCEC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Stone sheep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734FE-52C7-2CF0-B2D8-57B8513F1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Wild sheep from Canada</a:t>
            </a:r>
          </a:p>
          <a:p>
            <a:r>
              <a:rPr lang="en-GB" dirty="0"/>
              <a:t>Sexual selection for large horns</a:t>
            </a:r>
          </a:p>
          <a:p>
            <a:r>
              <a:rPr lang="en-GB" dirty="0"/>
              <a:t>Hunters target males with long horns</a:t>
            </a:r>
          </a:p>
          <a:p>
            <a:r>
              <a:rPr lang="en-GB" dirty="0"/>
              <a:t>Hunting *records* started in 1972</a:t>
            </a:r>
          </a:p>
          <a:p>
            <a:endParaRPr lang="en-GB" dirty="0"/>
          </a:p>
          <a:p>
            <a:r>
              <a:rPr lang="en-GB" dirty="0"/>
              <a:t>Does hunting males with large horns lead to selection pressure?</a:t>
            </a:r>
          </a:p>
        </p:txBody>
      </p:sp>
      <p:pic>
        <p:nvPicPr>
          <p:cNvPr id="13" name="Picture Placeholder 12" descr="A ram with horns on its head&#10;&#10;Description automatically generated">
            <a:extLst>
              <a:ext uri="{FF2B5EF4-FFF2-40B4-BE49-F238E27FC236}">
                <a16:creationId xmlns:a16="http://schemas.microsoft.com/office/drawing/2014/main" id="{1ED46EC2-D3E0-74B1-EFF6-D5B25A8DA06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" t="-34710" b="-32143"/>
          <a:stretch/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908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2F3BA-924D-749A-4144-BA031EE43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707EAE-1713-0F71-C42C-F260545726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All hunted sheep are inspected</a:t>
                </a:r>
              </a:p>
              <a:p>
                <a:r>
                  <a:rPr lang="en-GB" dirty="0"/>
                  <a:t>Various information collected</a:t>
                </a:r>
              </a:p>
              <a:p>
                <a:pPr lvl="1"/>
                <a:r>
                  <a:rPr lang="en-GB" dirty="0"/>
                  <a:t>Of most interest is horn length (mm)</a:t>
                </a:r>
              </a:p>
              <a:p>
                <a:pPr lvl="1"/>
                <a:r>
                  <a:rPr lang="en-GB" dirty="0"/>
                  <a:t>Horn length is our response</a:t>
                </a:r>
              </a:p>
              <a:p>
                <a:r>
                  <a:rPr lang="en-GB" dirty="0"/>
                  <a:t>Horn length is averaged by cohort, year and region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(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horn</a:t>
                </a:r>
                <a:r>
                  <a:rPr lang="en-GB" dirty="0"/>
                  <a:t>) represents the average horn length for a given year, in a given region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represents year and region</a:t>
                </a:r>
              </a:p>
              <a:p>
                <a:r>
                  <a:rPr lang="en-GB" dirty="0"/>
                  <a:t>Any issues?</a:t>
                </a:r>
              </a:p>
              <a:p>
                <a:pPr lvl="1"/>
                <a:r>
                  <a:rPr lang="en-GB" dirty="0"/>
                  <a:t>(Averaging values rarely a good idea)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707EAE-1713-0F71-C42C-F260545726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 r="-1770" b="-4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A1BBEDCB-6B55-9DC1-108E-AE1B6C35782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rcRect b="27856"/>
          <a:stretch/>
        </p:blipFill>
        <p:spPr>
          <a:xfrm>
            <a:off x="6521537" y="-1"/>
            <a:ext cx="5670463" cy="6858001"/>
          </a:xfrm>
        </p:spPr>
      </p:pic>
    </p:spTree>
    <p:extLst>
      <p:ext uri="{BB962C8B-B14F-4D97-AF65-F5344CB8AC3E}">
        <p14:creationId xmlns:p14="http://schemas.microsoft.com/office/powerpoint/2010/main" val="68093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2F3BA-924D-749A-4144-BA031EE43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explanatory 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07EAE-1713-0F71-C42C-F26054572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Hunting pressure ideally measured as number hunted given total population size</a:t>
            </a:r>
          </a:p>
          <a:p>
            <a:pPr lvl="1"/>
            <a:r>
              <a:rPr lang="en-GB" dirty="0"/>
              <a:t>But population size is insanely difficult to estimate</a:t>
            </a:r>
          </a:p>
          <a:p>
            <a:r>
              <a:rPr lang="en-GB" dirty="0"/>
              <a:t>Instead, we can use region as a simplified version of hunting pressure</a:t>
            </a:r>
          </a:p>
          <a:p>
            <a:pPr lvl="1"/>
            <a:r>
              <a:rPr lang="en-GB" dirty="0"/>
              <a:t>Skeena region has </a:t>
            </a:r>
            <a:r>
              <a:rPr lang="en-GB" b="1" dirty="0">
                <a:solidFill>
                  <a:srgbClr val="FFFF00"/>
                </a:solidFill>
              </a:rPr>
              <a:t>low</a:t>
            </a:r>
            <a:r>
              <a:rPr lang="en-GB" dirty="0"/>
              <a:t> hunting pressure</a:t>
            </a:r>
          </a:p>
          <a:p>
            <a:pPr lvl="1"/>
            <a:r>
              <a:rPr lang="en-GB" dirty="0"/>
              <a:t>Peace has </a:t>
            </a:r>
            <a:r>
              <a:rPr lang="en-GB" b="1" dirty="0">
                <a:solidFill>
                  <a:srgbClr val="FFFF00"/>
                </a:solidFill>
              </a:rPr>
              <a:t>high</a:t>
            </a:r>
            <a:r>
              <a:rPr lang="en-GB" dirty="0"/>
              <a:t> hunting pressure</a:t>
            </a:r>
          </a:p>
        </p:txBody>
      </p:sp>
      <p:pic>
        <p:nvPicPr>
          <p:cNvPr id="7" name="Picture Placeholder 7">
            <a:extLst>
              <a:ext uri="{FF2B5EF4-FFF2-40B4-BE49-F238E27FC236}">
                <a16:creationId xmlns:a16="http://schemas.microsoft.com/office/drawing/2014/main" id="{62C6E2CD-E2D8-FC8E-9F8D-60E963FCA7A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2055" b="2055"/>
          <a:stretch/>
        </p:blipFill>
        <p:spPr>
          <a:xfrm>
            <a:off x="6359525" y="0"/>
            <a:ext cx="5832475" cy="6858000"/>
          </a:xfrm>
        </p:spPr>
      </p:pic>
    </p:spTree>
    <p:extLst>
      <p:ext uri="{BB962C8B-B14F-4D97-AF65-F5344CB8AC3E}">
        <p14:creationId xmlns:p14="http://schemas.microsoft.com/office/powerpoint/2010/main" val="4241134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7BC54-9A7C-9FB4-FC45-F2B8FD1C6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Get to know your data</a:t>
            </a:r>
          </a:p>
        </p:txBody>
      </p:sp>
    </p:spTree>
    <p:extLst>
      <p:ext uri="{BB962C8B-B14F-4D97-AF65-F5344CB8AC3E}">
        <p14:creationId xmlns:p14="http://schemas.microsoft.com/office/powerpoint/2010/main" val="36559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E59F6-D0D9-FAFB-A57C-80F8CABA5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visualisation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C02F7-9C78-86F3-1FF9-526445D31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Any noticeable trend in cohorts?</a:t>
            </a:r>
          </a:p>
          <a:p>
            <a:r>
              <a:rPr lang="en-GB" dirty="0"/>
              <a:t>Any noticeable trend in region?</a:t>
            </a:r>
          </a:p>
          <a:p>
            <a:r>
              <a:rPr lang="en-GB" dirty="0"/>
              <a:t>Arguably, nothing obvious jumping out</a:t>
            </a:r>
          </a:p>
          <a:p>
            <a:r>
              <a:rPr lang="en-GB" dirty="0"/>
              <a:t>Should we stop here?</a:t>
            </a:r>
          </a:p>
        </p:txBody>
      </p:sp>
      <p:pic>
        <p:nvPicPr>
          <p:cNvPr id="6" name="Picture Placeholder 5" descr="A screen shot of a graph&#10;&#10;Description automatically generated">
            <a:extLst>
              <a:ext uri="{FF2B5EF4-FFF2-40B4-BE49-F238E27FC236}">
                <a16:creationId xmlns:a16="http://schemas.microsoft.com/office/drawing/2014/main" id="{504936CC-3B2F-642F-9F20-5DA123255B9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  <p:pic>
        <p:nvPicPr>
          <p:cNvPr id="8" name="Picture 7" descr="A screen shot of a graph&#10;&#10;Description automatically generated">
            <a:extLst>
              <a:ext uri="{FF2B5EF4-FFF2-40B4-BE49-F238E27FC236}">
                <a16:creationId xmlns:a16="http://schemas.microsoft.com/office/drawing/2014/main" id="{283A32DD-897F-E341-0DB2-9416AFCD75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525" y="0"/>
            <a:ext cx="5751871" cy="6858000"/>
          </a:xfrm>
          <a:prstGeom prst="rect">
            <a:avLst/>
          </a:prstGeom>
        </p:spPr>
      </p:pic>
      <p:pic>
        <p:nvPicPr>
          <p:cNvPr id="10" name="Picture 9" descr="A screen shot of a graph&#10;&#10;Description automatically generated">
            <a:extLst>
              <a:ext uri="{FF2B5EF4-FFF2-40B4-BE49-F238E27FC236}">
                <a16:creationId xmlns:a16="http://schemas.microsoft.com/office/drawing/2014/main" id="{05CA44C2-841C-7752-266A-EC8A1704E2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524" y="0"/>
            <a:ext cx="57518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247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93029-6D74-DE34-D70E-20838E348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to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B55343-B2B5-2352-38B4-187CA307BA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We want to understand how horn length differs in the two regions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is horn length</a:t>
                </a:r>
              </a:p>
              <a:p>
                <a:r>
                  <a:rPr lang="en-GB" dirty="0"/>
                  <a:t>But how do we include the region category?</a:t>
                </a:r>
              </a:p>
              <a:p>
                <a:r>
                  <a:rPr lang="en-GB" dirty="0"/>
                  <a:t>Our toolkit: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𝑁𝑜𝑟𝑚𝑎𝑙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How do we 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GB" dirty="0"/>
                  <a:t> Region?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B55343-B2B5-2352-38B4-187CA307BA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Placeholder 6" descr="A screen shot of a graph&#10;&#10;Description automatically generated">
            <a:extLst>
              <a:ext uri="{FF2B5EF4-FFF2-40B4-BE49-F238E27FC236}">
                <a16:creationId xmlns:a16="http://schemas.microsoft.com/office/drawing/2014/main" id="{0BAA62CA-2599-B08C-6DCA-0841E456320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906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4C66BE6-BE14-B0F3-70B7-CB806F2958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2901758"/>
              </p:ext>
            </p:extLst>
          </p:nvPr>
        </p:nvGraphicFramePr>
        <p:xfrm>
          <a:off x="3513455" y="2421759"/>
          <a:ext cx="5588248" cy="29765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2030">
                  <a:extLst>
                    <a:ext uri="{9D8B030D-6E8A-4147-A177-3AD203B41FA5}">
                      <a16:colId xmlns:a16="http://schemas.microsoft.com/office/drawing/2014/main" val="1631074993"/>
                    </a:ext>
                  </a:extLst>
                </a:gridCol>
                <a:gridCol w="1525822">
                  <a:extLst>
                    <a:ext uri="{9D8B030D-6E8A-4147-A177-3AD203B41FA5}">
                      <a16:colId xmlns:a16="http://schemas.microsoft.com/office/drawing/2014/main" val="329483513"/>
                    </a:ext>
                  </a:extLst>
                </a:gridCol>
                <a:gridCol w="1512266">
                  <a:extLst>
                    <a:ext uri="{9D8B030D-6E8A-4147-A177-3AD203B41FA5}">
                      <a16:colId xmlns:a16="http://schemas.microsoft.com/office/drawing/2014/main" val="2121409823"/>
                    </a:ext>
                  </a:extLst>
                </a:gridCol>
                <a:gridCol w="1548130">
                  <a:extLst>
                    <a:ext uri="{9D8B030D-6E8A-4147-A177-3AD203B41FA5}">
                      <a16:colId xmlns:a16="http://schemas.microsoft.com/office/drawing/2014/main" val="1439391126"/>
                    </a:ext>
                  </a:extLst>
                </a:gridCol>
              </a:tblGrid>
              <a:tr h="381444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horn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region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skeena</a:t>
                      </a:r>
                      <a:endParaRPr lang="en-GB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peace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381722"/>
                  </a:ext>
                </a:extLst>
              </a:tr>
              <a:tr h="377371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324.74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peace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6005041"/>
                  </a:ext>
                </a:extLst>
              </a:tr>
              <a:tr h="348343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323.68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skeena</a:t>
                      </a:r>
                      <a:endParaRPr lang="en-GB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0740005"/>
                  </a:ext>
                </a:extLst>
              </a:tr>
              <a:tr h="388983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304.97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peace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2000577"/>
                  </a:ext>
                </a:extLst>
              </a:tr>
              <a:tr h="362857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332.48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skeena</a:t>
                      </a:r>
                      <a:endParaRPr lang="en-GB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4478642"/>
                  </a:ext>
                </a:extLst>
              </a:tr>
              <a:tr h="359954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364.21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skeena</a:t>
                      </a:r>
                      <a:endParaRPr lang="en-GB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0825967"/>
                  </a:ext>
                </a:extLst>
              </a:tr>
              <a:tr h="357051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328.74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peace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3908784"/>
                  </a:ext>
                </a:extLst>
              </a:tr>
              <a:tr h="325924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392.45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peace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8732683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20709E8-31FA-0FD6-4ED0-1E962DAC5DFF}"/>
              </a:ext>
            </a:extLst>
          </p:cNvPr>
          <p:cNvSpPr/>
          <p:nvPr/>
        </p:nvSpPr>
        <p:spPr>
          <a:xfrm>
            <a:off x="6054726" y="3192861"/>
            <a:ext cx="1494172" cy="22098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Categories in linear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5623B92-C92C-A926-DBDF-304E58B21F39}"/>
                  </a:ext>
                </a:extLst>
              </p:cNvPr>
              <p:cNvSpPr txBox="1"/>
              <p:nvPr/>
            </p:nvSpPr>
            <p:spPr>
              <a:xfrm>
                <a:off x="0" y="1435873"/>
                <a:ext cx="12192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𝑆𝑘𝑒𝑒𝑛</m:t>
                      </m:r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5623B92-C92C-A926-DBDF-304E58B21F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435873"/>
                <a:ext cx="12192000" cy="523220"/>
              </a:xfrm>
              <a:prstGeom prst="rect">
                <a:avLst/>
              </a:prstGeom>
              <a:blipFill>
                <a:blip r:embed="rId2"/>
                <a:stretch>
                  <a:fillRect t="-15294" b="-305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67A0CD7C-3E90-40E6-F396-9073B84A63E2}"/>
              </a:ext>
            </a:extLst>
          </p:cNvPr>
          <p:cNvSpPr/>
          <p:nvPr/>
        </p:nvSpPr>
        <p:spPr>
          <a:xfrm>
            <a:off x="6054726" y="2414201"/>
            <a:ext cx="1494172" cy="7691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DFA3F16-781A-C6BD-13DE-4071E57A1F69}"/>
                  </a:ext>
                </a:extLst>
              </p:cNvPr>
              <p:cNvSpPr txBox="1"/>
              <p:nvPr/>
            </p:nvSpPr>
            <p:spPr>
              <a:xfrm>
                <a:off x="4219929" y="1432790"/>
                <a:ext cx="540657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2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×1</m:t>
                    </m:r>
                  </m:oMath>
                </a14:m>
                <a:r>
                  <a:rPr lang="en-GB" sz="2800" dirty="0"/>
                  <a:t> (if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800" dirty="0"/>
                  <a:t>is Skeena)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DFA3F16-781A-C6BD-13DE-4071E57A1F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9929" y="1432790"/>
                <a:ext cx="5406571" cy="523220"/>
              </a:xfrm>
              <a:prstGeom prst="rect">
                <a:avLst/>
              </a:prstGeom>
              <a:blipFill>
                <a:blip r:embed="rId3"/>
                <a:stretch>
                  <a:fillRect t="-13953" b="-290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65CFF4B8-4784-89DC-44C7-17441072FAC3}"/>
              </a:ext>
            </a:extLst>
          </p:cNvPr>
          <p:cNvSpPr/>
          <p:nvPr/>
        </p:nvSpPr>
        <p:spPr>
          <a:xfrm>
            <a:off x="7570356" y="2367563"/>
            <a:ext cx="1612331" cy="30545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58E417-AC9B-60E9-F758-BDCAE81E9222}"/>
                  </a:ext>
                </a:extLst>
              </p:cNvPr>
              <p:cNvSpPr txBox="1"/>
              <p:nvPr/>
            </p:nvSpPr>
            <p:spPr>
              <a:xfrm>
                <a:off x="4219929" y="1434591"/>
                <a:ext cx="540657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2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×0</m:t>
                    </m:r>
                  </m:oMath>
                </a14:m>
                <a:r>
                  <a:rPr lang="en-GB" sz="2800" dirty="0"/>
                  <a:t> (if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800" dirty="0"/>
                  <a:t>is Peace)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58E417-AC9B-60E9-F758-BDCAE81E92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9929" y="1434591"/>
                <a:ext cx="5406571" cy="523220"/>
              </a:xfrm>
              <a:prstGeom prst="rect">
                <a:avLst/>
              </a:prstGeom>
              <a:blipFill>
                <a:blip r:embed="rId4"/>
                <a:stretch>
                  <a:fillRect t="-13953" b="-290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39D3DB4-7B63-3E22-5C2A-FE7A033F7951}"/>
                  </a:ext>
                </a:extLst>
              </p:cNvPr>
              <p:cNvSpPr txBox="1"/>
              <p:nvPr/>
            </p:nvSpPr>
            <p:spPr>
              <a:xfrm>
                <a:off x="9182687" y="3059668"/>
                <a:ext cx="2957092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We don’t need a 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peace</a:t>
                </a:r>
                <a:r>
                  <a:rPr lang="en-GB" dirty="0"/>
                  <a:t> </a:t>
                </a:r>
                <a:br>
                  <a:rPr lang="en-GB" dirty="0"/>
                </a:br>
                <a:r>
                  <a:rPr lang="en-GB" dirty="0"/>
                  <a:t>column because if it’s not </a:t>
                </a:r>
                <a:br>
                  <a:rPr lang="en-GB" dirty="0"/>
                </a:br>
                <a:r>
                  <a:rPr lang="en-GB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skeena</a:t>
                </a:r>
                <a:r>
                  <a:rPr lang="en-GB" dirty="0"/>
                  <a:t> (i.e.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𝑠𝑘𝑒𝑒𝑛𝑎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= 0</m:t>
                    </m:r>
                  </m:oMath>
                </a14:m>
                <a:r>
                  <a:rPr lang="en-GB" dirty="0"/>
                  <a:t>), </a:t>
                </a:r>
                <a:br>
                  <a:rPr lang="en-GB" dirty="0"/>
                </a:br>
                <a:r>
                  <a:rPr lang="en-GB" dirty="0"/>
                  <a:t>then it must be 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peace</a:t>
                </a:r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39D3DB4-7B63-3E22-5C2A-FE7A033F79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2687" y="3059668"/>
                <a:ext cx="2957092" cy="1200329"/>
              </a:xfrm>
              <a:prstGeom prst="rect">
                <a:avLst/>
              </a:prstGeom>
              <a:blipFill>
                <a:blip r:embed="rId6"/>
                <a:stretch>
                  <a:fillRect l="-1649" t="-4569" r="-1031" b="-76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57185" y="2625835"/>
                <a:ext cx="8174315" cy="4546145"/>
              </a:xfrm>
            </p:spPr>
            <p:txBody>
              <a:bodyPr>
                <a:normAutofit/>
              </a:bodyPr>
              <a:lstStyle/>
              <a:p>
                <a:r>
                  <a:rPr lang="en-GB" dirty="0">
                    <a:latin typeface="Bahnschrift Light" panose="020B0502040204020203" pitchFamily="34" charset="0"/>
                  </a:rPr>
                  <a:t>We want 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region</a:t>
                </a:r>
                <a:r>
                  <a:rPr lang="en-GB" dirty="0">
                    <a:latin typeface="Bahnschrift Light" panose="020B0502040204020203" pitchFamily="34" charset="0"/>
                  </a:rPr>
                  <a:t> in the model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But 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region</a:t>
                </a:r>
                <a:r>
                  <a:rPr lang="en-GB" dirty="0">
                    <a:latin typeface="Bahnschrift Light" panose="020B0502040204020203" pitchFamily="34" charset="0"/>
                  </a:rPr>
                  <a:t> contains strings (i.e. words)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How do you do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4.6×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𝑅𝑒𝑔𝑖𝑜𝑛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?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You don’t! Behind the scenes R converts your factor in to a series of columns: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57185" y="2625835"/>
                <a:ext cx="8174315" cy="4546145"/>
              </a:xfrm>
              <a:blipFill>
                <a:blip r:embed="rId7"/>
                <a:stretch>
                  <a:fillRect l="-1342" t="-30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04DFCAEA-3D69-10D3-3367-05D5C65BB311}"/>
              </a:ext>
            </a:extLst>
          </p:cNvPr>
          <p:cNvSpPr txBox="1"/>
          <p:nvPr/>
        </p:nvSpPr>
        <p:spPr>
          <a:xfrm>
            <a:off x="2622132" y="5794756"/>
            <a:ext cx="6947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The new </a:t>
            </a:r>
            <a:r>
              <a:rPr lang="en-GB" dirty="0" err="1"/>
              <a:t>skeena</a:t>
            </a:r>
            <a:r>
              <a:rPr lang="en-GB" dirty="0"/>
              <a:t> column is 1 if the region was </a:t>
            </a:r>
            <a:r>
              <a:rPr lang="en-GB" dirty="0" err="1"/>
              <a:t>skeena</a:t>
            </a:r>
            <a:r>
              <a:rPr lang="en-GB" dirty="0"/>
              <a:t>, and 0 if not</a:t>
            </a:r>
          </a:p>
        </p:txBody>
      </p:sp>
    </p:spTree>
    <p:extLst>
      <p:ext uri="{BB962C8B-B14F-4D97-AF65-F5344CB8AC3E}">
        <p14:creationId xmlns:p14="http://schemas.microsoft.com/office/powerpoint/2010/main" val="3337177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  <p:bldP spid="8" grpId="1"/>
      <p:bldP spid="5" grpId="0" animBg="1"/>
      <p:bldP spid="10" grpId="0"/>
      <p:bldP spid="9" grpId="0" animBg="1"/>
      <p:bldP spid="15" grpId="0"/>
      <p:bldP spid="15" grpId="1"/>
      <p:bldP spid="7" grpId="0"/>
      <p:bldP spid="3" grpId="0" uiExpand="1" build="p"/>
      <p:bldP spid="3" grpId="1" uiExpand="1" build="p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4C66BE6-BE14-B0F3-70B7-CB806F2958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408760"/>
              </p:ext>
            </p:extLst>
          </p:nvPr>
        </p:nvGraphicFramePr>
        <p:xfrm>
          <a:off x="7619241" y="2650359"/>
          <a:ext cx="4040118" cy="29765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2030">
                  <a:extLst>
                    <a:ext uri="{9D8B030D-6E8A-4147-A177-3AD203B41FA5}">
                      <a16:colId xmlns:a16="http://schemas.microsoft.com/office/drawing/2014/main" val="1631074993"/>
                    </a:ext>
                  </a:extLst>
                </a:gridCol>
                <a:gridCol w="1525822">
                  <a:extLst>
                    <a:ext uri="{9D8B030D-6E8A-4147-A177-3AD203B41FA5}">
                      <a16:colId xmlns:a16="http://schemas.microsoft.com/office/drawing/2014/main" val="329483513"/>
                    </a:ext>
                  </a:extLst>
                </a:gridCol>
                <a:gridCol w="1512266">
                  <a:extLst>
                    <a:ext uri="{9D8B030D-6E8A-4147-A177-3AD203B41FA5}">
                      <a16:colId xmlns:a16="http://schemas.microsoft.com/office/drawing/2014/main" val="2121409823"/>
                    </a:ext>
                  </a:extLst>
                </a:gridCol>
              </a:tblGrid>
              <a:tr h="381444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horn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region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skeena</a:t>
                      </a:r>
                      <a:endParaRPr lang="en-GB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381722"/>
                  </a:ext>
                </a:extLst>
              </a:tr>
              <a:tr h="377371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324.74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peace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6005041"/>
                  </a:ext>
                </a:extLst>
              </a:tr>
              <a:tr h="348343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323.68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skeena</a:t>
                      </a:r>
                      <a:endParaRPr lang="en-GB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0740005"/>
                  </a:ext>
                </a:extLst>
              </a:tr>
              <a:tr h="388983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304.97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peace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2000577"/>
                  </a:ext>
                </a:extLst>
              </a:tr>
              <a:tr h="362857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332.48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skeena</a:t>
                      </a:r>
                      <a:endParaRPr lang="en-GB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4478642"/>
                  </a:ext>
                </a:extLst>
              </a:tr>
              <a:tr h="359954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364.21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skeena</a:t>
                      </a:r>
                      <a:endParaRPr lang="en-GB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0825967"/>
                  </a:ext>
                </a:extLst>
              </a:tr>
              <a:tr h="357051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328.74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peace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3908784"/>
                  </a:ext>
                </a:extLst>
              </a:tr>
              <a:tr h="325924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392.45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peace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8732683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Categories in linear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5623B92-C92C-A926-DBDF-304E58B21F39}"/>
                  </a:ext>
                </a:extLst>
              </p:cNvPr>
              <p:cNvSpPr txBox="1"/>
              <p:nvPr/>
            </p:nvSpPr>
            <p:spPr>
              <a:xfrm>
                <a:off x="7619240" y="1880373"/>
                <a:ext cx="404011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𝑆𝑘𝑒𝑒𝑛</m:t>
                      </m:r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5623B92-C92C-A926-DBDF-304E58B21F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9240" y="1880373"/>
                <a:ext cx="4040119" cy="523220"/>
              </a:xfrm>
              <a:prstGeom prst="rect">
                <a:avLst/>
              </a:prstGeom>
              <a:blipFill>
                <a:blip r:embed="rId2"/>
                <a:stretch>
                  <a:fillRect t="-13953" r="-1961" b="-290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2040BE09-F2A5-F58A-3640-A8C9A3F738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-58256" y="1633210"/>
                <a:ext cx="7094056" cy="4546145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GB" dirty="0">
                    <a:latin typeface="Bahnschrift Light" panose="020B0502040204020203" pitchFamily="34" charset="0"/>
                  </a:rPr>
                  <a:t>We take all but one category and convert to 0 (not part of this group) or 1 (part of this group)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Multiplying by 0 “turns off”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GB" dirty="0">
                  <a:latin typeface="Bahnschrift Light" panose="020B0502040204020203" pitchFamily="34" charset="0"/>
                </a:endParaRP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Multiplying by 1 “turns on”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GB" dirty="0">
                  <a:latin typeface="Bahnschrift Light" panose="020B0502040204020203" pitchFamily="34" charset="0"/>
                </a:endParaRP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What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?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The category without a parameter</a:t>
                </a:r>
              </a:p>
              <a:p>
                <a:r>
                  <a:rPr lang="en-GB" b="0" dirty="0"/>
                  <a:t>What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? 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The difference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GB" dirty="0">
                  <a:latin typeface="Bahnschrift Light" panose="020B0502040204020203" pitchFamily="34" charset="0"/>
                </a:endParaRP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Here: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is the horn length in Peace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is the difference between Skeena and Peace</a:t>
                </a: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2040BE09-F2A5-F58A-3640-A8C9A3F738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58256" y="1633210"/>
                <a:ext cx="7094056" cy="4546145"/>
              </a:xfrm>
              <a:blipFill>
                <a:blip r:embed="rId3"/>
                <a:stretch>
                  <a:fillRect l="-1289" t="-3887" r="-24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0128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7AB57-BCEE-4F6F-B65B-E3A8ABBE7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Visually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3F2F75-6ADF-7E10-D261-8859052B1C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 (the “intercept”) is how long horns are in the first group</a:t>
                </a:r>
              </a:p>
              <a:p>
                <a:pPr lvl="1"/>
                <a:r>
                  <a:rPr lang="en-GB" dirty="0"/>
                  <a:t>Here in the Peace region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 (the “contrast”) is the difference between the first group and the second group</a:t>
                </a:r>
              </a:p>
              <a:p>
                <a:pPr lvl="1"/>
                <a:r>
                  <a:rPr lang="en-GB" dirty="0"/>
                  <a:t>E.g. Peace sheep horns are 100 mm long, and Skeena are 300 mm (in this example).</a:t>
                </a:r>
              </a:p>
              <a:p>
                <a:r>
                  <a:rPr lang="en-GB" dirty="0"/>
                  <a:t>No limit to the number of groups you can have</a:t>
                </a:r>
              </a:p>
              <a:p>
                <a:r>
                  <a:rPr lang="en-GB" dirty="0"/>
                  <a:t>Each subsequent group is always the </a:t>
                </a:r>
                <a:r>
                  <a:rPr lang="en-GB" i="1" dirty="0"/>
                  <a:t>difference</a:t>
                </a:r>
                <a:r>
                  <a:rPr lang="en-GB" dirty="0"/>
                  <a:t> from the reference (i.e. the intercept)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3F2F75-6ADF-7E10-D261-8859052B1C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 t="-2558" b="-25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Placeholder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1C9C796B-5ECB-C5C7-1E13-3D58D7AA744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3A7C5C3F-528D-4FAB-9C16-1AE20DF12C11}"/>
              </a:ext>
            </a:extLst>
          </p:cNvPr>
          <p:cNvGrpSpPr/>
          <p:nvPr/>
        </p:nvGrpSpPr>
        <p:grpSpPr>
          <a:xfrm>
            <a:off x="7120568" y="4231569"/>
            <a:ext cx="1250849" cy="1873956"/>
            <a:chOff x="7120568" y="4231569"/>
            <a:chExt cx="1250849" cy="187395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127216C3-D531-B709-B622-30C2B735E9AD}"/>
                    </a:ext>
                  </a:extLst>
                </p:cNvPr>
                <p:cNvSpPr txBox="1"/>
                <p:nvPr/>
              </p:nvSpPr>
              <p:spPr>
                <a:xfrm>
                  <a:off x="7120568" y="4974356"/>
                  <a:ext cx="11653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=100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127216C3-D531-B709-B622-30C2B735E9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0568" y="4974356"/>
                  <a:ext cx="1165384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1639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59622DD-23D1-CCB2-7850-E238CD0BB3FC}"/>
                </a:ext>
              </a:extLst>
            </p:cNvPr>
            <p:cNvCxnSpPr/>
            <p:nvPr/>
          </p:nvCxnSpPr>
          <p:spPr>
            <a:xfrm>
              <a:off x="8371417" y="4231569"/>
              <a:ext cx="0" cy="1873956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022CCE1-8754-F5B7-F65A-9C6615273BB8}"/>
              </a:ext>
            </a:extLst>
          </p:cNvPr>
          <p:cNvGrpSpPr/>
          <p:nvPr/>
        </p:nvGrpSpPr>
        <p:grpSpPr>
          <a:xfrm>
            <a:off x="9399098" y="355248"/>
            <a:ext cx="1318291" cy="3816702"/>
            <a:chOff x="9399098" y="355248"/>
            <a:chExt cx="1318291" cy="38167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5938BEC-1F95-E201-FCA7-B7516121E6A8}"/>
                    </a:ext>
                  </a:extLst>
                </p:cNvPr>
                <p:cNvSpPr txBox="1"/>
                <p:nvPr/>
              </p:nvSpPr>
              <p:spPr>
                <a:xfrm>
                  <a:off x="9399098" y="2200079"/>
                  <a:ext cx="116006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=200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5938BEC-1F95-E201-FCA7-B7516121E6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9098" y="2200079"/>
                  <a:ext cx="1160061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7FF6E22C-3DA4-EF3B-846A-55DF76A46BC9}"/>
                </a:ext>
              </a:extLst>
            </p:cNvPr>
            <p:cNvCxnSpPr>
              <a:cxnSpLocks/>
            </p:cNvCxnSpPr>
            <p:nvPr/>
          </p:nvCxnSpPr>
          <p:spPr>
            <a:xfrm>
              <a:off x="10717389" y="355248"/>
              <a:ext cx="0" cy="3816702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Picture 14" descr="A screen shot of a graph&#10;&#10;Description automatically generated">
            <a:extLst>
              <a:ext uri="{FF2B5EF4-FFF2-40B4-BE49-F238E27FC236}">
                <a16:creationId xmlns:a16="http://schemas.microsoft.com/office/drawing/2014/main" id="{892B22E0-1836-BDE3-1D5A-3071237B515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0"/>
            <a:ext cx="5751871" cy="685800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8F9601C1-E6CF-107E-71DB-A39EC2892EFB}"/>
              </a:ext>
            </a:extLst>
          </p:cNvPr>
          <p:cNvGrpSpPr/>
          <p:nvPr/>
        </p:nvGrpSpPr>
        <p:grpSpPr>
          <a:xfrm>
            <a:off x="6378577" y="4207755"/>
            <a:ext cx="1250849" cy="1873956"/>
            <a:chOff x="7120568" y="4231569"/>
            <a:chExt cx="1250849" cy="187395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CF2CCADB-82B7-80EB-48EB-6412FB05281D}"/>
                    </a:ext>
                  </a:extLst>
                </p:cNvPr>
                <p:cNvSpPr txBox="1"/>
                <p:nvPr/>
              </p:nvSpPr>
              <p:spPr>
                <a:xfrm>
                  <a:off x="7120568" y="4974356"/>
                  <a:ext cx="11653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=100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CF2CCADB-82B7-80EB-48EB-6412FB0528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0568" y="4974356"/>
                  <a:ext cx="1165384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639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22E767C0-97A7-4EBC-89B2-D23A656454FA}"/>
                </a:ext>
              </a:extLst>
            </p:cNvPr>
            <p:cNvCxnSpPr/>
            <p:nvPr/>
          </p:nvCxnSpPr>
          <p:spPr>
            <a:xfrm>
              <a:off x="8371417" y="4231569"/>
              <a:ext cx="0" cy="1873956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EA9380B-9DC4-4D96-316B-E6E0FFF25E41}"/>
              </a:ext>
            </a:extLst>
          </p:cNvPr>
          <p:cNvGrpSpPr/>
          <p:nvPr/>
        </p:nvGrpSpPr>
        <p:grpSpPr>
          <a:xfrm>
            <a:off x="7367347" y="399169"/>
            <a:ext cx="1244499" cy="3808586"/>
            <a:chOff x="7126918" y="4231569"/>
            <a:chExt cx="1244499" cy="38085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E992AC03-CD57-83DE-40D6-20A9BF966FA1}"/>
                    </a:ext>
                  </a:extLst>
                </p:cNvPr>
                <p:cNvSpPr txBox="1"/>
                <p:nvPr/>
              </p:nvSpPr>
              <p:spPr>
                <a:xfrm>
                  <a:off x="7126918" y="5775183"/>
                  <a:ext cx="116006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=200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E992AC03-CD57-83DE-40D6-20A9BF966F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918" y="5775183"/>
                  <a:ext cx="1160061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8B1B27BE-D56F-5921-399C-B77B8BBB3E78}"/>
                </a:ext>
              </a:extLst>
            </p:cNvPr>
            <p:cNvCxnSpPr>
              <a:cxnSpLocks/>
            </p:cNvCxnSpPr>
            <p:nvPr/>
          </p:nvCxnSpPr>
          <p:spPr>
            <a:xfrm>
              <a:off x="8371417" y="4231569"/>
              <a:ext cx="0" cy="3808586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EF51F97-7D0F-40C7-D5E3-6BEDE244EE1F}"/>
              </a:ext>
            </a:extLst>
          </p:cNvPr>
          <p:cNvGrpSpPr/>
          <p:nvPr/>
        </p:nvGrpSpPr>
        <p:grpSpPr>
          <a:xfrm>
            <a:off x="8611846" y="3276600"/>
            <a:ext cx="1037143" cy="931155"/>
            <a:chOff x="7394508" y="7109000"/>
            <a:chExt cx="1037143" cy="9311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7BD93347-C7D0-63F9-F642-D4DF6F3E98F8}"/>
                    </a:ext>
                  </a:extLst>
                </p:cNvPr>
                <p:cNvSpPr txBox="1"/>
                <p:nvPr/>
              </p:nvSpPr>
              <p:spPr>
                <a:xfrm>
                  <a:off x="7394508" y="7357601"/>
                  <a:ext cx="103714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=50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7BD93347-C7D0-63F9-F642-D4DF6F3E98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4508" y="7357601"/>
                  <a:ext cx="1037143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1639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CCCC7430-83F6-EF8B-9617-A969711990BE}"/>
                </a:ext>
              </a:extLst>
            </p:cNvPr>
            <p:cNvCxnSpPr>
              <a:cxnSpLocks/>
            </p:cNvCxnSpPr>
            <p:nvPr/>
          </p:nvCxnSpPr>
          <p:spPr>
            <a:xfrm>
              <a:off x="8371417" y="7109000"/>
              <a:ext cx="0" cy="931155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994A658-49E5-B0E1-46A9-98E0D46E4D7F}"/>
              </a:ext>
            </a:extLst>
          </p:cNvPr>
          <p:cNvGrpSpPr/>
          <p:nvPr/>
        </p:nvGrpSpPr>
        <p:grpSpPr>
          <a:xfrm>
            <a:off x="9316064" y="399169"/>
            <a:ext cx="1244499" cy="3808586"/>
            <a:chOff x="7126918" y="4231569"/>
            <a:chExt cx="1244499" cy="38085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6CB4D595-7865-34A0-1F9F-9FDFF716B0FF}"/>
                    </a:ext>
                  </a:extLst>
                </p:cNvPr>
                <p:cNvSpPr txBox="1"/>
                <p:nvPr/>
              </p:nvSpPr>
              <p:spPr>
                <a:xfrm>
                  <a:off x="7126918" y="5775183"/>
                  <a:ext cx="116538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=200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6CB4D595-7865-34A0-1F9F-9FDFF716B0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918" y="5775183"/>
                  <a:ext cx="1165383" cy="369332"/>
                </a:xfrm>
                <a:prstGeom prst="rect">
                  <a:avLst/>
                </a:prstGeom>
                <a:blipFill>
                  <a:blip r:embed="rId10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6BE59D86-80AB-CA54-6CE6-ED7F81BA57F3}"/>
                </a:ext>
              </a:extLst>
            </p:cNvPr>
            <p:cNvCxnSpPr>
              <a:cxnSpLocks/>
            </p:cNvCxnSpPr>
            <p:nvPr/>
          </p:nvCxnSpPr>
          <p:spPr>
            <a:xfrm>
              <a:off x="8371417" y="4231569"/>
              <a:ext cx="0" cy="3808586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92ADFBC-78B7-DBC2-939A-8E4EFBC08BC3}"/>
              </a:ext>
            </a:extLst>
          </p:cNvPr>
          <p:cNvGrpSpPr/>
          <p:nvPr/>
        </p:nvGrpSpPr>
        <p:grpSpPr>
          <a:xfrm>
            <a:off x="10470082" y="787400"/>
            <a:ext cx="1157496" cy="3444169"/>
            <a:chOff x="7335860" y="4595986"/>
            <a:chExt cx="1157496" cy="34441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0B6D03AB-7086-57F2-169E-B9EC8583BF5A}"/>
                    </a:ext>
                  </a:extLst>
                </p:cNvPr>
                <p:cNvSpPr txBox="1"/>
                <p:nvPr/>
              </p:nvSpPr>
              <p:spPr>
                <a:xfrm>
                  <a:off x="7335860" y="6033768"/>
                  <a:ext cx="115749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=180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0B6D03AB-7086-57F2-169E-B9EC8583BF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35860" y="6033768"/>
                  <a:ext cx="1157496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1639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9C7FFDB0-B1C2-F595-8E2E-5E6048A6E9EF}"/>
                </a:ext>
              </a:extLst>
            </p:cNvPr>
            <p:cNvCxnSpPr>
              <a:cxnSpLocks/>
            </p:cNvCxnSpPr>
            <p:nvPr/>
          </p:nvCxnSpPr>
          <p:spPr>
            <a:xfrm>
              <a:off x="8409517" y="4595986"/>
              <a:ext cx="0" cy="3444169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11268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02099-8E69-E31F-3157-05FF2F097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Fitting the model</a:t>
            </a:r>
          </a:p>
        </p:txBody>
      </p:sp>
    </p:spTree>
    <p:extLst>
      <p:ext uri="{BB962C8B-B14F-4D97-AF65-F5344CB8AC3E}">
        <p14:creationId xmlns:p14="http://schemas.microsoft.com/office/powerpoint/2010/main" val="30678157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8A1FA-5737-B5F9-815A-3A556ECB3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GB" dirty="0"/>
              <a:t>Last week: straight line</a:t>
            </a:r>
          </a:p>
        </p:txBody>
      </p:sp>
      <p:pic>
        <p:nvPicPr>
          <p:cNvPr id="3" name="Picture Placeholder 5" descr="A graph of a graph with lines and dots&#10;&#10;Description automatically generated">
            <a:extLst>
              <a:ext uri="{FF2B5EF4-FFF2-40B4-BE49-F238E27FC236}">
                <a16:creationId xmlns:a16="http://schemas.microsoft.com/office/drawing/2014/main" id="{FE80A6FA-5985-6FE5-9168-C27777F000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" t="-8268" r="466" b="-8558"/>
          <a:stretch/>
        </p:blipFill>
        <p:spPr>
          <a:xfrm>
            <a:off x="1459089" y="1657702"/>
            <a:ext cx="4074632" cy="4791075"/>
          </a:xfrm>
          <a:prstGeom prst="rect">
            <a:avLst/>
          </a:prstGeom>
        </p:spPr>
      </p:pic>
      <p:pic>
        <p:nvPicPr>
          <p:cNvPr id="4" name="Picture Placeholder 5" descr="A graph with a line&#10;&#10;Description automatically generated">
            <a:extLst>
              <a:ext uri="{FF2B5EF4-FFF2-40B4-BE49-F238E27FC236}">
                <a16:creationId xmlns:a16="http://schemas.microsoft.com/office/drawing/2014/main" id="{7A3E6159-DF52-AC1C-06CF-6D08B93D03F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" t="-8972" r="-190" b="-8483"/>
          <a:stretch/>
        </p:blipFill>
        <p:spPr>
          <a:xfrm>
            <a:off x="6336947" y="1467202"/>
            <a:ext cx="4236645" cy="498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594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8A1FA-5737-B5F9-815A-3A556ECB3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GB" dirty="0"/>
              <a:t>This week: Multiple averages</a:t>
            </a:r>
          </a:p>
        </p:txBody>
      </p:sp>
      <p:pic>
        <p:nvPicPr>
          <p:cNvPr id="14" name="Picture 13" descr="A graph with lines and numbers&#10;&#10;Description automatically generated">
            <a:extLst>
              <a:ext uri="{FF2B5EF4-FFF2-40B4-BE49-F238E27FC236}">
                <a16:creationId xmlns:a16="http://schemas.microsoft.com/office/drawing/2014/main" id="{37C41FCE-FDF7-57E2-B613-6E037AE6C5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6133" y="1413933"/>
            <a:ext cx="4572000" cy="4572000"/>
          </a:xfrm>
          <a:prstGeom prst="rect">
            <a:avLst/>
          </a:prstGeom>
        </p:spPr>
      </p:pic>
      <p:pic>
        <p:nvPicPr>
          <p:cNvPr id="16" name="Picture 15" descr="A graph of the weather&#10;&#10;Description automatically generated with medium confidence">
            <a:extLst>
              <a:ext uri="{FF2B5EF4-FFF2-40B4-BE49-F238E27FC236}">
                <a16:creationId xmlns:a16="http://schemas.microsoft.com/office/drawing/2014/main" id="{11C49E68-36B7-CF2F-124D-C162F1F7C0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12" y="1413933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160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9DC50-FA71-1C24-466B-A9CCBA7EF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do we learn biologically?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DD85E9-5CC1-0787-1F41-E9FEE5F819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𝑁𝑜𝑟𝑚𝑎𝑙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GB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=322+9×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𝑆𝑘𝑒𝑒𝑛𝑎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dirty="0"/>
              </a:p>
              <a:p>
                <a:r>
                  <a:rPr lang="en-GB" dirty="0"/>
                  <a:t>How long are horns in Peace?</a:t>
                </a:r>
              </a:p>
              <a:p>
                <a:pPr lvl="1"/>
                <a:r>
                  <a:rPr lang="en-GB" dirty="0"/>
                  <a:t>322 mm on average</a:t>
                </a:r>
              </a:p>
              <a:p>
                <a:r>
                  <a:rPr lang="en-GB" dirty="0"/>
                  <a:t>Are horns in Skeena longer or shorter?</a:t>
                </a:r>
              </a:p>
              <a:p>
                <a:pPr lvl="1"/>
                <a:r>
                  <a:rPr lang="en-GB" dirty="0"/>
                  <a:t>Longer</a:t>
                </a:r>
              </a:p>
              <a:p>
                <a:r>
                  <a:rPr lang="en-GB" dirty="0"/>
                  <a:t>By how much?</a:t>
                </a:r>
              </a:p>
              <a:p>
                <a:pPr lvl="1"/>
                <a:r>
                  <a:rPr lang="en-GB" dirty="0"/>
                  <a:t>9 mm</a:t>
                </a:r>
              </a:p>
              <a:p>
                <a:r>
                  <a:rPr lang="en-GB" dirty="0"/>
                  <a:t>Does hunting have a selective pressure on horn length?</a:t>
                </a:r>
              </a:p>
              <a:p>
                <a:pPr lvl="1"/>
                <a:r>
                  <a:rPr lang="en-GB" dirty="0"/>
                  <a:t>(Skeena is low hunting, Peace is high)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DD85E9-5CC1-0787-1F41-E9FEE5F819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Placeholder 8" descr="A ram standing on a rock&#10;&#10;Description automatically generated">
            <a:extLst>
              <a:ext uri="{FF2B5EF4-FFF2-40B4-BE49-F238E27FC236}">
                <a16:creationId xmlns:a16="http://schemas.microsoft.com/office/drawing/2014/main" id="{616B52B8-03C1-4C61-BB29-418C129E74B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79" r="1707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890140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257BF-315C-4A32-0704-0C6DE3E11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Answering our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184A3-1733-1DDA-EBD7-874A7C6AE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Does greater hunting pressure lead to reduced horn size?</a:t>
            </a:r>
          </a:p>
          <a:p>
            <a:r>
              <a:rPr lang="en-GB" dirty="0"/>
              <a:t>Based on this model: “Yes”</a:t>
            </a:r>
          </a:p>
          <a:p>
            <a:r>
              <a:rPr lang="en-GB" dirty="0"/>
              <a:t>But any caveats?</a:t>
            </a:r>
          </a:p>
          <a:p>
            <a:pPr lvl="1"/>
            <a:r>
              <a:rPr lang="en-GB" dirty="0"/>
              <a:t>Do you really know if it’s hunting that’s </a:t>
            </a:r>
            <a:r>
              <a:rPr lang="en-GB" b="1" dirty="0">
                <a:solidFill>
                  <a:srgbClr val="FFFF00"/>
                </a:solidFill>
              </a:rPr>
              <a:t>causing</a:t>
            </a:r>
            <a:r>
              <a:rPr lang="en-GB" dirty="0"/>
              <a:t> this decline?</a:t>
            </a:r>
          </a:p>
          <a:p>
            <a:pPr lvl="1"/>
            <a:r>
              <a:rPr lang="en-GB" dirty="0"/>
              <a:t>Is the data suitable for answering the question?</a:t>
            </a:r>
          </a:p>
          <a:p>
            <a:pPr lvl="1"/>
            <a:r>
              <a:rPr lang="en-GB" dirty="0"/>
              <a:t>What hidden assumptions are there?</a:t>
            </a:r>
          </a:p>
          <a:p>
            <a:pPr lvl="2"/>
            <a:r>
              <a:rPr lang="en-GB" dirty="0"/>
              <a:t>Assumes these sites are identical in every way other than hunting pressure</a:t>
            </a:r>
          </a:p>
          <a:p>
            <a:r>
              <a:rPr lang="en-GB" dirty="0"/>
              <a:t>Based on this model, being appropriately cautious: “Maybe”</a:t>
            </a:r>
          </a:p>
        </p:txBody>
      </p:sp>
      <p:pic>
        <p:nvPicPr>
          <p:cNvPr id="8" name="Picture Placeholder 7" descr="A screenshot of a graph&#10;&#10;Description automatically generated">
            <a:extLst>
              <a:ext uri="{FF2B5EF4-FFF2-40B4-BE49-F238E27FC236}">
                <a16:creationId xmlns:a16="http://schemas.microsoft.com/office/drawing/2014/main" id="{4028A641-E759-5F22-0849-E6C3790972B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801988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4F2B8-5D85-D18D-9CA3-24968E47D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Uncertainty</a:t>
            </a:r>
          </a:p>
        </p:txBody>
      </p:sp>
    </p:spTree>
    <p:extLst>
      <p:ext uri="{BB962C8B-B14F-4D97-AF65-F5344CB8AC3E}">
        <p14:creationId xmlns:p14="http://schemas.microsoft.com/office/powerpoint/2010/main" val="11758704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257BF-315C-4A32-0704-0C6DE3E11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Uncertainty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184A3-1733-1DDA-EBD7-874A7C6AE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Are you sure there’s a difference?</a:t>
            </a:r>
          </a:p>
          <a:p>
            <a:r>
              <a:rPr lang="en-GB" dirty="0"/>
              <a:t>What if horn length is super variable?</a:t>
            </a:r>
          </a:p>
          <a:p>
            <a:r>
              <a:rPr lang="en-GB" dirty="0"/>
              <a:t>For example, assume you have a medical condition:</a:t>
            </a:r>
          </a:p>
          <a:p>
            <a:pPr lvl="1"/>
            <a:r>
              <a:rPr lang="en-GB" dirty="0"/>
              <a:t>I offer you two medical drugs</a:t>
            </a:r>
          </a:p>
          <a:p>
            <a:pPr lvl="1"/>
            <a:r>
              <a:rPr lang="en-GB" dirty="0"/>
              <a:t>Both have side effect of death</a:t>
            </a:r>
          </a:p>
          <a:p>
            <a:pPr lvl="1"/>
            <a:r>
              <a:rPr lang="en-GB" dirty="0"/>
              <a:t>Which drug do you take?</a:t>
            </a:r>
          </a:p>
          <a:p>
            <a:pPr lvl="1"/>
            <a:r>
              <a:rPr lang="en-GB" dirty="0"/>
              <a:t>Given uncertainty, which drug do you take?</a:t>
            </a:r>
          </a:p>
          <a:p>
            <a:r>
              <a:rPr lang="en-GB" dirty="0"/>
              <a:t>How do we calculate uncertainty?</a:t>
            </a:r>
          </a:p>
        </p:txBody>
      </p:sp>
      <p:pic>
        <p:nvPicPr>
          <p:cNvPr id="8" name="Picture Placeholder 7" descr="A screenshot of a graph&#10;&#10;Description automatically generated">
            <a:extLst>
              <a:ext uri="{FF2B5EF4-FFF2-40B4-BE49-F238E27FC236}">
                <a16:creationId xmlns:a16="http://schemas.microsoft.com/office/drawing/2014/main" id="{4028A641-E759-5F22-0849-E6C3790972B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  <p:pic>
        <p:nvPicPr>
          <p:cNvPr id="7" name="Picture 6" descr="A screenshot of a graph&#10;&#10;Description automatically generated">
            <a:extLst>
              <a:ext uri="{FF2B5EF4-FFF2-40B4-BE49-F238E27FC236}">
                <a16:creationId xmlns:a16="http://schemas.microsoft.com/office/drawing/2014/main" id="{6944D16A-37C0-8E58-65CE-67E4BD9F7E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525" y="0"/>
            <a:ext cx="5751871" cy="6858000"/>
          </a:xfrm>
          <a:prstGeom prst="rect">
            <a:avLst/>
          </a:prstGeom>
        </p:spPr>
      </p:pic>
      <p:pic>
        <p:nvPicPr>
          <p:cNvPr id="10" name="Picture 9" descr="A screen shot of a graph&#10;&#10;Description automatically generated">
            <a:extLst>
              <a:ext uri="{FF2B5EF4-FFF2-40B4-BE49-F238E27FC236}">
                <a16:creationId xmlns:a16="http://schemas.microsoft.com/office/drawing/2014/main" id="{42012E3D-5286-4200-1413-99AB9C4442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524" y="0"/>
            <a:ext cx="57518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613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8F5F6-B0C6-7777-B994-012D222C4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graph with a green line&#10;&#10;Description automatically generated">
            <a:extLst>
              <a:ext uri="{FF2B5EF4-FFF2-40B4-BE49-F238E27FC236}">
                <a16:creationId xmlns:a16="http://schemas.microsoft.com/office/drawing/2014/main" id="{0A646F76-1410-775F-9FC8-86D0C70C92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9608" y="1181100"/>
            <a:ext cx="6082392" cy="56769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419CB5B-F858-E0AE-B925-82F56B9E6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Confidence intervals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174F4A-C7CC-2196-0834-BC5CAD8D8A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5900" y="1619249"/>
                <a:ext cx="5893708" cy="4962525"/>
              </a:xfrm>
            </p:spPr>
            <p:txBody>
              <a:bodyPr>
                <a:normAutofit/>
              </a:bodyPr>
              <a:lstStyle/>
              <a:p>
                <a:r>
                  <a:rPr lang="en-GB" dirty="0">
                    <a:latin typeface="Bahnschrift Light" panose="020B0502040204020203" pitchFamily="34" charset="0"/>
                  </a:rPr>
                  <a:t>So far, we haven’t included any uncertainty in our figures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Assume a simpler model: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dirty="0">
                  <a:latin typeface="Bahnschrift Light" panose="020B0502040204020203" pitchFamily="34" charset="0"/>
                </a:endParaRP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We have the point estimate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GB" dirty="0">
                  <a:latin typeface="Bahnschrift Light" panose="020B0502040204020203" pitchFamily="34" charset="0"/>
                </a:endParaRP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But also, the standard error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To go from SE to 95% CI: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95%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𝐶𝐼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±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𝑆𝐸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×1.96</m:t>
                    </m:r>
                  </m:oMath>
                </a14:m>
                <a:endParaRPr lang="en-GB" b="0" dirty="0">
                  <a:latin typeface="Bahnschrift Light" panose="020B0502040204020203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GB" sz="2000" i="1" dirty="0" smtClean="0">
                        <a:solidFill>
                          <a:schemeClr val="bg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1.96</m:t>
                    </m:r>
                  </m:oMath>
                </a14:m>
                <a:r>
                  <a:rPr lang="en-GB" sz="2000" dirty="0">
                    <a:solidFill>
                      <a:schemeClr val="bg1">
                        <a:lumMod val="65000"/>
                        <a:lumOff val="35000"/>
                      </a:schemeClr>
                    </a:solidFill>
                    <a:latin typeface="Bahnschrift Light" panose="020B0502040204020203" pitchFamily="34" charset="0"/>
                  </a:rPr>
                  <a:t> is based on the assumption that a parameter estimate will be </a:t>
                </a:r>
                <a14:m>
                  <m:oMath xmlns:m="http://schemas.openxmlformats.org/officeDocument/2006/math">
                    <m:r>
                      <a:rPr lang="en-GB" sz="2000" i="1">
                        <a:solidFill>
                          <a:schemeClr val="bg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𝑁𝑜𝑟𝑚𝑎𝑙𝑙𝑦</m:t>
                    </m:r>
                  </m:oMath>
                </a14:m>
                <a:r>
                  <a:rPr lang="en-GB" sz="2000" dirty="0">
                    <a:solidFill>
                      <a:schemeClr val="bg1">
                        <a:lumMod val="65000"/>
                        <a:lumOff val="35000"/>
                      </a:schemeClr>
                    </a:solidFill>
                    <a:latin typeface="Bahnschrift Light" panose="020B0502040204020203" pitchFamily="34" charset="0"/>
                  </a:rPr>
                  <a:t> distributed, hence </a:t>
                </a:r>
                <a14:m>
                  <m:oMath xmlns:m="http://schemas.openxmlformats.org/officeDocument/2006/math">
                    <m:r>
                      <a:rPr lang="en-GB" sz="2000" i="1" dirty="0">
                        <a:solidFill>
                          <a:schemeClr val="bg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1.96×</m:t>
                    </m:r>
                    <m:r>
                      <a:rPr lang="en-GB" sz="2000" i="1" dirty="0">
                        <a:solidFill>
                          <a:schemeClr val="bg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𝑆𝐸</m:t>
                    </m:r>
                  </m:oMath>
                </a14:m>
                <a:r>
                  <a:rPr lang="en-GB" sz="2000" dirty="0">
                    <a:solidFill>
                      <a:schemeClr val="bg1">
                        <a:lumMod val="65000"/>
                        <a:lumOff val="35000"/>
                      </a:schemeClr>
                    </a:solidFill>
                    <a:latin typeface="Bahnschrift Light" panose="020B0502040204020203" pitchFamily="34" charset="0"/>
                  </a:rPr>
                  <a:t> will contain 95% of values</a:t>
                </a:r>
              </a:p>
              <a:p>
                <a:endParaRPr lang="en-GB" dirty="0">
                  <a:latin typeface="Bahnschrift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174F4A-C7CC-2196-0834-BC5CAD8D8A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5900" y="1619249"/>
                <a:ext cx="5893708" cy="4962525"/>
              </a:xfrm>
              <a:blipFill>
                <a:blip r:embed="rId3"/>
                <a:stretch>
                  <a:fillRect l="-1861" t="-2334" r="-517" b="-124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FCDC6B6B-04A8-581B-E5BD-9C0DC619BE9E}"/>
              </a:ext>
            </a:extLst>
          </p:cNvPr>
          <p:cNvGrpSpPr/>
          <p:nvPr/>
        </p:nvGrpSpPr>
        <p:grpSpPr>
          <a:xfrm>
            <a:off x="8901112" y="4848225"/>
            <a:ext cx="1952625" cy="600075"/>
            <a:chOff x="8901112" y="4848225"/>
            <a:chExt cx="1952625" cy="6000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2C31565-3A41-AC76-77B3-0DD00B03C5D9}"/>
                    </a:ext>
                  </a:extLst>
                </p:cNvPr>
                <p:cNvSpPr txBox="1"/>
                <p:nvPr/>
              </p:nvSpPr>
              <p:spPr>
                <a:xfrm>
                  <a:off x="8901112" y="4848225"/>
                  <a:ext cx="1952625" cy="408623"/>
                </a:xfrm>
                <a:prstGeom prst="roundRect">
                  <a:avLst/>
                </a:prstGeom>
                <a:solidFill>
                  <a:schemeClr val="bg1">
                    <a:lumMod val="95000"/>
                    <a:lumOff val="5000"/>
                  </a:scheme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𝑆𝐸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×1.96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2C31565-3A41-AC76-77B3-0DD00B03C5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01112" y="4848225"/>
                  <a:ext cx="1952625" cy="408623"/>
                </a:xfrm>
                <a:prstGeom prst="roundRect">
                  <a:avLst/>
                </a:prstGeom>
                <a:blipFill>
                  <a:blip r:embed="rId4"/>
                  <a:stretch>
                    <a:fillRect b="-579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2F511B86-FC63-A86A-7073-4ECD2D1B6A51}"/>
                </a:ext>
              </a:extLst>
            </p:cNvPr>
            <p:cNvCxnSpPr/>
            <p:nvPr/>
          </p:nvCxnSpPr>
          <p:spPr>
            <a:xfrm>
              <a:off x="9401175" y="5448300"/>
              <a:ext cx="9525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F70151D-CE40-11FC-FB15-8CBD5C61DF6A}"/>
              </a:ext>
            </a:extLst>
          </p:cNvPr>
          <p:cNvGrpSpPr/>
          <p:nvPr/>
        </p:nvGrpSpPr>
        <p:grpSpPr>
          <a:xfrm>
            <a:off x="8043862" y="5448300"/>
            <a:ext cx="1952625" cy="642462"/>
            <a:chOff x="8043862" y="5448300"/>
            <a:chExt cx="1952625" cy="64246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9A698395-04CD-B282-38F9-DBD07D870A82}"/>
                    </a:ext>
                  </a:extLst>
                </p:cNvPr>
                <p:cNvSpPr txBox="1"/>
                <p:nvPr/>
              </p:nvSpPr>
              <p:spPr>
                <a:xfrm>
                  <a:off x="8043862" y="5682139"/>
                  <a:ext cx="1952625" cy="408623"/>
                </a:xfrm>
                <a:prstGeom prst="roundRect">
                  <a:avLst/>
                </a:prstGeom>
                <a:solidFill>
                  <a:schemeClr val="bg1">
                    <a:lumMod val="95000"/>
                    <a:lumOff val="5000"/>
                  </a:scheme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𝑆𝐸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×1.96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9A698395-04CD-B282-38F9-DBD07D870A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43862" y="5682139"/>
                  <a:ext cx="1952625" cy="408623"/>
                </a:xfrm>
                <a:prstGeom prst="roundRect">
                  <a:avLst/>
                </a:prstGeom>
                <a:blipFill>
                  <a:blip r:embed="rId5"/>
                  <a:stretch>
                    <a:fillRect b="-579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9DA6B6EB-FA16-F1DD-662F-BD108C5AEBFD}"/>
                </a:ext>
              </a:extLst>
            </p:cNvPr>
            <p:cNvCxnSpPr/>
            <p:nvPr/>
          </p:nvCxnSpPr>
          <p:spPr>
            <a:xfrm flipH="1">
              <a:off x="8439150" y="5448300"/>
              <a:ext cx="96202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92722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95% CI in linear models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2040BE09-F2A5-F58A-3640-A8C9A3F738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-58258" y="1633210"/>
                <a:ext cx="12250257" cy="454614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GB" dirty="0">
                    <a:latin typeface="Bahnschrift Light" panose="020B0502040204020203" pitchFamily="34" charset="0"/>
                  </a:rPr>
                  <a:t>To get uncertainty, we modify our equation: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𝑆𝑘𝑒𝑒𝑛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>
                  <a:latin typeface="Bahnschrift Light" panose="020B0502040204020203" pitchFamily="34" charset="0"/>
                </a:endParaRP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𝐿𝑜𝑤𝑒𝑟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95%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𝐶𝐼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𝑆𝐸</m:t>
                      </m:r>
                      <m:r>
                        <a:rPr lang="en-GB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×1.96)+(</m:t>
                      </m:r>
                      <m:sSub>
                        <m:sSub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𝑆𝐸</m:t>
                      </m:r>
                      <m:r>
                        <a:rPr lang="en-GB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×1.96) ×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𝑆𝑘𝑒𝑒𝑛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>
                  <a:latin typeface="Bahnschrift Light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𝑈𝑝𝑝𝑒𝑟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95%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𝐶𝐼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𝑆𝐸</m:t>
                          </m:r>
                          <m: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×1.96</m:t>
                          </m:r>
                        </m:e>
                      </m:d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𝑆𝐸</m:t>
                      </m:r>
                      <m:r>
                        <a:rPr lang="en-GB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×1.96) ×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𝑆𝑘𝑒𝑒𝑛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>
                  <a:latin typeface="Bahnschrift Light" panose="020B0502040204020203" pitchFamily="34" charset="0"/>
                </a:endParaRP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Subtracting the parameter standard error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1.96 gives lower 95% CI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Adding the parameter standard error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1.96 gives upper 95% CI</a:t>
                </a:r>
              </a:p>
              <a:p>
                <a:endParaRPr lang="en-GB" dirty="0">
                  <a:latin typeface="Bahnschrift Light" panose="020B0502040204020203" pitchFamily="34" charset="0"/>
                </a:endParaRP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We don’t want to do this by hand (it’s a real pain)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In the next lecture, you’ll see how to get R to do the heavy lifting for you</a:t>
                </a:r>
              </a:p>
              <a:p>
                <a:endParaRPr lang="en-GB" dirty="0">
                  <a:latin typeface="Bahnschrift Light" panose="020B0502040204020203" pitchFamily="34" charset="0"/>
                </a:endParaRPr>
              </a:p>
            </p:txBody>
          </p:sp>
        </mc:Choice>
        <mc:Fallback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2040BE09-F2A5-F58A-3640-A8C9A3F738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58258" y="1633210"/>
                <a:ext cx="12250257" cy="4546145"/>
              </a:xfrm>
              <a:blipFill>
                <a:blip r:embed="rId2"/>
                <a:stretch>
                  <a:fillRect l="-896" t="-3485" b="-10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4370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AEE6A-F45C-53E3-719E-F362797EB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are confidence intervals?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BA654-9E5C-B520-07C5-B4D372EE2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Ring toss game</a:t>
            </a:r>
          </a:p>
          <a:p>
            <a:pPr lvl="1"/>
            <a:r>
              <a:rPr lang="en-GB" dirty="0"/>
              <a:t>If you use a small hoop, then your chance of hitting the target is small, but if you use a “bigger” hoop you have a 95% chance</a:t>
            </a:r>
          </a:p>
          <a:p>
            <a:pPr lvl="1"/>
            <a:r>
              <a:rPr lang="en-GB" dirty="0"/>
              <a:t>However, once the hoop has landed, it either overlaps the post or not</a:t>
            </a:r>
          </a:p>
          <a:p>
            <a:r>
              <a:rPr lang="en-GB" dirty="0"/>
              <a:t>This is the same as a 95% CI</a:t>
            </a:r>
          </a:p>
          <a:p>
            <a:pPr lvl="1"/>
            <a:r>
              <a:rPr lang="en-GB" dirty="0"/>
              <a:t>Before you run the model, you have a 95% chance of overlapping the true parameter value</a:t>
            </a:r>
          </a:p>
          <a:p>
            <a:pPr lvl="1"/>
            <a:r>
              <a:rPr lang="en-GB" dirty="0"/>
              <a:t>However, once you’ve run the model, the 95% CI either contains the true value or not</a:t>
            </a:r>
          </a:p>
          <a:p>
            <a:r>
              <a:rPr lang="en-GB" dirty="0"/>
              <a:t>If we could rewind time and rerun the data collection and analysis 100 times, we’d be able to figure out the most likely range of the true value</a:t>
            </a:r>
          </a:p>
          <a:p>
            <a:pPr lvl="1"/>
            <a:r>
              <a:rPr lang="en-GB" dirty="0"/>
              <a:t>But if we only throw it once, we can’t</a:t>
            </a:r>
          </a:p>
        </p:txBody>
      </p:sp>
      <p:pic>
        <p:nvPicPr>
          <p:cNvPr id="6" name="Picture Placeholder 5" descr="A hand holding a ring&#10;&#10;Description automatically generated">
            <a:extLst>
              <a:ext uri="{FF2B5EF4-FFF2-40B4-BE49-F238E27FC236}">
                <a16:creationId xmlns:a16="http://schemas.microsoft.com/office/drawing/2014/main" id="{80D7A350-8BF0-B43E-4A83-32CA4C9827A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57" t="-32794" r="-404" b="-24858"/>
          <a:stretch/>
        </p:blipFill>
        <p:spPr>
          <a:xfrm>
            <a:off x="6359525" y="0"/>
            <a:ext cx="5832475" cy="6858000"/>
          </a:xfrm>
        </p:spPr>
      </p:pic>
    </p:spTree>
    <p:extLst>
      <p:ext uri="{BB962C8B-B14F-4D97-AF65-F5344CB8AC3E}">
        <p14:creationId xmlns:p14="http://schemas.microsoft.com/office/powerpoint/2010/main" val="1657289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AEE6A-F45C-53E3-719E-F362797EB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are confidence intervals?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BA654-9E5C-B520-07C5-B4D372EE2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If we could rewind time and rerun the data collection and analysis multiple times, we’d be able to figure out the most likely range of the true value</a:t>
            </a:r>
          </a:p>
          <a:p>
            <a:r>
              <a:rPr lang="en-GB" dirty="0"/>
              <a:t>But if we only throw it once, we don’t know if the interval overlaps the true value</a:t>
            </a:r>
          </a:p>
          <a:p>
            <a:r>
              <a:rPr lang="en-GB" dirty="0"/>
              <a:t>Does the interval overlap the true parameter?</a:t>
            </a:r>
          </a:p>
        </p:txBody>
      </p:sp>
      <p:pic>
        <p:nvPicPr>
          <p:cNvPr id="6" name="Picture Placeholder 5" descr="A hand holding a ring&#10;&#10;Description automatically generated">
            <a:extLst>
              <a:ext uri="{FF2B5EF4-FFF2-40B4-BE49-F238E27FC236}">
                <a16:creationId xmlns:a16="http://schemas.microsoft.com/office/drawing/2014/main" id="{80D7A350-8BF0-B43E-4A83-32CA4C9827A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57" t="-32794" r="-404" b="-24858"/>
          <a:stretch/>
        </p:blipFill>
        <p:spPr>
          <a:xfrm>
            <a:off x="6359525" y="0"/>
            <a:ext cx="5832475" cy="6858000"/>
          </a:xfrm>
        </p:spPr>
      </p:pic>
      <p:pic>
        <p:nvPicPr>
          <p:cNvPr id="5" name="Picture 4" descr="A graph with a point on it&#10;&#10;Description automatically generated">
            <a:extLst>
              <a:ext uri="{FF2B5EF4-FFF2-40B4-BE49-F238E27FC236}">
                <a16:creationId xmlns:a16="http://schemas.microsoft.com/office/drawing/2014/main" id="{9A7E3BFD-BFA8-4E99-E3C1-894DA95025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7225" y="662780"/>
            <a:ext cx="5884775" cy="5884775"/>
          </a:xfrm>
          <a:prstGeom prst="rect">
            <a:avLst/>
          </a:prstGeom>
        </p:spPr>
      </p:pic>
      <p:pic>
        <p:nvPicPr>
          <p:cNvPr id="8" name="Picture 7" descr="A screen shot of a graph&#10;&#10;Description automatically generated">
            <a:extLst>
              <a:ext uri="{FF2B5EF4-FFF2-40B4-BE49-F238E27FC236}">
                <a16:creationId xmlns:a16="http://schemas.microsoft.com/office/drawing/2014/main" id="{0E203741-DA5F-8841-7987-8801CE798C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9826" y="0"/>
            <a:ext cx="57518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504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AEE6A-F45C-53E3-719E-F362797EB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are confidence intervals?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BA654-9E5C-B520-07C5-B4D372EE2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 95% Confidence Interval does not have a 95% chance of containing the true parameter value</a:t>
            </a:r>
          </a:p>
          <a:p>
            <a:r>
              <a:rPr lang="en-GB" dirty="0"/>
              <a:t>It either does, or it doesn’t</a:t>
            </a:r>
          </a:p>
          <a:p>
            <a:pPr lvl="1"/>
            <a:r>
              <a:rPr lang="en-GB" dirty="0"/>
              <a:t>Just like the ring is either over the post or not</a:t>
            </a:r>
          </a:p>
          <a:p>
            <a:r>
              <a:rPr lang="en-GB" dirty="0"/>
              <a:t>But, for convenience, we can think of a 95% CI as having a 95% chance of overlapping the true value</a:t>
            </a:r>
          </a:p>
          <a:p>
            <a:pPr lvl="1"/>
            <a:r>
              <a:rPr lang="en-GB" dirty="0"/>
              <a:t>It’s not technically correct, so don’t say that to any statisticians</a:t>
            </a:r>
          </a:p>
        </p:txBody>
      </p:sp>
      <p:pic>
        <p:nvPicPr>
          <p:cNvPr id="9" name="Picture Placeholder 8" descr="A graph with a point on it&#10;&#10;Description automatically generated">
            <a:extLst>
              <a:ext uri="{FF2B5EF4-FFF2-40B4-BE49-F238E27FC236}">
                <a16:creationId xmlns:a16="http://schemas.microsoft.com/office/drawing/2014/main" id="{9A7E3BFD-BFA8-4E99-E3C1-894DA950256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37" t="-9128" r="357" b="-8432"/>
          <a:stretch/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744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257BF-315C-4A32-0704-0C6DE3E11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Answering our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184A3-1733-1DDA-EBD7-874A7C6AE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Does greater hunting pressure lead to reduced horn size?</a:t>
            </a:r>
          </a:p>
          <a:p>
            <a:pPr lvl="1"/>
            <a:r>
              <a:rPr lang="en-GB" i="1" dirty="0">
                <a:solidFill>
                  <a:srgbClr val="FFFF00"/>
                </a:solidFill>
                <a:latin typeface="Amasis MT Pro Medium" panose="02040604050005020304" pitchFamily="18" charset="0"/>
              </a:rPr>
              <a:t>Now with uncertainty!</a:t>
            </a:r>
          </a:p>
          <a:p>
            <a:r>
              <a:rPr lang="en-GB" dirty="0"/>
              <a:t>When making inference consider both the “point estimate” and the uncertainty</a:t>
            </a:r>
          </a:p>
          <a:p>
            <a:r>
              <a:rPr lang="en-GB" dirty="0"/>
              <a:t>My interpretation:</a:t>
            </a:r>
          </a:p>
          <a:p>
            <a:pPr lvl="1"/>
            <a:r>
              <a:rPr lang="en-GB" dirty="0"/>
              <a:t>Hunting probably effects horn length, but it’s not impossible that it hunting doesn’t effect horn length.</a:t>
            </a:r>
          </a:p>
        </p:txBody>
      </p:sp>
      <p:pic>
        <p:nvPicPr>
          <p:cNvPr id="8" name="Picture Placeholder 7" descr="A screenshot of a graph&#10;&#10;Description automatically generated">
            <a:extLst>
              <a:ext uri="{FF2B5EF4-FFF2-40B4-BE49-F238E27FC236}">
                <a16:creationId xmlns:a16="http://schemas.microsoft.com/office/drawing/2014/main" id="{4028A641-E759-5F22-0849-E6C3790972B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  <p:pic>
        <p:nvPicPr>
          <p:cNvPr id="7" name="Picture 6" descr="A screen shot of a graph&#10;&#10;Description automatically generated">
            <a:extLst>
              <a:ext uri="{FF2B5EF4-FFF2-40B4-BE49-F238E27FC236}">
                <a16:creationId xmlns:a16="http://schemas.microsoft.com/office/drawing/2014/main" id="{BD84095A-5825-75F1-46CD-C9D9220092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9826" y="0"/>
            <a:ext cx="57518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238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0F3FD-0765-2ADD-B2BC-F5F405D78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Dichotomania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8289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Placeholder 17" descr="A graph on a black background&#10;&#10;Description automatically generated">
            <a:extLst>
              <a:ext uri="{FF2B5EF4-FFF2-40B4-BE49-F238E27FC236}">
                <a16:creationId xmlns:a16="http://schemas.microsoft.com/office/drawing/2014/main" id="{F8D658B8-F99F-EEF4-140A-F5138E22B76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6FC881-B6C0-4841-68DF-374D3EA9F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Dichotomania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C4370-2AC4-B36C-C3E0-D9D73F79B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Humans love to dichotomise things</a:t>
            </a:r>
          </a:p>
          <a:p>
            <a:pPr lvl="1"/>
            <a:r>
              <a:rPr lang="en-GB" dirty="0"/>
              <a:t>Taking continuous variables and turning them into categories</a:t>
            </a:r>
          </a:p>
          <a:p>
            <a:pPr lvl="1"/>
            <a:r>
              <a:rPr lang="en-GB" dirty="0"/>
              <a:t>Leads to belief that groups are “True”</a:t>
            </a:r>
          </a:p>
          <a:p>
            <a:r>
              <a:rPr lang="en-GB" dirty="0"/>
              <a:t>Rarely the case in the real world</a:t>
            </a:r>
          </a:p>
          <a:p>
            <a:r>
              <a:rPr lang="en-GB" dirty="0"/>
              <a:t>Categories often used when:</a:t>
            </a:r>
          </a:p>
          <a:p>
            <a:pPr lvl="1"/>
            <a:r>
              <a:rPr lang="en-GB" dirty="0"/>
              <a:t>Measuring continuous values difficult</a:t>
            </a:r>
          </a:p>
          <a:p>
            <a:pPr lvl="1"/>
            <a:r>
              <a:rPr lang="en-GB" dirty="0"/>
              <a:t>Groups are easily available</a:t>
            </a:r>
          </a:p>
          <a:p>
            <a:pPr lvl="1"/>
            <a:r>
              <a:rPr lang="en-GB" dirty="0"/>
              <a:t>Following precedent</a:t>
            </a:r>
          </a:p>
        </p:txBody>
      </p:sp>
      <p:pic>
        <p:nvPicPr>
          <p:cNvPr id="17" name="Picture Placeholder 5" descr="A screen shot of a graph&#10;&#10;Description automatically generated">
            <a:extLst>
              <a:ext uri="{FF2B5EF4-FFF2-40B4-BE49-F238E27FC236}">
                <a16:creationId xmlns:a16="http://schemas.microsoft.com/office/drawing/2014/main" id="{BD297421-3764-74B3-7068-BB8841110B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>
          <a:xfrm>
            <a:off x="184409" y="0"/>
            <a:ext cx="5832475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EB858AE-CD05-D3C0-1B6A-32A413A8DDB1}"/>
              </a:ext>
            </a:extLst>
          </p:cNvPr>
          <p:cNvSpPr txBox="1"/>
          <p:nvPr/>
        </p:nvSpPr>
        <p:spPr>
          <a:xfrm>
            <a:off x="7234326" y="2628152"/>
            <a:ext cx="4082871" cy="1328023"/>
          </a:xfrm>
          <a:prstGeom prst="roundRect">
            <a:avLst/>
          </a:prstGeom>
          <a:solidFill>
            <a:srgbClr val="0D0D0D">
              <a:alpha val="87059"/>
            </a:srgb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/>
              <a:t>Continuous variables:</a:t>
            </a:r>
          </a:p>
          <a:p>
            <a:pPr marL="285750" indent="-285750">
              <a:buFontTx/>
              <a:buChar char="-"/>
            </a:pPr>
            <a:r>
              <a:rPr lang="en-GB" dirty="0"/>
              <a:t>More efficient (fewer parameters)</a:t>
            </a:r>
          </a:p>
          <a:p>
            <a:pPr marL="285750" indent="-285750">
              <a:buFontTx/>
              <a:buChar char="-"/>
            </a:pPr>
            <a:r>
              <a:rPr lang="en-GB" dirty="0"/>
              <a:t>More accurate inference</a:t>
            </a:r>
          </a:p>
          <a:p>
            <a:pPr marL="285750" indent="-285750">
              <a:buFontTx/>
              <a:buChar char="-"/>
            </a:pPr>
            <a:r>
              <a:rPr lang="en-GB" dirty="0"/>
              <a:t>Better representation of reality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A5D4BE-CECC-FC8E-E1B9-A10F044359B9}"/>
              </a:ext>
            </a:extLst>
          </p:cNvPr>
          <p:cNvSpPr txBox="1"/>
          <p:nvPr/>
        </p:nvSpPr>
        <p:spPr>
          <a:xfrm>
            <a:off x="1300039" y="2628152"/>
            <a:ext cx="3601214" cy="1328023"/>
          </a:xfrm>
          <a:prstGeom prst="roundRect">
            <a:avLst/>
          </a:prstGeom>
          <a:solidFill>
            <a:srgbClr val="0D0D0D">
              <a:alpha val="87059"/>
            </a:srgb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/>
              <a:t>Categorical variables:</a:t>
            </a:r>
          </a:p>
          <a:p>
            <a:pPr marL="285750" indent="-285750">
              <a:buFontTx/>
              <a:buChar char="-"/>
            </a:pPr>
            <a:r>
              <a:rPr lang="en-GB" dirty="0"/>
              <a:t>Can help with non-linearity</a:t>
            </a:r>
          </a:p>
          <a:p>
            <a:pPr marL="285750" indent="-285750">
              <a:buFontTx/>
              <a:buChar char="-"/>
            </a:pPr>
            <a:r>
              <a:rPr lang="en-GB" dirty="0"/>
              <a:t>Sometimes more appropriate</a:t>
            </a:r>
          </a:p>
          <a:p>
            <a:pPr marL="285750" indent="-285750">
              <a:buFontTx/>
              <a:buChar char="-"/>
            </a:pPr>
            <a:r>
              <a:rPr lang="en-GB" dirty="0"/>
              <a:t>Easier to collect</a:t>
            </a:r>
          </a:p>
        </p:txBody>
      </p:sp>
    </p:spTree>
    <p:extLst>
      <p:ext uri="{BB962C8B-B14F-4D97-AF65-F5344CB8AC3E}">
        <p14:creationId xmlns:p14="http://schemas.microsoft.com/office/powerpoint/2010/main" val="2005666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uiExpand="1" build="p"/>
      <p:bldP spid="13" grpId="0" animBg="1"/>
      <p:bldP spid="1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CB778-27FE-F11F-3899-530F9B253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err="1"/>
              <a:t>tl;dr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2D8CE4-617E-577E-05F7-6375C1C2B25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1943099"/>
                <a:ext cx="10868025" cy="4723707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GB" dirty="0"/>
                  <a:t>We always start with a question</a:t>
                </a:r>
              </a:p>
              <a:p>
                <a:r>
                  <a:rPr lang="en-GB" dirty="0"/>
                  <a:t>Statistics is merely how we answer the question</a:t>
                </a:r>
                <a:endParaRPr lang="en-GB" sz="2400" dirty="0">
                  <a:cs typeface="Courier New" panose="02070309020205020404" pitchFamily="49" charset="0"/>
                </a:endParaRPr>
              </a:p>
              <a:p>
                <a:r>
                  <a:rPr lang="en-GB" dirty="0"/>
                  <a:t>Start by plotting your data – get a feel for what’s going on</a:t>
                </a:r>
              </a:p>
              <a:p>
                <a:r>
                  <a:rPr lang="en-GB" dirty="0"/>
                  <a:t>For linear models with a categorical variable, we estimate an intercept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) and contrast treatments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𝑒𝑡𝑐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GB" dirty="0"/>
                  <a:t>)</a:t>
                </a:r>
              </a:p>
              <a:p>
                <a:r>
                  <a:rPr lang="en-GB" dirty="0"/>
                  <a:t>We use algorithms to estimate those values</a:t>
                </a:r>
              </a:p>
              <a:p>
                <a:r>
                  <a:rPr lang="en-GB" dirty="0"/>
                  <a:t>We can then interpret what those parameter values mean biologically</a:t>
                </a:r>
              </a:p>
              <a:p>
                <a:pPr lvl="1"/>
                <a:r>
                  <a:rPr lang="en-GB" dirty="0"/>
                  <a:t>Are they “big”? Should we be concerned? Happy?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2D8CE4-617E-577E-05F7-6375C1C2B2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943099"/>
                <a:ext cx="10868025" cy="4723707"/>
              </a:xfrm>
              <a:prstGeom prst="rect">
                <a:avLst/>
              </a:prstGeom>
              <a:blipFill>
                <a:blip r:embed="rId2"/>
                <a:stretch>
                  <a:fillRect l="-1010" t="-24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1499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bs_temp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ahnschrift Light">
      <a:majorFont>
        <a:latin typeface="Bahnschrift Light"/>
        <a:ea typeface=""/>
        <a:cs typeface=""/>
      </a:majorFont>
      <a:minorFont>
        <a:latin typeface="Bahnschrif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bs_slide_template.potx" id="{ECECA26D-C7D9-428D-8AE3-0DEBE87A348A}" vid="{A052F16A-C2E7-4086-BA7D-A0C2C9C1F8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sbs_template</Template>
  <TotalTime>980</TotalTime>
  <Words>1597</Words>
  <Application>Microsoft Office PowerPoint</Application>
  <PresentationFormat>Widescreen</PresentationFormat>
  <Paragraphs>247</Paragraphs>
  <Slides>29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Amasis MT Pro Medium</vt:lpstr>
      <vt:lpstr>Aptos</vt:lpstr>
      <vt:lpstr>Arial</vt:lpstr>
      <vt:lpstr>Bahnschrift Light</vt:lpstr>
      <vt:lpstr>Cambria Math</vt:lpstr>
      <vt:lpstr>Courier New</vt:lpstr>
      <vt:lpstr>sbs_template</vt:lpstr>
      <vt:lpstr>Linear modelling theory</vt:lpstr>
      <vt:lpstr>Last week we used straight lines μ_i=β_0+β_1×X_i</vt:lpstr>
      <vt:lpstr>No straight line?</vt:lpstr>
      <vt:lpstr>The question</vt:lpstr>
      <vt:lpstr>Stone sheep</vt:lpstr>
      <vt:lpstr>Our data</vt:lpstr>
      <vt:lpstr>Our explanatory variable</vt:lpstr>
      <vt:lpstr>Get to know your data</vt:lpstr>
      <vt:lpstr>Data visualisation</vt:lpstr>
      <vt:lpstr>Question to model</vt:lpstr>
      <vt:lpstr>Categories in linear models</vt:lpstr>
      <vt:lpstr>Categories in linear models</vt:lpstr>
      <vt:lpstr>Visually</vt:lpstr>
      <vt:lpstr>Fitting the model</vt:lpstr>
      <vt:lpstr>Last week: straight line</vt:lpstr>
      <vt:lpstr>This week: Multiple averages</vt:lpstr>
      <vt:lpstr>What do we learn biologically?</vt:lpstr>
      <vt:lpstr>Answering our question</vt:lpstr>
      <vt:lpstr>Uncertainty</vt:lpstr>
      <vt:lpstr>Uncertainty</vt:lpstr>
      <vt:lpstr>Confidence intervals</vt:lpstr>
      <vt:lpstr>95% CI in linear models</vt:lpstr>
      <vt:lpstr>What are confidence intervals?</vt:lpstr>
      <vt:lpstr>What are confidence intervals?</vt:lpstr>
      <vt:lpstr>What are confidence intervals?</vt:lpstr>
      <vt:lpstr>Answering our question</vt:lpstr>
      <vt:lpstr>Dichotomania</vt:lpstr>
      <vt:lpstr>Dichotomania</vt:lpstr>
      <vt:lpstr>tl;dr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Roos, Deon</dc:creator>
  <cp:lastModifiedBy>Roos, Deon</cp:lastModifiedBy>
  <cp:revision>6</cp:revision>
  <dcterms:created xsi:type="dcterms:W3CDTF">2024-07-16T09:02:29Z</dcterms:created>
  <dcterms:modified xsi:type="dcterms:W3CDTF">2024-09-06T10:01:08Z</dcterms:modified>
</cp:coreProperties>
</file>