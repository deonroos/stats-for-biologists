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5" r:id="rId1"/>
  </p:sldMasterIdLst>
  <p:notesMasterIdLst>
    <p:notesMasterId r:id="rId37"/>
  </p:notesMasterIdLst>
  <p:sldIdLst>
    <p:sldId id="256" r:id="rId2"/>
    <p:sldId id="333" r:id="rId3"/>
    <p:sldId id="334" r:id="rId4"/>
    <p:sldId id="336" r:id="rId5"/>
    <p:sldId id="335" r:id="rId6"/>
    <p:sldId id="288" r:id="rId7"/>
    <p:sldId id="339" r:id="rId8"/>
    <p:sldId id="340" r:id="rId9"/>
    <p:sldId id="329" r:id="rId10"/>
    <p:sldId id="349" r:id="rId11"/>
    <p:sldId id="331" r:id="rId12"/>
    <p:sldId id="341" r:id="rId13"/>
    <p:sldId id="332" r:id="rId14"/>
    <p:sldId id="342" r:id="rId15"/>
    <p:sldId id="270" r:id="rId16"/>
    <p:sldId id="328" r:id="rId17"/>
    <p:sldId id="306" r:id="rId18"/>
    <p:sldId id="324" r:id="rId19"/>
    <p:sldId id="305" r:id="rId20"/>
    <p:sldId id="326" r:id="rId21"/>
    <p:sldId id="257" r:id="rId22"/>
    <p:sldId id="338" r:id="rId23"/>
    <p:sldId id="351" r:id="rId24"/>
    <p:sldId id="352" r:id="rId25"/>
    <p:sldId id="330" r:id="rId26"/>
    <p:sldId id="353" r:id="rId27"/>
    <p:sldId id="354" r:id="rId28"/>
    <p:sldId id="355" r:id="rId29"/>
    <p:sldId id="356" r:id="rId30"/>
    <p:sldId id="343" r:id="rId31"/>
    <p:sldId id="357" r:id="rId32"/>
    <p:sldId id="344" r:id="rId33"/>
    <p:sldId id="345" r:id="rId34"/>
    <p:sldId id="358" r:id="rId35"/>
    <p:sldId id="359" r:id="rId36"/>
  </p:sldIdLst>
  <p:sldSz cx="12192000" cy="6858000"/>
  <p:notesSz cx="6858000" cy="9144000"/>
  <p:embeddedFontLst>
    <p:embeddedFont>
      <p:font typeface="Bahnschrift Light" panose="020B0502040204020203" pitchFamily="34" charset="0"/>
      <p:regular r:id="rId38"/>
    </p:embeddedFont>
    <p:embeddedFont>
      <p:font typeface="Cambria Math" panose="02040503050406030204" pitchFamily="18" charset="0"/>
      <p:regular r:id="rId39"/>
    </p:embeddedFont>
    <p:embeddedFont>
      <p:font typeface="Roboto" panose="02000000000000000000" pitchFamily="2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098793-7D45-483C-A2CD-71757901ABEE}" v="63" dt="2025-07-07T20:11:30.5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65" autoAdjust="0"/>
    <p:restoredTop sz="94337" autoAdjust="0"/>
  </p:normalViewPr>
  <p:slideViewPr>
    <p:cSldViewPr snapToGrid="0">
      <p:cViewPr varScale="1">
        <p:scale>
          <a:sx n="111" d="100"/>
          <a:sy n="111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B79C3-63BD-4260-B39C-A21BDBFD3EC2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3BAC34-CF53-4E66-B782-0A417FCABA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59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9f8dfbc3a1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9f8dfbc3a1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7414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9f8dfbc3a1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9f8dfbc3a1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7565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9f8dfbc3a1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9f8dfbc3a1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8911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9f8dfbc3a1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9f8dfbc3a1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4218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99b185d4a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99b185d4a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0637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094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473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306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1453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5DBE-9C56-419A-B106-42B06CF5E6CF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2C08-6C83-4620-A4F2-7F5A9B510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588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5DBE-9C56-419A-B106-42B06CF5E6CF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2C08-6C83-4620-A4F2-7F5A9B510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6038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5DBE-9C56-419A-B106-42B06CF5E6CF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2C08-6C83-4620-A4F2-7F5A9B510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08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5DBE-9C56-419A-B106-42B06CF5E6CF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2C08-6C83-4620-A4F2-7F5A9B510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869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5DBE-9C56-419A-B106-42B06CF5E6CF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2C08-6C83-4620-A4F2-7F5A9B510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0921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5DBE-9C56-419A-B106-42B06CF5E6CF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2C08-6C83-4620-A4F2-7F5A9B510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328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5DBE-9C56-419A-B106-42B06CF5E6CF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2C08-6C83-4620-A4F2-7F5A9B510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951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A581-97F1-435E-8E5A-5972AAEF871B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B2F5-627E-4743-AC48-679479976A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924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81C78-9441-7FAC-0D26-EAF1B21DA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55972-6453-1350-4E7A-11D6C7BA8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D2E60-C581-170F-14E4-C05E19E22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5DBE-9C56-419A-B106-42B06CF5E6CF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FEF6C-F504-7187-A644-EB22FC497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93D89-C005-30A7-71D3-615AE97C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2C08-6C83-4620-A4F2-7F5A9B510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184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803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AA5DBE-9C56-419A-B106-42B06CF5E6CF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072C08-6C83-4620-A4F2-7F5A9B510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8612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5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6.png"/><Relationship Id="rId4" Type="http://schemas.openxmlformats.org/officeDocument/2006/relationships/image" Target="../media/image2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50F4C-DD8F-9CED-692A-76E780A05B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 to linear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CBC810B5-A6DA-0BFD-FE9D-E376DD9EAA4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r>
                  <a:rPr lang="en-GB" dirty="0"/>
                  <a:t>Of course I’m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CBC810B5-A6DA-0BFD-FE9D-E376DD9EAA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 t="-5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4468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23E61-6D7A-D6E8-1910-13732FD50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r>
              <a:rPr lang="en-GB" dirty="0"/>
              <a:t>Stats: making the simple seem complicated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962950-2D54-62EB-A8D7-806F8AD3A3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Statistics is all about finding associations</a:t>
                </a:r>
              </a:p>
              <a:p>
                <a:pPr lvl="1"/>
                <a:r>
                  <a:rPr lang="en-GB" dirty="0"/>
                  <a:t>When temperature increases, what happens to survival?</a:t>
                </a:r>
              </a:p>
              <a:p>
                <a:pPr lvl="1"/>
                <a:r>
                  <a:rPr lang="en-GB" dirty="0"/>
                  <a:t>What is the average number of kittiwakes in Site A and Site B?</a:t>
                </a:r>
              </a:p>
              <a:p>
                <a:r>
                  <a:rPr lang="en-GB" dirty="0"/>
                  <a:t>The maths is pretty simple</a:t>
                </a:r>
              </a:p>
              <a:p>
                <a:pPr lvl="1"/>
                <a:r>
                  <a:rPr lang="en-GB" dirty="0"/>
                  <a:t>Intercepts and slopes</a:t>
                </a:r>
              </a:p>
              <a:p>
                <a:pPr lvl="1"/>
                <a:r>
                  <a:rPr lang="en-GB" dirty="0"/>
                  <a:t>Or multiple averages</a:t>
                </a:r>
              </a:p>
              <a:p>
                <a:r>
                  <a:rPr lang="en-GB" dirty="0"/>
                  <a:t>Some form of: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962950-2D54-62EB-A8D7-806F8AD3A3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oogle Shape;372;p39">
            <a:extLst>
              <a:ext uri="{FF2B5EF4-FFF2-40B4-BE49-F238E27FC236}">
                <a16:creationId xmlns:a16="http://schemas.microsoft.com/office/drawing/2014/main" id="{DEBF7F62-B3BD-F6EE-3692-6FA3F0189EF0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 rotWithShape="1">
          <a:blip r:embed="rId3">
            <a:alphaModFix/>
          </a:blip>
          <a:srcRect l="-511" t="-36890" b="-12820"/>
          <a:stretch/>
        </p:blipFill>
        <p:spPr>
          <a:xfrm>
            <a:off x="6201295" y="0"/>
            <a:ext cx="583247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2482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9670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/>
              <a:t>Statistics and data</a:t>
            </a:r>
            <a:endParaRPr dirty="0"/>
          </a:p>
        </p:txBody>
      </p:sp>
      <p:cxnSp>
        <p:nvCxnSpPr>
          <p:cNvPr id="406" name="Google Shape;406;p27"/>
          <p:cNvCxnSpPr>
            <a:stCxn id="407" idx="6"/>
            <a:endCxn id="408" idx="2"/>
          </p:cNvCxnSpPr>
          <p:nvPr/>
        </p:nvCxnSpPr>
        <p:spPr>
          <a:xfrm>
            <a:off x="3158551" y="4985029"/>
            <a:ext cx="936400" cy="12480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9" name="Google Shape;409;p27"/>
          <p:cNvCxnSpPr>
            <a:stCxn id="407" idx="6"/>
            <a:endCxn id="410" idx="2"/>
          </p:cNvCxnSpPr>
          <p:nvPr/>
        </p:nvCxnSpPr>
        <p:spPr>
          <a:xfrm rot="10800000" flipH="1">
            <a:off x="3158551" y="3737029"/>
            <a:ext cx="936400" cy="12480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23" name="Google Shape;423;p27"/>
          <p:cNvGrpSpPr/>
          <p:nvPr/>
        </p:nvGrpSpPr>
        <p:grpSpPr>
          <a:xfrm>
            <a:off x="4094852" y="3524229"/>
            <a:ext cx="1968727" cy="425600"/>
            <a:chOff x="2678825" y="1476150"/>
            <a:chExt cx="1476545" cy="319200"/>
          </a:xfrm>
        </p:grpSpPr>
        <p:sp>
          <p:nvSpPr>
            <p:cNvPr id="412" name="Google Shape;412;p27"/>
            <p:cNvSpPr/>
            <p:nvPr/>
          </p:nvSpPr>
          <p:spPr>
            <a:xfrm>
              <a:off x="2852825" y="1476150"/>
              <a:ext cx="1302545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latin typeface="Roboto"/>
                  <a:ea typeface="Roboto"/>
                  <a:cs typeface="Roboto"/>
                  <a:sym typeface="Roboto"/>
                </a:rPr>
                <a:t>Observed</a:t>
              </a:r>
              <a:endParaRPr sz="24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0" name="Google Shape;410;p27"/>
            <p:cNvSpPr/>
            <p:nvPr/>
          </p:nvSpPr>
          <p:spPr>
            <a:xfrm>
              <a:off x="2678825" y="1548750"/>
              <a:ext cx="174000" cy="17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 dirty="0"/>
            </a:p>
          </p:txBody>
        </p:sp>
      </p:grpSp>
      <p:grpSp>
        <p:nvGrpSpPr>
          <p:cNvPr id="424" name="Google Shape;424;p27"/>
          <p:cNvGrpSpPr/>
          <p:nvPr/>
        </p:nvGrpSpPr>
        <p:grpSpPr>
          <a:xfrm>
            <a:off x="1342185" y="4772229"/>
            <a:ext cx="1816367" cy="425600"/>
            <a:chOff x="614325" y="2412150"/>
            <a:chExt cx="1362275" cy="319200"/>
          </a:xfrm>
        </p:grpSpPr>
        <p:sp>
          <p:nvSpPr>
            <p:cNvPr id="425" name="Google Shape;425;p27"/>
            <p:cNvSpPr/>
            <p:nvPr/>
          </p:nvSpPr>
          <p:spPr>
            <a:xfrm>
              <a:off x="614325" y="2412150"/>
              <a:ext cx="1182300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r"/>
              <a:r>
                <a:rPr lang="en-GB" sz="2400" dirty="0">
                  <a:latin typeface="Roboto"/>
                  <a:ea typeface="Roboto"/>
                  <a:cs typeface="Roboto"/>
                  <a:sym typeface="Roboto"/>
                </a:rPr>
                <a:t>Data</a:t>
              </a:r>
              <a:endParaRPr sz="24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7" name="Google Shape;407;p27"/>
            <p:cNvSpPr/>
            <p:nvPr/>
          </p:nvSpPr>
          <p:spPr>
            <a:xfrm>
              <a:off x="1802600" y="2484750"/>
              <a:ext cx="174000" cy="17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 dirty="0"/>
            </a:p>
          </p:txBody>
        </p:sp>
      </p:grpSp>
      <p:grpSp>
        <p:nvGrpSpPr>
          <p:cNvPr id="426" name="Google Shape;426;p27"/>
          <p:cNvGrpSpPr/>
          <p:nvPr/>
        </p:nvGrpSpPr>
        <p:grpSpPr>
          <a:xfrm>
            <a:off x="4094850" y="6020229"/>
            <a:ext cx="2223905" cy="425600"/>
            <a:chOff x="2678825" y="3348150"/>
            <a:chExt cx="1667929" cy="319200"/>
          </a:xfrm>
        </p:grpSpPr>
        <p:sp>
          <p:nvSpPr>
            <p:cNvPr id="417" name="Google Shape;417;p27"/>
            <p:cNvSpPr/>
            <p:nvPr/>
          </p:nvSpPr>
          <p:spPr>
            <a:xfrm>
              <a:off x="2852824" y="3348150"/>
              <a:ext cx="1493930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rPr>
                <a:t>Unobserved</a:t>
              </a:r>
              <a:endParaRPr sz="2400" dirty="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8" name="Google Shape;408;p27"/>
            <p:cNvSpPr/>
            <p:nvPr/>
          </p:nvSpPr>
          <p:spPr>
            <a:xfrm>
              <a:off x="2678825" y="3420750"/>
              <a:ext cx="174000" cy="174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/>
            </a:p>
          </p:txBody>
        </p:sp>
      </p:grpSp>
      <p:cxnSp>
        <p:nvCxnSpPr>
          <p:cNvPr id="433" name="Google Shape;433;p27"/>
          <p:cNvCxnSpPr>
            <a:cxnSpLocks/>
            <a:endCxn id="434" idx="2"/>
          </p:cNvCxnSpPr>
          <p:nvPr/>
        </p:nvCxnSpPr>
        <p:spPr>
          <a:xfrm flipV="1">
            <a:off x="5856550" y="3164396"/>
            <a:ext cx="781499" cy="609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5" name="Google Shape;435;p27"/>
          <p:cNvCxnSpPr>
            <a:cxnSpLocks/>
            <a:endCxn id="436" idx="2"/>
          </p:cNvCxnSpPr>
          <p:nvPr/>
        </p:nvCxnSpPr>
        <p:spPr>
          <a:xfrm>
            <a:off x="5856550" y="3773996"/>
            <a:ext cx="781499" cy="587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37" name="Google Shape;437;p27"/>
          <p:cNvGrpSpPr/>
          <p:nvPr/>
        </p:nvGrpSpPr>
        <p:grpSpPr>
          <a:xfrm>
            <a:off x="6638049" y="2951596"/>
            <a:ext cx="2178479" cy="425600"/>
            <a:chOff x="6563750" y="561750"/>
            <a:chExt cx="1633860" cy="319200"/>
          </a:xfrm>
        </p:grpSpPr>
        <p:sp>
          <p:nvSpPr>
            <p:cNvPr id="438" name="Google Shape;438;p27"/>
            <p:cNvSpPr/>
            <p:nvPr/>
          </p:nvSpPr>
          <p:spPr>
            <a:xfrm>
              <a:off x="6737749" y="561750"/>
              <a:ext cx="1459861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latin typeface="Roboto"/>
                  <a:ea typeface="Roboto"/>
                  <a:cs typeface="Roboto"/>
                  <a:sym typeface="Roboto"/>
                </a:rPr>
                <a:t>Continuous </a:t>
              </a:r>
              <a:r>
                <a:rPr lang="en-GB" dirty="0">
                  <a:latin typeface="Roboto"/>
                  <a:ea typeface="Roboto"/>
                  <a:cs typeface="Roboto"/>
                  <a:sym typeface="Roboto"/>
                </a:rPr>
                <a:t>(e.g. height)</a:t>
              </a:r>
              <a:endParaRPr sz="24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6563750" y="634350"/>
              <a:ext cx="174000" cy="17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/>
            </a:p>
          </p:txBody>
        </p:sp>
      </p:grpSp>
      <p:grpSp>
        <p:nvGrpSpPr>
          <p:cNvPr id="439" name="Google Shape;439;p27"/>
          <p:cNvGrpSpPr/>
          <p:nvPr/>
        </p:nvGrpSpPr>
        <p:grpSpPr>
          <a:xfrm>
            <a:off x="6638049" y="4170796"/>
            <a:ext cx="2285687" cy="425600"/>
            <a:chOff x="6563750" y="1476150"/>
            <a:chExt cx="1356300" cy="319200"/>
          </a:xfrm>
        </p:grpSpPr>
        <p:sp>
          <p:nvSpPr>
            <p:cNvPr id="440" name="Google Shape;440;p27"/>
            <p:cNvSpPr/>
            <p:nvPr/>
          </p:nvSpPr>
          <p:spPr>
            <a:xfrm>
              <a:off x="6701416" y="1476150"/>
              <a:ext cx="1218634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latin typeface="Roboto"/>
                  <a:ea typeface="Roboto"/>
                  <a:cs typeface="Roboto"/>
                  <a:sym typeface="Roboto"/>
                </a:rPr>
                <a:t>Grouped</a:t>
              </a:r>
            </a:p>
            <a:p>
              <a:r>
                <a:rPr lang="en-GB" dirty="0">
                  <a:latin typeface="Roboto"/>
                  <a:ea typeface="Roboto"/>
                  <a:cs typeface="Roboto"/>
                  <a:sym typeface="Roboto"/>
                </a:rPr>
                <a:t>(e.g. eye colour)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6563750" y="1534050"/>
              <a:ext cx="137666" cy="169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/>
            </a:p>
          </p:txBody>
        </p:sp>
      </p:grpSp>
      <p:cxnSp>
        <p:nvCxnSpPr>
          <p:cNvPr id="441" name="Google Shape;441;p27"/>
          <p:cNvCxnSpPr>
            <a:cxnSpLocks/>
            <a:endCxn id="442" idx="2"/>
          </p:cNvCxnSpPr>
          <p:nvPr/>
        </p:nvCxnSpPr>
        <p:spPr>
          <a:xfrm>
            <a:off x="6253185" y="6233029"/>
            <a:ext cx="781600" cy="8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43" name="Google Shape;443;p27"/>
          <p:cNvGrpSpPr/>
          <p:nvPr/>
        </p:nvGrpSpPr>
        <p:grpSpPr>
          <a:xfrm>
            <a:off x="7034684" y="6020229"/>
            <a:ext cx="2296489" cy="425600"/>
            <a:chOff x="6563750" y="3805350"/>
            <a:chExt cx="1722367" cy="319200"/>
          </a:xfrm>
        </p:grpSpPr>
        <p:sp>
          <p:nvSpPr>
            <p:cNvPr id="444" name="Google Shape;444;p27"/>
            <p:cNvSpPr/>
            <p:nvPr/>
          </p:nvSpPr>
          <p:spPr>
            <a:xfrm>
              <a:off x="6737749" y="3805350"/>
              <a:ext cx="1548368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rPr>
                <a:t>“Parameter”</a:t>
              </a:r>
              <a:endParaRPr sz="2400" dirty="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2" name="Google Shape;442;p27"/>
            <p:cNvSpPr/>
            <p:nvPr/>
          </p:nvSpPr>
          <p:spPr>
            <a:xfrm>
              <a:off x="6563750" y="3877950"/>
              <a:ext cx="174000" cy="174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2ED906-816D-49FC-8DE2-404E8B018681}"/>
                  </a:ext>
                </a:extLst>
              </p:cNvPr>
              <p:cNvSpPr txBox="1"/>
              <p:nvPr/>
            </p:nvSpPr>
            <p:spPr>
              <a:xfrm>
                <a:off x="4563851" y="1176448"/>
                <a:ext cx="286700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40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2ED906-816D-49FC-8DE2-404E8B018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851" y="1176448"/>
                <a:ext cx="2867003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7EA2591-CE9C-4D19-BCBB-E0FE31B4D499}"/>
              </a:ext>
            </a:extLst>
          </p:cNvPr>
          <p:cNvSpPr/>
          <p:nvPr/>
        </p:nvSpPr>
        <p:spPr>
          <a:xfrm>
            <a:off x="4202289" y="1835856"/>
            <a:ext cx="711200" cy="1790700"/>
          </a:xfrm>
          <a:custGeom>
            <a:avLst/>
            <a:gdLst>
              <a:gd name="connsiteX0" fmla="*/ 0 w 711200"/>
              <a:gd name="connsiteY0" fmla="*/ 1790700 h 1790700"/>
              <a:gd name="connsiteX1" fmla="*/ 190500 w 711200"/>
              <a:gd name="connsiteY1" fmla="*/ 1092200 h 1790700"/>
              <a:gd name="connsiteX2" fmla="*/ 622300 w 711200"/>
              <a:gd name="connsiteY2" fmla="*/ 469900 h 1790700"/>
              <a:gd name="connsiteX3" fmla="*/ 711200 w 711200"/>
              <a:gd name="connsiteY3" fmla="*/ 0 h 179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1200" h="1790700">
                <a:moveTo>
                  <a:pt x="0" y="1790700"/>
                </a:moveTo>
                <a:cubicBezTo>
                  <a:pt x="43391" y="1551516"/>
                  <a:pt x="86783" y="1312333"/>
                  <a:pt x="190500" y="1092200"/>
                </a:cubicBezTo>
                <a:cubicBezTo>
                  <a:pt x="294217" y="872067"/>
                  <a:pt x="535517" y="651933"/>
                  <a:pt x="622300" y="469900"/>
                </a:cubicBezTo>
                <a:cubicBezTo>
                  <a:pt x="709083" y="287867"/>
                  <a:pt x="710141" y="143933"/>
                  <a:pt x="711200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8C8F9B6-05F2-4251-A572-A7A50D41DE9F}"/>
              </a:ext>
            </a:extLst>
          </p:cNvPr>
          <p:cNvSpPr/>
          <p:nvPr/>
        </p:nvSpPr>
        <p:spPr>
          <a:xfrm>
            <a:off x="4202290" y="1797756"/>
            <a:ext cx="2070340" cy="1828800"/>
          </a:xfrm>
          <a:custGeom>
            <a:avLst/>
            <a:gdLst>
              <a:gd name="connsiteX0" fmla="*/ 0 w 3390900"/>
              <a:gd name="connsiteY0" fmla="*/ 1828800 h 1828800"/>
              <a:gd name="connsiteX1" fmla="*/ 342900 w 3390900"/>
              <a:gd name="connsiteY1" fmla="*/ 1257300 h 1828800"/>
              <a:gd name="connsiteX2" fmla="*/ 1257300 w 3390900"/>
              <a:gd name="connsiteY2" fmla="*/ 850900 h 1828800"/>
              <a:gd name="connsiteX3" fmla="*/ 2679700 w 3390900"/>
              <a:gd name="connsiteY3" fmla="*/ 838200 h 1828800"/>
              <a:gd name="connsiteX4" fmla="*/ 3390900 w 3390900"/>
              <a:gd name="connsiteY4" fmla="*/ 0 h 1828800"/>
              <a:gd name="connsiteX5" fmla="*/ 3390900 w 3390900"/>
              <a:gd name="connsiteY5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90900" h="1828800">
                <a:moveTo>
                  <a:pt x="0" y="1828800"/>
                </a:moveTo>
                <a:cubicBezTo>
                  <a:pt x="66675" y="1624541"/>
                  <a:pt x="133350" y="1420283"/>
                  <a:pt x="342900" y="1257300"/>
                </a:cubicBezTo>
                <a:cubicBezTo>
                  <a:pt x="552450" y="1094317"/>
                  <a:pt x="867833" y="920750"/>
                  <a:pt x="1257300" y="850900"/>
                </a:cubicBezTo>
                <a:cubicBezTo>
                  <a:pt x="1646767" y="781050"/>
                  <a:pt x="2324100" y="980017"/>
                  <a:pt x="2679700" y="838200"/>
                </a:cubicBezTo>
                <a:cubicBezTo>
                  <a:pt x="3035300" y="696383"/>
                  <a:pt x="3390900" y="0"/>
                  <a:pt x="3390900" y="0"/>
                </a:cubicBezTo>
                <a:lnTo>
                  <a:pt x="3390900" y="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8643BDD-C08F-0B0B-30DB-16819FFA9CDE}"/>
              </a:ext>
            </a:extLst>
          </p:cNvPr>
          <p:cNvGrpSpPr/>
          <p:nvPr/>
        </p:nvGrpSpPr>
        <p:grpSpPr>
          <a:xfrm>
            <a:off x="5870222" y="1749778"/>
            <a:ext cx="3543725" cy="4368800"/>
            <a:chOff x="5452533" y="1907822"/>
            <a:chExt cx="3543725" cy="43688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CEBF911-A388-3FDE-1425-8AC049404DFA}"/>
                </a:ext>
              </a:extLst>
            </p:cNvPr>
            <p:cNvSpPr/>
            <p:nvPr/>
          </p:nvSpPr>
          <p:spPr>
            <a:xfrm>
              <a:off x="5452533" y="1907822"/>
              <a:ext cx="3543725" cy="4368800"/>
            </a:xfrm>
            <a:custGeom>
              <a:avLst/>
              <a:gdLst>
                <a:gd name="connsiteX0" fmla="*/ 1343378 w 3543725"/>
                <a:gd name="connsiteY0" fmla="*/ 4368800 h 4368800"/>
                <a:gd name="connsiteX1" fmla="*/ 1614311 w 3543725"/>
                <a:gd name="connsiteY1" fmla="*/ 3736622 h 4368800"/>
                <a:gd name="connsiteX2" fmla="*/ 2336800 w 3543725"/>
                <a:gd name="connsiteY2" fmla="*/ 3420534 h 4368800"/>
                <a:gd name="connsiteX3" fmla="*/ 3239911 w 3543725"/>
                <a:gd name="connsiteY3" fmla="*/ 3048000 h 4368800"/>
                <a:gd name="connsiteX4" fmla="*/ 3488267 w 3543725"/>
                <a:gd name="connsiteY4" fmla="*/ 2223911 h 4368800"/>
                <a:gd name="connsiteX5" fmla="*/ 3510845 w 3543725"/>
                <a:gd name="connsiteY5" fmla="*/ 1332089 h 4368800"/>
                <a:gd name="connsiteX6" fmla="*/ 3104445 w 3543725"/>
                <a:gd name="connsiteY6" fmla="*/ 903111 h 4368800"/>
                <a:gd name="connsiteX7" fmla="*/ 2562578 w 3543725"/>
                <a:gd name="connsiteY7" fmla="*/ 745067 h 4368800"/>
                <a:gd name="connsiteX8" fmla="*/ 2032000 w 3543725"/>
                <a:gd name="connsiteY8" fmla="*/ 666045 h 4368800"/>
                <a:gd name="connsiteX9" fmla="*/ 1207911 w 3543725"/>
                <a:gd name="connsiteY9" fmla="*/ 587022 h 4368800"/>
                <a:gd name="connsiteX10" fmla="*/ 349956 w 3543725"/>
                <a:gd name="connsiteY10" fmla="*/ 541867 h 4368800"/>
                <a:gd name="connsiteX11" fmla="*/ 79023 w 3543725"/>
                <a:gd name="connsiteY11" fmla="*/ 372534 h 4368800"/>
                <a:gd name="connsiteX12" fmla="*/ 0 w 3543725"/>
                <a:gd name="connsiteY12" fmla="*/ 0 h 436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43725" h="4368800">
                  <a:moveTo>
                    <a:pt x="1343378" y="4368800"/>
                  </a:moveTo>
                  <a:cubicBezTo>
                    <a:pt x="1396059" y="4131733"/>
                    <a:pt x="1448741" y="3894666"/>
                    <a:pt x="1614311" y="3736622"/>
                  </a:cubicBezTo>
                  <a:cubicBezTo>
                    <a:pt x="1779881" y="3578578"/>
                    <a:pt x="2065867" y="3535304"/>
                    <a:pt x="2336800" y="3420534"/>
                  </a:cubicBezTo>
                  <a:cubicBezTo>
                    <a:pt x="2607733" y="3305764"/>
                    <a:pt x="3048000" y="3247437"/>
                    <a:pt x="3239911" y="3048000"/>
                  </a:cubicBezTo>
                  <a:cubicBezTo>
                    <a:pt x="3431822" y="2848563"/>
                    <a:pt x="3443111" y="2509896"/>
                    <a:pt x="3488267" y="2223911"/>
                  </a:cubicBezTo>
                  <a:cubicBezTo>
                    <a:pt x="3533423" y="1937926"/>
                    <a:pt x="3574815" y="1552222"/>
                    <a:pt x="3510845" y="1332089"/>
                  </a:cubicBezTo>
                  <a:cubicBezTo>
                    <a:pt x="3446875" y="1111956"/>
                    <a:pt x="3262489" y="1000948"/>
                    <a:pt x="3104445" y="903111"/>
                  </a:cubicBezTo>
                  <a:cubicBezTo>
                    <a:pt x="2946401" y="805274"/>
                    <a:pt x="2741319" y="784578"/>
                    <a:pt x="2562578" y="745067"/>
                  </a:cubicBezTo>
                  <a:cubicBezTo>
                    <a:pt x="2383837" y="705556"/>
                    <a:pt x="2257778" y="692386"/>
                    <a:pt x="2032000" y="666045"/>
                  </a:cubicBezTo>
                  <a:cubicBezTo>
                    <a:pt x="1806222" y="639704"/>
                    <a:pt x="1488252" y="607718"/>
                    <a:pt x="1207911" y="587022"/>
                  </a:cubicBezTo>
                  <a:cubicBezTo>
                    <a:pt x="927570" y="566326"/>
                    <a:pt x="538104" y="577615"/>
                    <a:pt x="349956" y="541867"/>
                  </a:cubicBezTo>
                  <a:cubicBezTo>
                    <a:pt x="161808" y="506119"/>
                    <a:pt x="137349" y="462845"/>
                    <a:pt x="79023" y="372534"/>
                  </a:cubicBezTo>
                  <a:cubicBezTo>
                    <a:pt x="20697" y="282223"/>
                    <a:pt x="10348" y="141111"/>
                    <a:pt x="0" y="0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179627A-5996-C679-9E0F-5B45064D7150}"/>
                </a:ext>
              </a:extLst>
            </p:cNvPr>
            <p:cNvSpPr/>
            <p:nvPr/>
          </p:nvSpPr>
          <p:spPr>
            <a:xfrm>
              <a:off x="6616994" y="1930400"/>
              <a:ext cx="1770649" cy="801511"/>
            </a:xfrm>
            <a:custGeom>
              <a:avLst/>
              <a:gdLst>
                <a:gd name="connsiteX0" fmla="*/ 2121252 w 2121252"/>
                <a:gd name="connsiteY0" fmla="*/ 801511 h 801511"/>
                <a:gd name="connsiteX1" fmla="*/ 845608 w 2121252"/>
                <a:gd name="connsiteY1" fmla="*/ 485422 h 801511"/>
                <a:gd name="connsiteX2" fmla="*/ 89252 w 2121252"/>
                <a:gd name="connsiteY2" fmla="*/ 237067 h 801511"/>
                <a:gd name="connsiteX3" fmla="*/ 44097 w 2121252"/>
                <a:gd name="connsiteY3" fmla="*/ 0 h 801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252" h="801511">
                  <a:moveTo>
                    <a:pt x="2121252" y="801511"/>
                  </a:moveTo>
                  <a:cubicBezTo>
                    <a:pt x="1652763" y="690503"/>
                    <a:pt x="1184275" y="579496"/>
                    <a:pt x="845608" y="485422"/>
                  </a:cubicBezTo>
                  <a:cubicBezTo>
                    <a:pt x="506941" y="391348"/>
                    <a:pt x="222837" y="317971"/>
                    <a:pt x="89252" y="237067"/>
                  </a:cubicBezTo>
                  <a:cubicBezTo>
                    <a:pt x="-44333" y="156163"/>
                    <a:pt x="-118" y="78081"/>
                    <a:pt x="44097" y="0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090754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9670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/>
              <a:t>Statistics and data</a:t>
            </a:r>
            <a:endParaRPr dirty="0"/>
          </a:p>
        </p:txBody>
      </p:sp>
      <p:cxnSp>
        <p:nvCxnSpPr>
          <p:cNvPr id="406" name="Google Shape;406;p27"/>
          <p:cNvCxnSpPr>
            <a:stCxn id="407" idx="6"/>
            <a:endCxn id="408" idx="2"/>
          </p:cNvCxnSpPr>
          <p:nvPr/>
        </p:nvCxnSpPr>
        <p:spPr>
          <a:xfrm>
            <a:off x="3158551" y="4985029"/>
            <a:ext cx="936400" cy="12480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9" name="Google Shape;409;p27"/>
          <p:cNvCxnSpPr>
            <a:stCxn id="407" idx="6"/>
            <a:endCxn id="410" idx="2"/>
          </p:cNvCxnSpPr>
          <p:nvPr/>
        </p:nvCxnSpPr>
        <p:spPr>
          <a:xfrm rot="10800000" flipH="1">
            <a:off x="3158551" y="3737029"/>
            <a:ext cx="936400" cy="12480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23" name="Google Shape;423;p27"/>
          <p:cNvGrpSpPr/>
          <p:nvPr/>
        </p:nvGrpSpPr>
        <p:grpSpPr>
          <a:xfrm>
            <a:off x="4094852" y="3524229"/>
            <a:ext cx="1968727" cy="425600"/>
            <a:chOff x="2678825" y="1476150"/>
            <a:chExt cx="1476545" cy="319200"/>
          </a:xfrm>
        </p:grpSpPr>
        <p:sp>
          <p:nvSpPr>
            <p:cNvPr id="412" name="Google Shape;412;p27"/>
            <p:cNvSpPr/>
            <p:nvPr/>
          </p:nvSpPr>
          <p:spPr>
            <a:xfrm>
              <a:off x="2852825" y="1476150"/>
              <a:ext cx="1302545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latin typeface="Roboto"/>
                  <a:ea typeface="Roboto"/>
                  <a:cs typeface="Roboto"/>
                  <a:sym typeface="Roboto"/>
                </a:rPr>
                <a:t>Observed</a:t>
              </a:r>
              <a:endParaRPr sz="24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0" name="Google Shape;410;p27"/>
            <p:cNvSpPr/>
            <p:nvPr/>
          </p:nvSpPr>
          <p:spPr>
            <a:xfrm>
              <a:off x="2678825" y="1548750"/>
              <a:ext cx="174000" cy="17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 dirty="0"/>
            </a:p>
          </p:txBody>
        </p:sp>
      </p:grpSp>
      <p:grpSp>
        <p:nvGrpSpPr>
          <p:cNvPr id="424" name="Google Shape;424;p27"/>
          <p:cNvGrpSpPr/>
          <p:nvPr/>
        </p:nvGrpSpPr>
        <p:grpSpPr>
          <a:xfrm>
            <a:off x="1342185" y="4772229"/>
            <a:ext cx="1816367" cy="425600"/>
            <a:chOff x="614325" y="2412150"/>
            <a:chExt cx="1362275" cy="319200"/>
          </a:xfrm>
        </p:grpSpPr>
        <p:sp>
          <p:nvSpPr>
            <p:cNvPr id="425" name="Google Shape;425;p27"/>
            <p:cNvSpPr/>
            <p:nvPr/>
          </p:nvSpPr>
          <p:spPr>
            <a:xfrm>
              <a:off x="614325" y="2412150"/>
              <a:ext cx="1182300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r"/>
              <a:r>
                <a:rPr lang="en-GB" sz="2400" dirty="0">
                  <a:latin typeface="Roboto"/>
                  <a:ea typeface="Roboto"/>
                  <a:cs typeface="Roboto"/>
                  <a:sym typeface="Roboto"/>
                </a:rPr>
                <a:t>Data</a:t>
              </a:r>
              <a:endParaRPr sz="24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7" name="Google Shape;407;p27"/>
            <p:cNvSpPr/>
            <p:nvPr/>
          </p:nvSpPr>
          <p:spPr>
            <a:xfrm>
              <a:off x="1802600" y="2484750"/>
              <a:ext cx="174000" cy="17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 dirty="0"/>
            </a:p>
          </p:txBody>
        </p:sp>
      </p:grpSp>
      <p:grpSp>
        <p:nvGrpSpPr>
          <p:cNvPr id="426" name="Google Shape;426;p27"/>
          <p:cNvGrpSpPr/>
          <p:nvPr/>
        </p:nvGrpSpPr>
        <p:grpSpPr>
          <a:xfrm>
            <a:off x="4094850" y="6020229"/>
            <a:ext cx="2223905" cy="425600"/>
            <a:chOff x="2678825" y="3348150"/>
            <a:chExt cx="1667929" cy="319200"/>
          </a:xfrm>
        </p:grpSpPr>
        <p:sp>
          <p:nvSpPr>
            <p:cNvPr id="417" name="Google Shape;417;p27"/>
            <p:cNvSpPr/>
            <p:nvPr/>
          </p:nvSpPr>
          <p:spPr>
            <a:xfrm>
              <a:off x="2852824" y="3348150"/>
              <a:ext cx="1493930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rPr>
                <a:t>Unobserved</a:t>
              </a:r>
              <a:endParaRPr sz="2400" dirty="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8" name="Google Shape;408;p27"/>
            <p:cNvSpPr/>
            <p:nvPr/>
          </p:nvSpPr>
          <p:spPr>
            <a:xfrm>
              <a:off x="2678825" y="3420750"/>
              <a:ext cx="174000" cy="174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/>
            </a:p>
          </p:txBody>
        </p:sp>
      </p:grpSp>
      <p:cxnSp>
        <p:nvCxnSpPr>
          <p:cNvPr id="433" name="Google Shape;433;p27"/>
          <p:cNvCxnSpPr>
            <a:cxnSpLocks/>
            <a:endCxn id="434" idx="2"/>
          </p:cNvCxnSpPr>
          <p:nvPr/>
        </p:nvCxnSpPr>
        <p:spPr>
          <a:xfrm flipV="1">
            <a:off x="5856550" y="3164396"/>
            <a:ext cx="781499" cy="609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5" name="Google Shape;435;p27"/>
          <p:cNvCxnSpPr>
            <a:cxnSpLocks/>
            <a:endCxn id="436" idx="2"/>
          </p:cNvCxnSpPr>
          <p:nvPr/>
        </p:nvCxnSpPr>
        <p:spPr>
          <a:xfrm>
            <a:off x="5856550" y="3773996"/>
            <a:ext cx="781499" cy="587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37" name="Google Shape;437;p27"/>
          <p:cNvGrpSpPr/>
          <p:nvPr/>
        </p:nvGrpSpPr>
        <p:grpSpPr>
          <a:xfrm>
            <a:off x="6638049" y="2951596"/>
            <a:ext cx="2178479" cy="425600"/>
            <a:chOff x="6563750" y="561750"/>
            <a:chExt cx="1633860" cy="319200"/>
          </a:xfrm>
        </p:grpSpPr>
        <p:sp>
          <p:nvSpPr>
            <p:cNvPr id="438" name="Google Shape;438;p27"/>
            <p:cNvSpPr/>
            <p:nvPr/>
          </p:nvSpPr>
          <p:spPr>
            <a:xfrm>
              <a:off x="6737749" y="561750"/>
              <a:ext cx="1459861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latin typeface="Roboto"/>
                  <a:ea typeface="Roboto"/>
                  <a:cs typeface="Roboto"/>
                  <a:sym typeface="Roboto"/>
                </a:rPr>
                <a:t>Continuous </a:t>
              </a:r>
              <a:r>
                <a:rPr lang="en-GB" dirty="0">
                  <a:latin typeface="Roboto"/>
                  <a:ea typeface="Roboto"/>
                  <a:cs typeface="Roboto"/>
                  <a:sym typeface="Roboto"/>
                </a:rPr>
                <a:t>(e.g. height)</a:t>
              </a:r>
              <a:endParaRPr sz="24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6563750" y="634350"/>
              <a:ext cx="174000" cy="17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/>
            </a:p>
          </p:txBody>
        </p:sp>
      </p:grpSp>
      <p:grpSp>
        <p:nvGrpSpPr>
          <p:cNvPr id="439" name="Google Shape;439;p27"/>
          <p:cNvGrpSpPr/>
          <p:nvPr/>
        </p:nvGrpSpPr>
        <p:grpSpPr>
          <a:xfrm>
            <a:off x="6638049" y="4170796"/>
            <a:ext cx="2285687" cy="425600"/>
            <a:chOff x="6563750" y="1476150"/>
            <a:chExt cx="1356300" cy="319200"/>
          </a:xfrm>
        </p:grpSpPr>
        <p:sp>
          <p:nvSpPr>
            <p:cNvPr id="440" name="Google Shape;440;p27"/>
            <p:cNvSpPr/>
            <p:nvPr/>
          </p:nvSpPr>
          <p:spPr>
            <a:xfrm>
              <a:off x="6701416" y="1476150"/>
              <a:ext cx="1218634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latin typeface="Roboto"/>
                  <a:ea typeface="Roboto"/>
                  <a:cs typeface="Roboto"/>
                  <a:sym typeface="Roboto"/>
                </a:rPr>
                <a:t>Grouped</a:t>
              </a:r>
            </a:p>
            <a:p>
              <a:r>
                <a:rPr lang="en-GB" dirty="0">
                  <a:latin typeface="Roboto"/>
                  <a:ea typeface="Roboto"/>
                  <a:cs typeface="Roboto"/>
                  <a:sym typeface="Roboto"/>
                </a:rPr>
                <a:t>(e.g. eye colour)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6563750" y="1534050"/>
              <a:ext cx="137666" cy="169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/>
            </a:p>
          </p:txBody>
        </p:sp>
      </p:grpSp>
      <p:cxnSp>
        <p:nvCxnSpPr>
          <p:cNvPr id="441" name="Google Shape;441;p27"/>
          <p:cNvCxnSpPr>
            <a:cxnSpLocks/>
            <a:endCxn id="442" idx="2"/>
          </p:cNvCxnSpPr>
          <p:nvPr/>
        </p:nvCxnSpPr>
        <p:spPr>
          <a:xfrm>
            <a:off x="6253185" y="6233029"/>
            <a:ext cx="781600" cy="8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43" name="Google Shape;443;p27"/>
          <p:cNvGrpSpPr/>
          <p:nvPr/>
        </p:nvGrpSpPr>
        <p:grpSpPr>
          <a:xfrm>
            <a:off x="7034684" y="6020229"/>
            <a:ext cx="2296489" cy="425600"/>
            <a:chOff x="6563750" y="3805350"/>
            <a:chExt cx="1722367" cy="319200"/>
          </a:xfrm>
        </p:grpSpPr>
        <p:sp>
          <p:nvSpPr>
            <p:cNvPr id="444" name="Google Shape;444;p27"/>
            <p:cNvSpPr/>
            <p:nvPr/>
          </p:nvSpPr>
          <p:spPr>
            <a:xfrm>
              <a:off x="6737749" y="3805350"/>
              <a:ext cx="1548368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rPr>
                <a:t>“Parameter”</a:t>
              </a:r>
              <a:endParaRPr sz="2400" dirty="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2" name="Google Shape;442;p27"/>
            <p:cNvSpPr/>
            <p:nvPr/>
          </p:nvSpPr>
          <p:spPr>
            <a:xfrm>
              <a:off x="6563750" y="3877950"/>
              <a:ext cx="174000" cy="174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2ED906-816D-49FC-8DE2-404E8B018681}"/>
                  </a:ext>
                </a:extLst>
              </p:cNvPr>
              <p:cNvSpPr txBox="1"/>
              <p:nvPr/>
            </p:nvSpPr>
            <p:spPr>
              <a:xfrm>
                <a:off x="4563851" y="1176448"/>
                <a:ext cx="408720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0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0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2ED906-816D-49FC-8DE2-404E8B018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851" y="1176448"/>
                <a:ext cx="4087208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7EA2591-CE9C-4D19-BCBB-E0FE31B4D499}"/>
              </a:ext>
            </a:extLst>
          </p:cNvPr>
          <p:cNvSpPr/>
          <p:nvPr/>
        </p:nvSpPr>
        <p:spPr>
          <a:xfrm>
            <a:off x="4202289" y="1835856"/>
            <a:ext cx="711200" cy="1790700"/>
          </a:xfrm>
          <a:custGeom>
            <a:avLst/>
            <a:gdLst>
              <a:gd name="connsiteX0" fmla="*/ 0 w 711200"/>
              <a:gd name="connsiteY0" fmla="*/ 1790700 h 1790700"/>
              <a:gd name="connsiteX1" fmla="*/ 190500 w 711200"/>
              <a:gd name="connsiteY1" fmla="*/ 1092200 h 1790700"/>
              <a:gd name="connsiteX2" fmla="*/ 622300 w 711200"/>
              <a:gd name="connsiteY2" fmla="*/ 469900 h 1790700"/>
              <a:gd name="connsiteX3" fmla="*/ 711200 w 711200"/>
              <a:gd name="connsiteY3" fmla="*/ 0 h 179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1200" h="1790700">
                <a:moveTo>
                  <a:pt x="0" y="1790700"/>
                </a:moveTo>
                <a:cubicBezTo>
                  <a:pt x="43391" y="1551516"/>
                  <a:pt x="86783" y="1312333"/>
                  <a:pt x="190500" y="1092200"/>
                </a:cubicBezTo>
                <a:cubicBezTo>
                  <a:pt x="294217" y="872067"/>
                  <a:pt x="535517" y="651933"/>
                  <a:pt x="622300" y="469900"/>
                </a:cubicBezTo>
                <a:cubicBezTo>
                  <a:pt x="709083" y="287867"/>
                  <a:pt x="710141" y="143933"/>
                  <a:pt x="711200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8C8F9B6-05F2-4251-A572-A7A50D41DE9F}"/>
              </a:ext>
            </a:extLst>
          </p:cNvPr>
          <p:cNvSpPr/>
          <p:nvPr/>
        </p:nvSpPr>
        <p:spPr>
          <a:xfrm>
            <a:off x="4202290" y="1797756"/>
            <a:ext cx="3963810" cy="1828800"/>
          </a:xfrm>
          <a:custGeom>
            <a:avLst/>
            <a:gdLst>
              <a:gd name="connsiteX0" fmla="*/ 0 w 3390900"/>
              <a:gd name="connsiteY0" fmla="*/ 1828800 h 1828800"/>
              <a:gd name="connsiteX1" fmla="*/ 342900 w 3390900"/>
              <a:gd name="connsiteY1" fmla="*/ 1257300 h 1828800"/>
              <a:gd name="connsiteX2" fmla="*/ 1257300 w 3390900"/>
              <a:gd name="connsiteY2" fmla="*/ 850900 h 1828800"/>
              <a:gd name="connsiteX3" fmla="*/ 2679700 w 3390900"/>
              <a:gd name="connsiteY3" fmla="*/ 838200 h 1828800"/>
              <a:gd name="connsiteX4" fmla="*/ 3390900 w 3390900"/>
              <a:gd name="connsiteY4" fmla="*/ 0 h 1828800"/>
              <a:gd name="connsiteX5" fmla="*/ 3390900 w 3390900"/>
              <a:gd name="connsiteY5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90900" h="1828800">
                <a:moveTo>
                  <a:pt x="0" y="1828800"/>
                </a:moveTo>
                <a:cubicBezTo>
                  <a:pt x="66675" y="1624541"/>
                  <a:pt x="133350" y="1420283"/>
                  <a:pt x="342900" y="1257300"/>
                </a:cubicBezTo>
                <a:cubicBezTo>
                  <a:pt x="552450" y="1094317"/>
                  <a:pt x="867833" y="920750"/>
                  <a:pt x="1257300" y="850900"/>
                </a:cubicBezTo>
                <a:cubicBezTo>
                  <a:pt x="1646767" y="781050"/>
                  <a:pt x="2324100" y="980017"/>
                  <a:pt x="2679700" y="838200"/>
                </a:cubicBezTo>
                <a:cubicBezTo>
                  <a:pt x="3035300" y="696383"/>
                  <a:pt x="3390900" y="0"/>
                  <a:pt x="3390900" y="0"/>
                </a:cubicBezTo>
                <a:lnTo>
                  <a:pt x="3390900" y="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8643BDD-C08F-0B0B-30DB-16819FFA9CDE}"/>
              </a:ext>
            </a:extLst>
          </p:cNvPr>
          <p:cNvGrpSpPr/>
          <p:nvPr/>
        </p:nvGrpSpPr>
        <p:grpSpPr>
          <a:xfrm>
            <a:off x="5870222" y="1884334"/>
            <a:ext cx="3543725" cy="4234244"/>
            <a:chOff x="5452533" y="1907822"/>
            <a:chExt cx="3543725" cy="43688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CEBF911-A388-3FDE-1425-8AC049404DFA}"/>
                </a:ext>
              </a:extLst>
            </p:cNvPr>
            <p:cNvSpPr/>
            <p:nvPr/>
          </p:nvSpPr>
          <p:spPr>
            <a:xfrm>
              <a:off x="5452533" y="1907822"/>
              <a:ext cx="3543725" cy="4368800"/>
            </a:xfrm>
            <a:custGeom>
              <a:avLst/>
              <a:gdLst>
                <a:gd name="connsiteX0" fmla="*/ 1343378 w 3543725"/>
                <a:gd name="connsiteY0" fmla="*/ 4368800 h 4368800"/>
                <a:gd name="connsiteX1" fmla="*/ 1614311 w 3543725"/>
                <a:gd name="connsiteY1" fmla="*/ 3736622 h 4368800"/>
                <a:gd name="connsiteX2" fmla="*/ 2336800 w 3543725"/>
                <a:gd name="connsiteY2" fmla="*/ 3420534 h 4368800"/>
                <a:gd name="connsiteX3" fmla="*/ 3239911 w 3543725"/>
                <a:gd name="connsiteY3" fmla="*/ 3048000 h 4368800"/>
                <a:gd name="connsiteX4" fmla="*/ 3488267 w 3543725"/>
                <a:gd name="connsiteY4" fmla="*/ 2223911 h 4368800"/>
                <a:gd name="connsiteX5" fmla="*/ 3510845 w 3543725"/>
                <a:gd name="connsiteY5" fmla="*/ 1332089 h 4368800"/>
                <a:gd name="connsiteX6" fmla="*/ 3104445 w 3543725"/>
                <a:gd name="connsiteY6" fmla="*/ 903111 h 4368800"/>
                <a:gd name="connsiteX7" fmla="*/ 2562578 w 3543725"/>
                <a:gd name="connsiteY7" fmla="*/ 745067 h 4368800"/>
                <a:gd name="connsiteX8" fmla="*/ 2032000 w 3543725"/>
                <a:gd name="connsiteY8" fmla="*/ 666045 h 4368800"/>
                <a:gd name="connsiteX9" fmla="*/ 1207911 w 3543725"/>
                <a:gd name="connsiteY9" fmla="*/ 587022 h 4368800"/>
                <a:gd name="connsiteX10" fmla="*/ 349956 w 3543725"/>
                <a:gd name="connsiteY10" fmla="*/ 541867 h 4368800"/>
                <a:gd name="connsiteX11" fmla="*/ 79023 w 3543725"/>
                <a:gd name="connsiteY11" fmla="*/ 372534 h 4368800"/>
                <a:gd name="connsiteX12" fmla="*/ 0 w 3543725"/>
                <a:gd name="connsiteY12" fmla="*/ 0 h 436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43725" h="4368800">
                  <a:moveTo>
                    <a:pt x="1343378" y="4368800"/>
                  </a:moveTo>
                  <a:cubicBezTo>
                    <a:pt x="1396059" y="4131733"/>
                    <a:pt x="1448741" y="3894666"/>
                    <a:pt x="1614311" y="3736622"/>
                  </a:cubicBezTo>
                  <a:cubicBezTo>
                    <a:pt x="1779881" y="3578578"/>
                    <a:pt x="2065867" y="3535304"/>
                    <a:pt x="2336800" y="3420534"/>
                  </a:cubicBezTo>
                  <a:cubicBezTo>
                    <a:pt x="2607733" y="3305764"/>
                    <a:pt x="3048000" y="3247437"/>
                    <a:pt x="3239911" y="3048000"/>
                  </a:cubicBezTo>
                  <a:cubicBezTo>
                    <a:pt x="3431822" y="2848563"/>
                    <a:pt x="3443111" y="2509896"/>
                    <a:pt x="3488267" y="2223911"/>
                  </a:cubicBezTo>
                  <a:cubicBezTo>
                    <a:pt x="3533423" y="1937926"/>
                    <a:pt x="3574815" y="1552222"/>
                    <a:pt x="3510845" y="1332089"/>
                  </a:cubicBezTo>
                  <a:cubicBezTo>
                    <a:pt x="3446875" y="1111956"/>
                    <a:pt x="3262489" y="1000948"/>
                    <a:pt x="3104445" y="903111"/>
                  </a:cubicBezTo>
                  <a:cubicBezTo>
                    <a:pt x="2946401" y="805274"/>
                    <a:pt x="2741319" y="784578"/>
                    <a:pt x="2562578" y="745067"/>
                  </a:cubicBezTo>
                  <a:cubicBezTo>
                    <a:pt x="2383837" y="705556"/>
                    <a:pt x="2257778" y="692386"/>
                    <a:pt x="2032000" y="666045"/>
                  </a:cubicBezTo>
                  <a:cubicBezTo>
                    <a:pt x="1806222" y="639704"/>
                    <a:pt x="1488252" y="607718"/>
                    <a:pt x="1207911" y="587022"/>
                  </a:cubicBezTo>
                  <a:cubicBezTo>
                    <a:pt x="927570" y="566326"/>
                    <a:pt x="538104" y="577615"/>
                    <a:pt x="349956" y="541867"/>
                  </a:cubicBezTo>
                  <a:cubicBezTo>
                    <a:pt x="161808" y="506119"/>
                    <a:pt x="137349" y="462845"/>
                    <a:pt x="79023" y="372534"/>
                  </a:cubicBezTo>
                  <a:cubicBezTo>
                    <a:pt x="20697" y="282223"/>
                    <a:pt x="10348" y="141111"/>
                    <a:pt x="0" y="0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179627A-5996-C679-9E0F-5B45064D7150}"/>
                </a:ext>
              </a:extLst>
            </p:cNvPr>
            <p:cNvSpPr/>
            <p:nvPr/>
          </p:nvSpPr>
          <p:spPr>
            <a:xfrm>
              <a:off x="6616994" y="1930400"/>
              <a:ext cx="1770649" cy="801511"/>
            </a:xfrm>
            <a:custGeom>
              <a:avLst/>
              <a:gdLst>
                <a:gd name="connsiteX0" fmla="*/ 2121252 w 2121252"/>
                <a:gd name="connsiteY0" fmla="*/ 801511 h 801511"/>
                <a:gd name="connsiteX1" fmla="*/ 845608 w 2121252"/>
                <a:gd name="connsiteY1" fmla="*/ 485422 h 801511"/>
                <a:gd name="connsiteX2" fmla="*/ 89252 w 2121252"/>
                <a:gd name="connsiteY2" fmla="*/ 237067 h 801511"/>
                <a:gd name="connsiteX3" fmla="*/ 44097 w 2121252"/>
                <a:gd name="connsiteY3" fmla="*/ 0 h 801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252" h="801511">
                  <a:moveTo>
                    <a:pt x="2121252" y="801511"/>
                  </a:moveTo>
                  <a:cubicBezTo>
                    <a:pt x="1652763" y="690503"/>
                    <a:pt x="1184275" y="579496"/>
                    <a:pt x="845608" y="485422"/>
                  </a:cubicBezTo>
                  <a:cubicBezTo>
                    <a:pt x="506941" y="391348"/>
                    <a:pt x="222837" y="317971"/>
                    <a:pt x="89252" y="237067"/>
                  </a:cubicBezTo>
                  <a:cubicBezTo>
                    <a:pt x="-44333" y="156163"/>
                    <a:pt x="-118" y="78081"/>
                    <a:pt x="44097" y="0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1371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D16D8-25DE-49D1-85E8-68F8B45ED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47" y="292323"/>
            <a:ext cx="6079297" cy="763600"/>
          </a:xfrm>
        </p:spPr>
        <p:txBody>
          <a:bodyPr/>
          <a:lstStyle/>
          <a:p>
            <a:r>
              <a:rPr lang="en-GB" dirty="0"/>
              <a:t>Doing “stats” by hand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6D646BD-0A59-4BB9-934F-BE300E4FE01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3147" y="1536633"/>
                <a:ext cx="6079297" cy="4358140"/>
              </a:xfrm>
            </p:spPr>
            <p:txBody>
              <a:bodyPr/>
              <a:lstStyle/>
              <a:p>
                <a:pPr marL="152396" indent="0">
                  <a:buNone/>
                </a:pPr>
                <a:r>
                  <a:rPr lang="en-GB" dirty="0"/>
                  <a:t>Your straight-line equation:</a:t>
                </a:r>
              </a:p>
              <a:p>
                <a:pPr marL="152396" indent="0">
                  <a:buNone/>
                </a:pPr>
                <a:endParaRPr lang="en-GB" i="1" dirty="0"/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1800" dirty="0"/>
              </a:p>
              <a:p>
                <a:pPr marL="795847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= Deon’s height</a:t>
                </a:r>
              </a:p>
              <a:p>
                <a:pPr marL="795847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= Deon’s age</a:t>
                </a:r>
              </a:p>
              <a:p>
                <a:pPr marL="795847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= y-intercept </a:t>
                </a:r>
                <a:br>
                  <a:rPr lang="en-GB" dirty="0"/>
                </a:br>
                <a:r>
                  <a:rPr lang="en-GB" sz="1800" dirty="0"/>
                  <a:t>(I was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800" b="1" i="1" dirty="0"/>
                  <a:t> </a:t>
                </a:r>
                <a:r>
                  <a:rPr lang="en-GB" sz="1800" dirty="0"/>
                  <a:t>cm tall when I was born)</a:t>
                </a:r>
                <a:endParaRPr lang="en-GB" sz="1800" i="1" dirty="0">
                  <a:latin typeface="Cambria Math" panose="02040503050406030204" pitchFamily="18" charset="0"/>
                </a:endParaRPr>
              </a:p>
              <a:p>
                <a:pPr marL="795847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= Slope </a:t>
                </a:r>
                <a:br>
                  <a:rPr lang="en-GB" dirty="0"/>
                </a:br>
                <a:r>
                  <a:rPr lang="en-GB" sz="1800" dirty="0"/>
                  <a:t>(aging 1 year increased my height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800" dirty="0"/>
                  <a:t> cm)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6D646BD-0A59-4BB9-934F-BE300E4FE0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3147" y="1536633"/>
                <a:ext cx="6079297" cy="4358140"/>
              </a:xfrm>
              <a:blipFill>
                <a:blip r:embed="rId2"/>
                <a:stretch>
                  <a:fillRect t="-13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21EF30-7518-449A-8C23-6BCCFC663D14}"/>
              </a:ext>
            </a:extLst>
          </p:cNvPr>
          <p:cNvSpPr/>
          <p:nvPr/>
        </p:nvSpPr>
        <p:spPr>
          <a:xfrm>
            <a:off x="858644" y="3021980"/>
            <a:ext cx="2730398" cy="992459"/>
          </a:xfrm>
          <a:prstGeom prst="roundRect">
            <a:avLst/>
          </a:prstGeom>
          <a:noFill/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3E803A-24B7-407B-B48E-91E817B82522}"/>
              </a:ext>
            </a:extLst>
          </p:cNvPr>
          <p:cNvSpPr txBox="1"/>
          <p:nvPr/>
        </p:nvSpPr>
        <p:spPr>
          <a:xfrm>
            <a:off x="4032804" y="3313897"/>
            <a:ext cx="1719926" cy="408623"/>
          </a:xfrm>
          <a:prstGeom prst="roundRect">
            <a:avLst/>
          </a:prstGeom>
          <a:noFill/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b="1" i="1" dirty="0"/>
              <a:t>Observed data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1DEE06C-C267-40F6-B153-97243000E2EE}"/>
              </a:ext>
            </a:extLst>
          </p:cNvPr>
          <p:cNvCxnSpPr>
            <a:cxnSpLocks/>
            <a:stCxn id="13" idx="1"/>
            <a:endCxn id="12" idx="3"/>
          </p:cNvCxnSpPr>
          <p:nvPr/>
        </p:nvCxnSpPr>
        <p:spPr>
          <a:xfrm flipH="1">
            <a:off x="3589042" y="3518209"/>
            <a:ext cx="443762" cy="1"/>
          </a:xfrm>
          <a:prstGeom prst="straightConnector1">
            <a:avLst/>
          </a:prstGeom>
          <a:ln w="1905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FCA1D2-D217-4B00-8558-8FFAB987AD53}"/>
              </a:ext>
            </a:extLst>
          </p:cNvPr>
          <p:cNvSpPr/>
          <p:nvPr/>
        </p:nvSpPr>
        <p:spPr>
          <a:xfrm>
            <a:off x="858643" y="4203230"/>
            <a:ext cx="5167687" cy="1576129"/>
          </a:xfrm>
          <a:prstGeom prst="roundRect">
            <a:avLst/>
          </a:prstGeom>
          <a:noFill/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EFC0B3-761C-4ADB-A8F1-234B278E0252}"/>
              </a:ext>
            </a:extLst>
          </p:cNvPr>
          <p:cNvSpPr txBox="1"/>
          <p:nvPr/>
        </p:nvSpPr>
        <p:spPr>
          <a:xfrm>
            <a:off x="2428529" y="5966860"/>
            <a:ext cx="2027915" cy="408623"/>
          </a:xfrm>
          <a:prstGeom prst="roundRect">
            <a:avLst/>
          </a:prstGeom>
          <a:noFill/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b="1" i="1" dirty="0"/>
              <a:t>Unobserved data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5E76A0-8499-48F0-AAF7-60838EA8C725}"/>
              </a:ext>
            </a:extLst>
          </p:cNvPr>
          <p:cNvCxnSpPr>
            <a:cxnSpLocks/>
            <a:stCxn id="18" idx="0"/>
            <a:endCxn id="17" idx="2"/>
          </p:cNvCxnSpPr>
          <p:nvPr/>
        </p:nvCxnSpPr>
        <p:spPr>
          <a:xfrm flipV="1">
            <a:off x="3442487" y="5779359"/>
            <a:ext cx="0" cy="187501"/>
          </a:xfrm>
          <a:prstGeom prst="straightConnector1">
            <a:avLst/>
          </a:prstGeom>
          <a:ln w="19050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 shot of a graph&#10;&#10;Description automatically generated">
            <a:extLst>
              <a:ext uri="{FF2B5EF4-FFF2-40B4-BE49-F238E27FC236}">
                <a16:creationId xmlns:a16="http://schemas.microsoft.com/office/drawing/2014/main" id="{CD3DCF9A-3D8F-4C15-300E-FD08BD96D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76600C-80A6-75DA-FE2D-2A28B6B2456C}"/>
                  </a:ext>
                </a:extLst>
              </p:cNvPr>
              <p:cNvSpPr txBox="1"/>
              <p:nvPr/>
            </p:nvSpPr>
            <p:spPr>
              <a:xfrm>
                <a:off x="573537" y="6481230"/>
                <a:ext cx="6031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is an index; e.g.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then this is the first observation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76600C-80A6-75DA-FE2D-2A28B6B24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37" y="6481230"/>
                <a:ext cx="6031010" cy="369332"/>
              </a:xfrm>
              <a:prstGeom prst="rect">
                <a:avLst/>
              </a:prstGeom>
              <a:blipFill>
                <a:blip r:embed="rId4"/>
                <a:stretch>
                  <a:fillRect t="-8197" r="-30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946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3" grpId="0" animBg="1"/>
      <p:bldP spid="17" grpId="0" animBg="1"/>
      <p:bldP spid="18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n a black background&#10;&#10;Description automatically generated">
            <a:extLst>
              <a:ext uri="{FF2B5EF4-FFF2-40B4-BE49-F238E27FC236}">
                <a16:creationId xmlns:a16="http://schemas.microsoft.com/office/drawing/2014/main" id="{E52F8F34-5031-4DE5-834D-AF45F3C13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8" y="0"/>
            <a:ext cx="5751871" cy="6858000"/>
          </a:xfrm>
          <a:prstGeom prst="rect">
            <a:avLst/>
          </a:prstGeom>
        </p:spPr>
      </p:pic>
      <p:pic>
        <p:nvPicPr>
          <p:cNvPr id="6" name="Picture 5" descr="A screen shot of a graph&#10;&#10;Description automatically generated">
            <a:extLst>
              <a:ext uri="{FF2B5EF4-FFF2-40B4-BE49-F238E27FC236}">
                <a16:creationId xmlns:a16="http://schemas.microsoft.com/office/drawing/2014/main" id="{998DE82C-91B8-154C-81E0-998DCBA37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BD16D8-25DE-49D1-85E8-68F8B45ED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018" y="246864"/>
            <a:ext cx="5528000" cy="763600"/>
          </a:xfrm>
        </p:spPr>
        <p:txBody>
          <a:bodyPr/>
          <a:lstStyle/>
          <a:p>
            <a:r>
              <a:rPr lang="en-GB" dirty="0"/>
              <a:t>“Stats” by hand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6D646BD-0A59-4BB9-934F-BE300E4FE01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-1" y="1299456"/>
                <a:ext cx="6440129" cy="5558544"/>
              </a:xfrm>
            </p:spPr>
            <p:txBody>
              <a:bodyPr/>
              <a:lstStyle/>
              <a:p>
                <a:pPr marL="152396" indent="0">
                  <a:buNone/>
                </a:pPr>
                <a:r>
                  <a:rPr lang="en-GB" i="1" dirty="0"/>
                  <a:t>Deon’s height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i="1" dirty="0"/>
                  <a:t> Deon’s age</a:t>
                </a:r>
              </a:p>
              <a:p>
                <a:pPr marL="152396" indent="0">
                  <a:buNone/>
                </a:pPr>
                <a:endParaRPr lang="en-GB" sz="2000" dirty="0"/>
              </a:p>
              <a:p>
                <a:pPr marL="152396" indent="0">
                  <a:buNone/>
                </a:pPr>
                <a:r>
                  <a:rPr lang="en-GB" sz="2000" dirty="0"/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000" dirty="0"/>
                  <a:t>?</a:t>
                </a:r>
              </a:p>
              <a:p>
                <a:r>
                  <a:rPr lang="en-GB" sz="2000" dirty="0"/>
                  <a:t>Imagine a line extending down to 0 years old.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000" b="1" i="1" dirty="0"/>
                  <a:t> </a:t>
                </a:r>
                <a:r>
                  <a:rPr lang="en-GB" sz="2000" i="1" dirty="0"/>
                  <a:t>= 50 cm at 0 years old</a:t>
                </a:r>
              </a:p>
              <a:p>
                <a:pPr marL="152396" indent="0">
                  <a:buNone/>
                </a:pPr>
                <a:endParaRPr lang="en-GB" sz="2000" dirty="0"/>
              </a:p>
              <a:p>
                <a:pPr marL="152396" indent="0">
                  <a:buNone/>
                </a:pPr>
                <a:r>
                  <a:rPr lang="en-GB" sz="2000" dirty="0"/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dirty="0"/>
                  <a:t>?</a:t>
                </a:r>
              </a:p>
              <a:p>
                <a:r>
                  <a:rPr lang="en-GB" sz="2000" dirty="0"/>
                  <a:t>How much did I grow in one year?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b="1" i="1" dirty="0"/>
                  <a:t> </a:t>
                </a:r>
                <a:r>
                  <a:rPr lang="en-GB" sz="2000" i="1" dirty="0"/>
                  <a:t>= 15 cm per year</a:t>
                </a:r>
                <a:endParaRPr lang="en-GB" sz="2000" dirty="0"/>
              </a:p>
              <a:p>
                <a:pPr marL="152396" indent="0">
                  <a:buNone/>
                </a:pPr>
                <a:endParaRPr lang="en-GB" sz="2000" b="1" i="1" dirty="0"/>
              </a:p>
              <a:p>
                <a:pPr marL="152396" indent="0">
                  <a:buNone/>
                </a:pPr>
                <a:r>
                  <a:rPr lang="en-GB" sz="2000" b="1" i="1" dirty="0"/>
                  <a:t>We now have an association.</a:t>
                </a:r>
              </a:p>
              <a:p>
                <a:pPr marL="152396" indent="0">
                  <a:buNone/>
                </a:pPr>
                <a:endParaRPr lang="en-GB" sz="2000" b="1" i="1" dirty="0"/>
              </a:p>
              <a:p>
                <a:pPr marL="152396" indent="0">
                  <a:buNone/>
                </a:pPr>
                <a:r>
                  <a:rPr lang="en-GB" sz="2000" dirty="0"/>
                  <a:t>We can use the equation to make predictions:</a:t>
                </a:r>
              </a:p>
              <a:p>
                <a:r>
                  <a:rPr lang="en-GB" sz="2000" dirty="0"/>
                  <a:t>How tall was I at 6 years old?</a:t>
                </a:r>
              </a:p>
              <a:p>
                <a:r>
                  <a:rPr lang="en-GB" sz="2000" i="1" dirty="0"/>
                  <a:t>Height =  50 + 15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sz="2000" i="1" dirty="0"/>
                  <a:t> 6 = 140 cm</a:t>
                </a:r>
              </a:p>
              <a:p>
                <a:endParaRPr lang="en-GB" sz="2000" b="1" i="1" dirty="0"/>
              </a:p>
              <a:p>
                <a:r>
                  <a:rPr lang="en-GB" sz="2000" dirty="0"/>
                  <a:t>How tall will I be when I am 120 years old?</a:t>
                </a:r>
              </a:p>
              <a:p>
                <a:r>
                  <a:rPr lang="en-GB" sz="2000" i="1" dirty="0"/>
                  <a:t>Height = 50 + 15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sz="2000" i="1" dirty="0"/>
                  <a:t> 120 = </a:t>
                </a:r>
                <a:r>
                  <a:rPr lang="en-GB" sz="2000" b="1" i="1" dirty="0"/>
                  <a:t>1850 cm</a:t>
                </a:r>
              </a:p>
              <a:p>
                <a:r>
                  <a:rPr lang="en-GB" sz="2000" dirty="0"/>
                  <a:t>Be very careful when predicting</a:t>
                </a:r>
              </a:p>
              <a:p>
                <a:pPr marL="152396" indent="0"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6D646BD-0A59-4BB9-934F-BE300E4FE0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-1" y="1299456"/>
                <a:ext cx="6440129" cy="5558544"/>
              </a:xfrm>
              <a:blipFill>
                <a:blip r:embed="rId4"/>
                <a:stretch>
                  <a:fillRect t="-1206" b="-2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E622D0BF-54FA-2FD9-F4EA-ECE0C71B1ABA}"/>
              </a:ext>
            </a:extLst>
          </p:cNvPr>
          <p:cNvGrpSpPr/>
          <p:nvPr/>
        </p:nvGrpSpPr>
        <p:grpSpPr>
          <a:xfrm>
            <a:off x="7224446" y="2586036"/>
            <a:ext cx="1589346" cy="993220"/>
            <a:chOff x="7224446" y="2586036"/>
            <a:chExt cx="1589346" cy="99322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0C925C-79B4-575A-11B7-92C6A8F11175}"/>
                </a:ext>
              </a:extLst>
            </p:cNvPr>
            <p:cNvGrpSpPr/>
            <p:nvPr/>
          </p:nvGrpSpPr>
          <p:grpSpPr>
            <a:xfrm>
              <a:off x="8060924" y="2828924"/>
              <a:ext cx="752868" cy="609600"/>
              <a:chOff x="8060924" y="2828924"/>
              <a:chExt cx="752868" cy="609600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10E3EAC8-2DDC-2FBA-A218-3E152117930E}"/>
                  </a:ext>
                </a:extLst>
              </p:cNvPr>
              <p:cNvCxnSpPr/>
              <p:nvPr/>
            </p:nvCxnSpPr>
            <p:spPr>
              <a:xfrm>
                <a:off x="8060924" y="3429000"/>
                <a:ext cx="74572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36356EBD-3B5E-D8C3-D859-2D6DC22961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3792" y="2828924"/>
                <a:ext cx="0" cy="6096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96C061-E10B-A3F0-1622-A800244223D1}"/>
                </a:ext>
              </a:extLst>
            </p:cNvPr>
            <p:cNvSpPr txBox="1"/>
            <p:nvPr/>
          </p:nvSpPr>
          <p:spPr>
            <a:xfrm>
              <a:off x="7224446" y="3209924"/>
              <a:ext cx="805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60 cm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BCDCC3-7E74-165D-152E-D1B6685E7236}"/>
                </a:ext>
              </a:extLst>
            </p:cNvPr>
            <p:cNvSpPr txBox="1"/>
            <p:nvPr/>
          </p:nvSpPr>
          <p:spPr>
            <a:xfrm>
              <a:off x="7960252" y="2586036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75 cm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70ED1FA-6CB6-A95B-FEE9-B71807E156B7}"/>
              </a:ext>
            </a:extLst>
          </p:cNvPr>
          <p:cNvGrpSpPr/>
          <p:nvPr/>
        </p:nvGrpSpPr>
        <p:grpSpPr>
          <a:xfrm>
            <a:off x="7224446" y="4038600"/>
            <a:ext cx="1419104" cy="827723"/>
            <a:chOff x="7224446" y="4038600"/>
            <a:chExt cx="1419104" cy="8277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0312337-D6A3-0400-FB61-82A4D45EB581}"/>
                    </a:ext>
                  </a:extLst>
                </p:cNvPr>
                <p:cNvSpPr txBox="1"/>
                <p:nvPr/>
              </p:nvSpPr>
              <p:spPr>
                <a:xfrm>
                  <a:off x="7224446" y="4457700"/>
                  <a:ext cx="1419104" cy="40862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=50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0312337-D6A3-0400-FB61-82A4D45EB5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4446" y="4457700"/>
                  <a:ext cx="1419104" cy="408623"/>
                </a:xfrm>
                <a:prstGeom prst="roundRect">
                  <a:avLst/>
                </a:prstGeom>
                <a:blipFill>
                  <a:blip r:embed="rId5"/>
                  <a:stretch>
                    <a:fillRect b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501A8BB-F5D5-E584-2862-42C465BCFFC3}"/>
                </a:ext>
              </a:extLst>
            </p:cNvPr>
            <p:cNvCxnSpPr>
              <a:cxnSpLocks/>
              <a:stCxn id="17" idx="0"/>
            </p:cNvCxnSpPr>
            <p:nvPr/>
          </p:nvCxnSpPr>
          <p:spPr>
            <a:xfrm flipH="1" flipV="1">
              <a:off x="7277100" y="4038600"/>
              <a:ext cx="656898" cy="4191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5DF04FE-34F0-1B0E-1FB4-EE4F49948342}"/>
              </a:ext>
            </a:extLst>
          </p:cNvPr>
          <p:cNvGrpSpPr/>
          <p:nvPr/>
        </p:nvGrpSpPr>
        <p:grpSpPr>
          <a:xfrm>
            <a:off x="8820936" y="3092450"/>
            <a:ext cx="2726094" cy="408623"/>
            <a:chOff x="6852436" y="4457700"/>
            <a:chExt cx="2726094" cy="4086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35CFEDA-ED20-E445-A01A-CD8908C9AEF7}"/>
                    </a:ext>
                  </a:extLst>
                </p:cNvPr>
                <p:cNvSpPr txBox="1"/>
                <p:nvPr/>
              </p:nvSpPr>
              <p:spPr>
                <a:xfrm>
                  <a:off x="7224446" y="4457700"/>
                  <a:ext cx="2354084" cy="40862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=15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𝑦𝑒𝑎𝑟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35CFEDA-ED20-E445-A01A-CD8908C9AE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4446" y="4457700"/>
                  <a:ext cx="2354084" cy="408623"/>
                </a:xfrm>
                <a:prstGeom prst="roundRect">
                  <a:avLst/>
                </a:prstGeom>
                <a:blipFill>
                  <a:blip r:embed="rId6"/>
                  <a:stretch>
                    <a:fillRect b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2DC8461-890C-125A-0DEA-69EE7DC8FF1C}"/>
                </a:ext>
              </a:extLst>
            </p:cNvPr>
            <p:cNvCxnSpPr>
              <a:cxnSpLocks/>
              <a:stCxn id="24" idx="1"/>
            </p:cNvCxnSpPr>
            <p:nvPr/>
          </p:nvCxnSpPr>
          <p:spPr>
            <a:xfrm flipH="1" flipV="1">
              <a:off x="6852436" y="4662011"/>
              <a:ext cx="37201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2804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13" descr="A graph on a black background&#10;&#10;Description automatically generated">
            <a:extLst>
              <a:ext uri="{FF2B5EF4-FFF2-40B4-BE49-F238E27FC236}">
                <a16:creationId xmlns:a16="http://schemas.microsoft.com/office/drawing/2014/main" id="{C6297912-0DFD-DFEF-A104-EDD92478D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pic>
        <p:nvPicPr>
          <p:cNvPr id="5" name="Picture 4" descr="A graph on a black background&#10;&#10;Description automatically generated">
            <a:extLst>
              <a:ext uri="{FF2B5EF4-FFF2-40B4-BE49-F238E27FC236}">
                <a16:creationId xmlns:a16="http://schemas.microsoft.com/office/drawing/2014/main" id="{46393835-4293-53C4-A8D6-3B3D6B69A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379" y="0"/>
            <a:ext cx="5751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25939E-0205-7A74-4BE0-70C10C63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realism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D306B-AC60-2F57-8CD4-AC4058FEC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real world is not perfect</a:t>
            </a:r>
          </a:p>
          <a:p>
            <a:r>
              <a:rPr lang="en-GB" dirty="0"/>
              <a:t>Our predictions (i.e. the line) are never perfect</a:t>
            </a:r>
          </a:p>
          <a:p>
            <a:r>
              <a:rPr lang="en-GB" dirty="0"/>
              <a:t>Even the same individuals have variation</a:t>
            </a:r>
          </a:p>
          <a:p>
            <a:pPr lvl="1"/>
            <a:r>
              <a:rPr lang="en-GB" dirty="0"/>
              <a:t>E.g. growth spurts</a:t>
            </a:r>
          </a:p>
          <a:p>
            <a:r>
              <a:rPr lang="en-GB" dirty="0"/>
              <a:t>Different individuals are not the same</a:t>
            </a:r>
          </a:p>
          <a:p>
            <a:pPr lvl="1"/>
            <a:r>
              <a:rPr lang="en-GB" dirty="0"/>
              <a:t>And can vary in their own way</a:t>
            </a:r>
          </a:p>
          <a:p>
            <a:r>
              <a:rPr lang="en-GB" dirty="0"/>
              <a:t>But we want to describe the general relationship</a:t>
            </a:r>
          </a:p>
        </p:txBody>
      </p:sp>
      <p:pic>
        <p:nvPicPr>
          <p:cNvPr id="11" name="Picture Placeholder 10" descr="A graph of colored lines and dots&#10;&#10;Description automatically generated">
            <a:extLst>
              <a:ext uri="{FF2B5EF4-FFF2-40B4-BE49-F238E27FC236}">
                <a16:creationId xmlns:a16="http://schemas.microsoft.com/office/drawing/2014/main" id="{B6DBCCFB-83B6-63F8-D3B6-CB4979DA3DA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6231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10" descr="A graph of colored lines and dots&#10;&#10;Description automatically generated">
            <a:extLst>
              <a:ext uri="{FF2B5EF4-FFF2-40B4-BE49-F238E27FC236}">
                <a16:creationId xmlns:a16="http://schemas.microsoft.com/office/drawing/2014/main" id="{1E43AFBF-7971-A7BC-7B0A-928C083F0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25939E-0205-7A74-4BE0-70C10C63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stats does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1D306B-AC60-2F57-8CD4-AC4058FEC1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Statistics not only deals with variation but incorporates it</a:t>
                </a:r>
              </a:p>
              <a:p>
                <a:r>
                  <a:rPr lang="en-GB" dirty="0"/>
                  <a:t>Cuts through the noise to show signal</a:t>
                </a:r>
              </a:p>
              <a:p>
                <a:r>
                  <a:rPr lang="en-GB" dirty="0"/>
                  <a:t>Ideally, finds the relationship we want to understand</a:t>
                </a:r>
              </a:p>
              <a:p>
                <a:r>
                  <a:rPr lang="en-GB" dirty="0"/>
                  <a:t>Here: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=36.5 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𝑐𝑚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=14.8 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𝑐𝑚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𝑝𝑒𝑟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𝑦𝑒𝑎𝑟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We now have a mean that </a:t>
                </a:r>
                <a:r>
                  <a:rPr lang="en-GB" i="1" dirty="0"/>
                  <a:t>changes</a:t>
                </a:r>
                <a:r>
                  <a:rPr lang="en-GB" dirty="0"/>
                  <a:t> according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b="0" dirty="0"/>
              </a:p>
              <a:p>
                <a:pPr lvl="1"/>
                <a:r>
                  <a:rPr lang="en-GB" dirty="0"/>
                  <a:t>I.e. We don’t have a single average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1D306B-AC60-2F57-8CD4-AC4058FEC1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Placeholder 6" descr="A graph on a black background&#10;&#10;Description automatically generated">
            <a:extLst>
              <a:ext uri="{FF2B5EF4-FFF2-40B4-BE49-F238E27FC236}">
                <a16:creationId xmlns:a16="http://schemas.microsoft.com/office/drawing/2014/main" id="{729A6A9F-D9A3-A782-7CFC-2F72A1EE29B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0630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751-B33A-A35F-8BF6-693F4328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about variation?</a:t>
            </a:r>
          </a:p>
        </p:txBody>
      </p:sp>
    </p:spTree>
    <p:extLst>
      <p:ext uri="{BB962C8B-B14F-4D97-AF65-F5344CB8AC3E}">
        <p14:creationId xmlns:p14="http://schemas.microsoft.com/office/powerpoint/2010/main" val="425743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050C648A-3582-0B08-839F-8FE8F0E05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9525" y="0"/>
            <a:ext cx="5832475" cy="6858000"/>
          </a:xfrm>
        </p:spPr>
      </p:pic>
      <p:pic>
        <p:nvPicPr>
          <p:cNvPr id="8" name="Picture 7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9800546A-6430-139A-4643-ACEB668C6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A5A6F4-C291-03FA-D2C2-C79A5825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E91846-2FDE-8D27-B999-DF3102D0A9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Distributions are how models deal with “randomness”</a:t>
                </a:r>
              </a:p>
              <a:p>
                <a:r>
                  <a:rPr lang="en-GB" dirty="0"/>
                  <a:t>They “control” randomness so that it behaves in a way that is “sensible”</a:t>
                </a:r>
              </a:p>
              <a:p>
                <a:r>
                  <a:rPr lang="en-GB" dirty="0"/>
                  <a:t>The simplest distribution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𝑈𝑛𝑖𝑓𝑜𝑟𝑚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(0, 100)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Which says that all values are equally likely within the range 0 to 100</a:t>
                </a:r>
              </a:p>
              <a:p>
                <a:r>
                  <a:rPr lang="en-GB" dirty="0"/>
                  <a:t>But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𝑈𝑛𝑖𝑓𝑜𝑟𝑚</m:t>
                    </m:r>
                  </m:oMath>
                </a14:m>
                <a:r>
                  <a:rPr lang="en-GB" dirty="0"/>
                  <a:t> distribution is so simplistic that it’s not very useful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E91846-2FDE-8D27-B999-DF3102D0A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770" r="-27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2431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FA9060-4F21-B2A4-1671-0B35F636A9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/>
                  <a:t> distribution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FA9060-4F21-B2A4-1671-0B35F636A9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B07E2-6BEB-A664-6F4B-51601FB3FA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Called “Normal” because of how common it is in nature</a:t>
                </a:r>
              </a:p>
              <a:p>
                <a:pPr lvl="1"/>
                <a:r>
                  <a:rPr lang="en-GB" dirty="0"/>
                  <a:t>Sometimes called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𝐺𝑢𝑎𝑠𝑠𝑖𝑎𝑛</m:t>
                    </m:r>
                  </m:oMath>
                </a14:m>
                <a:endParaRPr lang="en-GB" dirty="0"/>
              </a:p>
              <a:p>
                <a:r>
                  <a:rPr lang="en-GB" dirty="0"/>
                  <a:t>Described with two bits of information</a:t>
                </a:r>
              </a:p>
              <a:p>
                <a:pPr lvl="1"/>
                <a:r>
                  <a:rPr lang="en-GB" dirty="0"/>
                  <a:t>The mean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dirty="0"/>
                  <a:t>And the standard deviation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We just need to figure out which values for mean (and standard deviation) work best with our data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B07E2-6BEB-A664-6F4B-51601FB3FA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Placeholder 9" descr="A graph on a screen&#10;&#10;Description automatically generated">
            <a:extLst>
              <a:ext uri="{FF2B5EF4-FFF2-40B4-BE49-F238E27FC236}">
                <a16:creationId xmlns:a16="http://schemas.microsoft.com/office/drawing/2014/main" id="{C0A33617-3885-B84B-18F1-9E2406D5C8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9525" y="0"/>
            <a:ext cx="5832475" cy="6858000"/>
          </a:xfrm>
        </p:spPr>
      </p:pic>
      <p:pic>
        <p:nvPicPr>
          <p:cNvPr id="12" name="Picture 11" descr="A graph on a screen&#10;&#10;Description automatically generated">
            <a:extLst>
              <a:ext uri="{FF2B5EF4-FFF2-40B4-BE49-F238E27FC236}">
                <a16:creationId xmlns:a16="http://schemas.microsoft.com/office/drawing/2014/main" id="{66F768E7-A45F-3998-6D31-5C6DBD0F40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  <p:pic>
        <p:nvPicPr>
          <p:cNvPr id="14" name="Picture 13" descr="A graph of a tall tower&#10;&#10;Description automatically generated with medium confidence">
            <a:extLst>
              <a:ext uri="{FF2B5EF4-FFF2-40B4-BE49-F238E27FC236}">
                <a16:creationId xmlns:a16="http://schemas.microsoft.com/office/drawing/2014/main" id="{8E6D8D33-A1E9-2A54-2231-6727B7838A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19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graph of a function&#10;&#10;Description automatically generated">
            <a:extLst>
              <a:ext uri="{FF2B5EF4-FFF2-40B4-BE49-F238E27FC236}">
                <a16:creationId xmlns:a16="http://schemas.microsoft.com/office/drawing/2014/main" id="{C032EED6-152C-776C-59E4-16F174B76AC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EACA1D-B7EF-FB84-57D8-F56A12797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D0BD94-D341-D57C-3F6D-8D95F7A6AF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Previously we wrote: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𝐻𝑒𝑖𝑔h𝑡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𝐴𝑔𝑒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More formally, we’d write: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𝐻𝑒𝑖𝑔h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𝐴𝑔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sz="1400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𝐻𝑒𝑖𝑔h</m:t>
                    </m:r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 is the height of child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400" dirty="0"/>
              </a:p>
              <a:p>
                <a:r>
                  <a:rPr lang="en-GB" sz="1400" b="0" dirty="0"/>
                  <a:t>“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sz="1400" dirty="0"/>
                  <a:t>” means “generated according to…” or “arises from…”</a:t>
                </a:r>
              </a:p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sz="1400" dirty="0"/>
                  <a:t> is the distribution we assume generated 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𝐻𝑒𝑖𝑔h𝑡</m:t>
                    </m:r>
                  </m:oMath>
                </a14:m>
                <a:r>
                  <a:rPr lang="en-GB" sz="1400" dirty="0"/>
                  <a:t> values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 is the average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𝐻𝑒𝑖𝑔h𝑡</m:t>
                    </m:r>
                  </m:oMath>
                </a14:m>
                <a:r>
                  <a:rPr lang="en-GB" sz="1400" dirty="0"/>
                  <a:t> we would expect for child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 is the standard deviation in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𝐻𝑒𝑖𝑔h𝑡</m:t>
                    </m:r>
                  </m:oMath>
                </a14:m>
                <a:r>
                  <a:rPr lang="en-GB" sz="1400" dirty="0"/>
                  <a:t> we expect for child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400" dirty="0"/>
              </a:p>
              <a:p>
                <a:r>
                  <a:rPr lang="en-GB" sz="1400" dirty="0"/>
                  <a:t>Where the average (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1400" dirty="0"/>
                  <a:t>) is: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200" dirty="0"/>
                  <a:t> (height at age 0)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200" dirty="0"/>
                  <a:t> (how many cm a child grows each year)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D0BD94-D341-D57C-3F6D-8D95F7A6AF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0" t="-4884" b="-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4415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graph of a function&#10;&#10;Description automatically generated">
            <a:extLst>
              <a:ext uri="{FF2B5EF4-FFF2-40B4-BE49-F238E27FC236}">
                <a16:creationId xmlns:a16="http://schemas.microsoft.com/office/drawing/2014/main" id="{C032EED6-152C-776C-59E4-16F174B76AC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EACA1D-B7EF-FB84-57D8-F56A12797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Goal of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D0BD94-D341-D57C-3F6D-8D95F7A6AF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We want to tweak the distribution such that the idealised distribution (the “likelihood”) overlaps the real data</a:t>
                </a:r>
              </a:p>
              <a:p>
                <a:r>
                  <a:rPr lang="en-GB" dirty="0"/>
                  <a:t>How do we tweak the distribution?</a:t>
                </a:r>
              </a:p>
              <a:p>
                <a:r>
                  <a:rPr lang="en-GB" dirty="0"/>
                  <a:t>Change the </a:t>
                </a:r>
                <a:r>
                  <a:rPr lang="en-GB" dirty="0">
                    <a:solidFill>
                      <a:srgbClr val="FFFF00"/>
                    </a:solidFill>
                  </a:rPr>
                  <a:t>mean</a:t>
                </a:r>
                <a:r>
                  <a:rPr lang="en-GB" dirty="0"/>
                  <a:t> (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How do we change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For the child height example, we said: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=36.5+14.8×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𝐴𝑔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D0BD94-D341-D57C-3F6D-8D95F7A6AF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graph with a curve&#10;&#10;Description automatically generated">
            <a:extLst>
              <a:ext uri="{FF2B5EF4-FFF2-40B4-BE49-F238E27FC236}">
                <a16:creationId xmlns:a16="http://schemas.microsoft.com/office/drawing/2014/main" id="{D662EDAD-8168-4274-ACB5-C583D52506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0"/>
            <a:ext cx="5751871" cy="6858000"/>
          </a:xfrm>
          <a:prstGeom prst="rect">
            <a:avLst/>
          </a:prstGeom>
        </p:spPr>
      </p:pic>
      <p:pic>
        <p:nvPicPr>
          <p:cNvPr id="4" name="Picture Placeholder 6" descr="A graph on a black background&#10;&#10;Description automatically generated">
            <a:extLst>
              <a:ext uri="{FF2B5EF4-FFF2-40B4-BE49-F238E27FC236}">
                <a16:creationId xmlns:a16="http://schemas.microsoft.com/office/drawing/2014/main" id="{BF941B8C-42C6-16E3-3068-F1ACC50033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0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89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E10892C-931D-968C-1AF6-7C7406EF269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b="0" dirty="0"/>
                  <a:t>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/>
                  <a:t> distribution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E10892C-931D-968C-1AF6-7C7406EF26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638" r="-60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607332-1264-97CE-703D-40621B803A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When using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/>
                  <a:t> distribution a big assumption we make is:</a:t>
                </a:r>
              </a:p>
              <a:p>
                <a:pPr lvl="1"/>
                <a:r>
                  <a:rPr lang="en-GB" dirty="0"/>
                  <a:t>The average and range can be anywhere from negative infinity to positive infinity</a:t>
                </a:r>
              </a:p>
              <a:p>
                <a:pPr lvl="1"/>
                <a:r>
                  <a:rPr lang="en-GB" dirty="0"/>
                  <a:t>Meaning the model </a:t>
                </a:r>
                <a:r>
                  <a:rPr lang="en-GB" i="1" dirty="0"/>
                  <a:t>can</a:t>
                </a:r>
                <a:r>
                  <a:rPr lang="en-GB" dirty="0"/>
                  <a:t> predict negative values</a:t>
                </a:r>
              </a:p>
              <a:p>
                <a:pPr lvl="2"/>
                <a:r>
                  <a:rPr lang="en-GB" dirty="0"/>
                  <a:t>E.g. children could be -5 cm tall</a:t>
                </a:r>
              </a:p>
              <a:p>
                <a:pPr lvl="2"/>
                <a:r>
                  <a:rPr lang="en-GB" dirty="0"/>
                  <a:t>Not a problem so long as mean and SD are “far” from zero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607332-1264-97CE-703D-40621B803A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0" r="-19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Placeholder 13" descr="A graph of colored lines&#10;&#10;Description automatically generated">
            <a:extLst>
              <a:ext uri="{FF2B5EF4-FFF2-40B4-BE49-F238E27FC236}">
                <a16:creationId xmlns:a16="http://schemas.microsoft.com/office/drawing/2014/main" id="{69E42237-6D58-443F-DB3E-9CFE35E39DD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76742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oup of graphs on a black background&#10;&#10;Description automatically generated">
            <a:extLst>
              <a:ext uri="{FF2B5EF4-FFF2-40B4-BE49-F238E27FC236}">
                <a16:creationId xmlns:a16="http://schemas.microsoft.com/office/drawing/2014/main" id="{831DFF14-4E23-F140-5F80-0B4E13B8E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300" y="1141549"/>
            <a:ext cx="6035147" cy="5632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Beware the </a:t>
            </a:r>
            <a:r>
              <a:rPr lang="en-GB" sz="5400" dirty="0" err="1">
                <a:latin typeface="Bahnschrift Light" panose="020B0502040204020203" pitchFamily="34" charset="0"/>
              </a:rPr>
              <a:t>histomancer</a:t>
            </a:r>
            <a:endParaRPr lang="en-GB" sz="5400" dirty="0">
              <a:latin typeface="Bahnschrift Ligh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BA6F-FFE0-43B0-753F-6E3B955C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6089"/>
            <a:ext cx="4991100" cy="3920873"/>
          </a:xfrm>
        </p:spPr>
        <p:txBody>
          <a:bodyPr>
            <a:normAutofit/>
          </a:bodyPr>
          <a:lstStyle/>
          <a:p>
            <a:r>
              <a:rPr lang="en-GB" dirty="0">
                <a:latin typeface="Bahnschrift Light" panose="020B0502040204020203" pitchFamily="34" charset="0"/>
              </a:rPr>
              <a:t>Don’t plot histograms or do tests to “determine” the distribution.</a:t>
            </a:r>
          </a:p>
          <a:p>
            <a:r>
              <a:rPr lang="en-GB" dirty="0">
                <a:latin typeface="Bahnschrift Light" panose="020B0502040204020203" pitchFamily="34" charset="0"/>
              </a:rPr>
              <a:t>Think about the data: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What kind of values could I measure?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Are there limits to the values I could measure?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25E56E-E6CF-3224-48D2-1A653F0D21C1}"/>
                  </a:ext>
                </a:extLst>
              </p:cNvPr>
              <p:cNvSpPr txBox="1"/>
              <p:nvPr/>
            </p:nvSpPr>
            <p:spPr>
              <a:xfrm>
                <a:off x="7003847" y="3059668"/>
                <a:ext cx="1039965" cy="369332"/>
              </a:xfrm>
              <a:prstGeom prst="rect">
                <a:avLst/>
              </a:prstGeom>
              <a:solidFill>
                <a:srgbClr val="000000">
                  <a:alpha val="58824"/>
                </a:srgb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𝑁𝑜𝑟𝑚𝑎𝑙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25E56E-E6CF-3224-48D2-1A653F0D2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847" y="3059668"/>
                <a:ext cx="1039965" cy="369332"/>
              </a:xfrm>
              <a:prstGeom prst="rect">
                <a:avLst/>
              </a:prstGeom>
              <a:blipFill>
                <a:blip r:embed="rId3"/>
                <a:stretch>
                  <a:fillRect t="-11475" r="-7018" b="-22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3B1C8E-492B-ECC6-A540-9AA713CBD4AE}"/>
                  </a:ext>
                </a:extLst>
              </p:cNvPr>
              <p:cNvSpPr txBox="1"/>
              <p:nvPr/>
            </p:nvSpPr>
            <p:spPr>
              <a:xfrm>
                <a:off x="9975798" y="3059668"/>
                <a:ext cx="1039965" cy="369332"/>
              </a:xfrm>
              <a:prstGeom prst="rect">
                <a:avLst/>
              </a:prstGeom>
              <a:solidFill>
                <a:srgbClr val="000000">
                  <a:alpha val="58824"/>
                </a:srgb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𝑁𝑜𝑟𝑚𝑎𝑙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3B1C8E-492B-ECC6-A540-9AA713CBD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5798" y="3059668"/>
                <a:ext cx="1039965" cy="369332"/>
              </a:xfrm>
              <a:prstGeom prst="rect">
                <a:avLst/>
              </a:prstGeom>
              <a:blipFill>
                <a:blip r:embed="rId4"/>
                <a:stretch>
                  <a:fillRect t="-11475" r="-7602" b="-22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08903A-CCFC-0D0D-9741-BC207CBD47C0}"/>
                  </a:ext>
                </a:extLst>
              </p:cNvPr>
              <p:cNvSpPr txBox="1"/>
              <p:nvPr/>
            </p:nvSpPr>
            <p:spPr>
              <a:xfrm>
                <a:off x="6991152" y="5805012"/>
                <a:ext cx="1052660" cy="369332"/>
              </a:xfrm>
              <a:prstGeom prst="rect">
                <a:avLst/>
              </a:prstGeom>
              <a:solidFill>
                <a:srgbClr val="000000">
                  <a:alpha val="58824"/>
                </a:srgb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𝑃𝑜𝑖𝑠𝑠𝑜𝑛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08903A-CCFC-0D0D-9741-BC207CBD4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1152" y="5805012"/>
                <a:ext cx="1052660" cy="369332"/>
              </a:xfrm>
              <a:prstGeom prst="rect">
                <a:avLst/>
              </a:prstGeom>
              <a:blipFill>
                <a:blip r:embed="rId5"/>
                <a:stretch>
                  <a:fillRect t="-9836" r="-6936" b="-22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E8D818-4FA9-4091-0D39-7219B9257156}"/>
                  </a:ext>
                </a:extLst>
              </p:cNvPr>
              <p:cNvSpPr txBox="1"/>
              <p:nvPr/>
            </p:nvSpPr>
            <p:spPr>
              <a:xfrm>
                <a:off x="10131323" y="5805012"/>
                <a:ext cx="728917" cy="369332"/>
              </a:xfrm>
              <a:prstGeom prst="rect">
                <a:avLst/>
              </a:prstGeom>
              <a:solidFill>
                <a:srgbClr val="000000">
                  <a:alpha val="58824"/>
                </a:srgb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𝐵𝑒𝑡𝑎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E8D818-4FA9-4091-0D39-7219B9257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1323" y="5805012"/>
                <a:ext cx="728917" cy="369332"/>
              </a:xfrm>
              <a:prstGeom prst="rect">
                <a:avLst/>
              </a:prstGeom>
              <a:blipFill>
                <a:blip r:embed="rId6"/>
                <a:stretch>
                  <a:fillRect t="-9836" r="-10833" b="-22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1866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751-B33A-A35F-8BF6-693F4328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“Do you drink coffee?”</a:t>
            </a:r>
          </a:p>
        </p:txBody>
      </p:sp>
    </p:spTree>
    <p:extLst>
      <p:ext uri="{BB962C8B-B14F-4D97-AF65-F5344CB8AC3E}">
        <p14:creationId xmlns:p14="http://schemas.microsoft.com/office/powerpoint/2010/main" val="220062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138B73-6E32-409C-1023-056F958FF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642" y="2380929"/>
            <a:ext cx="2826587" cy="1882886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639B57-FA4D-4C98-A22A-5E8C91A33933}"/>
              </a:ext>
            </a:extLst>
          </p:cNvPr>
          <p:cNvSpPr txBox="1"/>
          <p:nvPr/>
        </p:nvSpPr>
        <p:spPr>
          <a:xfrm>
            <a:off x="5361615" y="378325"/>
            <a:ext cx="1407253" cy="5847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Parents drink coffee</a:t>
            </a:r>
            <a:endParaRPr lang="en-GB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B17ACE-CFBC-454D-8412-2755FDE1B9B2}"/>
              </a:ext>
            </a:extLst>
          </p:cNvPr>
          <p:cNvSpPr txBox="1"/>
          <p:nvPr/>
        </p:nvSpPr>
        <p:spPr>
          <a:xfrm>
            <a:off x="1755397" y="1359992"/>
            <a:ext cx="1783159" cy="10772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Watched TV where mature characters drank coffee?</a:t>
            </a:r>
            <a:endParaRPr lang="en-GB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4ABAB3-54AF-41D9-AA13-6BEF1DE98DC7}"/>
              </a:ext>
            </a:extLst>
          </p:cNvPr>
          <p:cNvSpPr txBox="1"/>
          <p:nvPr/>
        </p:nvSpPr>
        <p:spPr>
          <a:xfrm>
            <a:off x="2902918" y="2865829"/>
            <a:ext cx="1620124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Wanted to emulate characters?</a:t>
            </a:r>
            <a:endParaRPr lang="en-GB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7A1222-158F-404C-A7BD-F1CB5065D057}"/>
              </a:ext>
            </a:extLst>
          </p:cNvPr>
          <p:cNvSpPr txBox="1"/>
          <p:nvPr/>
        </p:nvSpPr>
        <p:spPr>
          <a:xfrm>
            <a:off x="242481" y="255215"/>
            <a:ext cx="2273416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From a culture where drinking coffee in the morning is normal?</a:t>
            </a:r>
            <a:endParaRPr lang="en-GB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4B51C2-9291-492C-865D-54B951680CA1}"/>
              </a:ext>
            </a:extLst>
          </p:cNvPr>
          <p:cNvSpPr txBox="1"/>
          <p:nvPr/>
        </p:nvSpPr>
        <p:spPr>
          <a:xfrm>
            <a:off x="1755397" y="3974514"/>
            <a:ext cx="1783159" cy="5847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Drinks tea instead of coffee?</a:t>
            </a:r>
            <a:endParaRPr lang="en-GB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38ADB1-2F28-42FA-96B1-B37B448BE58E}"/>
              </a:ext>
            </a:extLst>
          </p:cNvPr>
          <p:cNvSpPr txBox="1"/>
          <p:nvPr/>
        </p:nvSpPr>
        <p:spPr>
          <a:xfrm>
            <a:off x="5353225" y="6436711"/>
            <a:ext cx="1415643" cy="3385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Is hungover?</a:t>
            </a:r>
            <a:endParaRPr lang="en-GB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A77027-5EEC-4C77-A9EF-A208402B013E}"/>
              </a:ext>
            </a:extLst>
          </p:cNvPr>
          <p:cNvSpPr txBox="1"/>
          <p:nvPr/>
        </p:nvSpPr>
        <p:spPr>
          <a:xfrm>
            <a:off x="5252555" y="4953319"/>
            <a:ext cx="1625367" cy="10772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Believe drinking coffee helps with a hangover?</a:t>
            </a:r>
            <a:endParaRPr lang="en-GB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295F01-AD51-4CB9-BA19-C32D89C37A80}"/>
              </a:ext>
            </a:extLst>
          </p:cNvPr>
          <p:cNvSpPr txBox="1"/>
          <p:nvPr/>
        </p:nvSpPr>
        <p:spPr>
          <a:xfrm>
            <a:off x="10549979" y="5845015"/>
            <a:ext cx="1541477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Saw a butterfly this morning?</a:t>
            </a:r>
            <a:endParaRPr lang="en-GB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7D5324-DF36-48B8-9ECE-14BB3F8CD03D}"/>
              </a:ext>
            </a:extLst>
          </p:cNvPr>
          <p:cNvSpPr txBox="1"/>
          <p:nvPr/>
        </p:nvSpPr>
        <p:spPr>
          <a:xfrm>
            <a:off x="9680048" y="4397292"/>
            <a:ext cx="1783159" cy="10772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Grandparent’s room had butterflies in the wallpaper?</a:t>
            </a:r>
            <a:endParaRPr lang="en-GB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A7146-D837-4BFE-B2FC-7BF1E98553C9}"/>
              </a:ext>
            </a:extLst>
          </p:cNvPr>
          <p:cNvSpPr txBox="1"/>
          <p:nvPr/>
        </p:nvSpPr>
        <p:spPr>
          <a:xfrm>
            <a:off x="9227563" y="3179159"/>
            <a:ext cx="1783159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Grandparent used to grind coffee by hand?</a:t>
            </a:r>
            <a:endParaRPr lang="en-GB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1FD862-F6F9-40B0-8B2D-D0B3A5F943AC}"/>
              </a:ext>
            </a:extLst>
          </p:cNvPr>
          <p:cNvSpPr txBox="1"/>
          <p:nvPr/>
        </p:nvSpPr>
        <p:spPr>
          <a:xfrm>
            <a:off x="7784184" y="2008435"/>
            <a:ext cx="2399250" cy="5847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Was nostalgic for grandparent’s coffee?</a:t>
            </a:r>
            <a:endParaRPr lang="en-GB" sz="16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E2D86AF-820C-49E9-960D-274C6E928762}"/>
              </a:ext>
            </a:extLst>
          </p:cNvPr>
          <p:cNvSpPr/>
          <p:nvPr/>
        </p:nvSpPr>
        <p:spPr>
          <a:xfrm>
            <a:off x="4991450" y="2469313"/>
            <a:ext cx="2147581" cy="20856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A2C6BB7-8CC6-49BD-9083-151ABD8B0B94}"/>
              </a:ext>
            </a:extLst>
          </p:cNvPr>
          <p:cNvCxnSpPr>
            <a:stCxn id="14" idx="2"/>
            <a:endCxn id="16" idx="1"/>
          </p:cNvCxnSpPr>
          <p:nvPr/>
        </p:nvCxnSpPr>
        <p:spPr>
          <a:xfrm rot="16200000" flipH="1">
            <a:off x="-23052" y="2488453"/>
            <a:ext cx="3180690" cy="376208"/>
          </a:xfrm>
          <a:prstGeom prst="bent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F2E38404-025A-4597-A1E8-AD85305108EC}"/>
              </a:ext>
            </a:extLst>
          </p:cNvPr>
          <p:cNvCxnSpPr>
            <a:stCxn id="14" idx="3"/>
            <a:endCxn id="10" idx="0"/>
          </p:cNvCxnSpPr>
          <p:nvPr/>
        </p:nvCxnSpPr>
        <p:spPr>
          <a:xfrm>
            <a:off x="2515897" y="670714"/>
            <a:ext cx="131080" cy="689278"/>
          </a:xfrm>
          <a:prstGeom prst="bent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453D70BD-ED09-42A4-BD37-C8F18259DCF6}"/>
              </a:ext>
            </a:extLst>
          </p:cNvPr>
          <p:cNvCxnSpPr>
            <a:stCxn id="10" idx="3"/>
            <a:endCxn id="12" idx="0"/>
          </p:cNvCxnSpPr>
          <p:nvPr/>
        </p:nvCxnSpPr>
        <p:spPr>
          <a:xfrm>
            <a:off x="3538556" y="1898601"/>
            <a:ext cx="174424" cy="967228"/>
          </a:xfrm>
          <a:prstGeom prst="bent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A67E55B9-28C9-4892-AEA1-137DC9EE27C8}"/>
              </a:ext>
            </a:extLst>
          </p:cNvPr>
          <p:cNvCxnSpPr>
            <a:stCxn id="12" idx="3"/>
            <a:endCxn id="29" idx="2"/>
          </p:cNvCxnSpPr>
          <p:nvPr/>
        </p:nvCxnSpPr>
        <p:spPr>
          <a:xfrm>
            <a:off x="4523042" y="3281328"/>
            <a:ext cx="468408" cy="230832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20A43608-2A73-4E4C-9000-DED1CFC482ED}"/>
              </a:ext>
            </a:extLst>
          </p:cNvPr>
          <p:cNvCxnSpPr>
            <a:stCxn id="6" idx="2"/>
            <a:endCxn id="29" idx="0"/>
          </p:cNvCxnSpPr>
          <p:nvPr/>
        </p:nvCxnSpPr>
        <p:spPr>
          <a:xfrm rot="5400000">
            <a:off x="5312136" y="1716206"/>
            <a:ext cx="1506213" cy="1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E579FB9E-AA4B-4E3D-B8E4-C2C32CAE704A}"/>
              </a:ext>
            </a:extLst>
          </p:cNvPr>
          <p:cNvCxnSpPr>
            <a:stCxn id="22" idx="0"/>
            <a:endCxn id="24" idx="2"/>
          </p:cNvCxnSpPr>
          <p:nvPr/>
        </p:nvCxnSpPr>
        <p:spPr>
          <a:xfrm rot="16200000" flipV="1">
            <a:off x="10760921" y="5285218"/>
            <a:ext cx="370505" cy="749090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0261502F-6CAA-44E2-8907-845416A80AA8}"/>
              </a:ext>
            </a:extLst>
          </p:cNvPr>
          <p:cNvCxnSpPr>
            <a:stCxn id="24" idx="0"/>
            <a:endCxn id="26" idx="2"/>
          </p:cNvCxnSpPr>
          <p:nvPr/>
        </p:nvCxnSpPr>
        <p:spPr>
          <a:xfrm rot="16200000" flipV="1">
            <a:off x="10151818" y="3977481"/>
            <a:ext cx="387136" cy="452485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D506CACB-8EC8-4F3B-8266-5C5CF2C67D4B}"/>
              </a:ext>
            </a:extLst>
          </p:cNvPr>
          <p:cNvCxnSpPr>
            <a:stCxn id="26" idx="0"/>
            <a:endCxn id="28" idx="2"/>
          </p:cNvCxnSpPr>
          <p:nvPr/>
        </p:nvCxnSpPr>
        <p:spPr>
          <a:xfrm rot="16200000" flipV="1">
            <a:off x="9258502" y="2318518"/>
            <a:ext cx="585949" cy="1135334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0E1A4903-BC41-4EED-BECC-2E49E3144D85}"/>
              </a:ext>
            </a:extLst>
          </p:cNvPr>
          <p:cNvCxnSpPr>
            <a:stCxn id="28" idx="1"/>
            <a:endCxn id="29" idx="6"/>
          </p:cNvCxnSpPr>
          <p:nvPr/>
        </p:nvCxnSpPr>
        <p:spPr>
          <a:xfrm rot="10800000" flipV="1">
            <a:off x="7139032" y="2300822"/>
            <a:ext cx="645153" cy="1211337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28349C72-9787-4049-AF79-005A291DA6EF}"/>
              </a:ext>
            </a:extLst>
          </p:cNvPr>
          <p:cNvCxnSpPr>
            <a:stCxn id="16" idx="3"/>
            <a:endCxn id="29" idx="2"/>
          </p:cNvCxnSpPr>
          <p:nvPr/>
        </p:nvCxnSpPr>
        <p:spPr>
          <a:xfrm flipV="1">
            <a:off x="3538556" y="3512160"/>
            <a:ext cx="1452894" cy="754742"/>
          </a:xfrm>
          <a:prstGeom prst="bentConnector3">
            <a:avLst>
              <a:gd name="adj1" fmla="val 83649"/>
            </a:avLst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9DBA518F-6917-43AE-A2D4-5860FD3B4A02}"/>
              </a:ext>
            </a:extLst>
          </p:cNvPr>
          <p:cNvCxnSpPr>
            <a:stCxn id="20" idx="0"/>
            <a:endCxn id="29" idx="4"/>
          </p:cNvCxnSpPr>
          <p:nvPr/>
        </p:nvCxnSpPr>
        <p:spPr>
          <a:xfrm rot="5400000" flipH="1" flipV="1">
            <a:off x="5866084" y="4754162"/>
            <a:ext cx="398312" cy="2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9AF8724-4C20-40A6-A76C-EDC52A2CB53F}"/>
              </a:ext>
            </a:extLst>
          </p:cNvPr>
          <p:cNvCxnSpPr>
            <a:stCxn id="18" idx="0"/>
            <a:endCxn id="20" idx="2"/>
          </p:cNvCxnSpPr>
          <p:nvPr/>
        </p:nvCxnSpPr>
        <p:spPr>
          <a:xfrm flipV="1">
            <a:off x="6061047" y="6030537"/>
            <a:ext cx="4192" cy="40617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F9639A4-1E4F-4228-87E7-E9BCDC6FA60D}"/>
              </a:ext>
            </a:extLst>
          </p:cNvPr>
          <p:cNvSpPr txBox="1"/>
          <p:nvPr/>
        </p:nvSpPr>
        <p:spPr>
          <a:xfrm>
            <a:off x="8429196" y="966376"/>
            <a:ext cx="3379891" cy="3385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Did you drink coffee yesterday?</a:t>
            </a:r>
            <a:endParaRPr lang="en-GB" sz="1600" dirty="0"/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CE972D54-63F6-4B51-87F3-5ED782B994A5}"/>
              </a:ext>
            </a:extLst>
          </p:cNvPr>
          <p:cNvCxnSpPr>
            <a:stCxn id="69" idx="1"/>
            <a:endCxn id="29" idx="7"/>
          </p:cNvCxnSpPr>
          <p:nvPr/>
        </p:nvCxnSpPr>
        <p:spPr>
          <a:xfrm rot="10800000" flipV="1">
            <a:off x="6824526" y="1135652"/>
            <a:ext cx="1604671" cy="1639103"/>
          </a:xfrm>
          <a:prstGeom prst="bent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47817476-093B-4DAF-9A9D-C26D1647227F}"/>
              </a:ext>
            </a:extLst>
          </p:cNvPr>
          <p:cNvCxnSpPr>
            <a:stCxn id="14" idx="3"/>
            <a:endCxn id="6" idx="1"/>
          </p:cNvCxnSpPr>
          <p:nvPr/>
        </p:nvCxnSpPr>
        <p:spPr>
          <a:xfrm flipV="1">
            <a:off x="2515897" y="670713"/>
            <a:ext cx="2845718" cy="1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5222706C-1AF0-4BE6-B8F4-422F8C251580}"/>
              </a:ext>
            </a:extLst>
          </p:cNvPr>
          <p:cNvCxnSpPr>
            <a:stCxn id="14" idx="1"/>
            <a:endCxn id="18" idx="1"/>
          </p:cNvCxnSpPr>
          <p:nvPr/>
        </p:nvCxnSpPr>
        <p:spPr>
          <a:xfrm rot="10800000" flipH="1" flipV="1">
            <a:off x="242481" y="670714"/>
            <a:ext cx="5110744" cy="5935274"/>
          </a:xfrm>
          <a:prstGeom prst="bentConnector3">
            <a:avLst>
              <a:gd name="adj1" fmla="val -2389"/>
            </a:avLst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66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6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ADB25E1E-4B0B-1EF9-0DA5-0B3D58BF5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356" y="0"/>
            <a:ext cx="6819644" cy="454279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7B21766-57B8-FE9F-023C-01A1F8206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If you drink coffee, what is the average number of coffees you drink in a year?</a:t>
            </a:r>
          </a:p>
        </p:txBody>
      </p:sp>
      <p:sp>
        <p:nvSpPr>
          <p:cNvPr id="32" name="Google Shape;371;p39">
            <a:extLst>
              <a:ext uri="{FF2B5EF4-FFF2-40B4-BE49-F238E27FC236}">
                <a16:creationId xmlns:a16="http://schemas.microsoft.com/office/drawing/2014/main" id="{5394189B-7847-4829-B059-EDBDC6134D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7591" y="1726250"/>
            <a:ext cx="6730412" cy="469061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endParaRPr lang="en-US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en-US" dirty="0">
                <a:latin typeface="Bahnschrift Light" panose="020B0502040204020203" pitchFamily="34" charset="0"/>
              </a:rPr>
              <a:t>The response will be a value (e.g. 522.6).</a:t>
            </a:r>
          </a:p>
          <a:p>
            <a:pPr marL="0" indent="0">
              <a:buNone/>
            </a:pPr>
            <a:endParaRPr lang="en-US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Given your answer, the more interesting question is why do you drink that many?</a:t>
            </a:r>
          </a:p>
          <a:p>
            <a:pPr marL="0" indent="0">
              <a:buNone/>
            </a:pPr>
            <a:endParaRPr lang="en-GB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For each of us, there is some unknown average number of coffees, that we drink in a year, </a:t>
            </a:r>
            <a:br>
              <a:rPr lang="en-GB" dirty="0">
                <a:latin typeface="Bahnschrift Light" panose="020B0502040204020203" pitchFamily="34" charset="0"/>
              </a:rPr>
            </a:br>
            <a:r>
              <a:rPr lang="en-GB" dirty="0">
                <a:latin typeface="Bahnschrift Light" panose="020B0502040204020203" pitchFamily="34" charset="0"/>
              </a:rPr>
              <a:t>which is </a:t>
            </a:r>
            <a:r>
              <a:rPr lang="en-GB" i="1" dirty="0">
                <a:latin typeface="Bahnschrift Light" panose="020B0502040204020203" pitchFamily="34" charset="0"/>
              </a:rPr>
              <a:t>determined</a:t>
            </a:r>
            <a:r>
              <a:rPr lang="en-GB" dirty="0">
                <a:latin typeface="Bahnschrift Light" panose="020B0502040204020203" pitchFamily="34" charset="0"/>
              </a:rPr>
              <a:t> by some set of </a:t>
            </a:r>
            <a:br>
              <a:rPr lang="en-GB" dirty="0">
                <a:latin typeface="Bahnschrift Light" panose="020B0502040204020203" pitchFamily="34" charset="0"/>
              </a:rPr>
            </a:br>
            <a:r>
              <a:rPr lang="en-GB" dirty="0">
                <a:latin typeface="Bahnschrift Light" panose="020B0502040204020203" pitchFamily="34" charset="0"/>
              </a:rPr>
              <a:t>explanatory </a:t>
            </a:r>
            <a:r>
              <a:rPr lang="en-GB" i="1" dirty="0">
                <a:latin typeface="Bahnschrift Light" panose="020B0502040204020203" pitchFamily="34" charset="0"/>
              </a:rPr>
              <a:t>variables</a:t>
            </a:r>
            <a:r>
              <a:rPr lang="en-GB" dirty="0">
                <a:latin typeface="Bahnschrift Light" panose="020B0502040204020203" pitchFamily="34" charset="0"/>
              </a:rPr>
              <a:t>.</a:t>
            </a:r>
            <a:endParaRPr dirty="0">
              <a:latin typeface="Bahnschrift Light" panose="020B0502040204020203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D21616-E55C-F73B-C679-C7585F45DF70}"/>
              </a:ext>
            </a:extLst>
          </p:cNvPr>
          <p:cNvGrpSpPr/>
          <p:nvPr/>
        </p:nvGrpSpPr>
        <p:grpSpPr>
          <a:xfrm>
            <a:off x="7521390" y="5157239"/>
            <a:ext cx="3608231" cy="1209171"/>
            <a:chOff x="7521390" y="5157239"/>
            <a:chExt cx="3608231" cy="12091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0A4F0D0-3DBC-4026-AC8C-1A4D7131F5BC}"/>
                    </a:ext>
                  </a:extLst>
                </p:cNvPr>
                <p:cNvSpPr txBox="1"/>
                <p:nvPr/>
              </p:nvSpPr>
              <p:spPr>
                <a:xfrm>
                  <a:off x="7521390" y="5157239"/>
                  <a:ext cx="360823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𝑁𝑜𝑟𝑚𝑎𝑙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0A4F0D0-3DBC-4026-AC8C-1A4D7131F5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1390" y="5157239"/>
                  <a:ext cx="3608231" cy="4924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4ECBC21-62FF-4DE1-BF7D-92A6D3C5EFCC}"/>
                    </a:ext>
                  </a:extLst>
                </p:cNvPr>
                <p:cNvSpPr txBox="1"/>
                <p:nvPr/>
              </p:nvSpPr>
              <p:spPr>
                <a:xfrm>
                  <a:off x="7521390" y="5873967"/>
                  <a:ext cx="1527726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4ECBC21-62FF-4DE1-BF7D-92A6D3C5E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1390" y="5873967"/>
                  <a:ext cx="1527726" cy="492443"/>
                </a:xfrm>
                <a:prstGeom prst="rect">
                  <a:avLst/>
                </a:prstGeom>
                <a:blipFill>
                  <a:blip r:embed="rId5"/>
                  <a:stretch>
                    <a:fillRect t="-28750" r="-19200" b="-475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B489590-0591-4AE0-B9F9-F6F6EF03AE3A}"/>
              </a:ext>
            </a:extLst>
          </p:cNvPr>
          <p:cNvGrpSpPr/>
          <p:nvPr/>
        </p:nvGrpSpPr>
        <p:grpSpPr>
          <a:xfrm>
            <a:off x="890588" y="2214368"/>
            <a:ext cx="7050305" cy="3441374"/>
            <a:chOff x="890588" y="2214368"/>
            <a:chExt cx="7050305" cy="344137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5596422-935E-4022-9888-7394787E941F}"/>
                </a:ext>
              </a:extLst>
            </p:cNvPr>
            <p:cNvSpPr/>
            <p:nvPr/>
          </p:nvSpPr>
          <p:spPr>
            <a:xfrm>
              <a:off x="890588" y="2214368"/>
              <a:ext cx="1533525" cy="411116"/>
            </a:xfrm>
            <a:prstGeom prst="rect">
              <a:avLst/>
            </a:prstGeom>
            <a:noFill/>
            <a:ln w="38100">
              <a:solidFill>
                <a:srgbClr val="CC31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6E3CAB0-F281-48B4-B632-D1F42390B074}"/>
                </a:ext>
              </a:extLst>
            </p:cNvPr>
            <p:cNvSpPr/>
            <p:nvPr/>
          </p:nvSpPr>
          <p:spPr>
            <a:xfrm>
              <a:off x="7538117" y="5216606"/>
              <a:ext cx="402776" cy="439136"/>
            </a:xfrm>
            <a:prstGeom prst="roundRect">
              <a:avLst/>
            </a:prstGeom>
            <a:noFill/>
            <a:ln w="28575">
              <a:solidFill>
                <a:srgbClr val="CC31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28C55A4-C49B-4D37-8B07-2CE7CB6B3787}"/>
              </a:ext>
            </a:extLst>
          </p:cNvPr>
          <p:cNvGrpSpPr/>
          <p:nvPr/>
        </p:nvGrpSpPr>
        <p:grpSpPr>
          <a:xfrm>
            <a:off x="219767" y="4535923"/>
            <a:ext cx="10148188" cy="1850512"/>
            <a:chOff x="1014878" y="4535923"/>
            <a:chExt cx="6753221" cy="1850512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64BFA693-DCE4-4AFE-9106-647ED915C76D}"/>
                </a:ext>
              </a:extLst>
            </p:cNvPr>
            <p:cNvSpPr/>
            <p:nvPr/>
          </p:nvSpPr>
          <p:spPr>
            <a:xfrm>
              <a:off x="7503847" y="5216606"/>
              <a:ext cx="264252" cy="441365"/>
            </a:xfrm>
            <a:prstGeom prst="roundRect">
              <a:avLst/>
            </a:prstGeom>
            <a:noFill/>
            <a:ln w="28575">
              <a:solidFill>
                <a:srgbClr val="66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FFA9890-8C09-4FE9-A22A-EC53A8134235}"/>
                </a:ext>
              </a:extLst>
            </p:cNvPr>
            <p:cNvGrpSpPr/>
            <p:nvPr/>
          </p:nvGrpSpPr>
          <p:grpSpPr>
            <a:xfrm>
              <a:off x="1014878" y="4535923"/>
              <a:ext cx="5138106" cy="1850512"/>
              <a:chOff x="1014878" y="4535923"/>
              <a:chExt cx="5138106" cy="1850512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722088A-DBD5-4BA8-BFEF-8E71175E1F26}"/>
                  </a:ext>
                </a:extLst>
              </p:cNvPr>
              <p:cNvSpPr/>
              <p:nvPr/>
            </p:nvSpPr>
            <p:spPr>
              <a:xfrm>
                <a:off x="1014878" y="4535923"/>
                <a:ext cx="2884425" cy="379133"/>
              </a:xfrm>
              <a:prstGeom prst="rect">
                <a:avLst/>
              </a:prstGeom>
              <a:noFill/>
              <a:ln w="38100">
                <a:solidFill>
                  <a:srgbClr val="66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36AB0B07-6621-47E7-97BF-DA1B977FD90E}"/>
                  </a:ext>
                </a:extLst>
              </p:cNvPr>
              <p:cNvSpPr/>
              <p:nvPr/>
            </p:nvSpPr>
            <p:spPr>
              <a:xfrm>
                <a:off x="5873823" y="5893992"/>
                <a:ext cx="279161" cy="492443"/>
              </a:xfrm>
              <a:prstGeom prst="roundRect">
                <a:avLst/>
              </a:prstGeom>
              <a:noFill/>
              <a:ln w="28575">
                <a:solidFill>
                  <a:srgbClr val="66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A6854F8-1D7B-4E84-AAFB-F147BDE19CAE}"/>
              </a:ext>
            </a:extLst>
          </p:cNvPr>
          <p:cNvGrpSpPr/>
          <p:nvPr/>
        </p:nvGrpSpPr>
        <p:grpSpPr>
          <a:xfrm>
            <a:off x="192518" y="5309768"/>
            <a:ext cx="8876759" cy="1076667"/>
            <a:chOff x="-1421267" y="5603758"/>
            <a:chExt cx="8876759" cy="1076667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D52917F-8F6B-4630-81DC-4B6013FD7F93}"/>
                </a:ext>
              </a:extLst>
            </p:cNvPr>
            <p:cNvSpPr/>
            <p:nvPr/>
          </p:nvSpPr>
          <p:spPr>
            <a:xfrm>
              <a:off x="-1421267" y="5603758"/>
              <a:ext cx="5842049" cy="752481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578663CD-020D-4580-A43F-AEF629599CA7}"/>
                </a:ext>
              </a:extLst>
            </p:cNvPr>
            <p:cNvSpPr/>
            <p:nvPr/>
          </p:nvSpPr>
          <p:spPr>
            <a:xfrm>
              <a:off x="6814216" y="6187982"/>
              <a:ext cx="641276" cy="492443"/>
            </a:xfrm>
            <a:prstGeom prst="round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58FCE76-FFEA-4974-AD87-E5B269986550}"/>
              </a:ext>
            </a:extLst>
          </p:cNvPr>
          <p:cNvGrpSpPr/>
          <p:nvPr/>
        </p:nvGrpSpPr>
        <p:grpSpPr>
          <a:xfrm>
            <a:off x="4873840" y="2214368"/>
            <a:ext cx="5007007" cy="3443603"/>
            <a:chOff x="2631071" y="2566335"/>
            <a:chExt cx="5007007" cy="344360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311F149-F812-43A0-B4C5-75BFF1102750}"/>
                </a:ext>
              </a:extLst>
            </p:cNvPr>
            <p:cNvSpPr/>
            <p:nvPr/>
          </p:nvSpPr>
          <p:spPr>
            <a:xfrm>
              <a:off x="2631071" y="2566335"/>
              <a:ext cx="1695636" cy="411116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1D1F8316-F598-4AC9-82A1-A2BFA347CB3F}"/>
                </a:ext>
              </a:extLst>
            </p:cNvPr>
            <p:cNvSpPr/>
            <p:nvPr/>
          </p:nvSpPr>
          <p:spPr>
            <a:xfrm>
              <a:off x="6185232" y="5568573"/>
              <a:ext cx="1452846" cy="441365"/>
            </a:xfrm>
            <a:prstGeom prst="round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45027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312335-CA1A-76C0-D2D3-BF1F58A8E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First amongst equals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Google Shape;371;p39">
                <a:extLst>
                  <a:ext uri="{FF2B5EF4-FFF2-40B4-BE49-F238E27FC236}">
                    <a16:creationId xmlns:a16="http://schemas.microsoft.com/office/drawing/2014/main" id="{5394189B-7847-4829-B059-EDBDC6134D1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1618" y="940719"/>
                <a:ext cx="10333083" cy="5813166"/>
              </a:xfrm>
              <a:prstGeom prst="rect">
                <a:avLst/>
              </a:prstGeom>
            </p:spPr>
            <p:txBody>
              <a:bodyPr spcFirstLastPara="1" vert="horz" wrap="square" lIns="121900" tIns="121900" rIns="121900" bIns="121900" rtlCol="0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Bahnschrift Light" panose="020B0502040204020203" pitchFamily="34" charset="0"/>
                  </a:rPr>
                  <a:t>Three broad purposes of statistics:</a:t>
                </a:r>
              </a:p>
              <a:p>
                <a:pPr marL="457200" indent="-457200"/>
                <a:r>
                  <a:rPr lang="en-US" dirty="0">
                    <a:latin typeface="Bahnschrift Light" panose="020B0502040204020203" pitchFamily="34" charset="0"/>
                  </a:rPr>
                  <a:t>Causal inference</a:t>
                </a:r>
              </a:p>
              <a:p>
                <a:pPr marL="457200" indent="-457200"/>
                <a:r>
                  <a:rPr lang="en-US" dirty="0">
                    <a:latin typeface="Bahnschrift Light" panose="020B0502040204020203" pitchFamily="34" charset="0"/>
                  </a:rPr>
                  <a:t>Prediction</a:t>
                </a:r>
              </a:p>
              <a:p>
                <a:pPr marL="457200" indent="-457200"/>
                <a:r>
                  <a:rPr lang="en-US" dirty="0">
                    <a:latin typeface="Bahnschrift Light" panose="020B0502040204020203" pitchFamily="34" charset="0"/>
                  </a:rPr>
                  <a:t>Descriptive</a:t>
                </a:r>
              </a:p>
              <a:p>
                <a:pPr marL="0" indent="0">
                  <a:buNone/>
                </a:pPr>
                <a:endParaRPr lang="en-US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Bahnschrift Light" panose="020B0502040204020203" pitchFamily="34" charset="0"/>
                  </a:rPr>
                  <a:t>Based on the data, who do you think won the 2021 Japanese election?</a:t>
                </a:r>
              </a:p>
              <a:p>
                <a:pPr marL="0" indent="0">
                  <a:buNone/>
                </a:pPr>
                <a:endParaRPr lang="en-US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𝑅𝑒𝑠𝑢𝑙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Bahnschrift Light" panose="020B0502040204020203" pitchFamily="34" charset="0"/>
                  </a:rPr>
                  <a:t>LDP have won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=95%</m:t>
                    </m:r>
                  </m:oMath>
                </a14:m>
                <a:endParaRPr lang="en-US" dirty="0">
                  <a:latin typeface="Bahnschrift Light" panose="020B0502040204020203" pitchFamily="34" charset="0"/>
                </a:endParaRPr>
              </a:p>
              <a:p>
                <a:pPr marL="457200" indent="-457200"/>
                <a:r>
                  <a:rPr lang="en-US" dirty="0">
                    <a:latin typeface="Bahnschrift Light" panose="020B0502040204020203" pitchFamily="34" charset="0"/>
                  </a:rPr>
                  <a:t>Descriptive model: LDP have won 95% from 1955 to 2017</a:t>
                </a:r>
              </a:p>
              <a:p>
                <a:pPr marL="457200" indent="-457200"/>
                <a:r>
                  <a:rPr lang="en-US" dirty="0">
                    <a:latin typeface="Bahnschrift Light" panose="020B0502040204020203" pitchFamily="34" charset="0"/>
                  </a:rPr>
                  <a:t>Predictive model: LDP have a 95% chance to win 2021</a:t>
                </a:r>
              </a:p>
              <a:p>
                <a:pPr marL="457200" indent="-457200"/>
                <a:r>
                  <a:rPr lang="en-US" dirty="0">
                    <a:latin typeface="Bahnschrift Light" panose="020B0502040204020203" pitchFamily="34" charset="0"/>
                  </a:rPr>
                  <a:t>Causal model: Red </a:t>
                </a:r>
                <a:r>
                  <a:rPr lang="en-US" dirty="0" err="1">
                    <a:latin typeface="Bahnschrift Light" panose="020B0502040204020203" pitchFamily="34" charset="0"/>
                  </a:rPr>
                  <a:t>colour</a:t>
                </a:r>
                <a:r>
                  <a:rPr lang="en-US" dirty="0">
                    <a:latin typeface="Bahnschrift Light" panose="020B0502040204020203" pitchFamily="34" charset="0"/>
                  </a:rPr>
                  <a:t> reduces chance to win by 90%</a:t>
                </a:r>
              </a:p>
            </p:txBody>
          </p:sp>
        </mc:Choice>
        <mc:Fallback xmlns="">
          <p:sp>
            <p:nvSpPr>
              <p:cNvPr id="32" name="Google Shape;371;p39">
                <a:extLst>
                  <a:ext uri="{FF2B5EF4-FFF2-40B4-BE49-F238E27FC236}">
                    <a16:creationId xmlns:a16="http://schemas.microsoft.com/office/drawing/2014/main" id="{5394189B-7847-4829-B059-EDBDC6134D1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1618" y="940719"/>
                <a:ext cx="10333083" cy="5813166"/>
              </a:xfrm>
              <a:prstGeom prst="rect">
                <a:avLst/>
              </a:prstGeom>
              <a:blipFill>
                <a:blip r:embed="rId3"/>
                <a:stretch>
                  <a:fillRect l="-944" t="-629" b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5983E3B-9ABE-4ABE-9135-B7859F6FB0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761" t="2313" r="26607"/>
          <a:stretch/>
        </p:blipFill>
        <p:spPr>
          <a:xfrm>
            <a:off x="10652129" y="158620"/>
            <a:ext cx="1418253" cy="669938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B4F1A5C-4319-88DF-75BF-2E9B01EDA594}"/>
              </a:ext>
            </a:extLst>
          </p:cNvPr>
          <p:cNvGrpSpPr/>
          <p:nvPr/>
        </p:nvGrpSpPr>
        <p:grpSpPr>
          <a:xfrm>
            <a:off x="3483560" y="1445736"/>
            <a:ext cx="3114301" cy="1200329"/>
            <a:chOff x="3801795" y="3854877"/>
            <a:chExt cx="3114301" cy="1200329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D93CE428-D551-3EAF-F325-FF1EEFB4E06E}"/>
                </a:ext>
              </a:extLst>
            </p:cNvPr>
            <p:cNvSpPr/>
            <p:nvPr/>
          </p:nvSpPr>
          <p:spPr>
            <a:xfrm>
              <a:off x="3801795" y="3923414"/>
              <a:ext cx="180754" cy="1063256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2797B1-A8CA-202E-52FE-2A53A02756C7}"/>
                </a:ext>
              </a:extLst>
            </p:cNvPr>
            <p:cNvSpPr txBox="1"/>
            <p:nvPr/>
          </p:nvSpPr>
          <p:spPr>
            <a:xfrm>
              <a:off x="4151631" y="3854877"/>
              <a:ext cx="276446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latin typeface="Bahnschrift Light" panose="020B0502040204020203" pitchFamily="34" charset="0"/>
                </a:rPr>
                <a:t>Linear models (and GLMs) can do all three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06228FA-2B1D-90D3-2D5C-BC63E0BFCC28}"/>
              </a:ext>
            </a:extLst>
          </p:cNvPr>
          <p:cNvSpPr/>
          <p:nvPr/>
        </p:nvSpPr>
        <p:spPr>
          <a:xfrm>
            <a:off x="10582275" y="158620"/>
            <a:ext cx="1488107" cy="4033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32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uiExpand="1" build="p"/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4CF1A-CA05-DF03-8262-75EE03794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return of hidden assumptions</a:t>
            </a:r>
          </a:p>
        </p:txBody>
      </p:sp>
    </p:spTree>
    <p:extLst>
      <p:ext uri="{BB962C8B-B14F-4D97-AF65-F5344CB8AC3E}">
        <p14:creationId xmlns:p14="http://schemas.microsoft.com/office/powerpoint/2010/main" val="63089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40FE726-9F70-6FD6-4700-CD4141262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514067" cy="1325563"/>
          </a:xfrm>
        </p:spPr>
        <p:txBody>
          <a:bodyPr anchor="ctr"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Monkey’s paw</a:t>
            </a:r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0" y="1105786"/>
            <a:ext cx="7160800" cy="536008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2400" i="1" dirty="0">
                <a:latin typeface="Bahnschrift Light" panose="020B0502040204020203" pitchFamily="34" charset="0"/>
              </a:rPr>
              <a:t>The Monkey’s Paw</a:t>
            </a:r>
            <a:r>
              <a:rPr lang="en-GB" sz="2400" dirty="0">
                <a:latin typeface="Bahnschrift Light" panose="020B0502040204020203" pitchFamily="34" charset="0"/>
              </a:rPr>
              <a:t> is a short story from 1902 by W. W. Jacobs. 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400" dirty="0">
              <a:latin typeface="Bahnschrift Light" panose="020B05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2400" dirty="0">
                <a:latin typeface="Bahnschrift Light" panose="020B0502040204020203" pitchFamily="34" charset="0"/>
              </a:rPr>
              <a:t>A family come into possession of a wish granting monkey’s paw. They wish for £200. The son goes to work the next morning but dies on the job. The parents get £200 compensation.</a:t>
            </a:r>
            <a:endParaRPr sz="2400" dirty="0">
              <a:latin typeface="Bahnschrift Light" panose="020B05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sz="2400" dirty="0">
              <a:latin typeface="Bahnschrift Light" panose="020B05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>
                <a:latin typeface="Bahnschrift Light" panose="020B0502040204020203" pitchFamily="34" charset="0"/>
              </a:rPr>
              <a:t>Relevance to stats: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400" dirty="0">
                <a:latin typeface="Bahnschrift Light" panose="020B0502040204020203" pitchFamily="34" charset="0"/>
              </a:rPr>
              <a:t>Models will (almost) always answer your question. Just because you get an answer, doesn’t mean it’s what you </a:t>
            </a:r>
            <a:r>
              <a:rPr lang="en-GB" sz="2400">
                <a:latin typeface="Bahnschrift Light" panose="020B0502040204020203" pitchFamily="34" charset="0"/>
              </a:rPr>
              <a:t>wished for. </a:t>
            </a:r>
            <a:r>
              <a:rPr lang="en-GB" sz="2400" dirty="0">
                <a:latin typeface="Bahnschrift Light" panose="020B0502040204020203" pitchFamily="34" charset="0"/>
              </a:rPr>
              <a:t>In stats, you will rarely know if you have suffered the Monkey’s Paw.</a:t>
            </a:r>
            <a:endParaRPr sz="2400" dirty="0">
              <a:latin typeface="Bahnschrift Light" panose="020B0502040204020203" pitchFamily="34" charset="0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4067" y="203201"/>
            <a:ext cx="4537752" cy="6451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9007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1CC69-751C-F585-C2C4-D4CD3A5A3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7BD59-77A0-BBD3-BA86-4E7C522DB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Assumptions help us interpret the world</a:t>
            </a:r>
          </a:p>
          <a:p>
            <a:pPr lvl="1"/>
            <a:r>
              <a:rPr lang="en-GB" i="1" dirty="0"/>
              <a:t>Banning smoking in pubs reduced exposure to </a:t>
            </a:r>
            <a:r>
              <a:rPr lang="en-GB" i="1" dirty="0" err="1"/>
              <a:t>secondhand</a:t>
            </a:r>
            <a:r>
              <a:rPr lang="en-GB" i="1" dirty="0"/>
              <a:t> smoke</a:t>
            </a:r>
          </a:p>
          <a:p>
            <a:pPr lvl="1"/>
            <a:r>
              <a:rPr lang="en-GB" dirty="0"/>
              <a:t>We assume people smoked in pubs before the ban</a:t>
            </a:r>
          </a:p>
          <a:p>
            <a:r>
              <a:rPr lang="en-GB" dirty="0"/>
              <a:t>Imagine your friend says “I’m fine”</a:t>
            </a:r>
          </a:p>
          <a:p>
            <a:pPr lvl="1"/>
            <a:r>
              <a:rPr lang="en-GB" dirty="0"/>
              <a:t>If you assume they tell the truth, then you believe them</a:t>
            </a:r>
          </a:p>
          <a:p>
            <a:pPr lvl="1"/>
            <a:r>
              <a:rPr lang="en-GB" dirty="0"/>
              <a:t>If you assume they tend to hide their feelings, your interpretation changes</a:t>
            </a:r>
          </a:p>
        </p:txBody>
      </p:sp>
      <p:pic>
        <p:nvPicPr>
          <p:cNvPr id="10" name="Picture Placeholder 9" descr="A close-up of a person lighting a cigarette&#10;&#10;AI-generated content may be incorrect.">
            <a:extLst>
              <a:ext uri="{FF2B5EF4-FFF2-40B4-BE49-F238E27FC236}">
                <a16:creationId xmlns:a16="http://schemas.microsoft.com/office/drawing/2014/main" id="{C4A2E631-E8EF-1858-7A5F-730EB749331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9708" r="197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7768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29A9-CCDB-DDE2-8C6D-A8C8DE52A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Assumptions in the scientific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A2CC7-0024-2217-7D6F-E14780BEB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always make assumptions when doing science</a:t>
            </a:r>
          </a:p>
          <a:p>
            <a:pPr lvl="1"/>
            <a:r>
              <a:rPr lang="en-GB" dirty="0"/>
              <a:t>Often, scientists don’t know all of the assumptions they are making</a:t>
            </a:r>
          </a:p>
          <a:p>
            <a:r>
              <a:rPr lang="en-GB" dirty="0"/>
              <a:t>We make assumptions at multiple stages:</a:t>
            </a:r>
          </a:p>
          <a:p>
            <a:pPr lvl="1"/>
            <a:r>
              <a:rPr lang="en-GB" dirty="0"/>
              <a:t>Assumptions about data relevance</a:t>
            </a:r>
          </a:p>
          <a:p>
            <a:pPr lvl="1"/>
            <a:r>
              <a:rPr lang="en-GB" dirty="0"/>
              <a:t>Assumptions about model structure</a:t>
            </a:r>
          </a:p>
          <a:p>
            <a:pPr lvl="1"/>
            <a:r>
              <a:rPr lang="en-GB" dirty="0"/>
              <a:t>Assumptions about residual error</a:t>
            </a:r>
          </a:p>
        </p:txBody>
      </p:sp>
      <p:pic>
        <p:nvPicPr>
          <p:cNvPr id="6" name="Picture Placeholder 5" descr="A person holding her head in a book&#10;&#10;AI-generated content may be incorrect.">
            <a:extLst>
              <a:ext uri="{FF2B5EF4-FFF2-40B4-BE49-F238E27FC236}">
                <a16:creationId xmlns:a16="http://schemas.microsoft.com/office/drawing/2014/main" id="{124F08CF-A31B-BD33-F0B1-14C948F59A0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1" r="260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4870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A0210-842E-7173-3518-92A0E689F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ECC5F-61AA-C6EB-F7C9-2696AFFFF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 of </a:t>
            </a:r>
            <a:r>
              <a:rPr lang="en-GB" dirty="0">
                <a:solidFill>
                  <a:srgbClr val="FFFF00"/>
                </a:solidFill>
              </a:rPr>
              <a:t>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C450B-9765-6AF5-6016-8ED9DDEB4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 nests closer to roads produce fewer chicks?</a:t>
            </a:r>
          </a:p>
          <a:p>
            <a:r>
              <a:rPr lang="en-GB" dirty="0"/>
              <a:t>You count how many eggs produced in each nest</a:t>
            </a:r>
          </a:p>
          <a:p>
            <a:r>
              <a:rPr lang="en-GB" dirty="0"/>
              <a:t>What is the issue?</a:t>
            </a:r>
          </a:p>
          <a:p>
            <a:pPr lvl="1"/>
            <a:r>
              <a:rPr lang="en-GB" dirty="0"/>
              <a:t>Number of chicks matters, not how many eggs are produced (</a:t>
            </a:r>
            <a:r>
              <a:rPr lang="en-GB" b="1" dirty="0">
                <a:solidFill>
                  <a:srgbClr val="FFFF00"/>
                </a:solidFill>
              </a:rPr>
              <a:t>Not valid</a:t>
            </a:r>
            <a:r>
              <a:rPr lang="en-GB" dirty="0"/>
              <a:t>)</a:t>
            </a:r>
          </a:p>
          <a:p>
            <a:r>
              <a:rPr lang="en-GB" dirty="0"/>
              <a:t>What is the consequence?</a:t>
            </a:r>
          </a:p>
          <a:p>
            <a:pPr lvl="1"/>
            <a:r>
              <a:rPr lang="en-GB" dirty="0"/>
              <a:t>Your model is not answering your question</a:t>
            </a:r>
          </a:p>
        </p:txBody>
      </p:sp>
      <p:pic>
        <p:nvPicPr>
          <p:cNvPr id="6" name="Picture Placeholder 5" descr="A bird on a nest&#10;&#10;AI-generated content may be incorrect.">
            <a:extLst>
              <a:ext uri="{FF2B5EF4-FFF2-40B4-BE49-F238E27FC236}">
                <a16:creationId xmlns:a16="http://schemas.microsoft.com/office/drawing/2014/main" id="{E7334286-CF3B-8203-DA4B-EA34D01F4BB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69" r="26082"/>
          <a:stretch/>
        </p:blipFill>
        <p:spPr>
          <a:xfrm>
            <a:off x="7130374" y="0"/>
            <a:ext cx="5061626" cy="3483582"/>
          </a:xfrm>
        </p:spPr>
      </p:pic>
      <p:pic>
        <p:nvPicPr>
          <p:cNvPr id="8" name="Picture 7" descr="A group of eggs in a nest&#10;&#10;AI-generated content may be incorrect.">
            <a:extLst>
              <a:ext uri="{FF2B5EF4-FFF2-40B4-BE49-F238E27FC236}">
                <a16:creationId xmlns:a16="http://schemas.microsoft.com/office/drawing/2014/main" id="{C5E103DE-7987-A168-291F-4E8C4FD54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374" y="3483582"/>
            <a:ext cx="5061626" cy="337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55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76714-F813-C0A1-1AAF-B64D8C9AF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Assumptions of </a:t>
            </a:r>
            <a:r>
              <a:rPr lang="en-GB" dirty="0">
                <a:solidFill>
                  <a:srgbClr val="FFFF00"/>
                </a:solidFill>
              </a:rPr>
              <a:t>representativeness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BE9AA-B6CF-A49B-14CB-153D13538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the growth rate of Atlantic cod?</a:t>
            </a:r>
          </a:p>
          <a:p>
            <a:r>
              <a:rPr lang="en-GB" dirty="0"/>
              <a:t>You measure growth of fish caught in good habitats</a:t>
            </a:r>
          </a:p>
          <a:p>
            <a:r>
              <a:rPr lang="en-GB" dirty="0"/>
              <a:t>What is the issue?</a:t>
            </a:r>
          </a:p>
          <a:p>
            <a:pPr lvl="1"/>
            <a:r>
              <a:rPr lang="en-GB" dirty="0"/>
              <a:t>Cod will grow faster in good habitat (</a:t>
            </a:r>
            <a:r>
              <a:rPr lang="en-GB" b="1" dirty="0">
                <a:solidFill>
                  <a:srgbClr val="FFFF00"/>
                </a:solidFill>
              </a:rPr>
              <a:t>Not representative</a:t>
            </a:r>
            <a:r>
              <a:rPr lang="en-GB" dirty="0"/>
              <a:t>)</a:t>
            </a:r>
          </a:p>
          <a:p>
            <a:r>
              <a:rPr lang="en-GB" dirty="0"/>
              <a:t>What is the consequence?</a:t>
            </a:r>
          </a:p>
          <a:p>
            <a:pPr lvl="1"/>
            <a:r>
              <a:rPr lang="en-GB" dirty="0"/>
              <a:t>Your answer is biassed</a:t>
            </a:r>
          </a:p>
        </p:txBody>
      </p:sp>
      <p:pic>
        <p:nvPicPr>
          <p:cNvPr id="6" name="Picture Placeholder 5" descr="A person holding a large fish&#10;&#10;AI-generated content may be incorrect.">
            <a:extLst>
              <a:ext uri="{FF2B5EF4-FFF2-40B4-BE49-F238E27FC236}">
                <a16:creationId xmlns:a16="http://schemas.microsoft.com/office/drawing/2014/main" id="{EB8401D3-F264-95F0-BC8A-546A0DC6572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" r="21898" b="10901"/>
          <a:stretch/>
        </p:blipFill>
        <p:spPr>
          <a:xfrm>
            <a:off x="6635685" y="0"/>
            <a:ext cx="5556315" cy="4187899"/>
          </a:xfrm>
        </p:spPr>
      </p:pic>
      <p:pic>
        <p:nvPicPr>
          <p:cNvPr id="8" name="Picture 7" descr="A group of fish swimming in water&#10;&#10;AI-generated content may be incorrect.">
            <a:extLst>
              <a:ext uri="{FF2B5EF4-FFF2-40B4-BE49-F238E27FC236}">
                <a16:creationId xmlns:a16="http://schemas.microsoft.com/office/drawing/2014/main" id="{E1D8F8A4-3C06-F268-E683-BE12D0A57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922" y="4187899"/>
            <a:ext cx="5558078" cy="267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06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0FA4A-7F18-1718-D5BF-0D0178AAE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48B66-B385-FF3B-07D6-0C6DAE4A8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Assumptions in the scientific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1B104-4CA6-FA59-D378-07C6267DB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Assumptions about data relevance</a:t>
            </a:r>
          </a:p>
          <a:p>
            <a:pPr lvl="1"/>
            <a:r>
              <a:rPr lang="en-GB" b="1" dirty="0">
                <a:solidFill>
                  <a:srgbClr val="FFFF00"/>
                </a:solidFill>
              </a:rPr>
              <a:t>Validity</a:t>
            </a:r>
            <a:r>
              <a:rPr lang="en-GB" dirty="0"/>
              <a:t> and </a:t>
            </a:r>
            <a:r>
              <a:rPr lang="en-GB" b="1" dirty="0">
                <a:solidFill>
                  <a:srgbClr val="FFFF00"/>
                </a:solidFill>
              </a:rPr>
              <a:t>Representativeness</a:t>
            </a:r>
          </a:p>
          <a:p>
            <a:r>
              <a:rPr lang="en-GB" dirty="0"/>
              <a:t>Assumptions about model structure</a:t>
            </a:r>
          </a:p>
          <a:p>
            <a:r>
              <a:rPr lang="en-GB" dirty="0"/>
              <a:t>Assumptions about residual error</a:t>
            </a:r>
          </a:p>
        </p:txBody>
      </p:sp>
      <p:pic>
        <p:nvPicPr>
          <p:cNvPr id="4" name="Picture Placeholder 5" descr="A person holding her head in a book&#10;&#10;AI-generated content may be incorrect.">
            <a:extLst>
              <a:ext uri="{FF2B5EF4-FFF2-40B4-BE49-F238E27FC236}">
                <a16:creationId xmlns:a16="http://schemas.microsoft.com/office/drawing/2014/main" id="{9845D9F2-39FC-5A44-ED3C-4175CD43B12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1" r="26081"/>
          <a:stretch>
            <a:fillRect/>
          </a:stretch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49576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2D873-E1E2-BF09-EC64-B6180FD8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7070-C846-BFCB-B756-D201F5C30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 of </a:t>
            </a:r>
            <a:r>
              <a:rPr lang="en-GB" dirty="0" err="1">
                <a:solidFill>
                  <a:srgbClr val="FFFF00"/>
                </a:solidFill>
              </a:rPr>
              <a:t>addivity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98FB9-C11C-F94B-FA73-AAC008EEB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Do food supplements and exercise improve muscle growth in humans?</a:t>
            </a:r>
          </a:p>
          <a:p>
            <a:r>
              <a:rPr lang="en-GB" dirty="0"/>
              <a:t>You look at the effect of food and exercise separately</a:t>
            </a:r>
          </a:p>
          <a:p>
            <a:r>
              <a:rPr lang="en-GB" dirty="0"/>
              <a:t>What is the issue?</a:t>
            </a:r>
          </a:p>
          <a:p>
            <a:pPr lvl="1"/>
            <a:r>
              <a:rPr lang="en-GB" dirty="0"/>
              <a:t>Eating supplements without exercise will do nothing. Gains occur when both occur at the same time - their effects interact or multiply (</a:t>
            </a:r>
            <a:r>
              <a:rPr lang="en-GB" b="1" dirty="0">
                <a:solidFill>
                  <a:srgbClr val="FFFF00"/>
                </a:solidFill>
              </a:rPr>
              <a:t>Not additive</a:t>
            </a:r>
            <a:r>
              <a:rPr lang="en-GB" dirty="0"/>
              <a:t>)</a:t>
            </a:r>
          </a:p>
          <a:p>
            <a:r>
              <a:rPr lang="en-GB" dirty="0"/>
              <a:t>What is the consequence?</a:t>
            </a:r>
          </a:p>
          <a:p>
            <a:pPr lvl="1"/>
            <a:r>
              <a:rPr lang="en-GB" dirty="0"/>
              <a:t>You might miss key patterns with an overly simplistic model</a:t>
            </a:r>
          </a:p>
        </p:txBody>
      </p:sp>
      <p:pic>
        <p:nvPicPr>
          <p:cNvPr id="6" name="Picture 5" descr="A group of pills with different colors of pills&#10;&#10;AI-generated content may be incorrect.">
            <a:extLst>
              <a:ext uri="{FF2B5EF4-FFF2-40B4-BE49-F238E27FC236}">
                <a16:creationId xmlns:a16="http://schemas.microsoft.com/office/drawing/2014/main" id="{DBFFDF7F-30B0-48B5-0379-324E4A72F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991" y="0"/>
            <a:ext cx="5006009" cy="3356194"/>
          </a:xfrm>
          <a:prstGeom prst="rect">
            <a:avLst/>
          </a:prstGeom>
        </p:spPr>
      </p:pic>
      <p:pic>
        <p:nvPicPr>
          <p:cNvPr id="8" name="Picture 7" descr="A group of people doing exercise&#10;&#10;AI-generated content may be incorrect.">
            <a:extLst>
              <a:ext uri="{FF2B5EF4-FFF2-40B4-BE49-F238E27FC236}">
                <a16:creationId xmlns:a16="http://schemas.microsoft.com/office/drawing/2014/main" id="{6232AD5F-7657-0FF4-4462-D3D70EEEA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43"/>
          <a:stretch/>
        </p:blipFill>
        <p:spPr>
          <a:xfrm>
            <a:off x="7185991" y="3371850"/>
            <a:ext cx="5006009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335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7ED1F-0DD4-D7DD-D372-E0CCD1278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4734B-6F8C-63EF-AFFF-0C2733113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 of </a:t>
            </a:r>
            <a:r>
              <a:rPr lang="en-GB" dirty="0">
                <a:solidFill>
                  <a:srgbClr val="FFFF00"/>
                </a:solidFill>
              </a:rPr>
              <a:t>linearity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16E42-726E-BA5C-3614-EC5F22309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the temperature on enzyme activity?</a:t>
            </a:r>
          </a:p>
          <a:p>
            <a:r>
              <a:rPr lang="en-GB" dirty="0"/>
              <a:t>You fit a model that assumes a straight line will describe the relationship</a:t>
            </a:r>
          </a:p>
          <a:p>
            <a:r>
              <a:rPr lang="en-GB" dirty="0"/>
              <a:t>What is the issue?</a:t>
            </a:r>
          </a:p>
          <a:p>
            <a:pPr lvl="1"/>
            <a:r>
              <a:rPr lang="en-GB" dirty="0"/>
              <a:t>The relationship is not linear </a:t>
            </a:r>
            <a:br>
              <a:rPr lang="en-GB" dirty="0"/>
            </a:br>
            <a:r>
              <a:rPr lang="en-GB" dirty="0"/>
              <a:t>(</a:t>
            </a:r>
            <a:r>
              <a:rPr lang="en-GB" b="1" dirty="0">
                <a:solidFill>
                  <a:srgbClr val="FFFF00"/>
                </a:solidFill>
              </a:rPr>
              <a:t>Not linear</a:t>
            </a:r>
            <a:r>
              <a:rPr lang="en-GB" dirty="0"/>
              <a:t>)</a:t>
            </a:r>
          </a:p>
          <a:p>
            <a:r>
              <a:rPr lang="en-GB" dirty="0"/>
              <a:t>What is the consequence?</a:t>
            </a:r>
          </a:p>
          <a:p>
            <a:pPr lvl="1"/>
            <a:r>
              <a:rPr lang="en-GB" dirty="0"/>
              <a:t>The model might be nonsense</a:t>
            </a:r>
          </a:p>
        </p:txBody>
      </p:sp>
      <p:pic>
        <p:nvPicPr>
          <p:cNvPr id="6" name="Picture 5" descr="A close-up of a cell&#10;&#10;AI-generated content may be incorrect.">
            <a:extLst>
              <a:ext uri="{FF2B5EF4-FFF2-40B4-BE49-F238E27FC236}">
                <a16:creationId xmlns:a16="http://schemas.microsoft.com/office/drawing/2014/main" id="{5A85F524-B4AF-805C-4E1D-1A3847920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20" b="-14720"/>
          <a:stretch/>
        </p:blipFill>
        <p:spPr>
          <a:xfrm>
            <a:off x="7620000" y="0"/>
            <a:ext cx="457200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83C057-A3E8-216F-43B5-9D5C78907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005" y="2924268"/>
            <a:ext cx="4681995" cy="393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76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95F26-1834-9D2B-2645-6B99E6568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B5DCE-5C43-EDBD-0515-B12C798D5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Assumptions in the scientific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F5F11-B79F-19C8-AE18-9EB1500C7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Assumptions about data relevance</a:t>
            </a:r>
          </a:p>
          <a:p>
            <a:pPr lvl="1"/>
            <a:r>
              <a:rPr lang="en-GB" b="1" dirty="0">
                <a:solidFill>
                  <a:srgbClr val="FFFF00"/>
                </a:solidFill>
              </a:rPr>
              <a:t>Validity</a:t>
            </a:r>
            <a:r>
              <a:rPr lang="en-GB" dirty="0"/>
              <a:t> and </a:t>
            </a:r>
            <a:r>
              <a:rPr lang="en-GB" b="1" dirty="0">
                <a:solidFill>
                  <a:srgbClr val="FFFF00"/>
                </a:solidFill>
              </a:rPr>
              <a:t>Representativeness</a:t>
            </a:r>
          </a:p>
          <a:p>
            <a:r>
              <a:rPr lang="en-GB" dirty="0"/>
              <a:t>Assumptions about model structure</a:t>
            </a:r>
          </a:p>
          <a:p>
            <a:pPr lvl="1"/>
            <a:r>
              <a:rPr lang="en-GB" b="1" dirty="0">
                <a:solidFill>
                  <a:srgbClr val="FFFF00"/>
                </a:solidFill>
              </a:rPr>
              <a:t>Additivity</a:t>
            </a:r>
            <a:r>
              <a:rPr lang="en-GB" dirty="0"/>
              <a:t> and </a:t>
            </a:r>
            <a:r>
              <a:rPr lang="en-GB" b="1" dirty="0">
                <a:solidFill>
                  <a:srgbClr val="FFFF00"/>
                </a:solidFill>
              </a:rPr>
              <a:t>Linearity</a:t>
            </a:r>
          </a:p>
          <a:p>
            <a:r>
              <a:rPr lang="en-GB" dirty="0"/>
              <a:t>Assumptions about residual error</a:t>
            </a:r>
          </a:p>
        </p:txBody>
      </p:sp>
      <p:pic>
        <p:nvPicPr>
          <p:cNvPr id="4" name="Picture Placeholder 5" descr="A person holding her head in a book&#10;&#10;AI-generated content may be incorrect.">
            <a:extLst>
              <a:ext uri="{FF2B5EF4-FFF2-40B4-BE49-F238E27FC236}">
                <a16:creationId xmlns:a16="http://schemas.microsoft.com/office/drawing/2014/main" id="{D2AA7301-45EB-59BE-44E6-98CB63A48A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1" r="26081"/>
          <a:stretch>
            <a:fillRect/>
          </a:stretch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251979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rainbow colored stuffed animal in a car&#10;&#10;AI-generated content may be incorrect.">
            <a:extLst>
              <a:ext uri="{FF2B5EF4-FFF2-40B4-BE49-F238E27FC236}">
                <a16:creationId xmlns:a16="http://schemas.microsoft.com/office/drawing/2014/main" id="{C79458ED-912C-948D-036F-F30E7997B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012" y="0"/>
            <a:ext cx="5143500" cy="6858000"/>
          </a:xfrm>
          <a:prstGeom prst="rect">
            <a:avLst/>
          </a:prstGeom>
        </p:spPr>
      </p:pic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4E68CE19-E457-5006-C5B0-CFF461A5E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02" b="23565"/>
          <a:stretch>
            <a:fillRect/>
          </a:stretch>
        </p:blipFill>
        <p:spPr>
          <a:xfrm>
            <a:off x="10087002" y="4790480"/>
            <a:ext cx="1760510" cy="2067520"/>
          </a:xfrm>
          <a:prstGeom prst="rect">
            <a:avLst/>
          </a:prstGeom>
        </p:spPr>
      </p:pic>
      <p:pic>
        <p:nvPicPr>
          <p:cNvPr id="19" name="Picture Placeholder 18" descr="A two images of a person standing on a bridge&#10;&#10;AI-generated content may be incorrect.">
            <a:extLst>
              <a:ext uri="{FF2B5EF4-FFF2-40B4-BE49-F238E27FC236}">
                <a16:creationId xmlns:a16="http://schemas.microsoft.com/office/drawing/2014/main" id="{23EC9545-B6EA-F413-E30B-3CDFDEA7ADC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7" r="7477"/>
          <a:stretch>
            <a:fillRect/>
          </a:stretch>
        </p:blipFill>
        <p:spPr/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714F2C-B148-C5A4-E3FD-B12B6F3A3CF3}"/>
              </a:ext>
            </a:extLst>
          </p:cNvPr>
          <p:cNvSpPr/>
          <p:nvPr/>
        </p:nvSpPr>
        <p:spPr>
          <a:xfrm>
            <a:off x="9288855" y="0"/>
            <a:ext cx="290314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66F8AFA-66D3-7EE5-0E7A-17692B5BF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662781"/>
            <a:ext cx="6134100" cy="57721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4935FA-71B4-E85F-6FFD-37DC13A26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95559-E191-5A00-6F76-320BE9FB2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Residual error is, crudely, how “wrong” a prediction is for its corresponding observation</a:t>
            </a:r>
          </a:p>
          <a:p>
            <a:r>
              <a:rPr lang="en-GB" b="1" dirty="0"/>
              <a:t>We do not want any patterns in residuals!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C3920C7-F75A-66E9-F7E8-4207BA668A5C}"/>
              </a:ext>
            </a:extLst>
          </p:cNvPr>
          <p:cNvGrpSpPr/>
          <p:nvPr/>
        </p:nvGrpSpPr>
        <p:grpSpPr>
          <a:xfrm>
            <a:off x="9569445" y="902046"/>
            <a:ext cx="1098555" cy="524567"/>
            <a:chOff x="9569445" y="902046"/>
            <a:chExt cx="1098555" cy="52456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27A7FE-932B-37AD-13B3-32C7587BDEF4}"/>
                </a:ext>
              </a:extLst>
            </p:cNvPr>
            <p:cNvSpPr txBox="1"/>
            <p:nvPr/>
          </p:nvSpPr>
          <p:spPr>
            <a:xfrm>
              <a:off x="9569445" y="902046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Reality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84114B2-6D65-AC17-B78A-3DD3D1A9B298}"/>
                </a:ext>
              </a:extLst>
            </p:cNvPr>
            <p:cNvCxnSpPr>
              <a:cxnSpLocks/>
            </p:cNvCxnSpPr>
            <p:nvPr/>
          </p:nvCxnSpPr>
          <p:spPr>
            <a:xfrm>
              <a:off x="10350387" y="1173956"/>
              <a:ext cx="317613" cy="2526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99FDB51-0EBB-7988-D6FB-E2C7ACBD095B}"/>
              </a:ext>
            </a:extLst>
          </p:cNvPr>
          <p:cNvGrpSpPr/>
          <p:nvPr/>
        </p:nvGrpSpPr>
        <p:grpSpPr>
          <a:xfrm>
            <a:off x="9288853" y="1472565"/>
            <a:ext cx="1379147" cy="646331"/>
            <a:chOff x="9288853" y="1472565"/>
            <a:chExt cx="1379147" cy="64633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E8A9CE-0DA3-652D-EE2E-4A4319C974B5}"/>
                </a:ext>
              </a:extLst>
            </p:cNvPr>
            <p:cNvSpPr txBox="1"/>
            <p:nvPr/>
          </p:nvSpPr>
          <p:spPr>
            <a:xfrm>
              <a:off x="9288853" y="1472565"/>
              <a:ext cx="10759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Residual</a:t>
              </a:r>
              <a:br>
                <a:rPr lang="en-GB" dirty="0"/>
              </a:br>
              <a:r>
                <a:rPr lang="en-GB" dirty="0"/>
                <a:t>error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AA0EEC4-6A7B-FC91-BAC8-EF5EED70B2D1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10364789" y="1795731"/>
              <a:ext cx="30321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65C5A68-A4B7-9DDD-B539-315781EB5B0A}"/>
              </a:ext>
            </a:extLst>
          </p:cNvPr>
          <p:cNvGrpSpPr/>
          <p:nvPr/>
        </p:nvGrpSpPr>
        <p:grpSpPr>
          <a:xfrm>
            <a:off x="10241762" y="2057400"/>
            <a:ext cx="1390124" cy="853897"/>
            <a:chOff x="10241762" y="2057400"/>
            <a:chExt cx="1390124" cy="85389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DE8B1B8-73FA-7CFB-8AE1-D688363BEE1C}"/>
                </a:ext>
              </a:extLst>
            </p:cNvPr>
            <p:cNvSpPr txBox="1"/>
            <p:nvPr/>
          </p:nvSpPr>
          <p:spPr>
            <a:xfrm>
              <a:off x="10241762" y="2541965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Expectation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D13F599-1A00-DE79-3F61-EAD037EFB9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11851" y="2057400"/>
              <a:ext cx="0" cy="5810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069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0B39-ADE4-61DD-4371-105AD883A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FFA1-1DE6-8D3A-8658-3742DC9C8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 of </a:t>
            </a:r>
            <a:r>
              <a:rPr lang="en-GB" dirty="0">
                <a:solidFill>
                  <a:srgbClr val="FFFF00"/>
                </a:solidFill>
              </a:rPr>
              <a:t>independence of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CAF78-831A-A914-86E9-A705D9ECC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What is the average daily oyster growth rate?</a:t>
            </a:r>
          </a:p>
          <a:p>
            <a:r>
              <a:rPr lang="en-GB" dirty="0"/>
              <a:t>You measure the </a:t>
            </a:r>
            <a:r>
              <a:rPr lang="en-GB" i="1" dirty="0"/>
              <a:t>same</a:t>
            </a:r>
            <a:r>
              <a:rPr lang="en-GB" dirty="0"/>
              <a:t> oysters every day</a:t>
            </a:r>
          </a:p>
          <a:p>
            <a:r>
              <a:rPr lang="en-GB" dirty="0"/>
              <a:t>What is the issue?</a:t>
            </a:r>
          </a:p>
          <a:p>
            <a:pPr lvl="1"/>
            <a:r>
              <a:rPr lang="en-GB" dirty="0"/>
              <a:t>The growth of the oyster yesterday affects how much the oyster can be grow today</a:t>
            </a:r>
          </a:p>
          <a:p>
            <a:pPr lvl="1"/>
            <a:r>
              <a:rPr lang="en-GB" dirty="0"/>
              <a:t>The errors in our model follow a pattern rather than being random (</a:t>
            </a:r>
            <a:r>
              <a:rPr lang="en-GB" b="1" dirty="0">
                <a:solidFill>
                  <a:srgbClr val="FFFF00"/>
                </a:solidFill>
              </a:rPr>
              <a:t>Errors not independent</a:t>
            </a:r>
            <a:r>
              <a:rPr lang="en-GB" dirty="0"/>
              <a:t>)</a:t>
            </a:r>
          </a:p>
          <a:p>
            <a:r>
              <a:rPr lang="en-GB" dirty="0"/>
              <a:t>What is the consequence?</a:t>
            </a:r>
          </a:p>
          <a:p>
            <a:pPr lvl="1"/>
            <a:r>
              <a:rPr lang="en-GB" dirty="0"/>
              <a:t>The model is overly confident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449288-2A9B-229A-67E1-7951A6CC9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0" y="-38862"/>
            <a:ext cx="5270500" cy="37980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ACD70C-3829-1A69-9B1C-965393EC9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240" y="3136900"/>
            <a:ext cx="5207759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93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AB580-A115-80BC-5E12-1AFF7029D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1053B-9431-130D-4FED-FA99DBB60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Assumption of </a:t>
            </a:r>
            <a:br>
              <a:rPr lang="en-GB" dirty="0"/>
            </a:br>
            <a:r>
              <a:rPr lang="en-GB" dirty="0">
                <a:solidFill>
                  <a:srgbClr val="FFFF00"/>
                </a:solidFill>
              </a:rPr>
              <a:t>equal variance of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997D8-F121-C265-2ADE-B6DB5D58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Does temperature predict dolphin swimming speed?</a:t>
            </a:r>
          </a:p>
          <a:p>
            <a:r>
              <a:rPr lang="en-GB" dirty="0"/>
              <a:t>You measure speed at low and high temperatures</a:t>
            </a:r>
          </a:p>
          <a:p>
            <a:r>
              <a:rPr lang="en-GB" dirty="0"/>
              <a:t>What is the issue?</a:t>
            </a:r>
          </a:p>
          <a:p>
            <a:pPr lvl="1"/>
            <a:r>
              <a:rPr lang="en-GB" dirty="0"/>
              <a:t>At higher temperatures, dolphin vary more in their speed</a:t>
            </a:r>
          </a:p>
          <a:p>
            <a:pPr lvl="1"/>
            <a:r>
              <a:rPr lang="en-GB" dirty="0"/>
              <a:t>The errors in our model get larger at higher temperature rather than being random (</a:t>
            </a:r>
            <a:r>
              <a:rPr lang="en-GB" b="1" dirty="0">
                <a:solidFill>
                  <a:srgbClr val="FFFF00"/>
                </a:solidFill>
              </a:rPr>
              <a:t>Errors not equal</a:t>
            </a:r>
            <a:r>
              <a:rPr lang="en-GB" dirty="0"/>
              <a:t>)</a:t>
            </a:r>
          </a:p>
          <a:p>
            <a:r>
              <a:rPr lang="en-GB" dirty="0"/>
              <a:t>What is the consequence?</a:t>
            </a:r>
          </a:p>
          <a:p>
            <a:pPr lvl="1"/>
            <a:r>
              <a:rPr lang="en-GB" dirty="0"/>
              <a:t>The model is either overly confident or overly conservative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B622C5-4DC1-21B2-071E-6C9D50FCE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0"/>
            <a:ext cx="5836920" cy="3429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FF9F1A-144C-6AFA-F81C-B97106B41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429000"/>
            <a:ext cx="583692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35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51002-DFA9-F5C6-7D49-4671BA7A2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A4550-4BB4-7C50-182C-B6B8DA2C2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 of </a:t>
            </a:r>
            <a:r>
              <a:rPr lang="en-GB" dirty="0">
                <a:solidFill>
                  <a:srgbClr val="FFFF00"/>
                </a:solidFill>
              </a:rPr>
              <a:t>normality of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999DA-0C20-B175-6B7F-6E6019FBC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What is the average height of a human in a kindergarten class?</a:t>
            </a:r>
          </a:p>
          <a:p>
            <a:r>
              <a:rPr lang="en-GB" dirty="0"/>
              <a:t>You measure the height of everyone in the class, including staff</a:t>
            </a:r>
          </a:p>
          <a:p>
            <a:r>
              <a:rPr lang="en-GB" dirty="0"/>
              <a:t>What is the issue?</a:t>
            </a:r>
          </a:p>
          <a:p>
            <a:pPr lvl="1"/>
            <a:r>
              <a:rPr lang="en-GB" dirty="0"/>
              <a:t>Most of the humans are short (children) but 3 are tall (adults)</a:t>
            </a:r>
          </a:p>
          <a:p>
            <a:pPr lvl="1"/>
            <a:r>
              <a:rPr lang="en-GB" dirty="0"/>
              <a:t>We have a pattern, where the errors are not bell-shaped </a:t>
            </a:r>
            <a:br>
              <a:rPr lang="en-GB" dirty="0"/>
            </a:br>
            <a:r>
              <a:rPr lang="en-GB" dirty="0"/>
              <a:t>(</a:t>
            </a:r>
            <a:r>
              <a:rPr lang="en-GB" b="1" dirty="0">
                <a:solidFill>
                  <a:srgbClr val="FFFF00"/>
                </a:solidFill>
              </a:rPr>
              <a:t>Errors not normally distributed</a:t>
            </a:r>
            <a:r>
              <a:rPr lang="en-GB" dirty="0"/>
              <a:t>)</a:t>
            </a:r>
          </a:p>
          <a:p>
            <a:r>
              <a:rPr lang="en-GB" dirty="0"/>
              <a:t>What is the consequence?</a:t>
            </a:r>
          </a:p>
          <a:p>
            <a:pPr lvl="1"/>
            <a:r>
              <a:rPr lang="en-GB" dirty="0"/>
              <a:t>The model struggles to predict observations accurately </a:t>
            </a:r>
          </a:p>
          <a:p>
            <a:pPr lvl="1"/>
            <a:r>
              <a:rPr lang="en-GB" dirty="0"/>
              <a:t>(not that big of a deal)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DAAA4-D751-264E-63FC-8EC84B5C2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382" y="0"/>
            <a:ext cx="6107618" cy="35880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7783D1-3A48-E418-6EE3-E6452B6E2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43" y="3432502"/>
            <a:ext cx="5830956" cy="342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5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D71AF-2E89-E27B-A4D1-ACD316CB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F4276-92E6-659B-6CFD-43C6C4AB9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Assumptions in the scientific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DD952-D9B4-996F-5DC5-13DACA1C5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Assumptions about data relevance</a:t>
            </a:r>
          </a:p>
          <a:p>
            <a:pPr lvl="1"/>
            <a:r>
              <a:rPr lang="en-GB" b="1" dirty="0">
                <a:solidFill>
                  <a:srgbClr val="FFFF00"/>
                </a:solidFill>
              </a:rPr>
              <a:t>Validity</a:t>
            </a:r>
            <a:r>
              <a:rPr lang="en-GB" dirty="0"/>
              <a:t> and </a:t>
            </a:r>
            <a:r>
              <a:rPr lang="en-GB" b="1" dirty="0">
                <a:solidFill>
                  <a:srgbClr val="FFFF00"/>
                </a:solidFill>
              </a:rPr>
              <a:t>Representativeness</a:t>
            </a:r>
          </a:p>
          <a:p>
            <a:r>
              <a:rPr lang="en-GB" dirty="0"/>
              <a:t>Assumptions about model structure</a:t>
            </a:r>
          </a:p>
          <a:p>
            <a:pPr lvl="1"/>
            <a:r>
              <a:rPr lang="en-GB" b="1" dirty="0">
                <a:solidFill>
                  <a:srgbClr val="FFFF00"/>
                </a:solidFill>
              </a:rPr>
              <a:t>Additivity</a:t>
            </a:r>
            <a:r>
              <a:rPr lang="en-GB" dirty="0"/>
              <a:t> and </a:t>
            </a:r>
            <a:r>
              <a:rPr lang="en-GB" b="1" dirty="0">
                <a:solidFill>
                  <a:srgbClr val="FFFF00"/>
                </a:solidFill>
              </a:rPr>
              <a:t>Linearity</a:t>
            </a:r>
          </a:p>
          <a:p>
            <a:r>
              <a:rPr lang="en-GB" dirty="0"/>
              <a:t>Assumptions about residual error</a:t>
            </a:r>
          </a:p>
          <a:p>
            <a:pPr lvl="1"/>
            <a:r>
              <a:rPr lang="en-GB" b="1" dirty="0">
                <a:solidFill>
                  <a:srgbClr val="FFFF00"/>
                </a:solidFill>
              </a:rPr>
              <a:t>Independence of errors</a:t>
            </a:r>
            <a:r>
              <a:rPr lang="en-GB" dirty="0"/>
              <a:t>, </a:t>
            </a:r>
            <a:r>
              <a:rPr lang="en-GB" b="1" dirty="0">
                <a:solidFill>
                  <a:srgbClr val="FFFF00"/>
                </a:solidFill>
              </a:rPr>
              <a:t>Equal variance of errors</a:t>
            </a:r>
            <a:r>
              <a:rPr lang="en-GB" dirty="0"/>
              <a:t>, and </a:t>
            </a:r>
            <a:r>
              <a:rPr lang="en-GB" b="1" dirty="0">
                <a:solidFill>
                  <a:srgbClr val="FFFF00"/>
                </a:solidFill>
              </a:rPr>
              <a:t>Normality of errors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2DC83B-6982-151B-FFAD-C2040F3A50EA}"/>
              </a:ext>
            </a:extLst>
          </p:cNvPr>
          <p:cNvGrpSpPr/>
          <p:nvPr/>
        </p:nvGrpSpPr>
        <p:grpSpPr>
          <a:xfrm>
            <a:off x="262551" y="2386239"/>
            <a:ext cx="9620820" cy="843530"/>
            <a:chOff x="497941" y="3259248"/>
            <a:chExt cx="9401784" cy="69610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951FDB9-21BC-9F76-AC2A-53187EC1A481}"/>
                </a:ext>
              </a:extLst>
            </p:cNvPr>
            <p:cNvSpPr txBox="1"/>
            <p:nvPr/>
          </p:nvSpPr>
          <p:spPr>
            <a:xfrm>
              <a:off x="6558051" y="3264420"/>
              <a:ext cx="3341674" cy="6857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Most important! </a:t>
              </a:r>
              <a:br>
                <a:rPr lang="en-GB" sz="2400" dirty="0"/>
              </a:br>
              <a:r>
                <a:rPr lang="en-GB" sz="2400" dirty="0">
                  <a:solidFill>
                    <a:srgbClr val="FFFF00"/>
                  </a:solidFill>
                </a:rPr>
                <a:t>Is my data appropriate?</a:t>
              </a:r>
              <a:endParaRPr lang="en-GB" sz="24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2969CF3-433E-BEB7-E469-7AEE9F293E28}"/>
                </a:ext>
              </a:extLst>
            </p:cNvPr>
            <p:cNvSpPr/>
            <p:nvPr/>
          </p:nvSpPr>
          <p:spPr>
            <a:xfrm>
              <a:off x="497941" y="3259248"/>
              <a:ext cx="5700638" cy="6961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DE52830-3B86-3E66-1D25-378F31BF3C09}"/>
                </a:ext>
              </a:extLst>
            </p:cNvPr>
            <p:cNvCxnSpPr>
              <a:cxnSpLocks/>
              <a:stCxn id="8" idx="3"/>
              <a:endCxn id="5" idx="1"/>
            </p:cNvCxnSpPr>
            <p:nvPr/>
          </p:nvCxnSpPr>
          <p:spPr>
            <a:xfrm>
              <a:off x="6198579" y="3607299"/>
              <a:ext cx="3594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D55F2CF-347A-5EBF-AAAA-653CB39E0DD4}"/>
              </a:ext>
            </a:extLst>
          </p:cNvPr>
          <p:cNvGrpSpPr/>
          <p:nvPr/>
        </p:nvGrpSpPr>
        <p:grpSpPr>
          <a:xfrm>
            <a:off x="262551" y="3337117"/>
            <a:ext cx="10292734" cy="830997"/>
            <a:chOff x="497941" y="3955351"/>
            <a:chExt cx="9928317" cy="6961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B559C7D-9443-C9CB-96A4-6B1750B6ACD7}"/>
                    </a:ext>
                  </a:extLst>
                </p:cNvPr>
                <p:cNvSpPr txBox="1"/>
                <p:nvPr/>
              </p:nvSpPr>
              <p:spPr>
                <a:xfrm>
                  <a:off x="6479676" y="3955351"/>
                  <a:ext cx="3946582" cy="69610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400" dirty="0"/>
                    <a:t>Next most important!</a:t>
                  </a:r>
                </a:p>
                <a:p>
                  <a:r>
                    <a:rPr lang="en-GB" sz="2400" dirty="0">
                      <a:solidFill>
                        <a:srgbClr val="FFFF00"/>
                      </a:solidFill>
                    </a:rPr>
                    <a:t>Is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GB" sz="2400" dirty="0">
                      <a:solidFill>
                        <a:srgbClr val="FFFF00"/>
                      </a:solidFill>
                    </a:rPr>
                    <a:t> right for me?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B559C7D-9443-C9CB-96A4-6B1750B6AC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9676" y="3955351"/>
                  <a:ext cx="3946582" cy="696106"/>
                </a:xfrm>
                <a:prstGeom prst="rect">
                  <a:avLst/>
                </a:prstGeom>
                <a:blipFill>
                  <a:blip r:embed="rId2"/>
                  <a:stretch>
                    <a:fillRect l="-2077" t="-5036" r="-3116" b="-1366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FB0096-8F46-6E1F-B806-BEABF4B7E767}"/>
                </a:ext>
              </a:extLst>
            </p:cNvPr>
            <p:cNvSpPr/>
            <p:nvPr/>
          </p:nvSpPr>
          <p:spPr>
            <a:xfrm>
              <a:off x="497941" y="3955351"/>
              <a:ext cx="5598058" cy="6961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A79C4F1-7554-4A9F-042B-98A245C028D1}"/>
                </a:ext>
              </a:extLst>
            </p:cNvPr>
            <p:cNvCxnSpPr>
              <a:stCxn id="9" idx="3"/>
              <a:endCxn id="6" idx="1"/>
            </p:cNvCxnSpPr>
            <p:nvPr/>
          </p:nvCxnSpPr>
          <p:spPr>
            <a:xfrm>
              <a:off x="6095999" y="4303403"/>
              <a:ext cx="383676" cy="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01FF93A-7775-2020-418F-62AAB90C8DEE}"/>
              </a:ext>
            </a:extLst>
          </p:cNvPr>
          <p:cNvGrpSpPr/>
          <p:nvPr/>
        </p:nvGrpSpPr>
        <p:grpSpPr>
          <a:xfrm>
            <a:off x="262550" y="4269160"/>
            <a:ext cx="10379041" cy="1436284"/>
            <a:chOff x="497940" y="4651454"/>
            <a:chExt cx="10007381" cy="103412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4F59E32-C435-0C71-D94A-0935384DD1D6}"/>
                </a:ext>
              </a:extLst>
            </p:cNvPr>
            <p:cNvSpPr txBox="1"/>
            <p:nvPr/>
          </p:nvSpPr>
          <p:spPr>
            <a:xfrm>
              <a:off x="6477174" y="4736397"/>
              <a:ext cx="4028147" cy="8642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Least important.</a:t>
              </a:r>
              <a:br>
                <a:rPr lang="en-GB" sz="2400" dirty="0"/>
              </a:br>
              <a:r>
                <a:rPr lang="en-GB" sz="2400" dirty="0">
                  <a:solidFill>
                    <a:srgbClr val="FFFF00"/>
                  </a:solidFill>
                </a:rPr>
                <a:t>When my model is wrong,</a:t>
              </a:r>
              <a:br>
                <a:rPr lang="en-GB" sz="2400" dirty="0">
                  <a:solidFill>
                    <a:srgbClr val="FFFF00"/>
                  </a:solidFill>
                </a:rPr>
              </a:br>
              <a:r>
                <a:rPr lang="en-GB" sz="2400" dirty="0">
                  <a:solidFill>
                    <a:srgbClr val="FFFF00"/>
                  </a:solidFill>
                </a:rPr>
                <a:t>is it wrong in the </a:t>
              </a:r>
              <a:r>
                <a:rPr lang="en-GB" sz="2400" i="1" dirty="0">
                  <a:solidFill>
                    <a:srgbClr val="FFFF00"/>
                  </a:solidFill>
                </a:rPr>
                <a:t>“right”</a:t>
              </a:r>
              <a:r>
                <a:rPr lang="en-GB" sz="2400" dirty="0">
                  <a:solidFill>
                    <a:srgbClr val="FFFF00"/>
                  </a:solidFill>
                </a:rPr>
                <a:t> way?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48996F8-FB84-9730-B71C-DEF761B7980B}"/>
                </a:ext>
              </a:extLst>
            </p:cNvPr>
            <p:cNvSpPr/>
            <p:nvPr/>
          </p:nvSpPr>
          <p:spPr>
            <a:xfrm>
              <a:off x="497940" y="4651454"/>
              <a:ext cx="5598059" cy="10341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ECA1C01-3CC7-17A1-29CA-54FF76660B7D}"/>
                </a:ext>
              </a:extLst>
            </p:cNvPr>
            <p:cNvCxnSpPr>
              <a:stCxn id="10" idx="3"/>
              <a:endCxn id="7" idx="1"/>
            </p:cNvCxnSpPr>
            <p:nvPr/>
          </p:nvCxnSpPr>
          <p:spPr>
            <a:xfrm>
              <a:off x="6095999" y="5168515"/>
              <a:ext cx="3811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BA7C447-58A5-252F-C072-C23C8568424D}"/>
              </a:ext>
            </a:extLst>
          </p:cNvPr>
          <p:cNvSpPr txBox="1"/>
          <p:nvPr/>
        </p:nvSpPr>
        <p:spPr>
          <a:xfrm>
            <a:off x="983061" y="6033627"/>
            <a:ext cx="10225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Dealing with these issues is the core of a well-designed study!</a:t>
            </a:r>
          </a:p>
        </p:txBody>
      </p:sp>
    </p:spTree>
    <p:extLst>
      <p:ext uri="{BB962C8B-B14F-4D97-AF65-F5344CB8AC3E}">
        <p14:creationId xmlns:p14="http://schemas.microsoft.com/office/powerpoint/2010/main" val="1747966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1DA7-C0E2-DF0C-9723-1B6946FFA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/>
              <a:t>TL;DR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4311B5-BEAC-9F63-5C7A-510527D185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26613"/>
                <a:ext cx="12192000" cy="524019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We choose a distribution to state what the data should look like and how variation should work</a:t>
                </a:r>
              </a:p>
              <a:p>
                <a:pPr lvl="1"/>
                <a:r>
                  <a:rPr lang="en-GB" b="0" dirty="0"/>
                  <a:t>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/>
                  <a:t> is a common one (but not the only one)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We use a linear equation to say what determines the average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When we fit these models, we make various assumptions</a:t>
                </a:r>
              </a:p>
              <a:p>
                <a:pPr lvl="1"/>
                <a:r>
                  <a:rPr lang="en-GB" dirty="0"/>
                  <a:t>Assumptions about the data are most important</a:t>
                </a:r>
              </a:p>
              <a:p>
                <a:pPr lvl="2"/>
                <a:r>
                  <a:rPr lang="en-GB" dirty="0">
                    <a:solidFill>
                      <a:srgbClr val="FFFF00"/>
                    </a:solidFill>
                  </a:rPr>
                  <a:t>Are we measuring the right thing, in the right way?</a:t>
                </a:r>
              </a:p>
              <a:p>
                <a:pPr lvl="1"/>
                <a:r>
                  <a:rPr lang="en-GB" dirty="0"/>
                  <a:t>Assumptions about the model structure is next most important</a:t>
                </a:r>
              </a:p>
              <a:p>
                <a:pPr lvl="2"/>
                <a:r>
                  <a:rPr lang="en-GB" dirty="0">
                    <a:solidFill>
                      <a:srgbClr val="FFFF00"/>
                    </a:solidFill>
                  </a:rPr>
                  <a:t>Does our model match reality?</a:t>
                </a:r>
              </a:p>
              <a:p>
                <a:pPr lvl="1"/>
                <a:r>
                  <a:rPr lang="en-GB" dirty="0"/>
                  <a:t>Assumptions about residual errors are least important</a:t>
                </a:r>
              </a:p>
              <a:p>
                <a:pPr lvl="2"/>
                <a:r>
                  <a:rPr lang="en-GB" dirty="0">
                    <a:solidFill>
                      <a:srgbClr val="FFFF00"/>
                    </a:solidFill>
                  </a:rPr>
                  <a:t>Are the “mistakes” behaving as we expect?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4311B5-BEAC-9F63-5C7A-510527D185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26613"/>
                <a:ext cx="12192000" cy="5240194"/>
              </a:xfrm>
              <a:blipFill>
                <a:blip r:embed="rId2"/>
                <a:stretch>
                  <a:fillRect l="-9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1126857"/>
      </p:ext>
    </p:extLst>
  </p:cSld>
  <p:clrMapOvr>
    <a:masterClrMapping/>
  </p:clrMapOvr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c2b19ad-5f9c-49d4-9077-3ec3cfc52b3f}" enabled="0" method="" siteId="{8c2b19ad-5f9c-49d4-9077-3ec3cfc52b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5046</TotalTime>
  <Words>2070</Words>
  <Application>Microsoft Office PowerPoint</Application>
  <PresentationFormat>Widescreen</PresentationFormat>
  <Paragraphs>289</Paragraphs>
  <Slides>35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Roboto</vt:lpstr>
      <vt:lpstr>Aptos</vt:lpstr>
      <vt:lpstr>Cambria Math</vt:lpstr>
      <vt:lpstr>Bahnschrift Light</vt:lpstr>
      <vt:lpstr>Arial</vt:lpstr>
      <vt:lpstr>sbs_template</vt:lpstr>
      <vt:lpstr>Introduction to linear models</vt:lpstr>
      <vt:lpstr>Stats: making the simple seem complicated</vt:lpstr>
      <vt:lpstr>Statistics and data</vt:lpstr>
      <vt:lpstr>Statistics and data</vt:lpstr>
      <vt:lpstr>Doing “stats” by hand</vt:lpstr>
      <vt:lpstr>“Stats” by hand</vt:lpstr>
      <vt:lpstr>More realism</vt:lpstr>
      <vt:lpstr>What stats does</vt:lpstr>
      <vt:lpstr>What about variation?</vt:lpstr>
      <vt:lpstr>Variation</vt:lpstr>
      <vt:lpstr>Normal distribution</vt:lpstr>
      <vt:lpstr>Our model</vt:lpstr>
      <vt:lpstr>Goal of statistics</vt:lpstr>
      <vt:lpstr>The Normal distribution</vt:lpstr>
      <vt:lpstr>Beware the histomancer</vt:lpstr>
      <vt:lpstr>“Do you drink coffee?”</vt:lpstr>
      <vt:lpstr>PowerPoint Presentation</vt:lpstr>
      <vt:lpstr>If you drink coffee, what is the average number of coffees you drink in a year?</vt:lpstr>
      <vt:lpstr>First amongst equals</vt:lpstr>
      <vt:lpstr>The return of hidden assumptions</vt:lpstr>
      <vt:lpstr>Monkey’s paw</vt:lpstr>
      <vt:lpstr>Assumptions</vt:lpstr>
      <vt:lpstr>Assumptions in the scientific workflow</vt:lpstr>
      <vt:lpstr>Assumption of validity</vt:lpstr>
      <vt:lpstr>Assumptions of representativeness</vt:lpstr>
      <vt:lpstr>Assumptions in the scientific workflow</vt:lpstr>
      <vt:lpstr>Assumption of addivity</vt:lpstr>
      <vt:lpstr>Assumption of linearity</vt:lpstr>
      <vt:lpstr>Assumptions in the scientific workflow</vt:lpstr>
      <vt:lpstr>Residual error</vt:lpstr>
      <vt:lpstr>Assumption of independence of errors</vt:lpstr>
      <vt:lpstr>Assumption of  equal variance of errors</vt:lpstr>
      <vt:lpstr>Assumption of normality of errors</vt:lpstr>
      <vt:lpstr>Assumptions in the scientific workflow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linear models</dc:title>
  <dc:creator>Roos, Deon</dc:creator>
  <cp:lastModifiedBy>Roos, Deon</cp:lastModifiedBy>
  <cp:revision>41</cp:revision>
  <dcterms:created xsi:type="dcterms:W3CDTF">2024-06-28T13:38:41Z</dcterms:created>
  <dcterms:modified xsi:type="dcterms:W3CDTF">2025-08-26T11:20:01Z</dcterms:modified>
</cp:coreProperties>
</file>