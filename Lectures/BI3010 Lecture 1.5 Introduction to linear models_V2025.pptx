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75" r:id="rId1"/>
  </p:sldMasterIdLst>
  <p:notesMasterIdLst>
    <p:notesMasterId r:id="rId37"/>
  </p:notesMasterIdLst>
  <p:sldIdLst>
    <p:sldId id="256" r:id="rId2"/>
    <p:sldId id="333" r:id="rId3"/>
    <p:sldId id="334" r:id="rId4"/>
    <p:sldId id="336" r:id="rId5"/>
    <p:sldId id="335" r:id="rId6"/>
    <p:sldId id="288" r:id="rId7"/>
    <p:sldId id="339" r:id="rId8"/>
    <p:sldId id="340" r:id="rId9"/>
    <p:sldId id="329" r:id="rId10"/>
    <p:sldId id="349" r:id="rId11"/>
    <p:sldId id="331" r:id="rId12"/>
    <p:sldId id="341" r:id="rId13"/>
    <p:sldId id="332" r:id="rId14"/>
    <p:sldId id="342" r:id="rId15"/>
    <p:sldId id="270" r:id="rId16"/>
    <p:sldId id="328" r:id="rId17"/>
    <p:sldId id="306" r:id="rId18"/>
    <p:sldId id="324" r:id="rId19"/>
    <p:sldId id="305" r:id="rId20"/>
    <p:sldId id="326" r:id="rId21"/>
    <p:sldId id="257" r:id="rId22"/>
    <p:sldId id="338" r:id="rId23"/>
    <p:sldId id="351" r:id="rId24"/>
    <p:sldId id="352" r:id="rId25"/>
    <p:sldId id="330" r:id="rId26"/>
    <p:sldId id="353" r:id="rId27"/>
    <p:sldId id="354" r:id="rId28"/>
    <p:sldId id="355" r:id="rId29"/>
    <p:sldId id="356" r:id="rId30"/>
    <p:sldId id="343" r:id="rId31"/>
    <p:sldId id="357" r:id="rId32"/>
    <p:sldId id="344" r:id="rId33"/>
    <p:sldId id="345" r:id="rId34"/>
    <p:sldId id="358" r:id="rId35"/>
    <p:sldId id="359" r:id="rId36"/>
  </p:sldIdLst>
  <p:sldSz cx="12192000" cy="6858000"/>
  <p:notesSz cx="6858000" cy="9144000"/>
  <p:embeddedFontLst>
    <p:embeddedFont>
      <p:font typeface="Bahnschrift Light" panose="020B0502040204020203" pitchFamily="34" charset="0"/>
      <p:regular r:id="rId38"/>
    </p:embeddedFont>
    <p:embeddedFont>
      <p:font typeface="Cambria Math" panose="02040503050406030204" pitchFamily="18" charset="0"/>
      <p:regular r:id="rId39"/>
    </p:embeddedFont>
    <p:embeddedFont>
      <p:font typeface="Roboto" panose="02000000000000000000" pitchFamily="2" charset="0"/>
      <p:regular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0098793-7D45-483C-A2CD-71757901ABEE}" v="63" dt="2025-07-07T20:11:30.50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65" autoAdjust="0"/>
    <p:restoredTop sz="94337" autoAdjust="0"/>
  </p:normalViewPr>
  <p:slideViewPr>
    <p:cSldViewPr snapToGrid="0">
      <p:cViewPr varScale="1">
        <p:scale>
          <a:sx n="106" d="100"/>
          <a:sy n="106" d="100"/>
        </p:scale>
        <p:origin x="144" y="2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3.fntdata"/><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20" Type="http://schemas.openxmlformats.org/officeDocument/2006/relationships/slide" Target="slides/slide19.xml"/><Relationship Id="rId4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30/07/2025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7414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7565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30/07/2025</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30/07/2025</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30/07/2025</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30/07/2025</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30/07/2025</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30/07/2025</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30/07/2025</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30/07/2025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30/07/2025</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30/07/2025</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25.gif"/></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9.png"/><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36.png"/><Relationship Id="rId4" Type="http://schemas.openxmlformats.org/officeDocument/2006/relationships/image" Target="../media/image240.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image" Target="../media/image43.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image" Target="../media/image45.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jp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8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xmlns="">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23E61-6D7A-D6E8-1910-13732FD50B3F}"/>
              </a:ext>
            </a:extLst>
          </p:cNvPr>
          <p:cNvSpPr>
            <a:spLocks noGrp="1"/>
          </p:cNvSpPr>
          <p:nvPr>
            <p:ph type="title"/>
          </p:nvPr>
        </p:nvSpPr>
        <p:spPr>
          <a:xfrm>
            <a:off x="0" y="0"/>
            <a:ext cx="12192000" cy="1325563"/>
          </a:xfrm>
        </p:spPr>
        <p:txBody>
          <a:bodyPr>
            <a:normAutofit/>
          </a:bodyPr>
          <a:lstStyle/>
          <a:p>
            <a:r>
              <a:rPr lang="en-GB" dirty="0"/>
              <a:t>Stats: making the simple seem complicated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962950-2D54-62EB-A8D7-806F8AD3A3E3}"/>
                  </a:ext>
                </a:extLst>
              </p:cNvPr>
              <p:cNvSpPr>
                <a:spLocks noGrp="1"/>
              </p:cNvSpPr>
              <p:nvPr>
                <p:ph idx="1"/>
              </p:nvPr>
            </p:nvSpPr>
            <p:spPr/>
            <p:txBody>
              <a:bodyPr/>
              <a:lstStyle/>
              <a:p>
                <a:r>
                  <a:rPr lang="en-GB" dirty="0"/>
                  <a:t>Statistics is all about finding associations</a:t>
                </a:r>
              </a:p>
              <a:p>
                <a:pPr lvl="1"/>
                <a:r>
                  <a:rPr lang="en-GB" dirty="0"/>
                  <a:t>When temperature increases, what happens to survival?</a:t>
                </a:r>
              </a:p>
              <a:p>
                <a:pPr lvl="1"/>
                <a:r>
                  <a:rPr lang="en-GB" dirty="0"/>
                  <a:t>What is the average number of kittiwakes in Site A and Site B?</a:t>
                </a:r>
              </a:p>
              <a:p>
                <a:r>
                  <a:rPr lang="en-GB" dirty="0"/>
                  <a:t>The maths is pretty simple</a:t>
                </a:r>
              </a:p>
              <a:p>
                <a:pPr lvl="1"/>
                <a:r>
                  <a:rPr lang="en-GB" dirty="0"/>
                  <a:t>Intercepts and slopes</a:t>
                </a:r>
              </a:p>
              <a:p>
                <a:pPr lvl="1"/>
                <a:r>
                  <a:rPr lang="en-GB" dirty="0"/>
                  <a:t>Or multiple averages</a:t>
                </a:r>
              </a:p>
              <a:p>
                <a:r>
                  <a:rPr lang="en-GB" dirty="0"/>
                  <a:t>Some form of:</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m:oMathPara>
                </a14:m>
                <a:endParaRPr lang="en-GB" dirty="0"/>
              </a:p>
            </p:txBody>
          </p:sp>
        </mc:Choice>
        <mc:Fallback xmlns="">
          <p:sp>
            <p:nvSpPr>
              <p:cNvPr id="3" name="Content Placeholder 2">
                <a:extLst>
                  <a:ext uri="{FF2B5EF4-FFF2-40B4-BE49-F238E27FC236}">
                    <a16:creationId xmlns:a16="http://schemas.microsoft.com/office/drawing/2014/main" id="{8A962950-2D54-62EB-A8D7-806F8AD3A3E3}"/>
                  </a:ext>
                </a:extLst>
              </p:cNvPr>
              <p:cNvSpPr>
                <a:spLocks noGrp="1" noRot="1" noChangeAspect="1" noMove="1" noResize="1" noEditPoints="1" noAdjustHandles="1" noChangeArrowheads="1" noChangeShapeType="1" noTextEdit="1"/>
              </p:cNvSpPr>
              <p:nvPr>
                <p:ph idx="1"/>
              </p:nvPr>
            </p:nvSpPr>
            <p:spPr>
              <a:blipFill>
                <a:blip r:embed="rId2"/>
                <a:stretch>
                  <a:fillRect l="-1770"/>
                </a:stretch>
              </a:blipFill>
            </p:spPr>
            <p:txBody>
              <a:bodyPr/>
              <a:lstStyle/>
              <a:p>
                <a:r>
                  <a:rPr lang="en-GB">
                    <a:noFill/>
                  </a:rPr>
                  <a:t> </a:t>
                </a:r>
              </a:p>
            </p:txBody>
          </p:sp>
        </mc:Fallback>
      </mc:AlternateContent>
      <p:pic>
        <p:nvPicPr>
          <p:cNvPr id="5" name="Google Shape;372;p39">
            <a:extLst>
              <a:ext uri="{FF2B5EF4-FFF2-40B4-BE49-F238E27FC236}">
                <a16:creationId xmlns:a16="http://schemas.microsoft.com/office/drawing/2014/main" id="{DEBF7F62-B3BD-F6EE-3692-6FA3F0189EF0}"/>
              </a:ext>
            </a:extLst>
          </p:cNvPr>
          <p:cNvPicPr preferRelativeResize="0">
            <a:picLocks noGrp="1"/>
          </p:cNvPicPr>
          <p:nvPr>
            <p:ph type="pic" sz="quarter" idx="10"/>
          </p:nvPr>
        </p:nvPicPr>
        <p:blipFill rotWithShape="1">
          <a:blip r:embed="rId3">
            <a:alphaModFix/>
          </a:blip>
          <a:srcRect l="-511" t="-36890" b="-12820"/>
          <a:stretch/>
        </p:blipFill>
        <p:spPr>
          <a:xfrm>
            <a:off x="6201295" y="0"/>
            <a:ext cx="5832475" cy="6858000"/>
          </a:xfrm>
          <a:prstGeom prst="rect">
            <a:avLst/>
          </a:prstGeom>
          <a:noFill/>
          <a:ln>
            <a:noFill/>
          </a:ln>
        </p:spPr>
      </p:pic>
    </p:spTree>
    <p:extLst>
      <p:ext uri="{BB962C8B-B14F-4D97-AF65-F5344CB8AC3E}">
        <p14:creationId xmlns:p14="http://schemas.microsoft.com/office/powerpoint/2010/main" val="572482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2867003"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0" i="1" smtClean="0">
                          <a:latin typeface="Cambria Math" panose="02040503050406030204" pitchFamily="18" charset="0"/>
                        </a:rPr>
                        <m:t>𝑦</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𝑚</m:t>
                      </m:r>
                      <m:r>
                        <a:rPr lang="en-GB" sz="4000" b="0" i="1" smtClean="0">
                          <a:solidFill>
                            <a:schemeClr val="tx1"/>
                          </a:solidFill>
                          <a:latin typeface="Cambria Math" panose="02040503050406030204" pitchFamily="18" charset="0"/>
                        </a:rPr>
                        <m:t>𝑥</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𝑐</m:t>
                      </m:r>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2867003"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207034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749778"/>
            <a:ext cx="3543725" cy="4368800"/>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09075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4"/>
                                        </p:tgtEl>
                                        <p:attrNameLst>
                                          <p:attrName>style.visibility</p:attrName>
                                        </p:attrNameLst>
                                      </p:cBhvr>
                                      <p:to>
                                        <p:strVal val="visible"/>
                                      </p:to>
                                    </p:set>
                                    <p:animEffect transition="in" filter="fade">
                                      <p:cBhvr>
                                        <p:cTn id="7" dur="1000"/>
                                        <p:tgtEl>
                                          <p:spTgt spid="4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9"/>
                                        </p:tgtEl>
                                        <p:attrNameLst>
                                          <p:attrName>style.visibility</p:attrName>
                                        </p:attrNameLst>
                                      </p:cBhvr>
                                      <p:to>
                                        <p:strVal val="visible"/>
                                      </p:to>
                                    </p:set>
                                    <p:animEffect transition="in" filter="fade">
                                      <p:cBhvr>
                                        <p:cTn id="12" dur="1000"/>
                                        <p:tgtEl>
                                          <p:spTgt spid="409"/>
                                        </p:tgtEl>
                                      </p:cBhvr>
                                    </p:animEffect>
                                  </p:childTnLst>
                                </p:cTn>
                              </p:par>
                              <p:par>
                                <p:cTn id="13" presetID="10" presetClass="entr" presetSubtype="0" fill="hold" nodeType="withEffect">
                                  <p:stCondLst>
                                    <p:cond delay="0"/>
                                  </p:stCondLst>
                                  <p:childTnLst>
                                    <p:set>
                                      <p:cBhvr>
                                        <p:cTn id="14" dur="1" fill="hold">
                                          <p:stCondLst>
                                            <p:cond delay="0"/>
                                          </p:stCondLst>
                                        </p:cTn>
                                        <p:tgtEl>
                                          <p:spTgt spid="423"/>
                                        </p:tgtEl>
                                        <p:attrNameLst>
                                          <p:attrName>style.visibility</p:attrName>
                                        </p:attrNameLst>
                                      </p:cBhvr>
                                      <p:to>
                                        <p:strVal val="visible"/>
                                      </p:to>
                                    </p:set>
                                    <p:animEffect transition="in" filter="fade">
                                      <p:cBhvr>
                                        <p:cTn id="15" dur="1000"/>
                                        <p:tgtEl>
                                          <p:spTgt spid="4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3"/>
                                        </p:tgtEl>
                                        <p:attrNameLst>
                                          <p:attrName>style.visibility</p:attrName>
                                        </p:attrNameLst>
                                      </p:cBhvr>
                                      <p:to>
                                        <p:strVal val="visible"/>
                                      </p:to>
                                    </p:set>
                                    <p:animEffect transition="in" filter="fade">
                                      <p:cBhvr>
                                        <p:cTn id="20" dur="1000"/>
                                        <p:tgtEl>
                                          <p:spTgt spid="433"/>
                                        </p:tgtEl>
                                      </p:cBhvr>
                                    </p:animEffect>
                                  </p:childTnLst>
                                </p:cTn>
                              </p:par>
                              <p:par>
                                <p:cTn id="21" presetID="10" presetClass="entr" presetSubtype="0" fill="hold" nodeType="withEffect">
                                  <p:stCondLst>
                                    <p:cond delay="0"/>
                                  </p:stCondLst>
                                  <p:childTnLst>
                                    <p:set>
                                      <p:cBhvr>
                                        <p:cTn id="22" dur="1" fill="hold">
                                          <p:stCondLst>
                                            <p:cond delay="0"/>
                                          </p:stCondLst>
                                        </p:cTn>
                                        <p:tgtEl>
                                          <p:spTgt spid="435"/>
                                        </p:tgtEl>
                                        <p:attrNameLst>
                                          <p:attrName>style.visibility</p:attrName>
                                        </p:attrNameLst>
                                      </p:cBhvr>
                                      <p:to>
                                        <p:strVal val="visible"/>
                                      </p:to>
                                    </p:set>
                                    <p:animEffect transition="in" filter="fade">
                                      <p:cBhvr>
                                        <p:cTn id="23" dur="1000"/>
                                        <p:tgtEl>
                                          <p:spTgt spid="435"/>
                                        </p:tgtEl>
                                      </p:cBhvr>
                                    </p:animEffect>
                                  </p:childTnLst>
                                </p:cTn>
                              </p:par>
                              <p:par>
                                <p:cTn id="24" presetID="10" presetClass="entr" presetSubtype="0" fill="hold" nodeType="withEffect">
                                  <p:stCondLst>
                                    <p:cond delay="0"/>
                                  </p:stCondLst>
                                  <p:childTnLst>
                                    <p:set>
                                      <p:cBhvr>
                                        <p:cTn id="25" dur="1" fill="hold">
                                          <p:stCondLst>
                                            <p:cond delay="0"/>
                                          </p:stCondLst>
                                        </p:cTn>
                                        <p:tgtEl>
                                          <p:spTgt spid="437"/>
                                        </p:tgtEl>
                                        <p:attrNameLst>
                                          <p:attrName>style.visibility</p:attrName>
                                        </p:attrNameLst>
                                      </p:cBhvr>
                                      <p:to>
                                        <p:strVal val="visible"/>
                                      </p:to>
                                    </p:set>
                                    <p:animEffect transition="in" filter="fade">
                                      <p:cBhvr>
                                        <p:cTn id="26" dur="1000"/>
                                        <p:tgtEl>
                                          <p:spTgt spid="437"/>
                                        </p:tgtEl>
                                      </p:cBhvr>
                                    </p:animEffect>
                                  </p:childTnLst>
                                </p:cTn>
                              </p:par>
                              <p:par>
                                <p:cTn id="27" presetID="10" presetClass="entr" presetSubtype="0" fill="hold" nodeType="withEffect">
                                  <p:stCondLst>
                                    <p:cond delay="0"/>
                                  </p:stCondLst>
                                  <p:childTnLst>
                                    <p:set>
                                      <p:cBhvr>
                                        <p:cTn id="28" dur="1" fill="hold">
                                          <p:stCondLst>
                                            <p:cond delay="0"/>
                                          </p:stCondLst>
                                        </p:cTn>
                                        <p:tgtEl>
                                          <p:spTgt spid="439"/>
                                        </p:tgtEl>
                                        <p:attrNameLst>
                                          <p:attrName>style.visibility</p:attrName>
                                        </p:attrNameLst>
                                      </p:cBhvr>
                                      <p:to>
                                        <p:strVal val="visible"/>
                                      </p:to>
                                    </p:set>
                                    <p:animEffect transition="in" filter="fade">
                                      <p:cBhvr>
                                        <p:cTn id="29" dur="1000"/>
                                        <p:tgtEl>
                                          <p:spTgt spid="43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26"/>
                                        </p:tgtEl>
                                        <p:attrNameLst>
                                          <p:attrName>style.visibility</p:attrName>
                                        </p:attrNameLst>
                                      </p:cBhvr>
                                      <p:to>
                                        <p:strVal val="visible"/>
                                      </p:to>
                                    </p:set>
                                    <p:animEffect transition="in" filter="fade">
                                      <p:cBhvr>
                                        <p:cTn id="34" dur="1000"/>
                                        <p:tgtEl>
                                          <p:spTgt spid="426"/>
                                        </p:tgtEl>
                                      </p:cBhvr>
                                    </p:animEffect>
                                  </p:childTnLst>
                                </p:cTn>
                              </p:par>
                              <p:par>
                                <p:cTn id="35" presetID="10" presetClass="entr" presetSubtype="0" fill="hold" nodeType="withEffect">
                                  <p:stCondLst>
                                    <p:cond delay="0"/>
                                  </p:stCondLst>
                                  <p:childTnLst>
                                    <p:set>
                                      <p:cBhvr>
                                        <p:cTn id="36" dur="1" fill="hold">
                                          <p:stCondLst>
                                            <p:cond delay="0"/>
                                          </p:stCondLst>
                                        </p:cTn>
                                        <p:tgtEl>
                                          <p:spTgt spid="406"/>
                                        </p:tgtEl>
                                        <p:attrNameLst>
                                          <p:attrName>style.visibility</p:attrName>
                                        </p:attrNameLst>
                                      </p:cBhvr>
                                      <p:to>
                                        <p:strVal val="visible"/>
                                      </p:to>
                                    </p:set>
                                    <p:animEffect transition="in" filter="fade">
                                      <p:cBhvr>
                                        <p:cTn id="37" dur="1"/>
                                        <p:tgtEl>
                                          <p:spTgt spid="40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1"/>
                                        </p:tgtEl>
                                        <p:attrNameLst>
                                          <p:attrName>style.visibility</p:attrName>
                                        </p:attrNameLst>
                                      </p:cBhvr>
                                      <p:to>
                                        <p:strVal val="visible"/>
                                      </p:to>
                                    </p:set>
                                    <p:animEffect transition="in" filter="fade">
                                      <p:cBhvr>
                                        <p:cTn id="42" dur="1000"/>
                                        <p:tgtEl>
                                          <p:spTgt spid="441"/>
                                        </p:tgtEl>
                                      </p:cBhvr>
                                    </p:animEffect>
                                  </p:childTnLst>
                                </p:cTn>
                              </p:par>
                              <p:par>
                                <p:cTn id="43" presetID="10" presetClass="entr" presetSubtype="0" fill="hold" nodeType="withEffect">
                                  <p:stCondLst>
                                    <p:cond delay="0"/>
                                  </p:stCondLst>
                                  <p:childTnLst>
                                    <p:set>
                                      <p:cBhvr>
                                        <p:cTn id="44" dur="1" fill="hold">
                                          <p:stCondLst>
                                            <p:cond delay="0"/>
                                          </p:stCondLst>
                                        </p:cTn>
                                        <p:tgtEl>
                                          <p:spTgt spid="443"/>
                                        </p:tgtEl>
                                        <p:attrNameLst>
                                          <p:attrName>style.visibility</p:attrName>
                                        </p:attrNameLst>
                                      </p:cBhvr>
                                      <p:to>
                                        <p:strVal val="visible"/>
                                      </p:to>
                                    </p:set>
                                    <p:animEffect transition="in" filter="fade">
                                      <p:cBhvr>
                                        <p:cTn id="45" dur="1000"/>
                                        <p:tgtEl>
                                          <p:spTgt spid="443"/>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5"/>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408720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sz="4000" b="0" i="1" smtClean="0">
                              <a:latin typeface="Cambria Math" panose="02040503050406030204" pitchFamily="18" charset="0"/>
                            </a:rPr>
                          </m:ctrlPr>
                        </m:sSubPr>
                        <m:e>
                          <m:r>
                            <a:rPr lang="en-GB" sz="4000" b="0" i="1" smtClean="0">
                              <a:latin typeface="Cambria Math" panose="02040503050406030204" pitchFamily="18" charset="0"/>
                            </a:rPr>
                            <m:t>𝑦</m:t>
                          </m:r>
                        </m:e>
                        <m:sub>
                          <m:r>
                            <a:rPr lang="en-GB" sz="4000" b="0" i="1" smtClean="0">
                              <a:latin typeface="Cambria Math" panose="02040503050406030204" pitchFamily="18" charset="0"/>
                            </a:rPr>
                            <m:t>𝑖</m:t>
                          </m:r>
                        </m:sub>
                      </m:sSub>
                      <m:r>
                        <a:rPr lang="en-GB" sz="4000" b="0" i="1" smtClean="0">
                          <a:latin typeface="Cambria Math" panose="02040503050406030204" pitchFamily="18" charset="0"/>
                        </a:rPr>
                        <m:t>=</m:t>
                      </m:r>
                      <m:sSub>
                        <m:sSubPr>
                          <m:ctrlPr>
                            <a:rPr lang="en-GB" sz="4000" i="1" smtClean="0">
                              <a:solidFill>
                                <a:srgbClr val="FFFF00"/>
                              </a:solidFill>
                              <a:latin typeface="Cambria Math" panose="02040503050406030204" pitchFamily="18" charset="0"/>
                            </a:rPr>
                          </m:ctrlPr>
                        </m:sSubPr>
                        <m:e>
                          <m:r>
                            <a:rPr lang="en-GB" sz="4000" i="1">
                              <a:solidFill>
                                <a:srgbClr val="FFFF00"/>
                              </a:solidFill>
                              <a:latin typeface="Cambria Math" panose="02040503050406030204" pitchFamily="18" charset="0"/>
                            </a:rPr>
                            <m:t>𝛽</m:t>
                          </m:r>
                        </m:e>
                        <m:sub>
                          <m:r>
                            <a:rPr lang="en-GB" sz="4000" i="1">
                              <a:solidFill>
                                <a:srgbClr val="FFFF00"/>
                              </a:solidFill>
                              <a:latin typeface="Cambria Math" panose="02040503050406030204" pitchFamily="18" charset="0"/>
                            </a:rPr>
                            <m:t>0</m:t>
                          </m:r>
                        </m:sub>
                      </m:sSub>
                      <m:r>
                        <a:rPr lang="en-GB" sz="4000" b="0" i="1" smtClean="0">
                          <a:latin typeface="Cambria Math" panose="02040503050406030204" pitchFamily="18" charset="0"/>
                        </a:rPr>
                        <m:t>+</m:t>
                      </m:r>
                      <m:sSub>
                        <m:sSubPr>
                          <m:ctrlPr>
                            <a:rPr lang="en-GB" sz="4000" b="0" i="1" smtClean="0">
                              <a:solidFill>
                                <a:srgbClr val="FFFF00"/>
                              </a:solidFill>
                              <a:latin typeface="Cambria Math" panose="02040503050406030204" pitchFamily="18" charset="0"/>
                            </a:rPr>
                          </m:ctrlPr>
                        </m:sSubPr>
                        <m:e>
                          <m:r>
                            <a:rPr lang="en-GB" sz="4000" b="0" i="1" smtClean="0">
                              <a:solidFill>
                                <a:srgbClr val="FFFF00"/>
                              </a:solidFill>
                              <a:latin typeface="Cambria Math" panose="02040503050406030204" pitchFamily="18" charset="0"/>
                            </a:rPr>
                            <m:t>𝛽</m:t>
                          </m:r>
                        </m:e>
                        <m:sub>
                          <m:r>
                            <a:rPr lang="en-GB" sz="4000" b="0" i="1" smtClean="0">
                              <a:solidFill>
                                <a:srgbClr val="FFFF00"/>
                              </a:solidFill>
                              <a:latin typeface="Cambria Math" panose="02040503050406030204" pitchFamily="18" charset="0"/>
                            </a:rPr>
                            <m:t>1</m:t>
                          </m:r>
                        </m:sub>
                      </m:sSub>
                      <m:r>
                        <a:rPr lang="en-GB" sz="4000" b="0" i="1" smtClean="0">
                          <a:solidFill>
                            <a:schemeClr val="tx1"/>
                          </a:solidFill>
                          <a:latin typeface="Cambria Math" panose="02040503050406030204" pitchFamily="18" charset="0"/>
                        </a:rPr>
                        <m:t>×</m:t>
                      </m:r>
                      <m:sSub>
                        <m:sSubPr>
                          <m:ctrlPr>
                            <a:rPr lang="en-GB" sz="4000" b="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𝑥</m:t>
                          </m:r>
                        </m:e>
                        <m:sub>
                          <m:r>
                            <a:rPr lang="en-GB" sz="4000" b="0" i="1" smtClean="0">
                              <a:solidFill>
                                <a:schemeClr val="tx1"/>
                              </a:solidFill>
                              <a:latin typeface="Cambria Math" panose="02040503050406030204" pitchFamily="18" charset="0"/>
                            </a:rPr>
                            <m:t>𝑖</m:t>
                          </m:r>
                        </m:sub>
                      </m:sSub>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4087208"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396381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884334"/>
            <a:ext cx="3543725" cy="4234244"/>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313713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93147" y="292323"/>
            <a:ext cx="6079297" cy="763600"/>
          </a:xfrm>
        </p:spPr>
        <p:txBody>
          <a:bodyPr/>
          <a:lstStyle/>
          <a:p>
            <a:r>
              <a:rPr lang="en-GB" dirty="0"/>
              <a:t>Doing “stats”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93147" y="1536633"/>
                <a:ext cx="6079297" cy="4358140"/>
              </a:xfrm>
            </p:spPr>
            <p:txBody>
              <a:bodyPr/>
              <a:lstStyle/>
              <a:p>
                <a:pPr marL="152396" indent="0">
                  <a:buNone/>
                </a:pPr>
                <a:r>
                  <a:rPr lang="en-GB" dirty="0"/>
                  <a:t>Your straight-line equation:</a:t>
                </a:r>
              </a:p>
              <a:p>
                <a:pPr marL="152396" indent="0">
                  <a:buNone/>
                </a:pPr>
                <a:endParaRPr lang="en-GB" i="1" dirty="0"/>
              </a:p>
              <a:p>
                <a:pPr marL="152396"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m:oMathPara>
                </a14:m>
                <a:endParaRPr lang="en-GB" sz="1800" dirty="0"/>
              </a:p>
              <a:p>
                <a:pPr marL="795847" lvl="1" indent="0">
                  <a:buNone/>
                </a:pPr>
                <a14:m>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oMath>
                </a14:m>
                <a:r>
                  <a:rPr lang="en-GB" dirty="0"/>
                  <a:t> = Deon’s height</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a14:m>
                <a:r>
                  <a:rPr lang="en-GB" dirty="0"/>
                  <a:t> = Deon’s age</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oMath>
                </a14:m>
                <a:r>
                  <a:rPr lang="en-GB" dirty="0"/>
                  <a:t> = y-intercept </a:t>
                </a:r>
                <a:br>
                  <a:rPr lang="en-GB" dirty="0"/>
                </a:br>
                <a:r>
                  <a:rPr lang="en-GB" sz="1800" dirty="0"/>
                  <a:t>(I was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0</m:t>
                        </m:r>
                      </m:sub>
                    </m:sSub>
                  </m:oMath>
                </a14:m>
                <a:r>
                  <a:rPr lang="en-GB" sz="1800" b="1" i="1" dirty="0"/>
                  <a:t> </a:t>
                </a:r>
                <a:r>
                  <a:rPr lang="en-GB" sz="1800" dirty="0"/>
                  <a:t>cm tall when I was born)</a:t>
                </a:r>
                <a:endParaRPr lang="en-GB" sz="1800" i="1" dirty="0">
                  <a:latin typeface="Cambria Math" panose="02040503050406030204" pitchFamily="18" charset="0"/>
                </a:endParaRP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oMath>
                </a14:m>
                <a:r>
                  <a:rPr lang="en-GB" dirty="0"/>
                  <a:t> = Slope </a:t>
                </a:r>
                <a:br>
                  <a:rPr lang="en-GB" dirty="0"/>
                </a:br>
                <a:r>
                  <a:rPr lang="en-GB" sz="1800" dirty="0"/>
                  <a:t>(aging 1 year increased my height by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1</m:t>
                        </m:r>
                      </m:sub>
                    </m:sSub>
                  </m:oMath>
                </a14:m>
                <a:r>
                  <a:rPr lang="en-GB" sz="1800" dirty="0"/>
                  <a:t> cm)</a:t>
                </a:r>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93147" y="1536633"/>
                <a:ext cx="6079297" cy="4358140"/>
              </a:xfrm>
              <a:blipFill>
                <a:blip r:embed="rId2"/>
                <a:stretch>
                  <a:fillRect t="-1399"/>
                </a:stretch>
              </a:blipFill>
            </p:spPr>
            <p:txBody>
              <a:bodyPr/>
              <a:lstStyle/>
              <a:p>
                <a:r>
                  <a:rPr lang="en-GB">
                    <a:noFill/>
                  </a:rPr>
                  <a:t> </a:t>
                </a:r>
              </a:p>
            </p:txBody>
          </p:sp>
        </mc:Fallback>
      </mc:AlternateContent>
      <p:sp>
        <p:nvSpPr>
          <p:cNvPr id="12" name="Rectangle: Rounded Corners 11">
            <a:extLst>
              <a:ext uri="{FF2B5EF4-FFF2-40B4-BE49-F238E27FC236}">
                <a16:creationId xmlns:a16="http://schemas.microsoft.com/office/drawing/2014/main" id="{7421EF30-7518-449A-8C23-6BCCFC663D14}"/>
              </a:ext>
            </a:extLst>
          </p:cNvPr>
          <p:cNvSpPr/>
          <p:nvPr/>
        </p:nvSpPr>
        <p:spPr>
          <a:xfrm>
            <a:off x="858644" y="3021980"/>
            <a:ext cx="2730398" cy="992459"/>
          </a:xfrm>
          <a:prstGeom prst="roundRect">
            <a:avLst/>
          </a:prstGeom>
          <a:noFill/>
          <a:ln w="19050">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293E803A-24B7-407B-B48E-91E817B82522}"/>
              </a:ext>
            </a:extLst>
          </p:cNvPr>
          <p:cNvSpPr txBox="1"/>
          <p:nvPr/>
        </p:nvSpPr>
        <p:spPr>
          <a:xfrm>
            <a:off x="4032804" y="3313897"/>
            <a:ext cx="1719926" cy="408623"/>
          </a:xfrm>
          <a:prstGeom prst="roundRect">
            <a:avLst/>
          </a:prstGeom>
          <a:noFill/>
          <a:ln w="19050">
            <a:solidFill>
              <a:schemeClr val="accent5">
                <a:lumMod val="40000"/>
                <a:lumOff val="60000"/>
              </a:schemeClr>
            </a:solidFill>
          </a:ln>
        </p:spPr>
        <p:txBody>
          <a:bodyPr wrap="square" rtlCol="0">
            <a:spAutoFit/>
          </a:bodyPr>
          <a:lstStyle/>
          <a:p>
            <a:r>
              <a:rPr lang="en-GB" b="1" i="1" dirty="0"/>
              <a:t>Observed data</a:t>
            </a:r>
          </a:p>
        </p:txBody>
      </p:sp>
      <p:cxnSp>
        <p:nvCxnSpPr>
          <p:cNvPr id="16" name="Straight Arrow Connector 15">
            <a:extLst>
              <a:ext uri="{FF2B5EF4-FFF2-40B4-BE49-F238E27FC236}">
                <a16:creationId xmlns:a16="http://schemas.microsoft.com/office/drawing/2014/main" id="{91DEE06C-C267-40F6-B153-97243000E2EE}"/>
              </a:ext>
            </a:extLst>
          </p:cNvPr>
          <p:cNvCxnSpPr>
            <a:cxnSpLocks/>
            <a:stCxn id="13" idx="1"/>
            <a:endCxn id="12" idx="3"/>
          </p:cNvCxnSpPr>
          <p:nvPr/>
        </p:nvCxnSpPr>
        <p:spPr>
          <a:xfrm flipH="1">
            <a:off x="3589042" y="3518209"/>
            <a:ext cx="443762" cy="1"/>
          </a:xfrm>
          <a:prstGeom prst="straightConnector1">
            <a:avLst/>
          </a:prstGeom>
          <a:ln w="19050">
            <a:solidFill>
              <a:schemeClr val="accent5">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25FCA1D2-D217-4B00-8558-8FFAB987AD53}"/>
              </a:ext>
            </a:extLst>
          </p:cNvPr>
          <p:cNvSpPr/>
          <p:nvPr/>
        </p:nvSpPr>
        <p:spPr>
          <a:xfrm>
            <a:off x="858643" y="4203230"/>
            <a:ext cx="5167687" cy="1576129"/>
          </a:xfrm>
          <a:prstGeom prst="roundRect">
            <a:avLst/>
          </a:prstGeom>
          <a:noFill/>
          <a:ln w="1905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E8EFC0B3-761C-4ADB-A8F1-234B278E0252}"/>
              </a:ext>
            </a:extLst>
          </p:cNvPr>
          <p:cNvSpPr txBox="1"/>
          <p:nvPr/>
        </p:nvSpPr>
        <p:spPr>
          <a:xfrm>
            <a:off x="2428529" y="5966860"/>
            <a:ext cx="2027915" cy="408623"/>
          </a:xfrm>
          <a:prstGeom prst="roundRect">
            <a:avLst/>
          </a:prstGeom>
          <a:noFill/>
          <a:ln w="19050">
            <a:solidFill>
              <a:schemeClr val="accent6">
                <a:lumMod val="40000"/>
                <a:lumOff val="60000"/>
              </a:schemeClr>
            </a:solidFill>
          </a:ln>
        </p:spPr>
        <p:txBody>
          <a:bodyPr wrap="square" rtlCol="0">
            <a:spAutoFit/>
          </a:bodyPr>
          <a:lstStyle/>
          <a:p>
            <a:r>
              <a:rPr lang="en-GB" b="1" i="1" dirty="0"/>
              <a:t>Unobserved data</a:t>
            </a:r>
          </a:p>
        </p:txBody>
      </p:sp>
      <p:cxnSp>
        <p:nvCxnSpPr>
          <p:cNvPr id="19" name="Straight Arrow Connector 18">
            <a:extLst>
              <a:ext uri="{FF2B5EF4-FFF2-40B4-BE49-F238E27FC236}">
                <a16:creationId xmlns:a16="http://schemas.microsoft.com/office/drawing/2014/main" id="{B45E76A0-8499-48F0-AAF7-60838EA8C725}"/>
              </a:ext>
            </a:extLst>
          </p:cNvPr>
          <p:cNvCxnSpPr>
            <a:cxnSpLocks/>
            <a:stCxn id="18" idx="0"/>
            <a:endCxn id="17" idx="2"/>
          </p:cNvCxnSpPr>
          <p:nvPr/>
        </p:nvCxnSpPr>
        <p:spPr>
          <a:xfrm flipV="1">
            <a:off x="3442487" y="5779359"/>
            <a:ext cx="0" cy="187501"/>
          </a:xfrm>
          <a:prstGeom prst="straightConnector1">
            <a:avLst/>
          </a:prstGeom>
          <a:ln w="19050">
            <a:solidFill>
              <a:schemeClr val="accent6">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descr="A screen shot of a graph&#10;&#10;Description automatically generated">
            <a:extLst>
              <a:ext uri="{FF2B5EF4-FFF2-40B4-BE49-F238E27FC236}">
                <a16:creationId xmlns:a16="http://schemas.microsoft.com/office/drawing/2014/main" id="{CD3DCF9A-3D8F-4C15-300E-FD08BD96D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B76600C-80A6-75DA-FE2D-2A28B6B2456C}"/>
                  </a:ext>
                </a:extLst>
              </p:cNvPr>
              <p:cNvSpPr txBox="1"/>
              <p:nvPr/>
            </p:nvSpPr>
            <p:spPr>
              <a:xfrm>
                <a:off x="573537" y="6481230"/>
                <a:ext cx="6031010" cy="369332"/>
              </a:xfrm>
              <a:prstGeom prst="rect">
                <a:avLst/>
              </a:prstGeom>
              <a:noFill/>
            </p:spPr>
            <p:txBody>
              <a:bodyPr wrap="none" rtlCol="0">
                <a:spAutoFit/>
              </a:bodyPr>
              <a:lstStyle/>
              <a:p>
                <a14:m>
                  <m:oMath xmlns:m="http://schemas.openxmlformats.org/officeDocument/2006/math">
                    <m:r>
                      <a:rPr lang="en-GB" b="0" i="1" smtClean="0">
                        <a:latin typeface="Cambria Math" panose="02040503050406030204" pitchFamily="18" charset="0"/>
                      </a:rPr>
                      <m:t>𝑖</m:t>
                    </m:r>
                  </m:oMath>
                </a14:m>
                <a:r>
                  <a:rPr lang="en-GB" dirty="0"/>
                  <a:t> is an index; e.g. if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=1</m:t>
                    </m:r>
                  </m:oMath>
                </a14:m>
                <a:r>
                  <a:rPr lang="en-GB" dirty="0"/>
                  <a:t> then this is the first observation</a:t>
                </a:r>
              </a:p>
            </p:txBody>
          </p:sp>
        </mc:Choice>
        <mc:Fallback xmlns="">
          <p:sp>
            <p:nvSpPr>
              <p:cNvPr id="14" name="TextBox 13">
                <a:extLst>
                  <a:ext uri="{FF2B5EF4-FFF2-40B4-BE49-F238E27FC236}">
                    <a16:creationId xmlns:a16="http://schemas.microsoft.com/office/drawing/2014/main" id="{2B76600C-80A6-75DA-FE2D-2A28B6B2456C}"/>
                  </a:ext>
                </a:extLst>
              </p:cNvPr>
              <p:cNvSpPr txBox="1">
                <a:spLocks noRot="1" noChangeAspect="1" noMove="1" noResize="1" noEditPoints="1" noAdjustHandles="1" noChangeArrowheads="1" noChangeShapeType="1" noTextEdit="1"/>
              </p:cNvSpPr>
              <p:nvPr/>
            </p:nvSpPr>
            <p:spPr>
              <a:xfrm>
                <a:off x="573537" y="6481230"/>
                <a:ext cx="6031010" cy="369332"/>
              </a:xfrm>
              <a:prstGeom prst="rect">
                <a:avLst/>
              </a:prstGeom>
              <a:blipFill>
                <a:blip r:embed="rId4"/>
                <a:stretch>
                  <a:fillRect t="-8197" r="-303" b="-24590"/>
                </a:stretch>
              </a:blipFill>
            </p:spPr>
            <p:txBody>
              <a:bodyPr/>
              <a:lstStyle/>
              <a:p>
                <a:r>
                  <a:rPr lang="en-GB">
                    <a:noFill/>
                  </a:rPr>
                  <a:t> </a:t>
                </a:r>
              </a:p>
            </p:txBody>
          </p:sp>
        </mc:Fallback>
      </mc:AlternateContent>
    </p:spTree>
    <p:extLst>
      <p:ext uri="{BB962C8B-B14F-4D97-AF65-F5344CB8AC3E}">
        <p14:creationId xmlns:p14="http://schemas.microsoft.com/office/powerpoint/2010/main" val="4494694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7" grpId="0" animBg="1"/>
      <p:bldP spid="18"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n a black background&#10;&#10;Description automatically generated">
            <a:extLst>
              <a:ext uri="{FF2B5EF4-FFF2-40B4-BE49-F238E27FC236}">
                <a16:creationId xmlns:a16="http://schemas.microsoft.com/office/drawing/2014/main" id="{E52F8F34-5031-4DE5-834D-AF45F3C13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pic>
        <p:nvPicPr>
          <p:cNvPr id="6" name="Picture 5" descr="A screen shot of a graph&#10;&#10;Description automatically generated">
            <a:extLst>
              <a:ext uri="{FF2B5EF4-FFF2-40B4-BE49-F238E27FC236}">
                <a16:creationId xmlns:a16="http://schemas.microsoft.com/office/drawing/2014/main" id="{998DE82C-91B8-154C-81E0-998DCBA37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1357018" y="246864"/>
            <a:ext cx="5528000" cy="763600"/>
          </a:xfrm>
        </p:spPr>
        <p:txBody>
          <a:bodyPr/>
          <a:lstStyle/>
          <a:p>
            <a:r>
              <a:rPr lang="en-GB" dirty="0"/>
              <a:t>“Stats”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1" y="1299456"/>
                <a:ext cx="6440129" cy="5558544"/>
              </a:xfrm>
            </p:spPr>
            <p:txBody>
              <a:bodyPr/>
              <a:lstStyle/>
              <a:p>
                <a:pPr marL="152396" indent="0">
                  <a:buNone/>
                </a:pPr>
                <a:r>
                  <a:rPr lang="en-GB" i="1" dirty="0"/>
                  <a:t>Deon’s height =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oMath>
                </a14:m>
                <a:r>
                  <a:rPr lang="en-GB" i="1" dirty="0"/>
                  <a:t> Deon’s age</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dirty="0"/>
                  <a:t>?</a:t>
                </a:r>
              </a:p>
              <a:p>
                <a:r>
                  <a:rPr lang="en-GB" sz="2000" dirty="0"/>
                  <a:t>Imagine a line extending down to 0 years old.</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b="1" i="1" dirty="0"/>
                  <a:t> </a:t>
                </a:r>
                <a:r>
                  <a:rPr lang="en-GB" sz="2000" i="1" dirty="0"/>
                  <a:t>= 50 cm at 0 years old</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dirty="0"/>
                  <a:t>?</a:t>
                </a:r>
              </a:p>
              <a:p>
                <a:r>
                  <a:rPr lang="en-GB" sz="2000" dirty="0"/>
                  <a:t>How much did I grow in one year?</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b="1" i="1" dirty="0"/>
                  <a:t> </a:t>
                </a:r>
                <a:r>
                  <a:rPr lang="en-GB" sz="2000" i="1" dirty="0"/>
                  <a:t>= 15 cm per year</a:t>
                </a:r>
                <a:endParaRPr lang="en-GB" sz="2000" dirty="0"/>
              </a:p>
              <a:p>
                <a:pPr marL="152396" indent="0">
                  <a:buNone/>
                </a:pPr>
                <a:endParaRPr lang="en-GB" sz="2000" b="1" i="1" dirty="0"/>
              </a:p>
              <a:p>
                <a:pPr marL="152396" indent="0">
                  <a:buNone/>
                </a:pPr>
                <a:r>
                  <a:rPr lang="en-GB" sz="2000" b="1" i="1" dirty="0"/>
                  <a:t>We now have an association.</a:t>
                </a:r>
              </a:p>
              <a:p>
                <a:pPr marL="152396" indent="0">
                  <a:buNone/>
                </a:pPr>
                <a:endParaRPr lang="en-GB" sz="2000" b="1" i="1" dirty="0"/>
              </a:p>
              <a:p>
                <a:pPr marL="152396" indent="0">
                  <a:buNone/>
                </a:pPr>
                <a:r>
                  <a:rPr lang="en-GB" sz="2000" dirty="0"/>
                  <a:t>We can use the equation to make predictions:</a:t>
                </a:r>
              </a:p>
              <a:p>
                <a:r>
                  <a:rPr lang="en-GB" sz="2000" dirty="0"/>
                  <a:t>How tall was I at 6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6 = 140 cm</a:t>
                </a:r>
              </a:p>
              <a:p>
                <a:endParaRPr lang="en-GB" sz="2000" b="1" i="1" dirty="0"/>
              </a:p>
              <a:p>
                <a:r>
                  <a:rPr lang="en-GB" sz="2000" dirty="0"/>
                  <a:t>How tall will I be when I am 120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120 = </a:t>
                </a:r>
                <a:r>
                  <a:rPr lang="en-GB" sz="2000" b="1" i="1" dirty="0"/>
                  <a:t>1850 cm</a:t>
                </a:r>
              </a:p>
              <a:p>
                <a:r>
                  <a:rPr lang="en-GB" sz="2000" dirty="0"/>
                  <a:t>Be very careful when predicting</a:t>
                </a:r>
              </a:p>
              <a:p>
                <a:pPr marL="152396" indent="0">
                  <a:buNone/>
                </a:pPr>
                <a:endParaRPr lang="en-GB" sz="2000" dirty="0"/>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1" y="1299456"/>
                <a:ext cx="6440129" cy="5558544"/>
              </a:xfrm>
              <a:blipFill>
                <a:blip r:embed="rId4"/>
                <a:stretch>
                  <a:fillRect t="-1206" b="-219"/>
                </a:stretch>
              </a:blipFill>
            </p:spPr>
            <p:txBody>
              <a:bodyPr/>
              <a:lstStyle/>
              <a:p>
                <a:r>
                  <a:rPr lang="en-GB">
                    <a:noFill/>
                  </a:rPr>
                  <a:t> </a:t>
                </a:r>
              </a:p>
            </p:txBody>
          </p:sp>
        </mc:Fallback>
      </mc:AlternateContent>
      <p:grpSp>
        <p:nvGrpSpPr>
          <p:cNvPr id="16" name="Group 15">
            <a:extLst>
              <a:ext uri="{FF2B5EF4-FFF2-40B4-BE49-F238E27FC236}">
                <a16:creationId xmlns:a16="http://schemas.microsoft.com/office/drawing/2014/main" id="{E622D0BF-54FA-2FD9-F4EA-ECE0C71B1ABA}"/>
              </a:ext>
            </a:extLst>
          </p:cNvPr>
          <p:cNvGrpSpPr/>
          <p:nvPr/>
        </p:nvGrpSpPr>
        <p:grpSpPr>
          <a:xfrm>
            <a:off x="7224446" y="2586036"/>
            <a:ext cx="1589346" cy="993220"/>
            <a:chOff x="7224446" y="2586036"/>
            <a:chExt cx="1589346" cy="993220"/>
          </a:xfrm>
        </p:grpSpPr>
        <p:grpSp>
          <p:nvGrpSpPr>
            <p:cNvPr id="13" name="Group 12">
              <a:extLst>
                <a:ext uri="{FF2B5EF4-FFF2-40B4-BE49-F238E27FC236}">
                  <a16:creationId xmlns:a16="http://schemas.microsoft.com/office/drawing/2014/main" id="{A60C925C-79B4-575A-11B7-92C6A8F11175}"/>
                </a:ext>
              </a:extLst>
            </p:cNvPr>
            <p:cNvGrpSpPr/>
            <p:nvPr/>
          </p:nvGrpSpPr>
          <p:grpSpPr>
            <a:xfrm>
              <a:off x="8060924" y="2828924"/>
              <a:ext cx="752868" cy="609600"/>
              <a:chOff x="8060924" y="2828924"/>
              <a:chExt cx="752868" cy="609600"/>
            </a:xfrm>
          </p:grpSpPr>
          <p:cxnSp>
            <p:nvCxnSpPr>
              <p:cNvPr id="8" name="Straight Connector 7">
                <a:extLst>
                  <a:ext uri="{FF2B5EF4-FFF2-40B4-BE49-F238E27FC236}">
                    <a16:creationId xmlns:a16="http://schemas.microsoft.com/office/drawing/2014/main" id="{10E3EAC8-2DDC-2FBA-A218-3E152117930E}"/>
                  </a:ext>
                </a:extLst>
              </p:cNvPr>
              <p:cNvCxnSpPr/>
              <p:nvPr/>
            </p:nvCxnSpPr>
            <p:spPr>
              <a:xfrm>
                <a:off x="8060924" y="3429000"/>
                <a:ext cx="74572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36356EBD-3B5E-D8C3-D859-2D6DC22961AC}"/>
                  </a:ext>
                </a:extLst>
              </p:cNvPr>
              <p:cNvCxnSpPr>
                <a:cxnSpLocks/>
              </p:cNvCxnSpPr>
              <p:nvPr/>
            </p:nvCxnSpPr>
            <p:spPr>
              <a:xfrm>
                <a:off x="8813792" y="2828924"/>
                <a:ext cx="0" cy="6096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4" name="TextBox 13">
              <a:extLst>
                <a:ext uri="{FF2B5EF4-FFF2-40B4-BE49-F238E27FC236}">
                  <a16:creationId xmlns:a16="http://schemas.microsoft.com/office/drawing/2014/main" id="{A396C061-E10B-A3F0-1622-A800244223D1}"/>
                </a:ext>
              </a:extLst>
            </p:cNvPr>
            <p:cNvSpPr txBox="1"/>
            <p:nvPr/>
          </p:nvSpPr>
          <p:spPr>
            <a:xfrm>
              <a:off x="7224446" y="3209924"/>
              <a:ext cx="805029" cy="369332"/>
            </a:xfrm>
            <a:prstGeom prst="rect">
              <a:avLst/>
            </a:prstGeom>
            <a:noFill/>
          </p:spPr>
          <p:txBody>
            <a:bodyPr wrap="none" rtlCol="0">
              <a:spAutoFit/>
            </a:bodyPr>
            <a:lstStyle/>
            <a:p>
              <a:r>
                <a:rPr lang="en-GB" dirty="0"/>
                <a:t>60 cm</a:t>
              </a:r>
            </a:p>
          </p:txBody>
        </p:sp>
        <p:sp>
          <p:nvSpPr>
            <p:cNvPr id="15" name="TextBox 14">
              <a:extLst>
                <a:ext uri="{FF2B5EF4-FFF2-40B4-BE49-F238E27FC236}">
                  <a16:creationId xmlns:a16="http://schemas.microsoft.com/office/drawing/2014/main" id="{7EBCDCC3-7E74-165D-152E-D1B6685E7236}"/>
                </a:ext>
              </a:extLst>
            </p:cNvPr>
            <p:cNvSpPr txBox="1"/>
            <p:nvPr/>
          </p:nvSpPr>
          <p:spPr>
            <a:xfrm>
              <a:off x="7960252" y="2586036"/>
              <a:ext cx="800219" cy="369332"/>
            </a:xfrm>
            <a:prstGeom prst="rect">
              <a:avLst/>
            </a:prstGeom>
            <a:noFill/>
          </p:spPr>
          <p:txBody>
            <a:bodyPr wrap="none" rtlCol="0">
              <a:spAutoFit/>
            </a:bodyPr>
            <a:lstStyle/>
            <a:p>
              <a:r>
                <a:rPr lang="en-GB" dirty="0"/>
                <a:t>75 cm</a:t>
              </a:r>
            </a:p>
          </p:txBody>
        </p:sp>
      </p:grpSp>
      <p:grpSp>
        <p:nvGrpSpPr>
          <p:cNvPr id="22" name="Group 21">
            <a:extLst>
              <a:ext uri="{FF2B5EF4-FFF2-40B4-BE49-F238E27FC236}">
                <a16:creationId xmlns:a16="http://schemas.microsoft.com/office/drawing/2014/main" id="{370ED1FA-6CB6-A95B-FEE9-B71807E156B7}"/>
              </a:ext>
            </a:extLst>
          </p:cNvPr>
          <p:cNvGrpSpPr/>
          <p:nvPr/>
        </p:nvGrpSpPr>
        <p:grpSpPr>
          <a:xfrm>
            <a:off x="7224446" y="4038600"/>
            <a:ext cx="1419104" cy="827723"/>
            <a:chOff x="7224446" y="4038600"/>
            <a:chExt cx="1419104" cy="827723"/>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312337-D6A3-0400-FB61-82A4D45EB581}"/>
                    </a:ext>
                  </a:extLst>
                </p:cNvPr>
                <p:cNvSpPr txBox="1"/>
                <p:nvPr/>
              </p:nvSpPr>
              <p:spPr>
                <a:xfrm>
                  <a:off x="7224446" y="4457700"/>
                  <a:ext cx="141910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=50 </m:t>
                        </m:r>
                        <m:r>
                          <a:rPr lang="en-GB" b="0" i="1" smtClean="0">
                            <a:latin typeface="Cambria Math" panose="02040503050406030204" pitchFamily="18" charset="0"/>
                          </a:rPr>
                          <m:t>𝑐𝑚</m:t>
                        </m:r>
                      </m:oMath>
                    </m:oMathPara>
                  </a14:m>
                  <a:endParaRPr lang="en-GB" dirty="0"/>
                </a:p>
              </p:txBody>
            </p:sp>
          </mc:Choice>
          <mc:Fallback xmlns="">
            <p:sp>
              <p:nvSpPr>
                <p:cNvPr id="17" name="TextBox 16">
                  <a:extLst>
                    <a:ext uri="{FF2B5EF4-FFF2-40B4-BE49-F238E27FC236}">
                      <a16:creationId xmlns:a16="http://schemas.microsoft.com/office/drawing/2014/main" id="{30312337-D6A3-0400-FB61-82A4D45EB581}"/>
                    </a:ext>
                  </a:extLst>
                </p:cNvPr>
                <p:cNvSpPr txBox="1">
                  <a:spLocks noRot="1" noChangeAspect="1" noMove="1" noResize="1" noEditPoints="1" noAdjustHandles="1" noChangeArrowheads="1" noChangeShapeType="1" noTextEdit="1"/>
                </p:cNvSpPr>
                <p:nvPr/>
              </p:nvSpPr>
              <p:spPr>
                <a:xfrm>
                  <a:off x="7224446" y="4457700"/>
                  <a:ext cx="1419104" cy="408623"/>
                </a:xfrm>
                <a:prstGeom prst="roundRect">
                  <a:avLst/>
                </a:prstGeom>
                <a:blipFill>
                  <a:blip r:embed="rId5"/>
                  <a:stretch>
                    <a:fillRect b="-8696"/>
                  </a:stretch>
                </a:blipFill>
                <a:ln>
                  <a:solidFill>
                    <a:schemeClr val="tx1"/>
                  </a:solidFill>
                </a:ln>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0501A8BB-F5D5-E584-2862-42C465BCFFC3}"/>
                </a:ext>
              </a:extLst>
            </p:cNvPr>
            <p:cNvCxnSpPr>
              <a:cxnSpLocks/>
              <a:stCxn id="17" idx="0"/>
            </p:cNvCxnSpPr>
            <p:nvPr/>
          </p:nvCxnSpPr>
          <p:spPr>
            <a:xfrm flipH="1" flipV="1">
              <a:off x="7277100" y="4038600"/>
              <a:ext cx="656898"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65DF04FE-34F0-1B0E-1FB4-EE4F49948342}"/>
              </a:ext>
            </a:extLst>
          </p:cNvPr>
          <p:cNvGrpSpPr/>
          <p:nvPr/>
        </p:nvGrpSpPr>
        <p:grpSpPr>
          <a:xfrm>
            <a:off x="8820936" y="3092450"/>
            <a:ext cx="2726094" cy="408623"/>
            <a:chOff x="6852436" y="4457700"/>
            <a:chExt cx="2726094" cy="408623"/>
          </a:xfrm>
        </p:grpSpPr>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35CFEDA-ED20-E445-A01A-CD8908C9AEF7}"/>
                    </a:ext>
                  </a:extLst>
                </p:cNvPr>
                <p:cNvSpPr txBox="1"/>
                <p:nvPr/>
              </p:nvSpPr>
              <p:spPr>
                <a:xfrm>
                  <a:off x="7224446" y="4457700"/>
                  <a:ext cx="235408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=15 </m:t>
                        </m:r>
                        <m:r>
                          <a:rPr lang="en-GB" b="0" i="1" smtClean="0">
                            <a:latin typeface="Cambria Math" panose="02040503050406030204" pitchFamily="18" charset="0"/>
                          </a:rPr>
                          <m:t>𝑐𝑚</m:t>
                        </m:r>
                        <m:r>
                          <a:rPr lang="en-GB" b="0" i="1" smtClean="0">
                            <a:latin typeface="Cambria Math" panose="02040503050406030204" pitchFamily="18" charset="0"/>
                          </a:rPr>
                          <m:t> </m:t>
                        </m:r>
                        <m:r>
                          <a:rPr lang="en-GB" b="0" i="1" smtClean="0">
                            <a:latin typeface="Cambria Math" panose="02040503050406030204" pitchFamily="18" charset="0"/>
                          </a:rPr>
                          <m:t>𝑝𝑒𝑟</m:t>
                        </m:r>
                        <m:r>
                          <a:rPr lang="en-GB" b="0" i="1" smtClean="0">
                            <a:latin typeface="Cambria Math" panose="02040503050406030204" pitchFamily="18" charset="0"/>
                          </a:rPr>
                          <m:t> </m:t>
                        </m:r>
                        <m:r>
                          <a:rPr lang="en-GB" b="0" i="1" smtClean="0">
                            <a:latin typeface="Cambria Math" panose="02040503050406030204" pitchFamily="18" charset="0"/>
                          </a:rPr>
                          <m:t>𝑦𝑒𝑎𝑟</m:t>
                        </m:r>
                      </m:oMath>
                    </m:oMathPara>
                  </a14:m>
                  <a:endParaRPr lang="en-GB" dirty="0"/>
                </a:p>
              </p:txBody>
            </p:sp>
          </mc:Choice>
          <mc:Fallback xmlns="">
            <p:sp>
              <p:nvSpPr>
                <p:cNvPr id="24" name="TextBox 23">
                  <a:extLst>
                    <a:ext uri="{FF2B5EF4-FFF2-40B4-BE49-F238E27FC236}">
                      <a16:creationId xmlns:a16="http://schemas.microsoft.com/office/drawing/2014/main" id="{335CFEDA-ED20-E445-A01A-CD8908C9AEF7}"/>
                    </a:ext>
                  </a:extLst>
                </p:cNvPr>
                <p:cNvSpPr txBox="1">
                  <a:spLocks noRot="1" noChangeAspect="1" noMove="1" noResize="1" noEditPoints="1" noAdjustHandles="1" noChangeArrowheads="1" noChangeShapeType="1" noTextEdit="1"/>
                </p:cNvSpPr>
                <p:nvPr/>
              </p:nvSpPr>
              <p:spPr>
                <a:xfrm>
                  <a:off x="7224446" y="4457700"/>
                  <a:ext cx="2354084" cy="408623"/>
                </a:xfrm>
                <a:prstGeom prst="roundRect">
                  <a:avLst/>
                </a:prstGeom>
                <a:blipFill>
                  <a:blip r:embed="rId6"/>
                  <a:stretch>
                    <a:fillRect b="-8696"/>
                  </a:stretch>
                </a:blipFill>
                <a:ln>
                  <a:solidFill>
                    <a:schemeClr val="tx1"/>
                  </a:solidFill>
                </a:ln>
              </p:spPr>
              <p:txBody>
                <a:bodyPr/>
                <a:lstStyle/>
                <a:p>
                  <a:r>
                    <a:rPr lang="en-GB">
                      <a:noFill/>
                    </a:rPr>
                    <a:t> </a:t>
                  </a:r>
                </a:p>
              </p:txBody>
            </p:sp>
          </mc:Fallback>
        </mc:AlternateContent>
        <p:cxnSp>
          <p:nvCxnSpPr>
            <p:cNvPr id="25" name="Straight Arrow Connector 24">
              <a:extLst>
                <a:ext uri="{FF2B5EF4-FFF2-40B4-BE49-F238E27FC236}">
                  <a16:creationId xmlns:a16="http://schemas.microsoft.com/office/drawing/2014/main" id="{72DC8461-890C-125A-0DEA-69EE7DC8FF1C}"/>
                </a:ext>
              </a:extLst>
            </p:cNvPr>
            <p:cNvCxnSpPr>
              <a:cxnSpLocks/>
              <a:stCxn id="24" idx="1"/>
            </p:cNvCxnSpPr>
            <p:nvPr/>
          </p:nvCxnSpPr>
          <p:spPr>
            <a:xfrm flipH="1" flipV="1">
              <a:off x="6852436" y="4662011"/>
              <a:ext cx="372010"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9280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500"/>
                                        <p:tgtEl>
                                          <p:spTgt spid="6"/>
                                        </p:tgtEl>
                                      </p:cBhvr>
                                    </p:animEffect>
                                    <p:set>
                                      <p:cBhvr>
                                        <p:cTn id="15" dur="1" fill="hold">
                                          <p:stCondLst>
                                            <p:cond delay="499"/>
                                          </p:stCondLst>
                                        </p:cTn>
                                        <p:tgtEl>
                                          <p:spTgt spid="6"/>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3" descr="A graph on a black background&#10;&#10;Description automatically generated">
            <a:extLst>
              <a:ext uri="{FF2B5EF4-FFF2-40B4-BE49-F238E27FC236}">
                <a16:creationId xmlns:a16="http://schemas.microsoft.com/office/drawing/2014/main" id="{C6297912-0DFD-DFEF-A104-EDD92478DCB0}"/>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pic>
        <p:nvPicPr>
          <p:cNvPr id="5" name="Picture 4" descr="A graph on a black background&#10;&#10;Description automatically generated">
            <a:extLst>
              <a:ext uri="{FF2B5EF4-FFF2-40B4-BE49-F238E27FC236}">
                <a16:creationId xmlns:a16="http://schemas.microsoft.com/office/drawing/2014/main" id="{46393835-4293-53C4-A8D6-3B3D6B69A7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379" y="0"/>
            <a:ext cx="5751871"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More realism</a:t>
            </a:r>
          </a:p>
        </p:txBody>
      </p:sp>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The real world is not perfect</a:t>
            </a:r>
          </a:p>
          <a:p>
            <a:r>
              <a:rPr lang="en-GB" dirty="0"/>
              <a:t>Our predictions (i.e. the line) are never perfect</a:t>
            </a:r>
          </a:p>
          <a:p>
            <a:r>
              <a:rPr lang="en-GB" dirty="0"/>
              <a:t>Even the same individuals have variation</a:t>
            </a:r>
          </a:p>
          <a:p>
            <a:pPr lvl="1"/>
            <a:r>
              <a:rPr lang="en-GB" dirty="0"/>
              <a:t>E.g. growth spurts</a:t>
            </a:r>
          </a:p>
          <a:p>
            <a:r>
              <a:rPr lang="en-GB" dirty="0"/>
              <a:t>Different individuals are not the same</a:t>
            </a:r>
          </a:p>
          <a:p>
            <a:pPr lvl="1"/>
            <a:r>
              <a:rPr lang="en-GB" dirty="0"/>
              <a:t>And can vary in their own way</a:t>
            </a:r>
          </a:p>
          <a:p>
            <a:r>
              <a:rPr lang="en-GB" dirty="0"/>
              <a:t>But we want to describe the general relationship</a:t>
            </a:r>
          </a:p>
        </p:txBody>
      </p:sp>
      <p:pic>
        <p:nvPicPr>
          <p:cNvPr id="11" name="Picture Placeholder 10" descr="A graph of colored lines and dots&#10;&#10;Description automatically generated">
            <a:extLst>
              <a:ext uri="{FF2B5EF4-FFF2-40B4-BE49-F238E27FC236}">
                <a16:creationId xmlns:a16="http://schemas.microsoft.com/office/drawing/2014/main" id="{B6DBCCFB-83B6-63F8-D3B6-CB4979DA3DAF}"/>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1962319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xit" presetSubtype="0" fill="hold" nodeType="withEffect">
                                  <p:stCondLst>
                                    <p:cond delay="0"/>
                                  </p:stCondLst>
                                  <p:childTnLst>
                                    <p:animEffect transition="out" filter="fade">
                                      <p:cBhvr>
                                        <p:cTn id="17" dur="500"/>
                                        <p:tgtEl>
                                          <p:spTgt spid="5"/>
                                        </p:tgtEl>
                                      </p:cBhvr>
                                    </p:animEffect>
                                    <p:set>
                                      <p:cBhvr>
                                        <p:cTn id="18" dur="1" fill="hold">
                                          <p:stCondLst>
                                            <p:cond delay="499"/>
                                          </p:stCondLst>
                                        </p:cTn>
                                        <p:tgtEl>
                                          <p:spTgt spid="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0" descr="A graph of colored lines and dots&#10;&#10;Description automatically generated">
            <a:extLst>
              <a:ext uri="{FF2B5EF4-FFF2-40B4-BE49-F238E27FC236}">
                <a16:creationId xmlns:a16="http://schemas.microsoft.com/office/drawing/2014/main" id="{1E43AFBF-7971-A7BC-7B0A-928C083F0B3E}"/>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What stats does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normAutofit lnSpcReduction="10000"/>
              </a:bodyPr>
              <a:lstStyle/>
              <a:p>
                <a:r>
                  <a:rPr lang="en-GB" dirty="0"/>
                  <a:t>Statistics not only deals with variation but incorporates it</a:t>
                </a:r>
              </a:p>
              <a:p>
                <a:r>
                  <a:rPr lang="en-GB" dirty="0"/>
                  <a:t>Cuts through the noise to show signal</a:t>
                </a:r>
              </a:p>
              <a:p>
                <a:r>
                  <a:rPr lang="en-GB" dirty="0"/>
                  <a:t>Ideally, finds the relationship we want to understand</a:t>
                </a:r>
              </a:p>
              <a:p>
                <a:r>
                  <a:rPr lang="en-GB" dirty="0"/>
                  <a:t>Here:</a:t>
                </a:r>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e>
                    </m:acc>
                    <m:r>
                      <a:rPr lang="en-GB" b="0" i="1" dirty="0" smtClean="0">
                        <a:latin typeface="Cambria Math" panose="02040503050406030204" pitchFamily="18" charset="0"/>
                      </a:rPr>
                      <m:t>=36.5 </m:t>
                    </m:r>
                    <m:r>
                      <a:rPr lang="en-GB" b="0" i="1" dirty="0" smtClean="0">
                        <a:latin typeface="Cambria Math" panose="02040503050406030204" pitchFamily="18" charset="0"/>
                      </a:rPr>
                      <m:t>𝑐𝑚</m:t>
                    </m:r>
                  </m:oMath>
                </a14:m>
                <a:endParaRPr lang="en-GB" dirty="0"/>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e>
                    </m:acc>
                    <m:r>
                      <a:rPr lang="en-GB" b="0" i="1" dirty="0" smtClean="0">
                        <a:latin typeface="Cambria Math" panose="02040503050406030204" pitchFamily="18" charset="0"/>
                      </a:rPr>
                      <m:t>=14.8 </m:t>
                    </m:r>
                    <m:r>
                      <a:rPr lang="en-GB" b="0" i="1" dirty="0" smtClean="0">
                        <a:latin typeface="Cambria Math" panose="02040503050406030204" pitchFamily="18" charset="0"/>
                      </a:rPr>
                      <m:t>𝑐𝑚</m:t>
                    </m:r>
                    <m:r>
                      <a:rPr lang="en-GB" b="0" i="1" dirty="0" smtClean="0">
                        <a:latin typeface="Cambria Math" panose="02040503050406030204" pitchFamily="18" charset="0"/>
                      </a:rPr>
                      <m:t> </m:t>
                    </m:r>
                    <m:r>
                      <a:rPr lang="en-GB" b="0" i="1" dirty="0" smtClean="0">
                        <a:latin typeface="Cambria Math" panose="02040503050406030204" pitchFamily="18" charset="0"/>
                      </a:rPr>
                      <m:t>𝑝𝑒𝑟</m:t>
                    </m:r>
                    <m:r>
                      <a:rPr lang="en-GB" b="0" i="1" dirty="0" smtClean="0">
                        <a:latin typeface="Cambria Math" panose="02040503050406030204" pitchFamily="18" charset="0"/>
                      </a:rPr>
                      <m:t> </m:t>
                    </m:r>
                    <m:r>
                      <a:rPr lang="en-GB" b="0" i="1" dirty="0" smtClean="0">
                        <a:latin typeface="Cambria Math" panose="02040503050406030204" pitchFamily="18" charset="0"/>
                      </a:rPr>
                      <m:t>𝑦𝑒𝑎𝑟</m:t>
                    </m:r>
                  </m:oMath>
                </a14:m>
                <a:endParaRPr lang="en-GB" dirty="0"/>
              </a:p>
              <a:p>
                <a:r>
                  <a:rPr lang="en-GB" dirty="0"/>
                  <a:t>We now have a mean that </a:t>
                </a:r>
                <a:r>
                  <a:rPr lang="en-GB" i="1" dirty="0"/>
                  <a:t>changes</a:t>
                </a:r>
                <a:r>
                  <a:rPr lang="en-GB" dirty="0"/>
                  <a:t> according to </a:t>
                </a:r>
                <a14:m>
                  <m:oMath xmlns:m="http://schemas.openxmlformats.org/officeDocument/2006/math">
                    <m:r>
                      <a:rPr lang="en-GB" b="0" i="1" smtClean="0">
                        <a:latin typeface="Cambria Math" panose="02040503050406030204" pitchFamily="18" charset="0"/>
                      </a:rPr>
                      <m:t>𝑋</m:t>
                    </m:r>
                  </m:oMath>
                </a14:m>
                <a:endParaRPr lang="en-GB" b="0" dirty="0"/>
              </a:p>
              <a:p>
                <a:pPr lvl="1"/>
                <a:r>
                  <a:rPr lang="en-GB" dirty="0"/>
                  <a:t>I.e. We don’t have a single average</a:t>
                </a:r>
              </a:p>
            </p:txBody>
          </p:sp>
        </mc:Choice>
        <mc:Fallback xmlns="">
          <p:sp>
            <p:nvSpPr>
              <p:cNvPr id="3" name="Content Placeholder 2">
                <a:extLst>
                  <a:ext uri="{FF2B5EF4-FFF2-40B4-BE49-F238E27FC236}">
                    <a16:creationId xmlns:a16="http://schemas.microsoft.com/office/drawing/2014/main" id="{011D306B-AC60-2F57-8CD4-AC4058FEC16D}"/>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729A6A9F-D9A3-A782-7CFC-2F72A1EE29B7}"/>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606309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fade">
                                      <p:cBhvr>
                                        <p:cTn id="33" dur="500"/>
                                        <p:tgtEl>
                                          <p:spTgt spid="3">
                                            <p:txEl>
                                              <p:pRg st="6" end="6"/>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par>
                                <p:cTn id="37" presetID="10" presetClass="entr" presetSubtype="0" fill="hold" nodeType="withEffect">
                                  <p:stCondLst>
                                    <p:cond delay="0"/>
                                  </p:stCondLst>
                                  <p:childTnLst>
                                    <p:set>
                                      <p:cBhvr>
                                        <p:cTn id="38" dur="1" fill="hold">
                                          <p:stCondLst>
                                            <p:cond delay="0"/>
                                          </p:stCondLst>
                                        </p:cTn>
                                        <p:tgtEl>
                                          <p:spTgt spid="7"/>
                                        </p:tgtEl>
                                        <p:attrNameLst>
                                          <p:attrName>style.visibility</p:attrName>
                                        </p:attrNameLst>
                                      </p:cBhvr>
                                      <p:to>
                                        <p:strVal val="visible"/>
                                      </p:to>
                                    </p:set>
                                    <p:animEffect transition="in" filter="fade">
                                      <p:cBhvr>
                                        <p:cTn id="3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What about variation?</a:t>
            </a:r>
          </a:p>
        </p:txBody>
      </p:sp>
    </p:spTree>
    <p:extLst>
      <p:ext uri="{BB962C8B-B14F-4D97-AF65-F5344CB8AC3E}">
        <p14:creationId xmlns:p14="http://schemas.microsoft.com/office/powerpoint/2010/main" val="425743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aph with numbers and lines&#10;&#10;Description automatically generated">
            <a:extLst>
              <a:ext uri="{FF2B5EF4-FFF2-40B4-BE49-F238E27FC236}">
                <a16:creationId xmlns:a16="http://schemas.microsoft.com/office/drawing/2014/main" id="{050C648A-3582-0B08-839F-8FE8F0E05038}"/>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6359525" y="0"/>
            <a:ext cx="5832475" cy="6858000"/>
          </a:xfrm>
        </p:spPr>
      </p:pic>
      <p:pic>
        <p:nvPicPr>
          <p:cNvPr id="8" name="Picture 7" descr="A graph of a graph&#10;&#10;Description automatically generated with medium confidence">
            <a:extLst>
              <a:ext uri="{FF2B5EF4-FFF2-40B4-BE49-F238E27FC236}">
                <a16:creationId xmlns:a16="http://schemas.microsoft.com/office/drawing/2014/main" id="{9800546A-6430-139A-4643-ACEB668C67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Variation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a:bodyPr>
              <a:lstStyle/>
              <a:p>
                <a:r>
                  <a:rPr lang="en-GB" dirty="0"/>
                  <a:t>Distributions are how models deal with “randomness”</a:t>
                </a:r>
              </a:p>
              <a:p>
                <a:r>
                  <a:rPr lang="en-GB" dirty="0"/>
                  <a:t>They “control” randomness so that it behaves in a way that is “sensible”</a:t>
                </a:r>
              </a:p>
              <a:p>
                <a:r>
                  <a:rPr lang="en-GB" dirty="0"/>
                  <a:t>The simplest distribution is: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𝑈𝑛𝑖𝑓𝑜𝑟𝑚</m:t>
                      </m:r>
                      <m:r>
                        <a:rPr lang="en-GB" b="0" i="1" smtClean="0">
                          <a:latin typeface="Cambria Math" panose="02040503050406030204" pitchFamily="18" charset="0"/>
                        </a:rPr>
                        <m:t>(0, 100)</m:t>
                      </m:r>
                    </m:oMath>
                  </m:oMathPara>
                </a14:m>
                <a:endParaRPr lang="en-GB" dirty="0"/>
              </a:p>
              <a:p>
                <a:r>
                  <a:rPr lang="en-GB" dirty="0"/>
                  <a:t>Which says that all values are equally likely within the range 0 to 100</a:t>
                </a:r>
              </a:p>
              <a:p>
                <a:r>
                  <a:rPr lang="en-GB" dirty="0"/>
                  <a:t>But the </a:t>
                </a:r>
                <a14:m>
                  <m:oMath xmlns:m="http://schemas.openxmlformats.org/officeDocument/2006/math">
                    <m:r>
                      <a:rPr lang="en-GB" b="0" i="1" smtClean="0">
                        <a:latin typeface="Cambria Math" panose="02040503050406030204" pitchFamily="18" charset="0"/>
                      </a:rPr>
                      <m:t>𝑈𝑛𝑖𝑓𝑜𝑟𝑚</m:t>
                    </m:r>
                  </m:oMath>
                </a14:m>
                <a:r>
                  <a:rPr lang="en-GB" dirty="0"/>
                  <a:t> distribution is so simplistic that it’s not very useful</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4"/>
                <a:stretch>
                  <a:fillRect l="-1770" r="-2753"/>
                </a:stretch>
              </a:blipFill>
            </p:spPr>
            <p:txBody>
              <a:bodyPr/>
              <a:lstStyle/>
              <a:p>
                <a:r>
                  <a:rPr lang="en-GB">
                    <a:noFill/>
                  </a:rPr>
                  <a:t> </a:t>
                </a:r>
              </a:p>
            </p:txBody>
          </p:sp>
        </mc:Fallback>
      </mc:AlternateContent>
    </p:spTree>
    <p:extLst>
      <p:ext uri="{BB962C8B-B14F-4D97-AF65-F5344CB8AC3E}">
        <p14:creationId xmlns:p14="http://schemas.microsoft.com/office/powerpoint/2010/main" val="3892431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Effect transition="in" filter="fade">
                                      <p:cBhvr>
                                        <p:cTn id="3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7FA9060-4F21-B2A4-1671-0B35F636A931}"/>
                  </a:ext>
                </a:extLst>
              </p:cNvPr>
              <p:cNvSpPr>
                <a:spLocks noGrp="1"/>
              </p:cNvSpPr>
              <p:nvPr>
                <p:ph type="title"/>
              </p:nvPr>
            </p:nvSpPr>
            <p:spPr/>
            <p:txBody>
              <a:bodyPr/>
              <a:lstStyle/>
              <a:p>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D7FA9060-4F21-B2A4-1671-0B35F636A931}"/>
                  </a:ext>
                </a:extLst>
              </p:cNvPr>
              <p:cNvSpPr>
                <a:spLocks noGrp="1" noRot="1" noChangeAspect="1" noMove="1" noResize="1" noEditPoints="1" noAdjustHandles="1" noChangeArrowheads="1" noChangeShapeType="1" noTextEdit="1"/>
              </p:cNvSpPr>
              <p:nvPr>
                <p:ph type="title"/>
              </p:nvPr>
            </p:nvSpPr>
            <p:spPr>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EB07E2-6BEB-A664-6F4B-51601FB3FA0C}"/>
                  </a:ext>
                </a:extLst>
              </p:cNvPr>
              <p:cNvSpPr>
                <a:spLocks noGrp="1"/>
              </p:cNvSpPr>
              <p:nvPr>
                <p:ph idx="1"/>
              </p:nvPr>
            </p:nvSpPr>
            <p:spPr/>
            <p:txBody>
              <a:bodyPr/>
              <a:lstStyle/>
              <a:p>
                <a:r>
                  <a:rPr lang="en-GB" dirty="0"/>
                  <a:t>Called “Normal” because of how common it is in nature</a:t>
                </a:r>
              </a:p>
              <a:p>
                <a:pPr lvl="1"/>
                <a:r>
                  <a:rPr lang="en-GB" dirty="0"/>
                  <a:t>Sometimes called </a:t>
                </a:r>
                <a14:m>
                  <m:oMath xmlns:m="http://schemas.openxmlformats.org/officeDocument/2006/math">
                    <m:r>
                      <a:rPr lang="en-GB" b="0" i="1" smtClean="0">
                        <a:latin typeface="Cambria Math" panose="02040503050406030204" pitchFamily="18" charset="0"/>
                      </a:rPr>
                      <m:t>𝐺𝑢𝑎𝑠𝑠𝑖𝑎𝑛</m:t>
                    </m:r>
                  </m:oMath>
                </a14:m>
                <a:endParaRPr lang="en-GB" dirty="0"/>
              </a:p>
              <a:p>
                <a:r>
                  <a:rPr lang="en-GB" dirty="0"/>
                  <a:t>Described with two bits of information</a:t>
                </a:r>
              </a:p>
              <a:p>
                <a:pPr lvl="1"/>
                <a:r>
                  <a:rPr lang="en-GB" dirty="0"/>
                  <a:t>The mean (</a:t>
                </a:r>
                <a14:m>
                  <m:oMath xmlns:m="http://schemas.openxmlformats.org/officeDocument/2006/math">
                    <m:r>
                      <a:rPr lang="en-GB" b="0" i="1" smtClean="0">
                        <a:latin typeface="Cambria Math" panose="02040503050406030204" pitchFamily="18" charset="0"/>
                      </a:rPr>
                      <m:t>𝜇</m:t>
                    </m:r>
                  </m:oMath>
                </a14:m>
                <a:r>
                  <a:rPr lang="en-GB" dirty="0"/>
                  <a:t>)</a:t>
                </a:r>
              </a:p>
              <a:p>
                <a:pPr lvl="1"/>
                <a:r>
                  <a:rPr lang="en-GB" dirty="0"/>
                  <a:t>And the standard deviation (</a:t>
                </a:r>
                <a14:m>
                  <m:oMath xmlns:m="http://schemas.openxmlformats.org/officeDocument/2006/math">
                    <m:r>
                      <a:rPr lang="en-GB" b="0" i="1" smtClean="0">
                        <a:latin typeface="Cambria Math" panose="02040503050406030204" pitchFamily="18" charset="0"/>
                      </a:rPr>
                      <m:t>𝜎</m:t>
                    </m:r>
                  </m:oMath>
                </a14:m>
                <a:r>
                  <a:rPr lang="en-GB" dirty="0"/>
                  <a:t>)</a:t>
                </a:r>
              </a:p>
              <a:p>
                <a:r>
                  <a:rPr lang="en-GB" dirty="0"/>
                  <a:t>We just need to figure out which values for mean (and standard deviation) work best with our data</a:t>
                </a:r>
              </a:p>
            </p:txBody>
          </p:sp>
        </mc:Choice>
        <mc:Fallback xmlns="">
          <p:sp>
            <p:nvSpPr>
              <p:cNvPr id="3" name="Content Placeholder 2">
                <a:extLst>
                  <a:ext uri="{FF2B5EF4-FFF2-40B4-BE49-F238E27FC236}">
                    <a16:creationId xmlns:a16="http://schemas.microsoft.com/office/drawing/2014/main" id="{7EEB07E2-6BEB-A664-6F4B-51601FB3FA0C}"/>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10" name="Picture Placeholder 9" descr="A graph on a screen&#10;&#10;Description automatically generated">
            <a:extLst>
              <a:ext uri="{FF2B5EF4-FFF2-40B4-BE49-F238E27FC236}">
                <a16:creationId xmlns:a16="http://schemas.microsoft.com/office/drawing/2014/main" id="{C0A33617-3885-B84B-18F1-9E2406D5C8D8}"/>
              </a:ext>
            </a:extLst>
          </p:cNvPr>
          <p:cNvPicPr>
            <a:picLocks noGrp="1" noChangeAspect="1"/>
          </p:cNvPicPr>
          <p:nvPr>
            <p:ph type="pic" sz="quarter" idx="10"/>
          </p:nvPr>
        </p:nvPicPr>
        <p:blipFill rotWithShape="1">
          <a:blip r:embed="rId4">
            <a:extLst>
              <a:ext uri="{28A0092B-C50C-407E-A947-70E740481C1C}">
                <a14:useLocalDpi xmlns:a14="http://schemas.microsoft.com/office/drawing/2010/main" val="0"/>
              </a:ext>
            </a:extLst>
          </a:blip>
          <a:srcRect/>
          <a:stretch/>
        </p:blipFill>
        <p:spPr>
          <a:xfrm>
            <a:off x="6359525" y="0"/>
            <a:ext cx="5832475" cy="6858000"/>
          </a:xfrm>
        </p:spPr>
      </p:pic>
      <p:pic>
        <p:nvPicPr>
          <p:cNvPr id="12" name="Picture 11" descr="A graph on a screen&#10;&#10;Description automatically generated">
            <a:extLst>
              <a:ext uri="{FF2B5EF4-FFF2-40B4-BE49-F238E27FC236}">
                <a16:creationId xmlns:a16="http://schemas.microsoft.com/office/drawing/2014/main" id="{66F768E7-A45F-3998-6D31-5C6DBD0F40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pic>
        <p:nvPicPr>
          <p:cNvPr id="14" name="Picture 13" descr="A graph of a tall tower&#10;&#10;Description automatically generated with medium confidence">
            <a:extLst>
              <a:ext uri="{FF2B5EF4-FFF2-40B4-BE49-F238E27FC236}">
                <a16:creationId xmlns:a16="http://schemas.microsoft.com/office/drawing/2014/main" id="{8E6D8D33-A1E9-2A54-2231-6727B7838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1937219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Our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lnSpcReduction="10000"/>
              </a:bodyPr>
              <a:lstStyle/>
              <a:p>
                <a:r>
                  <a:rPr lang="en-GB" dirty="0"/>
                  <a:t>Previously we wrote:</a:t>
                </a:r>
              </a:p>
              <a:p>
                <a:pPr marL="457200" lvl="1"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𝐻𝑒𝑖𝑔h𝑡</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𝐴𝑔𝑒</m:t>
                          </m:r>
                        </m:e>
                        <m:sub>
                          <m:r>
                            <a:rPr lang="en-GB" i="1">
                              <a:latin typeface="Cambria Math" panose="02040503050406030204" pitchFamily="18" charset="0"/>
                            </a:rPr>
                            <m:t>𝑖</m:t>
                          </m:r>
                        </m:sub>
                      </m:sSub>
                    </m:oMath>
                  </m:oMathPara>
                </a14:m>
                <a:endParaRPr lang="en-GB" dirty="0"/>
              </a:p>
              <a:p>
                <a:endParaRPr lang="en-GB" dirty="0"/>
              </a:p>
              <a:p>
                <a:r>
                  <a:rPr lang="en-GB" dirty="0"/>
                  <a:t>More formally, we’d write: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m:oMathPara>
                </a14:m>
                <a:endParaRPr lang="en-GB" dirty="0"/>
              </a:p>
              <a:p>
                <a:pPr marL="0" indent="0">
                  <a:buNone/>
                </a:pPr>
                <a:r>
                  <a:rPr lang="en-GB" sz="1400" dirty="0"/>
                  <a:t>Where:</a:t>
                </a:r>
              </a:p>
              <a:p>
                <a14:m>
                  <m:oMath xmlns:m="http://schemas.openxmlformats.org/officeDocument/2006/math">
                    <m:r>
                      <a:rPr lang="en-GB" sz="1400" b="0" i="1" smtClean="0">
                        <a:latin typeface="Cambria Math" panose="02040503050406030204" pitchFamily="18" charset="0"/>
                      </a:rPr>
                      <m:t>𝐻𝑒𝑖𝑔h</m:t>
                    </m:r>
                    <m:sSub>
                      <m:sSubPr>
                        <m:ctrlPr>
                          <a:rPr lang="en-GB" sz="1400" b="0" i="1" smtClean="0">
                            <a:latin typeface="Cambria Math" panose="02040503050406030204" pitchFamily="18" charset="0"/>
                          </a:rPr>
                        </m:ctrlPr>
                      </m:sSubPr>
                      <m:e>
                        <m:r>
                          <a:rPr lang="en-GB" sz="1400" b="0" i="1" smtClean="0">
                            <a:latin typeface="Cambria Math" panose="02040503050406030204" pitchFamily="18" charset="0"/>
                          </a:rPr>
                          <m:t>𝑡</m:t>
                        </m:r>
                      </m:e>
                      <m:sub>
                        <m:r>
                          <a:rPr lang="en-GB" sz="1400" b="0" i="1" smtClean="0">
                            <a:latin typeface="Cambria Math" panose="02040503050406030204" pitchFamily="18" charset="0"/>
                          </a:rPr>
                          <m:t>𝑖</m:t>
                        </m:r>
                      </m:sub>
                    </m:sSub>
                  </m:oMath>
                </a14:m>
                <a:r>
                  <a:rPr lang="en-GB" sz="1400" dirty="0"/>
                  <a:t> is the height of child </a:t>
                </a:r>
                <a14:m>
                  <m:oMath xmlns:m="http://schemas.openxmlformats.org/officeDocument/2006/math">
                    <m:r>
                      <a:rPr lang="en-GB" sz="1400" b="0" i="1" smtClean="0">
                        <a:latin typeface="Cambria Math" panose="02040503050406030204" pitchFamily="18" charset="0"/>
                      </a:rPr>
                      <m:t>𝑖</m:t>
                    </m:r>
                  </m:oMath>
                </a14:m>
                <a:endParaRPr lang="en-GB" sz="1400" dirty="0"/>
              </a:p>
              <a:p>
                <a:r>
                  <a:rPr lang="en-GB" sz="1400" b="0" dirty="0"/>
                  <a:t>“</a:t>
                </a:r>
                <a14:m>
                  <m:oMath xmlns:m="http://schemas.openxmlformats.org/officeDocument/2006/math">
                    <m:r>
                      <a:rPr lang="en-GB" sz="1400" b="0" i="1" smtClean="0">
                        <a:latin typeface="Cambria Math" panose="02040503050406030204" pitchFamily="18" charset="0"/>
                      </a:rPr>
                      <m:t>~</m:t>
                    </m:r>
                  </m:oMath>
                </a14:m>
                <a:r>
                  <a:rPr lang="en-GB" sz="1400" dirty="0"/>
                  <a:t>” means “generated according to…” or “arises from…”</a:t>
                </a:r>
              </a:p>
              <a:p>
                <a14:m>
                  <m:oMath xmlns:m="http://schemas.openxmlformats.org/officeDocument/2006/math">
                    <m:r>
                      <a:rPr lang="en-GB" sz="1400" b="0" i="1" smtClean="0">
                        <a:latin typeface="Cambria Math" panose="02040503050406030204" pitchFamily="18" charset="0"/>
                      </a:rPr>
                      <m:t>𝑁𝑜𝑟𝑚𝑎𝑙</m:t>
                    </m:r>
                  </m:oMath>
                </a14:m>
                <a:r>
                  <a:rPr lang="en-GB" sz="1400" dirty="0"/>
                  <a:t> is the distribution we assume generated the </a:t>
                </a:r>
                <a14:m>
                  <m:oMath xmlns:m="http://schemas.openxmlformats.org/officeDocument/2006/math">
                    <m:r>
                      <a:rPr lang="en-GB" sz="1400" b="0" i="1" smtClean="0">
                        <a:latin typeface="Cambria Math" panose="02040503050406030204" pitchFamily="18" charset="0"/>
                      </a:rPr>
                      <m:t>𝐻𝑒𝑖𝑔h𝑡</m:t>
                    </m:r>
                  </m:oMath>
                </a14:m>
                <a:r>
                  <a:rPr lang="en-GB" sz="1400" dirty="0"/>
                  <a:t> values</a:t>
                </a:r>
              </a:p>
              <a:p>
                <a14:m>
                  <m:oMath xmlns:m="http://schemas.openxmlformats.org/officeDocument/2006/math">
                    <m:sSub>
                      <m:sSubPr>
                        <m:ctrlPr>
                          <a:rPr lang="en-GB" sz="1400" b="0" i="1" smtClean="0">
                            <a:latin typeface="Cambria Math" panose="02040503050406030204" pitchFamily="18" charset="0"/>
                          </a:rPr>
                        </m:ctrlPr>
                      </m:sSubPr>
                      <m:e>
                        <m:r>
                          <a:rPr lang="en-GB" sz="1400" b="0" i="1" smtClean="0">
                            <a:latin typeface="Cambria Math" panose="02040503050406030204" pitchFamily="18" charset="0"/>
                          </a:rPr>
                          <m:t>𝜇</m:t>
                        </m:r>
                      </m:e>
                      <m:sub>
                        <m:r>
                          <a:rPr lang="en-GB" sz="1400" b="0" i="1" smtClean="0">
                            <a:latin typeface="Cambria Math" panose="02040503050406030204" pitchFamily="18" charset="0"/>
                          </a:rPr>
                          <m:t>𝑖</m:t>
                        </m:r>
                      </m:sub>
                    </m:sSub>
                  </m:oMath>
                </a14:m>
                <a:r>
                  <a:rPr lang="en-GB" sz="1400" dirty="0"/>
                  <a:t> is the average </a:t>
                </a:r>
                <a14:m>
                  <m:oMath xmlns:m="http://schemas.openxmlformats.org/officeDocument/2006/math">
                    <m:r>
                      <a:rPr lang="en-GB" sz="1400" b="0" i="1" smtClean="0">
                        <a:latin typeface="Cambria Math" panose="02040503050406030204" pitchFamily="18" charset="0"/>
                      </a:rPr>
                      <m:t>𝐻𝑒𝑖𝑔h𝑡</m:t>
                    </m:r>
                  </m:oMath>
                </a14:m>
                <a:r>
                  <a:rPr lang="en-GB" sz="1400" dirty="0"/>
                  <a:t> we would expect for child </a:t>
                </a:r>
                <a14:m>
                  <m:oMath xmlns:m="http://schemas.openxmlformats.org/officeDocument/2006/math">
                    <m:r>
                      <a:rPr lang="en-GB" sz="1400" b="0" i="1" smtClean="0">
                        <a:latin typeface="Cambria Math" panose="02040503050406030204" pitchFamily="18" charset="0"/>
                      </a:rPr>
                      <m:t>𝑖</m:t>
                    </m:r>
                  </m:oMath>
                </a14:m>
                <a:endParaRPr lang="en-GB" sz="1400" dirty="0"/>
              </a:p>
              <a:p>
                <a14:m>
                  <m:oMath xmlns:m="http://schemas.openxmlformats.org/officeDocument/2006/math">
                    <m:sSub>
                      <m:sSubPr>
                        <m:ctrlPr>
                          <a:rPr lang="en-GB" sz="1400" b="0" i="1" smtClean="0">
                            <a:latin typeface="Cambria Math" panose="02040503050406030204" pitchFamily="18" charset="0"/>
                          </a:rPr>
                        </m:ctrlPr>
                      </m:sSubPr>
                      <m:e>
                        <m:r>
                          <a:rPr lang="en-GB" sz="1400" b="0" i="1" smtClean="0">
                            <a:latin typeface="Cambria Math" panose="02040503050406030204" pitchFamily="18" charset="0"/>
                          </a:rPr>
                          <m:t>𝜎</m:t>
                        </m:r>
                      </m:e>
                      <m:sub>
                        <m:r>
                          <a:rPr lang="en-GB" sz="1400" b="0" i="1" smtClean="0">
                            <a:latin typeface="Cambria Math" panose="02040503050406030204" pitchFamily="18" charset="0"/>
                          </a:rPr>
                          <m:t>𝑖</m:t>
                        </m:r>
                      </m:sub>
                    </m:sSub>
                  </m:oMath>
                </a14:m>
                <a:r>
                  <a:rPr lang="en-GB" sz="1400" dirty="0"/>
                  <a:t> is the standard deviation in </a:t>
                </a:r>
                <a14:m>
                  <m:oMath xmlns:m="http://schemas.openxmlformats.org/officeDocument/2006/math">
                    <m:r>
                      <a:rPr lang="en-GB" sz="1400" b="0" i="1" smtClean="0">
                        <a:latin typeface="Cambria Math" panose="02040503050406030204" pitchFamily="18" charset="0"/>
                      </a:rPr>
                      <m:t>𝐻𝑒𝑖𝑔h𝑡</m:t>
                    </m:r>
                  </m:oMath>
                </a14:m>
                <a:r>
                  <a:rPr lang="en-GB" sz="1400" dirty="0"/>
                  <a:t> we expect for child </a:t>
                </a:r>
                <a14:m>
                  <m:oMath xmlns:m="http://schemas.openxmlformats.org/officeDocument/2006/math">
                    <m:r>
                      <a:rPr lang="en-GB" sz="1400" b="0" i="1" smtClean="0">
                        <a:latin typeface="Cambria Math" panose="02040503050406030204" pitchFamily="18" charset="0"/>
                      </a:rPr>
                      <m:t>𝑖</m:t>
                    </m:r>
                  </m:oMath>
                </a14:m>
                <a:endParaRPr lang="en-GB" sz="1400" dirty="0"/>
              </a:p>
              <a:p>
                <a:r>
                  <a:rPr lang="en-GB" sz="1400" dirty="0"/>
                  <a:t>Where the average (</a:t>
                </a:r>
                <a14:m>
                  <m:oMath xmlns:m="http://schemas.openxmlformats.org/officeDocument/2006/math">
                    <m:r>
                      <a:rPr lang="en-GB" sz="1400" b="0" i="1" smtClean="0">
                        <a:latin typeface="Cambria Math" panose="02040503050406030204" pitchFamily="18" charset="0"/>
                      </a:rPr>
                      <m:t>𝜇</m:t>
                    </m:r>
                  </m:oMath>
                </a14:m>
                <a:r>
                  <a:rPr lang="en-GB" sz="1400" dirty="0"/>
                  <a:t>) is:</a:t>
                </a:r>
              </a:p>
              <a:p>
                <a:pPr lvl="1"/>
                <a14:m>
                  <m:oMath xmlns:m="http://schemas.openxmlformats.org/officeDocument/2006/math">
                    <m:sSub>
                      <m:sSubPr>
                        <m:ctrlPr>
                          <a:rPr lang="en-GB" sz="1200" b="0" i="1" smtClean="0">
                            <a:latin typeface="Cambria Math" panose="02040503050406030204" pitchFamily="18" charset="0"/>
                          </a:rPr>
                        </m:ctrlPr>
                      </m:sSubPr>
                      <m:e>
                        <m:r>
                          <a:rPr lang="en-GB" sz="1200" b="0" i="1" smtClean="0">
                            <a:latin typeface="Cambria Math" panose="02040503050406030204" pitchFamily="18" charset="0"/>
                          </a:rPr>
                          <m:t>𝛽</m:t>
                        </m:r>
                      </m:e>
                      <m:sub>
                        <m:r>
                          <a:rPr lang="en-GB" sz="1200" b="0" i="1" smtClean="0">
                            <a:latin typeface="Cambria Math" panose="02040503050406030204" pitchFamily="18" charset="0"/>
                          </a:rPr>
                          <m:t>0</m:t>
                        </m:r>
                      </m:sub>
                    </m:sSub>
                  </m:oMath>
                </a14:m>
                <a:r>
                  <a:rPr lang="en-GB" sz="1200" dirty="0"/>
                  <a:t> (height at age 0)</a:t>
                </a:r>
              </a:p>
              <a:p>
                <a:pPr lvl="1"/>
                <a14:m>
                  <m:oMath xmlns:m="http://schemas.openxmlformats.org/officeDocument/2006/math">
                    <m:sSub>
                      <m:sSubPr>
                        <m:ctrlPr>
                          <a:rPr lang="en-GB" sz="1200" b="0" i="1" smtClean="0">
                            <a:latin typeface="Cambria Math" panose="02040503050406030204" pitchFamily="18" charset="0"/>
                          </a:rPr>
                        </m:ctrlPr>
                      </m:sSubPr>
                      <m:e>
                        <m:r>
                          <a:rPr lang="en-GB" sz="1200" b="0" i="1" smtClean="0">
                            <a:latin typeface="Cambria Math" panose="02040503050406030204" pitchFamily="18" charset="0"/>
                          </a:rPr>
                          <m:t>𝛽</m:t>
                        </m:r>
                      </m:e>
                      <m:sub>
                        <m:r>
                          <a:rPr lang="en-GB" sz="1200" b="0" i="1" smtClean="0">
                            <a:latin typeface="Cambria Math" panose="02040503050406030204" pitchFamily="18" charset="0"/>
                          </a:rPr>
                          <m:t>1</m:t>
                        </m:r>
                      </m:sub>
                    </m:sSub>
                  </m:oMath>
                </a14:m>
                <a:r>
                  <a:rPr lang="en-GB" sz="1200" dirty="0"/>
                  <a:t> (how many cm a child grows each year)</a:t>
                </a:r>
              </a:p>
              <a:p>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770" t="-4884" b="-5000"/>
                </a:stretch>
              </a:blipFill>
            </p:spPr>
            <p:txBody>
              <a:bodyPr/>
              <a:lstStyle/>
              <a:p>
                <a:r>
                  <a:rPr lang="en-GB">
                    <a:noFill/>
                  </a:rPr>
                  <a:t> </a:t>
                </a:r>
              </a:p>
            </p:txBody>
          </p:sp>
        </mc:Fallback>
      </mc:AlternateContent>
    </p:spTree>
    <p:extLst>
      <p:ext uri="{BB962C8B-B14F-4D97-AF65-F5344CB8AC3E}">
        <p14:creationId xmlns:p14="http://schemas.microsoft.com/office/powerpoint/2010/main" val="233441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500"/>
                                        <p:tgtEl>
                                          <p:spTgt spid="3">
                                            <p:txEl>
                                              <p:pRg st="5" end="5"/>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fade">
                                      <p:cBhvr>
                                        <p:cTn id="30" dur="500"/>
                                        <p:tgtEl>
                                          <p:spTgt spid="3">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animEffect transition="in" filter="fade">
                                      <p:cBhvr>
                                        <p:cTn id="40" dur="500"/>
                                        <p:tgtEl>
                                          <p:spTgt spid="3">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
                                            <p:txEl>
                                              <p:pRg st="9" end="9"/>
                                            </p:txEl>
                                          </p:spTgt>
                                        </p:tgtEl>
                                        <p:attrNameLst>
                                          <p:attrName>style.visibility</p:attrName>
                                        </p:attrNameLst>
                                      </p:cBhvr>
                                      <p:to>
                                        <p:strVal val="visible"/>
                                      </p:to>
                                    </p:set>
                                    <p:animEffect transition="in" filter="fade">
                                      <p:cBhvr>
                                        <p:cTn id="45" dur="500"/>
                                        <p:tgtEl>
                                          <p:spTgt spid="3">
                                            <p:txEl>
                                              <p:pRg st="9" end="9"/>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
                                            <p:txEl>
                                              <p:pRg st="10" end="10"/>
                                            </p:txEl>
                                          </p:spTgt>
                                        </p:tgtEl>
                                        <p:attrNameLst>
                                          <p:attrName>style.visibility</p:attrName>
                                        </p:attrNameLst>
                                      </p:cBhvr>
                                      <p:to>
                                        <p:strVal val="visible"/>
                                      </p:to>
                                    </p:set>
                                    <p:animEffect transition="in" filter="fade">
                                      <p:cBhvr>
                                        <p:cTn id="50" dur="500"/>
                                        <p:tgtEl>
                                          <p:spTgt spid="3">
                                            <p:txEl>
                                              <p:pRg st="10" end="10"/>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
                                            <p:txEl>
                                              <p:pRg st="11" end="11"/>
                                            </p:txEl>
                                          </p:spTgt>
                                        </p:tgtEl>
                                        <p:attrNameLst>
                                          <p:attrName>style.visibility</p:attrName>
                                        </p:attrNameLst>
                                      </p:cBhvr>
                                      <p:to>
                                        <p:strVal val="visible"/>
                                      </p:to>
                                    </p:set>
                                    <p:animEffect transition="in" filter="fade">
                                      <p:cBhvr>
                                        <p:cTn id="55" dur="500"/>
                                        <p:tgtEl>
                                          <p:spTgt spid="3">
                                            <p:txEl>
                                              <p:pRg st="11" end="11"/>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3">
                                            <p:txEl>
                                              <p:pRg st="12" end="12"/>
                                            </p:txEl>
                                          </p:spTgt>
                                        </p:tgtEl>
                                        <p:attrNameLst>
                                          <p:attrName>style.visibility</p:attrName>
                                        </p:attrNameLst>
                                      </p:cBhvr>
                                      <p:to>
                                        <p:strVal val="visible"/>
                                      </p:to>
                                    </p:set>
                                    <p:animEffect transition="in" filter="fade">
                                      <p:cBhvr>
                                        <p:cTn id="60" dur="500"/>
                                        <p:tgtEl>
                                          <p:spTgt spid="3">
                                            <p:txEl>
                                              <p:pRg st="12" end="12"/>
                                            </p:txEl>
                                          </p:spTgt>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
                                            <p:txEl>
                                              <p:pRg st="13" end="13"/>
                                            </p:txEl>
                                          </p:spTgt>
                                        </p:tgtEl>
                                        <p:attrNameLst>
                                          <p:attrName>style.visibility</p:attrName>
                                        </p:attrNameLst>
                                      </p:cBhvr>
                                      <p:to>
                                        <p:strVal val="visible"/>
                                      </p:to>
                                    </p:set>
                                    <p:animEffect transition="in" filter="fade">
                                      <p:cBhvr>
                                        <p:cTn id="63" dur="500"/>
                                        <p:tgtEl>
                                          <p:spTgt spid="3">
                                            <p:txEl>
                                              <p:pRg st="13" end="13"/>
                                            </p:txEl>
                                          </p:spTgt>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
                                            <p:txEl>
                                              <p:pRg st="14" end="14"/>
                                            </p:txEl>
                                          </p:spTgt>
                                        </p:tgtEl>
                                        <p:attrNameLst>
                                          <p:attrName>style.visibility</p:attrName>
                                        </p:attrNameLst>
                                      </p:cBhvr>
                                      <p:to>
                                        <p:strVal val="visible"/>
                                      </p:to>
                                    </p:set>
                                    <p:animEffect transition="in" filter="fade">
                                      <p:cBhvr>
                                        <p:cTn id="6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a:bodyPr>
              <a:lstStyle/>
              <a:p>
                <a:r>
                  <a:rPr lang="en-GB" dirty="0"/>
                  <a:t>We want to tweak the distribution such that the idealised distribution (the “likelihood”) overlaps the real data</a:t>
                </a:r>
              </a:p>
              <a:p>
                <a:r>
                  <a:rPr lang="en-GB" dirty="0"/>
                  <a:t>How do we tweak the distribution?</a:t>
                </a:r>
              </a:p>
              <a:p>
                <a:r>
                  <a:rPr lang="en-GB" dirty="0"/>
                  <a:t>Change the </a:t>
                </a:r>
                <a:r>
                  <a:rPr lang="en-GB" dirty="0">
                    <a:solidFill>
                      <a:srgbClr val="FFFF00"/>
                    </a:solidFill>
                  </a:rPr>
                  <a:t>mean</a:t>
                </a:r>
                <a:r>
                  <a:rPr lang="en-GB" dirty="0"/>
                  <a:t>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r>
                  <a:rPr lang="en-GB" dirty="0"/>
                  <a:t>How do we change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14:m>
                  <m:oMath xmlns:m="http://schemas.openxmlformats.org/officeDocument/2006/math">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𝜇</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𝑋</m:t>
                        </m:r>
                      </m:e>
                      <m:sub>
                        <m:r>
                          <a:rPr lang="en-GB" b="0" i="1" smtClean="0">
                            <a:latin typeface="Cambria Math" panose="02040503050406030204" pitchFamily="18" charset="0"/>
                          </a:rPr>
                          <m:t>𝑖</m:t>
                        </m:r>
                      </m:sub>
                    </m:sSub>
                  </m:oMath>
                </a14:m>
                <a:endParaRPr lang="en-GB" dirty="0"/>
              </a:p>
              <a:p>
                <a:r>
                  <a:rPr lang="en-GB" dirty="0"/>
                  <a:t>For the child height example, we said:</a:t>
                </a:r>
              </a:p>
              <a:p>
                <a:pPr lvl="1"/>
                <a14:m>
                  <m:oMath xmlns:m="http://schemas.openxmlformats.org/officeDocument/2006/math">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𝜇</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=36.5+14.8×</m:t>
                    </m:r>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a14:m>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6" descr="A graph with a curve&#10;&#10;Description automatically generated">
            <a:extLst>
              <a:ext uri="{FF2B5EF4-FFF2-40B4-BE49-F238E27FC236}">
                <a16:creationId xmlns:a16="http://schemas.microsoft.com/office/drawing/2014/main" id="{D662EDAD-8168-4274-ACB5-C583D52506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59525" y="0"/>
            <a:ext cx="5751871" cy="6858000"/>
          </a:xfrm>
          <a:prstGeom prst="rect">
            <a:avLst/>
          </a:prstGeom>
        </p:spPr>
      </p:pic>
      <p:pic>
        <p:nvPicPr>
          <p:cNvPr id="4" name="Picture Placeholder 6" descr="A graph on a black background&#10;&#10;Description automatically generated">
            <a:extLst>
              <a:ext uri="{FF2B5EF4-FFF2-40B4-BE49-F238E27FC236}">
                <a16:creationId xmlns:a16="http://schemas.microsoft.com/office/drawing/2014/main" id="{BF941B8C-42C6-16E3-3068-F1ACC500333A}"/>
              </a:ext>
            </a:extLst>
          </p:cNvPr>
          <p:cNvPicPr>
            <a:picLocks noChangeAspect="1"/>
          </p:cNvPicPr>
          <p:nvPr/>
        </p:nvPicPr>
        <p:blipFill>
          <a:blip r:embed="rId5">
            <a:extLst>
              <a:ext uri="{28A0092B-C50C-407E-A947-70E740481C1C}">
                <a14:useLocalDpi xmlns:a14="http://schemas.microsoft.com/office/drawing/2010/main" val="0"/>
              </a:ext>
            </a:extLst>
          </a:blip>
          <a:srcRect t="691" b="691"/>
          <a:stretch>
            <a:fillRect/>
          </a:stretch>
        </p:blipFill>
        <p:spPr>
          <a:xfrm>
            <a:off x="0" y="0"/>
            <a:ext cx="5832475" cy="6858000"/>
          </a:xfrm>
          <a:prstGeom prst="rect">
            <a:avLst/>
          </a:prstGeom>
        </p:spPr>
      </p:pic>
    </p:spTree>
    <p:extLst>
      <p:ext uri="{BB962C8B-B14F-4D97-AF65-F5344CB8AC3E}">
        <p14:creationId xmlns:p14="http://schemas.microsoft.com/office/powerpoint/2010/main" val="2898989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fade">
                                      <p:cBhvr>
                                        <p:cTn id="4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E10892C-931D-968C-1AF6-7C7406EF2695}"/>
                  </a:ext>
                </a:extLst>
              </p:cNvPr>
              <p:cNvSpPr>
                <a:spLocks noGrp="1"/>
              </p:cNvSpPr>
              <p:nvPr>
                <p:ph type="title"/>
              </p:nvPr>
            </p:nvSpPr>
            <p:spPr/>
            <p:txBody>
              <a:bodyPr/>
              <a:lstStyle/>
              <a:p>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FE10892C-931D-968C-1AF6-7C7406EF2695}"/>
                  </a:ext>
                </a:extLst>
              </p:cNvPr>
              <p:cNvSpPr>
                <a:spLocks noGrp="1" noRot="1" noChangeAspect="1" noMove="1" noResize="1" noEditPoints="1" noAdjustHandles="1" noChangeArrowheads="1" noChangeShapeType="1" noTextEdit="1"/>
              </p:cNvSpPr>
              <p:nvPr>
                <p:ph type="title"/>
              </p:nvPr>
            </p:nvSpPr>
            <p:spPr>
              <a:blipFill>
                <a:blip r:embed="rId2"/>
                <a:stretch>
                  <a:fillRect l="-3638" r="-609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607332-1264-97CE-703D-40621B803AB7}"/>
                  </a:ext>
                </a:extLst>
              </p:cNvPr>
              <p:cNvSpPr>
                <a:spLocks noGrp="1"/>
              </p:cNvSpPr>
              <p:nvPr>
                <p:ph idx="1"/>
              </p:nvPr>
            </p:nvSpPr>
            <p:spPr/>
            <p:txBody>
              <a:bodyPr>
                <a:normAutofit/>
              </a:bodyPr>
              <a:lstStyle/>
              <a:p>
                <a:r>
                  <a:rPr lang="en-GB" dirty="0"/>
                  <a:t>When using a </a:t>
                </a:r>
                <a14:m>
                  <m:oMath xmlns:m="http://schemas.openxmlformats.org/officeDocument/2006/math">
                    <m:r>
                      <a:rPr lang="en-GB" b="0" i="1" smtClean="0">
                        <a:latin typeface="Cambria Math" panose="02040503050406030204" pitchFamily="18" charset="0"/>
                      </a:rPr>
                      <m:t>𝑁𝑜𝑟𝑚𝑎𝑙</m:t>
                    </m:r>
                  </m:oMath>
                </a14:m>
                <a:r>
                  <a:rPr lang="en-GB" dirty="0"/>
                  <a:t> distribution a big assumption we make is:</a:t>
                </a:r>
              </a:p>
              <a:p>
                <a:pPr lvl="1"/>
                <a:r>
                  <a:rPr lang="en-GB" dirty="0"/>
                  <a:t>The average and range can be anywhere from negative infinity to positive infinity</a:t>
                </a:r>
              </a:p>
              <a:p>
                <a:pPr lvl="1"/>
                <a:r>
                  <a:rPr lang="en-GB" dirty="0"/>
                  <a:t>Meaning the model </a:t>
                </a:r>
                <a:r>
                  <a:rPr lang="en-GB" i="1" dirty="0"/>
                  <a:t>can</a:t>
                </a:r>
                <a:r>
                  <a:rPr lang="en-GB" dirty="0"/>
                  <a:t> predict negative values</a:t>
                </a:r>
              </a:p>
              <a:p>
                <a:pPr lvl="2"/>
                <a:r>
                  <a:rPr lang="en-GB" dirty="0"/>
                  <a:t>E.g. children could be -5 cm tall</a:t>
                </a:r>
              </a:p>
              <a:p>
                <a:pPr lvl="2"/>
                <a:r>
                  <a:rPr lang="en-GB" dirty="0"/>
                  <a:t>Not a problem so long as mean and SD are “far” from zero</a:t>
                </a:r>
              </a:p>
            </p:txBody>
          </p:sp>
        </mc:Choice>
        <mc:Fallback xmlns="">
          <p:sp>
            <p:nvSpPr>
              <p:cNvPr id="3" name="Content Placeholder 2">
                <a:extLst>
                  <a:ext uri="{FF2B5EF4-FFF2-40B4-BE49-F238E27FC236}">
                    <a16:creationId xmlns:a16="http://schemas.microsoft.com/office/drawing/2014/main" id="{DA607332-1264-97CE-703D-40621B803AB7}"/>
                  </a:ext>
                </a:extLst>
              </p:cNvPr>
              <p:cNvSpPr>
                <a:spLocks noGrp="1" noRot="1" noChangeAspect="1" noMove="1" noResize="1" noEditPoints="1" noAdjustHandles="1" noChangeArrowheads="1" noChangeShapeType="1" noTextEdit="1"/>
              </p:cNvSpPr>
              <p:nvPr>
                <p:ph idx="1"/>
              </p:nvPr>
            </p:nvSpPr>
            <p:spPr>
              <a:blipFill>
                <a:blip r:embed="rId3"/>
                <a:stretch>
                  <a:fillRect l="-1770" r="-1967"/>
                </a:stretch>
              </a:blipFill>
            </p:spPr>
            <p:txBody>
              <a:bodyPr/>
              <a:lstStyle/>
              <a:p>
                <a:r>
                  <a:rPr lang="en-GB">
                    <a:noFill/>
                  </a:rPr>
                  <a:t> </a:t>
                </a:r>
              </a:p>
            </p:txBody>
          </p:sp>
        </mc:Fallback>
      </mc:AlternateContent>
      <p:pic>
        <p:nvPicPr>
          <p:cNvPr id="14" name="Picture Placeholder 13" descr="A graph of colored lines&#10;&#10;Description automatically generated">
            <a:extLst>
              <a:ext uri="{FF2B5EF4-FFF2-40B4-BE49-F238E27FC236}">
                <a16:creationId xmlns:a16="http://schemas.microsoft.com/office/drawing/2014/main" id="{69E42237-6D58-443F-DB3E-9CFE35E39DDB}"/>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3376742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2256089"/>
            <a:ext cx="4991100" cy="3920873"/>
          </a:xfrm>
        </p:spPr>
        <p:txBody>
          <a:bodyPr>
            <a:normAutofit/>
          </a:bodyPr>
          <a:lstStyle/>
          <a:p>
            <a:r>
              <a:rPr lang="en-GB" dirty="0">
                <a:latin typeface="Bahnschrift Light" panose="020B0502040204020203" pitchFamily="34" charset="0"/>
              </a:rPr>
              <a:t>Don’t plot histograms or do tests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t="-11475" r="-7018"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t="-11475" r="-7602"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xmlns="">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t="-9836" r="-6936"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xmlns="">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t="-9836" r="-10833" b="-22951"/>
                </a:stretch>
              </a:blipFill>
            </p:spPr>
            <p:txBody>
              <a:bodyPr/>
              <a:lstStyle/>
              <a:p>
                <a:r>
                  <a:rPr lang="en-GB">
                    <a:noFill/>
                  </a:rPr>
                  <a:t> </a:t>
                </a:r>
              </a:p>
            </p:txBody>
          </p:sp>
        </mc:Fallback>
      </mc:AlternateContent>
    </p:spTree>
    <p:extLst>
      <p:ext uri="{BB962C8B-B14F-4D97-AF65-F5344CB8AC3E}">
        <p14:creationId xmlns:p14="http://schemas.microsoft.com/office/powerpoint/2010/main" val="2661866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P spid="1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“Do you drink coffee?”</a:t>
            </a:r>
          </a:p>
        </p:txBody>
      </p:sp>
    </p:spTree>
    <p:extLst>
      <p:ext uri="{BB962C8B-B14F-4D97-AF65-F5344CB8AC3E}">
        <p14:creationId xmlns:p14="http://schemas.microsoft.com/office/powerpoint/2010/main" val="2200621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78325"/>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2136" y="1716206"/>
            <a:ext cx="1506213"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flipV="1">
            <a:off x="2515897" y="670713"/>
            <a:ext cx="2845718"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238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fontScale="90000"/>
          </a:bodyPr>
          <a:lstStyle/>
          <a:p>
            <a:pPr algn="ctr"/>
            <a:r>
              <a:rPr lang="en-GB" sz="5400" dirty="0">
                <a:latin typeface="Bahnschrift Light" panose="020B0502040204020203" pitchFamily="34" charset="0"/>
              </a:rPr>
              <a:t>If you drink coffee, what is the average number of coffees you drink in a year?</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726250"/>
            <a:ext cx="6730412" cy="4690618"/>
          </a:xfrm>
          <a:prstGeom prst="rect">
            <a:avLst/>
          </a:prstGeom>
        </p:spPr>
        <p:txBody>
          <a:bodyPr spcFirstLastPara="1" vert="horz" wrap="square" lIns="121900" tIns="121900" rIns="121900" bIns="121900" rtlCol="0" anchor="t" anchorCtr="0">
            <a:noAutofit/>
          </a:bodyPr>
          <a:lstStyle/>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a value (e.g. 522.6).</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do you drink that many?</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For each of us, there is some unknown average number of coffees, that we drink in a year,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608231" cy="1209171"/>
            <a:chOff x="7521390" y="5157239"/>
            <a:chExt cx="3608231"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60823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𝑁𝑜𝑟𝑚𝑎𝑙</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 </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𝜎</m:t>
                            </m:r>
                          </m:e>
                          <m:sub>
                            <m:r>
                              <a:rPr lang="en-GB"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608231"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152772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𝑋</m:t>
                        </m:r>
                        <m:r>
                          <a:rPr lang="en-US" sz="3200" b="0" i="1" smtClean="0">
                            <a:latin typeface="Cambria Math" panose="02040503050406030204" pitchFamily="18" charset="0"/>
                          </a:rPr>
                          <m:t>𝛽</m:t>
                        </m:r>
                      </m:oMath>
                    </m:oMathPara>
                  </a14:m>
                  <a:endParaRPr lang="en-GB" sz="3200" dirty="0"/>
                </a:p>
              </p:txBody>
            </p:sp>
          </mc:Choice>
          <mc:Fallback xmlns="">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1527726" cy="492443"/>
                </a:xfrm>
                <a:prstGeom prst="rect">
                  <a:avLst/>
                </a:prstGeom>
                <a:blipFill>
                  <a:blip r:embed="rId5"/>
                  <a:stretch>
                    <a:fillRect t="-28750" r="-19200" b="-47500"/>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19767" y="4535923"/>
            <a:ext cx="10148188" cy="1850512"/>
            <a:chOff x="1014878" y="4535923"/>
            <a:chExt cx="6753221" cy="1850512"/>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7503847" y="5216606"/>
              <a:ext cx="264252"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1014878" y="4535923"/>
              <a:ext cx="5138106" cy="1850512"/>
              <a:chOff x="1014878" y="4535923"/>
              <a:chExt cx="5138106" cy="1850512"/>
            </a:xfrm>
          </p:grpSpPr>
          <p:sp>
            <p:nvSpPr>
              <p:cNvPr id="42" name="Rectangle 41">
                <a:extLst>
                  <a:ext uri="{FF2B5EF4-FFF2-40B4-BE49-F238E27FC236}">
                    <a16:creationId xmlns:a16="http://schemas.microsoft.com/office/drawing/2014/main" id="{E722088A-DBD5-4BA8-BFEF-8E71175E1F26}"/>
                  </a:ext>
                </a:extLst>
              </p:cNvPr>
              <p:cNvSpPr/>
              <p:nvPr/>
            </p:nvSpPr>
            <p:spPr>
              <a:xfrm>
                <a:off x="1014878" y="4535923"/>
                <a:ext cx="2884425"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5873823" y="5893992"/>
                <a:ext cx="279161"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192518" y="5309768"/>
            <a:ext cx="8876759" cy="1076667"/>
            <a:chOff x="-1421267" y="5603758"/>
            <a:chExt cx="8876759" cy="1076667"/>
          </a:xfrm>
        </p:grpSpPr>
        <p:sp>
          <p:nvSpPr>
            <p:cNvPr id="43" name="Rectangle 42">
              <a:extLst>
                <a:ext uri="{FF2B5EF4-FFF2-40B4-BE49-F238E27FC236}">
                  <a16:creationId xmlns:a16="http://schemas.microsoft.com/office/drawing/2014/main" id="{ED52917F-8F6B-4630-81DC-4B6013FD7F93}"/>
                </a:ext>
              </a:extLst>
            </p:cNvPr>
            <p:cNvSpPr/>
            <p:nvPr/>
          </p:nvSpPr>
          <p:spPr>
            <a:xfrm>
              <a:off x="-1421267" y="5603758"/>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6814216" y="6187982"/>
              <a:ext cx="641276"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4873840" y="2214368"/>
            <a:ext cx="5007007" cy="3443603"/>
            <a:chOff x="2631071" y="2566335"/>
            <a:chExt cx="5007007" cy="3443603"/>
          </a:xfrm>
        </p:grpSpPr>
        <p:sp>
          <p:nvSpPr>
            <p:cNvPr id="41" name="Rectangle 40">
              <a:extLst>
                <a:ext uri="{FF2B5EF4-FFF2-40B4-BE49-F238E27FC236}">
                  <a16:creationId xmlns:a16="http://schemas.microsoft.com/office/drawing/2014/main" id="{5311F149-F812-43A0-B4C5-75BFF1102750}"/>
                </a:ext>
              </a:extLst>
            </p:cNvPr>
            <p:cNvSpPr/>
            <p:nvPr/>
          </p:nvSpPr>
          <p:spPr>
            <a:xfrm>
              <a:off x="2631071" y="2566335"/>
              <a:ext cx="1695636"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145284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1" end="1"/>
                                            </p:txEl>
                                          </p:spTgt>
                                        </p:tgtEl>
                                        <p:attrNameLst>
                                          <p:attrName>style.visibility</p:attrName>
                                        </p:attrNameLst>
                                      </p:cBhvr>
                                      <p:to>
                                        <p:strVal val="visible"/>
                                      </p:to>
                                    </p:set>
                                    <p:animEffect transition="in" filter="fade">
                                      <p:cBhvr>
                                        <p:cTn id="7" dur="1000"/>
                                        <p:tgtEl>
                                          <p:spTgt spid="32">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3" end="3"/>
                                            </p:txEl>
                                          </p:spTgt>
                                        </p:tgtEl>
                                        <p:attrNameLst>
                                          <p:attrName>style.visibility</p:attrName>
                                        </p:attrNameLst>
                                      </p:cBhvr>
                                      <p:to>
                                        <p:strVal val="visible"/>
                                      </p:to>
                                    </p:set>
                                    <p:animEffect transition="in" filter="fade">
                                      <p:cBhvr>
                                        <p:cTn id="12" dur="1000"/>
                                        <p:tgtEl>
                                          <p:spTgt spid="32">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5" end="5"/>
                                            </p:txEl>
                                          </p:spTgt>
                                        </p:tgtEl>
                                        <p:attrNameLst>
                                          <p:attrName>style.visibility</p:attrName>
                                        </p:attrNameLst>
                                      </p:cBhvr>
                                      <p:to>
                                        <p:strVal val="visible"/>
                                      </p:to>
                                    </p:set>
                                    <p:animEffect transition="in" filter="fade">
                                      <p:cBhvr>
                                        <p:cTn id="17" dur="1000"/>
                                        <p:tgtEl>
                                          <p:spTgt spid="32">
                                            <p:txEl>
                                              <p:pRg st="5" end="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fade">
                                      <p:cBhvr>
                                        <p:cTn id="22" dur="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500"/>
                                        <p:tgtEl>
                                          <p:spTgt spid="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5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5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mc:Choice xmlns:a14="http://schemas.microsoft.com/office/drawing/2010/main"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1618" y="940719"/>
                <a:ext cx="10333083" cy="5813166"/>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Based on the data, who do you think won the 2021 Japanese election?</a:t>
                </a:r>
              </a:p>
              <a:p>
                <a:pPr marL="0" indent="0">
                  <a:buNone/>
                </a:pPr>
                <a:endParaRPr lang="en-US" dirty="0">
                  <a:latin typeface="Bahnschrift Light" panose="020B0502040204020203" pitchFamily="34" charset="0"/>
                </a:endParaRPr>
              </a:p>
              <a:p>
                <a:pPr marL="0" indent="0">
                  <a:buNone/>
                </a:pPr>
                <a14:m>
                  <m:oMathPara xmlns:m="http://schemas.openxmlformats.org/officeDocument/2006/math">
                    <m:oMathParaPr>
                      <m:jc m:val="left"/>
                    </m:oMathParaPr>
                    <m:oMath xmlns:m="http://schemas.openxmlformats.org/officeDocument/2006/math">
                      <m:r>
                        <a:rPr lang="en-GB" b="0" i="1" smtClean="0">
                          <a:latin typeface="Cambria Math" panose="02040503050406030204" pitchFamily="18" charset="0"/>
                        </a:rPr>
                        <m:t>𝑅𝑒𝑠𝑢𝑙</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𝑅𝑒</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𝑑</m:t>
                          </m:r>
                        </m:e>
                        <m:sub>
                          <m:r>
                            <a:rPr lang="en-GB" b="0" i="1" smtClean="0">
                              <a:latin typeface="Cambria Math" panose="02040503050406030204" pitchFamily="18" charset="0"/>
                            </a:rPr>
                            <m:t>𝑖</m:t>
                          </m:r>
                        </m:sub>
                      </m:sSub>
                    </m:oMath>
                  </m:oMathPara>
                </a14:m>
                <a:endParaRPr lang="en-US" dirty="0">
                  <a:latin typeface="Bahnschrift Light" panose="020B0502040204020203" pitchFamily="34" charset="0"/>
                </a:endParaRP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LDP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endParaRPr lang="en-US" dirty="0">
                  <a:latin typeface="Bahnschrift Light" panose="020B0502040204020203" pitchFamily="34" charset="0"/>
                </a:endParaRPr>
              </a:p>
              <a:p>
                <a:pPr marL="457200" indent="-457200"/>
                <a:r>
                  <a:rPr lang="en-US" dirty="0">
                    <a:latin typeface="Bahnschrift Light" panose="020B0502040204020203" pitchFamily="34" charset="0"/>
                  </a:rPr>
                  <a:t>Descriptive model: LDP have won 95% from 1955 to 2017</a:t>
                </a:r>
              </a:p>
              <a:p>
                <a:pPr marL="457200" indent="-457200"/>
                <a:r>
                  <a:rPr lang="en-US" dirty="0">
                    <a:latin typeface="Bahnschrift Light" panose="020B0502040204020203" pitchFamily="34" charset="0"/>
                  </a:rPr>
                  <a:t>Predictive model: LDP have a 95% chance to win 2021</a:t>
                </a:r>
              </a:p>
              <a:p>
                <a:pPr marL="457200" indent="-457200"/>
                <a:r>
                  <a:rPr lang="en-US" dirty="0">
                    <a:latin typeface="Bahnschrift Light" panose="020B0502040204020203" pitchFamily="34" charset="0"/>
                  </a:rPr>
                  <a:t>Causal model: Red </a:t>
                </a:r>
                <a:r>
                  <a:rPr lang="en-US" dirty="0" err="1">
                    <a:latin typeface="Bahnschrift Light" panose="020B0502040204020203" pitchFamily="34" charset="0"/>
                  </a:rPr>
                  <a:t>colour</a:t>
                </a:r>
                <a:r>
                  <a:rPr lang="en-US" dirty="0">
                    <a:latin typeface="Bahnschrift Light" panose="020B0502040204020203" pitchFamily="34" charset="0"/>
                  </a:rPr>
                  <a:t> reduces chance to win by 90%</a:t>
                </a:r>
              </a:p>
            </p:txBody>
          </p:sp>
        </mc:Choice>
        <mc:Fallback>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121618" y="940719"/>
                <a:ext cx="10333083" cy="5813166"/>
              </a:xfrm>
              <a:prstGeom prst="rect">
                <a:avLst/>
              </a:prstGeom>
              <a:blipFill>
                <a:blip r:embed="rId3"/>
                <a:stretch>
                  <a:fillRect l="-944" t="-629" b="-943"/>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483560" y="1445736"/>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49325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2">
                                            <p:txEl>
                                              <p:pRg st="5" end="5"/>
                                            </p:txEl>
                                          </p:spTgt>
                                        </p:tgtEl>
                                        <p:attrNameLst>
                                          <p:attrName>style.visibility</p:attrName>
                                        </p:attrNameLst>
                                      </p:cBhvr>
                                      <p:to>
                                        <p:strVal val="visible"/>
                                      </p:to>
                                    </p:set>
                                    <p:animEffect transition="in" filter="fade">
                                      <p:cBhvr>
                                        <p:cTn id="32" dur="500"/>
                                        <p:tgtEl>
                                          <p:spTgt spid="32">
                                            <p:txEl>
                                              <p:pRg st="5" end="5"/>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500"/>
                                        <p:tgtEl>
                                          <p:spTgt spid="7"/>
                                        </p:tgtEl>
                                      </p:cBhvr>
                                    </p:animEffect>
                                  </p:childTnLst>
                                </p:cTn>
                              </p:par>
                              <p:par>
                                <p:cTn id="36" presetID="10" presetClass="exit" presetSubtype="0" fill="hold" nodeType="withEffect">
                                  <p:stCondLst>
                                    <p:cond delay="0"/>
                                  </p:stCondLst>
                                  <p:childTnLst>
                                    <p:animEffect transition="out" filter="fade">
                                      <p:cBhvr>
                                        <p:cTn id="37" dur="500"/>
                                        <p:tgtEl>
                                          <p:spTgt spid="9"/>
                                        </p:tgtEl>
                                      </p:cBhvr>
                                    </p:animEffect>
                                    <p:set>
                                      <p:cBhvr>
                                        <p:cTn id="38" dur="1" fill="hold">
                                          <p:stCondLst>
                                            <p:cond delay="499"/>
                                          </p:stCondLst>
                                        </p:cTn>
                                        <p:tgtEl>
                                          <p:spTgt spid="9"/>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2">
                                            <p:txEl>
                                              <p:pRg st="7" end="7"/>
                                            </p:txEl>
                                          </p:spTgt>
                                        </p:tgtEl>
                                        <p:attrNameLst>
                                          <p:attrName>style.visibility</p:attrName>
                                        </p:attrNameLst>
                                      </p:cBhvr>
                                      <p:to>
                                        <p:strVal val="visible"/>
                                      </p:to>
                                    </p:set>
                                    <p:animEffect transition="in" filter="fade">
                                      <p:cBhvr>
                                        <p:cTn id="43" dur="500"/>
                                        <p:tgtEl>
                                          <p:spTgt spid="32">
                                            <p:txEl>
                                              <p:pRg st="7" end="7"/>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2">
                                            <p:txEl>
                                              <p:pRg st="9" end="9"/>
                                            </p:txEl>
                                          </p:spTgt>
                                        </p:tgtEl>
                                        <p:attrNameLst>
                                          <p:attrName>style.visibility</p:attrName>
                                        </p:attrNameLst>
                                      </p:cBhvr>
                                      <p:to>
                                        <p:strVal val="visible"/>
                                      </p:to>
                                    </p:set>
                                    <p:animEffect transition="in" filter="fade">
                                      <p:cBhvr>
                                        <p:cTn id="48" dur="500"/>
                                        <p:tgtEl>
                                          <p:spTgt spid="32">
                                            <p:txEl>
                                              <p:pRg st="9" end="9"/>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xit" presetSubtype="0" fill="hold" grpId="0" nodeType="clickEffect">
                                  <p:stCondLst>
                                    <p:cond delay="0"/>
                                  </p:stCondLst>
                                  <p:childTnLst>
                                    <p:animEffect transition="out" filter="fade">
                                      <p:cBhvr>
                                        <p:cTn id="52" dur="500"/>
                                        <p:tgtEl>
                                          <p:spTgt spid="2"/>
                                        </p:tgtEl>
                                      </p:cBhvr>
                                    </p:animEffect>
                                    <p:set>
                                      <p:cBhvr>
                                        <p:cTn id="53" dur="1" fill="hold">
                                          <p:stCondLst>
                                            <p:cond delay="499"/>
                                          </p:stCondLst>
                                        </p:cTn>
                                        <p:tgtEl>
                                          <p:spTgt spid="2"/>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32">
                                            <p:txEl>
                                              <p:pRg st="10" end="10"/>
                                            </p:txEl>
                                          </p:spTgt>
                                        </p:tgtEl>
                                        <p:attrNameLst>
                                          <p:attrName>style.visibility</p:attrName>
                                        </p:attrNameLst>
                                      </p:cBhvr>
                                      <p:to>
                                        <p:strVal val="visible"/>
                                      </p:to>
                                    </p:set>
                                    <p:animEffect transition="in" filter="fade">
                                      <p:cBhvr>
                                        <p:cTn id="58" dur="500"/>
                                        <p:tgtEl>
                                          <p:spTgt spid="32">
                                            <p:txEl>
                                              <p:pRg st="10" end="10"/>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xEl>
                                              <p:pRg st="11" end="11"/>
                                            </p:txEl>
                                          </p:spTgt>
                                        </p:tgtEl>
                                        <p:attrNameLst>
                                          <p:attrName>style.visibility</p:attrName>
                                        </p:attrNameLst>
                                      </p:cBhvr>
                                      <p:to>
                                        <p:strVal val="visible"/>
                                      </p:to>
                                    </p:set>
                                    <p:animEffect transition="in" filter="fade">
                                      <p:cBhvr>
                                        <p:cTn id="63" dur="500"/>
                                        <p:tgtEl>
                                          <p:spTgt spid="32">
                                            <p:txEl>
                                              <p:pRg st="11" end="11"/>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32">
                                            <p:txEl>
                                              <p:pRg st="12" end="12"/>
                                            </p:txEl>
                                          </p:spTgt>
                                        </p:tgtEl>
                                        <p:attrNameLst>
                                          <p:attrName>style.visibility</p:attrName>
                                        </p:attrNameLst>
                                      </p:cBhvr>
                                      <p:to>
                                        <p:strVal val="visible"/>
                                      </p:to>
                                    </p:set>
                                    <p:animEffect transition="in" filter="fade">
                                      <p:cBhvr>
                                        <p:cTn id="68" dur="500"/>
                                        <p:tgtEl>
                                          <p:spTgt spid="3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The return of hidden assumptions</a:t>
            </a:r>
          </a:p>
        </p:txBody>
      </p:sp>
    </p:spTree>
    <p:extLst>
      <p:ext uri="{BB962C8B-B14F-4D97-AF65-F5344CB8AC3E}">
        <p14:creationId xmlns:p14="http://schemas.microsoft.com/office/powerpoint/2010/main" val="630894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family come into possession of a wish granting monkey’s paw. They wish for £200. The son goes to work the next morning but dies on the job. The parents get £200 compensation.</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1CC69-751C-F585-C2C4-D4CD3A5A3BFF}"/>
              </a:ext>
            </a:extLst>
          </p:cNvPr>
          <p:cNvSpPr>
            <a:spLocks noGrp="1"/>
          </p:cNvSpPr>
          <p:nvPr>
            <p:ph type="title"/>
          </p:nvPr>
        </p:nvSpPr>
        <p:spPr/>
        <p:txBody>
          <a:bodyPr/>
          <a:lstStyle/>
          <a:p>
            <a:r>
              <a:rPr lang="en-GB" dirty="0"/>
              <a:t>Assumptions</a:t>
            </a:r>
          </a:p>
        </p:txBody>
      </p:sp>
      <p:sp>
        <p:nvSpPr>
          <p:cNvPr id="3" name="Content Placeholder 2">
            <a:extLst>
              <a:ext uri="{FF2B5EF4-FFF2-40B4-BE49-F238E27FC236}">
                <a16:creationId xmlns:a16="http://schemas.microsoft.com/office/drawing/2014/main" id="{BFE7BD59-77A0-BBD3-BA86-4E7C522DB814}"/>
              </a:ext>
            </a:extLst>
          </p:cNvPr>
          <p:cNvSpPr>
            <a:spLocks noGrp="1"/>
          </p:cNvSpPr>
          <p:nvPr>
            <p:ph idx="1"/>
          </p:nvPr>
        </p:nvSpPr>
        <p:spPr/>
        <p:txBody>
          <a:bodyPr>
            <a:normAutofit/>
          </a:bodyPr>
          <a:lstStyle/>
          <a:p>
            <a:r>
              <a:rPr lang="en-GB" dirty="0"/>
              <a:t>Assumptions help us interpret the world</a:t>
            </a:r>
          </a:p>
          <a:p>
            <a:pPr lvl="1"/>
            <a:r>
              <a:rPr lang="en-GB" i="1" dirty="0"/>
              <a:t>Banning smoking in pubs reduced exposure to </a:t>
            </a:r>
            <a:r>
              <a:rPr lang="en-GB" i="1" dirty="0" err="1"/>
              <a:t>secondhand</a:t>
            </a:r>
            <a:r>
              <a:rPr lang="en-GB" i="1" dirty="0"/>
              <a:t> smoke</a:t>
            </a:r>
          </a:p>
          <a:p>
            <a:pPr lvl="1"/>
            <a:r>
              <a:rPr lang="en-GB" dirty="0"/>
              <a:t>We assume people smoked in pubs before the ban</a:t>
            </a:r>
          </a:p>
          <a:p>
            <a:r>
              <a:rPr lang="en-GB" dirty="0"/>
              <a:t>Imagine your friend says “I’m fine”</a:t>
            </a:r>
          </a:p>
          <a:p>
            <a:pPr lvl="1"/>
            <a:r>
              <a:rPr lang="en-GB" dirty="0"/>
              <a:t>If you assume they tell the truth, then you believe them</a:t>
            </a:r>
          </a:p>
          <a:p>
            <a:pPr lvl="1"/>
            <a:r>
              <a:rPr lang="en-GB" dirty="0"/>
              <a:t>If you assume they tend to hide their feelings, your interpretation changes</a:t>
            </a:r>
          </a:p>
        </p:txBody>
      </p:sp>
      <p:pic>
        <p:nvPicPr>
          <p:cNvPr id="10" name="Picture Placeholder 9" descr="A close-up of a person lighting a cigarette&#10;&#10;AI-generated content may be incorrect.">
            <a:extLst>
              <a:ext uri="{FF2B5EF4-FFF2-40B4-BE49-F238E27FC236}">
                <a16:creationId xmlns:a16="http://schemas.microsoft.com/office/drawing/2014/main" id="{C4A2E631-E8EF-1858-7A5F-730EB7493318}"/>
              </a:ext>
            </a:extLst>
          </p:cNvPr>
          <p:cNvPicPr>
            <a:picLocks noGrp="1" noChangeAspect="1"/>
          </p:cNvPicPr>
          <p:nvPr>
            <p:ph type="pic" sz="quarter" idx="10"/>
          </p:nvPr>
        </p:nvPicPr>
        <p:blipFill>
          <a:blip r:embed="rId2"/>
          <a:srcRect l="19708" r="19708"/>
          <a:stretch>
            <a:fillRect/>
          </a:stretch>
        </p:blipFill>
        <p:spPr/>
      </p:pic>
    </p:spTree>
    <p:extLst>
      <p:ext uri="{BB962C8B-B14F-4D97-AF65-F5344CB8AC3E}">
        <p14:creationId xmlns:p14="http://schemas.microsoft.com/office/powerpoint/2010/main" val="13776879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529A9-CCDB-DDE2-8C6D-A8C8DE52A6DF}"/>
              </a:ext>
            </a:extLst>
          </p:cNvPr>
          <p:cNvSpPr>
            <a:spLocks noGrp="1"/>
          </p:cNvSpPr>
          <p:nvPr>
            <p:ph type="title"/>
          </p:nvPr>
        </p:nvSpPr>
        <p:spPr/>
        <p:txBody>
          <a:bodyPr>
            <a:normAutofit/>
          </a:bodyPr>
          <a:lstStyle/>
          <a:p>
            <a:r>
              <a:rPr lang="en-GB" dirty="0"/>
              <a:t>Assumptions in the scientific workflow</a:t>
            </a:r>
          </a:p>
        </p:txBody>
      </p:sp>
      <p:sp>
        <p:nvSpPr>
          <p:cNvPr id="3" name="Content Placeholder 2">
            <a:extLst>
              <a:ext uri="{FF2B5EF4-FFF2-40B4-BE49-F238E27FC236}">
                <a16:creationId xmlns:a16="http://schemas.microsoft.com/office/drawing/2014/main" id="{AA2A2CC7-0024-2217-7D6F-E14780BEB090}"/>
              </a:ext>
            </a:extLst>
          </p:cNvPr>
          <p:cNvSpPr>
            <a:spLocks noGrp="1"/>
          </p:cNvSpPr>
          <p:nvPr>
            <p:ph idx="1"/>
          </p:nvPr>
        </p:nvSpPr>
        <p:spPr/>
        <p:txBody>
          <a:bodyPr/>
          <a:lstStyle/>
          <a:p>
            <a:r>
              <a:rPr lang="en-GB" dirty="0"/>
              <a:t>We always make assumptions when doing science</a:t>
            </a:r>
          </a:p>
          <a:p>
            <a:pPr lvl="1"/>
            <a:r>
              <a:rPr lang="en-GB" dirty="0"/>
              <a:t>Often, scientists don’t know all of the assumptions they are making</a:t>
            </a:r>
          </a:p>
          <a:p>
            <a:r>
              <a:rPr lang="en-GB" dirty="0"/>
              <a:t>We make assumptions at multiple stages:</a:t>
            </a:r>
          </a:p>
          <a:p>
            <a:pPr lvl="1"/>
            <a:r>
              <a:rPr lang="en-GB" dirty="0"/>
              <a:t>Assumptions about data relevance</a:t>
            </a:r>
          </a:p>
          <a:p>
            <a:pPr lvl="1"/>
            <a:r>
              <a:rPr lang="en-GB" dirty="0"/>
              <a:t>Assumptions about model structure</a:t>
            </a:r>
          </a:p>
          <a:p>
            <a:pPr lvl="1"/>
            <a:r>
              <a:rPr lang="en-GB" dirty="0"/>
              <a:t>Assumptions about residual error</a:t>
            </a:r>
          </a:p>
        </p:txBody>
      </p:sp>
      <p:pic>
        <p:nvPicPr>
          <p:cNvPr id="6" name="Picture Placeholder 5" descr="A person holding her head in a book&#10;&#10;AI-generated content may be incorrect.">
            <a:extLst>
              <a:ext uri="{FF2B5EF4-FFF2-40B4-BE49-F238E27FC236}">
                <a16:creationId xmlns:a16="http://schemas.microsoft.com/office/drawing/2014/main" id="{124F08CF-A31B-BD33-F0B1-14C948F59A0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6081" r="26081"/>
          <a:stretch>
            <a:fillRect/>
          </a:stretch>
        </p:blipFill>
        <p:spPr/>
      </p:pic>
    </p:spTree>
    <p:extLst>
      <p:ext uri="{BB962C8B-B14F-4D97-AF65-F5344CB8AC3E}">
        <p14:creationId xmlns:p14="http://schemas.microsoft.com/office/powerpoint/2010/main" val="36487006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A0210-842E-7173-3518-92A0E689FB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AECC5F-61AA-C6EB-F7C9-2696AFFFF25D}"/>
              </a:ext>
            </a:extLst>
          </p:cNvPr>
          <p:cNvSpPr>
            <a:spLocks noGrp="1"/>
          </p:cNvSpPr>
          <p:nvPr>
            <p:ph type="title"/>
          </p:nvPr>
        </p:nvSpPr>
        <p:spPr/>
        <p:txBody>
          <a:bodyPr>
            <a:normAutofit/>
          </a:bodyPr>
          <a:lstStyle/>
          <a:p>
            <a:r>
              <a:rPr lang="en-GB" dirty="0"/>
              <a:t>Assumption of </a:t>
            </a:r>
            <a:r>
              <a:rPr lang="en-GB" dirty="0">
                <a:solidFill>
                  <a:srgbClr val="FFFF00"/>
                </a:solidFill>
              </a:rPr>
              <a:t>validity</a:t>
            </a:r>
          </a:p>
        </p:txBody>
      </p:sp>
      <p:sp>
        <p:nvSpPr>
          <p:cNvPr id="3" name="Content Placeholder 2">
            <a:extLst>
              <a:ext uri="{FF2B5EF4-FFF2-40B4-BE49-F238E27FC236}">
                <a16:creationId xmlns:a16="http://schemas.microsoft.com/office/drawing/2014/main" id="{43BC450B-9765-6AF5-6016-8ED9DDEB4FE3}"/>
              </a:ext>
            </a:extLst>
          </p:cNvPr>
          <p:cNvSpPr>
            <a:spLocks noGrp="1"/>
          </p:cNvSpPr>
          <p:nvPr>
            <p:ph idx="1"/>
          </p:nvPr>
        </p:nvSpPr>
        <p:spPr/>
        <p:txBody>
          <a:bodyPr/>
          <a:lstStyle/>
          <a:p>
            <a:r>
              <a:rPr lang="en-GB" dirty="0"/>
              <a:t>Do nests closer to roads produce fewer chicks?</a:t>
            </a:r>
          </a:p>
          <a:p>
            <a:r>
              <a:rPr lang="en-GB" dirty="0"/>
              <a:t>You count how many eggs produced in each nest</a:t>
            </a:r>
          </a:p>
          <a:p>
            <a:r>
              <a:rPr lang="en-GB" dirty="0"/>
              <a:t>What is the issue?</a:t>
            </a:r>
          </a:p>
          <a:p>
            <a:pPr lvl="1"/>
            <a:r>
              <a:rPr lang="en-GB" dirty="0"/>
              <a:t>Number of chicks matters, not how many eggs are produced (</a:t>
            </a:r>
            <a:r>
              <a:rPr lang="en-GB" b="1" dirty="0">
                <a:solidFill>
                  <a:srgbClr val="FFFF00"/>
                </a:solidFill>
              </a:rPr>
              <a:t>Not valid</a:t>
            </a:r>
            <a:r>
              <a:rPr lang="en-GB" dirty="0"/>
              <a:t>)</a:t>
            </a:r>
          </a:p>
          <a:p>
            <a:r>
              <a:rPr lang="en-GB" dirty="0"/>
              <a:t>What is the consequence?</a:t>
            </a:r>
          </a:p>
          <a:p>
            <a:pPr lvl="1"/>
            <a:r>
              <a:rPr lang="en-GB" dirty="0"/>
              <a:t>Your model is not answering your question</a:t>
            </a:r>
          </a:p>
        </p:txBody>
      </p:sp>
      <p:pic>
        <p:nvPicPr>
          <p:cNvPr id="6" name="Picture Placeholder 5" descr="A bird on a nest&#10;&#10;AI-generated content may be incorrect.">
            <a:extLst>
              <a:ext uri="{FF2B5EF4-FFF2-40B4-BE49-F238E27FC236}">
                <a16:creationId xmlns:a16="http://schemas.microsoft.com/office/drawing/2014/main" id="{E7334286-CF3B-8203-DA4B-EA34D01F4BBE}"/>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9569" r="26082"/>
          <a:stretch/>
        </p:blipFill>
        <p:spPr>
          <a:xfrm>
            <a:off x="7130374" y="0"/>
            <a:ext cx="5061626" cy="3483582"/>
          </a:xfrm>
        </p:spPr>
      </p:pic>
      <p:pic>
        <p:nvPicPr>
          <p:cNvPr id="8" name="Picture 7" descr="A group of eggs in a nest&#10;&#10;AI-generated content may be incorrect.">
            <a:extLst>
              <a:ext uri="{FF2B5EF4-FFF2-40B4-BE49-F238E27FC236}">
                <a16:creationId xmlns:a16="http://schemas.microsoft.com/office/drawing/2014/main" id="{C5E103DE-7987-A168-291F-4E8C4FD549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30374" y="3483582"/>
            <a:ext cx="5061626" cy="3374417"/>
          </a:xfrm>
          <a:prstGeom prst="rect">
            <a:avLst/>
          </a:prstGeom>
        </p:spPr>
      </p:pic>
    </p:spTree>
    <p:extLst>
      <p:ext uri="{BB962C8B-B14F-4D97-AF65-F5344CB8AC3E}">
        <p14:creationId xmlns:p14="http://schemas.microsoft.com/office/powerpoint/2010/main" val="31495575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576714-F813-C0A1-1AAF-B64D8C9AF342}"/>
              </a:ext>
            </a:extLst>
          </p:cNvPr>
          <p:cNvSpPr>
            <a:spLocks noGrp="1"/>
          </p:cNvSpPr>
          <p:nvPr>
            <p:ph type="title"/>
          </p:nvPr>
        </p:nvSpPr>
        <p:spPr/>
        <p:txBody>
          <a:bodyPr>
            <a:normAutofit/>
          </a:bodyPr>
          <a:lstStyle/>
          <a:p>
            <a:r>
              <a:rPr lang="en-GB" dirty="0"/>
              <a:t>Assumptions of </a:t>
            </a:r>
            <a:r>
              <a:rPr lang="en-GB" dirty="0">
                <a:solidFill>
                  <a:srgbClr val="FFFF00"/>
                </a:solidFill>
              </a:rPr>
              <a:t>representativeness</a:t>
            </a:r>
          </a:p>
        </p:txBody>
      </p:sp>
      <p:sp>
        <p:nvSpPr>
          <p:cNvPr id="3" name="Content Placeholder 2">
            <a:extLst>
              <a:ext uri="{FF2B5EF4-FFF2-40B4-BE49-F238E27FC236}">
                <a16:creationId xmlns:a16="http://schemas.microsoft.com/office/drawing/2014/main" id="{D24BE9AA-B6CF-A49B-14CB-153D13538547}"/>
              </a:ext>
            </a:extLst>
          </p:cNvPr>
          <p:cNvSpPr>
            <a:spLocks noGrp="1"/>
          </p:cNvSpPr>
          <p:nvPr>
            <p:ph idx="1"/>
          </p:nvPr>
        </p:nvSpPr>
        <p:spPr/>
        <p:txBody>
          <a:bodyPr/>
          <a:lstStyle/>
          <a:p>
            <a:r>
              <a:rPr lang="en-GB" dirty="0"/>
              <a:t>What is the growth rate of Atlantic cod?</a:t>
            </a:r>
          </a:p>
          <a:p>
            <a:r>
              <a:rPr lang="en-GB" dirty="0"/>
              <a:t>You measure growth of fish caught in good habitats</a:t>
            </a:r>
          </a:p>
          <a:p>
            <a:r>
              <a:rPr lang="en-GB" dirty="0"/>
              <a:t>What is the issue?</a:t>
            </a:r>
          </a:p>
          <a:p>
            <a:pPr lvl="1"/>
            <a:r>
              <a:rPr lang="en-GB" dirty="0"/>
              <a:t>Cod will grow faster in good habitat (</a:t>
            </a:r>
            <a:r>
              <a:rPr lang="en-GB" b="1" dirty="0">
                <a:solidFill>
                  <a:srgbClr val="FFFF00"/>
                </a:solidFill>
              </a:rPr>
              <a:t>Not representative</a:t>
            </a:r>
            <a:r>
              <a:rPr lang="en-GB" dirty="0"/>
              <a:t>)</a:t>
            </a:r>
          </a:p>
          <a:p>
            <a:r>
              <a:rPr lang="en-GB" dirty="0"/>
              <a:t>What is the consequence?</a:t>
            </a:r>
          </a:p>
          <a:p>
            <a:pPr lvl="1"/>
            <a:r>
              <a:rPr lang="en-GB" dirty="0"/>
              <a:t>Your answer is biassed</a:t>
            </a:r>
          </a:p>
        </p:txBody>
      </p:sp>
      <p:pic>
        <p:nvPicPr>
          <p:cNvPr id="6" name="Picture Placeholder 5" descr="A person holding a large fish&#10;&#10;AI-generated content may be incorrect.">
            <a:extLst>
              <a:ext uri="{FF2B5EF4-FFF2-40B4-BE49-F238E27FC236}">
                <a16:creationId xmlns:a16="http://schemas.microsoft.com/office/drawing/2014/main" id="{EB8401D3-F264-95F0-BC8A-546A0DC65720}"/>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3" r="21898" b="10901"/>
          <a:stretch/>
        </p:blipFill>
        <p:spPr>
          <a:xfrm>
            <a:off x="6635685" y="0"/>
            <a:ext cx="5556315" cy="4187899"/>
          </a:xfrm>
        </p:spPr>
      </p:pic>
      <p:pic>
        <p:nvPicPr>
          <p:cNvPr id="8" name="Picture 7" descr="A group of fish swimming in water&#10;&#10;AI-generated content may be incorrect.">
            <a:extLst>
              <a:ext uri="{FF2B5EF4-FFF2-40B4-BE49-F238E27FC236}">
                <a16:creationId xmlns:a16="http://schemas.microsoft.com/office/drawing/2014/main" id="{E1D8F8A4-3C06-F268-E683-BE12D0A573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3922" y="4187899"/>
            <a:ext cx="5558078" cy="2670101"/>
          </a:xfrm>
          <a:prstGeom prst="rect">
            <a:avLst/>
          </a:prstGeom>
        </p:spPr>
      </p:pic>
    </p:spTree>
    <p:extLst>
      <p:ext uri="{BB962C8B-B14F-4D97-AF65-F5344CB8AC3E}">
        <p14:creationId xmlns:p14="http://schemas.microsoft.com/office/powerpoint/2010/main" val="26052061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0FA4A-7F18-1718-D5BF-0D0178AAE5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548B66-B385-FF3B-07D6-0C6DAE4A8342}"/>
              </a:ext>
            </a:extLst>
          </p:cNvPr>
          <p:cNvSpPr>
            <a:spLocks noGrp="1"/>
          </p:cNvSpPr>
          <p:nvPr>
            <p:ph type="title"/>
          </p:nvPr>
        </p:nvSpPr>
        <p:spPr/>
        <p:txBody>
          <a:bodyPr>
            <a:normAutofit/>
          </a:bodyPr>
          <a:lstStyle/>
          <a:p>
            <a:r>
              <a:rPr lang="en-GB" dirty="0"/>
              <a:t>Assumptions in the scientific workflow</a:t>
            </a:r>
          </a:p>
        </p:txBody>
      </p:sp>
      <p:sp>
        <p:nvSpPr>
          <p:cNvPr id="3" name="Content Placeholder 2">
            <a:extLst>
              <a:ext uri="{FF2B5EF4-FFF2-40B4-BE49-F238E27FC236}">
                <a16:creationId xmlns:a16="http://schemas.microsoft.com/office/drawing/2014/main" id="{2A41B104-4CA6-FA59-D378-07C6267DB772}"/>
              </a:ext>
            </a:extLst>
          </p:cNvPr>
          <p:cNvSpPr>
            <a:spLocks noGrp="1"/>
          </p:cNvSpPr>
          <p:nvPr>
            <p:ph idx="1"/>
          </p:nvPr>
        </p:nvSpPr>
        <p:spPr/>
        <p:txBody>
          <a:bodyPr/>
          <a:lstStyle/>
          <a:p>
            <a:r>
              <a:rPr lang="en-GB" dirty="0"/>
              <a:t>Assumptions about data relevance</a:t>
            </a:r>
          </a:p>
          <a:p>
            <a:pPr lvl="1"/>
            <a:r>
              <a:rPr lang="en-GB" b="1" dirty="0">
                <a:solidFill>
                  <a:srgbClr val="FFFF00"/>
                </a:solidFill>
              </a:rPr>
              <a:t>Validity</a:t>
            </a:r>
            <a:r>
              <a:rPr lang="en-GB" dirty="0"/>
              <a:t> and </a:t>
            </a:r>
            <a:r>
              <a:rPr lang="en-GB" b="1" dirty="0">
                <a:solidFill>
                  <a:srgbClr val="FFFF00"/>
                </a:solidFill>
              </a:rPr>
              <a:t>Representativeness</a:t>
            </a:r>
          </a:p>
          <a:p>
            <a:r>
              <a:rPr lang="en-GB" dirty="0"/>
              <a:t>Assumptions about model structure</a:t>
            </a:r>
          </a:p>
          <a:p>
            <a:r>
              <a:rPr lang="en-GB" dirty="0"/>
              <a:t>Assumptions about residual error</a:t>
            </a:r>
          </a:p>
        </p:txBody>
      </p:sp>
      <p:pic>
        <p:nvPicPr>
          <p:cNvPr id="4" name="Picture Placeholder 5" descr="A person holding her head in a book&#10;&#10;AI-generated content may be incorrect.">
            <a:extLst>
              <a:ext uri="{FF2B5EF4-FFF2-40B4-BE49-F238E27FC236}">
                <a16:creationId xmlns:a16="http://schemas.microsoft.com/office/drawing/2014/main" id="{9845D9F2-39FC-5A44-ED3C-4175CD43B12D}"/>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6081" r="26081"/>
          <a:stretch>
            <a:fillRect/>
          </a:stretch>
        </p:blipFill>
        <p:spPr>
          <a:xfrm>
            <a:off x="6359525" y="0"/>
            <a:ext cx="5832475" cy="6858000"/>
          </a:xfrm>
        </p:spPr>
      </p:pic>
    </p:spTree>
    <p:extLst>
      <p:ext uri="{BB962C8B-B14F-4D97-AF65-F5344CB8AC3E}">
        <p14:creationId xmlns:p14="http://schemas.microsoft.com/office/powerpoint/2010/main" val="495765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2D873-E1E2-BF09-EC64-B6180FD8CC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FF7070-C846-BFCB-B756-D201F5C3047E}"/>
              </a:ext>
            </a:extLst>
          </p:cNvPr>
          <p:cNvSpPr>
            <a:spLocks noGrp="1"/>
          </p:cNvSpPr>
          <p:nvPr>
            <p:ph type="title"/>
          </p:nvPr>
        </p:nvSpPr>
        <p:spPr/>
        <p:txBody>
          <a:bodyPr>
            <a:normAutofit/>
          </a:bodyPr>
          <a:lstStyle/>
          <a:p>
            <a:r>
              <a:rPr lang="en-GB" dirty="0"/>
              <a:t>Assumption of </a:t>
            </a:r>
            <a:r>
              <a:rPr lang="en-GB" dirty="0" err="1">
                <a:solidFill>
                  <a:srgbClr val="FFFF00"/>
                </a:solidFill>
              </a:rPr>
              <a:t>addivity</a:t>
            </a:r>
            <a:endParaRPr lang="en-GB" dirty="0">
              <a:solidFill>
                <a:srgbClr val="FFFF00"/>
              </a:solidFill>
            </a:endParaRPr>
          </a:p>
        </p:txBody>
      </p:sp>
      <p:sp>
        <p:nvSpPr>
          <p:cNvPr id="3" name="Content Placeholder 2">
            <a:extLst>
              <a:ext uri="{FF2B5EF4-FFF2-40B4-BE49-F238E27FC236}">
                <a16:creationId xmlns:a16="http://schemas.microsoft.com/office/drawing/2014/main" id="{6FD98FB9-C11C-F94B-FA73-AAC008EEBC55}"/>
              </a:ext>
            </a:extLst>
          </p:cNvPr>
          <p:cNvSpPr>
            <a:spLocks noGrp="1"/>
          </p:cNvSpPr>
          <p:nvPr>
            <p:ph idx="1"/>
          </p:nvPr>
        </p:nvSpPr>
        <p:spPr/>
        <p:txBody>
          <a:bodyPr>
            <a:normAutofit/>
          </a:bodyPr>
          <a:lstStyle/>
          <a:p>
            <a:r>
              <a:rPr lang="en-GB" dirty="0"/>
              <a:t>Do food supplements and exercise improve muscle growth in humans?</a:t>
            </a:r>
          </a:p>
          <a:p>
            <a:r>
              <a:rPr lang="en-GB" dirty="0"/>
              <a:t>You look at the effect of food and exercise separately</a:t>
            </a:r>
          </a:p>
          <a:p>
            <a:r>
              <a:rPr lang="en-GB" dirty="0"/>
              <a:t>What is the issue?</a:t>
            </a:r>
          </a:p>
          <a:p>
            <a:pPr lvl="1"/>
            <a:r>
              <a:rPr lang="en-GB" dirty="0"/>
              <a:t>Eating supplements without exercise will do nothing. Gains occur when both occur at the same time - their effects interact or multiply (</a:t>
            </a:r>
            <a:r>
              <a:rPr lang="en-GB" b="1" dirty="0">
                <a:solidFill>
                  <a:srgbClr val="FFFF00"/>
                </a:solidFill>
              </a:rPr>
              <a:t>Not additive</a:t>
            </a:r>
            <a:r>
              <a:rPr lang="en-GB" dirty="0"/>
              <a:t>)</a:t>
            </a:r>
          </a:p>
          <a:p>
            <a:r>
              <a:rPr lang="en-GB" dirty="0"/>
              <a:t>What is the consequence?</a:t>
            </a:r>
          </a:p>
          <a:p>
            <a:pPr lvl="1"/>
            <a:r>
              <a:rPr lang="en-GB" dirty="0"/>
              <a:t>You might miss key patterns with an overly simplistic model</a:t>
            </a:r>
          </a:p>
        </p:txBody>
      </p:sp>
      <p:pic>
        <p:nvPicPr>
          <p:cNvPr id="6" name="Picture 5" descr="A group of pills with different colors of pills&#10;&#10;AI-generated content may be incorrect.">
            <a:extLst>
              <a:ext uri="{FF2B5EF4-FFF2-40B4-BE49-F238E27FC236}">
                <a16:creationId xmlns:a16="http://schemas.microsoft.com/office/drawing/2014/main" id="{DBFFDF7F-30B0-48B5-0379-324E4A72F2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85991" y="0"/>
            <a:ext cx="5006009" cy="3356194"/>
          </a:xfrm>
          <a:prstGeom prst="rect">
            <a:avLst/>
          </a:prstGeom>
        </p:spPr>
      </p:pic>
      <p:pic>
        <p:nvPicPr>
          <p:cNvPr id="8" name="Picture 7" descr="A group of people doing exercise&#10;&#10;AI-generated content may be incorrect.">
            <a:extLst>
              <a:ext uri="{FF2B5EF4-FFF2-40B4-BE49-F238E27FC236}">
                <a16:creationId xmlns:a16="http://schemas.microsoft.com/office/drawing/2014/main" id="{6232AD5F-7657-0FF4-4462-D3D70EEEA101}"/>
              </a:ext>
            </a:extLst>
          </p:cNvPr>
          <p:cNvPicPr>
            <a:picLocks noChangeAspect="1"/>
          </p:cNvPicPr>
          <p:nvPr/>
        </p:nvPicPr>
        <p:blipFill>
          <a:blip r:embed="rId3">
            <a:extLst>
              <a:ext uri="{28A0092B-C50C-407E-A947-70E740481C1C}">
                <a14:useLocalDpi xmlns:a14="http://schemas.microsoft.com/office/drawing/2010/main" val="0"/>
              </a:ext>
            </a:extLst>
          </a:blip>
          <a:srcRect r="4443"/>
          <a:stretch/>
        </p:blipFill>
        <p:spPr>
          <a:xfrm>
            <a:off x="7185991" y="3371850"/>
            <a:ext cx="5006009" cy="3486150"/>
          </a:xfrm>
          <a:prstGeom prst="rect">
            <a:avLst/>
          </a:prstGeom>
        </p:spPr>
      </p:pic>
    </p:spTree>
    <p:extLst>
      <p:ext uri="{BB962C8B-B14F-4D97-AF65-F5344CB8AC3E}">
        <p14:creationId xmlns:p14="http://schemas.microsoft.com/office/powerpoint/2010/main" val="30243359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fade">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Effect transition="in" filter="fade">
                                      <p:cBhvr>
                                        <p:cTn id="3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7ED1F-0DD4-D7DD-D372-E0CCD12788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34734B-6F8C-63EF-AFFF-0C2733113512}"/>
              </a:ext>
            </a:extLst>
          </p:cNvPr>
          <p:cNvSpPr>
            <a:spLocks noGrp="1"/>
          </p:cNvSpPr>
          <p:nvPr>
            <p:ph type="title"/>
          </p:nvPr>
        </p:nvSpPr>
        <p:spPr/>
        <p:txBody>
          <a:bodyPr>
            <a:normAutofit/>
          </a:bodyPr>
          <a:lstStyle/>
          <a:p>
            <a:r>
              <a:rPr lang="en-GB" dirty="0"/>
              <a:t>Assumption of </a:t>
            </a:r>
            <a:r>
              <a:rPr lang="en-GB" dirty="0">
                <a:solidFill>
                  <a:srgbClr val="FFFF00"/>
                </a:solidFill>
              </a:rPr>
              <a:t>linearity</a:t>
            </a:r>
          </a:p>
        </p:txBody>
      </p:sp>
      <p:sp>
        <p:nvSpPr>
          <p:cNvPr id="3" name="Content Placeholder 2">
            <a:extLst>
              <a:ext uri="{FF2B5EF4-FFF2-40B4-BE49-F238E27FC236}">
                <a16:creationId xmlns:a16="http://schemas.microsoft.com/office/drawing/2014/main" id="{15216E42-726E-BA5C-3614-EC5F2230920B}"/>
              </a:ext>
            </a:extLst>
          </p:cNvPr>
          <p:cNvSpPr>
            <a:spLocks noGrp="1"/>
          </p:cNvSpPr>
          <p:nvPr>
            <p:ph idx="1"/>
          </p:nvPr>
        </p:nvSpPr>
        <p:spPr/>
        <p:txBody>
          <a:bodyPr/>
          <a:lstStyle/>
          <a:p>
            <a:r>
              <a:rPr lang="en-GB" dirty="0"/>
              <a:t>What is the temperature on enzyme activity?</a:t>
            </a:r>
          </a:p>
          <a:p>
            <a:r>
              <a:rPr lang="en-GB" dirty="0"/>
              <a:t>You fit a model that assumes a straight line will describe the relationship</a:t>
            </a:r>
          </a:p>
          <a:p>
            <a:r>
              <a:rPr lang="en-GB" dirty="0"/>
              <a:t>What is the issue?</a:t>
            </a:r>
          </a:p>
          <a:p>
            <a:pPr lvl="1"/>
            <a:r>
              <a:rPr lang="en-GB" dirty="0"/>
              <a:t>The relationship is not linear </a:t>
            </a:r>
            <a:br>
              <a:rPr lang="en-GB" dirty="0"/>
            </a:br>
            <a:r>
              <a:rPr lang="en-GB" dirty="0"/>
              <a:t>(</a:t>
            </a:r>
            <a:r>
              <a:rPr lang="en-GB" b="1" dirty="0">
                <a:solidFill>
                  <a:srgbClr val="FFFF00"/>
                </a:solidFill>
              </a:rPr>
              <a:t>Not linear</a:t>
            </a:r>
            <a:r>
              <a:rPr lang="en-GB" dirty="0"/>
              <a:t>)</a:t>
            </a:r>
          </a:p>
          <a:p>
            <a:r>
              <a:rPr lang="en-GB" dirty="0"/>
              <a:t>What is the consequence?</a:t>
            </a:r>
          </a:p>
          <a:p>
            <a:pPr lvl="1"/>
            <a:r>
              <a:rPr lang="en-GB" dirty="0"/>
              <a:t>The model might be nonsense</a:t>
            </a:r>
          </a:p>
        </p:txBody>
      </p:sp>
      <p:pic>
        <p:nvPicPr>
          <p:cNvPr id="6" name="Picture 5" descr="A close-up of a cell&#10;&#10;AI-generated content may be incorrect.">
            <a:extLst>
              <a:ext uri="{FF2B5EF4-FFF2-40B4-BE49-F238E27FC236}">
                <a16:creationId xmlns:a16="http://schemas.microsoft.com/office/drawing/2014/main" id="{5A85F524-B4AF-805C-4E1D-1A384792061C}"/>
              </a:ext>
            </a:extLst>
          </p:cNvPr>
          <p:cNvPicPr>
            <a:picLocks noChangeAspect="1"/>
          </p:cNvPicPr>
          <p:nvPr/>
        </p:nvPicPr>
        <p:blipFill>
          <a:blip r:embed="rId2">
            <a:extLst>
              <a:ext uri="{28A0092B-C50C-407E-A947-70E740481C1C}">
                <a14:useLocalDpi xmlns:a14="http://schemas.microsoft.com/office/drawing/2010/main" val="0"/>
              </a:ext>
            </a:extLst>
          </a:blip>
          <a:srcRect t="14720" b="-14720"/>
          <a:stretch/>
        </p:blipFill>
        <p:spPr>
          <a:xfrm>
            <a:off x="7620000" y="0"/>
            <a:ext cx="4572000" cy="3429000"/>
          </a:xfrm>
          <a:prstGeom prst="rect">
            <a:avLst/>
          </a:prstGeom>
        </p:spPr>
      </p:pic>
      <p:pic>
        <p:nvPicPr>
          <p:cNvPr id="8" name="Picture 7">
            <a:extLst>
              <a:ext uri="{FF2B5EF4-FFF2-40B4-BE49-F238E27FC236}">
                <a16:creationId xmlns:a16="http://schemas.microsoft.com/office/drawing/2014/main" id="{8F83C057-A3E8-216F-43B5-9D5C7890790D}"/>
              </a:ext>
            </a:extLst>
          </p:cNvPr>
          <p:cNvPicPr>
            <a:picLocks noChangeAspect="1"/>
          </p:cNvPicPr>
          <p:nvPr/>
        </p:nvPicPr>
        <p:blipFill>
          <a:blip r:embed="rId3"/>
          <a:stretch>
            <a:fillRect/>
          </a:stretch>
        </p:blipFill>
        <p:spPr>
          <a:xfrm>
            <a:off x="7510005" y="2924268"/>
            <a:ext cx="4681995" cy="3933731"/>
          </a:xfrm>
          <a:prstGeom prst="rect">
            <a:avLst/>
          </a:prstGeom>
        </p:spPr>
      </p:pic>
    </p:spTree>
    <p:extLst>
      <p:ext uri="{BB962C8B-B14F-4D97-AF65-F5344CB8AC3E}">
        <p14:creationId xmlns:p14="http://schemas.microsoft.com/office/powerpoint/2010/main" val="1709769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95F26-1834-9D2B-2645-6B99E65682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AB5DCE-5C43-EDBD-0515-B12C798D5E12}"/>
              </a:ext>
            </a:extLst>
          </p:cNvPr>
          <p:cNvSpPr>
            <a:spLocks noGrp="1"/>
          </p:cNvSpPr>
          <p:nvPr>
            <p:ph type="title"/>
          </p:nvPr>
        </p:nvSpPr>
        <p:spPr/>
        <p:txBody>
          <a:bodyPr>
            <a:normAutofit/>
          </a:bodyPr>
          <a:lstStyle/>
          <a:p>
            <a:r>
              <a:rPr lang="en-GB" dirty="0"/>
              <a:t>Assumptions in the scientific workflow</a:t>
            </a:r>
          </a:p>
        </p:txBody>
      </p:sp>
      <p:sp>
        <p:nvSpPr>
          <p:cNvPr id="3" name="Content Placeholder 2">
            <a:extLst>
              <a:ext uri="{FF2B5EF4-FFF2-40B4-BE49-F238E27FC236}">
                <a16:creationId xmlns:a16="http://schemas.microsoft.com/office/drawing/2014/main" id="{FBAF5F11-B79F-19C8-AE18-9EB1500C72E0}"/>
              </a:ext>
            </a:extLst>
          </p:cNvPr>
          <p:cNvSpPr>
            <a:spLocks noGrp="1"/>
          </p:cNvSpPr>
          <p:nvPr>
            <p:ph idx="1"/>
          </p:nvPr>
        </p:nvSpPr>
        <p:spPr/>
        <p:txBody>
          <a:bodyPr/>
          <a:lstStyle/>
          <a:p>
            <a:r>
              <a:rPr lang="en-GB" dirty="0"/>
              <a:t>Assumptions about data relevance</a:t>
            </a:r>
          </a:p>
          <a:p>
            <a:pPr lvl="1"/>
            <a:r>
              <a:rPr lang="en-GB" b="1" dirty="0">
                <a:solidFill>
                  <a:srgbClr val="FFFF00"/>
                </a:solidFill>
              </a:rPr>
              <a:t>Validity</a:t>
            </a:r>
            <a:r>
              <a:rPr lang="en-GB" dirty="0"/>
              <a:t> and </a:t>
            </a:r>
            <a:r>
              <a:rPr lang="en-GB" b="1" dirty="0">
                <a:solidFill>
                  <a:srgbClr val="FFFF00"/>
                </a:solidFill>
              </a:rPr>
              <a:t>Representativeness</a:t>
            </a:r>
          </a:p>
          <a:p>
            <a:r>
              <a:rPr lang="en-GB" dirty="0"/>
              <a:t>Assumptions about model structure</a:t>
            </a:r>
          </a:p>
          <a:p>
            <a:pPr lvl="1"/>
            <a:r>
              <a:rPr lang="en-GB" b="1" dirty="0">
                <a:solidFill>
                  <a:srgbClr val="FFFF00"/>
                </a:solidFill>
              </a:rPr>
              <a:t>Additivity</a:t>
            </a:r>
            <a:r>
              <a:rPr lang="en-GB" dirty="0"/>
              <a:t> and </a:t>
            </a:r>
            <a:r>
              <a:rPr lang="en-GB" b="1" dirty="0">
                <a:solidFill>
                  <a:srgbClr val="FFFF00"/>
                </a:solidFill>
              </a:rPr>
              <a:t>Linearity</a:t>
            </a:r>
          </a:p>
          <a:p>
            <a:r>
              <a:rPr lang="en-GB" dirty="0"/>
              <a:t>Assumptions about residual error</a:t>
            </a:r>
          </a:p>
        </p:txBody>
      </p:sp>
      <p:pic>
        <p:nvPicPr>
          <p:cNvPr id="4" name="Picture Placeholder 5" descr="A person holding her head in a book&#10;&#10;AI-generated content may be incorrect.">
            <a:extLst>
              <a:ext uri="{FF2B5EF4-FFF2-40B4-BE49-F238E27FC236}">
                <a16:creationId xmlns:a16="http://schemas.microsoft.com/office/drawing/2014/main" id="{D2AA7301-45EB-59BE-44E6-98CB63A48AA7}"/>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6081" r="26081"/>
          <a:stretch>
            <a:fillRect/>
          </a:stretch>
        </p:blipFill>
        <p:spPr>
          <a:xfrm>
            <a:off x="6359525" y="0"/>
            <a:ext cx="5832475" cy="6858000"/>
          </a:xfrm>
        </p:spPr>
      </p:pic>
    </p:spTree>
    <p:extLst>
      <p:ext uri="{BB962C8B-B14F-4D97-AF65-F5344CB8AC3E}">
        <p14:creationId xmlns:p14="http://schemas.microsoft.com/office/powerpoint/2010/main" val="25197980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descr="A rainbow colored stuffed animal in a car&#10;&#10;AI-generated content may be incorrect.">
            <a:extLst>
              <a:ext uri="{FF2B5EF4-FFF2-40B4-BE49-F238E27FC236}">
                <a16:creationId xmlns:a16="http://schemas.microsoft.com/office/drawing/2014/main" id="{C79458ED-912C-948D-036F-F30E7997B5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04012" y="0"/>
            <a:ext cx="5143500" cy="6858000"/>
          </a:xfrm>
          <a:prstGeom prst="rect">
            <a:avLst/>
          </a:prstGeom>
        </p:spPr>
      </p:pic>
      <p:pic>
        <p:nvPicPr>
          <p:cNvPr id="13" name="Picture 12" descr="A screenshot of a phone&#10;&#10;AI-generated content may be incorrect.">
            <a:extLst>
              <a:ext uri="{FF2B5EF4-FFF2-40B4-BE49-F238E27FC236}">
                <a16:creationId xmlns:a16="http://schemas.microsoft.com/office/drawing/2014/main" id="{4E68CE19-E457-5006-C5B0-CFF461A5EAE2}"/>
              </a:ext>
            </a:extLst>
          </p:cNvPr>
          <p:cNvPicPr>
            <a:picLocks noChangeAspect="1"/>
          </p:cNvPicPr>
          <p:nvPr/>
        </p:nvPicPr>
        <p:blipFill>
          <a:blip r:embed="rId3">
            <a:extLst>
              <a:ext uri="{28A0092B-C50C-407E-A947-70E740481C1C}">
                <a14:useLocalDpi xmlns:a14="http://schemas.microsoft.com/office/drawing/2010/main" val="0"/>
              </a:ext>
            </a:extLst>
          </a:blip>
          <a:srcRect l="1" r="202" b="23565"/>
          <a:stretch>
            <a:fillRect/>
          </a:stretch>
        </p:blipFill>
        <p:spPr>
          <a:xfrm>
            <a:off x="10087002" y="4790480"/>
            <a:ext cx="1760510" cy="2067520"/>
          </a:xfrm>
          <a:prstGeom prst="rect">
            <a:avLst/>
          </a:prstGeom>
        </p:spPr>
      </p:pic>
      <p:pic>
        <p:nvPicPr>
          <p:cNvPr id="19" name="Picture Placeholder 18" descr="A two images of a person standing on a bridge&#10;&#10;AI-generated content may be incorrect.">
            <a:extLst>
              <a:ext uri="{FF2B5EF4-FFF2-40B4-BE49-F238E27FC236}">
                <a16:creationId xmlns:a16="http://schemas.microsoft.com/office/drawing/2014/main" id="{23EC9545-B6EA-F413-E30B-3CDFDEA7ADC8}"/>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l="7477" r="7477"/>
          <a:stretch>
            <a:fillRect/>
          </a:stretch>
        </p:blipFill>
        <p:spPr/>
      </p:pic>
      <p:sp>
        <p:nvSpPr>
          <p:cNvPr id="4" name="Rectangle 3">
            <a:extLst>
              <a:ext uri="{FF2B5EF4-FFF2-40B4-BE49-F238E27FC236}">
                <a16:creationId xmlns:a16="http://schemas.microsoft.com/office/drawing/2014/main" id="{75714F2C-B148-C5A4-E3FD-B12B6F3A3CF3}"/>
              </a:ext>
            </a:extLst>
          </p:cNvPr>
          <p:cNvSpPr/>
          <p:nvPr/>
        </p:nvSpPr>
        <p:spPr>
          <a:xfrm>
            <a:off x="9288855" y="0"/>
            <a:ext cx="2903143" cy="6858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1" name="Picture 20">
            <a:extLst>
              <a:ext uri="{FF2B5EF4-FFF2-40B4-BE49-F238E27FC236}">
                <a16:creationId xmlns:a16="http://schemas.microsoft.com/office/drawing/2014/main" id="{466F8AFA-66D3-7EE5-0E7A-17692B5BF8A0}"/>
              </a:ext>
            </a:extLst>
          </p:cNvPr>
          <p:cNvPicPr>
            <a:picLocks noChangeAspect="1"/>
          </p:cNvPicPr>
          <p:nvPr/>
        </p:nvPicPr>
        <p:blipFill>
          <a:blip r:embed="rId5"/>
          <a:stretch>
            <a:fillRect/>
          </a:stretch>
        </p:blipFill>
        <p:spPr>
          <a:xfrm>
            <a:off x="6096000" y="662781"/>
            <a:ext cx="6134100" cy="5772150"/>
          </a:xfrm>
          <a:prstGeom prst="rect">
            <a:avLst/>
          </a:prstGeom>
        </p:spPr>
      </p:pic>
      <p:sp>
        <p:nvSpPr>
          <p:cNvPr id="2" name="Title 1">
            <a:extLst>
              <a:ext uri="{FF2B5EF4-FFF2-40B4-BE49-F238E27FC236}">
                <a16:creationId xmlns:a16="http://schemas.microsoft.com/office/drawing/2014/main" id="{934935FA-71B4-E85F-6FFD-37DC13A267BC}"/>
              </a:ext>
            </a:extLst>
          </p:cNvPr>
          <p:cNvSpPr>
            <a:spLocks noGrp="1"/>
          </p:cNvSpPr>
          <p:nvPr>
            <p:ph type="title"/>
          </p:nvPr>
        </p:nvSpPr>
        <p:spPr/>
        <p:txBody>
          <a:bodyPr/>
          <a:lstStyle/>
          <a:p>
            <a:r>
              <a:rPr lang="en-GB" dirty="0"/>
              <a:t>Residual error</a:t>
            </a:r>
          </a:p>
        </p:txBody>
      </p:sp>
      <p:sp>
        <p:nvSpPr>
          <p:cNvPr id="3" name="Content Placeholder 2">
            <a:extLst>
              <a:ext uri="{FF2B5EF4-FFF2-40B4-BE49-F238E27FC236}">
                <a16:creationId xmlns:a16="http://schemas.microsoft.com/office/drawing/2014/main" id="{17195559-E191-5A00-6F76-320BE9FB2C6D}"/>
              </a:ext>
            </a:extLst>
          </p:cNvPr>
          <p:cNvSpPr>
            <a:spLocks noGrp="1"/>
          </p:cNvSpPr>
          <p:nvPr>
            <p:ph idx="1"/>
          </p:nvPr>
        </p:nvSpPr>
        <p:spPr/>
        <p:txBody>
          <a:bodyPr/>
          <a:lstStyle/>
          <a:p>
            <a:r>
              <a:rPr lang="en-GB" dirty="0"/>
              <a:t>Residual error is, crudely, how “wrong” a prediction is for its corresponding observation</a:t>
            </a:r>
          </a:p>
          <a:p>
            <a:r>
              <a:rPr lang="en-GB" b="1" dirty="0"/>
              <a:t>We do not want any patterns in residuals!</a:t>
            </a:r>
          </a:p>
        </p:txBody>
      </p:sp>
      <p:grpSp>
        <p:nvGrpSpPr>
          <p:cNvPr id="25" name="Group 24">
            <a:extLst>
              <a:ext uri="{FF2B5EF4-FFF2-40B4-BE49-F238E27FC236}">
                <a16:creationId xmlns:a16="http://schemas.microsoft.com/office/drawing/2014/main" id="{AC3920C7-F75A-66E9-F7E8-4207BA668A5C}"/>
              </a:ext>
            </a:extLst>
          </p:cNvPr>
          <p:cNvGrpSpPr/>
          <p:nvPr/>
        </p:nvGrpSpPr>
        <p:grpSpPr>
          <a:xfrm>
            <a:off x="9569445" y="902046"/>
            <a:ext cx="1098555" cy="524567"/>
            <a:chOff x="9569445" y="902046"/>
            <a:chExt cx="1098555" cy="524567"/>
          </a:xfrm>
        </p:grpSpPr>
        <p:sp>
          <p:nvSpPr>
            <p:cNvPr id="6" name="TextBox 5">
              <a:extLst>
                <a:ext uri="{FF2B5EF4-FFF2-40B4-BE49-F238E27FC236}">
                  <a16:creationId xmlns:a16="http://schemas.microsoft.com/office/drawing/2014/main" id="{5927A7FE-932B-37AD-13B3-32C7587BDEF4}"/>
                </a:ext>
              </a:extLst>
            </p:cNvPr>
            <p:cNvSpPr txBox="1"/>
            <p:nvPr/>
          </p:nvSpPr>
          <p:spPr>
            <a:xfrm>
              <a:off x="9569445" y="902046"/>
              <a:ext cx="889987" cy="369332"/>
            </a:xfrm>
            <a:prstGeom prst="rect">
              <a:avLst/>
            </a:prstGeom>
            <a:noFill/>
          </p:spPr>
          <p:txBody>
            <a:bodyPr wrap="none" rtlCol="0">
              <a:spAutoFit/>
            </a:bodyPr>
            <a:lstStyle/>
            <a:p>
              <a:r>
                <a:rPr lang="en-GB" dirty="0"/>
                <a:t>Reality</a:t>
              </a:r>
            </a:p>
          </p:txBody>
        </p:sp>
        <p:cxnSp>
          <p:nvCxnSpPr>
            <p:cNvPr id="9" name="Straight Arrow Connector 8">
              <a:extLst>
                <a:ext uri="{FF2B5EF4-FFF2-40B4-BE49-F238E27FC236}">
                  <a16:creationId xmlns:a16="http://schemas.microsoft.com/office/drawing/2014/main" id="{784114B2-6D65-AC17-B78A-3DD3D1A9B298}"/>
                </a:ext>
              </a:extLst>
            </p:cNvPr>
            <p:cNvCxnSpPr>
              <a:cxnSpLocks/>
            </p:cNvCxnSpPr>
            <p:nvPr/>
          </p:nvCxnSpPr>
          <p:spPr>
            <a:xfrm>
              <a:off x="10350387" y="1173956"/>
              <a:ext cx="317613" cy="2526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4" name="Group 23">
            <a:extLst>
              <a:ext uri="{FF2B5EF4-FFF2-40B4-BE49-F238E27FC236}">
                <a16:creationId xmlns:a16="http://schemas.microsoft.com/office/drawing/2014/main" id="{099FDB51-0EBB-7988-D6FB-E2C7ACBD095B}"/>
              </a:ext>
            </a:extLst>
          </p:cNvPr>
          <p:cNvGrpSpPr/>
          <p:nvPr/>
        </p:nvGrpSpPr>
        <p:grpSpPr>
          <a:xfrm>
            <a:off x="9288853" y="1472565"/>
            <a:ext cx="1379147" cy="646331"/>
            <a:chOff x="9288853" y="1472565"/>
            <a:chExt cx="1379147" cy="646331"/>
          </a:xfrm>
        </p:grpSpPr>
        <p:sp>
          <p:nvSpPr>
            <p:cNvPr id="7" name="TextBox 6">
              <a:extLst>
                <a:ext uri="{FF2B5EF4-FFF2-40B4-BE49-F238E27FC236}">
                  <a16:creationId xmlns:a16="http://schemas.microsoft.com/office/drawing/2014/main" id="{5CE8A9CE-0DA3-652D-EE2E-4A4319C974B5}"/>
                </a:ext>
              </a:extLst>
            </p:cNvPr>
            <p:cNvSpPr txBox="1"/>
            <p:nvPr/>
          </p:nvSpPr>
          <p:spPr>
            <a:xfrm>
              <a:off x="9288853" y="1472565"/>
              <a:ext cx="1075936" cy="646331"/>
            </a:xfrm>
            <a:prstGeom prst="rect">
              <a:avLst/>
            </a:prstGeom>
            <a:noFill/>
          </p:spPr>
          <p:txBody>
            <a:bodyPr wrap="none" rtlCol="0">
              <a:spAutoFit/>
            </a:bodyPr>
            <a:lstStyle/>
            <a:p>
              <a:r>
                <a:rPr lang="en-GB" dirty="0"/>
                <a:t>Residual</a:t>
              </a:r>
              <a:br>
                <a:rPr lang="en-GB" dirty="0"/>
              </a:br>
              <a:r>
                <a:rPr lang="en-GB" dirty="0"/>
                <a:t>error</a:t>
              </a:r>
            </a:p>
          </p:txBody>
        </p:sp>
        <p:cxnSp>
          <p:nvCxnSpPr>
            <p:cNvPr id="17" name="Straight Arrow Connector 16">
              <a:extLst>
                <a:ext uri="{FF2B5EF4-FFF2-40B4-BE49-F238E27FC236}">
                  <a16:creationId xmlns:a16="http://schemas.microsoft.com/office/drawing/2014/main" id="{EAA0EEC4-6A7B-FC91-BAC8-EF5EED70B2D1}"/>
                </a:ext>
              </a:extLst>
            </p:cNvPr>
            <p:cNvCxnSpPr>
              <a:cxnSpLocks/>
              <a:stCxn id="7" idx="3"/>
            </p:cNvCxnSpPr>
            <p:nvPr/>
          </p:nvCxnSpPr>
          <p:spPr>
            <a:xfrm>
              <a:off x="10364789" y="1795731"/>
              <a:ext cx="303211"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6" name="Group 25">
            <a:extLst>
              <a:ext uri="{FF2B5EF4-FFF2-40B4-BE49-F238E27FC236}">
                <a16:creationId xmlns:a16="http://schemas.microsoft.com/office/drawing/2014/main" id="{065C5A68-A4B7-9DDD-B539-315781EB5B0A}"/>
              </a:ext>
            </a:extLst>
          </p:cNvPr>
          <p:cNvGrpSpPr/>
          <p:nvPr/>
        </p:nvGrpSpPr>
        <p:grpSpPr>
          <a:xfrm>
            <a:off x="10241762" y="2057400"/>
            <a:ext cx="1390124" cy="853897"/>
            <a:chOff x="10241762" y="2057400"/>
            <a:chExt cx="1390124" cy="853897"/>
          </a:xfrm>
        </p:grpSpPr>
        <p:sp>
          <p:nvSpPr>
            <p:cNvPr id="5" name="TextBox 4">
              <a:extLst>
                <a:ext uri="{FF2B5EF4-FFF2-40B4-BE49-F238E27FC236}">
                  <a16:creationId xmlns:a16="http://schemas.microsoft.com/office/drawing/2014/main" id="{EDE8B1B8-73FA-7CFB-8AE1-D688363BEE1C}"/>
                </a:ext>
              </a:extLst>
            </p:cNvPr>
            <p:cNvSpPr txBox="1"/>
            <p:nvPr/>
          </p:nvSpPr>
          <p:spPr>
            <a:xfrm>
              <a:off x="10241762" y="2541965"/>
              <a:ext cx="1390124" cy="369332"/>
            </a:xfrm>
            <a:prstGeom prst="rect">
              <a:avLst/>
            </a:prstGeom>
            <a:noFill/>
          </p:spPr>
          <p:txBody>
            <a:bodyPr wrap="none" rtlCol="0">
              <a:spAutoFit/>
            </a:bodyPr>
            <a:lstStyle/>
            <a:p>
              <a:r>
                <a:rPr lang="en-GB" dirty="0"/>
                <a:t>Expectation</a:t>
              </a:r>
            </a:p>
          </p:txBody>
        </p:sp>
        <p:cxnSp>
          <p:nvCxnSpPr>
            <p:cNvPr id="20" name="Straight Arrow Connector 19">
              <a:extLst>
                <a:ext uri="{FF2B5EF4-FFF2-40B4-BE49-F238E27FC236}">
                  <a16:creationId xmlns:a16="http://schemas.microsoft.com/office/drawing/2014/main" id="{4D13F599-1A00-DE79-3F61-EAD037EFB9CB}"/>
                </a:ext>
              </a:extLst>
            </p:cNvPr>
            <p:cNvCxnSpPr>
              <a:cxnSpLocks/>
            </p:cNvCxnSpPr>
            <p:nvPr/>
          </p:nvCxnSpPr>
          <p:spPr>
            <a:xfrm flipV="1">
              <a:off x="10711851" y="2057400"/>
              <a:ext cx="0" cy="58102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4070696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grpId="0" nodeType="clickEffect">
                                  <p:stCondLst>
                                    <p:cond delay="0"/>
                                  </p:stCondLst>
                                  <p:childTnLst>
                                    <p:animEffect transition="out" filter="fade">
                                      <p:cBhvr>
                                        <p:cTn id="16" dur="500"/>
                                        <p:tgtEl>
                                          <p:spTgt spid="4"/>
                                        </p:tgtEl>
                                      </p:cBhvr>
                                    </p:animEffect>
                                    <p:set>
                                      <p:cBhvr>
                                        <p:cTn id="17" dur="1" fill="hold">
                                          <p:stCondLst>
                                            <p:cond delay="499"/>
                                          </p:stCondLst>
                                        </p:cTn>
                                        <p:tgtEl>
                                          <p:spTgt spid="4"/>
                                        </p:tgtEl>
                                        <p:attrNameLst>
                                          <p:attrName>style.visibility</p:attrName>
                                        </p:attrNameLst>
                                      </p:cBhvr>
                                      <p:to>
                                        <p:strVal val="hidden"/>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nodeType="clickEffect">
                                  <p:stCondLst>
                                    <p:cond delay="0"/>
                                  </p:stCondLst>
                                  <p:childTnLst>
                                    <p:animEffect transition="out" filter="fade">
                                      <p:cBhvr>
                                        <p:cTn id="21" dur="500"/>
                                        <p:tgtEl>
                                          <p:spTgt spid="19"/>
                                        </p:tgtEl>
                                      </p:cBhvr>
                                    </p:animEffect>
                                    <p:set>
                                      <p:cBhvr>
                                        <p:cTn id="22" dur="1" fill="hold">
                                          <p:stCondLst>
                                            <p:cond delay="499"/>
                                          </p:stCondLst>
                                        </p:cTn>
                                        <p:tgtEl>
                                          <p:spTgt spid="19"/>
                                        </p:tgtEl>
                                        <p:attrNameLst>
                                          <p:attrName>style.visibility</p:attrName>
                                        </p:attrNameLst>
                                      </p:cBhvr>
                                      <p:to>
                                        <p:strVal val="hidden"/>
                                      </p:to>
                                    </p:set>
                                  </p:childTnLst>
                                </p:cTn>
                              </p:par>
                              <p:par>
                                <p:cTn id="23" presetID="10"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par>
                                <p:cTn id="36" presetID="10" presetClass="exit" presetSubtype="0" fill="hold" nodeType="withEffect">
                                  <p:stCondLst>
                                    <p:cond delay="0"/>
                                  </p:stCondLst>
                                  <p:childTnLst>
                                    <p:animEffect transition="out" filter="fade">
                                      <p:cBhvr>
                                        <p:cTn id="37" dur="500"/>
                                        <p:tgtEl>
                                          <p:spTgt spid="13"/>
                                        </p:tgtEl>
                                      </p:cBhvr>
                                    </p:animEffect>
                                    <p:set>
                                      <p:cBhvr>
                                        <p:cTn id="38" dur="1" fill="hold">
                                          <p:stCondLst>
                                            <p:cond delay="499"/>
                                          </p:stCondLst>
                                        </p:cTn>
                                        <p:tgtEl>
                                          <p:spTgt spid="13"/>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500"/>
                                        <p:tgtEl>
                                          <p:spTgt spid="15"/>
                                        </p:tgtEl>
                                      </p:cBhvr>
                                    </p:animEffect>
                                    <p:set>
                                      <p:cBhvr>
                                        <p:cTn id="41" dur="1" fill="hold">
                                          <p:stCondLst>
                                            <p:cond delay="499"/>
                                          </p:stCondLst>
                                        </p:cTn>
                                        <p:tgtEl>
                                          <p:spTgt spid="1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500"/>
                                        <p:tgtEl>
                                          <p:spTgt spid="26"/>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00"/>
                                        <p:tgtEl>
                                          <p:spTgt spid="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
                                            <p:txEl>
                                              <p:pRg st="1" end="1"/>
                                            </p:txEl>
                                          </p:spTgt>
                                        </p:tgtEl>
                                        <p:attrNameLst>
                                          <p:attrName>style.visibility</p:attrName>
                                        </p:attrNameLst>
                                      </p:cBhvr>
                                      <p:to>
                                        <p:strVal val="visible"/>
                                      </p:to>
                                    </p:set>
                                    <p:animEffect transition="in" filter="fade">
                                      <p:cBhvr>
                                        <p:cTn id="61"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50B39-ADE4-61DD-4371-105AD883AE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3FFA1-1DE6-8D3A-8658-3742DC9C8C8F}"/>
              </a:ext>
            </a:extLst>
          </p:cNvPr>
          <p:cNvSpPr>
            <a:spLocks noGrp="1"/>
          </p:cNvSpPr>
          <p:nvPr>
            <p:ph type="title"/>
          </p:nvPr>
        </p:nvSpPr>
        <p:spPr/>
        <p:txBody>
          <a:bodyPr>
            <a:normAutofit/>
          </a:bodyPr>
          <a:lstStyle/>
          <a:p>
            <a:r>
              <a:rPr lang="en-GB" dirty="0"/>
              <a:t>Assumption of </a:t>
            </a:r>
            <a:r>
              <a:rPr lang="en-GB" dirty="0">
                <a:solidFill>
                  <a:srgbClr val="FFFF00"/>
                </a:solidFill>
              </a:rPr>
              <a:t>independence of errors</a:t>
            </a:r>
          </a:p>
        </p:txBody>
      </p:sp>
      <p:sp>
        <p:nvSpPr>
          <p:cNvPr id="3" name="Content Placeholder 2">
            <a:extLst>
              <a:ext uri="{FF2B5EF4-FFF2-40B4-BE49-F238E27FC236}">
                <a16:creationId xmlns:a16="http://schemas.microsoft.com/office/drawing/2014/main" id="{E84CAF78-831A-A914-86E9-A705D9ECC172}"/>
              </a:ext>
            </a:extLst>
          </p:cNvPr>
          <p:cNvSpPr>
            <a:spLocks noGrp="1"/>
          </p:cNvSpPr>
          <p:nvPr>
            <p:ph idx="1"/>
          </p:nvPr>
        </p:nvSpPr>
        <p:spPr/>
        <p:txBody>
          <a:bodyPr>
            <a:normAutofit lnSpcReduction="10000"/>
          </a:bodyPr>
          <a:lstStyle/>
          <a:p>
            <a:r>
              <a:rPr lang="en-GB" dirty="0"/>
              <a:t>What is the average daily oyster growth rate?</a:t>
            </a:r>
          </a:p>
          <a:p>
            <a:r>
              <a:rPr lang="en-GB" dirty="0"/>
              <a:t>You measure the </a:t>
            </a:r>
            <a:r>
              <a:rPr lang="en-GB" i="1" dirty="0"/>
              <a:t>same</a:t>
            </a:r>
            <a:r>
              <a:rPr lang="en-GB" dirty="0"/>
              <a:t> oysters every day</a:t>
            </a:r>
          </a:p>
          <a:p>
            <a:r>
              <a:rPr lang="en-GB" dirty="0"/>
              <a:t>What is the issue?</a:t>
            </a:r>
          </a:p>
          <a:p>
            <a:pPr lvl="1"/>
            <a:r>
              <a:rPr lang="en-GB" dirty="0"/>
              <a:t>The growth of the oyster yesterday affects how much the oyster can be grow today</a:t>
            </a:r>
          </a:p>
          <a:p>
            <a:pPr lvl="1"/>
            <a:r>
              <a:rPr lang="en-GB" dirty="0"/>
              <a:t>The errors in our model follow a pattern rather than being random (</a:t>
            </a:r>
            <a:r>
              <a:rPr lang="en-GB" b="1" dirty="0">
                <a:solidFill>
                  <a:srgbClr val="FFFF00"/>
                </a:solidFill>
              </a:rPr>
              <a:t>Errors not independent</a:t>
            </a:r>
            <a:r>
              <a:rPr lang="en-GB" dirty="0"/>
              <a:t>)</a:t>
            </a:r>
          </a:p>
          <a:p>
            <a:r>
              <a:rPr lang="en-GB" dirty="0"/>
              <a:t>What is the consequence?</a:t>
            </a:r>
          </a:p>
          <a:p>
            <a:pPr lvl="1"/>
            <a:r>
              <a:rPr lang="en-GB" dirty="0"/>
              <a:t>The model is overly confident</a:t>
            </a:r>
          </a:p>
        </p:txBody>
      </p:sp>
      <p:pic>
        <p:nvPicPr>
          <p:cNvPr id="9" name="Picture 8">
            <a:extLst>
              <a:ext uri="{FF2B5EF4-FFF2-40B4-BE49-F238E27FC236}">
                <a16:creationId xmlns:a16="http://schemas.microsoft.com/office/drawing/2014/main" id="{DC449288-2A9B-229A-67E1-7951A6CC98F7}"/>
              </a:ext>
            </a:extLst>
          </p:cNvPr>
          <p:cNvPicPr>
            <a:picLocks noChangeAspect="1"/>
          </p:cNvPicPr>
          <p:nvPr/>
        </p:nvPicPr>
        <p:blipFill>
          <a:blip r:embed="rId2"/>
          <a:stretch>
            <a:fillRect/>
          </a:stretch>
        </p:blipFill>
        <p:spPr>
          <a:xfrm>
            <a:off x="6921500" y="-38862"/>
            <a:ext cx="5270500" cy="3798063"/>
          </a:xfrm>
          <a:prstGeom prst="rect">
            <a:avLst/>
          </a:prstGeom>
        </p:spPr>
      </p:pic>
      <p:pic>
        <p:nvPicPr>
          <p:cNvPr id="12" name="Picture 11">
            <a:extLst>
              <a:ext uri="{FF2B5EF4-FFF2-40B4-BE49-F238E27FC236}">
                <a16:creationId xmlns:a16="http://schemas.microsoft.com/office/drawing/2014/main" id="{7BACD70C-3829-1A69-9B1C-965393EC9F5A}"/>
              </a:ext>
            </a:extLst>
          </p:cNvPr>
          <p:cNvPicPr>
            <a:picLocks noChangeAspect="1"/>
          </p:cNvPicPr>
          <p:nvPr/>
        </p:nvPicPr>
        <p:blipFill>
          <a:blip r:embed="rId3"/>
          <a:stretch>
            <a:fillRect/>
          </a:stretch>
        </p:blipFill>
        <p:spPr>
          <a:xfrm>
            <a:off x="6984240" y="3136900"/>
            <a:ext cx="5207759" cy="3752850"/>
          </a:xfrm>
          <a:prstGeom prst="rect">
            <a:avLst/>
          </a:prstGeom>
        </p:spPr>
      </p:pic>
    </p:spTree>
    <p:extLst>
      <p:ext uri="{BB962C8B-B14F-4D97-AF65-F5344CB8AC3E}">
        <p14:creationId xmlns:p14="http://schemas.microsoft.com/office/powerpoint/2010/main" val="22269382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4" end="4"/>
                                            </p:txEl>
                                          </p:spTgt>
                                        </p:tgtEl>
                                        <p:attrNameLst>
                                          <p:attrName>style.visibility</p:attrName>
                                        </p:attrNameLst>
                                      </p:cBhvr>
                                      <p:to>
                                        <p:strVal val="visible"/>
                                      </p:to>
                                    </p:set>
                                    <p:animEffect transition="in" filter="fade">
                                      <p:cBhvr>
                                        <p:cTn id="30" dur="500"/>
                                        <p:tgtEl>
                                          <p:spTgt spid="3">
                                            <p:txEl>
                                              <p:pRg st="4" end="4"/>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AB580-A115-80BC-5E12-1AFF7029DA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1053B-9431-130D-4FED-FA99DBB60F07}"/>
              </a:ext>
            </a:extLst>
          </p:cNvPr>
          <p:cNvSpPr>
            <a:spLocks noGrp="1"/>
          </p:cNvSpPr>
          <p:nvPr>
            <p:ph type="title"/>
          </p:nvPr>
        </p:nvSpPr>
        <p:spPr/>
        <p:txBody>
          <a:bodyPr>
            <a:normAutofit fontScale="90000"/>
          </a:bodyPr>
          <a:lstStyle/>
          <a:p>
            <a:r>
              <a:rPr lang="en-GB" dirty="0"/>
              <a:t>Assumption of </a:t>
            </a:r>
            <a:br>
              <a:rPr lang="en-GB" dirty="0"/>
            </a:br>
            <a:r>
              <a:rPr lang="en-GB" dirty="0">
                <a:solidFill>
                  <a:srgbClr val="FFFF00"/>
                </a:solidFill>
              </a:rPr>
              <a:t>equal variance of errors</a:t>
            </a:r>
          </a:p>
        </p:txBody>
      </p:sp>
      <p:sp>
        <p:nvSpPr>
          <p:cNvPr id="3" name="Content Placeholder 2">
            <a:extLst>
              <a:ext uri="{FF2B5EF4-FFF2-40B4-BE49-F238E27FC236}">
                <a16:creationId xmlns:a16="http://schemas.microsoft.com/office/drawing/2014/main" id="{F8D997D8-F121-C265-2ADE-B6DB5D58D965}"/>
              </a:ext>
            </a:extLst>
          </p:cNvPr>
          <p:cNvSpPr>
            <a:spLocks noGrp="1"/>
          </p:cNvSpPr>
          <p:nvPr>
            <p:ph idx="1"/>
          </p:nvPr>
        </p:nvSpPr>
        <p:spPr/>
        <p:txBody>
          <a:bodyPr>
            <a:normAutofit lnSpcReduction="10000"/>
          </a:bodyPr>
          <a:lstStyle/>
          <a:p>
            <a:r>
              <a:rPr lang="en-GB" dirty="0"/>
              <a:t>Does temperature predict dolphin swimming speed?</a:t>
            </a:r>
          </a:p>
          <a:p>
            <a:r>
              <a:rPr lang="en-GB" dirty="0"/>
              <a:t>You measure speed at low and high temperatures</a:t>
            </a:r>
          </a:p>
          <a:p>
            <a:r>
              <a:rPr lang="en-GB" dirty="0"/>
              <a:t>What is the issue?</a:t>
            </a:r>
          </a:p>
          <a:p>
            <a:pPr lvl="1"/>
            <a:r>
              <a:rPr lang="en-GB" dirty="0"/>
              <a:t>At higher temperatures, dolphin vary more in their speed</a:t>
            </a:r>
          </a:p>
          <a:p>
            <a:pPr lvl="1"/>
            <a:r>
              <a:rPr lang="en-GB" dirty="0"/>
              <a:t>The errors in our model get larger at higher temperature rather than being random (</a:t>
            </a:r>
            <a:r>
              <a:rPr lang="en-GB" b="1" dirty="0">
                <a:solidFill>
                  <a:srgbClr val="FFFF00"/>
                </a:solidFill>
              </a:rPr>
              <a:t>Errors not equal</a:t>
            </a:r>
            <a:r>
              <a:rPr lang="en-GB" dirty="0"/>
              <a:t>)</a:t>
            </a:r>
          </a:p>
          <a:p>
            <a:r>
              <a:rPr lang="en-GB" dirty="0"/>
              <a:t>What is the consequence?</a:t>
            </a:r>
          </a:p>
          <a:p>
            <a:pPr lvl="1"/>
            <a:r>
              <a:rPr lang="en-GB" dirty="0"/>
              <a:t>The model is either overly confident or overly conservative</a:t>
            </a:r>
          </a:p>
        </p:txBody>
      </p:sp>
      <p:pic>
        <p:nvPicPr>
          <p:cNvPr id="5" name="Picture 4">
            <a:extLst>
              <a:ext uri="{FF2B5EF4-FFF2-40B4-BE49-F238E27FC236}">
                <a16:creationId xmlns:a16="http://schemas.microsoft.com/office/drawing/2014/main" id="{B6B622C5-4DC1-21B2-071E-6C9D50FCEE44}"/>
              </a:ext>
            </a:extLst>
          </p:cNvPr>
          <p:cNvPicPr>
            <a:picLocks noChangeAspect="1"/>
          </p:cNvPicPr>
          <p:nvPr/>
        </p:nvPicPr>
        <p:blipFill>
          <a:blip r:embed="rId2"/>
          <a:stretch>
            <a:fillRect/>
          </a:stretch>
        </p:blipFill>
        <p:spPr>
          <a:xfrm>
            <a:off x="6355080" y="0"/>
            <a:ext cx="5836920" cy="3429000"/>
          </a:xfrm>
          <a:prstGeom prst="rect">
            <a:avLst/>
          </a:prstGeom>
        </p:spPr>
      </p:pic>
      <p:pic>
        <p:nvPicPr>
          <p:cNvPr id="6" name="Picture 5">
            <a:extLst>
              <a:ext uri="{FF2B5EF4-FFF2-40B4-BE49-F238E27FC236}">
                <a16:creationId xmlns:a16="http://schemas.microsoft.com/office/drawing/2014/main" id="{FEFF9F1A-144C-6AFA-F81C-B97106B41E93}"/>
              </a:ext>
            </a:extLst>
          </p:cNvPr>
          <p:cNvPicPr>
            <a:picLocks noChangeAspect="1"/>
          </p:cNvPicPr>
          <p:nvPr/>
        </p:nvPicPr>
        <p:blipFill>
          <a:blip r:embed="rId3"/>
          <a:stretch>
            <a:fillRect/>
          </a:stretch>
        </p:blipFill>
        <p:spPr>
          <a:xfrm>
            <a:off x="6355080" y="3429000"/>
            <a:ext cx="5836920" cy="3429000"/>
          </a:xfrm>
          <a:prstGeom prst="rect">
            <a:avLst/>
          </a:prstGeom>
        </p:spPr>
      </p:pic>
    </p:spTree>
    <p:extLst>
      <p:ext uri="{BB962C8B-B14F-4D97-AF65-F5344CB8AC3E}">
        <p14:creationId xmlns:p14="http://schemas.microsoft.com/office/powerpoint/2010/main" val="24213528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51002-DFA9-F5C6-7D49-4671BA7A2E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4A4550-4BB4-7C50-182C-B6B8DA2C2503}"/>
              </a:ext>
            </a:extLst>
          </p:cNvPr>
          <p:cNvSpPr>
            <a:spLocks noGrp="1"/>
          </p:cNvSpPr>
          <p:nvPr>
            <p:ph type="title"/>
          </p:nvPr>
        </p:nvSpPr>
        <p:spPr/>
        <p:txBody>
          <a:bodyPr>
            <a:normAutofit/>
          </a:bodyPr>
          <a:lstStyle/>
          <a:p>
            <a:r>
              <a:rPr lang="en-GB" dirty="0"/>
              <a:t>Assumption of </a:t>
            </a:r>
            <a:r>
              <a:rPr lang="en-GB" dirty="0">
                <a:solidFill>
                  <a:srgbClr val="FFFF00"/>
                </a:solidFill>
              </a:rPr>
              <a:t>normality of errors</a:t>
            </a:r>
          </a:p>
        </p:txBody>
      </p:sp>
      <p:sp>
        <p:nvSpPr>
          <p:cNvPr id="3" name="Content Placeholder 2">
            <a:extLst>
              <a:ext uri="{FF2B5EF4-FFF2-40B4-BE49-F238E27FC236}">
                <a16:creationId xmlns:a16="http://schemas.microsoft.com/office/drawing/2014/main" id="{C8C999DA-0C20-B175-6B7F-6E6019FBCAD4}"/>
              </a:ext>
            </a:extLst>
          </p:cNvPr>
          <p:cNvSpPr>
            <a:spLocks noGrp="1"/>
          </p:cNvSpPr>
          <p:nvPr>
            <p:ph idx="1"/>
          </p:nvPr>
        </p:nvSpPr>
        <p:spPr/>
        <p:txBody>
          <a:bodyPr>
            <a:normAutofit lnSpcReduction="10000"/>
          </a:bodyPr>
          <a:lstStyle/>
          <a:p>
            <a:r>
              <a:rPr lang="en-GB" dirty="0"/>
              <a:t>What is the average height of a human in a kindergarten class?</a:t>
            </a:r>
          </a:p>
          <a:p>
            <a:r>
              <a:rPr lang="en-GB" dirty="0"/>
              <a:t>You measure the height of everyone in the class, including staff</a:t>
            </a:r>
          </a:p>
          <a:p>
            <a:r>
              <a:rPr lang="en-GB" dirty="0"/>
              <a:t>What is the issue?</a:t>
            </a:r>
          </a:p>
          <a:p>
            <a:pPr lvl="1"/>
            <a:r>
              <a:rPr lang="en-GB" dirty="0"/>
              <a:t>Most of the humans are short (children) but 3 are tall (adults)</a:t>
            </a:r>
          </a:p>
          <a:p>
            <a:pPr lvl="1"/>
            <a:r>
              <a:rPr lang="en-GB" dirty="0"/>
              <a:t>We have a pattern, where the errors are not bell-shaped </a:t>
            </a:r>
            <a:br>
              <a:rPr lang="en-GB" dirty="0"/>
            </a:br>
            <a:r>
              <a:rPr lang="en-GB" dirty="0"/>
              <a:t>(</a:t>
            </a:r>
            <a:r>
              <a:rPr lang="en-GB" b="1" dirty="0">
                <a:solidFill>
                  <a:srgbClr val="FFFF00"/>
                </a:solidFill>
              </a:rPr>
              <a:t>Errors not normally distributed</a:t>
            </a:r>
            <a:r>
              <a:rPr lang="en-GB" dirty="0"/>
              <a:t>)</a:t>
            </a:r>
          </a:p>
          <a:p>
            <a:r>
              <a:rPr lang="en-GB" dirty="0"/>
              <a:t>What is the consequence?</a:t>
            </a:r>
          </a:p>
          <a:p>
            <a:pPr lvl="1"/>
            <a:r>
              <a:rPr lang="en-GB" dirty="0"/>
              <a:t>The model struggles to predict observations accurately </a:t>
            </a:r>
          </a:p>
          <a:p>
            <a:pPr lvl="1"/>
            <a:r>
              <a:rPr lang="en-GB" dirty="0"/>
              <a:t>(not that big of a deal)</a:t>
            </a:r>
          </a:p>
        </p:txBody>
      </p:sp>
      <p:pic>
        <p:nvPicPr>
          <p:cNvPr id="5" name="Picture 4">
            <a:extLst>
              <a:ext uri="{FF2B5EF4-FFF2-40B4-BE49-F238E27FC236}">
                <a16:creationId xmlns:a16="http://schemas.microsoft.com/office/drawing/2014/main" id="{6C0DAAA4-D751-264E-63FC-8EC84B5C2680}"/>
              </a:ext>
            </a:extLst>
          </p:cNvPr>
          <p:cNvPicPr>
            <a:picLocks noChangeAspect="1"/>
          </p:cNvPicPr>
          <p:nvPr/>
        </p:nvPicPr>
        <p:blipFill>
          <a:blip r:embed="rId2"/>
          <a:stretch>
            <a:fillRect/>
          </a:stretch>
        </p:blipFill>
        <p:spPr>
          <a:xfrm>
            <a:off x="6084382" y="0"/>
            <a:ext cx="6107618" cy="3588026"/>
          </a:xfrm>
          <a:prstGeom prst="rect">
            <a:avLst/>
          </a:prstGeom>
        </p:spPr>
      </p:pic>
      <p:pic>
        <p:nvPicPr>
          <p:cNvPr id="6" name="Picture 5">
            <a:extLst>
              <a:ext uri="{FF2B5EF4-FFF2-40B4-BE49-F238E27FC236}">
                <a16:creationId xmlns:a16="http://schemas.microsoft.com/office/drawing/2014/main" id="{E37783D1-3A48-E418-6EE3-E6452B6E2854}"/>
              </a:ext>
            </a:extLst>
          </p:cNvPr>
          <p:cNvPicPr>
            <a:picLocks noChangeAspect="1"/>
          </p:cNvPicPr>
          <p:nvPr/>
        </p:nvPicPr>
        <p:blipFill>
          <a:blip r:embed="rId3"/>
          <a:stretch>
            <a:fillRect/>
          </a:stretch>
        </p:blipFill>
        <p:spPr>
          <a:xfrm>
            <a:off x="6361043" y="3432502"/>
            <a:ext cx="5830956" cy="3425497"/>
          </a:xfrm>
          <a:prstGeom prst="rect">
            <a:avLst/>
          </a:prstGeom>
        </p:spPr>
      </p:pic>
    </p:spTree>
    <p:extLst>
      <p:ext uri="{BB962C8B-B14F-4D97-AF65-F5344CB8AC3E}">
        <p14:creationId xmlns:p14="http://schemas.microsoft.com/office/powerpoint/2010/main" val="22147511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4" end="4"/>
                                            </p:txEl>
                                          </p:spTgt>
                                        </p:tgtEl>
                                        <p:attrNameLst>
                                          <p:attrName>style.visibility</p:attrName>
                                        </p:attrNameLst>
                                      </p:cBhvr>
                                      <p:to>
                                        <p:strVal val="visible"/>
                                      </p:to>
                                    </p:set>
                                    <p:animEffect transition="in" filter="fade">
                                      <p:cBhvr>
                                        <p:cTn id="30" dur="500"/>
                                        <p:tgtEl>
                                          <p:spTgt spid="3">
                                            <p:txEl>
                                              <p:pRg st="4" end="4"/>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fade">
                                      <p:cBhvr>
                                        <p:cTn id="33" dur="500"/>
                                        <p:tgtEl>
                                          <p:spTgt spid="6"/>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500"/>
                                        <p:tgtEl>
                                          <p:spTgt spid="3">
                                            <p:txEl>
                                              <p:pRg st="6" end="6"/>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7" end="7"/>
                                            </p:txEl>
                                          </p:spTgt>
                                        </p:tgtEl>
                                        <p:attrNameLst>
                                          <p:attrName>style.visibility</p:attrName>
                                        </p:attrNameLst>
                                      </p:cBhvr>
                                      <p:to>
                                        <p:strVal val="visible"/>
                                      </p:to>
                                    </p:set>
                                    <p:animEffect transition="in" filter="fade">
                                      <p:cBhvr>
                                        <p:cTn id="4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71AF-2E89-E27B-A4D1-ACD316CBC9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EF4276-92E6-659B-6CFD-43C6C4AB9EEF}"/>
              </a:ext>
            </a:extLst>
          </p:cNvPr>
          <p:cNvSpPr>
            <a:spLocks noGrp="1"/>
          </p:cNvSpPr>
          <p:nvPr>
            <p:ph type="title"/>
          </p:nvPr>
        </p:nvSpPr>
        <p:spPr/>
        <p:txBody>
          <a:bodyPr>
            <a:normAutofit/>
          </a:bodyPr>
          <a:lstStyle/>
          <a:p>
            <a:r>
              <a:rPr lang="en-GB" dirty="0"/>
              <a:t>Assumptions in the scientific workflow</a:t>
            </a:r>
          </a:p>
        </p:txBody>
      </p:sp>
      <p:sp>
        <p:nvSpPr>
          <p:cNvPr id="3" name="Content Placeholder 2">
            <a:extLst>
              <a:ext uri="{FF2B5EF4-FFF2-40B4-BE49-F238E27FC236}">
                <a16:creationId xmlns:a16="http://schemas.microsoft.com/office/drawing/2014/main" id="{141DD952-D9B4-996F-5DC5-13DACA1C5377}"/>
              </a:ext>
            </a:extLst>
          </p:cNvPr>
          <p:cNvSpPr>
            <a:spLocks noGrp="1"/>
          </p:cNvSpPr>
          <p:nvPr>
            <p:ph idx="1"/>
          </p:nvPr>
        </p:nvSpPr>
        <p:spPr/>
        <p:txBody>
          <a:bodyPr/>
          <a:lstStyle/>
          <a:p>
            <a:r>
              <a:rPr lang="en-GB" dirty="0"/>
              <a:t>Assumptions about data relevance</a:t>
            </a:r>
          </a:p>
          <a:p>
            <a:pPr lvl="1"/>
            <a:r>
              <a:rPr lang="en-GB" b="1" dirty="0">
                <a:solidFill>
                  <a:srgbClr val="FFFF00"/>
                </a:solidFill>
              </a:rPr>
              <a:t>Validity</a:t>
            </a:r>
            <a:r>
              <a:rPr lang="en-GB" dirty="0"/>
              <a:t> and </a:t>
            </a:r>
            <a:r>
              <a:rPr lang="en-GB" b="1" dirty="0">
                <a:solidFill>
                  <a:srgbClr val="FFFF00"/>
                </a:solidFill>
              </a:rPr>
              <a:t>Representativeness</a:t>
            </a:r>
          </a:p>
          <a:p>
            <a:r>
              <a:rPr lang="en-GB" dirty="0"/>
              <a:t>Assumptions about model structure</a:t>
            </a:r>
          </a:p>
          <a:p>
            <a:pPr lvl="1"/>
            <a:r>
              <a:rPr lang="en-GB" b="1" dirty="0">
                <a:solidFill>
                  <a:srgbClr val="FFFF00"/>
                </a:solidFill>
              </a:rPr>
              <a:t>Additivity</a:t>
            </a:r>
            <a:r>
              <a:rPr lang="en-GB" dirty="0"/>
              <a:t> and </a:t>
            </a:r>
            <a:r>
              <a:rPr lang="en-GB" b="1" dirty="0">
                <a:solidFill>
                  <a:srgbClr val="FFFF00"/>
                </a:solidFill>
              </a:rPr>
              <a:t>Linearity</a:t>
            </a:r>
          </a:p>
          <a:p>
            <a:r>
              <a:rPr lang="en-GB" dirty="0"/>
              <a:t>Assumptions about residual error</a:t>
            </a:r>
          </a:p>
          <a:p>
            <a:pPr lvl="1"/>
            <a:r>
              <a:rPr lang="en-GB" b="1" dirty="0">
                <a:solidFill>
                  <a:srgbClr val="FFFF00"/>
                </a:solidFill>
              </a:rPr>
              <a:t>Independence of errors</a:t>
            </a:r>
            <a:r>
              <a:rPr lang="en-GB" dirty="0"/>
              <a:t>, </a:t>
            </a:r>
            <a:r>
              <a:rPr lang="en-GB" b="1" dirty="0">
                <a:solidFill>
                  <a:srgbClr val="FFFF00"/>
                </a:solidFill>
              </a:rPr>
              <a:t>Equal variance of errors</a:t>
            </a:r>
            <a:r>
              <a:rPr lang="en-GB" dirty="0"/>
              <a:t>, and </a:t>
            </a:r>
            <a:r>
              <a:rPr lang="en-GB" b="1" dirty="0">
                <a:solidFill>
                  <a:srgbClr val="FFFF00"/>
                </a:solidFill>
              </a:rPr>
              <a:t>Normality of errors</a:t>
            </a:r>
          </a:p>
        </p:txBody>
      </p:sp>
      <p:grpSp>
        <p:nvGrpSpPr>
          <p:cNvPr id="17" name="Group 16">
            <a:extLst>
              <a:ext uri="{FF2B5EF4-FFF2-40B4-BE49-F238E27FC236}">
                <a16:creationId xmlns:a16="http://schemas.microsoft.com/office/drawing/2014/main" id="{8C2DC83B-6982-151B-FFAD-C2040F3A50EA}"/>
              </a:ext>
            </a:extLst>
          </p:cNvPr>
          <p:cNvGrpSpPr/>
          <p:nvPr/>
        </p:nvGrpSpPr>
        <p:grpSpPr>
          <a:xfrm>
            <a:off x="262551" y="2386239"/>
            <a:ext cx="9620820" cy="843530"/>
            <a:chOff x="497941" y="3259248"/>
            <a:chExt cx="9401784" cy="696103"/>
          </a:xfrm>
        </p:grpSpPr>
        <p:sp>
          <p:nvSpPr>
            <p:cNvPr id="5" name="TextBox 4">
              <a:extLst>
                <a:ext uri="{FF2B5EF4-FFF2-40B4-BE49-F238E27FC236}">
                  <a16:creationId xmlns:a16="http://schemas.microsoft.com/office/drawing/2014/main" id="{F951FDB9-21BC-9F76-AC2A-53187EC1A481}"/>
                </a:ext>
              </a:extLst>
            </p:cNvPr>
            <p:cNvSpPr txBox="1"/>
            <p:nvPr/>
          </p:nvSpPr>
          <p:spPr>
            <a:xfrm>
              <a:off x="6558051" y="3264420"/>
              <a:ext cx="3341674" cy="685760"/>
            </a:xfrm>
            <a:prstGeom prst="rect">
              <a:avLst/>
            </a:prstGeom>
            <a:noFill/>
            <a:ln>
              <a:solidFill>
                <a:schemeClr val="tx1"/>
              </a:solidFill>
            </a:ln>
          </p:spPr>
          <p:txBody>
            <a:bodyPr wrap="none" rtlCol="0">
              <a:spAutoFit/>
            </a:bodyPr>
            <a:lstStyle/>
            <a:p>
              <a:r>
                <a:rPr lang="en-GB" sz="2400" dirty="0"/>
                <a:t>Most important! </a:t>
              </a:r>
              <a:br>
                <a:rPr lang="en-GB" sz="2400" dirty="0"/>
              </a:br>
              <a:r>
                <a:rPr lang="en-GB" sz="2400" dirty="0">
                  <a:solidFill>
                    <a:srgbClr val="FFFF00"/>
                  </a:solidFill>
                </a:rPr>
                <a:t>Is my data appropriate?</a:t>
              </a:r>
              <a:endParaRPr lang="en-GB" sz="2400" dirty="0"/>
            </a:p>
          </p:txBody>
        </p:sp>
        <p:sp>
          <p:nvSpPr>
            <p:cNvPr id="8" name="Rectangle 7">
              <a:extLst>
                <a:ext uri="{FF2B5EF4-FFF2-40B4-BE49-F238E27FC236}">
                  <a16:creationId xmlns:a16="http://schemas.microsoft.com/office/drawing/2014/main" id="{62969CF3-433E-BEB7-E469-7AEE9F293E28}"/>
                </a:ext>
              </a:extLst>
            </p:cNvPr>
            <p:cNvSpPr/>
            <p:nvPr/>
          </p:nvSpPr>
          <p:spPr>
            <a:xfrm>
              <a:off x="497941" y="3259248"/>
              <a:ext cx="5700638" cy="6961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Arrow Connector 11">
              <a:extLst>
                <a:ext uri="{FF2B5EF4-FFF2-40B4-BE49-F238E27FC236}">
                  <a16:creationId xmlns:a16="http://schemas.microsoft.com/office/drawing/2014/main" id="{3DE52830-3B86-3E66-1D25-378F31BF3C09}"/>
                </a:ext>
              </a:extLst>
            </p:cNvPr>
            <p:cNvCxnSpPr>
              <a:cxnSpLocks/>
              <a:stCxn id="8" idx="3"/>
              <a:endCxn id="5" idx="1"/>
            </p:cNvCxnSpPr>
            <p:nvPr/>
          </p:nvCxnSpPr>
          <p:spPr>
            <a:xfrm>
              <a:off x="6198579" y="3607299"/>
              <a:ext cx="35947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8" name="Group 17">
            <a:extLst>
              <a:ext uri="{FF2B5EF4-FFF2-40B4-BE49-F238E27FC236}">
                <a16:creationId xmlns:a16="http://schemas.microsoft.com/office/drawing/2014/main" id="{DD55F2CF-347A-5EBF-AAAA-653CB39E0DD4}"/>
              </a:ext>
            </a:extLst>
          </p:cNvPr>
          <p:cNvGrpSpPr/>
          <p:nvPr/>
        </p:nvGrpSpPr>
        <p:grpSpPr>
          <a:xfrm>
            <a:off x="262551" y="3337117"/>
            <a:ext cx="10292734" cy="830997"/>
            <a:chOff x="497941" y="3955351"/>
            <a:chExt cx="9928317" cy="696106"/>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B559C7D-9443-C9CB-96A4-6B1750B6ACD7}"/>
                    </a:ext>
                  </a:extLst>
                </p:cNvPr>
                <p:cNvSpPr txBox="1"/>
                <p:nvPr/>
              </p:nvSpPr>
              <p:spPr>
                <a:xfrm>
                  <a:off x="6479676" y="3955351"/>
                  <a:ext cx="3946582" cy="696106"/>
                </a:xfrm>
                <a:prstGeom prst="rect">
                  <a:avLst/>
                </a:prstGeom>
                <a:noFill/>
                <a:ln>
                  <a:solidFill>
                    <a:schemeClr val="tx1"/>
                  </a:solidFill>
                </a:ln>
              </p:spPr>
              <p:txBody>
                <a:bodyPr wrap="none" rtlCol="0">
                  <a:spAutoFit/>
                </a:bodyPr>
                <a:lstStyle/>
                <a:p>
                  <a:r>
                    <a:rPr lang="en-GB" sz="2400" dirty="0"/>
                    <a:t>Next most important!</a:t>
                  </a:r>
                </a:p>
                <a:p>
                  <a:r>
                    <a:rPr lang="en-GB" sz="2400" dirty="0">
                      <a:solidFill>
                        <a:srgbClr val="FFFF00"/>
                      </a:solidFill>
                    </a:rPr>
                    <a:t>Is </a:t>
                  </a:r>
                  <a14:m>
                    <m:oMath xmlns:m="http://schemas.openxmlformats.org/officeDocument/2006/math">
                      <m:r>
                        <a:rPr lang="en-GB" sz="2400" b="0" i="1" smtClean="0">
                          <a:solidFill>
                            <a:srgbClr val="FFFF00"/>
                          </a:solidFill>
                          <a:latin typeface="Cambria Math" panose="02040503050406030204" pitchFamily="18" charset="0"/>
                        </a:rPr>
                        <m:t>𝑦</m:t>
                      </m:r>
                      <m:r>
                        <a:rPr lang="en-GB" sz="2400" b="0" i="1" smtClean="0">
                          <a:solidFill>
                            <a:srgbClr val="FFFF00"/>
                          </a:solidFill>
                          <a:latin typeface="Cambria Math" panose="02040503050406030204" pitchFamily="18" charset="0"/>
                        </a:rPr>
                        <m:t>=</m:t>
                      </m:r>
                      <m:sSub>
                        <m:sSubPr>
                          <m:ctrlPr>
                            <a:rPr lang="en-GB" sz="2400" b="0" i="1" smtClean="0">
                              <a:solidFill>
                                <a:srgbClr val="FFFF00"/>
                              </a:solidFill>
                              <a:latin typeface="Cambria Math" panose="02040503050406030204" pitchFamily="18" charset="0"/>
                            </a:rPr>
                          </m:ctrlPr>
                        </m:sSubPr>
                        <m:e>
                          <m:r>
                            <a:rPr lang="en-GB" sz="2400" b="0" i="1" smtClean="0">
                              <a:solidFill>
                                <a:srgbClr val="FFFF00"/>
                              </a:solidFill>
                              <a:latin typeface="Cambria Math" panose="02040503050406030204" pitchFamily="18" charset="0"/>
                            </a:rPr>
                            <m:t>𝛽</m:t>
                          </m:r>
                        </m:e>
                        <m:sub>
                          <m:r>
                            <a:rPr lang="en-GB" sz="2400" b="0" i="1" smtClean="0">
                              <a:solidFill>
                                <a:srgbClr val="FFFF00"/>
                              </a:solidFill>
                              <a:latin typeface="Cambria Math" panose="02040503050406030204" pitchFamily="18" charset="0"/>
                            </a:rPr>
                            <m:t>0</m:t>
                          </m:r>
                        </m:sub>
                      </m:sSub>
                      <m:r>
                        <a:rPr lang="en-GB" sz="2400" b="0" i="1" smtClean="0">
                          <a:solidFill>
                            <a:srgbClr val="FFFF00"/>
                          </a:solidFill>
                          <a:latin typeface="Cambria Math" panose="02040503050406030204" pitchFamily="18" charset="0"/>
                        </a:rPr>
                        <m:t>+</m:t>
                      </m:r>
                      <m:sSub>
                        <m:sSubPr>
                          <m:ctrlPr>
                            <a:rPr lang="en-GB" sz="2400" b="0" i="1" smtClean="0">
                              <a:solidFill>
                                <a:srgbClr val="FFFF00"/>
                              </a:solidFill>
                              <a:latin typeface="Cambria Math" panose="02040503050406030204" pitchFamily="18" charset="0"/>
                            </a:rPr>
                          </m:ctrlPr>
                        </m:sSubPr>
                        <m:e>
                          <m:r>
                            <a:rPr lang="en-GB" sz="2400" b="0" i="1" smtClean="0">
                              <a:solidFill>
                                <a:srgbClr val="FFFF00"/>
                              </a:solidFill>
                              <a:latin typeface="Cambria Math" panose="02040503050406030204" pitchFamily="18" charset="0"/>
                            </a:rPr>
                            <m:t>𝛽</m:t>
                          </m:r>
                        </m:e>
                        <m:sub>
                          <m:r>
                            <a:rPr lang="en-GB" sz="2400" b="0" i="1" smtClean="0">
                              <a:solidFill>
                                <a:srgbClr val="FFFF00"/>
                              </a:solidFill>
                              <a:latin typeface="Cambria Math" panose="02040503050406030204" pitchFamily="18" charset="0"/>
                            </a:rPr>
                            <m:t>1</m:t>
                          </m:r>
                        </m:sub>
                      </m:sSub>
                      <m:r>
                        <a:rPr lang="en-GB" sz="2400" b="0" i="1" smtClean="0">
                          <a:solidFill>
                            <a:srgbClr val="FFFF00"/>
                          </a:solidFill>
                          <a:latin typeface="Cambria Math" panose="02040503050406030204" pitchFamily="18" charset="0"/>
                        </a:rPr>
                        <m:t>𝑥</m:t>
                      </m:r>
                    </m:oMath>
                  </a14:m>
                  <a:r>
                    <a:rPr lang="en-GB" sz="2400" dirty="0">
                      <a:solidFill>
                        <a:srgbClr val="FFFF00"/>
                      </a:solidFill>
                    </a:rPr>
                    <a:t> right for me?</a:t>
                  </a:r>
                </a:p>
              </p:txBody>
            </p:sp>
          </mc:Choice>
          <mc:Fallback xmlns="">
            <p:sp>
              <p:nvSpPr>
                <p:cNvPr id="6" name="TextBox 5">
                  <a:extLst>
                    <a:ext uri="{FF2B5EF4-FFF2-40B4-BE49-F238E27FC236}">
                      <a16:creationId xmlns:a16="http://schemas.microsoft.com/office/drawing/2014/main" id="{3B559C7D-9443-C9CB-96A4-6B1750B6ACD7}"/>
                    </a:ext>
                  </a:extLst>
                </p:cNvPr>
                <p:cNvSpPr txBox="1">
                  <a:spLocks noRot="1" noChangeAspect="1" noMove="1" noResize="1" noEditPoints="1" noAdjustHandles="1" noChangeArrowheads="1" noChangeShapeType="1" noTextEdit="1"/>
                </p:cNvSpPr>
                <p:nvPr/>
              </p:nvSpPr>
              <p:spPr>
                <a:xfrm>
                  <a:off x="6479676" y="3955351"/>
                  <a:ext cx="3946582" cy="696106"/>
                </a:xfrm>
                <a:prstGeom prst="rect">
                  <a:avLst/>
                </a:prstGeom>
                <a:blipFill>
                  <a:blip r:embed="rId2"/>
                  <a:stretch>
                    <a:fillRect l="-2077" t="-5036" r="-3116" b="-13669"/>
                  </a:stretch>
                </a:blipFill>
                <a:ln>
                  <a:solidFill>
                    <a:schemeClr val="tx1"/>
                  </a:solidFill>
                </a:ln>
              </p:spPr>
              <p:txBody>
                <a:bodyPr/>
                <a:lstStyle/>
                <a:p>
                  <a:r>
                    <a:rPr lang="en-GB">
                      <a:noFill/>
                    </a:rPr>
                    <a:t> </a:t>
                  </a:r>
                </a:p>
              </p:txBody>
            </p:sp>
          </mc:Fallback>
        </mc:AlternateContent>
        <p:sp>
          <p:nvSpPr>
            <p:cNvPr id="9" name="Rectangle 8">
              <a:extLst>
                <a:ext uri="{FF2B5EF4-FFF2-40B4-BE49-F238E27FC236}">
                  <a16:creationId xmlns:a16="http://schemas.microsoft.com/office/drawing/2014/main" id="{7DFB0096-8F46-6E1F-B806-BEABF4B7E767}"/>
                </a:ext>
              </a:extLst>
            </p:cNvPr>
            <p:cNvSpPr/>
            <p:nvPr/>
          </p:nvSpPr>
          <p:spPr>
            <a:xfrm>
              <a:off x="497941" y="3955351"/>
              <a:ext cx="5598058" cy="6961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4" name="Straight Arrow Connector 13">
              <a:extLst>
                <a:ext uri="{FF2B5EF4-FFF2-40B4-BE49-F238E27FC236}">
                  <a16:creationId xmlns:a16="http://schemas.microsoft.com/office/drawing/2014/main" id="{EA79C4F1-7554-4A9F-042B-98A245C028D1}"/>
                </a:ext>
              </a:extLst>
            </p:cNvPr>
            <p:cNvCxnSpPr>
              <a:stCxn id="9" idx="3"/>
              <a:endCxn id="6" idx="1"/>
            </p:cNvCxnSpPr>
            <p:nvPr/>
          </p:nvCxnSpPr>
          <p:spPr>
            <a:xfrm>
              <a:off x="6095999" y="4303403"/>
              <a:ext cx="383676" cy="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301FF93A-7775-2020-418F-62AAB90C8DEE}"/>
              </a:ext>
            </a:extLst>
          </p:cNvPr>
          <p:cNvGrpSpPr/>
          <p:nvPr/>
        </p:nvGrpSpPr>
        <p:grpSpPr>
          <a:xfrm>
            <a:off x="262550" y="4269160"/>
            <a:ext cx="10379041" cy="1436284"/>
            <a:chOff x="497940" y="4651454"/>
            <a:chExt cx="10007381" cy="1034122"/>
          </a:xfrm>
        </p:grpSpPr>
        <p:sp>
          <p:nvSpPr>
            <p:cNvPr id="7" name="TextBox 6">
              <a:extLst>
                <a:ext uri="{FF2B5EF4-FFF2-40B4-BE49-F238E27FC236}">
                  <a16:creationId xmlns:a16="http://schemas.microsoft.com/office/drawing/2014/main" id="{34F59E32-C435-0C71-D94A-0935384DD1D6}"/>
                </a:ext>
              </a:extLst>
            </p:cNvPr>
            <p:cNvSpPr txBox="1"/>
            <p:nvPr/>
          </p:nvSpPr>
          <p:spPr>
            <a:xfrm>
              <a:off x="6477174" y="4736397"/>
              <a:ext cx="4028147" cy="864235"/>
            </a:xfrm>
            <a:prstGeom prst="rect">
              <a:avLst/>
            </a:prstGeom>
            <a:noFill/>
            <a:ln>
              <a:solidFill>
                <a:schemeClr val="tx1"/>
              </a:solidFill>
            </a:ln>
          </p:spPr>
          <p:txBody>
            <a:bodyPr wrap="none" rtlCol="0">
              <a:spAutoFit/>
            </a:bodyPr>
            <a:lstStyle/>
            <a:p>
              <a:r>
                <a:rPr lang="en-GB" sz="2400" dirty="0"/>
                <a:t>Least important.</a:t>
              </a:r>
              <a:br>
                <a:rPr lang="en-GB" sz="2400" dirty="0"/>
              </a:br>
              <a:r>
                <a:rPr lang="en-GB" sz="2400" dirty="0">
                  <a:solidFill>
                    <a:srgbClr val="FFFF00"/>
                  </a:solidFill>
                </a:rPr>
                <a:t>When my model is wrong,</a:t>
              </a:r>
              <a:br>
                <a:rPr lang="en-GB" sz="2400" dirty="0">
                  <a:solidFill>
                    <a:srgbClr val="FFFF00"/>
                  </a:solidFill>
                </a:rPr>
              </a:br>
              <a:r>
                <a:rPr lang="en-GB" sz="2400" dirty="0">
                  <a:solidFill>
                    <a:srgbClr val="FFFF00"/>
                  </a:solidFill>
                </a:rPr>
                <a:t>is it wrong in the </a:t>
              </a:r>
              <a:r>
                <a:rPr lang="en-GB" sz="2400" i="1" dirty="0">
                  <a:solidFill>
                    <a:srgbClr val="FFFF00"/>
                  </a:solidFill>
                </a:rPr>
                <a:t>“right”</a:t>
              </a:r>
              <a:r>
                <a:rPr lang="en-GB" sz="2400" dirty="0">
                  <a:solidFill>
                    <a:srgbClr val="FFFF00"/>
                  </a:solidFill>
                </a:rPr>
                <a:t> way?</a:t>
              </a:r>
            </a:p>
          </p:txBody>
        </p:sp>
        <p:sp>
          <p:nvSpPr>
            <p:cNvPr id="10" name="Rectangle 9">
              <a:extLst>
                <a:ext uri="{FF2B5EF4-FFF2-40B4-BE49-F238E27FC236}">
                  <a16:creationId xmlns:a16="http://schemas.microsoft.com/office/drawing/2014/main" id="{A48996F8-FB84-9730-B71C-DEF761B7980B}"/>
                </a:ext>
              </a:extLst>
            </p:cNvPr>
            <p:cNvSpPr/>
            <p:nvPr/>
          </p:nvSpPr>
          <p:spPr>
            <a:xfrm>
              <a:off x="497940" y="4651454"/>
              <a:ext cx="5598059" cy="103412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6" name="Straight Arrow Connector 15">
              <a:extLst>
                <a:ext uri="{FF2B5EF4-FFF2-40B4-BE49-F238E27FC236}">
                  <a16:creationId xmlns:a16="http://schemas.microsoft.com/office/drawing/2014/main" id="{7ECA1C01-3CC7-17A1-29CA-54FF76660B7D}"/>
                </a:ext>
              </a:extLst>
            </p:cNvPr>
            <p:cNvCxnSpPr>
              <a:stCxn id="10" idx="3"/>
              <a:endCxn id="7" idx="1"/>
            </p:cNvCxnSpPr>
            <p:nvPr/>
          </p:nvCxnSpPr>
          <p:spPr>
            <a:xfrm>
              <a:off x="6095999" y="5168515"/>
              <a:ext cx="38117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4" name="TextBox 3">
            <a:extLst>
              <a:ext uri="{FF2B5EF4-FFF2-40B4-BE49-F238E27FC236}">
                <a16:creationId xmlns:a16="http://schemas.microsoft.com/office/drawing/2014/main" id="{8BA7C447-58A5-252F-C072-C23C8568424D}"/>
              </a:ext>
            </a:extLst>
          </p:cNvPr>
          <p:cNvSpPr txBox="1"/>
          <p:nvPr/>
        </p:nvSpPr>
        <p:spPr>
          <a:xfrm>
            <a:off x="983061" y="6033627"/>
            <a:ext cx="10225876" cy="523220"/>
          </a:xfrm>
          <a:prstGeom prst="rect">
            <a:avLst/>
          </a:prstGeom>
          <a:noFill/>
        </p:spPr>
        <p:txBody>
          <a:bodyPr wrap="none" rtlCol="0">
            <a:spAutoFit/>
          </a:bodyPr>
          <a:lstStyle/>
          <a:p>
            <a:r>
              <a:rPr lang="en-GB" sz="2800" dirty="0"/>
              <a:t>Dealing with these issues is the core of a well-designed study!</a:t>
            </a:r>
          </a:p>
        </p:txBody>
      </p:sp>
    </p:spTree>
    <p:extLst>
      <p:ext uri="{BB962C8B-B14F-4D97-AF65-F5344CB8AC3E}">
        <p14:creationId xmlns:p14="http://schemas.microsoft.com/office/powerpoint/2010/main" val="1747966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00"/>
                                        <p:tgtEl>
                                          <p:spTgt spid="1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4"/>
                                        </p:tgtEl>
                                        <p:attrNameLst>
                                          <p:attrName>style.visibility</p:attrName>
                                        </p:attrNameLst>
                                      </p:cBhvr>
                                      <p:to>
                                        <p:strVal val="visible"/>
                                      </p:to>
                                    </p:set>
                                    <p:animEffect transition="in" filter="fade">
                                      <p:cBhvr>
                                        <p:cTn id="4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F1DA7-C0E2-DF0C-9723-1B6946FFAE1E}"/>
              </a:ext>
            </a:extLst>
          </p:cNvPr>
          <p:cNvSpPr>
            <a:spLocks noGrp="1"/>
          </p:cNvSpPr>
          <p:nvPr>
            <p:ph type="title"/>
          </p:nvPr>
        </p:nvSpPr>
        <p:spPr>
          <a:xfrm>
            <a:off x="0" y="0"/>
            <a:ext cx="12192000" cy="1325563"/>
          </a:xfrm>
        </p:spPr>
        <p:txBody>
          <a:bodyPr/>
          <a:lstStyle/>
          <a:p>
            <a:r>
              <a:rPr lang="en-GB" dirty="0"/>
              <a:t>TL;DR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4311B5-BEAC-9F63-5C7A-510527D185F7}"/>
                  </a:ext>
                </a:extLst>
              </p:cNvPr>
              <p:cNvSpPr>
                <a:spLocks noGrp="1"/>
              </p:cNvSpPr>
              <p:nvPr>
                <p:ph idx="1"/>
              </p:nvPr>
            </p:nvSpPr>
            <p:spPr>
              <a:xfrm>
                <a:off x="0" y="1426613"/>
                <a:ext cx="12192000" cy="5240194"/>
              </a:xfrm>
            </p:spPr>
            <p:txBody>
              <a:bodyPr>
                <a:normAutofit lnSpcReduction="10000"/>
              </a:bodyPr>
              <a:lstStyle/>
              <a:p>
                <a:r>
                  <a:rPr lang="en-GB" dirty="0"/>
                  <a:t>We choose a distribution to state what the data should look like and how variation should work</a:t>
                </a:r>
              </a:p>
              <a:p>
                <a:pPr lvl="1"/>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is a common one (but not the only one)</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r>
                      <a:rPr lang="en-GB" b="0" i="1" smtClean="0">
                        <a:latin typeface="Cambria Math" panose="02040503050406030204" pitchFamily="18" charset="0"/>
                      </a:rPr>
                      <m:t>𝜎</m:t>
                    </m:r>
                    <m:r>
                      <a:rPr lang="en-GB" b="0" i="1" smtClean="0">
                        <a:latin typeface="Cambria Math" panose="02040503050406030204" pitchFamily="18" charset="0"/>
                      </a:rPr>
                      <m:t>)</m:t>
                    </m:r>
                  </m:oMath>
                </a14:m>
                <a:endParaRPr lang="en-GB" dirty="0"/>
              </a:p>
              <a:p>
                <a:r>
                  <a:rPr lang="en-GB" dirty="0"/>
                  <a:t>We use a linear equation to say what determines the average (</a:t>
                </a:r>
                <a14:m>
                  <m:oMath xmlns:m="http://schemas.openxmlformats.org/officeDocument/2006/math">
                    <m:r>
                      <a:rPr lang="en-GB" b="0" i="1" smtClean="0">
                        <a:latin typeface="Cambria Math" panose="02040503050406030204" pitchFamily="18" charset="0"/>
                      </a:rPr>
                      <m:t>𝜇</m:t>
                    </m:r>
                  </m:oMath>
                </a14:m>
                <a:r>
                  <a:rPr lang="en-GB" dirty="0"/>
                  <a:t>)</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endParaRPr lang="en-GB" dirty="0"/>
              </a:p>
              <a:p>
                <a:r>
                  <a:rPr lang="en-GB" dirty="0"/>
                  <a:t>When we fit these models, we make various assumptions</a:t>
                </a:r>
              </a:p>
              <a:p>
                <a:pPr lvl="1"/>
                <a:r>
                  <a:rPr lang="en-GB" dirty="0"/>
                  <a:t>Assumptions about the data are most important</a:t>
                </a:r>
              </a:p>
              <a:p>
                <a:pPr lvl="2"/>
                <a:r>
                  <a:rPr lang="en-GB" dirty="0">
                    <a:solidFill>
                      <a:srgbClr val="FFFF00"/>
                    </a:solidFill>
                  </a:rPr>
                  <a:t>Are we measuring the right thing, in the right way?</a:t>
                </a:r>
              </a:p>
              <a:p>
                <a:pPr lvl="1"/>
                <a:r>
                  <a:rPr lang="en-GB" dirty="0"/>
                  <a:t>Assumptions about the model structure is next most important</a:t>
                </a:r>
              </a:p>
              <a:p>
                <a:pPr lvl="2"/>
                <a:r>
                  <a:rPr lang="en-GB" dirty="0">
                    <a:solidFill>
                      <a:srgbClr val="FFFF00"/>
                    </a:solidFill>
                  </a:rPr>
                  <a:t>Does our model match reality?</a:t>
                </a:r>
              </a:p>
              <a:p>
                <a:pPr lvl="1"/>
                <a:r>
                  <a:rPr lang="en-GB" dirty="0"/>
                  <a:t>Assumptions about residual errors are least important</a:t>
                </a:r>
              </a:p>
              <a:p>
                <a:pPr lvl="2"/>
                <a:r>
                  <a:rPr lang="en-GB" dirty="0">
                    <a:solidFill>
                      <a:srgbClr val="FFFF00"/>
                    </a:solidFill>
                  </a:rPr>
                  <a:t>Are the “mistakes” behaving as we expect?</a:t>
                </a:r>
              </a:p>
            </p:txBody>
          </p:sp>
        </mc:Choice>
        <mc:Fallback xmlns="">
          <p:sp>
            <p:nvSpPr>
              <p:cNvPr id="3" name="Content Placeholder 2">
                <a:extLst>
                  <a:ext uri="{FF2B5EF4-FFF2-40B4-BE49-F238E27FC236}">
                    <a16:creationId xmlns:a16="http://schemas.microsoft.com/office/drawing/2014/main" id="{B34311B5-BEAC-9F63-5C7A-510527D185F7}"/>
                  </a:ext>
                </a:extLst>
              </p:cNvPr>
              <p:cNvSpPr>
                <a:spLocks noGrp="1" noRot="1" noChangeAspect="1" noMove="1" noResize="1" noEditPoints="1" noAdjustHandles="1" noChangeArrowheads="1" noChangeShapeType="1" noTextEdit="1"/>
              </p:cNvSpPr>
              <p:nvPr>
                <p:ph idx="1"/>
              </p:nvPr>
            </p:nvSpPr>
            <p:spPr>
              <a:xfrm>
                <a:off x="0" y="1426613"/>
                <a:ext cx="12192000" cy="5240194"/>
              </a:xfrm>
              <a:blipFill>
                <a:blip r:embed="rId2"/>
                <a:stretch>
                  <a:fillRect l="-900"/>
                </a:stretch>
              </a:blipFill>
            </p:spPr>
            <p:txBody>
              <a:bodyPr/>
              <a:lstStyle/>
              <a:p>
                <a:r>
                  <a:rPr lang="en-GB">
                    <a:noFill/>
                  </a:rPr>
                  <a:t> </a:t>
                </a:r>
              </a:p>
            </p:txBody>
          </p:sp>
        </mc:Fallback>
      </mc:AlternateContent>
    </p:spTree>
    <p:extLst>
      <p:ext uri="{BB962C8B-B14F-4D97-AF65-F5344CB8AC3E}">
        <p14:creationId xmlns:p14="http://schemas.microsoft.com/office/powerpoint/2010/main" val="2161126857"/>
      </p:ext>
    </p:extLst>
  </p:cSld>
  <p:clrMapOvr>
    <a:masterClrMapping/>
  </p:clrMapOvr>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c2b19ad-5f9c-49d4-9077-3ec3cfc52b3f}" enabled="0" method="" siteId="{8c2b19ad-5f9c-49d4-9077-3ec3cfc52b3f}" removed="1"/>
</clbl:labelList>
</file>

<file path=docProps/app.xml><?xml version="1.0" encoding="utf-8"?>
<Properties xmlns="http://schemas.openxmlformats.org/officeDocument/2006/extended-properties" xmlns:vt="http://schemas.openxmlformats.org/officeDocument/2006/docPropsVTypes">
  <Template>sbs_template</Template>
  <TotalTime>5041</TotalTime>
  <Words>2068</Words>
  <Application>Microsoft Office PowerPoint</Application>
  <PresentationFormat>Widescreen</PresentationFormat>
  <Paragraphs>289</Paragraphs>
  <Slides>35</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Cambria Math</vt:lpstr>
      <vt:lpstr>Roboto</vt:lpstr>
      <vt:lpstr>Arial</vt:lpstr>
      <vt:lpstr>Aptos</vt:lpstr>
      <vt:lpstr>Bahnschrift Light</vt:lpstr>
      <vt:lpstr>sbs_template</vt:lpstr>
      <vt:lpstr>Introduction to linear models</vt:lpstr>
      <vt:lpstr>Stats: making the simple seem complicated</vt:lpstr>
      <vt:lpstr>Statistics and data</vt:lpstr>
      <vt:lpstr>Statistics and data</vt:lpstr>
      <vt:lpstr>Doing “stats” by hand</vt:lpstr>
      <vt:lpstr>“Stats” by hand</vt:lpstr>
      <vt:lpstr>More realism</vt:lpstr>
      <vt:lpstr>What stats does</vt:lpstr>
      <vt:lpstr>What about variation?</vt:lpstr>
      <vt:lpstr>Variation</vt:lpstr>
      <vt:lpstr>Normal distribution</vt:lpstr>
      <vt:lpstr>Our model</vt:lpstr>
      <vt:lpstr>Goal of statistics</vt:lpstr>
      <vt:lpstr>The Normal distribution</vt:lpstr>
      <vt:lpstr>Beware the histomancer</vt:lpstr>
      <vt:lpstr>“Do you drink coffee?”</vt:lpstr>
      <vt:lpstr>PowerPoint Presentation</vt:lpstr>
      <vt:lpstr>If you drink coffee, what is the average number of coffees you drink in a year?</vt:lpstr>
      <vt:lpstr>First amongst equals</vt:lpstr>
      <vt:lpstr>The return of hidden assumptions</vt:lpstr>
      <vt:lpstr>Monkey’s paw</vt:lpstr>
      <vt:lpstr>Assumptions</vt:lpstr>
      <vt:lpstr>Assumptions in the scientific workflow</vt:lpstr>
      <vt:lpstr>Assumption of validity</vt:lpstr>
      <vt:lpstr>Assumptions of representativeness</vt:lpstr>
      <vt:lpstr>Assumptions in the scientific workflow</vt:lpstr>
      <vt:lpstr>Assumption of addivity</vt:lpstr>
      <vt:lpstr>Assumption of linearity</vt:lpstr>
      <vt:lpstr>Assumptions in the scientific workflow</vt:lpstr>
      <vt:lpstr>Residual error</vt:lpstr>
      <vt:lpstr>Assumption of independence of errors</vt:lpstr>
      <vt:lpstr>Assumption of  equal variance of errors</vt:lpstr>
      <vt:lpstr>Assumption of normality of errors</vt:lpstr>
      <vt:lpstr>Assumptions in the scientific workflow</vt:lpstr>
      <vt:lpstr>TL;DR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linear models</dc:title>
  <dc:creator>Roos, Deon</dc:creator>
  <cp:lastModifiedBy>Roos, Deon</cp:lastModifiedBy>
  <cp:revision>40</cp:revision>
  <dcterms:created xsi:type="dcterms:W3CDTF">2024-06-28T13:38:41Z</dcterms:created>
  <dcterms:modified xsi:type="dcterms:W3CDTF">2025-07-30T12:25:44Z</dcterms:modified>
</cp:coreProperties>
</file>