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75" r:id="rId1"/>
  </p:sldMasterIdLst>
  <p:notesMasterIdLst>
    <p:notesMasterId r:id="rId37"/>
  </p:notesMasterIdLst>
  <p:sldIdLst>
    <p:sldId id="256" r:id="rId2"/>
    <p:sldId id="333" r:id="rId3"/>
    <p:sldId id="334" r:id="rId4"/>
    <p:sldId id="336" r:id="rId5"/>
    <p:sldId id="335" r:id="rId6"/>
    <p:sldId id="288" r:id="rId7"/>
    <p:sldId id="339" r:id="rId8"/>
    <p:sldId id="340" r:id="rId9"/>
    <p:sldId id="329" r:id="rId10"/>
    <p:sldId id="349" r:id="rId11"/>
    <p:sldId id="331" r:id="rId12"/>
    <p:sldId id="341" r:id="rId13"/>
    <p:sldId id="332" r:id="rId14"/>
    <p:sldId id="342" r:id="rId15"/>
    <p:sldId id="270" r:id="rId16"/>
    <p:sldId id="328" r:id="rId17"/>
    <p:sldId id="306" r:id="rId18"/>
    <p:sldId id="324" r:id="rId19"/>
    <p:sldId id="361" r:id="rId20"/>
    <p:sldId id="326" r:id="rId21"/>
    <p:sldId id="257" r:id="rId22"/>
    <p:sldId id="338" r:id="rId23"/>
    <p:sldId id="351" r:id="rId24"/>
    <p:sldId id="352" r:id="rId25"/>
    <p:sldId id="330" r:id="rId26"/>
    <p:sldId id="353" r:id="rId27"/>
    <p:sldId id="354" r:id="rId28"/>
    <p:sldId id="355" r:id="rId29"/>
    <p:sldId id="356" r:id="rId30"/>
    <p:sldId id="360" r:id="rId31"/>
    <p:sldId id="357" r:id="rId32"/>
    <p:sldId id="344" r:id="rId33"/>
    <p:sldId id="345" r:id="rId34"/>
    <p:sldId id="358" r:id="rId35"/>
    <p:sldId id="359" r:id="rId36"/>
  </p:sldIdLst>
  <p:sldSz cx="12192000" cy="6858000"/>
  <p:notesSz cx="6858000" cy="9144000"/>
  <p:embeddedFontLst>
    <p:embeddedFont>
      <p:font typeface="Bahnschrift Light" panose="020B0502040204020203" pitchFamily="34" charset="0"/>
      <p:regular r:id="rId38"/>
    </p:embeddedFont>
    <p:embeddedFont>
      <p:font typeface="Cambria Math" panose="02040503050406030204" pitchFamily="18" charset="0"/>
      <p:regular r:id="rId39"/>
    </p:embeddedFont>
    <p:embeddedFont>
      <p:font typeface="Roboto" panose="02000000000000000000" pitchFamily="2" charset="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0098793-7D45-483C-A2CD-71757901ABEE}" v="63" dt="2025-07-07T20:11:30.50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765" autoAdjust="0"/>
    <p:restoredTop sz="94337" autoAdjust="0"/>
  </p:normalViewPr>
  <p:slideViewPr>
    <p:cSldViewPr snapToGrid="0">
      <p:cViewPr varScale="1">
        <p:scale>
          <a:sx n="112" d="100"/>
          <a:sy n="112" d="100"/>
        </p:scale>
        <p:origin x="45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20" Type="http://schemas.openxmlformats.org/officeDocument/2006/relationships/slide" Target="slides/slide19.xml"/><Relationship Id="rId4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5B79C3-63BD-4260-B39C-A21BDBFD3EC2}" type="datetimeFigureOut">
              <a:rPr lang="en-GB" smtClean="0"/>
              <a:t>04/08/2025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3BAC34-CF53-4E66-B782-0A417FCABA64}" type="slidenum">
              <a:rPr lang="en-GB" smtClean="0"/>
              <a:t>‹#›</a:t>
            </a:fld>
            <a:endParaRPr lang="en-GB"/>
          </a:p>
        </p:txBody>
      </p:sp>
    </p:spTree>
    <p:extLst>
      <p:ext uri="{BB962C8B-B14F-4D97-AF65-F5344CB8AC3E}">
        <p14:creationId xmlns:p14="http://schemas.microsoft.com/office/powerpoint/2010/main" val="114059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74146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7565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08911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9f8dfbc3a1_1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9f8dfbc3a1_1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42188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99b185d4a2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g99b185d4a2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606370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0EF085-90BA-6B79-A198-AE27F69DC1AB}"/>
              </a:ext>
            </a:extLst>
          </p:cNvPr>
          <p:cNvSpPr>
            <a:spLocks noGrp="1"/>
          </p:cNvSpPr>
          <p:nvPr>
            <p:ph type="ctrTitle"/>
          </p:nvPr>
        </p:nvSpPr>
        <p:spPr>
          <a:xfrm>
            <a:off x="174567" y="565410"/>
            <a:ext cx="6096000" cy="2863589"/>
          </a:xfrm>
        </p:spPr>
        <p:txBody>
          <a:bodyPr anchor="ctr"/>
          <a:lstStyle>
            <a:lvl1pPr algn="ctr">
              <a:defRPr sz="6000"/>
            </a:lvl1pPr>
          </a:lstStyle>
          <a:p>
            <a:r>
              <a:rPr lang="en-US"/>
              <a:t>Click to edit Master title style</a:t>
            </a:r>
            <a:endParaRPr lang="en-GB" dirty="0"/>
          </a:p>
        </p:txBody>
      </p:sp>
      <p:sp>
        <p:nvSpPr>
          <p:cNvPr id="3" name="Subtitle 2">
            <a:extLst>
              <a:ext uri="{FF2B5EF4-FFF2-40B4-BE49-F238E27FC236}">
                <a16:creationId xmlns:a16="http://schemas.microsoft.com/office/drawing/2014/main" id="{E2960FB6-F389-7EDD-D9DB-A406B89F355E}"/>
              </a:ext>
            </a:extLst>
          </p:cNvPr>
          <p:cNvSpPr>
            <a:spLocks noGrp="1"/>
          </p:cNvSpPr>
          <p:nvPr>
            <p:ph type="subTitle" idx="1"/>
          </p:nvPr>
        </p:nvSpPr>
        <p:spPr>
          <a:xfrm>
            <a:off x="174567" y="3552161"/>
            <a:ext cx="6096000" cy="2607569"/>
          </a:xfrm>
        </p:spPr>
        <p:txBody>
          <a:bodyPr anchor="ct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8" name="Picture Placeholder 7">
            <a:extLst>
              <a:ext uri="{FF2B5EF4-FFF2-40B4-BE49-F238E27FC236}">
                <a16:creationId xmlns:a16="http://schemas.microsoft.com/office/drawing/2014/main" id="{E001CD27-4DF4-05EC-92B4-C7555C3D0189}"/>
              </a:ext>
            </a:extLst>
          </p:cNvPr>
          <p:cNvSpPr>
            <a:spLocks noGrp="1"/>
          </p:cNvSpPr>
          <p:nvPr>
            <p:ph type="pic" sz="quarter" idx="13"/>
          </p:nvPr>
        </p:nvSpPr>
        <p:spPr>
          <a:xfrm>
            <a:off x="6450677" y="0"/>
            <a:ext cx="5741324" cy="6858000"/>
          </a:xfrm>
        </p:spPr>
        <p:txBody>
          <a:bodyPr/>
          <a:lstStyle/>
          <a:p>
            <a:r>
              <a:rPr lang="en-US"/>
              <a:t>Click icon to add picture</a:t>
            </a:r>
            <a:endParaRPr lang="en-GB"/>
          </a:p>
        </p:txBody>
      </p:sp>
      <p:cxnSp>
        <p:nvCxnSpPr>
          <p:cNvPr id="5" name="Straight Connector 4">
            <a:extLst>
              <a:ext uri="{FF2B5EF4-FFF2-40B4-BE49-F238E27FC236}">
                <a16:creationId xmlns:a16="http://schemas.microsoft.com/office/drawing/2014/main" id="{B5E048B3-2145-631D-3138-1DF0AD6D38F2}"/>
              </a:ext>
            </a:extLst>
          </p:cNvPr>
          <p:cNvCxnSpPr/>
          <p:nvPr/>
        </p:nvCxnSpPr>
        <p:spPr>
          <a:xfrm>
            <a:off x="1313411" y="3491345"/>
            <a:ext cx="375735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60949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30639-2CA7-2272-840E-F8F595ABC7E3}"/>
              </a:ext>
            </a:extLst>
          </p:cNvPr>
          <p:cNvSpPr>
            <a:spLocks noGrp="1"/>
          </p:cNvSpPr>
          <p:nvPr>
            <p:ph type="title"/>
          </p:nvPr>
        </p:nvSpPr>
        <p:spPr>
          <a:xfrm>
            <a:off x="0" y="0"/>
            <a:ext cx="6201295" cy="1325563"/>
          </a:xfrm>
        </p:spPr>
        <p:txBody>
          <a:bodyPr/>
          <a:lstStyle>
            <a:lvl1pPr algn="ctr">
              <a:defRPr/>
            </a:lvl1pPr>
          </a:lstStyle>
          <a:p>
            <a:r>
              <a:rPr lang="en-US"/>
              <a:t>Click to edit Master title style</a:t>
            </a:r>
            <a:endParaRPr lang="en-GB" dirty="0"/>
          </a:p>
        </p:txBody>
      </p:sp>
      <p:sp>
        <p:nvSpPr>
          <p:cNvPr id="3" name="Content Placeholder 2">
            <a:extLst>
              <a:ext uri="{FF2B5EF4-FFF2-40B4-BE49-F238E27FC236}">
                <a16:creationId xmlns:a16="http://schemas.microsoft.com/office/drawing/2014/main" id="{03D59DF2-E981-9079-7762-2C88651F5B6B}"/>
              </a:ext>
            </a:extLst>
          </p:cNvPr>
          <p:cNvSpPr>
            <a:spLocks noGrp="1"/>
          </p:cNvSpPr>
          <p:nvPr>
            <p:ph idx="1"/>
          </p:nvPr>
        </p:nvSpPr>
        <p:spPr>
          <a:xfrm>
            <a:off x="0" y="1426613"/>
            <a:ext cx="6201295" cy="524019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Picture Placeholder 7">
            <a:extLst>
              <a:ext uri="{FF2B5EF4-FFF2-40B4-BE49-F238E27FC236}">
                <a16:creationId xmlns:a16="http://schemas.microsoft.com/office/drawing/2014/main" id="{BEC5A3C4-A2EA-7545-B99B-E8F489810FE2}"/>
              </a:ext>
            </a:extLst>
          </p:cNvPr>
          <p:cNvSpPr>
            <a:spLocks noGrp="1"/>
          </p:cNvSpPr>
          <p:nvPr>
            <p:ph type="pic" sz="quarter" idx="10"/>
          </p:nvPr>
        </p:nvSpPr>
        <p:spPr>
          <a:xfrm>
            <a:off x="6359525" y="0"/>
            <a:ext cx="5832475" cy="6858000"/>
          </a:xfrm>
        </p:spPr>
        <p:txBody>
          <a:bodyPr/>
          <a:lstStyle/>
          <a:p>
            <a:r>
              <a:rPr lang="en-US"/>
              <a:t>Click icon to add picture</a:t>
            </a:r>
            <a:endParaRPr lang="en-GB"/>
          </a:p>
        </p:txBody>
      </p:sp>
    </p:spTree>
    <p:extLst>
      <p:ext uri="{BB962C8B-B14F-4D97-AF65-F5344CB8AC3E}">
        <p14:creationId xmlns:p14="http://schemas.microsoft.com/office/powerpoint/2010/main" val="3511473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0B9374-2DD6-FA11-BF6F-AE419E0A6BB0}"/>
              </a:ext>
            </a:extLst>
          </p:cNvPr>
          <p:cNvSpPr>
            <a:spLocks noGrp="1"/>
          </p:cNvSpPr>
          <p:nvPr>
            <p:ph sz="half" idx="1"/>
          </p:nvPr>
        </p:nvSpPr>
        <p:spPr>
          <a:xfrm>
            <a:off x="0" y="1426614"/>
            <a:ext cx="5893724" cy="51622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a:extLst>
              <a:ext uri="{FF2B5EF4-FFF2-40B4-BE49-F238E27FC236}">
                <a16:creationId xmlns:a16="http://schemas.microsoft.com/office/drawing/2014/main" id="{17FA4DDC-5EE8-4D0D-208A-D5A4CC40A54B}"/>
              </a:ext>
            </a:extLst>
          </p:cNvPr>
          <p:cNvSpPr>
            <a:spLocks noGrp="1"/>
          </p:cNvSpPr>
          <p:nvPr>
            <p:ph sz="half" idx="2"/>
          </p:nvPr>
        </p:nvSpPr>
        <p:spPr>
          <a:xfrm>
            <a:off x="6201295" y="0"/>
            <a:ext cx="5990705" cy="5162204"/>
          </a:xfrm>
        </p:spPr>
        <p:txBody>
          <a:bodyPr anchor="ctr"/>
          <a:lstStyle>
            <a:lvl1pPr algn="ctr">
              <a:defRPr/>
            </a:lvl1pPr>
            <a:lvl2pPr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itle 1">
            <a:extLst>
              <a:ext uri="{FF2B5EF4-FFF2-40B4-BE49-F238E27FC236}">
                <a16:creationId xmlns:a16="http://schemas.microsoft.com/office/drawing/2014/main" id="{896FFCEF-D528-27F4-CF96-A8F674BCA083}"/>
              </a:ext>
            </a:extLst>
          </p:cNvPr>
          <p:cNvSpPr txBox="1">
            <a:spLocks/>
          </p:cNvSpPr>
          <p:nvPr/>
        </p:nvSpPr>
        <p:spPr>
          <a:xfrm>
            <a:off x="0" y="0"/>
            <a:ext cx="620129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Click to edit Master title style</a:t>
            </a:r>
            <a:endParaRPr lang="en-GB" dirty="0"/>
          </a:p>
        </p:txBody>
      </p:sp>
      <p:sp>
        <p:nvSpPr>
          <p:cNvPr id="12" name="Text Placeholder 11">
            <a:extLst>
              <a:ext uri="{FF2B5EF4-FFF2-40B4-BE49-F238E27FC236}">
                <a16:creationId xmlns:a16="http://schemas.microsoft.com/office/drawing/2014/main" id="{4E6B47C7-8888-2E6B-0D7C-CF46BFD9A309}"/>
              </a:ext>
            </a:extLst>
          </p:cNvPr>
          <p:cNvSpPr>
            <a:spLocks noGrp="1"/>
          </p:cNvSpPr>
          <p:nvPr>
            <p:ph type="body" sz="quarter" idx="10"/>
          </p:nvPr>
        </p:nvSpPr>
        <p:spPr>
          <a:xfrm>
            <a:off x="6201295" y="5162204"/>
            <a:ext cx="5990705" cy="16957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0630662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FFACB-206F-5777-5BAD-5BF8E966915A}"/>
              </a:ext>
            </a:extLst>
          </p:cNvPr>
          <p:cNvSpPr>
            <a:spLocks noGrp="1"/>
          </p:cNvSpPr>
          <p:nvPr>
            <p:ph type="title"/>
          </p:nvPr>
        </p:nvSpPr>
        <p:spPr>
          <a:xfrm>
            <a:off x="0" y="5104015"/>
            <a:ext cx="10515600" cy="1753985"/>
          </a:xfrm>
        </p:spPr>
        <p:txBody>
          <a:bodyPr anchor="b"/>
          <a:lstStyle>
            <a:lvl1pPr>
              <a:defRPr sz="6000"/>
            </a:lvl1pPr>
          </a:lstStyle>
          <a:p>
            <a:r>
              <a:rPr lang="en-US"/>
              <a:t>Click to edit Master title style</a:t>
            </a:r>
            <a:endParaRPr lang="en-GB" dirty="0"/>
          </a:p>
        </p:txBody>
      </p:sp>
    </p:spTree>
    <p:extLst>
      <p:ext uri="{BB962C8B-B14F-4D97-AF65-F5344CB8AC3E}">
        <p14:creationId xmlns:p14="http://schemas.microsoft.com/office/powerpoint/2010/main" val="3101453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958E7-8733-1588-CE76-0710036CC17E}"/>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5043C91-73BF-C49E-46BA-834638FC0B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BFDC1F7-08BE-633D-0E8D-18F30CEE5A9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4D961F-706F-451E-ABF3-F672C1F454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236AEAE-47C4-6C9C-5B4C-F6E31977E8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D72731F-9715-FADD-FEBD-65D90CABA4D5}"/>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8" name="Footer Placeholder 7">
            <a:extLst>
              <a:ext uri="{FF2B5EF4-FFF2-40B4-BE49-F238E27FC236}">
                <a16:creationId xmlns:a16="http://schemas.microsoft.com/office/drawing/2014/main" id="{45E7A07B-AF32-2EA1-F513-0D1F38BAB0D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EB01B04-63C5-991E-FD0F-2ED9257DC0D7}"/>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595885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3767-1669-64A9-2C16-1A1F6165D8E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4A1F01AD-E823-7B4D-D421-EF7BE290C00F}"/>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4" name="Footer Placeholder 3">
            <a:extLst>
              <a:ext uri="{FF2B5EF4-FFF2-40B4-BE49-F238E27FC236}">
                <a16:creationId xmlns:a16="http://schemas.microsoft.com/office/drawing/2014/main" id="{9313AC7F-2C26-3190-A705-5FC5DD18BF4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A6DF203F-F57C-7145-B743-4A084B3A5F25}"/>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54603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E02D19-147D-AD60-6ACC-2F7283CEE9CB}"/>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3" name="Footer Placeholder 2">
            <a:extLst>
              <a:ext uri="{FF2B5EF4-FFF2-40B4-BE49-F238E27FC236}">
                <a16:creationId xmlns:a16="http://schemas.microsoft.com/office/drawing/2014/main" id="{94CF569D-7098-9B6D-B851-1B18E6DB6506}"/>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7518D08F-69F0-C410-CAC9-DF16A0BF9AD9}"/>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8540803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C2567-4A48-3F47-EF88-E32A67EDD9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5F90797-1FEC-B310-9CA0-6642F4FE7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95BDC1EB-E335-7190-8BFD-48E25C309A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154E58-0B6A-491E-7CE0-88114C1411B9}"/>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6" name="Footer Placeholder 5">
            <a:extLst>
              <a:ext uri="{FF2B5EF4-FFF2-40B4-BE49-F238E27FC236}">
                <a16:creationId xmlns:a16="http://schemas.microsoft.com/office/drawing/2014/main" id="{E8198572-7396-BEBC-0D56-24BE2A95E1D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D2279F2-BB85-6763-45F1-D73C041BD23E}"/>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481869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83E09-8249-AC15-7FC0-A0BAD598E2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DC329DF-266D-F8F8-A195-53A7576BBF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C1CFA6F2-3F6B-26F9-74E6-E4E35007E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14BCDB-42E3-AB80-31A3-907D1B597590}"/>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6" name="Footer Placeholder 5">
            <a:extLst>
              <a:ext uri="{FF2B5EF4-FFF2-40B4-BE49-F238E27FC236}">
                <a16:creationId xmlns:a16="http://schemas.microsoft.com/office/drawing/2014/main" id="{196EC699-83D3-6581-966B-8882D2158BA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7550ABE-17BA-CEDA-390B-2BA6E004B278}"/>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430921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1BF0F-4D20-22A7-227D-78B4DDCA7B7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6010818-F611-B1A2-8A19-C3130A329F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543987-925F-B621-E68B-A3BED9350544}"/>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5" name="Footer Placeholder 4">
            <a:extLst>
              <a:ext uri="{FF2B5EF4-FFF2-40B4-BE49-F238E27FC236}">
                <a16:creationId xmlns:a16="http://schemas.microsoft.com/office/drawing/2014/main" id="{3D52031D-ADF7-744B-5905-8C84ADA49B4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47D02BB-73AF-8339-0B3A-B736F5E386A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26263286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A4840D-0D28-B8EB-88E1-65CDAE3316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43A8637-D9F6-1719-1804-4B3705C9014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FA50F13-C53E-CA05-E313-C1579E84EBA3}"/>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5" name="Footer Placeholder 4">
            <a:extLst>
              <a:ext uri="{FF2B5EF4-FFF2-40B4-BE49-F238E27FC236}">
                <a16:creationId xmlns:a16="http://schemas.microsoft.com/office/drawing/2014/main" id="{E5909B7E-626E-8018-4CBE-414FB0F1D85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20D0C27-06BF-1AD4-3587-FD26F1D7BA4A}"/>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13909515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D03A581-97F1-435E-8E5A-5972AAEF871B}" type="datetimeFigureOut">
              <a:rPr lang="en-GB" smtClean="0"/>
              <a:t>04/08/2025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E1D2B2F5-627E-4743-AC48-679479976A1B}" type="slidenum">
              <a:rPr lang="en-GB" smtClean="0"/>
              <a:t>‹#›</a:t>
            </a:fld>
            <a:endParaRPr lang="en-GB"/>
          </a:p>
        </p:txBody>
      </p:sp>
    </p:spTree>
    <p:extLst>
      <p:ext uri="{BB962C8B-B14F-4D97-AF65-F5344CB8AC3E}">
        <p14:creationId xmlns:p14="http://schemas.microsoft.com/office/powerpoint/2010/main" val="2370924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81C78-9441-7FAC-0D26-EAF1B21DA8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29855972-6453-1350-4E7A-11D6C7BA87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31D2E60-C581-170F-14E4-C05E19E224D9}"/>
              </a:ext>
            </a:extLst>
          </p:cNvPr>
          <p:cNvSpPr>
            <a:spLocks noGrp="1"/>
          </p:cNvSpPr>
          <p:nvPr>
            <p:ph type="dt" sz="half" idx="10"/>
          </p:nvPr>
        </p:nvSpPr>
        <p:spPr/>
        <p:txBody>
          <a:bodyPr/>
          <a:lstStyle/>
          <a:p>
            <a:fld id="{D5AA5DBE-9C56-419A-B106-42B06CF5E6CF}" type="datetimeFigureOut">
              <a:rPr lang="en-GB" smtClean="0"/>
              <a:t>04/08/2025</a:t>
            </a:fld>
            <a:endParaRPr lang="en-GB"/>
          </a:p>
        </p:txBody>
      </p:sp>
      <p:sp>
        <p:nvSpPr>
          <p:cNvPr id="5" name="Footer Placeholder 4">
            <a:extLst>
              <a:ext uri="{FF2B5EF4-FFF2-40B4-BE49-F238E27FC236}">
                <a16:creationId xmlns:a16="http://schemas.microsoft.com/office/drawing/2014/main" id="{F7BFEF6C-F504-7187-A644-EB22FC49767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4693D89-C005-30A7-71D3-615AE97C4343}"/>
              </a:ext>
            </a:extLst>
          </p:cNvPr>
          <p:cNvSpPr>
            <a:spLocks noGrp="1"/>
          </p:cNvSpPr>
          <p:nvPr>
            <p:ph type="sldNum" sz="quarter" idx="12"/>
          </p:nvPr>
        </p:nvSpPr>
        <p:spPr/>
        <p:txBody>
          <a:bodyPr/>
          <a:lstStyle/>
          <a:p>
            <a:fld id="{95072C08-6C83-4620-A4F2-7F5A9B51037D}" type="slidenum">
              <a:rPr lang="en-GB" smtClean="0"/>
              <a:t>‹#›</a:t>
            </a:fld>
            <a:endParaRPr lang="en-GB"/>
          </a:p>
        </p:txBody>
      </p:sp>
    </p:spTree>
    <p:extLst>
      <p:ext uri="{BB962C8B-B14F-4D97-AF65-F5344CB8AC3E}">
        <p14:creationId xmlns:p14="http://schemas.microsoft.com/office/powerpoint/2010/main" val="35131844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481803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246E56-8908-0E6A-4E62-88CF6D3590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D1896B-C040-3D2C-A619-0B877E3383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0B1AC1E-960F-82DB-0E5A-2F328EAC2C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5AA5DBE-9C56-419A-B106-42B06CF5E6CF}" type="datetimeFigureOut">
              <a:rPr lang="en-GB" smtClean="0"/>
              <a:t>04/08/2025</a:t>
            </a:fld>
            <a:endParaRPr lang="en-GB"/>
          </a:p>
        </p:txBody>
      </p:sp>
      <p:sp>
        <p:nvSpPr>
          <p:cNvPr id="5" name="Footer Placeholder 4">
            <a:extLst>
              <a:ext uri="{FF2B5EF4-FFF2-40B4-BE49-F238E27FC236}">
                <a16:creationId xmlns:a16="http://schemas.microsoft.com/office/drawing/2014/main" id="{2CCFF5B2-21B1-9528-920D-DD4BF8C0BD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CD16DDC-4E03-310B-1091-75EB5EDC36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5072C08-6C83-4620-A4F2-7F5A9B51037D}" type="slidenum">
              <a:rPr lang="en-GB" smtClean="0"/>
              <a:t>‹#›</a:t>
            </a:fld>
            <a:endParaRPr lang="en-GB"/>
          </a:p>
        </p:txBody>
      </p:sp>
    </p:spTree>
    <p:extLst>
      <p:ext uri="{BB962C8B-B14F-4D97-AF65-F5344CB8AC3E}">
        <p14:creationId xmlns:p14="http://schemas.microsoft.com/office/powerpoint/2010/main" val="3826861216"/>
      </p:ext>
    </p:extLst>
  </p:cSld>
  <p:clrMap bg1="dk1" tx1="lt1" bg2="dk2"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25.gif"/></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9.png"/><Relationship Id="rId1" Type="http://schemas.openxmlformats.org/officeDocument/2006/relationships/slideLayout" Target="../slideLayouts/slideLayout1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31.png"/><Relationship Id="rId4" Type="http://schemas.openxmlformats.org/officeDocument/2006/relationships/image" Target="../media/image240.png"/></Relationships>
</file>

<file path=ppt/slides/_rels/slide19.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4.xml"/><Relationship Id="rId1" Type="http://schemas.openxmlformats.org/officeDocument/2006/relationships/slideLayout" Target="../slideLayouts/slideLayout14.xml"/><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image" Target="../media/image44.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0F4C-DD8F-9CED-692A-76E780A05B55}"/>
              </a:ext>
            </a:extLst>
          </p:cNvPr>
          <p:cNvSpPr>
            <a:spLocks noGrp="1"/>
          </p:cNvSpPr>
          <p:nvPr>
            <p:ph type="ctrTitle"/>
          </p:nvPr>
        </p:nvSpPr>
        <p:spPr/>
        <p:txBody>
          <a:bodyPr/>
          <a:lstStyle/>
          <a:p>
            <a:r>
              <a:rPr lang="en-GB" dirty="0"/>
              <a:t>Introduction to linear models</a:t>
            </a:r>
          </a:p>
        </p:txBody>
      </p:sp>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CBC810B5-A6DA-0BFD-FE9D-E376DD9EAA40}"/>
                  </a:ext>
                </a:extLst>
              </p:cNvPr>
              <p:cNvSpPr>
                <a:spLocks noGrp="1"/>
              </p:cNvSpPr>
              <p:nvPr>
                <p:ph type="subTitle" idx="1"/>
              </p:nvPr>
            </p:nvSpPr>
            <p:spPr/>
            <p:txBody>
              <a:bodyPr/>
              <a:lstStyle/>
              <a:p>
                <a:r>
                  <a:rPr lang="en-GB" dirty="0"/>
                  <a:t>Of course I’m </a:t>
                </a:r>
                <a14:m>
                  <m:oMath xmlns:m="http://schemas.openxmlformats.org/officeDocument/2006/math">
                    <m:r>
                      <a:rPr lang="en-GB" i="1" dirty="0" smtClean="0">
                        <a:latin typeface="Cambria Math" panose="02040503050406030204" pitchFamily="18" charset="0"/>
                      </a:rPr>
                      <m:t>𝑁𝑜𝑟𝑚𝑎𝑙</m:t>
                    </m:r>
                  </m:oMath>
                </a14:m>
                <a:endParaRPr lang="en-GB" dirty="0"/>
              </a:p>
            </p:txBody>
          </p:sp>
        </mc:Choice>
        <mc:Fallback xmlns="">
          <p:sp>
            <p:nvSpPr>
              <p:cNvPr id="3" name="Subtitle 2">
                <a:extLst>
                  <a:ext uri="{FF2B5EF4-FFF2-40B4-BE49-F238E27FC236}">
                    <a16:creationId xmlns:a16="http://schemas.microsoft.com/office/drawing/2014/main" id="{CBC810B5-A6DA-0BFD-FE9D-E376DD9EAA40}"/>
                  </a:ext>
                </a:extLst>
              </p:cNvPr>
              <p:cNvSpPr>
                <a:spLocks noGrp="1" noRot="1" noChangeAspect="1" noMove="1" noResize="1" noEditPoints="1" noAdjustHandles="1" noChangeArrowheads="1" noChangeShapeType="1" noTextEdit="1"/>
              </p:cNvSpPr>
              <p:nvPr>
                <p:ph type="subTitle" idx="1"/>
              </p:nvPr>
            </p:nvSpPr>
            <p:spPr>
              <a:blipFill>
                <a:blip r:embed="rId2"/>
                <a:stretch>
                  <a:fillRect t="-5515"/>
                </a:stretch>
              </a:blipFill>
            </p:spPr>
            <p:txBody>
              <a:bodyPr/>
              <a:lstStyle/>
              <a:p>
                <a:r>
                  <a:rPr lang="en-GB">
                    <a:noFill/>
                  </a:rPr>
                  <a:t> </a:t>
                </a:r>
              </a:p>
            </p:txBody>
          </p:sp>
        </mc:Fallback>
      </mc:AlternateContent>
    </p:spTree>
    <p:extLst>
      <p:ext uri="{BB962C8B-B14F-4D97-AF65-F5344CB8AC3E}">
        <p14:creationId xmlns:p14="http://schemas.microsoft.com/office/powerpoint/2010/main" val="3934468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23E61-6D7A-D6E8-1910-13732FD50B3F}"/>
              </a:ext>
            </a:extLst>
          </p:cNvPr>
          <p:cNvSpPr>
            <a:spLocks noGrp="1"/>
          </p:cNvSpPr>
          <p:nvPr>
            <p:ph type="title"/>
          </p:nvPr>
        </p:nvSpPr>
        <p:spPr>
          <a:xfrm>
            <a:off x="0" y="0"/>
            <a:ext cx="12192000" cy="1325563"/>
          </a:xfrm>
        </p:spPr>
        <p:txBody>
          <a:bodyPr>
            <a:normAutofit/>
          </a:bodyPr>
          <a:lstStyle/>
          <a:p>
            <a:r>
              <a:rPr lang="en-GB" dirty="0"/>
              <a:t>Stats: making the simple seem complicated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962950-2D54-62EB-A8D7-806F8AD3A3E3}"/>
                  </a:ext>
                </a:extLst>
              </p:cNvPr>
              <p:cNvSpPr>
                <a:spLocks noGrp="1"/>
              </p:cNvSpPr>
              <p:nvPr>
                <p:ph idx="1"/>
              </p:nvPr>
            </p:nvSpPr>
            <p:spPr/>
            <p:txBody>
              <a:bodyPr/>
              <a:lstStyle/>
              <a:p>
                <a:r>
                  <a:rPr lang="en-GB" dirty="0"/>
                  <a:t>Statistics is all about finding associations</a:t>
                </a:r>
              </a:p>
              <a:p>
                <a:pPr lvl="1"/>
                <a:r>
                  <a:rPr lang="en-GB" dirty="0"/>
                  <a:t>When temperature increases, what happens to survival?</a:t>
                </a:r>
              </a:p>
              <a:p>
                <a:pPr lvl="1"/>
                <a:r>
                  <a:rPr lang="en-GB" dirty="0"/>
                  <a:t>What is the average number of kittiwakes in Site A and Site B?</a:t>
                </a:r>
              </a:p>
              <a:p>
                <a:r>
                  <a:rPr lang="en-GB" dirty="0"/>
                  <a:t>The maths is pretty simple</a:t>
                </a:r>
              </a:p>
              <a:p>
                <a:pPr lvl="1"/>
                <a:r>
                  <a:rPr lang="en-GB" dirty="0"/>
                  <a:t>Intercepts and slopes</a:t>
                </a:r>
              </a:p>
              <a:p>
                <a:pPr lvl="1"/>
                <a:r>
                  <a:rPr lang="en-GB" dirty="0"/>
                  <a:t>Or multiple averages</a:t>
                </a:r>
              </a:p>
              <a:p>
                <a:r>
                  <a:rPr lang="en-GB" dirty="0"/>
                  <a:t>Some form of:</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r>
                        <a:rPr lang="en-GB" b="0" i="1" smtClean="0">
                          <a:latin typeface="Cambria Math" panose="02040503050406030204" pitchFamily="18" charset="0"/>
                        </a:rPr>
                        <m:t>=</m:t>
                      </m:r>
                      <m:r>
                        <a:rPr lang="en-GB" b="0" i="1" smtClean="0">
                          <a:latin typeface="Cambria Math" panose="02040503050406030204" pitchFamily="18" charset="0"/>
                        </a:rPr>
                        <m:t>𝑚𝑥</m:t>
                      </m:r>
                      <m:r>
                        <a:rPr lang="en-GB" b="0" i="1" smtClean="0">
                          <a:latin typeface="Cambria Math" panose="02040503050406030204" pitchFamily="18" charset="0"/>
                        </a:rPr>
                        <m:t>+</m:t>
                      </m:r>
                      <m:r>
                        <a:rPr lang="en-GB" b="0" i="1" smtClean="0">
                          <a:latin typeface="Cambria Math" panose="02040503050406030204" pitchFamily="18" charset="0"/>
                        </a:rPr>
                        <m:t>𝑐</m:t>
                      </m:r>
                    </m:oMath>
                  </m:oMathPara>
                </a14:m>
                <a:endParaRPr lang="en-GB" dirty="0"/>
              </a:p>
            </p:txBody>
          </p:sp>
        </mc:Choice>
        <mc:Fallback xmlns="">
          <p:sp>
            <p:nvSpPr>
              <p:cNvPr id="3" name="Content Placeholder 2">
                <a:extLst>
                  <a:ext uri="{FF2B5EF4-FFF2-40B4-BE49-F238E27FC236}">
                    <a16:creationId xmlns:a16="http://schemas.microsoft.com/office/drawing/2014/main" id="{8A962950-2D54-62EB-A8D7-806F8AD3A3E3}"/>
                  </a:ext>
                </a:extLst>
              </p:cNvPr>
              <p:cNvSpPr>
                <a:spLocks noGrp="1" noRot="1" noChangeAspect="1" noMove="1" noResize="1" noEditPoints="1" noAdjustHandles="1" noChangeArrowheads="1" noChangeShapeType="1" noTextEdit="1"/>
              </p:cNvSpPr>
              <p:nvPr>
                <p:ph idx="1"/>
              </p:nvPr>
            </p:nvSpPr>
            <p:spPr>
              <a:blipFill>
                <a:blip r:embed="rId2"/>
                <a:stretch>
                  <a:fillRect l="-1770"/>
                </a:stretch>
              </a:blipFill>
            </p:spPr>
            <p:txBody>
              <a:bodyPr/>
              <a:lstStyle/>
              <a:p>
                <a:r>
                  <a:rPr lang="en-GB">
                    <a:noFill/>
                  </a:rPr>
                  <a:t> </a:t>
                </a:r>
              </a:p>
            </p:txBody>
          </p:sp>
        </mc:Fallback>
      </mc:AlternateContent>
      <p:pic>
        <p:nvPicPr>
          <p:cNvPr id="5" name="Google Shape;372;p39">
            <a:extLst>
              <a:ext uri="{FF2B5EF4-FFF2-40B4-BE49-F238E27FC236}">
                <a16:creationId xmlns:a16="http://schemas.microsoft.com/office/drawing/2014/main" id="{DEBF7F62-B3BD-F6EE-3692-6FA3F0189EF0}"/>
              </a:ext>
            </a:extLst>
          </p:cNvPr>
          <p:cNvPicPr preferRelativeResize="0">
            <a:picLocks noGrp="1"/>
          </p:cNvPicPr>
          <p:nvPr>
            <p:ph type="pic" sz="quarter" idx="10"/>
          </p:nvPr>
        </p:nvPicPr>
        <p:blipFill rotWithShape="1">
          <a:blip r:embed="rId3">
            <a:alphaModFix/>
          </a:blip>
          <a:srcRect l="-511" t="-36890" b="-12820"/>
          <a:stretch/>
        </p:blipFill>
        <p:spPr>
          <a:xfrm>
            <a:off x="6201295" y="0"/>
            <a:ext cx="5832475" cy="6858000"/>
          </a:xfrm>
          <a:prstGeom prst="rect">
            <a:avLst/>
          </a:prstGeom>
          <a:noFill/>
          <a:ln>
            <a:noFill/>
          </a:ln>
        </p:spPr>
      </p:pic>
    </p:spTree>
    <p:extLst>
      <p:ext uri="{BB962C8B-B14F-4D97-AF65-F5344CB8AC3E}">
        <p14:creationId xmlns:p14="http://schemas.microsoft.com/office/powerpoint/2010/main" val="5724826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2867003"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4000" b="0" i="1" smtClean="0">
                          <a:latin typeface="Cambria Math" panose="02040503050406030204" pitchFamily="18" charset="0"/>
                        </a:rPr>
                        <m:t>𝑦</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𝑚</m:t>
                      </m:r>
                      <m:r>
                        <a:rPr lang="en-GB" sz="4000" b="0" i="1" smtClean="0">
                          <a:solidFill>
                            <a:schemeClr val="tx1"/>
                          </a:solidFill>
                          <a:latin typeface="Cambria Math" panose="02040503050406030204" pitchFamily="18" charset="0"/>
                        </a:rPr>
                        <m:t>𝑥</m:t>
                      </m:r>
                      <m:r>
                        <a:rPr lang="en-GB" sz="4000" b="0" i="1" smtClean="0">
                          <a:latin typeface="Cambria Math" panose="02040503050406030204" pitchFamily="18" charset="0"/>
                        </a:rPr>
                        <m:t>+</m:t>
                      </m:r>
                      <m:r>
                        <a:rPr lang="en-GB" sz="4000" b="0" i="1" smtClean="0">
                          <a:solidFill>
                            <a:srgbClr val="FFFF00"/>
                          </a:solidFill>
                          <a:latin typeface="Cambria Math" panose="02040503050406030204" pitchFamily="18" charset="0"/>
                        </a:rPr>
                        <m:t>𝑐</m:t>
                      </m:r>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2867003"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207034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749778"/>
            <a:ext cx="3543725" cy="4368800"/>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09075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24"/>
                                        </p:tgtEl>
                                        <p:attrNameLst>
                                          <p:attrName>style.visibility</p:attrName>
                                        </p:attrNameLst>
                                      </p:cBhvr>
                                      <p:to>
                                        <p:strVal val="visible"/>
                                      </p:to>
                                    </p:set>
                                    <p:animEffect transition="in" filter="fade">
                                      <p:cBhvr>
                                        <p:cTn id="7" dur="1000"/>
                                        <p:tgtEl>
                                          <p:spTgt spid="4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9"/>
                                        </p:tgtEl>
                                        <p:attrNameLst>
                                          <p:attrName>style.visibility</p:attrName>
                                        </p:attrNameLst>
                                      </p:cBhvr>
                                      <p:to>
                                        <p:strVal val="visible"/>
                                      </p:to>
                                    </p:set>
                                    <p:animEffect transition="in" filter="fade">
                                      <p:cBhvr>
                                        <p:cTn id="12" dur="1000"/>
                                        <p:tgtEl>
                                          <p:spTgt spid="409"/>
                                        </p:tgtEl>
                                      </p:cBhvr>
                                    </p:animEffect>
                                  </p:childTnLst>
                                </p:cTn>
                              </p:par>
                              <p:par>
                                <p:cTn id="13" presetID="10" presetClass="entr" presetSubtype="0" fill="hold" nodeType="withEffect">
                                  <p:stCondLst>
                                    <p:cond delay="0"/>
                                  </p:stCondLst>
                                  <p:childTnLst>
                                    <p:set>
                                      <p:cBhvr>
                                        <p:cTn id="14" dur="1" fill="hold">
                                          <p:stCondLst>
                                            <p:cond delay="0"/>
                                          </p:stCondLst>
                                        </p:cTn>
                                        <p:tgtEl>
                                          <p:spTgt spid="423"/>
                                        </p:tgtEl>
                                        <p:attrNameLst>
                                          <p:attrName>style.visibility</p:attrName>
                                        </p:attrNameLst>
                                      </p:cBhvr>
                                      <p:to>
                                        <p:strVal val="visible"/>
                                      </p:to>
                                    </p:set>
                                    <p:animEffect transition="in" filter="fade">
                                      <p:cBhvr>
                                        <p:cTn id="15" dur="1000"/>
                                        <p:tgtEl>
                                          <p:spTgt spid="42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33"/>
                                        </p:tgtEl>
                                        <p:attrNameLst>
                                          <p:attrName>style.visibility</p:attrName>
                                        </p:attrNameLst>
                                      </p:cBhvr>
                                      <p:to>
                                        <p:strVal val="visible"/>
                                      </p:to>
                                    </p:set>
                                    <p:animEffect transition="in" filter="fade">
                                      <p:cBhvr>
                                        <p:cTn id="20" dur="1000"/>
                                        <p:tgtEl>
                                          <p:spTgt spid="433"/>
                                        </p:tgtEl>
                                      </p:cBhvr>
                                    </p:animEffect>
                                  </p:childTnLst>
                                </p:cTn>
                              </p:par>
                              <p:par>
                                <p:cTn id="21" presetID="10" presetClass="entr" presetSubtype="0" fill="hold" nodeType="withEffect">
                                  <p:stCondLst>
                                    <p:cond delay="0"/>
                                  </p:stCondLst>
                                  <p:childTnLst>
                                    <p:set>
                                      <p:cBhvr>
                                        <p:cTn id="22" dur="1" fill="hold">
                                          <p:stCondLst>
                                            <p:cond delay="0"/>
                                          </p:stCondLst>
                                        </p:cTn>
                                        <p:tgtEl>
                                          <p:spTgt spid="435"/>
                                        </p:tgtEl>
                                        <p:attrNameLst>
                                          <p:attrName>style.visibility</p:attrName>
                                        </p:attrNameLst>
                                      </p:cBhvr>
                                      <p:to>
                                        <p:strVal val="visible"/>
                                      </p:to>
                                    </p:set>
                                    <p:animEffect transition="in" filter="fade">
                                      <p:cBhvr>
                                        <p:cTn id="23" dur="1000"/>
                                        <p:tgtEl>
                                          <p:spTgt spid="435"/>
                                        </p:tgtEl>
                                      </p:cBhvr>
                                    </p:animEffect>
                                  </p:childTnLst>
                                </p:cTn>
                              </p:par>
                              <p:par>
                                <p:cTn id="24" presetID="10" presetClass="entr" presetSubtype="0" fill="hold" nodeType="withEffect">
                                  <p:stCondLst>
                                    <p:cond delay="0"/>
                                  </p:stCondLst>
                                  <p:childTnLst>
                                    <p:set>
                                      <p:cBhvr>
                                        <p:cTn id="25" dur="1" fill="hold">
                                          <p:stCondLst>
                                            <p:cond delay="0"/>
                                          </p:stCondLst>
                                        </p:cTn>
                                        <p:tgtEl>
                                          <p:spTgt spid="437"/>
                                        </p:tgtEl>
                                        <p:attrNameLst>
                                          <p:attrName>style.visibility</p:attrName>
                                        </p:attrNameLst>
                                      </p:cBhvr>
                                      <p:to>
                                        <p:strVal val="visible"/>
                                      </p:to>
                                    </p:set>
                                    <p:animEffect transition="in" filter="fade">
                                      <p:cBhvr>
                                        <p:cTn id="26" dur="1000"/>
                                        <p:tgtEl>
                                          <p:spTgt spid="437"/>
                                        </p:tgtEl>
                                      </p:cBhvr>
                                    </p:animEffect>
                                  </p:childTnLst>
                                </p:cTn>
                              </p:par>
                              <p:par>
                                <p:cTn id="27" presetID="10" presetClass="entr" presetSubtype="0" fill="hold" nodeType="withEffect">
                                  <p:stCondLst>
                                    <p:cond delay="0"/>
                                  </p:stCondLst>
                                  <p:childTnLst>
                                    <p:set>
                                      <p:cBhvr>
                                        <p:cTn id="28" dur="1" fill="hold">
                                          <p:stCondLst>
                                            <p:cond delay="0"/>
                                          </p:stCondLst>
                                        </p:cTn>
                                        <p:tgtEl>
                                          <p:spTgt spid="439"/>
                                        </p:tgtEl>
                                        <p:attrNameLst>
                                          <p:attrName>style.visibility</p:attrName>
                                        </p:attrNameLst>
                                      </p:cBhvr>
                                      <p:to>
                                        <p:strVal val="visible"/>
                                      </p:to>
                                    </p:set>
                                    <p:animEffect transition="in" filter="fade">
                                      <p:cBhvr>
                                        <p:cTn id="29" dur="1000"/>
                                        <p:tgtEl>
                                          <p:spTgt spid="439"/>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426"/>
                                        </p:tgtEl>
                                        <p:attrNameLst>
                                          <p:attrName>style.visibility</p:attrName>
                                        </p:attrNameLst>
                                      </p:cBhvr>
                                      <p:to>
                                        <p:strVal val="visible"/>
                                      </p:to>
                                    </p:set>
                                    <p:animEffect transition="in" filter="fade">
                                      <p:cBhvr>
                                        <p:cTn id="34" dur="1000"/>
                                        <p:tgtEl>
                                          <p:spTgt spid="426"/>
                                        </p:tgtEl>
                                      </p:cBhvr>
                                    </p:animEffect>
                                  </p:childTnLst>
                                </p:cTn>
                              </p:par>
                              <p:par>
                                <p:cTn id="35" presetID="10" presetClass="entr" presetSubtype="0" fill="hold" nodeType="withEffect">
                                  <p:stCondLst>
                                    <p:cond delay="0"/>
                                  </p:stCondLst>
                                  <p:childTnLst>
                                    <p:set>
                                      <p:cBhvr>
                                        <p:cTn id="36" dur="1" fill="hold">
                                          <p:stCondLst>
                                            <p:cond delay="0"/>
                                          </p:stCondLst>
                                        </p:cTn>
                                        <p:tgtEl>
                                          <p:spTgt spid="406"/>
                                        </p:tgtEl>
                                        <p:attrNameLst>
                                          <p:attrName>style.visibility</p:attrName>
                                        </p:attrNameLst>
                                      </p:cBhvr>
                                      <p:to>
                                        <p:strVal val="visible"/>
                                      </p:to>
                                    </p:set>
                                    <p:animEffect transition="in" filter="fade">
                                      <p:cBhvr>
                                        <p:cTn id="37" dur="1"/>
                                        <p:tgtEl>
                                          <p:spTgt spid="40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1"/>
                                        </p:tgtEl>
                                        <p:attrNameLst>
                                          <p:attrName>style.visibility</p:attrName>
                                        </p:attrNameLst>
                                      </p:cBhvr>
                                      <p:to>
                                        <p:strVal val="visible"/>
                                      </p:to>
                                    </p:set>
                                    <p:animEffect transition="in" filter="fade">
                                      <p:cBhvr>
                                        <p:cTn id="42" dur="1000"/>
                                        <p:tgtEl>
                                          <p:spTgt spid="441"/>
                                        </p:tgtEl>
                                      </p:cBhvr>
                                    </p:animEffect>
                                  </p:childTnLst>
                                </p:cTn>
                              </p:par>
                              <p:par>
                                <p:cTn id="43" presetID="10" presetClass="entr" presetSubtype="0" fill="hold" nodeType="withEffect">
                                  <p:stCondLst>
                                    <p:cond delay="0"/>
                                  </p:stCondLst>
                                  <p:childTnLst>
                                    <p:set>
                                      <p:cBhvr>
                                        <p:cTn id="44" dur="1" fill="hold">
                                          <p:stCondLst>
                                            <p:cond delay="0"/>
                                          </p:stCondLst>
                                        </p:cTn>
                                        <p:tgtEl>
                                          <p:spTgt spid="443"/>
                                        </p:tgtEl>
                                        <p:attrNameLst>
                                          <p:attrName>style.visibility</p:attrName>
                                        </p:attrNameLst>
                                      </p:cBhvr>
                                      <p:to>
                                        <p:strVal val="visible"/>
                                      </p:to>
                                    </p:set>
                                    <p:animEffect transition="in" filter="fade">
                                      <p:cBhvr>
                                        <p:cTn id="45" dur="1000"/>
                                        <p:tgtEl>
                                          <p:spTgt spid="443"/>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5"/>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4"/>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7"/>
          <p:cNvSpPr txBox="1">
            <a:spLocks noGrp="1"/>
          </p:cNvSpPr>
          <p:nvPr>
            <p:ph type="title"/>
          </p:nvPr>
        </p:nvSpPr>
        <p:spPr>
          <a:xfrm>
            <a:off x="0" y="0"/>
            <a:ext cx="12192000" cy="967033"/>
          </a:xfrm>
          <a:prstGeom prst="rect">
            <a:avLst/>
          </a:prstGeom>
        </p:spPr>
        <p:txBody>
          <a:bodyPr spcFirstLastPara="1" vert="horz" wrap="square" lIns="121900" tIns="121900" rIns="121900" bIns="121900" rtlCol="0" anchor="ctr" anchorCtr="0">
            <a:noAutofit/>
          </a:bodyPr>
          <a:lstStyle/>
          <a:p>
            <a:pPr algn="ctr"/>
            <a:r>
              <a:rPr lang="en-GB" dirty="0"/>
              <a:t>Statistics and data</a:t>
            </a:r>
            <a:endParaRPr dirty="0"/>
          </a:p>
        </p:txBody>
      </p:sp>
      <p:cxnSp>
        <p:nvCxnSpPr>
          <p:cNvPr id="406" name="Google Shape;406;p27"/>
          <p:cNvCxnSpPr>
            <a:stCxn id="407" idx="6"/>
            <a:endCxn id="408" idx="2"/>
          </p:cNvCxnSpPr>
          <p:nvPr/>
        </p:nvCxnSpPr>
        <p:spPr>
          <a:xfrm>
            <a:off x="3158551" y="4985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cxnSp>
        <p:nvCxnSpPr>
          <p:cNvPr id="409" name="Google Shape;409;p27"/>
          <p:cNvCxnSpPr>
            <a:stCxn id="407" idx="6"/>
            <a:endCxn id="410" idx="2"/>
          </p:cNvCxnSpPr>
          <p:nvPr/>
        </p:nvCxnSpPr>
        <p:spPr>
          <a:xfrm rot="10800000" flipH="1">
            <a:off x="3158551" y="3737029"/>
            <a:ext cx="936400" cy="1248000"/>
          </a:xfrm>
          <a:prstGeom prst="bentConnector3">
            <a:avLst>
              <a:gd name="adj1" fmla="val 49995"/>
            </a:avLst>
          </a:prstGeom>
          <a:noFill/>
          <a:ln w="9525" cap="flat" cmpd="sng">
            <a:solidFill>
              <a:srgbClr val="C2C2C2"/>
            </a:solidFill>
            <a:prstDash val="solid"/>
            <a:round/>
            <a:headEnd type="none" w="sm" len="sm"/>
            <a:tailEnd type="none" w="sm" len="sm"/>
          </a:ln>
        </p:spPr>
      </p:cxnSp>
      <p:grpSp>
        <p:nvGrpSpPr>
          <p:cNvPr id="423" name="Google Shape;423;p27"/>
          <p:cNvGrpSpPr/>
          <p:nvPr/>
        </p:nvGrpSpPr>
        <p:grpSpPr>
          <a:xfrm>
            <a:off x="4094852" y="3524229"/>
            <a:ext cx="1968727" cy="425600"/>
            <a:chOff x="2678825" y="1476150"/>
            <a:chExt cx="1476545" cy="319200"/>
          </a:xfrm>
        </p:grpSpPr>
        <p:sp>
          <p:nvSpPr>
            <p:cNvPr id="412" name="Google Shape;412;p27"/>
            <p:cNvSpPr/>
            <p:nvPr/>
          </p:nvSpPr>
          <p:spPr>
            <a:xfrm>
              <a:off x="2852825" y="1476150"/>
              <a:ext cx="1302545"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Observed</a:t>
              </a:r>
              <a:endParaRPr sz="2400" dirty="0">
                <a:latin typeface="Roboto"/>
                <a:ea typeface="Roboto"/>
                <a:cs typeface="Roboto"/>
                <a:sym typeface="Roboto"/>
              </a:endParaRPr>
            </a:p>
          </p:txBody>
        </p:sp>
        <p:sp>
          <p:nvSpPr>
            <p:cNvPr id="410" name="Google Shape;410;p27"/>
            <p:cNvSpPr/>
            <p:nvPr/>
          </p:nvSpPr>
          <p:spPr>
            <a:xfrm>
              <a:off x="2678825" y="1548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4" name="Google Shape;424;p27"/>
          <p:cNvGrpSpPr/>
          <p:nvPr/>
        </p:nvGrpSpPr>
        <p:grpSpPr>
          <a:xfrm>
            <a:off x="1342185" y="4772229"/>
            <a:ext cx="1816367" cy="425600"/>
            <a:chOff x="614325" y="2412150"/>
            <a:chExt cx="1362275" cy="319200"/>
          </a:xfrm>
        </p:grpSpPr>
        <p:sp>
          <p:nvSpPr>
            <p:cNvPr id="425" name="Google Shape;425;p27"/>
            <p:cNvSpPr/>
            <p:nvPr/>
          </p:nvSpPr>
          <p:spPr>
            <a:xfrm>
              <a:off x="614325" y="2412150"/>
              <a:ext cx="1182300" cy="319200"/>
            </a:xfrm>
            <a:prstGeom prst="roundRect">
              <a:avLst>
                <a:gd name="adj" fmla="val 16667"/>
              </a:avLst>
            </a:prstGeom>
            <a:noFill/>
            <a:ln>
              <a:noFill/>
            </a:ln>
          </p:spPr>
          <p:txBody>
            <a:bodyPr spcFirstLastPara="1" wrap="square" lIns="121900" tIns="121900" rIns="121900" bIns="121900" anchor="ctr" anchorCtr="0">
              <a:noAutofit/>
            </a:bodyPr>
            <a:lstStyle/>
            <a:p>
              <a:pPr algn="r"/>
              <a:r>
                <a:rPr lang="en-GB" sz="2400" dirty="0">
                  <a:latin typeface="Roboto"/>
                  <a:ea typeface="Roboto"/>
                  <a:cs typeface="Roboto"/>
                  <a:sym typeface="Roboto"/>
                </a:rPr>
                <a:t>Data</a:t>
              </a:r>
              <a:endParaRPr sz="2400" dirty="0">
                <a:latin typeface="Roboto"/>
                <a:ea typeface="Roboto"/>
                <a:cs typeface="Roboto"/>
                <a:sym typeface="Roboto"/>
              </a:endParaRPr>
            </a:p>
          </p:txBody>
        </p:sp>
        <p:sp>
          <p:nvSpPr>
            <p:cNvPr id="407" name="Google Shape;407;p27"/>
            <p:cNvSpPr/>
            <p:nvPr/>
          </p:nvSpPr>
          <p:spPr>
            <a:xfrm>
              <a:off x="1802600" y="24847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dirty="0"/>
            </a:p>
          </p:txBody>
        </p:sp>
      </p:grpSp>
      <p:grpSp>
        <p:nvGrpSpPr>
          <p:cNvPr id="426" name="Google Shape;426;p27"/>
          <p:cNvGrpSpPr/>
          <p:nvPr/>
        </p:nvGrpSpPr>
        <p:grpSpPr>
          <a:xfrm>
            <a:off x="4094850" y="6020229"/>
            <a:ext cx="2223905" cy="425600"/>
            <a:chOff x="2678825" y="3348150"/>
            <a:chExt cx="1667929" cy="319200"/>
          </a:xfrm>
        </p:grpSpPr>
        <p:sp>
          <p:nvSpPr>
            <p:cNvPr id="417" name="Google Shape;417;p27"/>
            <p:cNvSpPr/>
            <p:nvPr/>
          </p:nvSpPr>
          <p:spPr>
            <a:xfrm>
              <a:off x="2852824" y="3348150"/>
              <a:ext cx="1493930"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Unobserved</a:t>
              </a:r>
              <a:endParaRPr sz="2400" dirty="0">
                <a:solidFill>
                  <a:srgbClr val="FFFF00"/>
                </a:solidFill>
                <a:latin typeface="Roboto"/>
                <a:ea typeface="Roboto"/>
                <a:cs typeface="Roboto"/>
                <a:sym typeface="Roboto"/>
              </a:endParaRPr>
            </a:p>
          </p:txBody>
        </p:sp>
        <p:sp>
          <p:nvSpPr>
            <p:cNvPr id="408" name="Google Shape;408;p27"/>
            <p:cNvSpPr/>
            <p:nvPr/>
          </p:nvSpPr>
          <p:spPr>
            <a:xfrm>
              <a:off x="2678825" y="3420750"/>
              <a:ext cx="174000" cy="174000"/>
            </a:xfrm>
            <a:prstGeom prst="ellipse">
              <a:avLst/>
            </a:prstGeom>
            <a:solidFill>
              <a:srgbClr val="FFFF00"/>
            </a:solidFill>
            <a:ln>
              <a:noFill/>
            </a:ln>
          </p:spPr>
          <p:txBody>
            <a:bodyPr spcFirstLastPara="1" wrap="square" lIns="121900" tIns="121900" rIns="121900" bIns="121900" anchor="ctr" anchorCtr="0">
              <a:noAutofit/>
            </a:bodyPr>
            <a:lstStyle/>
            <a:p>
              <a:endParaRPr sz="2267"/>
            </a:p>
          </p:txBody>
        </p:sp>
      </p:grpSp>
      <p:cxnSp>
        <p:nvCxnSpPr>
          <p:cNvPr id="433" name="Google Shape;433;p27"/>
          <p:cNvCxnSpPr>
            <a:cxnSpLocks/>
            <a:endCxn id="434" idx="2"/>
          </p:cNvCxnSpPr>
          <p:nvPr/>
        </p:nvCxnSpPr>
        <p:spPr>
          <a:xfrm flipV="1">
            <a:off x="5856550" y="3164396"/>
            <a:ext cx="781499" cy="609600"/>
          </a:xfrm>
          <a:prstGeom prst="bentConnector3">
            <a:avLst>
              <a:gd name="adj1" fmla="val 50000"/>
            </a:avLst>
          </a:prstGeom>
          <a:noFill/>
          <a:ln w="9525" cap="flat" cmpd="sng">
            <a:solidFill>
              <a:srgbClr val="C2C2C2"/>
            </a:solidFill>
            <a:prstDash val="solid"/>
            <a:round/>
            <a:headEnd type="none" w="sm" len="sm"/>
            <a:tailEnd type="none" w="sm" len="sm"/>
          </a:ln>
        </p:spPr>
      </p:cxnSp>
      <p:cxnSp>
        <p:nvCxnSpPr>
          <p:cNvPr id="435" name="Google Shape;435;p27"/>
          <p:cNvCxnSpPr>
            <a:cxnSpLocks/>
            <a:endCxn id="436" idx="2"/>
          </p:cNvCxnSpPr>
          <p:nvPr/>
        </p:nvCxnSpPr>
        <p:spPr>
          <a:xfrm>
            <a:off x="5856550" y="3773996"/>
            <a:ext cx="781499" cy="587200"/>
          </a:xfrm>
          <a:prstGeom prst="bentConnector3">
            <a:avLst>
              <a:gd name="adj1" fmla="val 50000"/>
            </a:avLst>
          </a:prstGeom>
          <a:noFill/>
          <a:ln w="9525" cap="flat" cmpd="sng">
            <a:solidFill>
              <a:srgbClr val="C2C2C2"/>
            </a:solidFill>
            <a:prstDash val="solid"/>
            <a:round/>
            <a:headEnd type="none" w="sm" len="sm"/>
            <a:tailEnd type="none" w="sm" len="sm"/>
          </a:ln>
        </p:spPr>
      </p:cxnSp>
      <p:grpSp>
        <p:nvGrpSpPr>
          <p:cNvPr id="437" name="Google Shape;437;p27"/>
          <p:cNvGrpSpPr/>
          <p:nvPr/>
        </p:nvGrpSpPr>
        <p:grpSpPr>
          <a:xfrm>
            <a:off x="6638049" y="2951596"/>
            <a:ext cx="2178479" cy="425600"/>
            <a:chOff x="6563750" y="561750"/>
            <a:chExt cx="1633860" cy="319200"/>
          </a:xfrm>
        </p:grpSpPr>
        <p:sp>
          <p:nvSpPr>
            <p:cNvPr id="438" name="Google Shape;438;p27"/>
            <p:cNvSpPr/>
            <p:nvPr/>
          </p:nvSpPr>
          <p:spPr>
            <a:xfrm>
              <a:off x="6737749" y="561750"/>
              <a:ext cx="1459861"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Continuous </a:t>
              </a:r>
              <a:r>
                <a:rPr lang="en-GB" dirty="0">
                  <a:latin typeface="Roboto"/>
                  <a:ea typeface="Roboto"/>
                  <a:cs typeface="Roboto"/>
                  <a:sym typeface="Roboto"/>
                </a:rPr>
                <a:t>(e.g. height)</a:t>
              </a:r>
              <a:endParaRPr sz="2400" dirty="0">
                <a:latin typeface="Roboto"/>
                <a:ea typeface="Roboto"/>
                <a:cs typeface="Roboto"/>
                <a:sym typeface="Roboto"/>
              </a:endParaRPr>
            </a:p>
          </p:txBody>
        </p:sp>
        <p:sp>
          <p:nvSpPr>
            <p:cNvPr id="434" name="Google Shape;434;p27"/>
            <p:cNvSpPr/>
            <p:nvPr/>
          </p:nvSpPr>
          <p:spPr>
            <a:xfrm>
              <a:off x="6563750" y="634350"/>
              <a:ext cx="174000" cy="1740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grpSp>
        <p:nvGrpSpPr>
          <p:cNvPr id="439" name="Google Shape;439;p27"/>
          <p:cNvGrpSpPr/>
          <p:nvPr/>
        </p:nvGrpSpPr>
        <p:grpSpPr>
          <a:xfrm>
            <a:off x="6638049" y="4170796"/>
            <a:ext cx="2285687" cy="425600"/>
            <a:chOff x="6563750" y="1476150"/>
            <a:chExt cx="1356300" cy="319200"/>
          </a:xfrm>
        </p:grpSpPr>
        <p:sp>
          <p:nvSpPr>
            <p:cNvPr id="440" name="Google Shape;440;p27"/>
            <p:cNvSpPr/>
            <p:nvPr/>
          </p:nvSpPr>
          <p:spPr>
            <a:xfrm>
              <a:off x="6701416" y="1476150"/>
              <a:ext cx="1218634"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latin typeface="Roboto"/>
                  <a:ea typeface="Roboto"/>
                  <a:cs typeface="Roboto"/>
                  <a:sym typeface="Roboto"/>
                </a:rPr>
                <a:t>Grouped</a:t>
              </a:r>
            </a:p>
            <a:p>
              <a:r>
                <a:rPr lang="en-GB" dirty="0">
                  <a:latin typeface="Roboto"/>
                  <a:ea typeface="Roboto"/>
                  <a:cs typeface="Roboto"/>
                  <a:sym typeface="Roboto"/>
                </a:rPr>
                <a:t>(e.g. eye colour)</a:t>
              </a:r>
              <a:endParaRPr dirty="0">
                <a:latin typeface="Roboto"/>
                <a:ea typeface="Roboto"/>
                <a:cs typeface="Roboto"/>
                <a:sym typeface="Roboto"/>
              </a:endParaRPr>
            </a:p>
          </p:txBody>
        </p:sp>
        <p:sp>
          <p:nvSpPr>
            <p:cNvPr id="436" name="Google Shape;436;p27"/>
            <p:cNvSpPr/>
            <p:nvPr/>
          </p:nvSpPr>
          <p:spPr>
            <a:xfrm>
              <a:off x="6563750" y="1534050"/>
              <a:ext cx="137666" cy="169800"/>
            </a:xfrm>
            <a:prstGeom prst="ellipse">
              <a:avLst/>
            </a:prstGeom>
            <a:solidFill>
              <a:schemeClr val="tx1"/>
            </a:solidFill>
            <a:ln>
              <a:noFill/>
            </a:ln>
          </p:spPr>
          <p:txBody>
            <a:bodyPr spcFirstLastPara="1" wrap="square" lIns="121900" tIns="121900" rIns="121900" bIns="121900" anchor="ctr" anchorCtr="0">
              <a:noAutofit/>
            </a:bodyPr>
            <a:lstStyle/>
            <a:p>
              <a:endParaRPr sz="2267"/>
            </a:p>
          </p:txBody>
        </p:sp>
      </p:grpSp>
      <p:cxnSp>
        <p:nvCxnSpPr>
          <p:cNvPr id="441" name="Google Shape;441;p27"/>
          <p:cNvCxnSpPr>
            <a:cxnSpLocks/>
            <a:endCxn id="442" idx="2"/>
          </p:cNvCxnSpPr>
          <p:nvPr/>
        </p:nvCxnSpPr>
        <p:spPr>
          <a:xfrm>
            <a:off x="6253185" y="6233029"/>
            <a:ext cx="781600" cy="800"/>
          </a:xfrm>
          <a:prstGeom prst="bentConnector3">
            <a:avLst>
              <a:gd name="adj1" fmla="val 49994"/>
            </a:avLst>
          </a:prstGeom>
          <a:noFill/>
          <a:ln w="9525" cap="flat" cmpd="sng">
            <a:solidFill>
              <a:srgbClr val="C2C2C2"/>
            </a:solidFill>
            <a:prstDash val="solid"/>
            <a:round/>
            <a:headEnd type="none" w="sm" len="sm"/>
            <a:tailEnd type="none" w="sm" len="sm"/>
          </a:ln>
        </p:spPr>
      </p:cxnSp>
      <p:grpSp>
        <p:nvGrpSpPr>
          <p:cNvPr id="443" name="Google Shape;443;p27"/>
          <p:cNvGrpSpPr/>
          <p:nvPr/>
        </p:nvGrpSpPr>
        <p:grpSpPr>
          <a:xfrm>
            <a:off x="7034684" y="6020229"/>
            <a:ext cx="2296489" cy="425600"/>
            <a:chOff x="6563750" y="3805350"/>
            <a:chExt cx="1722367" cy="319200"/>
          </a:xfrm>
        </p:grpSpPr>
        <p:sp>
          <p:nvSpPr>
            <p:cNvPr id="444" name="Google Shape;444;p27"/>
            <p:cNvSpPr/>
            <p:nvPr/>
          </p:nvSpPr>
          <p:spPr>
            <a:xfrm>
              <a:off x="6737749" y="3805350"/>
              <a:ext cx="1548368" cy="319200"/>
            </a:xfrm>
            <a:prstGeom prst="roundRect">
              <a:avLst>
                <a:gd name="adj" fmla="val 16667"/>
              </a:avLst>
            </a:prstGeom>
            <a:noFill/>
            <a:ln>
              <a:noFill/>
            </a:ln>
          </p:spPr>
          <p:txBody>
            <a:bodyPr spcFirstLastPara="1" wrap="square" lIns="121900" tIns="121900" rIns="121900" bIns="121900" anchor="ctr" anchorCtr="0">
              <a:noAutofit/>
            </a:bodyPr>
            <a:lstStyle/>
            <a:p>
              <a:r>
                <a:rPr lang="en-GB" sz="2400" dirty="0">
                  <a:solidFill>
                    <a:srgbClr val="FFFF00"/>
                  </a:solidFill>
                  <a:latin typeface="Roboto"/>
                  <a:ea typeface="Roboto"/>
                  <a:cs typeface="Roboto"/>
                  <a:sym typeface="Roboto"/>
                </a:rPr>
                <a:t>“Parameter”</a:t>
              </a:r>
              <a:endParaRPr sz="2400" dirty="0">
                <a:solidFill>
                  <a:srgbClr val="FFFF00"/>
                </a:solidFill>
                <a:latin typeface="Roboto"/>
                <a:ea typeface="Roboto"/>
                <a:cs typeface="Roboto"/>
                <a:sym typeface="Roboto"/>
              </a:endParaRPr>
            </a:p>
          </p:txBody>
        </p:sp>
        <p:sp>
          <p:nvSpPr>
            <p:cNvPr id="442" name="Google Shape;442;p27"/>
            <p:cNvSpPr/>
            <p:nvPr/>
          </p:nvSpPr>
          <p:spPr>
            <a:xfrm>
              <a:off x="6563750" y="3877950"/>
              <a:ext cx="174000" cy="174000"/>
            </a:xfrm>
            <a:prstGeom prst="ellipse">
              <a:avLst/>
            </a:prstGeom>
            <a:solidFill>
              <a:srgbClr val="FFC000"/>
            </a:solidFill>
            <a:ln>
              <a:noFill/>
            </a:ln>
          </p:spPr>
          <p:txBody>
            <a:bodyPr spcFirstLastPara="1" wrap="square" lIns="121900" tIns="121900" rIns="121900" bIns="121900" anchor="ctr" anchorCtr="0">
              <a:noAutofit/>
            </a:bodyPr>
            <a:lstStyle/>
            <a:p>
              <a:endParaRPr sz="2267"/>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62ED906-816D-49FC-8DE2-404E8B018681}"/>
                  </a:ext>
                </a:extLst>
              </p:cNvPr>
              <p:cNvSpPr txBox="1"/>
              <p:nvPr/>
            </p:nvSpPr>
            <p:spPr>
              <a:xfrm>
                <a:off x="4563851" y="1176448"/>
                <a:ext cx="4087208" cy="7078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sz="4000" b="0" i="1" smtClean="0">
                              <a:latin typeface="Cambria Math" panose="02040503050406030204" pitchFamily="18" charset="0"/>
                            </a:rPr>
                          </m:ctrlPr>
                        </m:sSubPr>
                        <m:e>
                          <m:r>
                            <a:rPr lang="en-GB" sz="4000" b="0" i="1" smtClean="0">
                              <a:latin typeface="Cambria Math" panose="02040503050406030204" pitchFamily="18" charset="0"/>
                            </a:rPr>
                            <m:t>𝑦</m:t>
                          </m:r>
                        </m:e>
                        <m:sub>
                          <m:r>
                            <a:rPr lang="en-GB" sz="4000" b="0" i="1" smtClean="0">
                              <a:latin typeface="Cambria Math" panose="02040503050406030204" pitchFamily="18" charset="0"/>
                            </a:rPr>
                            <m:t>𝑖</m:t>
                          </m:r>
                        </m:sub>
                      </m:sSub>
                      <m:r>
                        <a:rPr lang="en-GB" sz="4000" b="0" i="1" smtClean="0">
                          <a:latin typeface="Cambria Math" panose="02040503050406030204" pitchFamily="18" charset="0"/>
                        </a:rPr>
                        <m:t>=</m:t>
                      </m:r>
                      <m:sSub>
                        <m:sSubPr>
                          <m:ctrlPr>
                            <a:rPr lang="en-GB" sz="4000" i="1" smtClean="0">
                              <a:solidFill>
                                <a:srgbClr val="FFFF00"/>
                              </a:solidFill>
                              <a:latin typeface="Cambria Math" panose="02040503050406030204" pitchFamily="18" charset="0"/>
                            </a:rPr>
                          </m:ctrlPr>
                        </m:sSubPr>
                        <m:e>
                          <m:r>
                            <a:rPr lang="en-GB" sz="4000" i="1">
                              <a:solidFill>
                                <a:srgbClr val="FFFF00"/>
                              </a:solidFill>
                              <a:latin typeface="Cambria Math" panose="02040503050406030204" pitchFamily="18" charset="0"/>
                            </a:rPr>
                            <m:t>𝛽</m:t>
                          </m:r>
                        </m:e>
                        <m:sub>
                          <m:r>
                            <a:rPr lang="en-GB" sz="4000" i="1">
                              <a:solidFill>
                                <a:srgbClr val="FFFF00"/>
                              </a:solidFill>
                              <a:latin typeface="Cambria Math" panose="02040503050406030204" pitchFamily="18" charset="0"/>
                            </a:rPr>
                            <m:t>0</m:t>
                          </m:r>
                        </m:sub>
                      </m:sSub>
                      <m:r>
                        <a:rPr lang="en-GB" sz="4000" b="0" i="1" smtClean="0">
                          <a:latin typeface="Cambria Math" panose="02040503050406030204" pitchFamily="18" charset="0"/>
                        </a:rPr>
                        <m:t>+</m:t>
                      </m:r>
                      <m:sSub>
                        <m:sSubPr>
                          <m:ctrlPr>
                            <a:rPr lang="en-GB" sz="4000" b="0" i="1" smtClean="0">
                              <a:solidFill>
                                <a:srgbClr val="FFFF00"/>
                              </a:solidFill>
                              <a:latin typeface="Cambria Math" panose="02040503050406030204" pitchFamily="18" charset="0"/>
                            </a:rPr>
                          </m:ctrlPr>
                        </m:sSubPr>
                        <m:e>
                          <m:r>
                            <a:rPr lang="en-GB" sz="4000" b="0" i="1" smtClean="0">
                              <a:solidFill>
                                <a:srgbClr val="FFFF00"/>
                              </a:solidFill>
                              <a:latin typeface="Cambria Math" panose="02040503050406030204" pitchFamily="18" charset="0"/>
                            </a:rPr>
                            <m:t>𝛽</m:t>
                          </m:r>
                        </m:e>
                        <m:sub>
                          <m:r>
                            <a:rPr lang="en-GB" sz="4000" b="0" i="1" smtClean="0">
                              <a:solidFill>
                                <a:srgbClr val="FFFF00"/>
                              </a:solidFill>
                              <a:latin typeface="Cambria Math" panose="02040503050406030204" pitchFamily="18" charset="0"/>
                            </a:rPr>
                            <m:t>1</m:t>
                          </m:r>
                        </m:sub>
                      </m:sSub>
                      <m:r>
                        <a:rPr lang="en-GB" sz="4000" b="0" i="1" smtClean="0">
                          <a:solidFill>
                            <a:schemeClr val="tx1"/>
                          </a:solidFill>
                          <a:latin typeface="Cambria Math" panose="02040503050406030204" pitchFamily="18" charset="0"/>
                        </a:rPr>
                        <m:t>×</m:t>
                      </m:r>
                      <m:sSub>
                        <m:sSubPr>
                          <m:ctrlPr>
                            <a:rPr lang="en-GB" sz="4000" b="0" i="1" smtClean="0">
                              <a:solidFill>
                                <a:schemeClr val="tx1"/>
                              </a:solidFill>
                              <a:latin typeface="Cambria Math" panose="02040503050406030204" pitchFamily="18" charset="0"/>
                            </a:rPr>
                          </m:ctrlPr>
                        </m:sSubPr>
                        <m:e>
                          <m:r>
                            <a:rPr lang="en-GB" sz="4000" b="0" i="1" smtClean="0">
                              <a:solidFill>
                                <a:schemeClr val="tx1"/>
                              </a:solidFill>
                              <a:latin typeface="Cambria Math" panose="02040503050406030204" pitchFamily="18" charset="0"/>
                            </a:rPr>
                            <m:t>𝑥</m:t>
                          </m:r>
                        </m:e>
                        <m:sub>
                          <m:r>
                            <a:rPr lang="en-GB" sz="4000" b="0" i="1" smtClean="0">
                              <a:solidFill>
                                <a:schemeClr val="tx1"/>
                              </a:solidFill>
                              <a:latin typeface="Cambria Math" panose="02040503050406030204" pitchFamily="18" charset="0"/>
                            </a:rPr>
                            <m:t>𝑖</m:t>
                          </m:r>
                        </m:sub>
                      </m:sSub>
                    </m:oMath>
                  </m:oMathPara>
                </a14:m>
                <a:endParaRPr lang="en-GB" sz="2800" dirty="0"/>
              </a:p>
            </p:txBody>
          </p:sp>
        </mc:Choice>
        <mc:Fallback xmlns="">
          <p:sp>
            <p:nvSpPr>
              <p:cNvPr id="6" name="TextBox 5">
                <a:extLst>
                  <a:ext uri="{FF2B5EF4-FFF2-40B4-BE49-F238E27FC236}">
                    <a16:creationId xmlns:a16="http://schemas.microsoft.com/office/drawing/2014/main" id="{F62ED906-816D-49FC-8DE2-404E8B018681}"/>
                  </a:ext>
                </a:extLst>
              </p:cNvPr>
              <p:cNvSpPr txBox="1">
                <a:spLocks noRot="1" noChangeAspect="1" noMove="1" noResize="1" noEditPoints="1" noAdjustHandles="1" noChangeArrowheads="1" noChangeShapeType="1" noTextEdit="1"/>
              </p:cNvSpPr>
              <p:nvPr/>
            </p:nvSpPr>
            <p:spPr>
              <a:xfrm>
                <a:off x="4563851" y="1176448"/>
                <a:ext cx="4087208" cy="707886"/>
              </a:xfrm>
              <a:prstGeom prst="rect">
                <a:avLst/>
              </a:prstGeom>
              <a:blipFill>
                <a:blip r:embed="rId3"/>
                <a:stretch>
                  <a:fillRect/>
                </a:stretch>
              </a:blipFill>
            </p:spPr>
            <p:txBody>
              <a:bodyPr/>
              <a:lstStyle/>
              <a:p>
                <a:r>
                  <a:rPr lang="en-GB">
                    <a:noFill/>
                  </a:rPr>
                  <a:t> </a:t>
                </a:r>
              </a:p>
            </p:txBody>
          </p:sp>
        </mc:Fallback>
      </mc:AlternateContent>
      <p:sp>
        <p:nvSpPr>
          <p:cNvPr id="4" name="Freeform: Shape 3">
            <a:extLst>
              <a:ext uri="{FF2B5EF4-FFF2-40B4-BE49-F238E27FC236}">
                <a16:creationId xmlns:a16="http://schemas.microsoft.com/office/drawing/2014/main" id="{57EA2591-CE9C-4D19-BCBB-E0FE31B4D499}"/>
              </a:ext>
            </a:extLst>
          </p:cNvPr>
          <p:cNvSpPr/>
          <p:nvPr/>
        </p:nvSpPr>
        <p:spPr>
          <a:xfrm>
            <a:off x="4202289" y="1835856"/>
            <a:ext cx="711200" cy="1790700"/>
          </a:xfrm>
          <a:custGeom>
            <a:avLst/>
            <a:gdLst>
              <a:gd name="connsiteX0" fmla="*/ 0 w 711200"/>
              <a:gd name="connsiteY0" fmla="*/ 1790700 h 1790700"/>
              <a:gd name="connsiteX1" fmla="*/ 190500 w 711200"/>
              <a:gd name="connsiteY1" fmla="*/ 1092200 h 1790700"/>
              <a:gd name="connsiteX2" fmla="*/ 622300 w 711200"/>
              <a:gd name="connsiteY2" fmla="*/ 469900 h 1790700"/>
              <a:gd name="connsiteX3" fmla="*/ 711200 w 711200"/>
              <a:gd name="connsiteY3" fmla="*/ 0 h 1790700"/>
            </a:gdLst>
            <a:ahLst/>
            <a:cxnLst>
              <a:cxn ang="0">
                <a:pos x="connsiteX0" y="connsiteY0"/>
              </a:cxn>
              <a:cxn ang="0">
                <a:pos x="connsiteX1" y="connsiteY1"/>
              </a:cxn>
              <a:cxn ang="0">
                <a:pos x="connsiteX2" y="connsiteY2"/>
              </a:cxn>
              <a:cxn ang="0">
                <a:pos x="connsiteX3" y="connsiteY3"/>
              </a:cxn>
            </a:cxnLst>
            <a:rect l="l" t="t" r="r" b="b"/>
            <a:pathLst>
              <a:path w="711200" h="1790700">
                <a:moveTo>
                  <a:pt x="0" y="1790700"/>
                </a:moveTo>
                <a:cubicBezTo>
                  <a:pt x="43391" y="1551516"/>
                  <a:pt x="86783" y="1312333"/>
                  <a:pt x="190500" y="1092200"/>
                </a:cubicBezTo>
                <a:cubicBezTo>
                  <a:pt x="294217" y="872067"/>
                  <a:pt x="535517" y="651933"/>
                  <a:pt x="622300" y="469900"/>
                </a:cubicBezTo>
                <a:cubicBezTo>
                  <a:pt x="709083" y="287867"/>
                  <a:pt x="710141" y="143933"/>
                  <a:pt x="711200" y="0"/>
                </a:cubicBez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5" name="Freeform: Shape 4">
            <a:extLst>
              <a:ext uri="{FF2B5EF4-FFF2-40B4-BE49-F238E27FC236}">
                <a16:creationId xmlns:a16="http://schemas.microsoft.com/office/drawing/2014/main" id="{C8C8F9B6-05F2-4251-A572-A7A50D41DE9F}"/>
              </a:ext>
            </a:extLst>
          </p:cNvPr>
          <p:cNvSpPr/>
          <p:nvPr/>
        </p:nvSpPr>
        <p:spPr>
          <a:xfrm>
            <a:off x="4202290" y="1797756"/>
            <a:ext cx="3963810" cy="1828800"/>
          </a:xfrm>
          <a:custGeom>
            <a:avLst/>
            <a:gdLst>
              <a:gd name="connsiteX0" fmla="*/ 0 w 3390900"/>
              <a:gd name="connsiteY0" fmla="*/ 1828800 h 1828800"/>
              <a:gd name="connsiteX1" fmla="*/ 342900 w 3390900"/>
              <a:gd name="connsiteY1" fmla="*/ 1257300 h 1828800"/>
              <a:gd name="connsiteX2" fmla="*/ 1257300 w 3390900"/>
              <a:gd name="connsiteY2" fmla="*/ 850900 h 1828800"/>
              <a:gd name="connsiteX3" fmla="*/ 2679700 w 3390900"/>
              <a:gd name="connsiteY3" fmla="*/ 838200 h 1828800"/>
              <a:gd name="connsiteX4" fmla="*/ 3390900 w 3390900"/>
              <a:gd name="connsiteY4" fmla="*/ 0 h 1828800"/>
              <a:gd name="connsiteX5" fmla="*/ 3390900 w 3390900"/>
              <a:gd name="connsiteY5" fmla="*/ 0 h 182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90900" h="1828800">
                <a:moveTo>
                  <a:pt x="0" y="1828800"/>
                </a:moveTo>
                <a:cubicBezTo>
                  <a:pt x="66675" y="1624541"/>
                  <a:pt x="133350" y="1420283"/>
                  <a:pt x="342900" y="1257300"/>
                </a:cubicBezTo>
                <a:cubicBezTo>
                  <a:pt x="552450" y="1094317"/>
                  <a:pt x="867833" y="920750"/>
                  <a:pt x="1257300" y="850900"/>
                </a:cubicBezTo>
                <a:cubicBezTo>
                  <a:pt x="1646767" y="781050"/>
                  <a:pt x="2324100" y="980017"/>
                  <a:pt x="2679700" y="838200"/>
                </a:cubicBezTo>
                <a:cubicBezTo>
                  <a:pt x="3035300" y="696383"/>
                  <a:pt x="3390900" y="0"/>
                  <a:pt x="3390900" y="0"/>
                </a:cubicBezTo>
                <a:lnTo>
                  <a:pt x="3390900" y="0"/>
                </a:lnTo>
              </a:path>
            </a:pathLst>
          </a:cu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nvGrpSpPr>
          <p:cNvPr id="11" name="Group 10">
            <a:extLst>
              <a:ext uri="{FF2B5EF4-FFF2-40B4-BE49-F238E27FC236}">
                <a16:creationId xmlns:a16="http://schemas.microsoft.com/office/drawing/2014/main" id="{48643BDD-C08F-0B0B-30DB-16819FFA9CDE}"/>
              </a:ext>
            </a:extLst>
          </p:cNvPr>
          <p:cNvGrpSpPr/>
          <p:nvPr/>
        </p:nvGrpSpPr>
        <p:grpSpPr>
          <a:xfrm>
            <a:off x="5870222" y="1884334"/>
            <a:ext cx="3543725" cy="4234244"/>
            <a:chOff x="5452533" y="1907822"/>
            <a:chExt cx="3543725" cy="4368800"/>
          </a:xfrm>
        </p:grpSpPr>
        <p:sp>
          <p:nvSpPr>
            <p:cNvPr id="9" name="Freeform: Shape 8">
              <a:extLst>
                <a:ext uri="{FF2B5EF4-FFF2-40B4-BE49-F238E27FC236}">
                  <a16:creationId xmlns:a16="http://schemas.microsoft.com/office/drawing/2014/main" id="{0CEBF911-A388-3FDE-1425-8AC049404DFA}"/>
                </a:ext>
              </a:extLst>
            </p:cNvPr>
            <p:cNvSpPr/>
            <p:nvPr/>
          </p:nvSpPr>
          <p:spPr>
            <a:xfrm>
              <a:off x="5452533" y="1907822"/>
              <a:ext cx="3543725" cy="4368800"/>
            </a:xfrm>
            <a:custGeom>
              <a:avLst/>
              <a:gdLst>
                <a:gd name="connsiteX0" fmla="*/ 1343378 w 3543725"/>
                <a:gd name="connsiteY0" fmla="*/ 4368800 h 4368800"/>
                <a:gd name="connsiteX1" fmla="*/ 1614311 w 3543725"/>
                <a:gd name="connsiteY1" fmla="*/ 3736622 h 4368800"/>
                <a:gd name="connsiteX2" fmla="*/ 2336800 w 3543725"/>
                <a:gd name="connsiteY2" fmla="*/ 3420534 h 4368800"/>
                <a:gd name="connsiteX3" fmla="*/ 3239911 w 3543725"/>
                <a:gd name="connsiteY3" fmla="*/ 3048000 h 4368800"/>
                <a:gd name="connsiteX4" fmla="*/ 3488267 w 3543725"/>
                <a:gd name="connsiteY4" fmla="*/ 2223911 h 4368800"/>
                <a:gd name="connsiteX5" fmla="*/ 3510845 w 3543725"/>
                <a:gd name="connsiteY5" fmla="*/ 1332089 h 4368800"/>
                <a:gd name="connsiteX6" fmla="*/ 3104445 w 3543725"/>
                <a:gd name="connsiteY6" fmla="*/ 903111 h 4368800"/>
                <a:gd name="connsiteX7" fmla="*/ 2562578 w 3543725"/>
                <a:gd name="connsiteY7" fmla="*/ 745067 h 4368800"/>
                <a:gd name="connsiteX8" fmla="*/ 2032000 w 3543725"/>
                <a:gd name="connsiteY8" fmla="*/ 666045 h 4368800"/>
                <a:gd name="connsiteX9" fmla="*/ 1207911 w 3543725"/>
                <a:gd name="connsiteY9" fmla="*/ 587022 h 4368800"/>
                <a:gd name="connsiteX10" fmla="*/ 349956 w 3543725"/>
                <a:gd name="connsiteY10" fmla="*/ 541867 h 4368800"/>
                <a:gd name="connsiteX11" fmla="*/ 79023 w 3543725"/>
                <a:gd name="connsiteY11" fmla="*/ 372534 h 4368800"/>
                <a:gd name="connsiteX12" fmla="*/ 0 w 3543725"/>
                <a:gd name="connsiteY12" fmla="*/ 0 h 436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543725" h="4368800">
                  <a:moveTo>
                    <a:pt x="1343378" y="4368800"/>
                  </a:moveTo>
                  <a:cubicBezTo>
                    <a:pt x="1396059" y="4131733"/>
                    <a:pt x="1448741" y="3894666"/>
                    <a:pt x="1614311" y="3736622"/>
                  </a:cubicBezTo>
                  <a:cubicBezTo>
                    <a:pt x="1779881" y="3578578"/>
                    <a:pt x="2065867" y="3535304"/>
                    <a:pt x="2336800" y="3420534"/>
                  </a:cubicBezTo>
                  <a:cubicBezTo>
                    <a:pt x="2607733" y="3305764"/>
                    <a:pt x="3048000" y="3247437"/>
                    <a:pt x="3239911" y="3048000"/>
                  </a:cubicBezTo>
                  <a:cubicBezTo>
                    <a:pt x="3431822" y="2848563"/>
                    <a:pt x="3443111" y="2509896"/>
                    <a:pt x="3488267" y="2223911"/>
                  </a:cubicBezTo>
                  <a:cubicBezTo>
                    <a:pt x="3533423" y="1937926"/>
                    <a:pt x="3574815" y="1552222"/>
                    <a:pt x="3510845" y="1332089"/>
                  </a:cubicBezTo>
                  <a:cubicBezTo>
                    <a:pt x="3446875" y="1111956"/>
                    <a:pt x="3262489" y="1000948"/>
                    <a:pt x="3104445" y="903111"/>
                  </a:cubicBezTo>
                  <a:cubicBezTo>
                    <a:pt x="2946401" y="805274"/>
                    <a:pt x="2741319" y="784578"/>
                    <a:pt x="2562578" y="745067"/>
                  </a:cubicBezTo>
                  <a:cubicBezTo>
                    <a:pt x="2383837" y="705556"/>
                    <a:pt x="2257778" y="692386"/>
                    <a:pt x="2032000" y="666045"/>
                  </a:cubicBezTo>
                  <a:cubicBezTo>
                    <a:pt x="1806222" y="639704"/>
                    <a:pt x="1488252" y="607718"/>
                    <a:pt x="1207911" y="587022"/>
                  </a:cubicBezTo>
                  <a:cubicBezTo>
                    <a:pt x="927570" y="566326"/>
                    <a:pt x="538104" y="577615"/>
                    <a:pt x="349956" y="541867"/>
                  </a:cubicBezTo>
                  <a:cubicBezTo>
                    <a:pt x="161808" y="506119"/>
                    <a:pt x="137349" y="462845"/>
                    <a:pt x="79023" y="372534"/>
                  </a:cubicBezTo>
                  <a:cubicBezTo>
                    <a:pt x="20697" y="282223"/>
                    <a:pt x="10348" y="141111"/>
                    <a:pt x="0"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eeform: Shape 9">
              <a:extLst>
                <a:ext uri="{FF2B5EF4-FFF2-40B4-BE49-F238E27FC236}">
                  <a16:creationId xmlns:a16="http://schemas.microsoft.com/office/drawing/2014/main" id="{1179627A-5996-C679-9E0F-5B45064D7150}"/>
                </a:ext>
              </a:extLst>
            </p:cNvPr>
            <p:cNvSpPr/>
            <p:nvPr/>
          </p:nvSpPr>
          <p:spPr>
            <a:xfrm>
              <a:off x="6616994" y="1930400"/>
              <a:ext cx="1770649" cy="801511"/>
            </a:xfrm>
            <a:custGeom>
              <a:avLst/>
              <a:gdLst>
                <a:gd name="connsiteX0" fmla="*/ 2121252 w 2121252"/>
                <a:gd name="connsiteY0" fmla="*/ 801511 h 801511"/>
                <a:gd name="connsiteX1" fmla="*/ 845608 w 2121252"/>
                <a:gd name="connsiteY1" fmla="*/ 485422 h 801511"/>
                <a:gd name="connsiteX2" fmla="*/ 89252 w 2121252"/>
                <a:gd name="connsiteY2" fmla="*/ 237067 h 801511"/>
                <a:gd name="connsiteX3" fmla="*/ 44097 w 2121252"/>
                <a:gd name="connsiteY3" fmla="*/ 0 h 801511"/>
              </a:gdLst>
              <a:ahLst/>
              <a:cxnLst>
                <a:cxn ang="0">
                  <a:pos x="connsiteX0" y="connsiteY0"/>
                </a:cxn>
                <a:cxn ang="0">
                  <a:pos x="connsiteX1" y="connsiteY1"/>
                </a:cxn>
                <a:cxn ang="0">
                  <a:pos x="connsiteX2" y="connsiteY2"/>
                </a:cxn>
                <a:cxn ang="0">
                  <a:pos x="connsiteX3" y="connsiteY3"/>
                </a:cxn>
              </a:cxnLst>
              <a:rect l="l" t="t" r="r" b="b"/>
              <a:pathLst>
                <a:path w="2121252" h="801511">
                  <a:moveTo>
                    <a:pt x="2121252" y="801511"/>
                  </a:moveTo>
                  <a:cubicBezTo>
                    <a:pt x="1652763" y="690503"/>
                    <a:pt x="1184275" y="579496"/>
                    <a:pt x="845608" y="485422"/>
                  </a:cubicBezTo>
                  <a:cubicBezTo>
                    <a:pt x="506941" y="391348"/>
                    <a:pt x="222837" y="317971"/>
                    <a:pt x="89252" y="237067"/>
                  </a:cubicBezTo>
                  <a:cubicBezTo>
                    <a:pt x="-44333" y="156163"/>
                    <a:pt x="-118" y="78081"/>
                    <a:pt x="44097" y="0"/>
                  </a:cubicBezTo>
                </a:path>
              </a:pathLst>
            </a:cu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31371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93147" y="292323"/>
            <a:ext cx="6079297" cy="763600"/>
          </a:xfrm>
        </p:spPr>
        <p:txBody>
          <a:bodyPr/>
          <a:lstStyle/>
          <a:p>
            <a:r>
              <a:rPr lang="en-GB" dirty="0"/>
              <a:t>Doing “stats”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93147" y="1536633"/>
                <a:ext cx="6079297" cy="4358140"/>
              </a:xfrm>
            </p:spPr>
            <p:txBody>
              <a:bodyPr/>
              <a:lstStyle/>
              <a:p>
                <a:pPr marL="152396" indent="0">
                  <a:buNone/>
                </a:pPr>
                <a:r>
                  <a:rPr lang="en-GB" dirty="0"/>
                  <a:t>Your straight-line equation:</a:t>
                </a:r>
              </a:p>
              <a:p>
                <a:pPr marL="152396" indent="0">
                  <a:buNone/>
                </a:pPr>
                <a:endParaRPr lang="en-GB" i="1" dirty="0"/>
              </a:p>
              <a:p>
                <a:pPr marL="152396"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m:oMathPara>
                </a14:m>
                <a:endParaRPr lang="en-GB" sz="1800" dirty="0"/>
              </a:p>
              <a:p>
                <a:pPr marL="795847" lvl="1" indent="0">
                  <a:buNone/>
                </a:pPr>
                <a14:m>
                  <m:oMath xmlns:m="http://schemas.openxmlformats.org/officeDocument/2006/math">
                    <m:sSub>
                      <m:sSubPr>
                        <m:ctrlPr>
                          <a:rPr lang="en-GB" i="1">
                            <a:latin typeface="Cambria Math" panose="02040503050406030204" pitchFamily="18" charset="0"/>
                          </a:rPr>
                        </m:ctrlPr>
                      </m:sSubPr>
                      <m:e>
                        <m:r>
                          <a:rPr lang="en-US" i="1">
                            <a:latin typeface="Cambria Math" panose="02040503050406030204" pitchFamily="18" charset="0"/>
                          </a:rPr>
                          <m:t>𝑦</m:t>
                        </m:r>
                      </m:e>
                      <m:sub>
                        <m:r>
                          <a:rPr lang="en-GB" i="1">
                            <a:latin typeface="Cambria Math" panose="02040503050406030204" pitchFamily="18" charset="0"/>
                          </a:rPr>
                          <m:t>𝑖</m:t>
                        </m:r>
                      </m:sub>
                    </m:sSub>
                  </m:oMath>
                </a14:m>
                <a:r>
                  <a:rPr lang="en-GB" dirty="0"/>
                  <a:t> = Deon’s height</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𝑋</m:t>
                        </m:r>
                      </m:e>
                      <m:sub>
                        <m:r>
                          <a:rPr lang="en-GB" i="1">
                            <a:latin typeface="Cambria Math" panose="02040503050406030204" pitchFamily="18" charset="0"/>
                          </a:rPr>
                          <m:t>𝑖</m:t>
                        </m:r>
                      </m:sub>
                    </m:sSub>
                  </m:oMath>
                </a14:m>
                <a:r>
                  <a:rPr lang="en-GB" dirty="0"/>
                  <a:t> = Deon’s age</a:t>
                </a: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oMath>
                </a14:m>
                <a:r>
                  <a:rPr lang="en-GB" dirty="0"/>
                  <a:t> = y-intercept </a:t>
                </a:r>
                <a:br>
                  <a:rPr lang="en-GB" dirty="0"/>
                </a:br>
                <a:r>
                  <a:rPr lang="en-GB" sz="1800" dirty="0"/>
                  <a:t>(I was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0</m:t>
                        </m:r>
                      </m:sub>
                    </m:sSub>
                  </m:oMath>
                </a14:m>
                <a:r>
                  <a:rPr lang="en-GB" sz="1800" b="1" i="1" dirty="0"/>
                  <a:t> </a:t>
                </a:r>
                <a:r>
                  <a:rPr lang="en-GB" sz="1800" dirty="0"/>
                  <a:t>cm tall when I was born)</a:t>
                </a:r>
                <a:endParaRPr lang="en-GB" sz="1800" i="1" dirty="0">
                  <a:latin typeface="Cambria Math" panose="02040503050406030204" pitchFamily="18" charset="0"/>
                </a:endParaRPr>
              </a:p>
              <a:p>
                <a:pPr marL="795847" lvl="1" indent="0">
                  <a:buNone/>
                </a:pP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oMath>
                </a14:m>
                <a:r>
                  <a:rPr lang="en-GB" dirty="0"/>
                  <a:t> = Slope </a:t>
                </a:r>
                <a:br>
                  <a:rPr lang="en-GB" dirty="0"/>
                </a:br>
                <a:r>
                  <a:rPr lang="en-GB" sz="1800" dirty="0"/>
                  <a:t>(aging 1 year increased my height by </a:t>
                </a:r>
                <a14:m>
                  <m:oMath xmlns:m="http://schemas.openxmlformats.org/officeDocument/2006/math">
                    <m:sSub>
                      <m:sSubPr>
                        <m:ctrlPr>
                          <a:rPr lang="en-GB" sz="1800" i="1">
                            <a:latin typeface="Cambria Math" panose="02040503050406030204" pitchFamily="18" charset="0"/>
                          </a:rPr>
                        </m:ctrlPr>
                      </m:sSubPr>
                      <m:e>
                        <m:r>
                          <a:rPr lang="en-GB" sz="1800" i="1">
                            <a:latin typeface="Cambria Math" panose="02040503050406030204" pitchFamily="18" charset="0"/>
                          </a:rPr>
                          <m:t>𝛽</m:t>
                        </m:r>
                      </m:e>
                      <m:sub>
                        <m:r>
                          <a:rPr lang="en-GB" sz="1800" i="1">
                            <a:latin typeface="Cambria Math" panose="02040503050406030204" pitchFamily="18" charset="0"/>
                          </a:rPr>
                          <m:t>1</m:t>
                        </m:r>
                      </m:sub>
                    </m:sSub>
                  </m:oMath>
                </a14:m>
                <a:r>
                  <a:rPr lang="en-GB" sz="1800" dirty="0"/>
                  <a:t> cm)</a:t>
                </a:r>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93147" y="1536633"/>
                <a:ext cx="6079297" cy="4358140"/>
              </a:xfrm>
              <a:blipFill>
                <a:blip r:embed="rId2"/>
                <a:stretch>
                  <a:fillRect t="-1399"/>
                </a:stretch>
              </a:blipFill>
            </p:spPr>
            <p:txBody>
              <a:bodyPr/>
              <a:lstStyle/>
              <a:p>
                <a:r>
                  <a:rPr lang="en-GB">
                    <a:noFill/>
                  </a:rPr>
                  <a:t> </a:t>
                </a:r>
              </a:p>
            </p:txBody>
          </p:sp>
        </mc:Fallback>
      </mc:AlternateContent>
      <p:sp>
        <p:nvSpPr>
          <p:cNvPr id="12" name="Rectangle: Rounded Corners 11">
            <a:extLst>
              <a:ext uri="{FF2B5EF4-FFF2-40B4-BE49-F238E27FC236}">
                <a16:creationId xmlns:a16="http://schemas.microsoft.com/office/drawing/2014/main" id="{7421EF30-7518-449A-8C23-6BCCFC663D14}"/>
              </a:ext>
            </a:extLst>
          </p:cNvPr>
          <p:cNvSpPr/>
          <p:nvPr/>
        </p:nvSpPr>
        <p:spPr>
          <a:xfrm>
            <a:off x="858644" y="3021980"/>
            <a:ext cx="2730398" cy="992459"/>
          </a:xfrm>
          <a:prstGeom prst="roundRect">
            <a:avLst/>
          </a:prstGeom>
          <a:noFill/>
          <a:ln w="19050">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293E803A-24B7-407B-B48E-91E817B82522}"/>
              </a:ext>
            </a:extLst>
          </p:cNvPr>
          <p:cNvSpPr txBox="1"/>
          <p:nvPr/>
        </p:nvSpPr>
        <p:spPr>
          <a:xfrm>
            <a:off x="4032804" y="3313897"/>
            <a:ext cx="1719926" cy="408623"/>
          </a:xfrm>
          <a:prstGeom prst="roundRect">
            <a:avLst/>
          </a:prstGeom>
          <a:noFill/>
          <a:ln w="19050">
            <a:solidFill>
              <a:schemeClr val="accent5">
                <a:lumMod val="40000"/>
                <a:lumOff val="60000"/>
              </a:schemeClr>
            </a:solidFill>
          </a:ln>
        </p:spPr>
        <p:txBody>
          <a:bodyPr wrap="square" rtlCol="0">
            <a:spAutoFit/>
          </a:bodyPr>
          <a:lstStyle/>
          <a:p>
            <a:r>
              <a:rPr lang="en-GB" b="1" i="1" dirty="0"/>
              <a:t>Observed data</a:t>
            </a:r>
          </a:p>
        </p:txBody>
      </p:sp>
      <p:cxnSp>
        <p:nvCxnSpPr>
          <p:cNvPr id="16" name="Straight Arrow Connector 15">
            <a:extLst>
              <a:ext uri="{FF2B5EF4-FFF2-40B4-BE49-F238E27FC236}">
                <a16:creationId xmlns:a16="http://schemas.microsoft.com/office/drawing/2014/main" id="{91DEE06C-C267-40F6-B153-97243000E2EE}"/>
              </a:ext>
            </a:extLst>
          </p:cNvPr>
          <p:cNvCxnSpPr>
            <a:cxnSpLocks/>
            <a:stCxn id="13" idx="1"/>
            <a:endCxn id="12" idx="3"/>
          </p:cNvCxnSpPr>
          <p:nvPr/>
        </p:nvCxnSpPr>
        <p:spPr>
          <a:xfrm flipH="1">
            <a:off x="3589042" y="3518209"/>
            <a:ext cx="443762" cy="1"/>
          </a:xfrm>
          <a:prstGeom prst="straightConnector1">
            <a:avLst/>
          </a:prstGeom>
          <a:ln w="19050">
            <a:solidFill>
              <a:schemeClr val="accent5">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25FCA1D2-D217-4B00-8558-8FFAB987AD53}"/>
              </a:ext>
            </a:extLst>
          </p:cNvPr>
          <p:cNvSpPr/>
          <p:nvPr/>
        </p:nvSpPr>
        <p:spPr>
          <a:xfrm>
            <a:off x="858643" y="4203230"/>
            <a:ext cx="5167687" cy="1576129"/>
          </a:xfrm>
          <a:prstGeom prst="roundRect">
            <a:avLst/>
          </a:prstGeom>
          <a:noFill/>
          <a:ln w="1905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E8EFC0B3-761C-4ADB-A8F1-234B278E0252}"/>
              </a:ext>
            </a:extLst>
          </p:cNvPr>
          <p:cNvSpPr txBox="1"/>
          <p:nvPr/>
        </p:nvSpPr>
        <p:spPr>
          <a:xfrm>
            <a:off x="2428529" y="5966860"/>
            <a:ext cx="2027915" cy="408623"/>
          </a:xfrm>
          <a:prstGeom prst="roundRect">
            <a:avLst/>
          </a:prstGeom>
          <a:noFill/>
          <a:ln w="19050">
            <a:solidFill>
              <a:schemeClr val="accent6">
                <a:lumMod val="40000"/>
                <a:lumOff val="60000"/>
              </a:schemeClr>
            </a:solidFill>
          </a:ln>
        </p:spPr>
        <p:txBody>
          <a:bodyPr wrap="square" rtlCol="0">
            <a:spAutoFit/>
          </a:bodyPr>
          <a:lstStyle/>
          <a:p>
            <a:r>
              <a:rPr lang="en-GB" b="1" i="1" dirty="0"/>
              <a:t>Unobserved data</a:t>
            </a:r>
          </a:p>
        </p:txBody>
      </p:sp>
      <p:cxnSp>
        <p:nvCxnSpPr>
          <p:cNvPr id="19" name="Straight Arrow Connector 18">
            <a:extLst>
              <a:ext uri="{FF2B5EF4-FFF2-40B4-BE49-F238E27FC236}">
                <a16:creationId xmlns:a16="http://schemas.microsoft.com/office/drawing/2014/main" id="{B45E76A0-8499-48F0-AAF7-60838EA8C725}"/>
              </a:ext>
            </a:extLst>
          </p:cNvPr>
          <p:cNvCxnSpPr>
            <a:cxnSpLocks/>
            <a:stCxn id="18" idx="0"/>
            <a:endCxn id="17" idx="2"/>
          </p:cNvCxnSpPr>
          <p:nvPr/>
        </p:nvCxnSpPr>
        <p:spPr>
          <a:xfrm flipV="1">
            <a:off x="3442487" y="5779359"/>
            <a:ext cx="0" cy="187501"/>
          </a:xfrm>
          <a:prstGeom prst="straightConnector1">
            <a:avLst/>
          </a:prstGeom>
          <a:ln w="19050">
            <a:solidFill>
              <a:schemeClr val="accent6">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Picture 6" descr="A screen shot of a graph&#10;&#10;Description automatically generated">
            <a:extLst>
              <a:ext uri="{FF2B5EF4-FFF2-40B4-BE49-F238E27FC236}">
                <a16:creationId xmlns:a16="http://schemas.microsoft.com/office/drawing/2014/main" id="{CD3DCF9A-3D8F-4C15-300E-FD08BD96D3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B76600C-80A6-75DA-FE2D-2A28B6B2456C}"/>
                  </a:ext>
                </a:extLst>
              </p:cNvPr>
              <p:cNvSpPr txBox="1"/>
              <p:nvPr/>
            </p:nvSpPr>
            <p:spPr>
              <a:xfrm>
                <a:off x="573537" y="6481230"/>
                <a:ext cx="6031010" cy="369332"/>
              </a:xfrm>
              <a:prstGeom prst="rect">
                <a:avLst/>
              </a:prstGeom>
              <a:noFill/>
            </p:spPr>
            <p:txBody>
              <a:bodyPr wrap="none" rtlCol="0">
                <a:spAutoFit/>
              </a:bodyPr>
              <a:lstStyle/>
              <a:p>
                <a14:m>
                  <m:oMath xmlns:m="http://schemas.openxmlformats.org/officeDocument/2006/math">
                    <m:r>
                      <a:rPr lang="en-GB" b="0" i="1" smtClean="0">
                        <a:latin typeface="Cambria Math" panose="02040503050406030204" pitchFamily="18" charset="0"/>
                      </a:rPr>
                      <m:t>𝑖</m:t>
                    </m:r>
                  </m:oMath>
                </a14:m>
                <a:r>
                  <a:rPr lang="en-GB" dirty="0"/>
                  <a:t> is an index; e.g. if </a:t>
                </a:r>
                <a14:m>
                  <m:oMath xmlns:m="http://schemas.openxmlformats.org/officeDocument/2006/math">
                    <m:r>
                      <a:rPr lang="en-GB" b="0" i="1" smtClean="0">
                        <a:latin typeface="Cambria Math" panose="02040503050406030204" pitchFamily="18" charset="0"/>
                      </a:rPr>
                      <m:t>𝑖</m:t>
                    </m:r>
                    <m:r>
                      <a:rPr lang="en-GB" b="0" i="1" smtClean="0">
                        <a:latin typeface="Cambria Math" panose="02040503050406030204" pitchFamily="18" charset="0"/>
                      </a:rPr>
                      <m:t>=1</m:t>
                    </m:r>
                  </m:oMath>
                </a14:m>
                <a:r>
                  <a:rPr lang="en-GB" dirty="0"/>
                  <a:t> then this is the first observation</a:t>
                </a:r>
              </a:p>
            </p:txBody>
          </p:sp>
        </mc:Choice>
        <mc:Fallback xmlns="">
          <p:sp>
            <p:nvSpPr>
              <p:cNvPr id="14" name="TextBox 13">
                <a:extLst>
                  <a:ext uri="{FF2B5EF4-FFF2-40B4-BE49-F238E27FC236}">
                    <a16:creationId xmlns:a16="http://schemas.microsoft.com/office/drawing/2014/main" id="{2B76600C-80A6-75DA-FE2D-2A28B6B2456C}"/>
                  </a:ext>
                </a:extLst>
              </p:cNvPr>
              <p:cNvSpPr txBox="1">
                <a:spLocks noRot="1" noChangeAspect="1" noMove="1" noResize="1" noEditPoints="1" noAdjustHandles="1" noChangeArrowheads="1" noChangeShapeType="1" noTextEdit="1"/>
              </p:cNvSpPr>
              <p:nvPr/>
            </p:nvSpPr>
            <p:spPr>
              <a:xfrm>
                <a:off x="573537" y="6481230"/>
                <a:ext cx="6031010" cy="369332"/>
              </a:xfrm>
              <a:prstGeom prst="rect">
                <a:avLst/>
              </a:prstGeom>
              <a:blipFill>
                <a:blip r:embed="rId4"/>
                <a:stretch>
                  <a:fillRect t="-8197" r="-303" b="-24590"/>
                </a:stretch>
              </a:blipFill>
            </p:spPr>
            <p:txBody>
              <a:bodyPr/>
              <a:lstStyle/>
              <a:p>
                <a:r>
                  <a:rPr lang="en-GB">
                    <a:noFill/>
                  </a:rPr>
                  <a:t> </a:t>
                </a:r>
              </a:p>
            </p:txBody>
          </p:sp>
        </mc:Fallback>
      </mc:AlternateContent>
    </p:spTree>
    <p:extLst>
      <p:ext uri="{BB962C8B-B14F-4D97-AF65-F5344CB8AC3E}">
        <p14:creationId xmlns:p14="http://schemas.microsoft.com/office/powerpoint/2010/main" val="4494694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7" grpId="0" animBg="1"/>
      <p:bldP spid="18"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n a black background&#10;&#10;Description automatically generated">
            <a:extLst>
              <a:ext uri="{FF2B5EF4-FFF2-40B4-BE49-F238E27FC236}">
                <a16:creationId xmlns:a16="http://schemas.microsoft.com/office/drawing/2014/main" id="{E52F8F34-5031-4DE5-834D-AF45F3C13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0128" y="0"/>
            <a:ext cx="5751871" cy="6858000"/>
          </a:xfrm>
          <a:prstGeom prst="rect">
            <a:avLst/>
          </a:prstGeom>
        </p:spPr>
      </p:pic>
      <p:pic>
        <p:nvPicPr>
          <p:cNvPr id="6" name="Picture 5" descr="A screen shot of a graph&#10;&#10;Description automatically generated">
            <a:extLst>
              <a:ext uri="{FF2B5EF4-FFF2-40B4-BE49-F238E27FC236}">
                <a16:creationId xmlns:a16="http://schemas.microsoft.com/office/drawing/2014/main" id="{998DE82C-91B8-154C-81E0-998DCBA37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
        <p:nvSpPr>
          <p:cNvPr id="2" name="Title 1">
            <a:extLst>
              <a:ext uri="{FF2B5EF4-FFF2-40B4-BE49-F238E27FC236}">
                <a16:creationId xmlns:a16="http://schemas.microsoft.com/office/drawing/2014/main" id="{20BD16D8-25DE-49D1-85E8-68F8B45ED459}"/>
              </a:ext>
            </a:extLst>
          </p:cNvPr>
          <p:cNvSpPr>
            <a:spLocks noGrp="1"/>
          </p:cNvSpPr>
          <p:nvPr>
            <p:ph type="title"/>
          </p:nvPr>
        </p:nvSpPr>
        <p:spPr>
          <a:xfrm>
            <a:off x="1357018" y="246864"/>
            <a:ext cx="5528000" cy="763600"/>
          </a:xfrm>
        </p:spPr>
        <p:txBody>
          <a:bodyPr/>
          <a:lstStyle/>
          <a:p>
            <a:r>
              <a:rPr lang="en-GB" dirty="0"/>
              <a:t>“Stats” by hand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86D646BD-0A59-4BB9-934F-BE300E4FE01E}"/>
                  </a:ext>
                </a:extLst>
              </p:cNvPr>
              <p:cNvSpPr>
                <a:spLocks noGrp="1"/>
              </p:cNvSpPr>
              <p:nvPr>
                <p:ph type="body" idx="1"/>
              </p:nvPr>
            </p:nvSpPr>
            <p:spPr>
              <a:xfrm>
                <a:off x="-1" y="1299456"/>
                <a:ext cx="6440129" cy="5558544"/>
              </a:xfrm>
            </p:spPr>
            <p:txBody>
              <a:bodyPr/>
              <a:lstStyle/>
              <a:p>
                <a:pPr marL="152396" indent="0">
                  <a:buNone/>
                </a:pPr>
                <a:r>
                  <a:rPr lang="en-GB" i="1" dirty="0"/>
                  <a:t>Deon’s height =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oMath>
                </a14:m>
                <a:r>
                  <a:rPr lang="en-GB" i="1" dirty="0"/>
                  <a:t> Deon’s age</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dirty="0"/>
                  <a:t>?</a:t>
                </a:r>
              </a:p>
              <a:p>
                <a:r>
                  <a:rPr lang="en-GB" sz="2000" dirty="0"/>
                  <a:t>Imagine a line extending down to 0 years old.</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0</m:t>
                        </m:r>
                      </m:sub>
                    </m:sSub>
                  </m:oMath>
                </a14:m>
                <a:r>
                  <a:rPr lang="en-GB" sz="2000" b="1" i="1" dirty="0"/>
                  <a:t> </a:t>
                </a:r>
                <a:r>
                  <a:rPr lang="en-GB" sz="2000" i="1" dirty="0"/>
                  <a:t>= 50 cm at 0 years old</a:t>
                </a:r>
              </a:p>
              <a:p>
                <a:pPr marL="152396" indent="0">
                  <a:buNone/>
                </a:pPr>
                <a:endParaRPr lang="en-GB" sz="2000" dirty="0"/>
              </a:p>
              <a:p>
                <a:pPr marL="152396" indent="0">
                  <a:buNone/>
                </a:pPr>
                <a:r>
                  <a:rPr lang="en-GB" sz="2000" dirty="0"/>
                  <a:t>What is </a:t>
                </a:r>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dirty="0"/>
                  <a:t>?</a:t>
                </a:r>
              </a:p>
              <a:p>
                <a:r>
                  <a:rPr lang="en-GB" sz="2000" dirty="0"/>
                  <a:t>How much did I grow in one year?</a:t>
                </a:r>
              </a:p>
              <a:p>
                <a14:m>
                  <m:oMath xmlns:m="http://schemas.openxmlformats.org/officeDocument/2006/math">
                    <m:sSub>
                      <m:sSubPr>
                        <m:ctrlPr>
                          <a:rPr lang="en-GB" sz="2000" i="1">
                            <a:latin typeface="Cambria Math" panose="02040503050406030204" pitchFamily="18" charset="0"/>
                          </a:rPr>
                        </m:ctrlPr>
                      </m:sSubPr>
                      <m:e>
                        <m:r>
                          <a:rPr lang="en-GB" sz="2000" i="1">
                            <a:latin typeface="Cambria Math" panose="02040503050406030204" pitchFamily="18" charset="0"/>
                          </a:rPr>
                          <m:t>𝛽</m:t>
                        </m:r>
                      </m:e>
                      <m:sub>
                        <m:r>
                          <a:rPr lang="en-GB" sz="2000" i="1">
                            <a:latin typeface="Cambria Math" panose="02040503050406030204" pitchFamily="18" charset="0"/>
                          </a:rPr>
                          <m:t>1</m:t>
                        </m:r>
                      </m:sub>
                    </m:sSub>
                  </m:oMath>
                </a14:m>
                <a:r>
                  <a:rPr lang="en-GB" sz="2000" b="1" i="1" dirty="0"/>
                  <a:t> </a:t>
                </a:r>
                <a:r>
                  <a:rPr lang="en-GB" sz="2000" i="1" dirty="0"/>
                  <a:t>= 15 cm per year</a:t>
                </a:r>
                <a:endParaRPr lang="en-GB" sz="2000" dirty="0"/>
              </a:p>
              <a:p>
                <a:pPr marL="152396" indent="0">
                  <a:buNone/>
                </a:pPr>
                <a:endParaRPr lang="en-GB" sz="2000" b="1" i="1" dirty="0"/>
              </a:p>
              <a:p>
                <a:pPr marL="152396" indent="0">
                  <a:buNone/>
                </a:pPr>
                <a:r>
                  <a:rPr lang="en-GB" sz="2000" b="1" i="1" dirty="0"/>
                  <a:t>We now have an association.</a:t>
                </a:r>
              </a:p>
              <a:p>
                <a:pPr marL="152396" indent="0">
                  <a:buNone/>
                </a:pPr>
                <a:endParaRPr lang="en-GB" sz="2000" b="1" i="1" dirty="0"/>
              </a:p>
              <a:p>
                <a:pPr marL="152396" indent="0">
                  <a:buNone/>
                </a:pPr>
                <a:r>
                  <a:rPr lang="en-GB" sz="2000" dirty="0"/>
                  <a:t>We can use the equation to make predictions:</a:t>
                </a:r>
              </a:p>
              <a:p>
                <a:r>
                  <a:rPr lang="en-GB" sz="2000" dirty="0"/>
                  <a:t>How tall was I at 6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6 = 140 cm</a:t>
                </a:r>
              </a:p>
              <a:p>
                <a:endParaRPr lang="en-GB" sz="2000" b="1" i="1" dirty="0"/>
              </a:p>
              <a:p>
                <a:r>
                  <a:rPr lang="en-GB" sz="2000" dirty="0"/>
                  <a:t>How tall will I be when I am 120 years old?</a:t>
                </a:r>
              </a:p>
              <a:p>
                <a:r>
                  <a:rPr lang="en-GB" sz="2000" i="1" dirty="0"/>
                  <a:t>Height = 50 + 15 </a:t>
                </a:r>
                <a14:m>
                  <m:oMath xmlns:m="http://schemas.openxmlformats.org/officeDocument/2006/math">
                    <m:r>
                      <a:rPr lang="en-GB" sz="2000" i="1">
                        <a:latin typeface="Cambria Math" panose="02040503050406030204" pitchFamily="18" charset="0"/>
                      </a:rPr>
                      <m:t>×</m:t>
                    </m:r>
                  </m:oMath>
                </a14:m>
                <a:r>
                  <a:rPr lang="en-GB" sz="2000" i="1" dirty="0"/>
                  <a:t> 120 = </a:t>
                </a:r>
                <a:r>
                  <a:rPr lang="en-GB" sz="2000" b="1" i="1" dirty="0"/>
                  <a:t>1850 cm</a:t>
                </a:r>
              </a:p>
              <a:p>
                <a:r>
                  <a:rPr lang="en-GB" sz="2000" dirty="0"/>
                  <a:t>Be very careful when predicting</a:t>
                </a:r>
              </a:p>
              <a:p>
                <a:pPr marL="152396" indent="0">
                  <a:buNone/>
                </a:pPr>
                <a:endParaRPr lang="en-GB" sz="2000" dirty="0"/>
              </a:p>
            </p:txBody>
          </p:sp>
        </mc:Choice>
        <mc:Fallback xmlns="">
          <p:sp>
            <p:nvSpPr>
              <p:cNvPr id="3" name="Text Placeholder 2">
                <a:extLst>
                  <a:ext uri="{FF2B5EF4-FFF2-40B4-BE49-F238E27FC236}">
                    <a16:creationId xmlns:a16="http://schemas.microsoft.com/office/drawing/2014/main" id="{86D646BD-0A59-4BB9-934F-BE300E4FE01E}"/>
                  </a:ext>
                </a:extLst>
              </p:cNvPr>
              <p:cNvSpPr>
                <a:spLocks noGrp="1" noRot="1" noChangeAspect="1" noMove="1" noResize="1" noEditPoints="1" noAdjustHandles="1" noChangeArrowheads="1" noChangeShapeType="1" noTextEdit="1"/>
              </p:cNvSpPr>
              <p:nvPr>
                <p:ph type="body" idx="1"/>
              </p:nvPr>
            </p:nvSpPr>
            <p:spPr>
              <a:xfrm>
                <a:off x="-1" y="1299456"/>
                <a:ext cx="6440129" cy="5558544"/>
              </a:xfrm>
              <a:blipFill>
                <a:blip r:embed="rId4"/>
                <a:stretch>
                  <a:fillRect t="-1206" b="-219"/>
                </a:stretch>
              </a:blipFill>
            </p:spPr>
            <p:txBody>
              <a:bodyPr/>
              <a:lstStyle/>
              <a:p>
                <a:r>
                  <a:rPr lang="en-GB">
                    <a:noFill/>
                  </a:rPr>
                  <a:t> </a:t>
                </a:r>
              </a:p>
            </p:txBody>
          </p:sp>
        </mc:Fallback>
      </mc:AlternateContent>
      <p:grpSp>
        <p:nvGrpSpPr>
          <p:cNvPr id="16" name="Group 15">
            <a:extLst>
              <a:ext uri="{FF2B5EF4-FFF2-40B4-BE49-F238E27FC236}">
                <a16:creationId xmlns:a16="http://schemas.microsoft.com/office/drawing/2014/main" id="{E622D0BF-54FA-2FD9-F4EA-ECE0C71B1ABA}"/>
              </a:ext>
            </a:extLst>
          </p:cNvPr>
          <p:cNvGrpSpPr/>
          <p:nvPr/>
        </p:nvGrpSpPr>
        <p:grpSpPr>
          <a:xfrm>
            <a:off x="7224446" y="2586036"/>
            <a:ext cx="1589346" cy="993220"/>
            <a:chOff x="7224446" y="2586036"/>
            <a:chExt cx="1589346" cy="993220"/>
          </a:xfrm>
        </p:grpSpPr>
        <p:grpSp>
          <p:nvGrpSpPr>
            <p:cNvPr id="13" name="Group 12">
              <a:extLst>
                <a:ext uri="{FF2B5EF4-FFF2-40B4-BE49-F238E27FC236}">
                  <a16:creationId xmlns:a16="http://schemas.microsoft.com/office/drawing/2014/main" id="{A60C925C-79B4-575A-11B7-92C6A8F11175}"/>
                </a:ext>
              </a:extLst>
            </p:cNvPr>
            <p:cNvGrpSpPr/>
            <p:nvPr/>
          </p:nvGrpSpPr>
          <p:grpSpPr>
            <a:xfrm>
              <a:off x="8060924" y="2828924"/>
              <a:ext cx="752868" cy="609600"/>
              <a:chOff x="8060924" y="2828924"/>
              <a:chExt cx="752868" cy="609600"/>
            </a:xfrm>
          </p:grpSpPr>
          <p:cxnSp>
            <p:nvCxnSpPr>
              <p:cNvPr id="8" name="Straight Connector 7">
                <a:extLst>
                  <a:ext uri="{FF2B5EF4-FFF2-40B4-BE49-F238E27FC236}">
                    <a16:creationId xmlns:a16="http://schemas.microsoft.com/office/drawing/2014/main" id="{10E3EAC8-2DDC-2FBA-A218-3E152117930E}"/>
                  </a:ext>
                </a:extLst>
              </p:cNvPr>
              <p:cNvCxnSpPr/>
              <p:nvPr/>
            </p:nvCxnSpPr>
            <p:spPr>
              <a:xfrm>
                <a:off x="8060924" y="3429000"/>
                <a:ext cx="74572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36356EBD-3B5E-D8C3-D859-2D6DC22961AC}"/>
                  </a:ext>
                </a:extLst>
              </p:cNvPr>
              <p:cNvCxnSpPr>
                <a:cxnSpLocks/>
              </p:cNvCxnSpPr>
              <p:nvPr/>
            </p:nvCxnSpPr>
            <p:spPr>
              <a:xfrm>
                <a:off x="8813792" y="2828924"/>
                <a:ext cx="0" cy="6096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14" name="TextBox 13">
              <a:extLst>
                <a:ext uri="{FF2B5EF4-FFF2-40B4-BE49-F238E27FC236}">
                  <a16:creationId xmlns:a16="http://schemas.microsoft.com/office/drawing/2014/main" id="{A396C061-E10B-A3F0-1622-A800244223D1}"/>
                </a:ext>
              </a:extLst>
            </p:cNvPr>
            <p:cNvSpPr txBox="1"/>
            <p:nvPr/>
          </p:nvSpPr>
          <p:spPr>
            <a:xfrm>
              <a:off x="7224446" y="3209924"/>
              <a:ext cx="805029" cy="369332"/>
            </a:xfrm>
            <a:prstGeom prst="rect">
              <a:avLst/>
            </a:prstGeom>
            <a:noFill/>
          </p:spPr>
          <p:txBody>
            <a:bodyPr wrap="none" rtlCol="0">
              <a:spAutoFit/>
            </a:bodyPr>
            <a:lstStyle/>
            <a:p>
              <a:r>
                <a:rPr lang="en-GB" dirty="0"/>
                <a:t>60 cm</a:t>
              </a:r>
            </a:p>
          </p:txBody>
        </p:sp>
        <p:sp>
          <p:nvSpPr>
            <p:cNvPr id="15" name="TextBox 14">
              <a:extLst>
                <a:ext uri="{FF2B5EF4-FFF2-40B4-BE49-F238E27FC236}">
                  <a16:creationId xmlns:a16="http://schemas.microsoft.com/office/drawing/2014/main" id="{7EBCDCC3-7E74-165D-152E-D1B6685E7236}"/>
                </a:ext>
              </a:extLst>
            </p:cNvPr>
            <p:cNvSpPr txBox="1"/>
            <p:nvPr/>
          </p:nvSpPr>
          <p:spPr>
            <a:xfrm>
              <a:off x="7960252" y="2586036"/>
              <a:ext cx="800219" cy="369332"/>
            </a:xfrm>
            <a:prstGeom prst="rect">
              <a:avLst/>
            </a:prstGeom>
            <a:noFill/>
          </p:spPr>
          <p:txBody>
            <a:bodyPr wrap="none" rtlCol="0">
              <a:spAutoFit/>
            </a:bodyPr>
            <a:lstStyle/>
            <a:p>
              <a:r>
                <a:rPr lang="en-GB" dirty="0"/>
                <a:t>75 cm</a:t>
              </a:r>
            </a:p>
          </p:txBody>
        </p:sp>
      </p:grpSp>
      <p:grpSp>
        <p:nvGrpSpPr>
          <p:cNvPr id="22" name="Group 21">
            <a:extLst>
              <a:ext uri="{FF2B5EF4-FFF2-40B4-BE49-F238E27FC236}">
                <a16:creationId xmlns:a16="http://schemas.microsoft.com/office/drawing/2014/main" id="{370ED1FA-6CB6-A95B-FEE9-B71807E156B7}"/>
              </a:ext>
            </a:extLst>
          </p:cNvPr>
          <p:cNvGrpSpPr/>
          <p:nvPr/>
        </p:nvGrpSpPr>
        <p:grpSpPr>
          <a:xfrm>
            <a:off x="7224446" y="4038600"/>
            <a:ext cx="1419104" cy="827723"/>
            <a:chOff x="7224446" y="4038600"/>
            <a:chExt cx="1419104" cy="827723"/>
          </a:xfrm>
        </p:grpSpPr>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0312337-D6A3-0400-FB61-82A4D45EB581}"/>
                    </a:ext>
                  </a:extLst>
                </p:cNvPr>
                <p:cNvSpPr txBox="1"/>
                <p:nvPr/>
              </p:nvSpPr>
              <p:spPr>
                <a:xfrm>
                  <a:off x="7224446" y="4457700"/>
                  <a:ext cx="141910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=50 </m:t>
                        </m:r>
                        <m:r>
                          <a:rPr lang="en-GB" b="0" i="1" smtClean="0">
                            <a:latin typeface="Cambria Math" panose="02040503050406030204" pitchFamily="18" charset="0"/>
                          </a:rPr>
                          <m:t>𝑐𝑚</m:t>
                        </m:r>
                      </m:oMath>
                    </m:oMathPara>
                  </a14:m>
                  <a:endParaRPr lang="en-GB" dirty="0"/>
                </a:p>
              </p:txBody>
            </p:sp>
          </mc:Choice>
          <mc:Fallback xmlns="">
            <p:sp>
              <p:nvSpPr>
                <p:cNvPr id="17" name="TextBox 16">
                  <a:extLst>
                    <a:ext uri="{FF2B5EF4-FFF2-40B4-BE49-F238E27FC236}">
                      <a16:creationId xmlns:a16="http://schemas.microsoft.com/office/drawing/2014/main" id="{30312337-D6A3-0400-FB61-82A4D45EB581}"/>
                    </a:ext>
                  </a:extLst>
                </p:cNvPr>
                <p:cNvSpPr txBox="1">
                  <a:spLocks noRot="1" noChangeAspect="1" noMove="1" noResize="1" noEditPoints="1" noAdjustHandles="1" noChangeArrowheads="1" noChangeShapeType="1" noTextEdit="1"/>
                </p:cNvSpPr>
                <p:nvPr/>
              </p:nvSpPr>
              <p:spPr>
                <a:xfrm>
                  <a:off x="7224446" y="4457700"/>
                  <a:ext cx="1419104" cy="408623"/>
                </a:xfrm>
                <a:prstGeom prst="roundRect">
                  <a:avLst/>
                </a:prstGeom>
                <a:blipFill>
                  <a:blip r:embed="rId5"/>
                  <a:stretch>
                    <a:fillRect b="-8696"/>
                  </a:stretch>
                </a:blipFill>
                <a:ln>
                  <a:solidFill>
                    <a:schemeClr val="tx1"/>
                  </a:solidFill>
                </a:ln>
              </p:spPr>
              <p:txBody>
                <a:bodyPr/>
                <a:lstStyle/>
                <a:p>
                  <a:r>
                    <a:rPr lang="en-GB">
                      <a:noFill/>
                    </a:rPr>
                    <a:t> </a:t>
                  </a:r>
                </a:p>
              </p:txBody>
            </p:sp>
          </mc:Fallback>
        </mc:AlternateContent>
        <p:cxnSp>
          <p:nvCxnSpPr>
            <p:cNvPr id="19" name="Straight Arrow Connector 18">
              <a:extLst>
                <a:ext uri="{FF2B5EF4-FFF2-40B4-BE49-F238E27FC236}">
                  <a16:creationId xmlns:a16="http://schemas.microsoft.com/office/drawing/2014/main" id="{0501A8BB-F5D5-E584-2862-42C465BCFFC3}"/>
                </a:ext>
              </a:extLst>
            </p:cNvPr>
            <p:cNvCxnSpPr>
              <a:cxnSpLocks/>
              <a:stCxn id="17" idx="0"/>
            </p:cNvCxnSpPr>
            <p:nvPr/>
          </p:nvCxnSpPr>
          <p:spPr>
            <a:xfrm flipH="1" flipV="1">
              <a:off x="7277100" y="4038600"/>
              <a:ext cx="656898"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65DF04FE-34F0-1B0E-1FB4-EE4F49948342}"/>
              </a:ext>
            </a:extLst>
          </p:cNvPr>
          <p:cNvGrpSpPr/>
          <p:nvPr/>
        </p:nvGrpSpPr>
        <p:grpSpPr>
          <a:xfrm>
            <a:off x="8820936" y="3092450"/>
            <a:ext cx="2726094" cy="408623"/>
            <a:chOff x="6852436" y="4457700"/>
            <a:chExt cx="2726094" cy="408623"/>
          </a:xfrm>
        </p:grpSpPr>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35CFEDA-ED20-E445-A01A-CD8908C9AEF7}"/>
                    </a:ext>
                  </a:extLst>
                </p:cNvPr>
                <p:cNvSpPr txBox="1"/>
                <p:nvPr/>
              </p:nvSpPr>
              <p:spPr>
                <a:xfrm>
                  <a:off x="7224446" y="4457700"/>
                  <a:ext cx="2354084" cy="408623"/>
                </a:xfrm>
                <a:prstGeom prst="roundRect">
                  <a:avLst/>
                </a:prstGeom>
                <a:noFill/>
                <a:ln>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=15 </m:t>
                        </m:r>
                        <m:r>
                          <a:rPr lang="en-GB" b="0" i="1" smtClean="0">
                            <a:latin typeface="Cambria Math" panose="02040503050406030204" pitchFamily="18" charset="0"/>
                          </a:rPr>
                          <m:t>𝑐𝑚</m:t>
                        </m:r>
                        <m:r>
                          <a:rPr lang="en-GB" b="0" i="1" smtClean="0">
                            <a:latin typeface="Cambria Math" panose="02040503050406030204" pitchFamily="18" charset="0"/>
                          </a:rPr>
                          <m:t> </m:t>
                        </m:r>
                        <m:r>
                          <a:rPr lang="en-GB" b="0" i="1" smtClean="0">
                            <a:latin typeface="Cambria Math" panose="02040503050406030204" pitchFamily="18" charset="0"/>
                          </a:rPr>
                          <m:t>𝑝𝑒𝑟</m:t>
                        </m:r>
                        <m:r>
                          <a:rPr lang="en-GB" b="0" i="1" smtClean="0">
                            <a:latin typeface="Cambria Math" panose="02040503050406030204" pitchFamily="18" charset="0"/>
                          </a:rPr>
                          <m:t> </m:t>
                        </m:r>
                        <m:r>
                          <a:rPr lang="en-GB" b="0" i="1" smtClean="0">
                            <a:latin typeface="Cambria Math" panose="02040503050406030204" pitchFamily="18" charset="0"/>
                          </a:rPr>
                          <m:t>𝑦𝑒𝑎𝑟</m:t>
                        </m:r>
                      </m:oMath>
                    </m:oMathPara>
                  </a14:m>
                  <a:endParaRPr lang="en-GB" dirty="0"/>
                </a:p>
              </p:txBody>
            </p:sp>
          </mc:Choice>
          <mc:Fallback xmlns="">
            <p:sp>
              <p:nvSpPr>
                <p:cNvPr id="24" name="TextBox 23">
                  <a:extLst>
                    <a:ext uri="{FF2B5EF4-FFF2-40B4-BE49-F238E27FC236}">
                      <a16:creationId xmlns:a16="http://schemas.microsoft.com/office/drawing/2014/main" id="{335CFEDA-ED20-E445-A01A-CD8908C9AEF7}"/>
                    </a:ext>
                  </a:extLst>
                </p:cNvPr>
                <p:cNvSpPr txBox="1">
                  <a:spLocks noRot="1" noChangeAspect="1" noMove="1" noResize="1" noEditPoints="1" noAdjustHandles="1" noChangeArrowheads="1" noChangeShapeType="1" noTextEdit="1"/>
                </p:cNvSpPr>
                <p:nvPr/>
              </p:nvSpPr>
              <p:spPr>
                <a:xfrm>
                  <a:off x="7224446" y="4457700"/>
                  <a:ext cx="2354084" cy="408623"/>
                </a:xfrm>
                <a:prstGeom prst="roundRect">
                  <a:avLst/>
                </a:prstGeom>
                <a:blipFill>
                  <a:blip r:embed="rId6"/>
                  <a:stretch>
                    <a:fillRect b="-8696"/>
                  </a:stretch>
                </a:blipFill>
                <a:ln>
                  <a:solidFill>
                    <a:schemeClr val="tx1"/>
                  </a:solidFill>
                </a:ln>
              </p:spPr>
              <p:txBody>
                <a:bodyPr/>
                <a:lstStyle/>
                <a:p>
                  <a:r>
                    <a:rPr lang="en-GB">
                      <a:noFill/>
                    </a:rPr>
                    <a:t> </a:t>
                  </a:r>
                </a:p>
              </p:txBody>
            </p:sp>
          </mc:Fallback>
        </mc:AlternateContent>
        <p:cxnSp>
          <p:nvCxnSpPr>
            <p:cNvPr id="25" name="Straight Arrow Connector 24">
              <a:extLst>
                <a:ext uri="{FF2B5EF4-FFF2-40B4-BE49-F238E27FC236}">
                  <a16:creationId xmlns:a16="http://schemas.microsoft.com/office/drawing/2014/main" id="{72DC8461-890C-125A-0DEA-69EE7DC8FF1C}"/>
                </a:ext>
              </a:extLst>
            </p:cNvPr>
            <p:cNvCxnSpPr>
              <a:cxnSpLocks/>
              <a:stCxn id="24" idx="1"/>
            </p:cNvCxnSpPr>
            <p:nvPr/>
          </p:nvCxnSpPr>
          <p:spPr>
            <a:xfrm flipH="1" flipV="1">
              <a:off x="6852436" y="4662011"/>
              <a:ext cx="372010"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59280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xit" presetSubtype="0" fill="hold" nodeType="clickEffect">
                                  <p:stCondLst>
                                    <p:cond delay="0"/>
                                  </p:stCondLst>
                                  <p:childTnLst>
                                    <p:animEffect transition="out" filter="fade">
                                      <p:cBhvr>
                                        <p:cTn id="14" dur="500"/>
                                        <p:tgtEl>
                                          <p:spTgt spid="6"/>
                                        </p:tgtEl>
                                      </p:cBhvr>
                                    </p:animEffect>
                                    <p:set>
                                      <p:cBhvr>
                                        <p:cTn id="15" dur="1" fill="hold">
                                          <p:stCondLst>
                                            <p:cond delay="499"/>
                                          </p:stCondLst>
                                        </p:cTn>
                                        <p:tgtEl>
                                          <p:spTgt spid="6"/>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3" descr="A graph on a black background&#10;&#10;Description automatically generated">
            <a:extLst>
              <a:ext uri="{FF2B5EF4-FFF2-40B4-BE49-F238E27FC236}">
                <a16:creationId xmlns:a16="http://schemas.microsoft.com/office/drawing/2014/main" id="{C6297912-0DFD-DFEF-A104-EDD92478DCB0}"/>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pic>
        <p:nvPicPr>
          <p:cNvPr id="5" name="Picture 4" descr="A graph on a black background&#10;&#10;Description automatically generated">
            <a:extLst>
              <a:ext uri="{FF2B5EF4-FFF2-40B4-BE49-F238E27FC236}">
                <a16:creationId xmlns:a16="http://schemas.microsoft.com/office/drawing/2014/main" id="{46393835-4293-53C4-A8D6-3B3D6B69A7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8379" y="0"/>
            <a:ext cx="5751871"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More realism</a:t>
            </a:r>
          </a:p>
        </p:txBody>
      </p:sp>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lstStyle/>
          <a:p>
            <a:r>
              <a:rPr lang="en-GB" dirty="0"/>
              <a:t>The real world is not perfect</a:t>
            </a:r>
          </a:p>
          <a:p>
            <a:r>
              <a:rPr lang="en-GB" dirty="0"/>
              <a:t>Our predictions (i.e. the line) are never perfect</a:t>
            </a:r>
          </a:p>
          <a:p>
            <a:r>
              <a:rPr lang="en-GB" dirty="0"/>
              <a:t>Even the same individuals have variation</a:t>
            </a:r>
          </a:p>
          <a:p>
            <a:pPr lvl="1"/>
            <a:r>
              <a:rPr lang="en-GB" dirty="0"/>
              <a:t>E.g. growth spurts</a:t>
            </a:r>
          </a:p>
          <a:p>
            <a:r>
              <a:rPr lang="en-GB" dirty="0"/>
              <a:t>Different individuals are not the same</a:t>
            </a:r>
          </a:p>
          <a:p>
            <a:pPr lvl="1"/>
            <a:r>
              <a:rPr lang="en-GB" dirty="0"/>
              <a:t>And can vary in their own way</a:t>
            </a:r>
          </a:p>
          <a:p>
            <a:r>
              <a:rPr lang="en-GB" dirty="0"/>
              <a:t>But we want to describe the general relationship</a:t>
            </a:r>
          </a:p>
        </p:txBody>
      </p:sp>
      <p:pic>
        <p:nvPicPr>
          <p:cNvPr id="11" name="Picture Placeholder 10" descr="A graph of colored lines and dots&#10;&#10;Description automatically generated">
            <a:extLst>
              <a:ext uri="{FF2B5EF4-FFF2-40B4-BE49-F238E27FC236}">
                <a16:creationId xmlns:a16="http://schemas.microsoft.com/office/drawing/2014/main" id="{B6DBCCFB-83B6-63F8-D3B6-CB4979DA3DAF}"/>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1962319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xit" presetSubtype="0" fill="hold" nodeType="withEffect">
                                  <p:stCondLst>
                                    <p:cond delay="0"/>
                                  </p:stCondLst>
                                  <p:childTnLst>
                                    <p:animEffect transition="out" filter="fade">
                                      <p:cBhvr>
                                        <p:cTn id="17" dur="500"/>
                                        <p:tgtEl>
                                          <p:spTgt spid="5"/>
                                        </p:tgtEl>
                                      </p:cBhvr>
                                    </p:animEffect>
                                    <p:set>
                                      <p:cBhvr>
                                        <p:cTn id="18" dur="1" fill="hold">
                                          <p:stCondLst>
                                            <p:cond delay="499"/>
                                          </p:stCondLst>
                                        </p:cTn>
                                        <p:tgtEl>
                                          <p:spTgt spid="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Effect transition="in" filter="fade">
                                      <p:cBhvr>
                                        <p:cTn id="31" dur="500"/>
                                        <p:tgtEl>
                                          <p:spTgt spid="3">
                                            <p:txEl>
                                              <p:pRg st="4" end="4"/>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Placeholder 10" descr="A graph of colored lines and dots&#10;&#10;Description automatically generated">
            <a:extLst>
              <a:ext uri="{FF2B5EF4-FFF2-40B4-BE49-F238E27FC236}">
                <a16:creationId xmlns:a16="http://schemas.microsoft.com/office/drawing/2014/main" id="{1E43AFBF-7971-A7BC-7B0A-928C083F0B3E}"/>
              </a:ext>
            </a:extLst>
          </p:cNvPr>
          <p:cNvPicPr>
            <a:picLocks noChangeAspect="1"/>
          </p:cNvPicPr>
          <p:nvPr/>
        </p:nvPicPr>
        <p:blipFill>
          <a:blip r:embed="rId2">
            <a:extLst>
              <a:ext uri="{28A0092B-C50C-407E-A947-70E740481C1C}">
                <a14:useLocalDpi xmlns:a14="http://schemas.microsoft.com/office/drawing/2010/main" val="0"/>
              </a:ext>
            </a:extLst>
          </a:blip>
          <a:srcRect t="691" b="691"/>
          <a:stretch>
            <a:fillRect/>
          </a:stretch>
        </p:blipFill>
        <p:spPr>
          <a:xfrm>
            <a:off x="6359525" y="0"/>
            <a:ext cx="5832475" cy="6858000"/>
          </a:xfrm>
          <a:prstGeom prst="rect">
            <a:avLst/>
          </a:prstGeom>
        </p:spPr>
      </p:pic>
      <p:sp>
        <p:nvSpPr>
          <p:cNvPr id="2" name="Title 1">
            <a:extLst>
              <a:ext uri="{FF2B5EF4-FFF2-40B4-BE49-F238E27FC236}">
                <a16:creationId xmlns:a16="http://schemas.microsoft.com/office/drawing/2014/main" id="{1E25939E-0205-7A74-4BE0-70C10C6305A2}"/>
              </a:ext>
            </a:extLst>
          </p:cNvPr>
          <p:cNvSpPr>
            <a:spLocks noGrp="1"/>
          </p:cNvSpPr>
          <p:nvPr>
            <p:ph type="title"/>
          </p:nvPr>
        </p:nvSpPr>
        <p:spPr/>
        <p:txBody>
          <a:bodyPr/>
          <a:lstStyle/>
          <a:p>
            <a:r>
              <a:rPr lang="en-GB" dirty="0"/>
              <a:t>What stats does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1D306B-AC60-2F57-8CD4-AC4058FEC16D}"/>
                  </a:ext>
                </a:extLst>
              </p:cNvPr>
              <p:cNvSpPr>
                <a:spLocks noGrp="1"/>
              </p:cNvSpPr>
              <p:nvPr>
                <p:ph idx="1"/>
              </p:nvPr>
            </p:nvSpPr>
            <p:spPr/>
            <p:txBody>
              <a:bodyPr>
                <a:normAutofit lnSpcReduction="10000"/>
              </a:bodyPr>
              <a:lstStyle/>
              <a:p>
                <a:r>
                  <a:rPr lang="en-GB" dirty="0"/>
                  <a:t>Statistics not only deals with variation but incorporates it</a:t>
                </a:r>
              </a:p>
              <a:p>
                <a:r>
                  <a:rPr lang="en-GB" dirty="0"/>
                  <a:t>Cuts through the noise to show signal</a:t>
                </a:r>
              </a:p>
              <a:p>
                <a:r>
                  <a:rPr lang="en-GB" dirty="0"/>
                  <a:t>Ideally, finds the relationship we want to understand</a:t>
                </a:r>
              </a:p>
              <a:p>
                <a:r>
                  <a:rPr lang="en-GB" dirty="0"/>
                  <a:t>Here:</a:t>
                </a:r>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e>
                    </m:acc>
                    <m:r>
                      <a:rPr lang="en-GB" b="0" i="1" dirty="0" smtClean="0">
                        <a:latin typeface="Cambria Math" panose="02040503050406030204" pitchFamily="18" charset="0"/>
                      </a:rPr>
                      <m:t>=36.5 </m:t>
                    </m:r>
                    <m:r>
                      <a:rPr lang="en-GB" b="0" i="1" dirty="0" smtClean="0">
                        <a:latin typeface="Cambria Math" panose="02040503050406030204" pitchFamily="18" charset="0"/>
                      </a:rPr>
                      <m:t>𝑐𝑚</m:t>
                    </m:r>
                  </m:oMath>
                </a14:m>
                <a:endParaRPr lang="en-GB" dirty="0"/>
              </a:p>
              <a:p>
                <a:pPr lvl="1"/>
                <a14:m>
                  <m:oMath xmlns:m="http://schemas.openxmlformats.org/officeDocument/2006/math">
                    <m:acc>
                      <m:accPr>
                        <m:chr m:val="̂"/>
                        <m:ctrlPr>
                          <a:rPr lang="en-GB" b="0" i="1" smtClean="0">
                            <a:latin typeface="Cambria Math" panose="02040503050406030204" pitchFamily="18" charset="0"/>
                          </a:rPr>
                        </m:ctrlPr>
                      </m:acc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e>
                    </m:acc>
                    <m:r>
                      <a:rPr lang="en-GB" b="0" i="1" dirty="0" smtClean="0">
                        <a:latin typeface="Cambria Math" panose="02040503050406030204" pitchFamily="18" charset="0"/>
                      </a:rPr>
                      <m:t>=14.8 </m:t>
                    </m:r>
                    <m:r>
                      <a:rPr lang="en-GB" b="0" i="1" dirty="0" smtClean="0">
                        <a:latin typeface="Cambria Math" panose="02040503050406030204" pitchFamily="18" charset="0"/>
                      </a:rPr>
                      <m:t>𝑐𝑚</m:t>
                    </m:r>
                    <m:r>
                      <a:rPr lang="en-GB" b="0" i="1" dirty="0" smtClean="0">
                        <a:latin typeface="Cambria Math" panose="02040503050406030204" pitchFamily="18" charset="0"/>
                      </a:rPr>
                      <m:t> </m:t>
                    </m:r>
                    <m:r>
                      <a:rPr lang="en-GB" b="0" i="1" dirty="0" smtClean="0">
                        <a:latin typeface="Cambria Math" panose="02040503050406030204" pitchFamily="18" charset="0"/>
                      </a:rPr>
                      <m:t>𝑝𝑒𝑟</m:t>
                    </m:r>
                    <m:r>
                      <a:rPr lang="en-GB" b="0" i="1" dirty="0" smtClean="0">
                        <a:latin typeface="Cambria Math" panose="02040503050406030204" pitchFamily="18" charset="0"/>
                      </a:rPr>
                      <m:t> </m:t>
                    </m:r>
                    <m:r>
                      <a:rPr lang="en-GB" b="0" i="1" dirty="0" smtClean="0">
                        <a:latin typeface="Cambria Math" panose="02040503050406030204" pitchFamily="18" charset="0"/>
                      </a:rPr>
                      <m:t>𝑦𝑒𝑎𝑟</m:t>
                    </m:r>
                  </m:oMath>
                </a14:m>
                <a:endParaRPr lang="en-GB" dirty="0"/>
              </a:p>
              <a:p>
                <a:r>
                  <a:rPr lang="en-GB" dirty="0"/>
                  <a:t>We now have a mean that </a:t>
                </a:r>
                <a:r>
                  <a:rPr lang="en-GB" i="1" dirty="0"/>
                  <a:t>changes</a:t>
                </a:r>
                <a:r>
                  <a:rPr lang="en-GB" dirty="0"/>
                  <a:t> according to </a:t>
                </a:r>
                <a14:m>
                  <m:oMath xmlns:m="http://schemas.openxmlformats.org/officeDocument/2006/math">
                    <m:r>
                      <a:rPr lang="en-GB" b="0" i="1" smtClean="0">
                        <a:latin typeface="Cambria Math" panose="02040503050406030204" pitchFamily="18" charset="0"/>
                      </a:rPr>
                      <m:t>𝑋</m:t>
                    </m:r>
                  </m:oMath>
                </a14:m>
                <a:endParaRPr lang="en-GB" b="0" dirty="0"/>
              </a:p>
              <a:p>
                <a:pPr lvl="1"/>
                <a:r>
                  <a:rPr lang="en-GB" dirty="0"/>
                  <a:t>I.e. We don’t have a single average</a:t>
                </a:r>
              </a:p>
            </p:txBody>
          </p:sp>
        </mc:Choice>
        <mc:Fallback xmlns="">
          <p:sp>
            <p:nvSpPr>
              <p:cNvPr id="3" name="Content Placeholder 2">
                <a:extLst>
                  <a:ext uri="{FF2B5EF4-FFF2-40B4-BE49-F238E27FC236}">
                    <a16:creationId xmlns:a16="http://schemas.microsoft.com/office/drawing/2014/main" id="{011D306B-AC60-2F57-8CD4-AC4058FEC16D}"/>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Placeholder 6" descr="A graph on a black background&#10;&#10;Description automatically generated">
            <a:extLst>
              <a:ext uri="{FF2B5EF4-FFF2-40B4-BE49-F238E27FC236}">
                <a16:creationId xmlns:a16="http://schemas.microsoft.com/office/drawing/2014/main" id="{729A6A9F-D9A3-A782-7CFC-2F72A1EE29B7}"/>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606309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500"/>
                                        <p:tgtEl>
                                          <p:spTgt spid="3">
                                            <p:txEl>
                                              <p:pRg st="4" end="4"/>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5" end="5"/>
                                            </p:txEl>
                                          </p:spTgt>
                                        </p:tgtEl>
                                        <p:attrNameLst>
                                          <p:attrName>style.visibility</p:attrName>
                                        </p:attrNameLst>
                                      </p:cBhvr>
                                      <p:to>
                                        <p:strVal val="visible"/>
                                      </p:to>
                                    </p:set>
                                    <p:animEffect transition="in" filter="fade">
                                      <p:cBhvr>
                                        <p:cTn id="28" dur="500"/>
                                        <p:tgtEl>
                                          <p:spTgt spid="3">
                                            <p:txEl>
                                              <p:pRg st="5" end="5"/>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Effect transition="in" filter="fade">
                                      <p:cBhvr>
                                        <p:cTn id="33" dur="500"/>
                                        <p:tgtEl>
                                          <p:spTgt spid="3">
                                            <p:txEl>
                                              <p:pRg st="6" end="6"/>
                                            </p:txEl>
                                          </p:spTgt>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
                                            <p:txEl>
                                              <p:pRg st="7" end="7"/>
                                            </p:txEl>
                                          </p:spTgt>
                                        </p:tgtEl>
                                        <p:attrNameLst>
                                          <p:attrName>style.visibility</p:attrName>
                                        </p:attrNameLst>
                                      </p:cBhvr>
                                      <p:to>
                                        <p:strVal val="visible"/>
                                      </p:to>
                                    </p:set>
                                    <p:animEffect transition="in" filter="fade">
                                      <p:cBhvr>
                                        <p:cTn id="36" dur="500"/>
                                        <p:tgtEl>
                                          <p:spTgt spid="3">
                                            <p:txEl>
                                              <p:pRg st="7" end="7"/>
                                            </p:txEl>
                                          </p:spTgt>
                                        </p:tgtEl>
                                      </p:cBhvr>
                                    </p:animEffect>
                                  </p:childTnLst>
                                </p:cTn>
                              </p:par>
                              <p:par>
                                <p:cTn id="37" presetID="10" presetClass="entr" presetSubtype="0" fill="hold" nodeType="with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fade">
                                      <p:cBhvr>
                                        <p:cTn id="3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What about variation?</a:t>
            </a:r>
          </a:p>
        </p:txBody>
      </p:sp>
    </p:spTree>
    <p:extLst>
      <p:ext uri="{BB962C8B-B14F-4D97-AF65-F5344CB8AC3E}">
        <p14:creationId xmlns:p14="http://schemas.microsoft.com/office/powerpoint/2010/main" val="4257438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A graph with numbers and lines&#10;&#10;Description automatically generated">
            <a:extLst>
              <a:ext uri="{FF2B5EF4-FFF2-40B4-BE49-F238E27FC236}">
                <a16:creationId xmlns:a16="http://schemas.microsoft.com/office/drawing/2014/main" id="{050C648A-3582-0B08-839F-8FE8F0E05038}"/>
              </a:ext>
            </a:extLst>
          </p:cNvPr>
          <p:cNvPicPr>
            <a:picLocks noGrp="1" noChangeAspect="1"/>
          </p:cNvPicPr>
          <p:nvPr>
            <p:ph type="pic" sz="quarter" idx="10"/>
          </p:nvPr>
        </p:nvPicPr>
        <p:blipFill rotWithShape="1">
          <a:blip r:embed="rId2">
            <a:extLst>
              <a:ext uri="{28A0092B-C50C-407E-A947-70E740481C1C}">
                <a14:useLocalDpi xmlns:a14="http://schemas.microsoft.com/office/drawing/2010/main" val="0"/>
              </a:ext>
            </a:extLst>
          </a:blip>
          <a:srcRect/>
          <a:stretch/>
        </p:blipFill>
        <p:spPr>
          <a:xfrm>
            <a:off x="6359525" y="0"/>
            <a:ext cx="5832475" cy="6858000"/>
          </a:xfrm>
        </p:spPr>
      </p:pic>
      <p:pic>
        <p:nvPicPr>
          <p:cNvPr id="8" name="Picture 7" descr="A graph of a graph&#10;&#10;Description automatically generated with medium confidence">
            <a:extLst>
              <a:ext uri="{FF2B5EF4-FFF2-40B4-BE49-F238E27FC236}">
                <a16:creationId xmlns:a16="http://schemas.microsoft.com/office/drawing/2014/main" id="{9800546A-6430-139A-4643-ACEB668C67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sp>
        <p:nvSpPr>
          <p:cNvPr id="2" name="Title 1">
            <a:extLst>
              <a:ext uri="{FF2B5EF4-FFF2-40B4-BE49-F238E27FC236}">
                <a16:creationId xmlns:a16="http://schemas.microsoft.com/office/drawing/2014/main" id="{C9A5A6F4-C291-03FA-D2C2-C79A58258A3F}"/>
              </a:ext>
            </a:extLst>
          </p:cNvPr>
          <p:cNvSpPr>
            <a:spLocks noGrp="1"/>
          </p:cNvSpPr>
          <p:nvPr>
            <p:ph type="title"/>
          </p:nvPr>
        </p:nvSpPr>
        <p:spPr/>
        <p:txBody>
          <a:bodyPr/>
          <a:lstStyle/>
          <a:p>
            <a:r>
              <a:rPr lang="en-GB" dirty="0"/>
              <a:t>Variation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E91846-2FDE-8D27-B999-DF3102D0A94A}"/>
                  </a:ext>
                </a:extLst>
              </p:cNvPr>
              <p:cNvSpPr>
                <a:spLocks noGrp="1"/>
              </p:cNvSpPr>
              <p:nvPr>
                <p:ph idx="1"/>
              </p:nvPr>
            </p:nvSpPr>
            <p:spPr/>
            <p:txBody>
              <a:bodyPr>
                <a:normAutofit/>
              </a:bodyPr>
              <a:lstStyle/>
              <a:p>
                <a:r>
                  <a:rPr lang="en-GB" dirty="0"/>
                  <a:t>Distributions are how models deal with “randomness”</a:t>
                </a:r>
              </a:p>
              <a:p>
                <a:r>
                  <a:rPr lang="en-GB" dirty="0"/>
                  <a:t>They “control” randomness so that it behaves in a way that is “sensible”</a:t>
                </a:r>
              </a:p>
              <a:p>
                <a:r>
                  <a:rPr lang="en-GB" dirty="0"/>
                  <a:t>The simplest distribution is: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𝑈𝑛𝑖𝑓𝑜𝑟𝑚</m:t>
                      </m:r>
                      <m:r>
                        <a:rPr lang="en-GB" b="0" i="1" smtClean="0">
                          <a:latin typeface="Cambria Math" panose="02040503050406030204" pitchFamily="18" charset="0"/>
                        </a:rPr>
                        <m:t>(0, 100)</m:t>
                      </m:r>
                    </m:oMath>
                  </m:oMathPara>
                </a14:m>
                <a:endParaRPr lang="en-GB" dirty="0"/>
              </a:p>
              <a:p>
                <a:r>
                  <a:rPr lang="en-GB" dirty="0"/>
                  <a:t>Which says that all values are equally likely within the range 0 to 100</a:t>
                </a:r>
              </a:p>
              <a:p>
                <a:r>
                  <a:rPr lang="en-GB" dirty="0"/>
                  <a:t>But the </a:t>
                </a:r>
                <a14:m>
                  <m:oMath xmlns:m="http://schemas.openxmlformats.org/officeDocument/2006/math">
                    <m:r>
                      <a:rPr lang="en-GB" b="0" i="1" smtClean="0">
                        <a:latin typeface="Cambria Math" panose="02040503050406030204" pitchFamily="18" charset="0"/>
                      </a:rPr>
                      <m:t>𝑈𝑛𝑖𝑓𝑜𝑟𝑚</m:t>
                    </m:r>
                  </m:oMath>
                </a14:m>
                <a:r>
                  <a:rPr lang="en-GB" dirty="0"/>
                  <a:t> distribution is so simplistic that it’s not very useful</a:t>
                </a:r>
              </a:p>
            </p:txBody>
          </p:sp>
        </mc:Choice>
        <mc:Fallback xmlns="">
          <p:sp>
            <p:nvSpPr>
              <p:cNvPr id="3" name="Content Placeholder 2">
                <a:extLst>
                  <a:ext uri="{FF2B5EF4-FFF2-40B4-BE49-F238E27FC236}">
                    <a16:creationId xmlns:a16="http://schemas.microsoft.com/office/drawing/2014/main" id="{F5E91846-2FDE-8D27-B999-DF3102D0A94A}"/>
                  </a:ext>
                </a:extLst>
              </p:cNvPr>
              <p:cNvSpPr>
                <a:spLocks noGrp="1" noRot="1" noChangeAspect="1" noMove="1" noResize="1" noEditPoints="1" noAdjustHandles="1" noChangeArrowheads="1" noChangeShapeType="1" noTextEdit="1"/>
              </p:cNvSpPr>
              <p:nvPr>
                <p:ph idx="1"/>
              </p:nvPr>
            </p:nvSpPr>
            <p:spPr>
              <a:blipFill>
                <a:blip r:embed="rId4"/>
                <a:stretch>
                  <a:fillRect l="-1770" r="-2753"/>
                </a:stretch>
              </a:blipFill>
            </p:spPr>
            <p:txBody>
              <a:bodyPr/>
              <a:lstStyle/>
              <a:p>
                <a:r>
                  <a:rPr lang="en-GB">
                    <a:noFill/>
                  </a:rPr>
                  <a:t> </a:t>
                </a:r>
              </a:p>
            </p:txBody>
          </p:sp>
        </mc:Fallback>
      </mc:AlternateContent>
    </p:spTree>
    <p:extLst>
      <p:ext uri="{BB962C8B-B14F-4D97-AF65-F5344CB8AC3E}">
        <p14:creationId xmlns:p14="http://schemas.microsoft.com/office/powerpoint/2010/main" val="38924312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500"/>
                                        <p:tgtEl>
                                          <p:spTgt spid="3">
                                            <p:txEl>
                                              <p:pRg st="3" end="3"/>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500"/>
                                        <p:tgtEl>
                                          <p:spTgt spid="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500"/>
                                        <p:tgtEl>
                                          <p:spTgt spid="3">
                                            <p:txEl>
                                              <p:pRg st="4" end="4"/>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5" end="5"/>
                                            </p:txEl>
                                          </p:spTgt>
                                        </p:tgtEl>
                                        <p:attrNameLst>
                                          <p:attrName>style.visibility</p:attrName>
                                        </p:attrNameLst>
                                      </p:cBhvr>
                                      <p:to>
                                        <p:strVal val="visible"/>
                                      </p:to>
                                    </p:set>
                                    <p:animEffect transition="in" filter="fade">
                                      <p:cBhvr>
                                        <p:cTn id="3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7FA9060-4F21-B2A4-1671-0B35F636A931}"/>
                  </a:ext>
                </a:extLst>
              </p:cNvPr>
              <p:cNvSpPr>
                <a:spLocks noGrp="1"/>
              </p:cNvSpPr>
              <p:nvPr>
                <p:ph type="title"/>
              </p:nvPr>
            </p:nvSpPr>
            <p:spPr/>
            <p:txBody>
              <a:bodyPr/>
              <a:lstStyle/>
              <a:p>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D7FA9060-4F21-B2A4-1671-0B35F636A931}"/>
                  </a:ext>
                </a:extLst>
              </p:cNvPr>
              <p:cNvSpPr>
                <a:spLocks noGrp="1" noRot="1" noChangeAspect="1" noMove="1" noResize="1" noEditPoints="1" noAdjustHandles="1" noChangeArrowheads="1" noChangeShapeType="1" noTextEdit="1"/>
              </p:cNvSpPr>
              <p:nvPr>
                <p:ph type="title"/>
              </p:nvPr>
            </p:nvSpPr>
            <p:spPr>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EB07E2-6BEB-A664-6F4B-51601FB3FA0C}"/>
                  </a:ext>
                </a:extLst>
              </p:cNvPr>
              <p:cNvSpPr>
                <a:spLocks noGrp="1"/>
              </p:cNvSpPr>
              <p:nvPr>
                <p:ph idx="1"/>
              </p:nvPr>
            </p:nvSpPr>
            <p:spPr/>
            <p:txBody>
              <a:bodyPr/>
              <a:lstStyle/>
              <a:p>
                <a:r>
                  <a:rPr lang="en-GB" dirty="0"/>
                  <a:t>Called “Normal” because of how common it is in nature</a:t>
                </a:r>
              </a:p>
              <a:p>
                <a:pPr lvl="1"/>
                <a:r>
                  <a:rPr lang="en-GB" dirty="0"/>
                  <a:t>Sometimes called </a:t>
                </a:r>
                <a14:m>
                  <m:oMath xmlns:m="http://schemas.openxmlformats.org/officeDocument/2006/math">
                    <m:r>
                      <a:rPr lang="en-GB" b="0" i="1" smtClean="0">
                        <a:latin typeface="Cambria Math" panose="02040503050406030204" pitchFamily="18" charset="0"/>
                      </a:rPr>
                      <m:t>𝐺𝑢𝑎𝑠𝑠𝑖𝑎𝑛</m:t>
                    </m:r>
                  </m:oMath>
                </a14:m>
                <a:endParaRPr lang="en-GB" dirty="0"/>
              </a:p>
              <a:p>
                <a:r>
                  <a:rPr lang="en-GB" dirty="0"/>
                  <a:t>Described with two bits of information</a:t>
                </a:r>
              </a:p>
              <a:p>
                <a:pPr lvl="1"/>
                <a:r>
                  <a:rPr lang="en-GB" dirty="0"/>
                  <a:t>The mean (</a:t>
                </a:r>
                <a14:m>
                  <m:oMath xmlns:m="http://schemas.openxmlformats.org/officeDocument/2006/math">
                    <m:r>
                      <a:rPr lang="en-GB" b="0" i="1" smtClean="0">
                        <a:latin typeface="Cambria Math" panose="02040503050406030204" pitchFamily="18" charset="0"/>
                      </a:rPr>
                      <m:t>𝜇</m:t>
                    </m:r>
                  </m:oMath>
                </a14:m>
                <a:r>
                  <a:rPr lang="en-GB" dirty="0"/>
                  <a:t>)</a:t>
                </a:r>
              </a:p>
              <a:p>
                <a:pPr lvl="1"/>
                <a:r>
                  <a:rPr lang="en-GB" dirty="0"/>
                  <a:t>And the standard deviation (</a:t>
                </a:r>
                <a14:m>
                  <m:oMath xmlns:m="http://schemas.openxmlformats.org/officeDocument/2006/math">
                    <m:r>
                      <a:rPr lang="en-GB" b="0" i="1" smtClean="0">
                        <a:latin typeface="Cambria Math" panose="02040503050406030204" pitchFamily="18" charset="0"/>
                      </a:rPr>
                      <m:t>𝜎</m:t>
                    </m:r>
                  </m:oMath>
                </a14:m>
                <a:r>
                  <a:rPr lang="en-GB" dirty="0"/>
                  <a:t>)</a:t>
                </a:r>
              </a:p>
              <a:p>
                <a:r>
                  <a:rPr lang="en-GB" dirty="0"/>
                  <a:t>We just need to figure out which values for mean (and standard deviation) work best with our data</a:t>
                </a:r>
              </a:p>
            </p:txBody>
          </p:sp>
        </mc:Choice>
        <mc:Fallback xmlns="">
          <p:sp>
            <p:nvSpPr>
              <p:cNvPr id="3" name="Content Placeholder 2">
                <a:extLst>
                  <a:ext uri="{FF2B5EF4-FFF2-40B4-BE49-F238E27FC236}">
                    <a16:creationId xmlns:a16="http://schemas.microsoft.com/office/drawing/2014/main" id="{7EEB07E2-6BEB-A664-6F4B-51601FB3FA0C}"/>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10" name="Picture Placeholder 9" descr="A graph on a screen&#10;&#10;Description automatically generated">
            <a:extLst>
              <a:ext uri="{FF2B5EF4-FFF2-40B4-BE49-F238E27FC236}">
                <a16:creationId xmlns:a16="http://schemas.microsoft.com/office/drawing/2014/main" id="{C0A33617-3885-B84B-18F1-9E2406D5C8D8}"/>
              </a:ext>
            </a:extLst>
          </p:cNvPr>
          <p:cNvPicPr>
            <a:picLocks noGrp="1" noChangeAspect="1"/>
          </p:cNvPicPr>
          <p:nvPr>
            <p:ph type="pic" sz="quarter" idx="10"/>
          </p:nvPr>
        </p:nvPicPr>
        <p:blipFill rotWithShape="1">
          <a:blip r:embed="rId4">
            <a:extLst>
              <a:ext uri="{28A0092B-C50C-407E-A947-70E740481C1C}">
                <a14:useLocalDpi xmlns:a14="http://schemas.microsoft.com/office/drawing/2010/main" val="0"/>
              </a:ext>
            </a:extLst>
          </a:blip>
          <a:srcRect/>
          <a:stretch/>
        </p:blipFill>
        <p:spPr>
          <a:xfrm>
            <a:off x="6359525" y="0"/>
            <a:ext cx="5832475" cy="6858000"/>
          </a:xfrm>
        </p:spPr>
      </p:pic>
      <p:pic>
        <p:nvPicPr>
          <p:cNvPr id="12" name="Picture 11" descr="A graph on a screen&#10;&#10;Description automatically generated">
            <a:extLst>
              <a:ext uri="{FF2B5EF4-FFF2-40B4-BE49-F238E27FC236}">
                <a16:creationId xmlns:a16="http://schemas.microsoft.com/office/drawing/2014/main" id="{66F768E7-A45F-3998-6D31-5C6DBD0F40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9826" y="0"/>
            <a:ext cx="5751871" cy="6858000"/>
          </a:xfrm>
          <a:prstGeom prst="rect">
            <a:avLst/>
          </a:prstGeom>
        </p:spPr>
      </p:pic>
      <p:pic>
        <p:nvPicPr>
          <p:cNvPr id="14" name="Picture 13" descr="A graph of a tall tower&#10;&#10;Description automatically generated with medium confidence">
            <a:extLst>
              <a:ext uri="{FF2B5EF4-FFF2-40B4-BE49-F238E27FC236}">
                <a16:creationId xmlns:a16="http://schemas.microsoft.com/office/drawing/2014/main" id="{8E6D8D33-A1E9-2A54-2231-6727B7838A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40129" y="0"/>
            <a:ext cx="5751871" cy="6858000"/>
          </a:xfrm>
          <a:prstGeom prst="rect">
            <a:avLst/>
          </a:prstGeom>
        </p:spPr>
      </p:pic>
    </p:spTree>
    <p:extLst>
      <p:ext uri="{BB962C8B-B14F-4D97-AF65-F5344CB8AC3E}">
        <p14:creationId xmlns:p14="http://schemas.microsoft.com/office/powerpoint/2010/main" val="1937219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Our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lnSpcReduction="10000"/>
              </a:bodyPr>
              <a:lstStyle/>
              <a:p>
                <a:r>
                  <a:rPr lang="en-GB" dirty="0"/>
                  <a:t>Previously we wrote:</a:t>
                </a:r>
              </a:p>
              <a:p>
                <a:pPr marL="457200" lvl="1" indent="0">
                  <a:buNone/>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a:rPr lang="en-GB" b="0" i="1" smtClean="0">
                              <a:latin typeface="Cambria Math" panose="02040503050406030204" pitchFamily="18" charset="0"/>
                            </a:rPr>
                            <m:t>𝐻𝑒𝑖𝑔h𝑡</m:t>
                          </m:r>
                        </m:e>
                        <m:sub>
                          <m:r>
                            <a:rPr lang="en-GB" i="1">
                              <a:latin typeface="Cambria Math" panose="02040503050406030204" pitchFamily="18" charset="0"/>
                            </a:rPr>
                            <m:t>𝑖</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0</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𝐴𝑔𝑒</m:t>
                          </m:r>
                        </m:e>
                        <m:sub>
                          <m:r>
                            <a:rPr lang="en-GB" i="1">
                              <a:latin typeface="Cambria Math" panose="02040503050406030204" pitchFamily="18" charset="0"/>
                            </a:rPr>
                            <m:t>𝑖</m:t>
                          </m:r>
                        </m:sub>
                      </m:sSub>
                    </m:oMath>
                  </m:oMathPara>
                </a14:m>
                <a:endParaRPr lang="en-GB" dirty="0"/>
              </a:p>
              <a:p>
                <a:endParaRPr lang="en-GB" dirty="0"/>
              </a:p>
              <a:p>
                <a:r>
                  <a:rPr lang="en-GB" dirty="0"/>
                  <a:t>More formally, we’d write: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𝐻𝑒𝑖𝑔h</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𝜎</m:t>
                              </m:r>
                            </m:e>
                            <m:sub>
                              <m:r>
                                <a:rPr lang="en-GB" b="0" i="1" smtClean="0">
                                  <a:latin typeface="Cambria Math" panose="02040503050406030204" pitchFamily="18" charset="0"/>
                                </a:rPr>
                                <m:t>𝑖</m:t>
                              </m:r>
                            </m:sub>
                          </m:sSub>
                        </m:e>
                      </m:d>
                    </m:oMath>
                  </m:oMathPara>
                </a14:m>
                <a:endParaRPr lang="en-GB" b="0" dirty="0"/>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m:oMathPara>
                </a14:m>
                <a:endParaRPr lang="en-GB" dirty="0"/>
              </a:p>
              <a:p>
                <a:pPr marL="0" indent="0">
                  <a:buNone/>
                </a:pPr>
                <a:r>
                  <a:rPr lang="en-GB" sz="1400" dirty="0"/>
                  <a:t>Where:</a:t>
                </a:r>
              </a:p>
              <a:p>
                <a14:m>
                  <m:oMath xmlns:m="http://schemas.openxmlformats.org/officeDocument/2006/math">
                    <m:r>
                      <a:rPr lang="en-GB" sz="1400" b="0" i="1" smtClean="0">
                        <a:latin typeface="Cambria Math" panose="02040503050406030204" pitchFamily="18" charset="0"/>
                      </a:rPr>
                      <m:t>𝐻𝑒𝑖𝑔h</m:t>
                    </m:r>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𝑡</m:t>
                        </m:r>
                      </m:e>
                      <m:sub>
                        <m:r>
                          <a:rPr lang="en-GB" sz="1400" b="0" i="1" smtClean="0">
                            <a:latin typeface="Cambria Math" panose="02040503050406030204" pitchFamily="18" charset="0"/>
                          </a:rPr>
                          <m:t>𝑖</m:t>
                        </m:r>
                      </m:sub>
                    </m:sSub>
                  </m:oMath>
                </a14:m>
                <a:r>
                  <a:rPr lang="en-GB" sz="1400" dirty="0"/>
                  <a:t> is the height of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b="0" dirty="0"/>
                  <a:t>“</a:t>
                </a:r>
                <a14:m>
                  <m:oMath xmlns:m="http://schemas.openxmlformats.org/officeDocument/2006/math">
                    <m:r>
                      <a:rPr lang="en-GB" sz="1400" b="0" i="1" smtClean="0">
                        <a:latin typeface="Cambria Math" panose="02040503050406030204" pitchFamily="18" charset="0"/>
                      </a:rPr>
                      <m:t>~</m:t>
                    </m:r>
                  </m:oMath>
                </a14:m>
                <a:r>
                  <a:rPr lang="en-GB" sz="1400" dirty="0"/>
                  <a:t>” means “generated according to…” or “arises from…”</a:t>
                </a:r>
              </a:p>
              <a:p>
                <a14:m>
                  <m:oMath xmlns:m="http://schemas.openxmlformats.org/officeDocument/2006/math">
                    <m:r>
                      <a:rPr lang="en-GB" sz="1400" b="0" i="1" smtClean="0">
                        <a:latin typeface="Cambria Math" panose="02040503050406030204" pitchFamily="18" charset="0"/>
                      </a:rPr>
                      <m:t>𝑁𝑜𝑟𝑚𝑎𝑙</m:t>
                    </m:r>
                  </m:oMath>
                </a14:m>
                <a:r>
                  <a:rPr lang="en-GB" sz="1400" dirty="0"/>
                  <a:t> is the distribution we assume generated the </a:t>
                </a:r>
                <a14:m>
                  <m:oMath xmlns:m="http://schemas.openxmlformats.org/officeDocument/2006/math">
                    <m:r>
                      <a:rPr lang="en-GB" sz="1400" b="0" i="1" smtClean="0">
                        <a:latin typeface="Cambria Math" panose="02040503050406030204" pitchFamily="18" charset="0"/>
                      </a:rPr>
                      <m:t>𝐻𝑒𝑖𝑔h𝑡</m:t>
                    </m:r>
                  </m:oMath>
                </a14:m>
                <a:r>
                  <a:rPr lang="en-GB" sz="1400" dirty="0"/>
                  <a:t> values</a:t>
                </a:r>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𝜇</m:t>
                        </m:r>
                      </m:e>
                      <m:sub>
                        <m:r>
                          <a:rPr lang="en-GB" sz="1400" b="0" i="1" smtClean="0">
                            <a:latin typeface="Cambria Math" panose="02040503050406030204" pitchFamily="18" charset="0"/>
                          </a:rPr>
                          <m:t>𝑖</m:t>
                        </m:r>
                      </m:sub>
                    </m:sSub>
                  </m:oMath>
                </a14:m>
                <a:r>
                  <a:rPr lang="en-GB" sz="1400" dirty="0"/>
                  <a:t> is the average </a:t>
                </a:r>
                <a14:m>
                  <m:oMath xmlns:m="http://schemas.openxmlformats.org/officeDocument/2006/math">
                    <m:r>
                      <a:rPr lang="en-GB" sz="1400" b="0" i="1" smtClean="0">
                        <a:latin typeface="Cambria Math" panose="02040503050406030204" pitchFamily="18" charset="0"/>
                      </a:rPr>
                      <m:t>𝐻𝑒𝑖𝑔h𝑡</m:t>
                    </m:r>
                  </m:oMath>
                </a14:m>
                <a:r>
                  <a:rPr lang="en-GB" sz="1400" dirty="0"/>
                  <a:t> we would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14:m>
                  <m:oMath xmlns:m="http://schemas.openxmlformats.org/officeDocument/2006/math">
                    <m:sSub>
                      <m:sSubPr>
                        <m:ctrlPr>
                          <a:rPr lang="en-GB" sz="1400" b="0" i="1" smtClean="0">
                            <a:latin typeface="Cambria Math" panose="02040503050406030204" pitchFamily="18" charset="0"/>
                          </a:rPr>
                        </m:ctrlPr>
                      </m:sSubPr>
                      <m:e>
                        <m:r>
                          <a:rPr lang="en-GB" sz="1400" b="0" i="1" smtClean="0">
                            <a:latin typeface="Cambria Math" panose="02040503050406030204" pitchFamily="18" charset="0"/>
                          </a:rPr>
                          <m:t>𝜎</m:t>
                        </m:r>
                      </m:e>
                      <m:sub>
                        <m:r>
                          <a:rPr lang="en-GB" sz="1400" b="0" i="1" smtClean="0">
                            <a:latin typeface="Cambria Math" panose="02040503050406030204" pitchFamily="18" charset="0"/>
                          </a:rPr>
                          <m:t>𝑖</m:t>
                        </m:r>
                      </m:sub>
                    </m:sSub>
                  </m:oMath>
                </a14:m>
                <a:r>
                  <a:rPr lang="en-GB" sz="1400" dirty="0"/>
                  <a:t> is the standard deviation in </a:t>
                </a:r>
                <a14:m>
                  <m:oMath xmlns:m="http://schemas.openxmlformats.org/officeDocument/2006/math">
                    <m:r>
                      <a:rPr lang="en-GB" sz="1400" b="0" i="1" smtClean="0">
                        <a:latin typeface="Cambria Math" panose="02040503050406030204" pitchFamily="18" charset="0"/>
                      </a:rPr>
                      <m:t>𝐻𝑒𝑖𝑔h𝑡</m:t>
                    </m:r>
                  </m:oMath>
                </a14:m>
                <a:r>
                  <a:rPr lang="en-GB" sz="1400" dirty="0"/>
                  <a:t> we expect for child </a:t>
                </a:r>
                <a14:m>
                  <m:oMath xmlns:m="http://schemas.openxmlformats.org/officeDocument/2006/math">
                    <m:r>
                      <a:rPr lang="en-GB" sz="1400" b="0" i="1" smtClean="0">
                        <a:latin typeface="Cambria Math" panose="02040503050406030204" pitchFamily="18" charset="0"/>
                      </a:rPr>
                      <m:t>𝑖</m:t>
                    </m:r>
                  </m:oMath>
                </a14:m>
                <a:endParaRPr lang="en-GB" sz="1400" dirty="0"/>
              </a:p>
              <a:p>
                <a:r>
                  <a:rPr lang="en-GB" sz="1400" dirty="0"/>
                  <a:t>Where the average (</a:t>
                </a:r>
                <a14:m>
                  <m:oMath xmlns:m="http://schemas.openxmlformats.org/officeDocument/2006/math">
                    <m:r>
                      <a:rPr lang="en-GB" sz="1400" b="0" i="1" smtClean="0">
                        <a:latin typeface="Cambria Math" panose="02040503050406030204" pitchFamily="18" charset="0"/>
                      </a:rPr>
                      <m:t>𝜇</m:t>
                    </m:r>
                  </m:oMath>
                </a14:m>
                <a:r>
                  <a:rPr lang="en-GB" sz="1400" dirty="0"/>
                  <a:t>) is:</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0</m:t>
                        </m:r>
                      </m:sub>
                    </m:sSub>
                  </m:oMath>
                </a14:m>
                <a:r>
                  <a:rPr lang="en-GB" sz="1200" dirty="0"/>
                  <a:t> (height at age 0)</a:t>
                </a:r>
              </a:p>
              <a:p>
                <a:pPr lvl="1"/>
                <a14:m>
                  <m:oMath xmlns:m="http://schemas.openxmlformats.org/officeDocument/2006/math">
                    <m:sSub>
                      <m:sSubPr>
                        <m:ctrlPr>
                          <a:rPr lang="en-GB" sz="1200" b="0" i="1" smtClean="0">
                            <a:latin typeface="Cambria Math" panose="02040503050406030204" pitchFamily="18" charset="0"/>
                          </a:rPr>
                        </m:ctrlPr>
                      </m:sSubPr>
                      <m:e>
                        <m:r>
                          <a:rPr lang="en-GB" sz="1200" b="0" i="1" smtClean="0">
                            <a:latin typeface="Cambria Math" panose="02040503050406030204" pitchFamily="18" charset="0"/>
                          </a:rPr>
                          <m:t>𝛽</m:t>
                        </m:r>
                      </m:e>
                      <m:sub>
                        <m:r>
                          <a:rPr lang="en-GB" sz="1200" b="0" i="1" smtClean="0">
                            <a:latin typeface="Cambria Math" panose="02040503050406030204" pitchFamily="18" charset="0"/>
                          </a:rPr>
                          <m:t>1</m:t>
                        </m:r>
                      </m:sub>
                    </m:sSub>
                  </m:oMath>
                </a14:m>
                <a:r>
                  <a:rPr lang="en-GB" sz="1200" dirty="0"/>
                  <a:t> (how many cm a child grows each year)</a:t>
                </a:r>
              </a:p>
              <a:p>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t="-4884" b="-5000"/>
                </a:stretch>
              </a:blipFill>
            </p:spPr>
            <p:txBody>
              <a:bodyPr/>
              <a:lstStyle/>
              <a:p>
                <a:r>
                  <a:rPr lang="en-GB">
                    <a:noFill/>
                  </a:rPr>
                  <a:t> </a:t>
                </a:r>
              </a:p>
            </p:txBody>
          </p:sp>
        </mc:Fallback>
      </mc:AlternateContent>
    </p:spTree>
    <p:extLst>
      <p:ext uri="{BB962C8B-B14F-4D97-AF65-F5344CB8AC3E}">
        <p14:creationId xmlns:p14="http://schemas.microsoft.com/office/powerpoint/2010/main" val="2334415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500"/>
                                        <p:tgtEl>
                                          <p:spTgt spid="3">
                                            <p:txEl>
                                              <p:pRg st="5" end="5"/>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fade">
                                      <p:cBhvr>
                                        <p:cTn id="30" dur="500"/>
                                        <p:tgtEl>
                                          <p:spTgt spid="3">
                                            <p:txEl>
                                              <p:pRg st="6" end="6"/>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500"/>
                                        <p:tgtEl>
                                          <p:spTgt spid="3">
                                            <p:txEl>
                                              <p:pRg st="9" end="9"/>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Effect transition="in" filter="fade">
                                      <p:cBhvr>
                                        <p:cTn id="50" dur="500"/>
                                        <p:tgtEl>
                                          <p:spTgt spid="3">
                                            <p:txEl>
                                              <p:pRg st="10" end="10"/>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
                                            <p:txEl>
                                              <p:pRg st="11" end="11"/>
                                            </p:txEl>
                                          </p:spTgt>
                                        </p:tgtEl>
                                        <p:attrNameLst>
                                          <p:attrName>style.visibility</p:attrName>
                                        </p:attrNameLst>
                                      </p:cBhvr>
                                      <p:to>
                                        <p:strVal val="visible"/>
                                      </p:to>
                                    </p:set>
                                    <p:animEffect transition="in" filter="fade">
                                      <p:cBhvr>
                                        <p:cTn id="55" dur="500"/>
                                        <p:tgtEl>
                                          <p:spTgt spid="3">
                                            <p:txEl>
                                              <p:pRg st="11" end="11"/>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3">
                                            <p:txEl>
                                              <p:pRg st="12" end="12"/>
                                            </p:txEl>
                                          </p:spTgt>
                                        </p:tgtEl>
                                        <p:attrNameLst>
                                          <p:attrName>style.visibility</p:attrName>
                                        </p:attrNameLst>
                                      </p:cBhvr>
                                      <p:to>
                                        <p:strVal val="visible"/>
                                      </p:to>
                                    </p:set>
                                    <p:animEffect transition="in" filter="fade">
                                      <p:cBhvr>
                                        <p:cTn id="60" dur="500"/>
                                        <p:tgtEl>
                                          <p:spTgt spid="3">
                                            <p:txEl>
                                              <p:pRg st="12" end="12"/>
                                            </p:txEl>
                                          </p:spTgt>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
                                            <p:txEl>
                                              <p:pRg st="13" end="13"/>
                                            </p:txEl>
                                          </p:spTgt>
                                        </p:tgtEl>
                                        <p:attrNameLst>
                                          <p:attrName>style.visibility</p:attrName>
                                        </p:attrNameLst>
                                      </p:cBhvr>
                                      <p:to>
                                        <p:strVal val="visible"/>
                                      </p:to>
                                    </p:set>
                                    <p:animEffect transition="in" filter="fade">
                                      <p:cBhvr>
                                        <p:cTn id="63" dur="500"/>
                                        <p:tgtEl>
                                          <p:spTgt spid="3">
                                            <p:txEl>
                                              <p:pRg st="13" end="13"/>
                                            </p:txEl>
                                          </p:spTgt>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
                                            <p:txEl>
                                              <p:pRg st="14" end="14"/>
                                            </p:txEl>
                                          </p:spTgt>
                                        </p:tgtEl>
                                        <p:attrNameLst>
                                          <p:attrName>style.visibility</p:attrName>
                                        </p:attrNameLst>
                                      </p:cBhvr>
                                      <p:to>
                                        <p:strVal val="visible"/>
                                      </p:to>
                                    </p:set>
                                    <p:animEffect transition="in" filter="fade">
                                      <p:cBhvr>
                                        <p:cTn id="6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A graph of a function&#10;&#10;Description automatically generated">
            <a:extLst>
              <a:ext uri="{FF2B5EF4-FFF2-40B4-BE49-F238E27FC236}">
                <a16:creationId xmlns:a16="http://schemas.microsoft.com/office/drawing/2014/main" id="{C032EED6-152C-776C-59E4-16F174B76AC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91" b="691"/>
          <a:stretch>
            <a:fillRect/>
          </a:stretch>
        </p:blipFill>
        <p:spPr/>
      </p:pic>
      <p:sp>
        <p:nvSpPr>
          <p:cNvPr id="2" name="Title 1">
            <a:extLst>
              <a:ext uri="{FF2B5EF4-FFF2-40B4-BE49-F238E27FC236}">
                <a16:creationId xmlns:a16="http://schemas.microsoft.com/office/drawing/2014/main" id="{F9EACA1D-B7EF-FB84-57D8-F56A12797BF9}"/>
              </a:ext>
            </a:extLst>
          </p:cNvPr>
          <p:cNvSpPr>
            <a:spLocks noGrp="1"/>
          </p:cNvSpPr>
          <p:nvPr>
            <p:ph type="title"/>
          </p:nvPr>
        </p:nvSpPr>
        <p:spPr/>
        <p:txBody>
          <a:bodyPr/>
          <a:lstStyle/>
          <a:p>
            <a:r>
              <a:rPr lang="en-GB" dirty="0"/>
              <a:t>Goal of statistics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2D0BD94-D341-D57C-3F6D-8D95F7A6AF26}"/>
                  </a:ext>
                </a:extLst>
              </p:cNvPr>
              <p:cNvSpPr>
                <a:spLocks noGrp="1"/>
              </p:cNvSpPr>
              <p:nvPr>
                <p:ph idx="1"/>
              </p:nvPr>
            </p:nvSpPr>
            <p:spPr/>
            <p:txBody>
              <a:bodyPr>
                <a:normAutofit/>
              </a:bodyPr>
              <a:lstStyle/>
              <a:p>
                <a:r>
                  <a:rPr lang="en-GB" dirty="0"/>
                  <a:t>We want to tweak the distribution such that the idealised distribution (the “likelihood”) overlaps the real data</a:t>
                </a:r>
              </a:p>
              <a:p>
                <a:r>
                  <a:rPr lang="en-GB" dirty="0"/>
                  <a:t>How do we tweak the distribution?</a:t>
                </a:r>
              </a:p>
              <a:p>
                <a:r>
                  <a:rPr lang="en-GB" dirty="0"/>
                  <a:t>Change the </a:t>
                </a:r>
                <a:r>
                  <a:rPr lang="en-GB" dirty="0">
                    <a:solidFill>
                      <a:srgbClr val="FFFF00"/>
                    </a:solidFill>
                  </a:rPr>
                  <a:t>mean</a:t>
                </a:r>
                <a:r>
                  <a:rPr lang="en-GB" dirty="0"/>
                  <a:t>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r>
                  <a:rPr lang="en-GB" dirty="0"/>
                  <a:t>How do we change </a:t>
                </a:r>
                <a14:m>
                  <m:oMath xmlns:m="http://schemas.openxmlformats.org/officeDocument/2006/math">
                    <m:r>
                      <a:rPr lang="en-GB" b="0" i="1" smtClean="0">
                        <a:solidFill>
                          <a:srgbClr val="FFFF00"/>
                        </a:solidFill>
                        <a:latin typeface="Cambria Math" panose="02040503050406030204" pitchFamily="18" charset="0"/>
                      </a:rPr>
                      <m:t>𝜇</m:t>
                    </m:r>
                  </m:oMath>
                </a14:m>
                <a:r>
                  <a:rPr lang="en-GB" dirty="0"/>
                  <a:t>?</a:t>
                </a:r>
              </a:p>
              <a:p>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𝑋</m:t>
                        </m:r>
                      </m:e>
                      <m:sub>
                        <m:r>
                          <a:rPr lang="en-GB" b="0" i="1" smtClean="0">
                            <a:latin typeface="Cambria Math" panose="02040503050406030204" pitchFamily="18" charset="0"/>
                          </a:rPr>
                          <m:t>𝑖</m:t>
                        </m:r>
                      </m:sub>
                    </m:sSub>
                  </m:oMath>
                </a14:m>
                <a:endParaRPr lang="en-GB" dirty="0"/>
              </a:p>
              <a:p>
                <a:r>
                  <a:rPr lang="en-GB" dirty="0"/>
                  <a:t>For the child height example, we said:</a:t>
                </a:r>
              </a:p>
              <a:p>
                <a:pPr lvl="1"/>
                <a14:m>
                  <m:oMath xmlns:m="http://schemas.openxmlformats.org/officeDocument/2006/math">
                    <m:sSub>
                      <m:sSubPr>
                        <m:ctrlPr>
                          <a:rPr lang="en-GB" b="0" i="1" smtClean="0">
                            <a:solidFill>
                              <a:srgbClr val="FFFF00"/>
                            </a:solidFill>
                            <a:latin typeface="Cambria Math" panose="02040503050406030204" pitchFamily="18" charset="0"/>
                          </a:rPr>
                        </m:ctrlPr>
                      </m:sSubPr>
                      <m:e>
                        <m:r>
                          <a:rPr lang="en-GB" b="0" i="1" smtClean="0">
                            <a:solidFill>
                              <a:srgbClr val="FFFF00"/>
                            </a:solidFill>
                            <a:latin typeface="Cambria Math" panose="02040503050406030204" pitchFamily="18" charset="0"/>
                          </a:rPr>
                          <m:t>𝜇</m:t>
                        </m:r>
                      </m:e>
                      <m:sub>
                        <m:r>
                          <a:rPr lang="en-GB" b="0" i="1" smtClean="0">
                            <a:solidFill>
                              <a:srgbClr val="FFFF00"/>
                            </a:solidFill>
                            <a:latin typeface="Cambria Math" panose="02040503050406030204" pitchFamily="18" charset="0"/>
                          </a:rPr>
                          <m:t>𝑖</m:t>
                        </m:r>
                      </m:sub>
                    </m:sSub>
                    <m:r>
                      <a:rPr lang="en-GB" b="0" i="1" smtClean="0">
                        <a:latin typeface="Cambria Math" panose="02040503050406030204" pitchFamily="18" charset="0"/>
                      </a:rPr>
                      <m:t>=36.5+14.8×</m:t>
                    </m:r>
                    <m:r>
                      <a:rPr lang="en-GB" b="0" i="1" smtClean="0">
                        <a:latin typeface="Cambria Math" panose="02040503050406030204" pitchFamily="18" charset="0"/>
                      </a:rPr>
                      <m:t>𝐴𝑔</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𝑖</m:t>
                        </m:r>
                      </m:sub>
                    </m:sSub>
                  </m:oMath>
                </a14:m>
                <a:endParaRPr lang="en-GB" dirty="0"/>
              </a:p>
            </p:txBody>
          </p:sp>
        </mc:Choice>
        <mc:Fallback xmlns="">
          <p:sp>
            <p:nvSpPr>
              <p:cNvPr id="3" name="Content Placeholder 2">
                <a:extLst>
                  <a:ext uri="{FF2B5EF4-FFF2-40B4-BE49-F238E27FC236}">
                    <a16:creationId xmlns:a16="http://schemas.microsoft.com/office/drawing/2014/main" id="{62D0BD94-D341-D57C-3F6D-8D95F7A6AF26}"/>
                  </a:ext>
                </a:extLst>
              </p:cNvPr>
              <p:cNvSpPr>
                <a:spLocks noGrp="1" noRot="1" noChangeAspect="1" noMove="1" noResize="1" noEditPoints="1" noAdjustHandles="1" noChangeArrowheads="1" noChangeShapeType="1" noTextEdit="1"/>
              </p:cNvSpPr>
              <p:nvPr>
                <p:ph idx="1"/>
              </p:nvPr>
            </p:nvSpPr>
            <p:spPr>
              <a:blipFill>
                <a:blip r:embed="rId3"/>
                <a:stretch>
                  <a:fillRect l="-1770"/>
                </a:stretch>
              </a:blipFill>
            </p:spPr>
            <p:txBody>
              <a:bodyPr/>
              <a:lstStyle/>
              <a:p>
                <a:r>
                  <a:rPr lang="en-GB">
                    <a:noFill/>
                  </a:rPr>
                  <a:t> </a:t>
                </a:r>
              </a:p>
            </p:txBody>
          </p:sp>
        </mc:Fallback>
      </mc:AlternateContent>
      <p:pic>
        <p:nvPicPr>
          <p:cNvPr id="7" name="Picture 6" descr="A graph with a curve&#10;&#10;Description automatically generated">
            <a:extLst>
              <a:ext uri="{FF2B5EF4-FFF2-40B4-BE49-F238E27FC236}">
                <a16:creationId xmlns:a16="http://schemas.microsoft.com/office/drawing/2014/main" id="{D662EDAD-8168-4274-ACB5-C583D52506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59525" y="0"/>
            <a:ext cx="5751871" cy="6858000"/>
          </a:xfrm>
          <a:prstGeom prst="rect">
            <a:avLst/>
          </a:prstGeom>
        </p:spPr>
      </p:pic>
      <p:pic>
        <p:nvPicPr>
          <p:cNvPr id="4" name="Picture Placeholder 6" descr="A graph on a black background&#10;&#10;Description automatically generated">
            <a:extLst>
              <a:ext uri="{FF2B5EF4-FFF2-40B4-BE49-F238E27FC236}">
                <a16:creationId xmlns:a16="http://schemas.microsoft.com/office/drawing/2014/main" id="{BF941B8C-42C6-16E3-3068-F1ACC500333A}"/>
              </a:ext>
            </a:extLst>
          </p:cNvPr>
          <p:cNvPicPr>
            <a:picLocks noChangeAspect="1"/>
          </p:cNvPicPr>
          <p:nvPr/>
        </p:nvPicPr>
        <p:blipFill>
          <a:blip r:embed="rId5">
            <a:extLst>
              <a:ext uri="{28A0092B-C50C-407E-A947-70E740481C1C}">
                <a14:useLocalDpi xmlns:a14="http://schemas.microsoft.com/office/drawing/2010/main" val="0"/>
              </a:ext>
            </a:extLst>
          </a:blip>
          <a:srcRect t="691" b="691"/>
          <a:stretch>
            <a:fillRect/>
          </a:stretch>
        </p:blipFill>
        <p:spPr>
          <a:xfrm>
            <a:off x="0" y="0"/>
            <a:ext cx="5832475" cy="6858000"/>
          </a:xfrm>
          <a:prstGeom prst="rect">
            <a:avLst/>
          </a:prstGeom>
        </p:spPr>
      </p:pic>
    </p:spTree>
    <p:extLst>
      <p:ext uri="{BB962C8B-B14F-4D97-AF65-F5344CB8AC3E}">
        <p14:creationId xmlns:p14="http://schemas.microsoft.com/office/powerpoint/2010/main" val="2898989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fade">
                                      <p:cBhvr>
                                        <p:cTn id="35" dur="500"/>
                                        <p:tgtEl>
                                          <p:spTgt spid="3">
                                            <p:txEl>
                                              <p:pRg st="6" end="6"/>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fade">
                                      <p:cBhvr>
                                        <p:cTn id="4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E10892C-931D-968C-1AF6-7C7406EF2695}"/>
                  </a:ext>
                </a:extLst>
              </p:cNvPr>
              <p:cNvSpPr>
                <a:spLocks noGrp="1"/>
              </p:cNvSpPr>
              <p:nvPr>
                <p:ph type="title"/>
              </p:nvPr>
            </p:nvSpPr>
            <p:spPr/>
            <p:txBody>
              <a:bodyPr/>
              <a:lstStyle/>
              <a:p>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distribution</a:t>
                </a:r>
              </a:p>
            </p:txBody>
          </p:sp>
        </mc:Choice>
        <mc:Fallback xmlns="">
          <p:sp>
            <p:nvSpPr>
              <p:cNvPr id="2" name="Title 1">
                <a:extLst>
                  <a:ext uri="{FF2B5EF4-FFF2-40B4-BE49-F238E27FC236}">
                    <a16:creationId xmlns:a16="http://schemas.microsoft.com/office/drawing/2014/main" id="{FE10892C-931D-968C-1AF6-7C7406EF2695}"/>
                  </a:ext>
                </a:extLst>
              </p:cNvPr>
              <p:cNvSpPr>
                <a:spLocks noGrp="1" noRot="1" noChangeAspect="1" noMove="1" noResize="1" noEditPoints="1" noAdjustHandles="1" noChangeArrowheads="1" noChangeShapeType="1" noTextEdit="1"/>
              </p:cNvSpPr>
              <p:nvPr>
                <p:ph type="title"/>
              </p:nvPr>
            </p:nvSpPr>
            <p:spPr>
              <a:blipFill>
                <a:blip r:embed="rId2"/>
                <a:stretch>
                  <a:fillRect l="-3638" r="-609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A607332-1264-97CE-703D-40621B803AB7}"/>
                  </a:ext>
                </a:extLst>
              </p:cNvPr>
              <p:cNvSpPr>
                <a:spLocks noGrp="1"/>
              </p:cNvSpPr>
              <p:nvPr>
                <p:ph idx="1"/>
              </p:nvPr>
            </p:nvSpPr>
            <p:spPr/>
            <p:txBody>
              <a:bodyPr>
                <a:normAutofit/>
              </a:bodyPr>
              <a:lstStyle/>
              <a:p>
                <a:r>
                  <a:rPr lang="en-GB" dirty="0"/>
                  <a:t>When using a </a:t>
                </a:r>
                <a14:m>
                  <m:oMath xmlns:m="http://schemas.openxmlformats.org/officeDocument/2006/math">
                    <m:r>
                      <a:rPr lang="en-GB" b="0" i="1" smtClean="0">
                        <a:latin typeface="Cambria Math" panose="02040503050406030204" pitchFamily="18" charset="0"/>
                      </a:rPr>
                      <m:t>𝑁𝑜𝑟𝑚𝑎𝑙</m:t>
                    </m:r>
                  </m:oMath>
                </a14:m>
                <a:r>
                  <a:rPr lang="en-GB" dirty="0"/>
                  <a:t> distribution a big assumption we make is:</a:t>
                </a:r>
              </a:p>
              <a:p>
                <a:pPr lvl="1"/>
                <a:r>
                  <a:rPr lang="en-GB" dirty="0"/>
                  <a:t>The average and range can be anywhere from negative infinity to positive infinity</a:t>
                </a:r>
              </a:p>
              <a:p>
                <a:pPr lvl="1"/>
                <a:r>
                  <a:rPr lang="en-GB" dirty="0"/>
                  <a:t>Meaning the model </a:t>
                </a:r>
                <a:r>
                  <a:rPr lang="en-GB" i="1" dirty="0"/>
                  <a:t>can</a:t>
                </a:r>
                <a:r>
                  <a:rPr lang="en-GB" dirty="0"/>
                  <a:t> predict negative values</a:t>
                </a:r>
              </a:p>
              <a:p>
                <a:pPr lvl="2"/>
                <a:r>
                  <a:rPr lang="en-GB" dirty="0"/>
                  <a:t>E.g. children could be -5 cm tall</a:t>
                </a:r>
              </a:p>
              <a:p>
                <a:pPr lvl="2"/>
                <a:r>
                  <a:rPr lang="en-GB" dirty="0"/>
                  <a:t>Not a problem so long as mean and SD are “far” from zero</a:t>
                </a:r>
              </a:p>
            </p:txBody>
          </p:sp>
        </mc:Choice>
        <mc:Fallback xmlns="">
          <p:sp>
            <p:nvSpPr>
              <p:cNvPr id="3" name="Content Placeholder 2">
                <a:extLst>
                  <a:ext uri="{FF2B5EF4-FFF2-40B4-BE49-F238E27FC236}">
                    <a16:creationId xmlns:a16="http://schemas.microsoft.com/office/drawing/2014/main" id="{DA607332-1264-97CE-703D-40621B803AB7}"/>
                  </a:ext>
                </a:extLst>
              </p:cNvPr>
              <p:cNvSpPr>
                <a:spLocks noGrp="1" noRot="1" noChangeAspect="1" noMove="1" noResize="1" noEditPoints="1" noAdjustHandles="1" noChangeArrowheads="1" noChangeShapeType="1" noTextEdit="1"/>
              </p:cNvSpPr>
              <p:nvPr>
                <p:ph idx="1"/>
              </p:nvPr>
            </p:nvSpPr>
            <p:spPr>
              <a:blipFill>
                <a:blip r:embed="rId3"/>
                <a:stretch>
                  <a:fillRect l="-1770" r="-1967"/>
                </a:stretch>
              </a:blipFill>
            </p:spPr>
            <p:txBody>
              <a:bodyPr/>
              <a:lstStyle/>
              <a:p>
                <a:r>
                  <a:rPr lang="en-GB">
                    <a:noFill/>
                  </a:rPr>
                  <a:t> </a:t>
                </a:r>
              </a:p>
            </p:txBody>
          </p:sp>
        </mc:Fallback>
      </mc:AlternateContent>
      <p:pic>
        <p:nvPicPr>
          <p:cNvPr id="14" name="Picture Placeholder 13" descr="A graph of colored lines&#10;&#10;Description automatically generated">
            <a:extLst>
              <a:ext uri="{FF2B5EF4-FFF2-40B4-BE49-F238E27FC236}">
                <a16:creationId xmlns:a16="http://schemas.microsoft.com/office/drawing/2014/main" id="{69E42237-6D58-443F-DB3E-9CFE35E39DDB}"/>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t="691" b="691"/>
          <a:stretch>
            <a:fillRect/>
          </a:stretch>
        </p:blipFill>
        <p:spPr/>
      </p:pic>
    </p:spTree>
    <p:extLst>
      <p:ext uri="{BB962C8B-B14F-4D97-AF65-F5344CB8AC3E}">
        <p14:creationId xmlns:p14="http://schemas.microsoft.com/office/powerpoint/2010/main" val="3376742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oup of graphs on a black background&#10;&#10;Description automatically generated">
            <a:extLst>
              <a:ext uri="{FF2B5EF4-FFF2-40B4-BE49-F238E27FC236}">
                <a16:creationId xmlns:a16="http://schemas.microsoft.com/office/drawing/2014/main" id="{831DFF14-4E23-F140-5F80-0B4E13B8E7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6300" y="1141549"/>
            <a:ext cx="6035147" cy="5632207"/>
          </a:xfrm>
          <a:prstGeom prst="rect">
            <a:avLst/>
          </a:prstGeom>
        </p:spPr>
      </p:pic>
      <p:sp>
        <p:nvSpPr>
          <p:cNvPr id="2" name="Title 1">
            <a:extLst>
              <a:ext uri="{FF2B5EF4-FFF2-40B4-BE49-F238E27FC236}">
                <a16:creationId xmlns:a16="http://schemas.microsoft.com/office/drawing/2014/main" id="{88803D7C-DAF8-A641-B668-CE229C7F17B5}"/>
              </a:ext>
            </a:extLst>
          </p:cNvPr>
          <p:cNvSpPr>
            <a:spLocks noGrp="1"/>
          </p:cNvSpPr>
          <p:nvPr>
            <p:ph type="title"/>
          </p:nvPr>
        </p:nvSpPr>
        <p:spPr>
          <a:xfrm>
            <a:off x="0" y="0"/>
            <a:ext cx="12192000" cy="1325563"/>
          </a:xfrm>
        </p:spPr>
        <p:txBody>
          <a:bodyPr>
            <a:normAutofit/>
          </a:bodyPr>
          <a:lstStyle/>
          <a:p>
            <a:pPr algn="ctr"/>
            <a:r>
              <a:rPr lang="en-GB" sz="5400" dirty="0">
                <a:latin typeface="Bahnschrift Light" panose="020B0502040204020203" pitchFamily="34" charset="0"/>
              </a:rPr>
              <a:t>Beware the </a:t>
            </a:r>
            <a:r>
              <a:rPr lang="en-GB" sz="5400" dirty="0" err="1">
                <a:latin typeface="Bahnschrift Light" panose="020B0502040204020203" pitchFamily="34" charset="0"/>
              </a:rPr>
              <a:t>histomancer</a:t>
            </a:r>
            <a:endParaRPr lang="en-GB" sz="5400" dirty="0">
              <a:latin typeface="Bahnschrift Light" panose="020B0502040204020203" pitchFamily="34" charset="0"/>
            </a:endParaRPr>
          </a:p>
        </p:txBody>
      </p:sp>
      <p:sp>
        <p:nvSpPr>
          <p:cNvPr id="3" name="Content Placeholder 2">
            <a:extLst>
              <a:ext uri="{FF2B5EF4-FFF2-40B4-BE49-F238E27FC236}">
                <a16:creationId xmlns:a16="http://schemas.microsoft.com/office/drawing/2014/main" id="{53CFBA6F-FFE0-43B0-753F-6E3B955C3570}"/>
              </a:ext>
            </a:extLst>
          </p:cNvPr>
          <p:cNvSpPr>
            <a:spLocks noGrp="1"/>
          </p:cNvSpPr>
          <p:nvPr>
            <p:ph idx="1"/>
          </p:nvPr>
        </p:nvSpPr>
        <p:spPr>
          <a:xfrm>
            <a:off x="838200" y="2256089"/>
            <a:ext cx="4991100" cy="3920873"/>
          </a:xfrm>
        </p:spPr>
        <p:txBody>
          <a:bodyPr>
            <a:normAutofit/>
          </a:bodyPr>
          <a:lstStyle/>
          <a:p>
            <a:r>
              <a:rPr lang="en-GB" dirty="0">
                <a:latin typeface="Bahnschrift Light" panose="020B0502040204020203" pitchFamily="34" charset="0"/>
              </a:rPr>
              <a:t>Don’t plot histograms or do tests to “determine” the distribution.</a:t>
            </a:r>
          </a:p>
          <a:p>
            <a:r>
              <a:rPr lang="en-GB" dirty="0">
                <a:latin typeface="Bahnschrift Light" panose="020B0502040204020203" pitchFamily="34" charset="0"/>
              </a:rPr>
              <a:t>Think about the data:</a:t>
            </a:r>
          </a:p>
          <a:p>
            <a:pPr lvl="1"/>
            <a:r>
              <a:rPr lang="en-GB" dirty="0">
                <a:latin typeface="Bahnschrift Light" panose="020B0502040204020203" pitchFamily="34" charset="0"/>
              </a:rPr>
              <a:t>What kind of values could I measure?</a:t>
            </a:r>
          </a:p>
          <a:p>
            <a:pPr lvl="1"/>
            <a:r>
              <a:rPr lang="en-GB" dirty="0">
                <a:latin typeface="Bahnschrift Light" panose="020B0502040204020203" pitchFamily="34" charset="0"/>
              </a:rPr>
              <a:t>Are there limits to the values I could measure?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625E56E-E6CF-3224-48D2-1A653F0D21C1}"/>
                  </a:ext>
                </a:extLst>
              </p:cNvPr>
              <p:cNvSpPr txBox="1"/>
              <p:nvPr/>
            </p:nvSpPr>
            <p:spPr>
              <a:xfrm>
                <a:off x="7003847"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6" name="TextBox 5">
                <a:extLst>
                  <a:ext uri="{FF2B5EF4-FFF2-40B4-BE49-F238E27FC236}">
                    <a16:creationId xmlns:a16="http://schemas.microsoft.com/office/drawing/2014/main" id="{0625E56E-E6CF-3224-48D2-1A653F0D21C1}"/>
                  </a:ext>
                </a:extLst>
              </p:cNvPr>
              <p:cNvSpPr txBox="1">
                <a:spLocks noRot="1" noChangeAspect="1" noMove="1" noResize="1" noEditPoints="1" noAdjustHandles="1" noChangeArrowheads="1" noChangeShapeType="1" noTextEdit="1"/>
              </p:cNvSpPr>
              <p:nvPr/>
            </p:nvSpPr>
            <p:spPr>
              <a:xfrm>
                <a:off x="7003847" y="3059668"/>
                <a:ext cx="1039965" cy="369332"/>
              </a:xfrm>
              <a:prstGeom prst="rect">
                <a:avLst/>
              </a:prstGeom>
              <a:blipFill>
                <a:blip r:embed="rId3"/>
                <a:stretch>
                  <a:fillRect t="-11475" r="-7018"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73B1C8E-492B-ECC6-A540-9AA713CBD4AE}"/>
                  </a:ext>
                </a:extLst>
              </p:cNvPr>
              <p:cNvSpPr txBox="1"/>
              <p:nvPr/>
            </p:nvSpPr>
            <p:spPr>
              <a:xfrm>
                <a:off x="9975798" y="3059668"/>
                <a:ext cx="1039965"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𝑁𝑜𝑟𝑚𝑎𝑙</m:t>
                      </m:r>
                    </m:oMath>
                  </m:oMathPara>
                </a14:m>
                <a:endParaRPr lang="en-GB" dirty="0"/>
              </a:p>
            </p:txBody>
          </p:sp>
        </mc:Choice>
        <mc:Fallback xmlns="">
          <p:sp>
            <p:nvSpPr>
              <p:cNvPr id="7" name="TextBox 6">
                <a:extLst>
                  <a:ext uri="{FF2B5EF4-FFF2-40B4-BE49-F238E27FC236}">
                    <a16:creationId xmlns:a16="http://schemas.microsoft.com/office/drawing/2014/main" id="{B73B1C8E-492B-ECC6-A540-9AA713CBD4AE}"/>
                  </a:ext>
                </a:extLst>
              </p:cNvPr>
              <p:cNvSpPr txBox="1">
                <a:spLocks noRot="1" noChangeAspect="1" noMove="1" noResize="1" noEditPoints="1" noAdjustHandles="1" noChangeArrowheads="1" noChangeShapeType="1" noTextEdit="1"/>
              </p:cNvSpPr>
              <p:nvPr/>
            </p:nvSpPr>
            <p:spPr>
              <a:xfrm>
                <a:off x="9975798" y="3059668"/>
                <a:ext cx="1039965" cy="369332"/>
              </a:xfrm>
              <a:prstGeom prst="rect">
                <a:avLst/>
              </a:prstGeom>
              <a:blipFill>
                <a:blip r:embed="rId4"/>
                <a:stretch>
                  <a:fillRect t="-11475" r="-7602"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508903A-CCFC-0D0D-9741-BC207CBD47C0}"/>
                  </a:ext>
                </a:extLst>
              </p:cNvPr>
              <p:cNvSpPr txBox="1"/>
              <p:nvPr/>
            </p:nvSpPr>
            <p:spPr>
              <a:xfrm>
                <a:off x="6991152" y="5805012"/>
                <a:ext cx="1052660"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𝑃𝑜𝑖𝑠𝑠𝑜𝑛</m:t>
                      </m:r>
                    </m:oMath>
                  </m:oMathPara>
                </a14:m>
                <a:endParaRPr lang="en-GB" dirty="0"/>
              </a:p>
            </p:txBody>
          </p:sp>
        </mc:Choice>
        <mc:Fallback xmlns="">
          <p:sp>
            <p:nvSpPr>
              <p:cNvPr id="8" name="TextBox 7">
                <a:extLst>
                  <a:ext uri="{FF2B5EF4-FFF2-40B4-BE49-F238E27FC236}">
                    <a16:creationId xmlns:a16="http://schemas.microsoft.com/office/drawing/2014/main" id="{4508903A-CCFC-0D0D-9741-BC207CBD47C0}"/>
                  </a:ext>
                </a:extLst>
              </p:cNvPr>
              <p:cNvSpPr txBox="1">
                <a:spLocks noRot="1" noChangeAspect="1" noMove="1" noResize="1" noEditPoints="1" noAdjustHandles="1" noChangeArrowheads="1" noChangeShapeType="1" noTextEdit="1"/>
              </p:cNvSpPr>
              <p:nvPr/>
            </p:nvSpPr>
            <p:spPr>
              <a:xfrm>
                <a:off x="6991152" y="5805012"/>
                <a:ext cx="1052660" cy="369332"/>
              </a:xfrm>
              <a:prstGeom prst="rect">
                <a:avLst/>
              </a:prstGeom>
              <a:blipFill>
                <a:blip r:embed="rId5"/>
                <a:stretch>
                  <a:fillRect t="-9836" r="-6936" b="-229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E8D818-4FA9-4091-0D39-7219B9257156}"/>
                  </a:ext>
                </a:extLst>
              </p:cNvPr>
              <p:cNvSpPr txBox="1"/>
              <p:nvPr/>
            </p:nvSpPr>
            <p:spPr>
              <a:xfrm>
                <a:off x="10131323" y="5805012"/>
                <a:ext cx="728917" cy="369332"/>
              </a:xfrm>
              <a:prstGeom prst="rect">
                <a:avLst/>
              </a:prstGeom>
              <a:solidFill>
                <a:srgbClr val="000000">
                  <a:alpha val="58824"/>
                </a:srgbClr>
              </a:solid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𝐵𝑒𝑡𝑎</m:t>
                      </m:r>
                    </m:oMath>
                  </m:oMathPara>
                </a14:m>
                <a:endParaRPr lang="en-GB" dirty="0"/>
              </a:p>
            </p:txBody>
          </p:sp>
        </mc:Choice>
        <mc:Fallback xmlns="">
          <p:sp>
            <p:nvSpPr>
              <p:cNvPr id="14" name="TextBox 13">
                <a:extLst>
                  <a:ext uri="{FF2B5EF4-FFF2-40B4-BE49-F238E27FC236}">
                    <a16:creationId xmlns:a16="http://schemas.microsoft.com/office/drawing/2014/main" id="{9FE8D818-4FA9-4091-0D39-7219B9257156}"/>
                  </a:ext>
                </a:extLst>
              </p:cNvPr>
              <p:cNvSpPr txBox="1">
                <a:spLocks noRot="1" noChangeAspect="1" noMove="1" noResize="1" noEditPoints="1" noAdjustHandles="1" noChangeArrowheads="1" noChangeShapeType="1" noTextEdit="1"/>
              </p:cNvSpPr>
              <p:nvPr/>
            </p:nvSpPr>
            <p:spPr>
              <a:xfrm>
                <a:off x="10131323" y="5805012"/>
                <a:ext cx="728917" cy="369332"/>
              </a:xfrm>
              <a:prstGeom prst="rect">
                <a:avLst/>
              </a:prstGeom>
              <a:blipFill>
                <a:blip r:embed="rId6"/>
                <a:stretch>
                  <a:fillRect t="-9836" r="-10833" b="-22951"/>
                </a:stretch>
              </a:blipFill>
            </p:spPr>
            <p:txBody>
              <a:bodyPr/>
              <a:lstStyle/>
              <a:p>
                <a:r>
                  <a:rPr lang="en-GB">
                    <a:noFill/>
                  </a:rPr>
                  <a:t> </a:t>
                </a:r>
              </a:p>
            </p:txBody>
          </p:sp>
        </mc:Fallback>
      </mc:AlternateContent>
    </p:spTree>
    <p:extLst>
      <p:ext uri="{BB962C8B-B14F-4D97-AF65-F5344CB8AC3E}">
        <p14:creationId xmlns:p14="http://schemas.microsoft.com/office/powerpoint/2010/main" val="2661866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fade">
                                      <p:cBhvr>
                                        <p:cTn id="37" dur="500"/>
                                        <p:tgtEl>
                                          <p:spTgt spid="3">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
                                            <p:txEl>
                                              <p:pRg st="2" end="2"/>
                                            </p:txEl>
                                          </p:spTgt>
                                        </p:tgtEl>
                                        <p:attrNameLst>
                                          <p:attrName>style.visibility</p:attrName>
                                        </p:attrNameLst>
                                      </p:cBhvr>
                                      <p:to>
                                        <p:strVal val="visible"/>
                                      </p:to>
                                    </p:set>
                                    <p:animEffect transition="in" filter="fade">
                                      <p:cBhvr>
                                        <p:cTn id="40" dur="500"/>
                                        <p:tgtEl>
                                          <p:spTgt spid="3">
                                            <p:txEl>
                                              <p:pRg st="2" end="2"/>
                                            </p:txEl>
                                          </p:spTgt>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
                                            <p:txEl>
                                              <p:pRg st="3" end="3"/>
                                            </p:txEl>
                                          </p:spTgt>
                                        </p:tgtEl>
                                        <p:attrNameLst>
                                          <p:attrName>style.visibility</p:attrName>
                                        </p:attrNameLst>
                                      </p:cBhvr>
                                      <p:to>
                                        <p:strVal val="visible"/>
                                      </p:to>
                                    </p:set>
                                    <p:animEffect transition="in" filter="fade">
                                      <p:cBhvr>
                                        <p:cTn id="4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P spid="1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D751-B33A-A35F-8BF6-693F4328A859}"/>
              </a:ext>
            </a:extLst>
          </p:cNvPr>
          <p:cNvSpPr>
            <a:spLocks noGrp="1"/>
          </p:cNvSpPr>
          <p:nvPr>
            <p:ph type="title"/>
          </p:nvPr>
        </p:nvSpPr>
        <p:spPr/>
        <p:txBody>
          <a:bodyPr/>
          <a:lstStyle/>
          <a:p>
            <a:r>
              <a:rPr lang="en-GB" dirty="0"/>
              <a:t>“Do you drink coffee?”</a:t>
            </a:r>
          </a:p>
        </p:txBody>
      </p:sp>
    </p:spTree>
    <p:extLst>
      <p:ext uri="{BB962C8B-B14F-4D97-AF65-F5344CB8AC3E}">
        <p14:creationId xmlns:p14="http://schemas.microsoft.com/office/powerpoint/2010/main" val="2200621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38B73-6E32-409C-1023-056F958FFBB4}"/>
              </a:ext>
            </a:extLst>
          </p:cNvPr>
          <p:cNvPicPr>
            <a:picLocks noChangeAspect="1"/>
          </p:cNvPicPr>
          <p:nvPr/>
        </p:nvPicPr>
        <p:blipFill>
          <a:blip r:embed="rId2"/>
          <a:stretch>
            <a:fillRect/>
          </a:stretch>
        </p:blipFill>
        <p:spPr>
          <a:xfrm>
            <a:off x="4562642" y="2380929"/>
            <a:ext cx="2826587" cy="1882886"/>
          </a:xfrm>
          <a:prstGeom prst="rect">
            <a:avLst/>
          </a:prstGeom>
          <a:ln>
            <a:noFill/>
          </a:ln>
        </p:spPr>
      </p:pic>
      <p:sp>
        <p:nvSpPr>
          <p:cNvPr id="6" name="TextBox 5">
            <a:extLst>
              <a:ext uri="{FF2B5EF4-FFF2-40B4-BE49-F238E27FC236}">
                <a16:creationId xmlns:a16="http://schemas.microsoft.com/office/drawing/2014/main" id="{8C639B57-FA4D-4C98-A22A-5E8C91A33933}"/>
              </a:ext>
            </a:extLst>
          </p:cNvPr>
          <p:cNvSpPr txBox="1"/>
          <p:nvPr/>
        </p:nvSpPr>
        <p:spPr>
          <a:xfrm>
            <a:off x="5361615" y="378325"/>
            <a:ext cx="1407253" cy="584775"/>
          </a:xfrm>
          <a:prstGeom prst="rect">
            <a:avLst/>
          </a:prstGeom>
          <a:noFill/>
          <a:ln w="19050">
            <a:solidFill>
              <a:schemeClr val="tx1"/>
            </a:solidFill>
          </a:ln>
        </p:spPr>
        <p:txBody>
          <a:bodyPr wrap="square">
            <a:spAutoFit/>
          </a:bodyPr>
          <a:lstStyle/>
          <a:p>
            <a:pPr algn="ctr"/>
            <a:r>
              <a:rPr lang="en-US" sz="1600" dirty="0"/>
              <a:t>Parents drink coffee</a:t>
            </a:r>
            <a:endParaRPr lang="en-GB" sz="1600" dirty="0"/>
          </a:p>
        </p:txBody>
      </p:sp>
      <p:sp>
        <p:nvSpPr>
          <p:cNvPr id="10" name="TextBox 9">
            <a:extLst>
              <a:ext uri="{FF2B5EF4-FFF2-40B4-BE49-F238E27FC236}">
                <a16:creationId xmlns:a16="http://schemas.microsoft.com/office/drawing/2014/main" id="{74B17ACE-CFBC-454D-8412-2755FDE1B9B2}"/>
              </a:ext>
            </a:extLst>
          </p:cNvPr>
          <p:cNvSpPr txBox="1"/>
          <p:nvPr/>
        </p:nvSpPr>
        <p:spPr>
          <a:xfrm>
            <a:off x="1755397" y="1359992"/>
            <a:ext cx="1783159" cy="1077218"/>
          </a:xfrm>
          <a:prstGeom prst="rect">
            <a:avLst/>
          </a:prstGeom>
          <a:noFill/>
          <a:ln w="19050">
            <a:solidFill>
              <a:schemeClr val="tx1"/>
            </a:solidFill>
          </a:ln>
        </p:spPr>
        <p:txBody>
          <a:bodyPr wrap="square">
            <a:spAutoFit/>
          </a:bodyPr>
          <a:lstStyle/>
          <a:p>
            <a:pPr algn="ctr"/>
            <a:r>
              <a:rPr lang="en-US" sz="1600" dirty="0"/>
              <a:t>Watched TV where mature characters drank coffee?</a:t>
            </a:r>
            <a:endParaRPr lang="en-GB" sz="1600" dirty="0"/>
          </a:p>
        </p:txBody>
      </p:sp>
      <p:sp>
        <p:nvSpPr>
          <p:cNvPr id="12" name="TextBox 11">
            <a:extLst>
              <a:ext uri="{FF2B5EF4-FFF2-40B4-BE49-F238E27FC236}">
                <a16:creationId xmlns:a16="http://schemas.microsoft.com/office/drawing/2014/main" id="{C64ABAB3-54AF-41D9-AA13-6BEF1DE98DC7}"/>
              </a:ext>
            </a:extLst>
          </p:cNvPr>
          <p:cNvSpPr txBox="1"/>
          <p:nvPr/>
        </p:nvSpPr>
        <p:spPr>
          <a:xfrm>
            <a:off x="2902918" y="2865829"/>
            <a:ext cx="1620124" cy="830997"/>
          </a:xfrm>
          <a:prstGeom prst="rect">
            <a:avLst/>
          </a:prstGeom>
          <a:noFill/>
          <a:ln w="19050">
            <a:solidFill>
              <a:schemeClr val="tx1"/>
            </a:solidFill>
          </a:ln>
        </p:spPr>
        <p:txBody>
          <a:bodyPr wrap="square">
            <a:spAutoFit/>
          </a:bodyPr>
          <a:lstStyle/>
          <a:p>
            <a:pPr algn="ctr"/>
            <a:r>
              <a:rPr lang="en-US" sz="1600" dirty="0"/>
              <a:t>Wanted to emulate characters?</a:t>
            </a:r>
            <a:endParaRPr lang="en-GB" sz="1600" dirty="0"/>
          </a:p>
        </p:txBody>
      </p:sp>
      <p:sp>
        <p:nvSpPr>
          <p:cNvPr id="14" name="TextBox 13">
            <a:extLst>
              <a:ext uri="{FF2B5EF4-FFF2-40B4-BE49-F238E27FC236}">
                <a16:creationId xmlns:a16="http://schemas.microsoft.com/office/drawing/2014/main" id="{087A1222-158F-404C-A7BD-F1CB5065D057}"/>
              </a:ext>
            </a:extLst>
          </p:cNvPr>
          <p:cNvSpPr txBox="1"/>
          <p:nvPr/>
        </p:nvSpPr>
        <p:spPr>
          <a:xfrm>
            <a:off x="242481" y="255215"/>
            <a:ext cx="2273416" cy="830997"/>
          </a:xfrm>
          <a:prstGeom prst="rect">
            <a:avLst/>
          </a:prstGeom>
          <a:noFill/>
          <a:ln w="19050">
            <a:solidFill>
              <a:schemeClr val="tx1"/>
            </a:solidFill>
          </a:ln>
        </p:spPr>
        <p:txBody>
          <a:bodyPr wrap="square">
            <a:spAutoFit/>
          </a:bodyPr>
          <a:lstStyle/>
          <a:p>
            <a:pPr algn="ctr"/>
            <a:r>
              <a:rPr lang="en-US" sz="1600" dirty="0"/>
              <a:t>From a culture where drinking coffee in the morning is normal?</a:t>
            </a:r>
            <a:endParaRPr lang="en-GB" sz="1600" dirty="0"/>
          </a:p>
        </p:txBody>
      </p:sp>
      <p:sp>
        <p:nvSpPr>
          <p:cNvPr id="16" name="TextBox 15">
            <a:extLst>
              <a:ext uri="{FF2B5EF4-FFF2-40B4-BE49-F238E27FC236}">
                <a16:creationId xmlns:a16="http://schemas.microsoft.com/office/drawing/2014/main" id="{6B4B51C2-9291-492C-865D-54B951680CA1}"/>
              </a:ext>
            </a:extLst>
          </p:cNvPr>
          <p:cNvSpPr txBox="1"/>
          <p:nvPr/>
        </p:nvSpPr>
        <p:spPr>
          <a:xfrm>
            <a:off x="1755397" y="3974514"/>
            <a:ext cx="1783159" cy="584775"/>
          </a:xfrm>
          <a:prstGeom prst="rect">
            <a:avLst/>
          </a:prstGeom>
          <a:noFill/>
          <a:ln w="19050">
            <a:solidFill>
              <a:schemeClr val="tx1"/>
            </a:solidFill>
          </a:ln>
        </p:spPr>
        <p:txBody>
          <a:bodyPr wrap="square">
            <a:spAutoFit/>
          </a:bodyPr>
          <a:lstStyle/>
          <a:p>
            <a:pPr algn="ctr"/>
            <a:r>
              <a:rPr lang="en-US" sz="1600" dirty="0"/>
              <a:t>Drinks tea instead of coffee?</a:t>
            </a:r>
            <a:endParaRPr lang="en-GB" sz="1600" dirty="0"/>
          </a:p>
        </p:txBody>
      </p:sp>
      <p:sp>
        <p:nvSpPr>
          <p:cNvPr id="18" name="TextBox 17">
            <a:extLst>
              <a:ext uri="{FF2B5EF4-FFF2-40B4-BE49-F238E27FC236}">
                <a16:creationId xmlns:a16="http://schemas.microsoft.com/office/drawing/2014/main" id="{5538ADB1-2F28-42FA-96B1-B37B448BE58E}"/>
              </a:ext>
            </a:extLst>
          </p:cNvPr>
          <p:cNvSpPr txBox="1"/>
          <p:nvPr/>
        </p:nvSpPr>
        <p:spPr>
          <a:xfrm>
            <a:off x="5353225" y="6436711"/>
            <a:ext cx="1415643" cy="338554"/>
          </a:xfrm>
          <a:prstGeom prst="rect">
            <a:avLst/>
          </a:prstGeom>
          <a:noFill/>
          <a:ln w="19050">
            <a:solidFill>
              <a:schemeClr val="tx1"/>
            </a:solidFill>
          </a:ln>
        </p:spPr>
        <p:txBody>
          <a:bodyPr wrap="square">
            <a:spAutoFit/>
          </a:bodyPr>
          <a:lstStyle/>
          <a:p>
            <a:pPr algn="ctr"/>
            <a:r>
              <a:rPr lang="en-US" sz="1600" dirty="0"/>
              <a:t>Is hungover?</a:t>
            </a:r>
            <a:endParaRPr lang="en-GB" sz="1600" dirty="0"/>
          </a:p>
        </p:txBody>
      </p:sp>
      <p:sp>
        <p:nvSpPr>
          <p:cNvPr id="20" name="TextBox 19">
            <a:extLst>
              <a:ext uri="{FF2B5EF4-FFF2-40B4-BE49-F238E27FC236}">
                <a16:creationId xmlns:a16="http://schemas.microsoft.com/office/drawing/2014/main" id="{3EA77027-5EEC-4C77-A9EF-A208402B013E}"/>
              </a:ext>
            </a:extLst>
          </p:cNvPr>
          <p:cNvSpPr txBox="1"/>
          <p:nvPr/>
        </p:nvSpPr>
        <p:spPr>
          <a:xfrm>
            <a:off x="5252555" y="4953319"/>
            <a:ext cx="1625367" cy="1077218"/>
          </a:xfrm>
          <a:prstGeom prst="rect">
            <a:avLst/>
          </a:prstGeom>
          <a:noFill/>
          <a:ln w="19050">
            <a:solidFill>
              <a:schemeClr val="tx1"/>
            </a:solidFill>
          </a:ln>
        </p:spPr>
        <p:txBody>
          <a:bodyPr wrap="square">
            <a:spAutoFit/>
          </a:bodyPr>
          <a:lstStyle/>
          <a:p>
            <a:pPr algn="ctr"/>
            <a:r>
              <a:rPr lang="en-US" sz="1600" dirty="0"/>
              <a:t>Believe drinking coffee helps with a hangover?</a:t>
            </a:r>
            <a:endParaRPr lang="en-GB" sz="1600" dirty="0"/>
          </a:p>
        </p:txBody>
      </p:sp>
      <p:sp>
        <p:nvSpPr>
          <p:cNvPr id="22" name="TextBox 21">
            <a:extLst>
              <a:ext uri="{FF2B5EF4-FFF2-40B4-BE49-F238E27FC236}">
                <a16:creationId xmlns:a16="http://schemas.microsoft.com/office/drawing/2014/main" id="{8D295F01-AD51-4CB9-BA19-C32D89C37A80}"/>
              </a:ext>
            </a:extLst>
          </p:cNvPr>
          <p:cNvSpPr txBox="1"/>
          <p:nvPr/>
        </p:nvSpPr>
        <p:spPr>
          <a:xfrm>
            <a:off x="10549979" y="5845015"/>
            <a:ext cx="1541477" cy="830997"/>
          </a:xfrm>
          <a:prstGeom prst="rect">
            <a:avLst/>
          </a:prstGeom>
          <a:noFill/>
          <a:ln w="19050">
            <a:solidFill>
              <a:schemeClr val="tx1"/>
            </a:solidFill>
          </a:ln>
        </p:spPr>
        <p:txBody>
          <a:bodyPr wrap="square">
            <a:spAutoFit/>
          </a:bodyPr>
          <a:lstStyle/>
          <a:p>
            <a:pPr algn="ctr"/>
            <a:r>
              <a:rPr lang="en-US" sz="1600" dirty="0"/>
              <a:t>Saw a butterfly this morning?</a:t>
            </a:r>
            <a:endParaRPr lang="en-GB" sz="1600" dirty="0"/>
          </a:p>
        </p:txBody>
      </p:sp>
      <p:sp>
        <p:nvSpPr>
          <p:cNvPr id="24" name="TextBox 23">
            <a:extLst>
              <a:ext uri="{FF2B5EF4-FFF2-40B4-BE49-F238E27FC236}">
                <a16:creationId xmlns:a16="http://schemas.microsoft.com/office/drawing/2014/main" id="{057D5324-DF36-48B8-9ECE-14BB3F8CD03D}"/>
              </a:ext>
            </a:extLst>
          </p:cNvPr>
          <p:cNvSpPr txBox="1"/>
          <p:nvPr/>
        </p:nvSpPr>
        <p:spPr>
          <a:xfrm>
            <a:off x="9680048" y="4397292"/>
            <a:ext cx="1783159" cy="1077218"/>
          </a:xfrm>
          <a:prstGeom prst="rect">
            <a:avLst/>
          </a:prstGeom>
          <a:noFill/>
          <a:ln w="19050">
            <a:solidFill>
              <a:schemeClr val="tx1"/>
            </a:solidFill>
          </a:ln>
        </p:spPr>
        <p:txBody>
          <a:bodyPr wrap="square">
            <a:spAutoFit/>
          </a:bodyPr>
          <a:lstStyle/>
          <a:p>
            <a:pPr algn="ctr"/>
            <a:r>
              <a:rPr lang="en-US" sz="1600" dirty="0"/>
              <a:t>Grandparent’s room had butterflies in the wallpaper?</a:t>
            </a:r>
            <a:endParaRPr lang="en-GB" sz="1600" dirty="0"/>
          </a:p>
        </p:txBody>
      </p:sp>
      <p:sp>
        <p:nvSpPr>
          <p:cNvPr id="26" name="TextBox 25">
            <a:extLst>
              <a:ext uri="{FF2B5EF4-FFF2-40B4-BE49-F238E27FC236}">
                <a16:creationId xmlns:a16="http://schemas.microsoft.com/office/drawing/2014/main" id="{ECBA7146-D837-4BFE-B2FC-7BF1E98553C9}"/>
              </a:ext>
            </a:extLst>
          </p:cNvPr>
          <p:cNvSpPr txBox="1"/>
          <p:nvPr/>
        </p:nvSpPr>
        <p:spPr>
          <a:xfrm>
            <a:off x="9227563" y="3179159"/>
            <a:ext cx="1783159" cy="830997"/>
          </a:xfrm>
          <a:prstGeom prst="rect">
            <a:avLst/>
          </a:prstGeom>
          <a:noFill/>
          <a:ln w="19050">
            <a:solidFill>
              <a:schemeClr val="tx1"/>
            </a:solidFill>
          </a:ln>
        </p:spPr>
        <p:txBody>
          <a:bodyPr wrap="square">
            <a:spAutoFit/>
          </a:bodyPr>
          <a:lstStyle/>
          <a:p>
            <a:pPr algn="ctr"/>
            <a:r>
              <a:rPr lang="en-US" sz="1600" dirty="0"/>
              <a:t>Grandparent used to grind coffee by hand?</a:t>
            </a:r>
            <a:endParaRPr lang="en-GB" sz="1600" dirty="0"/>
          </a:p>
        </p:txBody>
      </p:sp>
      <p:sp>
        <p:nvSpPr>
          <p:cNvPr id="28" name="TextBox 27">
            <a:extLst>
              <a:ext uri="{FF2B5EF4-FFF2-40B4-BE49-F238E27FC236}">
                <a16:creationId xmlns:a16="http://schemas.microsoft.com/office/drawing/2014/main" id="{701FD862-F6F9-40B0-8B2D-D0B3A5F943AC}"/>
              </a:ext>
            </a:extLst>
          </p:cNvPr>
          <p:cNvSpPr txBox="1"/>
          <p:nvPr/>
        </p:nvSpPr>
        <p:spPr>
          <a:xfrm>
            <a:off x="7784184" y="2008435"/>
            <a:ext cx="2399250" cy="584775"/>
          </a:xfrm>
          <a:prstGeom prst="rect">
            <a:avLst/>
          </a:prstGeom>
          <a:noFill/>
          <a:ln w="19050">
            <a:solidFill>
              <a:schemeClr val="tx1"/>
            </a:solidFill>
          </a:ln>
        </p:spPr>
        <p:txBody>
          <a:bodyPr wrap="square">
            <a:spAutoFit/>
          </a:bodyPr>
          <a:lstStyle/>
          <a:p>
            <a:pPr algn="ctr"/>
            <a:r>
              <a:rPr lang="en-US" sz="1600" dirty="0"/>
              <a:t>Was nostalgic for grandparent’s coffee?</a:t>
            </a:r>
            <a:endParaRPr lang="en-GB" sz="1600" dirty="0"/>
          </a:p>
        </p:txBody>
      </p:sp>
      <p:sp>
        <p:nvSpPr>
          <p:cNvPr id="29" name="Oval 28">
            <a:extLst>
              <a:ext uri="{FF2B5EF4-FFF2-40B4-BE49-F238E27FC236}">
                <a16:creationId xmlns:a16="http://schemas.microsoft.com/office/drawing/2014/main" id="{9E2D86AF-820C-49E9-960D-274C6E928762}"/>
              </a:ext>
            </a:extLst>
          </p:cNvPr>
          <p:cNvSpPr/>
          <p:nvPr/>
        </p:nvSpPr>
        <p:spPr>
          <a:xfrm>
            <a:off x="4991450" y="2469313"/>
            <a:ext cx="2147581" cy="208569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6" name="Connector: Elbow 35">
            <a:extLst>
              <a:ext uri="{FF2B5EF4-FFF2-40B4-BE49-F238E27FC236}">
                <a16:creationId xmlns:a16="http://schemas.microsoft.com/office/drawing/2014/main" id="{AA2C6BB7-8CC6-49BD-9083-151ABD8B0B94}"/>
              </a:ext>
            </a:extLst>
          </p:cNvPr>
          <p:cNvCxnSpPr>
            <a:stCxn id="14" idx="2"/>
            <a:endCxn id="16" idx="1"/>
          </p:cNvCxnSpPr>
          <p:nvPr/>
        </p:nvCxnSpPr>
        <p:spPr>
          <a:xfrm rot="16200000" flipH="1">
            <a:off x="-23052" y="2488453"/>
            <a:ext cx="3180690" cy="37620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F2E38404-025A-4597-A1E8-AD85305108EC}"/>
              </a:ext>
            </a:extLst>
          </p:cNvPr>
          <p:cNvCxnSpPr>
            <a:stCxn id="14" idx="3"/>
            <a:endCxn id="10" idx="0"/>
          </p:cNvCxnSpPr>
          <p:nvPr/>
        </p:nvCxnSpPr>
        <p:spPr>
          <a:xfrm>
            <a:off x="2515897" y="670714"/>
            <a:ext cx="131080" cy="68927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453D70BD-ED09-42A4-BD37-C8F18259DCF6}"/>
              </a:ext>
            </a:extLst>
          </p:cNvPr>
          <p:cNvCxnSpPr>
            <a:stCxn id="10" idx="3"/>
            <a:endCxn id="12" idx="0"/>
          </p:cNvCxnSpPr>
          <p:nvPr/>
        </p:nvCxnSpPr>
        <p:spPr>
          <a:xfrm>
            <a:off x="3538556" y="1898601"/>
            <a:ext cx="174424" cy="967228"/>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67E55B9-28C9-4892-AEA1-137DC9EE27C8}"/>
              </a:ext>
            </a:extLst>
          </p:cNvPr>
          <p:cNvCxnSpPr>
            <a:stCxn id="12" idx="3"/>
            <a:endCxn id="29" idx="2"/>
          </p:cNvCxnSpPr>
          <p:nvPr/>
        </p:nvCxnSpPr>
        <p:spPr>
          <a:xfrm>
            <a:off x="4523042" y="3281328"/>
            <a:ext cx="468408" cy="230832"/>
          </a:xfrm>
          <a:prstGeom prst="bentConnector3">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20A43608-2A73-4E4C-9000-DED1CFC482ED}"/>
              </a:ext>
            </a:extLst>
          </p:cNvPr>
          <p:cNvCxnSpPr>
            <a:stCxn id="6" idx="2"/>
            <a:endCxn id="29" idx="0"/>
          </p:cNvCxnSpPr>
          <p:nvPr/>
        </p:nvCxnSpPr>
        <p:spPr>
          <a:xfrm rot="5400000">
            <a:off x="5312136" y="1716206"/>
            <a:ext cx="1506213"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E579FB9E-AA4B-4E3D-B8E4-C2C32CAE704A}"/>
              </a:ext>
            </a:extLst>
          </p:cNvPr>
          <p:cNvCxnSpPr>
            <a:stCxn id="22" idx="0"/>
            <a:endCxn id="24" idx="2"/>
          </p:cNvCxnSpPr>
          <p:nvPr/>
        </p:nvCxnSpPr>
        <p:spPr>
          <a:xfrm rot="16200000" flipV="1">
            <a:off x="10760921" y="5285218"/>
            <a:ext cx="370505" cy="749090"/>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0261502F-6CAA-44E2-8907-845416A80AA8}"/>
              </a:ext>
            </a:extLst>
          </p:cNvPr>
          <p:cNvCxnSpPr>
            <a:stCxn id="24" idx="0"/>
            <a:endCxn id="26" idx="2"/>
          </p:cNvCxnSpPr>
          <p:nvPr/>
        </p:nvCxnSpPr>
        <p:spPr>
          <a:xfrm rot="16200000" flipV="1">
            <a:off x="10151818" y="3977481"/>
            <a:ext cx="387136" cy="452485"/>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506CACB-8EC8-4F3B-8266-5C5CF2C67D4B}"/>
              </a:ext>
            </a:extLst>
          </p:cNvPr>
          <p:cNvCxnSpPr>
            <a:stCxn id="26" idx="0"/>
            <a:endCxn id="28" idx="2"/>
          </p:cNvCxnSpPr>
          <p:nvPr/>
        </p:nvCxnSpPr>
        <p:spPr>
          <a:xfrm rot="16200000" flipV="1">
            <a:off x="9258502" y="2318518"/>
            <a:ext cx="585949" cy="1135334"/>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2" name="Connector: Elbow 51">
            <a:extLst>
              <a:ext uri="{FF2B5EF4-FFF2-40B4-BE49-F238E27FC236}">
                <a16:creationId xmlns:a16="http://schemas.microsoft.com/office/drawing/2014/main" id="{0E1A4903-BC41-4EED-BECC-2E49E3144D85}"/>
              </a:ext>
            </a:extLst>
          </p:cNvPr>
          <p:cNvCxnSpPr>
            <a:stCxn id="28" idx="1"/>
            <a:endCxn id="29" idx="6"/>
          </p:cNvCxnSpPr>
          <p:nvPr/>
        </p:nvCxnSpPr>
        <p:spPr>
          <a:xfrm rot="10800000" flipV="1">
            <a:off x="7139032" y="2300822"/>
            <a:ext cx="645153" cy="1211337"/>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28349C72-9787-4049-AF79-005A291DA6EF}"/>
              </a:ext>
            </a:extLst>
          </p:cNvPr>
          <p:cNvCxnSpPr>
            <a:stCxn id="16" idx="3"/>
            <a:endCxn id="29" idx="2"/>
          </p:cNvCxnSpPr>
          <p:nvPr/>
        </p:nvCxnSpPr>
        <p:spPr>
          <a:xfrm flipV="1">
            <a:off x="3538556" y="3512160"/>
            <a:ext cx="1452894" cy="754742"/>
          </a:xfrm>
          <a:prstGeom prst="bentConnector3">
            <a:avLst>
              <a:gd name="adj1" fmla="val 8364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Connector: Elbow 58">
            <a:extLst>
              <a:ext uri="{FF2B5EF4-FFF2-40B4-BE49-F238E27FC236}">
                <a16:creationId xmlns:a16="http://schemas.microsoft.com/office/drawing/2014/main" id="{9DBA518F-6917-43AE-A2D4-5860FD3B4A02}"/>
              </a:ext>
            </a:extLst>
          </p:cNvPr>
          <p:cNvCxnSpPr>
            <a:stCxn id="20" idx="0"/>
            <a:endCxn id="29" idx="4"/>
          </p:cNvCxnSpPr>
          <p:nvPr/>
        </p:nvCxnSpPr>
        <p:spPr>
          <a:xfrm rot="5400000" flipH="1" flipV="1">
            <a:off x="5866084" y="4754162"/>
            <a:ext cx="398312" cy="2"/>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19AF8724-4C20-40A6-A76C-EDC52A2CB53F}"/>
              </a:ext>
            </a:extLst>
          </p:cNvPr>
          <p:cNvCxnSpPr>
            <a:stCxn id="18" idx="0"/>
            <a:endCxn id="20" idx="2"/>
          </p:cNvCxnSpPr>
          <p:nvPr/>
        </p:nvCxnSpPr>
        <p:spPr>
          <a:xfrm flipV="1">
            <a:off x="6061047" y="6030537"/>
            <a:ext cx="4192" cy="406174"/>
          </a:xfrm>
          <a:prstGeom prst="straightConnector1">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6F9639A4-1E4F-4228-87E7-E9BCDC6FA60D}"/>
              </a:ext>
            </a:extLst>
          </p:cNvPr>
          <p:cNvSpPr txBox="1"/>
          <p:nvPr/>
        </p:nvSpPr>
        <p:spPr>
          <a:xfrm>
            <a:off x="8429196" y="966376"/>
            <a:ext cx="3379891" cy="338554"/>
          </a:xfrm>
          <a:prstGeom prst="rect">
            <a:avLst/>
          </a:prstGeom>
          <a:noFill/>
          <a:ln w="19050">
            <a:solidFill>
              <a:schemeClr val="tx1"/>
            </a:solidFill>
          </a:ln>
        </p:spPr>
        <p:txBody>
          <a:bodyPr wrap="square">
            <a:spAutoFit/>
          </a:bodyPr>
          <a:lstStyle/>
          <a:p>
            <a:pPr algn="ctr"/>
            <a:r>
              <a:rPr lang="en-US" sz="1600" dirty="0"/>
              <a:t>Did you drink coffee yesterday?</a:t>
            </a:r>
            <a:endParaRPr lang="en-GB" sz="1600" dirty="0"/>
          </a:p>
        </p:txBody>
      </p:sp>
      <p:cxnSp>
        <p:nvCxnSpPr>
          <p:cNvPr id="71" name="Connector: Elbow 70">
            <a:extLst>
              <a:ext uri="{FF2B5EF4-FFF2-40B4-BE49-F238E27FC236}">
                <a16:creationId xmlns:a16="http://schemas.microsoft.com/office/drawing/2014/main" id="{CE972D54-63F6-4B51-87F3-5ED782B994A5}"/>
              </a:ext>
            </a:extLst>
          </p:cNvPr>
          <p:cNvCxnSpPr>
            <a:stCxn id="69" idx="1"/>
            <a:endCxn id="29" idx="7"/>
          </p:cNvCxnSpPr>
          <p:nvPr/>
        </p:nvCxnSpPr>
        <p:spPr>
          <a:xfrm rot="10800000" flipV="1">
            <a:off x="6824526" y="1135652"/>
            <a:ext cx="1604671" cy="1639103"/>
          </a:xfrm>
          <a:prstGeom prst="bentConnector2">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47817476-093B-4DAF-9A9D-C26D1647227F}"/>
              </a:ext>
            </a:extLst>
          </p:cNvPr>
          <p:cNvCxnSpPr>
            <a:stCxn id="14" idx="3"/>
            <a:endCxn id="6" idx="1"/>
          </p:cNvCxnSpPr>
          <p:nvPr/>
        </p:nvCxnSpPr>
        <p:spPr>
          <a:xfrm flipV="1">
            <a:off x="2515897" y="670713"/>
            <a:ext cx="2845718" cy="1"/>
          </a:xfrm>
          <a:prstGeom prst="bentConnector3">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5222706C-1AF0-4BE6-B8F4-422F8C251580}"/>
              </a:ext>
            </a:extLst>
          </p:cNvPr>
          <p:cNvCxnSpPr>
            <a:stCxn id="14" idx="1"/>
            <a:endCxn id="18" idx="1"/>
          </p:cNvCxnSpPr>
          <p:nvPr/>
        </p:nvCxnSpPr>
        <p:spPr>
          <a:xfrm rot="10800000" flipH="1" flipV="1">
            <a:off x="242481" y="670714"/>
            <a:ext cx="5110744" cy="5935274"/>
          </a:xfrm>
          <a:prstGeom prst="bentConnector3">
            <a:avLst>
              <a:gd name="adj1" fmla="val -2389"/>
            </a:avLst>
          </a:prstGeom>
          <a:ln w="1905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4662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44"/>
                                        </p:tgtEl>
                                        <p:attrNameLst>
                                          <p:attrName>style.visibility</p:attrName>
                                        </p:attrNameLst>
                                      </p:cBhvr>
                                      <p:to>
                                        <p:strVal val="visible"/>
                                      </p:to>
                                    </p:set>
                                    <p:animEffect transition="in" filter="fade">
                                      <p:cBhvr>
                                        <p:cTn id="10" dur="500"/>
                                        <p:tgtEl>
                                          <p:spTgt spid="4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8"/>
                                        </p:tgtEl>
                                        <p:attrNameLst>
                                          <p:attrName>style.visibility</p:attrName>
                                        </p:attrNameLst>
                                      </p:cBhvr>
                                      <p:to>
                                        <p:strVal val="visible"/>
                                      </p:to>
                                    </p:set>
                                    <p:animEffect transition="in" filter="fade">
                                      <p:cBhvr>
                                        <p:cTn id="20" dur="500"/>
                                        <p:tgtEl>
                                          <p:spTgt spid="3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500"/>
                                        <p:tgtEl>
                                          <p:spTgt spid="4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5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animEffect transition="in" filter="fade">
                                      <p:cBhvr>
                                        <p:cTn id="43" dur="500"/>
                                        <p:tgtEl>
                                          <p:spTgt spid="5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nodeType="withEffect">
                                  <p:stCondLst>
                                    <p:cond delay="0"/>
                                  </p:stCondLst>
                                  <p:childTnLst>
                                    <p:set>
                                      <p:cBhvr>
                                        <p:cTn id="50" dur="1" fill="hold">
                                          <p:stCondLst>
                                            <p:cond delay="0"/>
                                          </p:stCondLst>
                                        </p:cTn>
                                        <p:tgtEl>
                                          <p:spTgt spid="67"/>
                                        </p:tgtEl>
                                        <p:attrNameLst>
                                          <p:attrName>style.visibility</p:attrName>
                                        </p:attrNameLst>
                                      </p:cBhvr>
                                      <p:to>
                                        <p:strVal val="visible"/>
                                      </p:to>
                                    </p:set>
                                    <p:animEffect transition="in" filter="fade">
                                      <p:cBhvr>
                                        <p:cTn id="51" dur="500"/>
                                        <p:tgtEl>
                                          <p:spTgt spid="6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5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animEffect transition="in" filter="fade">
                                      <p:cBhvr>
                                        <p:cTn id="57" dur="500"/>
                                        <p:tgtEl>
                                          <p:spTgt spid="59"/>
                                        </p:tgtEl>
                                      </p:cBhvr>
                                    </p:animEffec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75"/>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73"/>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500"/>
                                        <p:tgtEl>
                                          <p:spTgt spid="22"/>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nodeType="withEffect">
                                  <p:stCondLst>
                                    <p:cond delay="0"/>
                                  </p:stCondLst>
                                  <p:childTnLst>
                                    <p:set>
                                      <p:cBhvr>
                                        <p:cTn id="75" dur="1" fill="hold">
                                          <p:stCondLst>
                                            <p:cond delay="0"/>
                                          </p:stCondLst>
                                        </p:cTn>
                                        <p:tgtEl>
                                          <p:spTgt spid="46"/>
                                        </p:tgtEl>
                                        <p:attrNameLst>
                                          <p:attrName>style.visibility</p:attrName>
                                        </p:attrNameLst>
                                      </p:cBhvr>
                                      <p:to>
                                        <p:strVal val="visible"/>
                                      </p:to>
                                    </p:set>
                                    <p:animEffect transition="in" filter="fade">
                                      <p:cBhvr>
                                        <p:cTn id="76" dur="500"/>
                                        <p:tgtEl>
                                          <p:spTgt spid="4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nodeType="withEffect">
                                  <p:stCondLst>
                                    <p:cond delay="0"/>
                                  </p:stCondLst>
                                  <p:childTnLst>
                                    <p:set>
                                      <p:cBhvr>
                                        <p:cTn id="83" dur="1" fill="hold">
                                          <p:stCondLst>
                                            <p:cond delay="0"/>
                                          </p:stCondLst>
                                        </p:cTn>
                                        <p:tgtEl>
                                          <p:spTgt spid="48"/>
                                        </p:tgtEl>
                                        <p:attrNameLst>
                                          <p:attrName>style.visibility</p:attrName>
                                        </p:attrNameLst>
                                      </p:cBhvr>
                                      <p:to>
                                        <p:strVal val="visible"/>
                                      </p:to>
                                    </p:set>
                                    <p:animEffect transition="in" filter="fade">
                                      <p:cBhvr>
                                        <p:cTn id="84" dur="500"/>
                                        <p:tgtEl>
                                          <p:spTgt spid="4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nodeType="withEffect">
                                  <p:stCondLst>
                                    <p:cond delay="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500"/>
                                        <p:tgtEl>
                                          <p:spTgt spid="50"/>
                                        </p:tgtEl>
                                      </p:cBhvr>
                                    </p:animEffect>
                                  </p:childTnLst>
                                </p:cTn>
                              </p:par>
                              <p:par>
                                <p:cTn id="93" presetID="10"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500"/>
                                        <p:tgtEl>
                                          <p:spTgt spid="52"/>
                                        </p:tgtEl>
                                      </p:cBhvr>
                                    </p:animEffec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childTnLst>
                                </p:cTn>
                              </p:par>
                              <p:par>
                                <p:cTn id="100" presetID="1" presetClass="entr" presetSubtype="0" fill="hold" nodeType="withEffect">
                                  <p:stCondLst>
                                    <p:cond delay="0"/>
                                  </p:stCondLst>
                                  <p:childTnLst>
                                    <p:set>
                                      <p:cBhvr>
                                        <p:cTn id="101"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6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pic>
        <p:nvPicPr>
          <p:cNvPr id="36" name="Picture 35">
            <a:extLst>
              <a:ext uri="{FF2B5EF4-FFF2-40B4-BE49-F238E27FC236}">
                <a16:creationId xmlns:a16="http://schemas.microsoft.com/office/drawing/2014/main" id="{ADB25E1E-4B0B-1EF9-0DA5-0B3D58BF5B27}"/>
              </a:ext>
            </a:extLst>
          </p:cNvPr>
          <p:cNvPicPr>
            <a:picLocks noChangeAspect="1"/>
          </p:cNvPicPr>
          <p:nvPr/>
        </p:nvPicPr>
        <p:blipFill>
          <a:blip r:embed="rId3"/>
          <a:stretch>
            <a:fillRect/>
          </a:stretch>
        </p:blipFill>
        <p:spPr>
          <a:xfrm>
            <a:off x="5372356" y="0"/>
            <a:ext cx="6819644" cy="4542798"/>
          </a:xfrm>
          <a:prstGeom prst="rect">
            <a:avLst/>
          </a:prstGeom>
        </p:spPr>
      </p:pic>
      <p:sp>
        <p:nvSpPr>
          <p:cNvPr id="9" name="Title 1">
            <a:extLst>
              <a:ext uri="{FF2B5EF4-FFF2-40B4-BE49-F238E27FC236}">
                <a16:creationId xmlns:a16="http://schemas.microsoft.com/office/drawing/2014/main" id="{87B21766-57B8-FE9F-023C-01A1F8206E66}"/>
              </a:ext>
            </a:extLst>
          </p:cNvPr>
          <p:cNvSpPr>
            <a:spLocks noGrp="1"/>
          </p:cNvSpPr>
          <p:nvPr>
            <p:ph type="title"/>
          </p:nvPr>
        </p:nvSpPr>
        <p:spPr>
          <a:xfrm>
            <a:off x="0" y="0"/>
            <a:ext cx="12192000" cy="1325563"/>
          </a:xfrm>
        </p:spPr>
        <p:txBody>
          <a:bodyPr anchor="ctr">
            <a:normAutofit fontScale="90000"/>
          </a:bodyPr>
          <a:lstStyle/>
          <a:p>
            <a:pPr algn="ctr"/>
            <a:r>
              <a:rPr lang="en-GB" sz="5400" dirty="0">
                <a:latin typeface="Bahnschrift Light" panose="020B0502040204020203" pitchFamily="34" charset="0"/>
              </a:rPr>
              <a:t>If you drink coffee, what is the average number of coffees you drink in a year?</a:t>
            </a:r>
          </a:p>
        </p:txBody>
      </p:sp>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7591" y="1726250"/>
            <a:ext cx="6730412" cy="4690618"/>
          </a:xfrm>
          <a:prstGeom prst="rect">
            <a:avLst/>
          </a:prstGeom>
        </p:spPr>
        <p:txBody>
          <a:bodyPr spcFirstLastPara="1" vert="horz" wrap="square" lIns="121900" tIns="121900" rIns="121900" bIns="121900" rtlCol="0" anchor="t" anchorCtr="0">
            <a:noAutofit/>
          </a:bodyPr>
          <a:lstStyle/>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The response will be a value (e.g. 522.6).</a:t>
            </a:r>
          </a:p>
          <a:p>
            <a:pPr marL="0" indent="0">
              <a:buNone/>
            </a:pPr>
            <a:endParaRPr lang="en-US" dirty="0">
              <a:latin typeface="Bahnschrift Light" panose="020B0502040204020203" pitchFamily="34" charset="0"/>
            </a:endParaRPr>
          </a:p>
          <a:p>
            <a:pPr marL="0" indent="0">
              <a:buNone/>
            </a:pPr>
            <a:r>
              <a:rPr lang="en-GB" dirty="0">
                <a:latin typeface="Bahnschrift Light" panose="020B0502040204020203" pitchFamily="34" charset="0"/>
              </a:rPr>
              <a:t>Given your answer, the more interesting question is why do you drink that many?</a:t>
            </a:r>
          </a:p>
          <a:p>
            <a:pPr marL="0" indent="0">
              <a:buNone/>
            </a:pPr>
            <a:endParaRPr lang="en-GB" dirty="0">
              <a:latin typeface="Bahnschrift Light" panose="020B0502040204020203" pitchFamily="34" charset="0"/>
            </a:endParaRPr>
          </a:p>
          <a:p>
            <a:pPr marL="0" indent="0">
              <a:buNone/>
            </a:pPr>
            <a:r>
              <a:rPr lang="en-GB" dirty="0">
                <a:latin typeface="Bahnschrift Light" panose="020B0502040204020203" pitchFamily="34" charset="0"/>
              </a:rPr>
              <a:t>For each of us, there is some unknown average number of coffees, that we drink in a year, </a:t>
            </a:r>
            <a:br>
              <a:rPr lang="en-GB" dirty="0">
                <a:latin typeface="Bahnschrift Light" panose="020B0502040204020203" pitchFamily="34" charset="0"/>
              </a:rPr>
            </a:br>
            <a:r>
              <a:rPr lang="en-GB" dirty="0">
                <a:latin typeface="Bahnschrift Light" panose="020B0502040204020203" pitchFamily="34" charset="0"/>
              </a:rPr>
              <a:t>which is </a:t>
            </a:r>
            <a:r>
              <a:rPr lang="en-GB" i="1" dirty="0">
                <a:latin typeface="Bahnschrift Light" panose="020B0502040204020203" pitchFamily="34" charset="0"/>
              </a:rPr>
              <a:t>determined</a:t>
            </a:r>
            <a:r>
              <a:rPr lang="en-GB" dirty="0">
                <a:latin typeface="Bahnschrift Light" panose="020B0502040204020203" pitchFamily="34" charset="0"/>
              </a:rPr>
              <a:t> by some set of </a:t>
            </a:r>
            <a:br>
              <a:rPr lang="en-GB" dirty="0">
                <a:latin typeface="Bahnschrift Light" panose="020B0502040204020203" pitchFamily="34" charset="0"/>
              </a:rPr>
            </a:br>
            <a:r>
              <a:rPr lang="en-GB" dirty="0">
                <a:latin typeface="Bahnschrift Light" panose="020B0502040204020203" pitchFamily="34" charset="0"/>
              </a:rPr>
              <a:t>explanatory </a:t>
            </a:r>
            <a:r>
              <a:rPr lang="en-GB" i="1" dirty="0">
                <a:latin typeface="Bahnschrift Light" panose="020B0502040204020203" pitchFamily="34" charset="0"/>
              </a:rPr>
              <a:t>variables</a:t>
            </a:r>
            <a:r>
              <a:rPr lang="en-GB" dirty="0">
                <a:latin typeface="Bahnschrift Light" panose="020B0502040204020203" pitchFamily="34" charset="0"/>
              </a:rPr>
              <a:t>.</a:t>
            </a:r>
            <a:endParaRPr dirty="0">
              <a:latin typeface="Bahnschrift Light" panose="020B0502040204020203" pitchFamily="34" charset="0"/>
            </a:endParaRPr>
          </a:p>
        </p:txBody>
      </p:sp>
      <p:grpSp>
        <p:nvGrpSpPr>
          <p:cNvPr id="2" name="Group 1">
            <a:extLst>
              <a:ext uri="{FF2B5EF4-FFF2-40B4-BE49-F238E27FC236}">
                <a16:creationId xmlns:a16="http://schemas.microsoft.com/office/drawing/2014/main" id="{02D21616-E55C-F73B-C679-C7585F45DF70}"/>
              </a:ext>
            </a:extLst>
          </p:cNvPr>
          <p:cNvGrpSpPr/>
          <p:nvPr/>
        </p:nvGrpSpPr>
        <p:grpSpPr>
          <a:xfrm>
            <a:off x="7521390" y="5157239"/>
            <a:ext cx="3608231" cy="1209171"/>
            <a:chOff x="7521390" y="5157239"/>
            <a:chExt cx="3608231" cy="1209171"/>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4F0D0-3DBC-4026-AC8C-1A4D7131F5BC}"/>
                    </a:ext>
                  </a:extLst>
                </p:cNvPr>
                <p:cNvSpPr txBox="1"/>
                <p:nvPr/>
              </p:nvSpPr>
              <p:spPr>
                <a:xfrm>
                  <a:off x="7521390" y="5157239"/>
                  <a:ext cx="3608231"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r>
                          <a:rPr lang="en-GB" sz="3200" b="0" i="1" smtClean="0">
                            <a:latin typeface="Cambria Math" panose="02040503050406030204" pitchFamily="18" charset="0"/>
                          </a:rPr>
                          <m:t>𝑁𝑜𝑟𝑚𝑎𝑙</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GB" sz="3200" b="0" i="1" smtClean="0">
                            <a:latin typeface="Cambria Math" panose="02040503050406030204" pitchFamily="18" charset="0"/>
                          </a:rPr>
                          <m:t>, </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𝜎</m:t>
                            </m:r>
                          </m:e>
                          <m:sub>
                            <m:r>
                              <a:rPr lang="en-GB" sz="3200" b="0" i="1" smtClean="0">
                                <a:latin typeface="Cambria Math" panose="02040503050406030204" pitchFamily="18" charset="0"/>
                              </a:rPr>
                              <m:t>𝑖</m:t>
                            </m:r>
                          </m:sub>
                        </m:sSub>
                        <m:r>
                          <a:rPr lang="en-US" sz="3200" b="0" i="1" smtClean="0">
                            <a:latin typeface="Cambria Math" panose="02040503050406030204" pitchFamily="18" charset="0"/>
                          </a:rPr>
                          <m:t>)</m:t>
                        </m:r>
                      </m:oMath>
                    </m:oMathPara>
                  </a14:m>
                  <a:endParaRPr lang="en-GB" sz="3200" dirty="0"/>
                </a:p>
              </p:txBody>
            </p:sp>
          </mc:Choice>
          <mc:Fallback xmlns="">
            <p:sp>
              <p:nvSpPr>
                <p:cNvPr id="5" name="TextBox 4">
                  <a:extLst>
                    <a:ext uri="{FF2B5EF4-FFF2-40B4-BE49-F238E27FC236}">
                      <a16:creationId xmlns:a16="http://schemas.microsoft.com/office/drawing/2014/main" id="{70A4F0D0-3DBC-4026-AC8C-1A4D7131F5BC}"/>
                    </a:ext>
                  </a:extLst>
                </p:cNvPr>
                <p:cNvSpPr txBox="1">
                  <a:spLocks noRot="1" noChangeAspect="1" noMove="1" noResize="1" noEditPoints="1" noAdjustHandles="1" noChangeArrowheads="1" noChangeShapeType="1" noTextEdit="1"/>
                </p:cNvSpPr>
                <p:nvPr/>
              </p:nvSpPr>
              <p:spPr>
                <a:xfrm>
                  <a:off x="7521390" y="5157239"/>
                  <a:ext cx="3608231" cy="492443"/>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64ECBC21-62FF-4DE1-BF7D-92A6D3C5EFCC}"/>
                    </a:ext>
                  </a:extLst>
                </p:cNvPr>
                <p:cNvSpPr txBox="1"/>
                <p:nvPr/>
              </p:nvSpPr>
              <p:spPr>
                <a:xfrm>
                  <a:off x="7521390" y="5873967"/>
                  <a:ext cx="312944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GB" sz="3200" b="0" i="1" smtClean="0">
                                <a:latin typeface="Cambria Math" panose="02040503050406030204" pitchFamily="18" charset="0"/>
                              </a:rPr>
                              <m:t>𝜇</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GB" sz="3200" b="0" i="1" smtClean="0">
                                <a:latin typeface="Cambria Math" panose="02040503050406030204" pitchFamily="18" charset="0"/>
                              </a:rPr>
                            </m:ctrlPr>
                          </m:sSubPr>
                          <m:e>
                            <m:r>
                              <a:rPr lang="en-US" sz="3200" b="0" i="1" smtClean="0">
                                <a:latin typeface="Cambria Math" panose="02040503050406030204" pitchFamily="18" charset="0"/>
                              </a:rPr>
                              <m:t>𝛽</m:t>
                            </m:r>
                          </m:e>
                          <m:sub>
                            <m:r>
                              <a:rPr lang="en-GB" sz="3200" b="0" i="1" smtClean="0">
                                <a:latin typeface="Cambria Math" panose="02040503050406030204" pitchFamily="18" charset="0"/>
                              </a:rPr>
                              <m:t>0</m:t>
                            </m:r>
                          </m:sub>
                        </m:sSub>
                        <m:r>
                          <a:rPr lang="en-GB" sz="3200" b="0" i="1" smtClean="0">
                            <a:latin typeface="Cambria Math" panose="02040503050406030204" pitchFamily="18" charset="0"/>
                          </a:rPr>
                          <m:t>+</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𝛽</m:t>
                            </m:r>
                          </m:e>
                          <m:sub>
                            <m:r>
                              <a:rPr lang="en-GB" sz="3200" b="0" i="1" smtClean="0">
                                <a:latin typeface="Cambria Math" panose="02040503050406030204" pitchFamily="18" charset="0"/>
                              </a:rPr>
                              <m:t>1</m:t>
                            </m:r>
                          </m:sub>
                        </m:sSub>
                        <m:r>
                          <a:rPr lang="en-GB" sz="3200" b="0" i="1" smtClean="0">
                            <a:latin typeface="Cambria Math" panose="02040503050406030204" pitchFamily="18" charset="0"/>
                          </a:rPr>
                          <m:t>×</m:t>
                        </m:r>
                        <m:sSub>
                          <m:sSubPr>
                            <m:ctrlPr>
                              <a:rPr lang="en-GB" sz="3200" b="0" i="1" smtClean="0">
                                <a:latin typeface="Cambria Math" panose="02040503050406030204" pitchFamily="18" charset="0"/>
                              </a:rPr>
                            </m:ctrlPr>
                          </m:sSubPr>
                          <m:e>
                            <m:r>
                              <a:rPr lang="en-GB" sz="3200" b="0" i="1" smtClean="0">
                                <a:latin typeface="Cambria Math" panose="02040503050406030204" pitchFamily="18" charset="0"/>
                              </a:rPr>
                              <m:t>𝑥</m:t>
                            </m:r>
                          </m:e>
                          <m:sub>
                            <m:r>
                              <a:rPr lang="en-GB" sz="3200" b="0" i="1" smtClean="0">
                                <a:latin typeface="Cambria Math" panose="02040503050406030204" pitchFamily="18" charset="0"/>
                              </a:rPr>
                              <m:t>𝑖</m:t>
                            </m:r>
                          </m:sub>
                        </m:sSub>
                      </m:oMath>
                    </m:oMathPara>
                  </a14:m>
                  <a:endParaRPr lang="en-GB" sz="3200" dirty="0"/>
                </a:p>
              </p:txBody>
            </p:sp>
          </mc:Choice>
          <mc:Fallback>
            <p:sp>
              <p:nvSpPr>
                <p:cNvPr id="7" name="TextBox 6">
                  <a:extLst>
                    <a:ext uri="{FF2B5EF4-FFF2-40B4-BE49-F238E27FC236}">
                      <a16:creationId xmlns:a16="http://schemas.microsoft.com/office/drawing/2014/main" id="{64ECBC21-62FF-4DE1-BF7D-92A6D3C5EFCC}"/>
                    </a:ext>
                  </a:extLst>
                </p:cNvPr>
                <p:cNvSpPr txBox="1">
                  <a:spLocks noRot="1" noChangeAspect="1" noMove="1" noResize="1" noEditPoints="1" noAdjustHandles="1" noChangeArrowheads="1" noChangeShapeType="1" noTextEdit="1"/>
                </p:cNvSpPr>
                <p:nvPr/>
              </p:nvSpPr>
              <p:spPr>
                <a:xfrm>
                  <a:off x="7521390" y="5873967"/>
                  <a:ext cx="3129446" cy="492443"/>
                </a:xfrm>
                <a:prstGeom prst="rect">
                  <a:avLst/>
                </a:prstGeom>
                <a:blipFill>
                  <a:blip r:embed="rId5"/>
                  <a:stretch>
                    <a:fillRect t="-28750" r="-8967" b="-47500"/>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AB489590-0591-4AE0-B9F9-F6F6EF03AE3A}"/>
              </a:ext>
            </a:extLst>
          </p:cNvPr>
          <p:cNvGrpSpPr/>
          <p:nvPr/>
        </p:nvGrpSpPr>
        <p:grpSpPr>
          <a:xfrm>
            <a:off x="890588" y="2214368"/>
            <a:ext cx="7050305" cy="3441374"/>
            <a:chOff x="890588" y="2214368"/>
            <a:chExt cx="7050305" cy="3441374"/>
          </a:xfrm>
        </p:grpSpPr>
        <p:sp>
          <p:nvSpPr>
            <p:cNvPr id="11" name="Rectangle 10">
              <a:extLst>
                <a:ext uri="{FF2B5EF4-FFF2-40B4-BE49-F238E27FC236}">
                  <a16:creationId xmlns:a16="http://schemas.microsoft.com/office/drawing/2014/main" id="{05596422-935E-4022-9888-7394787E941F}"/>
                </a:ext>
              </a:extLst>
            </p:cNvPr>
            <p:cNvSpPr/>
            <p:nvPr/>
          </p:nvSpPr>
          <p:spPr>
            <a:xfrm>
              <a:off x="890588" y="2214368"/>
              <a:ext cx="1533525" cy="411116"/>
            </a:xfrm>
            <a:prstGeom prst="rect">
              <a:avLst/>
            </a:prstGeom>
            <a:noFill/>
            <a:ln w="38100">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Rectangle: Rounded Corners 11">
              <a:extLst>
                <a:ext uri="{FF2B5EF4-FFF2-40B4-BE49-F238E27FC236}">
                  <a16:creationId xmlns:a16="http://schemas.microsoft.com/office/drawing/2014/main" id="{36E3CAB0-F281-48B4-B632-D1F42390B074}"/>
                </a:ext>
              </a:extLst>
            </p:cNvPr>
            <p:cNvSpPr/>
            <p:nvPr/>
          </p:nvSpPr>
          <p:spPr>
            <a:xfrm>
              <a:off x="7538117" y="5216606"/>
              <a:ext cx="402776" cy="439136"/>
            </a:xfrm>
            <a:prstGeom prst="roundRect">
              <a:avLst/>
            </a:prstGeom>
            <a:noFill/>
            <a:ln w="28575">
              <a:solidFill>
                <a:srgbClr val="CC31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2" name="Group 21">
            <a:extLst>
              <a:ext uri="{FF2B5EF4-FFF2-40B4-BE49-F238E27FC236}">
                <a16:creationId xmlns:a16="http://schemas.microsoft.com/office/drawing/2014/main" id="{D28C55A4-C49B-4D37-8B07-2CE7CB6B3787}"/>
              </a:ext>
            </a:extLst>
          </p:cNvPr>
          <p:cNvGrpSpPr/>
          <p:nvPr/>
        </p:nvGrpSpPr>
        <p:grpSpPr>
          <a:xfrm>
            <a:off x="219767" y="4535923"/>
            <a:ext cx="10148188" cy="1850512"/>
            <a:chOff x="1014878" y="4535923"/>
            <a:chExt cx="6753221" cy="1850512"/>
          </a:xfrm>
        </p:grpSpPr>
        <p:sp>
          <p:nvSpPr>
            <p:cNvPr id="46" name="Rectangle: Rounded Corners 45">
              <a:extLst>
                <a:ext uri="{FF2B5EF4-FFF2-40B4-BE49-F238E27FC236}">
                  <a16:creationId xmlns:a16="http://schemas.microsoft.com/office/drawing/2014/main" id="{64BFA693-DCE4-4AFE-9106-647ED915C76D}"/>
                </a:ext>
              </a:extLst>
            </p:cNvPr>
            <p:cNvSpPr/>
            <p:nvPr/>
          </p:nvSpPr>
          <p:spPr>
            <a:xfrm>
              <a:off x="7503847" y="5216606"/>
              <a:ext cx="264252" cy="441365"/>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19" name="Group 18">
              <a:extLst>
                <a:ext uri="{FF2B5EF4-FFF2-40B4-BE49-F238E27FC236}">
                  <a16:creationId xmlns:a16="http://schemas.microsoft.com/office/drawing/2014/main" id="{6FFA9890-8C09-4FE9-A22A-EC53A8134235}"/>
                </a:ext>
              </a:extLst>
            </p:cNvPr>
            <p:cNvGrpSpPr/>
            <p:nvPr/>
          </p:nvGrpSpPr>
          <p:grpSpPr>
            <a:xfrm>
              <a:off x="1014878" y="4535923"/>
              <a:ext cx="5138106" cy="1850512"/>
              <a:chOff x="1014878" y="4535923"/>
              <a:chExt cx="5138106" cy="1850512"/>
            </a:xfrm>
          </p:grpSpPr>
          <p:sp>
            <p:nvSpPr>
              <p:cNvPr id="42" name="Rectangle 41">
                <a:extLst>
                  <a:ext uri="{FF2B5EF4-FFF2-40B4-BE49-F238E27FC236}">
                    <a16:creationId xmlns:a16="http://schemas.microsoft.com/office/drawing/2014/main" id="{E722088A-DBD5-4BA8-BFEF-8E71175E1F26}"/>
                  </a:ext>
                </a:extLst>
              </p:cNvPr>
              <p:cNvSpPr/>
              <p:nvPr/>
            </p:nvSpPr>
            <p:spPr>
              <a:xfrm>
                <a:off x="1014878" y="4535923"/>
                <a:ext cx="2884425" cy="379133"/>
              </a:xfrm>
              <a:prstGeom prst="rect">
                <a:avLst/>
              </a:prstGeom>
              <a:noFill/>
              <a:ln w="38100">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Rectangle: Rounded Corners 46">
                <a:extLst>
                  <a:ext uri="{FF2B5EF4-FFF2-40B4-BE49-F238E27FC236}">
                    <a16:creationId xmlns:a16="http://schemas.microsoft.com/office/drawing/2014/main" id="{36AB0B07-6621-47E7-97BF-DA1B977FD90E}"/>
                  </a:ext>
                </a:extLst>
              </p:cNvPr>
              <p:cNvSpPr/>
              <p:nvPr/>
            </p:nvSpPr>
            <p:spPr>
              <a:xfrm>
                <a:off x="5873823" y="5893992"/>
                <a:ext cx="279161" cy="492443"/>
              </a:xfrm>
              <a:prstGeom prst="roundRect">
                <a:avLst/>
              </a:prstGeom>
              <a:noFill/>
              <a:ln w="28575">
                <a:solidFill>
                  <a:srgbClr val="66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1" name="Group 20">
            <a:extLst>
              <a:ext uri="{FF2B5EF4-FFF2-40B4-BE49-F238E27FC236}">
                <a16:creationId xmlns:a16="http://schemas.microsoft.com/office/drawing/2014/main" id="{9A6854F8-1D7B-4E84-AAFB-F147BDE19CAE}"/>
              </a:ext>
            </a:extLst>
          </p:cNvPr>
          <p:cNvGrpSpPr/>
          <p:nvPr/>
        </p:nvGrpSpPr>
        <p:grpSpPr>
          <a:xfrm>
            <a:off x="192518" y="5309768"/>
            <a:ext cx="10458317" cy="1076667"/>
            <a:chOff x="-1421267" y="5603758"/>
            <a:chExt cx="10458317" cy="1076667"/>
          </a:xfrm>
        </p:grpSpPr>
        <p:sp>
          <p:nvSpPr>
            <p:cNvPr id="43" name="Rectangle 42">
              <a:extLst>
                <a:ext uri="{FF2B5EF4-FFF2-40B4-BE49-F238E27FC236}">
                  <a16:creationId xmlns:a16="http://schemas.microsoft.com/office/drawing/2014/main" id="{ED52917F-8F6B-4630-81DC-4B6013FD7F93}"/>
                </a:ext>
              </a:extLst>
            </p:cNvPr>
            <p:cNvSpPr/>
            <p:nvPr/>
          </p:nvSpPr>
          <p:spPr>
            <a:xfrm>
              <a:off x="-1421267" y="5603758"/>
              <a:ext cx="5842049" cy="752481"/>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Rounded Corners 47">
              <a:extLst>
                <a:ext uri="{FF2B5EF4-FFF2-40B4-BE49-F238E27FC236}">
                  <a16:creationId xmlns:a16="http://schemas.microsoft.com/office/drawing/2014/main" id="{578663CD-020D-4580-A43F-AEF629599CA7}"/>
                </a:ext>
              </a:extLst>
            </p:cNvPr>
            <p:cNvSpPr/>
            <p:nvPr/>
          </p:nvSpPr>
          <p:spPr>
            <a:xfrm>
              <a:off x="6814215" y="6187982"/>
              <a:ext cx="2222835" cy="492443"/>
            </a:xfrm>
            <a:prstGeom prst="roundRect">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 name="Group 38">
            <a:extLst>
              <a:ext uri="{FF2B5EF4-FFF2-40B4-BE49-F238E27FC236}">
                <a16:creationId xmlns:a16="http://schemas.microsoft.com/office/drawing/2014/main" id="{F58FCE76-FFEA-4974-AD87-E5B269986550}"/>
              </a:ext>
            </a:extLst>
          </p:cNvPr>
          <p:cNvGrpSpPr/>
          <p:nvPr/>
        </p:nvGrpSpPr>
        <p:grpSpPr>
          <a:xfrm>
            <a:off x="4873840" y="2214368"/>
            <a:ext cx="5007007" cy="3443603"/>
            <a:chOff x="2631071" y="2566335"/>
            <a:chExt cx="5007007" cy="3443603"/>
          </a:xfrm>
        </p:grpSpPr>
        <p:sp>
          <p:nvSpPr>
            <p:cNvPr id="41" name="Rectangle 40">
              <a:extLst>
                <a:ext uri="{FF2B5EF4-FFF2-40B4-BE49-F238E27FC236}">
                  <a16:creationId xmlns:a16="http://schemas.microsoft.com/office/drawing/2014/main" id="{5311F149-F812-43A0-B4C5-75BFF1102750}"/>
                </a:ext>
              </a:extLst>
            </p:cNvPr>
            <p:cNvSpPr/>
            <p:nvPr/>
          </p:nvSpPr>
          <p:spPr>
            <a:xfrm>
              <a:off x="2631071" y="2566335"/>
              <a:ext cx="1695636" cy="411116"/>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4" name="Rectangle: Rounded Corners 43">
              <a:extLst>
                <a:ext uri="{FF2B5EF4-FFF2-40B4-BE49-F238E27FC236}">
                  <a16:creationId xmlns:a16="http://schemas.microsoft.com/office/drawing/2014/main" id="{1D1F8316-F598-4AC9-82A1-A2BFA347CB3F}"/>
                </a:ext>
              </a:extLst>
            </p:cNvPr>
            <p:cNvSpPr/>
            <p:nvPr/>
          </p:nvSpPr>
          <p:spPr>
            <a:xfrm>
              <a:off x="6185232" y="5568573"/>
              <a:ext cx="1452846" cy="441365"/>
            </a:xfrm>
            <a:prstGeom prst="roundRect">
              <a:avLst/>
            </a:prstGeom>
            <a:noFill/>
            <a:ln w="285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045027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xEl>
                                              <p:pRg st="1" end="1"/>
                                            </p:txEl>
                                          </p:spTgt>
                                        </p:tgtEl>
                                        <p:attrNameLst>
                                          <p:attrName>style.visibility</p:attrName>
                                        </p:attrNameLst>
                                      </p:cBhvr>
                                      <p:to>
                                        <p:strVal val="visible"/>
                                      </p:to>
                                    </p:set>
                                    <p:animEffect transition="in" filter="fade">
                                      <p:cBhvr>
                                        <p:cTn id="7" dur="1000"/>
                                        <p:tgtEl>
                                          <p:spTgt spid="32">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xEl>
                                              <p:pRg st="3" end="3"/>
                                            </p:txEl>
                                          </p:spTgt>
                                        </p:tgtEl>
                                        <p:attrNameLst>
                                          <p:attrName>style.visibility</p:attrName>
                                        </p:attrNameLst>
                                      </p:cBhvr>
                                      <p:to>
                                        <p:strVal val="visible"/>
                                      </p:to>
                                    </p:set>
                                    <p:animEffect transition="in" filter="fade">
                                      <p:cBhvr>
                                        <p:cTn id="12" dur="1000"/>
                                        <p:tgtEl>
                                          <p:spTgt spid="32">
                                            <p:txEl>
                                              <p:pRg st="3" end="3"/>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xEl>
                                              <p:pRg st="5" end="5"/>
                                            </p:txEl>
                                          </p:spTgt>
                                        </p:tgtEl>
                                        <p:attrNameLst>
                                          <p:attrName>style.visibility</p:attrName>
                                        </p:attrNameLst>
                                      </p:cBhvr>
                                      <p:to>
                                        <p:strVal val="visible"/>
                                      </p:to>
                                    </p:set>
                                    <p:animEffect transition="in" filter="fade">
                                      <p:cBhvr>
                                        <p:cTn id="17" dur="1000"/>
                                        <p:tgtEl>
                                          <p:spTgt spid="32">
                                            <p:txEl>
                                              <p:pRg st="5" end="5"/>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fade">
                                      <p:cBhvr>
                                        <p:cTn id="22" dur="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 name="Title 1">
            <a:extLst>
              <a:ext uri="{FF2B5EF4-FFF2-40B4-BE49-F238E27FC236}">
                <a16:creationId xmlns:a16="http://schemas.microsoft.com/office/drawing/2014/main" id="{96312335-CA1A-76C0-D2D3-BF1F58A8E45D}"/>
              </a:ext>
            </a:extLst>
          </p:cNvPr>
          <p:cNvSpPr>
            <a:spLocks noGrp="1"/>
          </p:cNvSpPr>
          <p:nvPr>
            <p:ph type="title"/>
          </p:nvPr>
        </p:nvSpPr>
        <p:spPr>
          <a:xfrm>
            <a:off x="0" y="0"/>
            <a:ext cx="12192000" cy="1325563"/>
          </a:xfrm>
        </p:spPr>
        <p:txBody>
          <a:bodyPr anchor="ctr">
            <a:normAutofit/>
          </a:bodyPr>
          <a:lstStyle/>
          <a:p>
            <a:pPr algn="ctr"/>
            <a:r>
              <a:rPr lang="en-GB" sz="5400" dirty="0">
                <a:latin typeface="Bahnschrift Light" panose="020B0502040204020203" pitchFamily="34" charset="0"/>
              </a:rPr>
              <a:t>First amongst equals</a:t>
            </a:r>
          </a:p>
        </p:txBody>
      </p:sp>
      <mc:AlternateContent xmlns:mc="http://schemas.openxmlformats.org/markup-compatibility/2006" xmlns:a14="http://schemas.microsoft.com/office/drawing/2010/main">
        <mc:Choice Requires="a14">
          <p:sp>
            <p:nvSpPr>
              <p:cNvPr id="32" name="Google Shape;371;p39">
                <a:extLst>
                  <a:ext uri="{FF2B5EF4-FFF2-40B4-BE49-F238E27FC236}">
                    <a16:creationId xmlns:a16="http://schemas.microsoft.com/office/drawing/2014/main" id="{5394189B-7847-4829-B059-EDBDC6134D1F}"/>
                  </a:ext>
                </a:extLst>
              </p:cNvPr>
              <p:cNvSpPr txBox="1">
                <a:spLocks noGrp="1"/>
              </p:cNvSpPr>
              <p:nvPr>
                <p:ph type="body" idx="1"/>
              </p:nvPr>
            </p:nvSpPr>
            <p:spPr>
              <a:xfrm>
                <a:off x="121618" y="940719"/>
                <a:ext cx="10333083" cy="5813166"/>
              </a:xfrm>
              <a:prstGeom prst="rect">
                <a:avLst/>
              </a:prstGeom>
            </p:spPr>
            <p:txBody>
              <a:bodyPr spcFirstLastPara="1" vert="horz" wrap="square" lIns="121900" tIns="121900" rIns="121900" bIns="121900" rtlCol="0" anchor="t" anchorCtr="0">
                <a:noAutofit/>
              </a:bodyPr>
              <a:lstStyle/>
              <a:p>
                <a:pPr marL="0" indent="0">
                  <a:buNone/>
                </a:pPr>
                <a:r>
                  <a:rPr lang="en-US" dirty="0">
                    <a:latin typeface="Bahnschrift Light" panose="020B0502040204020203" pitchFamily="34" charset="0"/>
                  </a:rPr>
                  <a:t>Three broad purposes of statistics:</a:t>
                </a:r>
              </a:p>
              <a:p>
                <a:pPr marL="457200" indent="-457200"/>
                <a:r>
                  <a:rPr lang="en-US" dirty="0">
                    <a:latin typeface="Bahnschrift Light" panose="020B0502040204020203" pitchFamily="34" charset="0"/>
                  </a:rPr>
                  <a:t>Causal inference</a:t>
                </a:r>
              </a:p>
              <a:p>
                <a:pPr marL="457200" indent="-457200"/>
                <a:r>
                  <a:rPr lang="en-US" dirty="0">
                    <a:latin typeface="Bahnschrift Light" panose="020B0502040204020203" pitchFamily="34" charset="0"/>
                  </a:rPr>
                  <a:t>Prediction</a:t>
                </a:r>
              </a:p>
              <a:p>
                <a:pPr marL="457200" indent="-457200"/>
                <a:r>
                  <a:rPr lang="en-US" dirty="0">
                    <a:latin typeface="Bahnschrift Light" panose="020B0502040204020203" pitchFamily="34" charset="0"/>
                  </a:rPr>
                  <a:t>Descriptive</a:t>
                </a: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Based on the data, who do you think won the 2021 Japanese election?</a:t>
                </a:r>
              </a:p>
              <a:p>
                <a:pPr marL="0" indent="0">
                  <a:buNone/>
                </a:pPr>
                <a:endParaRPr lang="en-US" dirty="0">
                  <a:latin typeface="Bahnschrift Light" panose="020B0502040204020203" pitchFamily="34" charset="0"/>
                </a:endParaRPr>
              </a:p>
              <a:p>
                <a:pPr marL="0" indent="0">
                  <a:buNone/>
                </a:pPr>
                <a14:m>
                  <m:oMathPara xmlns:m="http://schemas.openxmlformats.org/officeDocument/2006/math">
                    <m:oMathParaPr>
                      <m:jc m:val="left"/>
                    </m:oMathParaPr>
                    <m:oMath xmlns:m="http://schemas.openxmlformats.org/officeDocument/2006/math">
                      <m:r>
                        <a:rPr lang="en-GB" b="0" i="1" smtClean="0">
                          <a:latin typeface="Cambria Math" panose="02040503050406030204" pitchFamily="18" charset="0"/>
                        </a:rPr>
                        <m:t>𝑅𝑒𝑠𝑢𝑙</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r>
                        <a:rPr lang="en-GB" b="0" i="1" smtClean="0">
                          <a:latin typeface="Cambria Math" panose="02040503050406030204" pitchFamily="18" charset="0"/>
                        </a:rPr>
                        <m:t>𝑅𝑒</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𝑖</m:t>
                          </m:r>
                        </m:sub>
                      </m:sSub>
                    </m:oMath>
                  </m:oMathPara>
                </a14:m>
                <a:endParaRPr lang="en-US" dirty="0">
                  <a:latin typeface="Bahnschrift Light" panose="020B0502040204020203" pitchFamily="34" charset="0"/>
                </a:endParaRPr>
              </a:p>
              <a:p>
                <a:pPr marL="0" indent="0">
                  <a:buNone/>
                </a:pPr>
                <a:endParaRPr lang="en-US" dirty="0">
                  <a:latin typeface="Bahnschrift Light" panose="020B0502040204020203" pitchFamily="34" charset="0"/>
                </a:endParaRPr>
              </a:p>
              <a:p>
                <a:pPr marL="0" indent="0">
                  <a:buNone/>
                </a:pPr>
                <a:r>
                  <a:rPr lang="en-US" dirty="0">
                    <a:latin typeface="Bahnschrift Light" panose="020B0502040204020203" pitchFamily="34" charset="0"/>
                  </a:rPr>
                  <a:t>LDP have won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2</m:t>
                        </m:r>
                        <m:r>
                          <a:rPr lang="en-GB" b="0" i="1" smtClean="0">
                            <a:latin typeface="Cambria Math" panose="02040503050406030204" pitchFamily="18" charset="0"/>
                          </a:rPr>
                          <m:t>0</m:t>
                        </m:r>
                      </m:num>
                      <m:den>
                        <m:r>
                          <a:rPr lang="en-US" b="0" i="1" smtClean="0">
                            <a:latin typeface="Cambria Math" panose="02040503050406030204" pitchFamily="18" charset="0"/>
                          </a:rPr>
                          <m:t>2</m:t>
                        </m:r>
                        <m:r>
                          <a:rPr lang="en-GB" b="0" i="1" smtClean="0">
                            <a:latin typeface="Cambria Math" panose="02040503050406030204" pitchFamily="18" charset="0"/>
                          </a:rPr>
                          <m:t>1</m:t>
                        </m:r>
                      </m:den>
                    </m:f>
                    <m:r>
                      <a:rPr lang="en-US" b="0" i="1" smtClean="0">
                        <a:latin typeface="Cambria Math" panose="02040503050406030204" pitchFamily="18" charset="0"/>
                      </a:rPr>
                      <m:t>=95%</m:t>
                    </m:r>
                  </m:oMath>
                </a14:m>
                <a:endParaRPr lang="en-US" dirty="0">
                  <a:latin typeface="Bahnschrift Light" panose="020B0502040204020203" pitchFamily="34" charset="0"/>
                </a:endParaRPr>
              </a:p>
              <a:p>
                <a:pPr marL="457200" indent="-457200"/>
                <a:r>
                  <a:rPr lang="en-US" dirty="0">
                    <a:latin typeface="Bahnschrift Light" panose="020B0502040204020203" pitchFamily="34" charset="0"/>
                  </a:rPr>
                  <a:t>Descriptive model: LDP have won 95% from 1955 to 2017</a:t>
                </a:r>
              </a:p>
              <a:p>
                <a:pPr marL="457200" indent="-457200"/>
                <a:r>
                  <a:rPr lang="en-US" dirty="0">
                    <a:latin typeface="Bahnschrift Light" panose="020B0502040204020203" pitchFamily="34" charset="0"/>
                  </a:rPr>
                  <a:t>Predictive model: LDP have a 95% chance to win 2021</a:t>
                </a:r>
              </a:p>
              <a:p>
                <a:pPr marL="457200" indent="-457200"/>
                <a:r>
                  <a:rPr lang="en-US" dirty="0">
                    <a:latin typeface="Bahnschrift Light" panose="020B0502040204020203" pitchFamily="34" charset="0"/>
                  </a:rPr>
                  <a:t>Causal model: Red </a:t>
                </a:r>
                <a:r>
                  <a:rPr lang="en-US" dirty="0" err="1">
                    <a:latin typeface="Bahnschrift Light" panose="020B0502040204020203" pitchFamily="34" charset="0"/>
                  </a:rPr>
                  <a:t>colour</a:t>
                </a:r>
                <a:r>
                  <a:rPr lang="en-US" dirty="0">
                    <a:latin typeface="Bahnschrift Light" panose="020B0502040204020203" pitchFamily="34" charset="0"/>
                  </a:rPr>
                  <a:t> reduces chance to win by 90%</a:t>
                </a:r>
              </a:p>
            </p:txBody>
          </p:sp>
        </mc:Choice>
        <mc:Fallback xmlns="">
          <p:sp>
            <p:nvSpPr>
              <p:cNvPr id="32" name="Google Shape;371;p39">
                <a:extLst>
                  <a:ext uri="{FF2B5EF4-FFF2-40B4-BE49-F238E27FC236}">
                    <a16:creationId xmlns:a16="http://schemas.microsoft.com/office/drawing/2014/main" id="{5394189B-7847-4829-B059-EDBDC6134D1F}"/>
                  </a:ext>
                </a:extLst>
              </p:cNvPr>
              <p:cNvSpPr txBox="1">
                <a:spLocks noGrp="1" noRot="1" noChangeAspect="1" noMove="1" noResize="1" noEditPoints="1" noAdjustHandles="1" noChangeArrowheads="1" noChangeShapeType="1" noTextEdit="1"/>
              </p:cNvSpPr>
              <p:nvPr>
                <p:ph type="body" idx="1"/>
              </p:nvPr>
            </p:nvSpPr>
            <p:spPr>
              <a:xfrm>
                <a:off x="121618" y="940719"/>
                <a:ext cx="10333083" cy="5813166"/>
              </a:xfrm>
              <a:prstGeom prst="rect">
                <a:avLst/>
              </a:prstGeom>
              <a:blipFill>
                <a:blip r:embed="rId3"/>
                <a:stretch>
                  <a:fillRect l="-944" t="-629" b="-943"/>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F5983E3B-9ABE-4ABE-9135-B7859F6FB01C}"/>
              </a:ext>
            </a:extLst>
          </p:cNvPr>
          <p:cNvPicPr>
            <a:picLocks noChangeAspect="1"/>
          </p:cNvPicPr>
          <p:nvPr/>
        </p:nvPicPr>
        <p:blipFill rotWithShape="1">
          <a:blip r:embed="rId4"/>
          <a:srcRect l="61761" t="2313" r="26607"/>
          <a:stretch/>
        </p:blipFill>
        <p:spPr>
          <a:xfrm>
            <a:off x="10652129" y="158620"/>
            <a:ext cx="1418253" cy="6699380"/>
          </a:xfrm>
          <a:prstGeom prst="rect">
            <a:avLst/>
          </a:prstGeom>
        </p:spPr>
      </p:pic>
      <p:grpSp>
        <p:nvGrpSpPr>
          <p:cNvPr id="9" name="Group 8">
            <a:extLst>
              <a:ext uri="{FF2B5EF4-FFF2-40B4-BE49-F238E27FC236}">
                <a16:creationId xmlns:a16="http://schemas.microsoft.com/office/drawing/2014/main" id="{DB4F1A5C-4319-88DF-75BF-2E9B01EDA594}"/>
              </a:ext>
            </a:extLst>
          </p:cNvPr>
          <p:cNvGrpSpPr/>
          <p:nvPr/>
        </p:nvGrpSpPr>
        <p:grpSpPr>
          <a:xfrm>
            <a:off x="3483560" y="1445736"/>
            <a:ext cx="3114301" cy="1200329"/>
            <a:chOff x="3801795" y="3854877"/>
            <a:chExt cx="3114301" cy="1200329"/>
          </a:xfrm>
        </p:grpSpPr>
        <p:sp>
          <p:nvSpPr>
            <p:cNvPr id="6" name="Right Brace 5">
              <a:extLst>
                <a:ext uri="{FF2B5EF4-FFF2-40B4-BE49-F238E27FC236}">
                  <a16:creationId xmlns:a16="http://schemas.microsoft.com/office/drawing/2014/main" id="{D93CE428-D551-3EAF-F325-FF1EEFB4E06E}"/>
                </a:ext>
              </a:extLst>
            </p:cNvPr>
            <p:cNvSpPr/>
            <p:nvPr/>
          </p:nvSpPr>
          <p:spPr>
            <a:xfrm>
              <a:off x="3801795" y="3923414"/>
              <a:ext cx="180754" cy="106325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92797B1-A8CA-202E-52FE-2A53A02756C7}"/>
                </a:ext>
              </a:extLst>
            </p:cNvPr>
            <p:cNvSpPr txBox="1"/>
            <p:nvPr/>
          </p:nvSpPr>
          <p:spPr>
            <a:xfrm>
              <a:off x="4151631" y="3854877"/>
              <a:ext cx="2764465" cy="1200329"/>
            </a:xfrm>
            <a:prstGeom prst="rect">
              <a:avLst/>
            </a:prstGeom>
            <a:noFill/>
          </p:spPr>
          <p:txBody>
            <a:bodyPr wrap="square" rtlCol="0">
              <a:spAutoFit/>
            </a:bodyPr>
            <a:lstStyle/>
            <a:p>
              <a:r>
                <a:rPr lang="en-GB" sz="2400" dirty="0">
                  <a:latin typeface="Bahnschrift Light" panose="020B0502040204020203" pitchFamily="34" charset="0"/>
                </a:rPr>
                <a:t>Linear models (and GLMs) can do all three</a:t>
              </a:r>
            </a:p>
          </p:txBody>
        </p:sp>
      </p:grpSp>
      <p:sp>
        <p:nvSpPr>
          <p:cNvPr id="2" name="Rectangle 1">
            <a:extLst>
              <a:ext uri="{FF2B5EF4-FFF2-40B4-BE49-F238E27FC236}">
                <a16:creationId xmlns:a16="http://schemas.microsoft.com/office/drawing/2014/main" id="{E06228FA-2B1D-90D3-2D5C-BC63E0BFCC28}"/>
              </a:ext>
            </a:extLst>
          </p:cNvPr>
          <p:cNvSpPr/>
          <p:nvPr/>
        </p:nvSpPr>
        <p:spPr>
          <a:xfrm>
            <a:off x="10582275" y="158620"/>
            <a:ext cx="1488107" cy="4033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2152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animEffect transition="in" filter="fade">
                                      <p:cBhvr>
                                        <p:cTn id="7" dur="500"/>
                                        <p:tgtEl>
                                          <p:spTgt spid="3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2">
                                            <p:txEl>
                                              <p:pRg st="1" end="1"/>
                                            </p:txEl>
                                          </p:spTgt>
                                        </p:tgtEl>
                                        <p:attrNameLst>
                                          <p:attrName>style.visibility</p:attrName>
                                        </p:attrNameLst>
                                      </p:cBhvr>
                                      <p:to>
                                        <p:strVal val="visible"/>
                                      </p:to>
                                    </p:set>
                                    <p:animEffect transition="in" filter="fade">
                                      <p:cBhvr>
                                        <p:cTn id="12" dur="500"/>
                                        <p:tgtEl>
                                          <p:spTgt spid="3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xEl>
                                              <p:pRg st="2" end="2"/>
                                            </p:txEl>
                                          </p:spTgt>
                                        </p:tgtEl>
                                        <p:attrNameLst>
                                          <p:attrName>style.visibility</p:attrName>
                                        </p:attrNameLst>
                                      </p:cBhvr>
                                      <p:to>
                                        <p:strVal val="visible"/>
                                      </p:to>
                                    </p:set>
                                    <p:animEffect transition="in" filter="fade">
                                      <p:cBhvr>
                                        <p:cTn id="17" dur="500"/>
                                        <p:tgtEl>
                                          <p:spTgt spid="3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2">
                                            <p:txEl>
                                              <p:pRg st="3" end="3"/>
                                            </p:txEl>
                                          </p:spTgt>
                                        </p:tgtEl>
                                        <p:attrNameLst>
                                          <p:attrName>style.visibility</p:attrName>
                                        </p:attrNameLst>
                                      </p:cBhvr>
                                      <p:to>
                                        <p:strVal val="visible"/>
                                      </p:to>
                                    </p:set>
                                    <p:animEffect transition="in" filter="fade">
                                      <p:cBhvr>
                                        <p:cTn id="22" dur="500"/>
                                        <p:tgtEl>
                                          <p:spTgt spid="3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2">
                                            <p:txEl>
                                              <p:pRg st="5" end="5"/>
                                            </p:txEl>
                                          </p:spTgt>
                                        </p:tgtEl>
                                        <p:attrNameLst>
                                          <p:attrName>style.visibility</p:attrName>
                                        </p:attrNameLst>
                                      </p:cBhvr>
                                      <p:to>
                                        <p:strVal val="visible"/>
                                      </p:to>
                                    </p:set>
                                    <p:animEffect transition="in" filter="fade">
                                      <p:cBhvr>
                                        <p:cTn id="32" dur="500"/>
                                        <p:tgtEl>
                                          <p:spTgt spid="32">
                                            <p:txEl>
                                              <p:pRg st="5" end="5"/>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500"/>
                                        <p:tgtEl>
                                          <p:spTgt spid="7"/>
                                        </p:tgtEl>
                                      </p:cBhvr>
                                    </p:animEffect>
                                  </p:childTnLst>
                                </p:cTn>
                              </p:par>
                              <p:par>
                                <p:cTn id="36" presetID="10" presetClass="exit" presetSubtype="0" fill="hold" nodeType="withEffect">
                                  <p:stCondLst>
                                    <p:cond delay="0"/>
                                  </p:stCondLst>
                                  <p:childTnLst>
                                    <p:animEffect transition="out" filter="fade">
                                      <p:cBhvr>
                                        <p:cTn id="37" dur="500"/>
                                        <p:tgtEl>
                                          <p:spTgt spid="9"/>
                                        </p:tgtEl>
                                      </p:cBhvr>
                                    </p:animEffect>
                                    <p:set>
                                      <p:cBhvr>
                                        <p:cTn id="38" dur="1" fill="hold">
                                          <p:stCondLst>
                                            <p:cond delay="499"/>
                                          </p:stCondLst>
                                        </p:cTn>
                                        <p:tgtEl>
                                          <p:spTgt spid="9"/>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2">
                                            <p:txEl>
                                              <p:pRg st="7" end="7"/>
                                            </p:txEl>
                                          </p:spTgt>
                                        </p:tgtEl>
                                        <p:attrNameLst>
                                          <p:attrName>style.visibility</p:attrName>
                                        </p:attrNameLst>
                                      </p:cBhvr>
                                      <p:to>
                                        <p:strVal val="visible"/>
                                      </p:to>
                                    </p:set>
                                    <p:animEffect transition="in" filter="fade">
                                      <p:cBhvr>
                                        <p:cTn id="43" dur="500"/>
                                        <p:tgtEl>
                                          <p:spTgt spid="32">
                                            <p:txEl>
                                              <p:pRg st="7" end="7"/>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2">
                                            <p:txEl>
                                              <p:pRg st="9" end="9"/>
                                            </p:txEl>
                                          </p:spTgt>
                                        </p:tgtEl>
                                        <p:attrNameLst>
                                          <p:attrName>style.visibility</p:attrName>
                                        </p:attrNameLst>
                                      </p:cBhvr>
                                      <p:to>
                                        <p:strVal val="visible"/>
                                      </p:to>
                                    </p:set>
                                    <p:animEffect transition="in" filter="fade">
                                      <p:cBhvr>
                                        <p:cTn id="48" dur="500"/>
                                        <p:tgtEl>
                                          <p:spTgt spid="32">
                                            <p:txEl>
                                              <p:pRg st="9" end="9"/>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xit" presetSubtype="0" fill="hold" grpId="0" nodeType="clickEffect">
                                  <p:stCondLst>
                                    <p:cond delay="0"/>
                                  </p:stCondLst>
                                  <p:childTnLst>
                                    <p:animEffect transition="out" filter="fade">
                                      <p:cBhvr>
                                        <p:cTn id="52" dur="500"/>
                                        <p:tgtEl>
                                          <p:spTgt spid="2"/>
                                        </p:tgtEl>
                                      </p:cBhvr>
                                    </p:animEffect>
                                    <p:set>
                                      <p:cBhvr>
                                        <p:cTn id="53" dur="1" fill="hold">
                                          <p:stCondLst>
                                            <p:cond delay="499"/>
                                          </p:stCondLst>
                                        </p:cTn>
                                        <p:tgtEl>
                                          <p:spTgt spid="2"/>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2">
                                            <p:txEl>
                                              <p:pRg st="10" end="10"/>
                                            </p:txEl>
                                          </p:spTgt>
                                        </p:tgtEl>
                                        <p:attrNameLst>
                                          <p:attrName>style.visibility</p:attrName>
                                        </p:attrNameLst>
                                      </p:cBhvr>
                                      <p:to>
                                        <p:strVal val="visible"/>
                                      </p:to>
                                    </p:set>
                                    <p:animEffect transition="in" filter="fade">
                                      <p:cBhvr>
                                        <p:cTn id="58" dur="500"/>
                                        <p:tgtEl>
                                          <p:spTgt spid="32">
                                            <p:txEl>
                                              <p:pRg st="10" end="10"/>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xEl>
                                              <p:pRg st="11" end="11"/>
                                            </p:txEl>
                                          </p:spTgt>
                                        </p:tgtEl>
                                        <p:attrNameLst>
                                          <p:attrName>style.visibility</p:attrName>
                                        </p:attrNameLst>
                                      </p:cBhvr>
                                      <p:to>
                                        <p:strVal val="visible"/>
                                      </p:to>
                                    </p:set>
                                    <p:animEffect transition="in" filter="fade">
                                      <p:cBhvr>
                                        <p:cTn id="63" dur="500"/>
                                        <p:tgtEl>
                                          <p:spTgt spid="32">
                                            <p:txEl>
                                              <p:pRg st="11" end="11"/>
                                            </p:txEl>
                                          </p:spTgt>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32">
                                            <p:txEl>
                                              <p:pRg st="12" end="12"/>
                                            </p:txEl>
                                          </p:spTgt>
                                        </p:tgtEl>
                                        <p:attrNameLst>
                                          <p:attrName>style.visibility</p:attrName>
                                        </p:attrNameLst>
                                      </p:cBhvr>
                                      <p:to>
                                        <p:strVal val="visible"/>
                                      </p:to>
                                    </p:set>
                                    <p:animEffect transition="in" filter="fade">
                                      <p:cBhvr>
                                        <p:cTn id="68" dur="500"/>
                                        <p:tgtEl>
                                          <p:spTgt spid="3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uiExpand="1" build="p"/>
      <p:bldP spid="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4CF1A-CA05-DF03-8262-75EE03794228}"/>
              </a:ext>
            </a:extLst>
          </p:cNvPr>
          <p:cNvSpPr>
            <a:spLocks noGrp="1"/>
          </p:cNvSpPr>
          <p:nvPr>
            <p:ph type="title"/>
          </p:nvPr>
        </p:nvSpPr>
        <p:spPr/>
        <p:txBody>
          <a:bodyPr/>
          <a:lstStyle/>
          <a:p>
            <a:r>
              <a:rPr lang="en-GB" dirty="0"/>
              <a:t>The return of </a:t>
            </a:r>
            <a:br>
              <a:rPr lang="en-GB" dirty="0"/>
            </a:br>
            <a:r>
              <a:rPr lang="en-GB" dirty="0"/>
              <a:t>hidden assumptions</a:t>
            </a:r>
          </a:p>
        </p:txBody>
      </p:sp>
    </p:spTree>
    <p:extLst>
      <p:ext uri="{BB962C8B-B14F-4D97-AF65-F5344CB8AC3E}">
        <p14:creationId xmlns:p14="http://schemas.microsoft.com/office/powerpoint/2010/main" val="630894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4" name="Title 1">
            <a:extLst>
              <a:ext uri="{FF2B5EF4-FFF2-40B4-BE49-F238E27FC236}">
                <a16:creationId xmlns:a16="http://schemas.microsoft.com/office/drawing/2014/main" id="{D40FE726-9F70-6FD6-4700-CD4141262CC6}"/>
              </a:ext>
            </a:extLst>
          </p:cNvPr>
          <p:cNvSpPr>
            <a:spLocks noGrp="1"/>
          </p:cNvSpPr>
          <p:nvPr>
            <p:ph type="title"/>
          </p:nvPr>
        </p:nvSpPr>
        <p:spPr>
          <a:xfrm>
            <a:off x="0" y="0"/>
            <a:ext cx="7514067" cy="1325563"/>
          </a:xfrm>
        </p:spPr>
        <p:txBody>
          <a:bodyPr anchor="ctr">
            <a:normAutofit/>
          </a:bodyPr>
          <a:lstStyle/>
          <a:p>
            <a:pPr algn="ctr"/>
            <a:r>
              <a:rPr lang="en-GB" sz="5400" dirty="0">
                <a:latin typeface="Bahnschrift Light" panose="020B0502040204020203" pitchFamily="34" charset="0"/>
              </a:rPr>
              <a:t>Monkey’s paw</a:t>
            </a:r>
          </a:p>
        </p:txBody>
      </p:sp>
      <p:sp>
        <p:nvSpPr>
          <p:cNvPr id="64" name="Google Shape;64;p14"/>
          <p:cNvSpPr txBox="1">
            <a:spLocks noGrp="1"/>
          </p:cNvSpPr>
          <p:nvPr>
            <p:ph type="body" idx="1"/>
          </p:nvPr>
        </p:nvSpPr>
        <p:spPr>
          <a:xfrm>
            <a:off x="0" y="1105786"/>
            <a:ext cx="7160800" cy="5360081"/>
          </a:xfrm>
          <a:prstGeom prst="rect">
            <a:avLst/>
          </a:prstGeom>
        </p:spPr>
        <p:txBody>
          <a:bodyPr spcFirstLastPara="1" vert="horz" wrap="square" lIns="121900" tIns="121900" rIns="121900" bIns="121900" rtlCol="0" anchor="t" anchorCtr="0">
            <a:noAutofit/>
          </a:bodyPr>
          <a:lstStyle/>
          <a:p>
            <a:pPr marL="0" indent="0">
              <a:lnSpc>
                <a:spcPct val="100000"/>
              </a:lnSpc>
              <a:buNone/>
            </a:pPr>
            <a:r>
              <a:rPr lang="en-GB" sz="2400" i="1" dirty="0">
                <a:latin typeface="Bahnschrift Light" panose="020B0502040204020203" pitchFamily="34" charset="0"/>
              </a:rPr>
              <a:t>The Monkey’s Paw</a:t>
            </a:r>
            <a:r>
              <a:rPr lang="en-GB" sz="2400" dirty="0">
                <a:latin typeface="Bahnschrift Light" panose="020B0502040204020203" pitchFamily="34" charset="0"/>
              </a:rPr>
              <a:t> is a short story from 1902 by W. W. Jacobs. </a:t>
            </a:r>
          </a:p>
          <a:p>
            <a:pPr marL="0" indent="0">
              <a:lnSpc>
                <a:spcPct val="100000"/>
              </a:lnSpc>
              <a:buNone/>
            </a:pPr>
            <a:endParaRPr lang="en-GB" sz="2400" dirty="0">
              <a:latin typeface="Bahnschrift Light" panose="020B0502040204020203" pitchFamily="34" charset="0"/>
            </a:endParaRPr>
          </a:p>
          <a:p>
            <a:pPr marL="0" indent="0">
              <a:lnSpc>
                <a:spcPct val="100000"/>
              </a:lnSpc>
              <a:buNone/>
            </a:pPr>
            <a:r>
              <a:rPr lang="en-GB" sz="2400" dirty="0">
                <a:latin typeface="Bahnschrift Light" panose="020B0502040204020203" pitchFamily="34" charset="0"/>
              </a:rPr>
              <a:t>A family come into possession of a wish granting monkey’s paw. They wish for £200. The son goes to work the next morning but dies on the job. The parents get £200 compensation.</a:t>
            </a:r>
            <a:endParaRPr sz="2400" dirty="0">
              <a:latin typeface="Bahnschrift Light" panose="020B0502040204020203" pitchFamily="34" charset="0"/>
            </a:endParaRPr>
          </a:p>
          <a:p>
            <a:pPr marL="0" indent="0">
              <a:lnSpc>
                <a:spcPct val="100000"/>
              </a:lnSpc>
              <a:buNone/>
            </a:pPr>
            <a:endParaRPr sz="2400" dirty="0">
              <a:latin typeface="Bahnschrift Light" panose="020B0502040204020203" pitchFamily="34" charset="0"/>
            </a:endParaRPr>
          </a:p>
          <a:p>
            <a:pPr marL="0" indent="0">
              <a:lnSpc>
                <a:spcPct val="100000"/>
              </a:lnSpc>
              <a:buNone/>
            </a:pPr>
            <a:r>
              <a:rPr lang="en-GB" b="1" dirty="0">
                <a:latin typeface="Bahnschrift Light" panose="020B0502040204020203" pitchFamily="34" charset="0"/>
              </a:rPr>
              <a:t>Relevance to stats:</a:t>
            </a:r>
          </a:p>
          <a:p>
            <a:pPr marL="0" indent="0">
              <a:lnSpc>
                <a:spcPct val="100000"/>
              </a:lnSpc>
              <a:buNone/>
            </a:pPr>
            <a:r>
              <a:rPr lang="en-GB" sz="2400" dirty="0">
                <a:latin typeface="Bahnschrift Light" panose="020B0502040204020203" pitchFamily="34" charset="0"/>
              </a:rPr>
              <a:t>Models will (almost) always answer your question. Just because you get an answer, doesn’t mean it’s the truth. In stats, you will rarely know if you have suffered the Monkey’s Paw.</a:t>
            </a:r>
            <a:endParaRPr sz="2400" dirty="0">
              <a:latin typeface="Bahnschrift Light" panose="020B0502040204020203" pitchFamily="34" charset="0"/>
            </a:endParaRPr>
          </a:p>
        </p:txBody>
      </p:sp>
      <p:pic>
        <p:nvPicPr>
          <p:cNvPr id="65" name="Google Shape;65;p14"/>
          <p:cNvPicPr preferRelativeResize="0"/>
          <p:nvPr/>
        </p:nvPicPr>
        <p:blipFill>
          <a:blip r:embed="rId3">
            <a:alphaModFix/>
          </a:blip>
          <a:stretch>
            <a:fillRect/>
          </a:stretch>
        </p:blipFill>
        <p:spPr>
          <a:xfrm>
            <a:off x="7514067" y="203201"/>
            <a:ext cx="4537752" cy="6451601"/>
          </a:xfrm>
          <a:prstGeom prst="rect">
            <a:avLst/>
          </a:prstGeom>
          <a:noFill/>
          <a:ln>
            <a:noFill/>
          </a:ln>
        </p:spPr>
      </p:pic>
    </p:spTree>
    <p:extLst>
      <p:ext uri="{BB962C8B-B14F-4D97-AF65-F5344CB8AC3E}">
        <p14:creationId xmlns:p14="http://schemas.microsoft.com/office/powerpoint/2010/main" val="2029007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1CC69-751C-F585-C2C4-D4CD3A5A3BFF}"/>
              </a:ext>
            </a:extLst>
          </p:cNvPr>
          <p:cNvSpPr>
            <a:spLocks noGrp="1"/>
          </p:cNvSpPr>
          <p:nvPr>
            <p:ph type="title"/>
          </p:nvPr>
        </p:nvSpPr>
        <p:spPr/>
        <p:txBody>
          <a:bodyPr/>
          <a:lstStyle/>
          <a:p>
            <a:r>
              <a:rPr lang="en-GB" dirty="0"/>
              <a:t>Assumptions</a:t>
            </a:r>
          </a:p>
        </p:txBody>
      </p:sp>
      <p:sp>
        <p:nvSpPr>
          <p:cNvPr id="3" name="Content Placeholder 2">
            <a:extLst>
              <a:ext uri="{FF2B5EF4-FFF2-40B4-BE49-F238E27FC236}">
                <a16:creationId xmlns:a16="http://schemas.microsoft.com/office/drawing/2014/main" id="{BFE7BD59-77A0-BBD3-BA86-4E7C522DB814}"/>
              </a:ext>
            </a:extLst>
          </p:cNvPr>
          <p:cNvSpPr>
            <a:spLocks noGrp="1"/>
          </p:cNvSpPr>
          <p:nvPr>
            <p:ph idx="1"/>
          </p:nvPr>
        </p:nvSpPr>
        <p:spPr/>
        <p:txBody>
          <a:bodyPr>
            <a:normAutofit/>
          </a:bodyPr>
          <a:lstStyle/>
          <a:p>
            <a:r>
              <a:rPr lang="en-GB" dirty="0"/>
              <a:t>Assumptions help us interpret the world</a:t>
            </a:r>
          </a:p>
          <a:p>
            <a:pPr lvl="1"/>
            <a:r>
              <a:rPr lang="en-GB" i="1" dirty="0"/>
              <a:t>Banning smoking in pubs reduced exposure to </a:t>
            </a:r>
            <a:r>
              <a:rPr lang="en-GB" i="1" dirty="0" err="1"/>
              <a:t>secondhand</a:t>
            </a:r>
            <a:r>
              <a:rPr lang="en-GB" i="1" dirty="0"/>
              <a:t> smoke</a:t>
            </a:r>
          </a:p>
          <a:p>
            <a:pPr lvl="1"/>
            <a:r>
              <a:rPr lang="en-GB" dirty="0"/>
              <a:t>We assume people smoked in pubs before the ban</a:t>
            </a:r>
          </a:p>
          <a:p>
            <a:r>
              <a:rPr lang="en-GB" dirty="0"/>
              <a:t>Imagine your friend says “I’m fine”</a:t>
            </a:r>
          </a:p>
          <a:p>
            <a:pPr lvl="1"/>
            <a:r>
              <a:rPr lang="en-GB" dirty="0"/>
              <a:t>If you assume they tell the truth, then you believe them</a:t>
            </a:r>
          </a:p>
          <a:p>
            <a:pPr lvl="1"/>
            <a:r>
              <a:rPr lang="en-GB" dirty="0"/>
              <a:t>If you assume they tend to hide their feelings, your interpretation changes</a:t>
            </a:r>
          </a:p>
        </p:txBody>
      </p:sp>
      <p:pic>
        <p:nvPicPr>
          <p:cNvPr id="10" name="Picture Placeholder 9" descr="A close-up of a person lighting a cigarette&#10;&#10;AI-generated content may be incorrect.">
            <a:extLst>
              <a:ext uri="{FF2B5EF4-FFF2-40B4-BE49-F238E27FC236}">
                <a16:creationId xmlns:a16="http://schemas.microsoft.com/office/drawing/2014/main" id="{C4A2E631-E8EF-1858-7A5F-730EB7493318}"/>
              </a:ext>
            </a:extLst>
          </p:cNvPr>
          <p:cNvPicPr>
            <a:picLocks noGrp="1" noChangeAspect="1"/>
          </p:cNvPicPr>
          <p:nvPr>
            <p:ph type="pic" sz="quarter" idx="10"/>
          </p:nvPr>
        </p:nvPicPr>
        <p:blipFill>
          <a:blip r:embed="rId2"/>
          <a:srcRect l="19708" r="19708"/>
          <a:stretch>
            <a:fillRect/>
          </a:stretch>
        </p:blipFill>
        <p:spPr/>
      </p:pic>
    </p:spTree>
    <p:extLst>
      <p:ext uri="{BB962C8B-B14F-4D97-AF65-F5344CB8AC3E}">
        <p14:creationId xmlns:p14="http://schemas.microsoft.com/office/powerpoint/2010/main" val="13776879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529A9-CCDB-DDE2-8C6D-A8C8DE52A6DF}"/>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AA2A2CC7-0024-2217-7D6F-E14780BEB090}"/>
              </a:ext>
            </a:extLst>
          </p:cNvPr>
          <p:cNvSpPr>
            <a:spLocks noGrp="1"/>
          </p:cNvSpPr>
          <p:nvPr>
            <p:ph idx="1"/>
          </p:nvPr>
        </p:nvSpPr>
        <p:spPr/>
        <p:txBody>
          <a:bodyPr/>
          <a:lstStyle/>
          <a:p>
            <a:r>
              <a:rPr lang="en-GB" dirty="0"/>
              <a:t>We always make assumptions when doing science</a:t>
            </a:r>
          </a:p>
          <a:p>
            <a:pPr lvl="1"/>
            <a:r>
              <a:rPr lang="en-GB" dirty="0"/>
              <a:t>Often, scientists don’t know all of the assumptions they are making</a:t>
            </a:r>
          </a:p>
          <a:p>
            <a:r>
              <a:rPr lang="en-GB" dirty="0"/>
              <a:t>We make assumptions at multiple stages:</a:t>
            </a:r>
          </a:p>
          <a:p>
            <a:pPr lvl="1"/>
            <a:r>
              <a:rPr lang="en-GB" dirty="0"/>
              <a:t>Assumptions about data relevance</a:t>
            </a:r>
          </a:p>
          <a:p>
            <a:pPr lvl="1"/>
            <a:r>
              <a:rPr lang="en-GB" dirty="0"/>
              <a:t>Assumptions about model structure</a:t>
            </a:r>
          </a:p>
          <a:p>
            <a:pPr lvl="1"/>
            <a:r>
              <a:rPr lang="en-GB" dirty="0"/>
              <a:t>Assumptions about residual error</a:t>
            </a:r>
          </a:p>
        </p:txBody>
      </p:sp>
      <p:pic>
        <p:nvPicPr>
          <p:cNvPr id="6" name="Picture Placeholder 5" descr="A person holding her head in a book&#10;&#10;AI-generated content may be incorrect.">
            <a:extLst>
              <a:ext uri="{FF2B5EF4-FFF2-40B4-BE49-F238E27FC236}">
                <a16:creationId xmlns:a16="http://schemas.microsoft.com/office/drawing/2014/main" id="{124F08CF-A31B-BD33-F0B1-14C948F59A0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p:pic>
    </p:spTree>
    <p:extLst>
      <p:ext uri="{BB962C8B-B14F-4D97-AF65-F5344CB8AC3E}">
        <p14:creationId xmlns:p14="http://schemas.microsoft.com/office/powerpoint/2010/main" val="36487006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A0210-842E-7173-3518-92A0E689FB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ECC5F-61AA-C6EB-F7C9-2696AFFFF25D}"/>
              </a:ext>
            </a:extLst>
          </p:cNvPr>
          <p:cNvSpPr>
            <a:spLocks noGrp="1"/>
          </p:cNvSpPr>
          <p:nvPr>
            <p:ph type="title"/>
          </p:nvPr>
        </p:nvSpPr>
        <p:spPr/>
        <p:txBody>
          <a:bodyPr>
            <a:normAutofit/>
          </a:bodyPr>
          <a:lstStyle/>
          <a:p>
            <a:r>
              <a:rPr lang="en-GB" dirty="0"/>
              <a:t>Assumption of </a:t>
            </a:r>
            <a:r>
              <a:rPr lang="en-GB" dirty="0">
                <a:solidFill>
                  <a:srgbClr val="FFFF00"/>
                </a:solidFill>
              </a:rPr>
              <a:t>validity</a:t>
            </a:r>
          </a:p>
        </p:txBody>
      </p:sp>
      <p:sp>
        <p:nvSpPr>
          <p:cNvPr id="3" name="Content Placeholder 2">
            <a:extLst>
              <a:ext uri="{FF2B5EF4-FFF2-40B4-BE49-F238E27FC236}">
                <a16:creationId xmlns:a16="http://schemas.microsoft.com/office/drawing/2014/main" id="{43BC450B-9765-6AF5-6016-8ED9DDEB4FE3}"/>
              </a:ext>
            </a:extLst>
          </p:cNvPr>
          <p:cNvSpPr>
            <a:spLocks noGrp="1"/>
          </p:cNvSpPr>
          <p:nvPr>
            <p:ph idx="1"/>
          </p:nvPr>
        </p:nvSpPr>
        <p:spPr/>
        <p:txBody>
          <a:bodyPr/>
          <a:lstStyle/>
          <a:p>
            <a:r>
              <a:rPr lang="en-GB" dirty="0"/>
              <a:t>Do nests closer to roads produce fewer chicks?</a:t>
            </a:r>
          </a:p>
          <a:p>
            <a:r>
              <a:rPr lang="en-GB" dirty="0"/>
              <a:t>You count how many eggs produced in each nest</a:t>
            </a:r>
          </a:p>
          <a:p>
            <a:r>
              <a:rPr lang="en-GB" dirty="0"/>
              <a:t>What is the issue?</a:t>
            </a:r>
          </a:p>
          <a:p>
            <a:pPr lvl="1"/>
            <a:r>
              <a:rPr lang="en-GB" dirty="0"/>
              <a:t>Number of chicks matters, not how many eggs are produced (</a:t>
            </a:r>
            <a:r>
              <a:rPr lang="en-GB" b="1" dirty="0">
                <a:solidFill>
                  <a:srgbClr val="FFFF00"/>
                </a:solidFill>
              </a:rPr>
              <a:t>Not valid</a:t>
            </a:r>
            <a:r>
              <a:rPr lang="en-GB" dirty="0"/>
              <a:t>)</a:t>
            </a:r>
          </a:p>
          <a:p>
            <a:r>
              <a:rPr lang="en-GB" dirty="0"/>
              <a:t>What is the consequence?</a:t>
            </a:r>
          </a:p>
          <a:p>
            <a:pPr lvl="1"/>
            <a:r>
              <a:rPr lang="en-GB" dirty="0"/>
              <a:t>Your model is not answering your question</a:t>
            </a:r>
          </a:p>
        </p:txBody>
      </p:sp>
      <p:pic>
        <p:nvPicPr>
          <p:cNvPr id="6" name="Picture Placeholder 5" descr="A bird on a nest&#10;&#10;AI-generated content may be incorrect.">
            <a:extLst>
              <a:ext uri="{FF2B5EF4-FFF2-40B4-BE49-F238E27FC236}">
                <a16:creationId xmlns:a16="http://schemas.microsoft.com/office/drawing/2014/main" id="{E7334286-CF3B-8203-DA4B-EA34D01F4BB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569" r="26082"/>
          <a:stretch/>
        </p:blipFill>
        <p:spPr>
          <a:xfrm>
            <a:off x="7130374" y="0"/>
            <a:ext cx="5061626" cy="3483582"/>
          </a:xfrm>
        </p:spPr>
      </p:pic>
      <p:pic>
        <p:nvPicPr>
          <p:cNvPr id="8" name="Picture 7" descr="A group of eggs in a nest&#10;&#10;AI-generated content may be incorrect.">
            <a:extLst>
              <a:ext uri="{FF2B5EF4-FFF2-40B4-BE49-F238E27FC236}">
                <a16:creationId xmlns:a16="http://schemas.microsoft.com/office/drawing/2014/main" id="{C5E103DE-7987-A168-291F-4E8C4FD549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30374" y="3483582"/>
            <a:ext cx="5061626" cy="3374417"/>
          </a:xfrm>
          <a:prstGeom prst="rect">
            <a:avLst/>
          </a:prstGeom>
        </p:spPr>
      </p:pic>
    </p:spTree>
    <p:extLst>
      <p:ext uri="{BB962C8B-B14F-4D97-AF65-F5344CB8AC3E}">
        <p14:creationId xmlns:p14="http://schemas.microsoft.com/office/powerpoint/2010/main" val="31495575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76714-F813-C0A1-1AAF-B64D8C9AF342}"/>
              </a:ext>
            </a:extLst>
          </p:cNvPr>
          <p:cNvSpPr>
            <a:spLocks noGrp="1"/>
          </p:cNvSpPr>
          <p:nvPr>
            <p:ph type="title"/>
          </p:nvPr>
        </p:nvSpPr>
        <p:spPr/>
        <p:txBody>
          <a:bodyPr>
            <a:normAutofit/>
          </a:bodyPr>
          <a:lstStyle/>
          <a:p>
            <a:r>
              <a:rPr lang="en-GB" dirty="0"/>
              <a:t>Assumption of </a:t>
            </a:r>
            <a:r>
              <a:rPr lang="en-GB" dirty="0">
                <a:solidFill>
                  <a:srgbClr val="FFFF00"/>
                </a:solidFill>
              </a:rPr>
              <a:t>representativeness</a:t>
            </a:r>
          </a:p>
        </p:txBody>
      </p:sp>
      <p:sp>
        <p:nvSpPr>
          <p:cNvPr id="3" name="Content Placeholder 2">
            <a:extLst>
              <a:ext uri="{FF2B5EF4-FFF2-40B4-BE49-F238E27FC236}">
                <a16:creationId xmlns:a16="http://schemas.microsoft.com/office/drawing/2014/main" id="{D24BE9AA-B6CF-A49B-14CB-153D13538547}"/>
              </a:ext>
            </a:extLst>
          </p:cNvPr>
          <p:cNvSpPr>
            <a:spLocks noGrp="1"/>
          </p:cNvSpPr>
          <p:nvPr>
            <p:ph idx="1"/>
          </p:nvPr>
        </p:nvSpPr>
        <p:spPr/>
        <p:txBody>
          <a:bodyPr/>
          <a:lstStyle/>
          <a:p>
            <a:r>
              <a:rPr lang="en-GB" dirty="0"/>
              <a:t>What is the growth rate of Atlantic cod?</a:t>
            </a:r>
          </a:p>
          <a:p>
            <a:r>
              <a:rPr lang="en-GB" dirty="0"/>
              <a:t>You measure growth of fish caught in good habitats</a:t>
            </a:r>
          </a:p>
          <a:p>
            <a:r>
              <a:rPr lang="en-GB" dirty="0"/>
              <a:t>What is the issue?</a:t>
            </a:r>
          </a:p>
          <a:p>
            <a:pPr lvl="1"/>
            <a:r>
              <a:rPr lang="en-GB" dirty="0"/>
              <a:t>Cod will grow faster in good habitat (</a:t>
            </a:r>
            <a:r>
              <a:rPr lang="en-GB" b="1" dirty="0">
                <a:solidFill>
                  <a:srgbClr val="FFFF00"/>
                </a:solidFill>
              </a:rPr>
              <a:t>Not representative</a:t>
            </a:r>
            <a:r>
              <a:rPr lang="en-GB" dirty="0"/>
              <a:t>)</a:t>
            </a:r>
          </a:p>
          <a:p>
            <a:r>
              <a:rPr lang="en-GB" dirty="0"/>
              <a:t>What is the consequence?</a:t>
            </a:r>
          </a:p>
          <a:p>
            <a:pPr lvl="1"/>
            <a:r>
              <a:rPr lang="en-GB" dirty="0"/>
              <a:t>Your answer is biassed</a:t>
            </a:r>
          </a:p>
        </p:txBody>
      </p:sp>
      <p:pic>
        <p:nvPicPr>
          <p:cNvPr id="6" name="Picture Placeholder 5" descr="A person holding a large fish&#10;&#10;AI-generated content may be incorrect.">
            <a:extLst>
              <a:ext uri="{FF2B5EF4-FFF2-40B4-BE49-F238E27FC236}">
                <a16:creationId xmlns:a16="http://schemas.microsoft.com/office/drawing/2014/main" id="{EB8401D3-F264-95F0-BC8A-546A0DC65720}"/>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3" r="21898" b="10901"/>
          <a:stretch/>
        </p:blipFill>
        <p:spPr>
          <a:xfrm>
            <a:off x="6635685" y="0"/>
            <a:ext cx="5556315" cy="4187899"/>
          </a:xfrm>
        </p:spPr>
      </p:pic>
      <p:pic>
        <p:nvPicPr>
          <p:cNvPr id="8" name="Picture 7" descr="A group of fish swimming in water&#10;&#10;AI-generated content may be incorrect.">
            <a:extLst>
              <a:ext uri="{FF2B5EF4-FFF2-40B4-BE49-F238E27FC236}">
                <a16:creationId xmlns:a16="http://schemas.microsoft.com/office/drawing/2014/main" id="{E1D8F8A4-3C06-F268-E683-BE12D0A573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3922" y="4187899"/>
            <a:ext cx="5558078" cy="2670101"/>
          </a:xfrm>
          <a:prstGeom prst="rect">
            <a:avLst/>
          </a:prstGeom>
        </p:spPr>
      </p:pic>
    </p:spTree>
    <p:extLst>
      <p:ext uri="{BB962C8B-B14F-4D97-AF65-F5344CB8AC3E}">
        <p14:creationId xmlns:p14="http://schemas.microsoft.com/office/powerpoint/2010/main" val="2605206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0FA4A-7F18-1718-D5BF-0D0178AAE5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548B66-B385-FF3B-07D6-0C6DAE4A8342}"/>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2A41B104-4CA6-FA59-D378-07C6267DB772}"/>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r>
              <a:rPr lang="en-GB" dirty="0"/>
              <a:t>Assumptions about residual error</a:t>
            </a:r>
          </a:p>
        </p:txBody>
      </p:sp>
      <p:pic>
        <p:nvPicPr>
          <p:cNvPr id="4" name="Picture Placeholder 5" descr="A person holding her head in a book&#10;&#10;AI-generated content may be incorrect.">
            <a:extLst>
              <a:ext uri="{FF2B5EF4-FFF2-40B4-BE49-F238E27FC236}">
                <a16:creationId xmlns:a16="http://schemas.microsoft.com/office/drawing/2014/main" id="{9845D9F2-39FC-5A44-ED3C-4175CD43B12D}"/>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a:xfrm>
            <a:off x="6359525" y="0"/>
            <a:ext cx="5832475" cy="6858000"/>
          </a:xfrm>
        </p:spPr>
      </p:pic>
    </p:spTree>
    <p:extLst>
      <p:ext uri="{BB962C8B-B14F-4D97-AF65-F5344CB8AC3E}">
        <p14:creationId xmlns:p14="http://schemas.microsoft.com/office/powerpoint/2010/main" val="495765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D873-E1E2-BF09-EC64-B6180FD8C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F7070-C846-BFCB-B756-D201F5C3047E}"/>
              </a:ext>
            </a:extLst>
          </p:cNvPr>
          <p:cNvSpPr>
            <a:spLocks noGrp="1"/>
          </p:cNvSpPr>
          <p:nvPr>
            <p:ph type="title"/>
          </p:nvPr>
        </p:nvSpPr>
        <p:spPr/>
        <p:txBody>
          <a:bodyPr>
            <a:normAutofit/>
          </a:bodyPr>
          <a:lstStyle/>
          <a:p>
            <a:r>
              <a:rPr lang="en-GB" dirty="0"/>
              <a:t>Assumption of </a:t>
            </a:r>
            <a:r>
              <a:rPr lang="en-GB" dirty="0" err="1">
                <a:solidFill>
                  <a:srgbClr val="FFFF00"/>
                </a:solidFill>
              </a:rPr>
              <a:t>addivity</a:t>
            </a:r>
            <a:endParaRPr lang="en-GB" dirty="0">
              <a:solidFill>
                <a:srgbClr val="FFFF00"/>
              </a:solidFill>
            </a:endParaRPr>
          </a:p>
        </p:txBody>
      </p:sp>
      <p:sp>
        <p:nvSpPr>
          <p:cNvPr id="3" name="Content Placeholder 2">
            <a:extLst>
              <a:ext uri="{FF2B5EF4-FFF2-40B4-BE49-F238E27FC236}">
                <a16:creationId xmlns:a16="http://schemas.microsoft.com/office/drawing/2014/main" id="{6FD98FB9-C11C-F94B-FA73-AAC008EEBC55}"/>
              </a:ext>
            </a:extLst>
          </p:cNvPr>
          <p:cNvSpPr>
            <a:spLocks noGrp="1"/>
          </p:cNvSpPr>
          <p:nvPr>
            <p:ph idx="1"/>
          </p:nvPr>
        </p:nvSpPr>
        <p:spPr/>
        <p:txBody>
          <a:bodyPr/>
          <a:lstStyle/>
          <a:p>
            <a:r>
              <a:rPr lang="en-GB" dirty="0"/>
              <a:t>Do food supplements and exercise improve muscle growth in humans?</a:t>
            </a:r>
          </a:p>
          <a:p>
            <a:r>
              <a:rPr lang="en-GB" dirty="0"/>
              <a:t>You look at the effect of food and exercise separately</a:t>
            </a:r>
          </a:p>
          <a:p>
            <a:r>
              <a:rPr lang="en-GB" dirty="0"/>
              <a:t>What is the issue?</a:t>
            </a:r>
          </a:p>
          <a:p>
            <a:pPr lvl="1"/>
            <a:r>
              <a:rPr lang="en-GB" dirty="0"/>
              <a:t>Food and exercise may not work independently, their effects may interact or multiply (</a:t>
            </a:r>
            <a:r>
              <a:rPr lang="en-GB" b="1" dirty="0">
                <a:solidFill>
                  <a:srgbClr val="FFFF00"/>
                </a:solidFill>
              </a:rPr>
              <a:t>Not additive</a:t>
            </a:r>
            <a:r>
              <a:rPr lang="en-GB" dirty="0"/>
              <a:t>)</a:t>
            </a:r>
          </a:p>
          <a:p>
            <a:r>
              <a:rPr lang="en-GB" dirty="0"/>
              <a:t>What is the consequence?</a:t>
            </a:r>
          </a:p>
          <a:p>
            <a:pPr lvl="1"/>
            <a:r>
              <a:rPr lang="en-GB" dirty="0"/>
              <a:t>You might miss key patterns with an overly simplistic model</a:t>
            </a:r>
          </a:p>
        </p:txBody>
      </p:sp>
      <p:pic>
        <p:nvPicPr>
          <p:cNvPr id="6" name="Picture 5" descr="A group of pills with different colors of pills&#10;&#10;AI-generated content may be incorrect.">
            <a:extLst>
              <a:ext uri="{FF2B5EF4-FFF2-40B4-BE49-F238E27FC236}">
                <a16:creationId xmlns:a16="http://schemas.microsoft.com/office/drawing/2014/main" id="{DBFFDF7F-30B0-48B5-0379-324E4A72F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85991" y="0"/>
            <a:ext cx="5006009" cy="3356194"/>
          </a:xfrm>
          <a:prstGeom prst="rect">
            <a:avLst/>
          </a:prstGeom>
        </p:spPr>
      </p:pic>
      <p:pic>
        <p:nvPicPr>
          <p:cNvPr id="8" name="Picture 7" descr="A group of people doing exercise&#10;&#10;AI-generated content may be incorrect.">
            <a:extLst>
              <a:ext uri="{FF2B5EF4-FFF2-40B4-BE49-F238E27FC236}">
                <a16:creationId xmlns:a16="http://schemas.microsoft.com/office/drawing/2014/main" id="{6232AD5F-7657-0FF4-4462-D3D70EEEA101}"/>
              </a:ext>
            </a:extLst>
          </p:cNvPr>
          <p:cNvPicPr>
            <a:picLocks noChangeAspect="1"/>
          </p:cNvPicPr>
          <p:nvPr/>
        </p:nvPicPr>
        <p:blipFill>
          <a:blip r:embed="rId3">
            <a:extLst>
              <a:ext uri="{28A0092B-C50C-407E-A947-70E740481C1C}">
                <a14:useLocalDpi xmlns:a14="http://schemas.microsoft.com/office/drawing/2010/main" val="0"/>
              </a:ext>
            </a:extLst>
          </a:blip>
          <a:srcRect r="4443"/>
          <a:stretch/>
        </p:blipFill>
        <p:spPr>
          <a:xfrm>
            <a:off x="7185991" y="3371850"/>
            <a:ext cx="5006009" cy="3486150"/>
          </a:xfrm>
          <a:prstGeom prst="rect">
            <a:avLst/>
          </a:prstGeom>
        </p:spPr>
      </p:pic>
    </p:spTree>
    <p:extLst>
      <p:ext uri="{BB962C8B-B14F-4D97-AF65-F5344CB8AC3E}">
        <p14:creationId xmlns:p14="http://schemas.microsoft.com/office/powerpoint/2010/main" val="30243359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7ED1F-0DD4-D7DD-D372-E0CCD1278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34734B-6F8C-63EF-AFFF-0C2733113512}"/>
              </a:ext>
            </a:extLst>
          </p:cNvPr>
          <p:cNvSpPr>
            <a:spLocks noGrp="1"/>
          </p:cNvSpPr>
          <p:nvPr>
            <p:ph type="title"/>
          </p:nvPr>
        </p:nvSpPr>
        <p:spPr/>
        <p:txBody>
          <a:bodyPr>
            <a:normAutofit/>
          </a:bodyPr>
          <a:lstStyle/>
          <a:p>
            <a:r>
              <a:rPr lang="en-GB" dirty="0"/>
              <a:t>Assumption of </a:t>
            </a:r>
            <a:r>
              <a:rPr lang="en-GB" dirty="0">
                <a:solidFill>
                  <a:srgbClr val="FFFF00"/>
                </a:solidFill>
              </a:rPr>
              <a:t>linearity</a:t>
            </a:r>
          </a:p>
        </p:txBody>
      </p:sp>
      <p:sp>
        <p:nvSpPr>
          <p:cNvPr id="3" name="Content Placeholder 2">
            <a:extLst>
              <a:ext uri="{FF2B5EF4-FFF2-40B4-BE49-F238E27FC236}">
                <a16:creationId xmlns:a16="http://schemas.microsoft.com/office/drawing/2014/main" id="{15216E42-726E-BA5C-3614-EC5F2230920B}"/>
              </a:ext>
            </a:extLst>
          </p:cNvPr>
          <p:cNvSpPr>
            <a:spLocks noGrp="1"/>
          </p:cNvSpPr>
          <p:nvPr>
            <p:ph idx="1"/>
          </p:nvPr>
        </p:nvSpPr>
        <p:spPr/>
        <p:txBody>
          <a:bodyPr/>
          <a:lstStyle/>
          <a:p>
            <a:r>
              <a:rPr lang="en-GB" dirty="0"/>
              <a:t>What is the temperature on enzyme activity?</a:t>
            </a:r>
          </a:p>
          <a:p>
            <a:r>
              <a:rPr lang="en-GB" dirty="0"/>
              <a:t>You fit a model that assumes a straight line will describe the relationship</a:t>
            </a:r>
          </a:p>
          <a:p>
            <a:r>
              <a:rPr lang="en-GB" dirty="0"/>
              <a:t>What is the issue?</a:t>
            </a:r>
          </a:p>
          <a:p>
            <a:pPr lvl="1"/>
            <a:r>
              <a:rPr lang="en-GB" dirty="0"/>
              <a:t>The relationship is not linear </a:t>
            </a:r>
            <a:br>
              <a:rPr lang="en-GB" dirty="0"/>
            </a:br>
            <a:r>
              <a:rPr lang="en-GB" dirty="0"/>
              <a:t>(</a:t>
            </a:r>
            <a:r>
              <a:rPr lang="en-GB" b="1" dirty="0">
                <a:solidFill>
                  <a:srgbClr val="FFFF00"/>
                </a:solidFill>
              </a:rPr>
              <a:t>Not linear</a:t>
            </a:r>
            <a:r>
              <a:rPr lang="en-GB" dirty="0"/>
              <a:t>)</a:t>
            </a:r>
          </a:p>
          <a:p>
            <a:r>
              <a:rPr lang="en-GB" dirty="0"/>
              <a:t>What is the consequence?</a:t>
            </a:r>
          </a:p>
          <a:p>
            <a:pPr lvl="1"/>
            <a:r>
              <a:rPr lang="en-GB" dirty="0"/>
              <a:t>The model might be nonsense</a:t>
            </a:r>
          </a:p>
        </p:txBody>
      </p:sp>
      <p:pic>
        <p:nvPicPr>
          <p:cNvPr id="6" name="Picture 5" descr="A close-up of a cell&#10;&#10;AI-generated content may be incorrect.">
            <a:extLst>
              <a:ext uri="{FF2B5EF4-FFF2-40B4-BE49-F238E27FC236}">
                <a16:creationId xmlns:a16="http://schemas.microsoft.com/office/drawing/2014/main" id="{5A85F524-B4AF-805C-4E1D-1A384792061C}"/>
              </a:ext>
            </a:extLst>
          </p:cNvPr>
          <p:cNvPicPr>
            <a:picLocks noChangeAspect="1"/>
          </p:cNvPicPr>
          <p:nvPr/>
        </p:nvPicPr>
        <p:blipFill>
          <a:blip r:embed="rId2">
            <a:extLst>
              <a:ext uri="{28A0092B-C50C-407E-A947-70E740481C1C}">
                <a14:useLocalDpi xmlns:a14="http://schemas.microsoft.com/office/drawing/2010/main" val="0"/>
              </a:ext>
            </a:extLst>
          </a:blip>
          <a:srcRect t="14720" b="-14720"/>
          <a:stretch/>
        </p:blipFill>
        <p:spPr>
          <a:xfrm>
            <a:off x="7620000" y="0"/>
            <a:ext cx="4572000" cy="3429000"/>
          </a:xfrm>
          <a:prstGeom prst="rect">
            <a:avLst/>
          </a:prstGeom>
        </p:spPr>
      </p:pic>
      <p:pic>
        <p:nvPicPr>
          <p:cNvPr id="8" name="Picture 7">
            <a:extLst>
              <a:ext uri="{FF2B5EF4-FFF2-40B4-BE49-F238E27FC236}">
                <a16:creationId xmlns:a16="http://schemas.microsoft.com/office/drawing/2014/main" id="{8F83C057-A3E8-216F-43B5-9D5C7890790D}"/>
              </a:ext>
            </a:extLst>
          </p:cNvPr>
          <p:cNvPicPr>
            <a:picLocks noChangeAspect="1"/>
          </p:cNvPicPr>
          <p:nvPr/>
        </p:nvPicPr>
        <p:blipFill>
          <a:blip r:embed="rId3"/>
          <a:stretch>
            <a:fillRect/>
          </a:stretch>
        </p:blipFill>
        <p:spPr>
          <a:xfrm>
            <a:off x="7510005" y="2924268"/>
            <a:ext cx="4681995" cy="3933731"/>
          </a:xfrm>
          <a:prstGeom prst="rect">
            <a:avLst/>
          </a:prstGeom>
        </p:spPr>
      </p:pic>
    </p:spTree>
    <p:extLst>
      <p:ext uri="{BB962C8B-B14F-4D97-AF65-F5344CB8AC3E}">
        <p14:creationId xmlns:p14="http://schemas.microsoft.com/office/powerpoint/2010/main" val="1709769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95F26-1834-9D2B-2645-6B99E65682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AB5DCE-5C43-EDBD-0515-B12C798D5E12}"/>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FBAF5F11-B79F-19C8-AE18-9EB1500C72E0}"/>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pPr lvl="1"/>
            <a:r>
              <a:rPr lang="en-GB" b="1" dirty="0">
                <a:solidFill>
                  <a:srgbClr val="FFFF00"/>
                </a:solidFill>
              </a:rPr>
              <a:t>Additivity</a:t>
            </a:r>
            <a:r>
              <a:rPr lang="en-GB" dirty="0"/>
              <a:t> and </a:t>
            </a:r>
            <a:r>
              <a:rPr lang="en-GB" b="1" dirty="0">
                <a:solidFill>
                  <a:srgbClr val="FFFF00"/>
                </a:solidFill>
              </a:rPr>
              <a:t>Linearity</a:t>
            </a:r>
          </a:p>
          <a:p>
            <a:r>
              <a:rPr lang="en-GB" dirty="0"/>
              <a:t>Assumptions about residual error</a:t>
            </a:r>
          </a:p>
        </p:txBody>
      </p:sp>
      <p:pic>
        <p:nvPicPr>
          <p:cNvPr id="4" name="Picture Placeholder 5" descr="A person holding her head in a book&#10;&#10;AI-generated content may be incorrect.">
            <a:extLst>
              <a:ext uri="{FF2B5EF4-FFF2-40B4-BE49-F238E27FC236}">
                <a16:creationId xmlns:a16="http://schemas.microsoft.com/office/drawing/2014/main" id="{D2AA7301-45EB-59BE-44E6-98CB63A48AA7}"/>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6081" r="26081"/>
          <a:stretch>
            <a:fillRect/>
          </a:stretch>
        </p:blipFill>
        <p:spPr>
          <a:xfrm>
            <a:off x="6359525" y="0"/>
            <a:ext cx="5832475" cy="6858000"/>
          </a:xfrm>
        </p:spPr>
      </p:pic>
    </p:spTree>
    <p:extLst>
      <p:ext uri="{BB962C8B-B14F-4D97-AF65-F5344CB8AC3E}">
        <p14:creationId xmlns:p14="http://schemas.microsoft.com/office/powerpoint/2010/main" val="25197980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rainbow colored stuffed animal in a car&#10;&#10;AI-generated content may be incorrect.">
            <a:extLst>
              <a:ext uri="{FF2B5EF4-FFF2-40B4-BE49-F238E27FC236}">
                <a16:creationId xmlns:a16="http://schemas.microsoft.com/office/drawing/2014/main" id="{C79458ED-912C-948D-036F-F30E7997B5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04012" y="0"/>
            <a:ext cx="5143500" cy="6858000"/>
          </a:xfrm>
          <a:prstGeom prst="rect">
            <a:avLst/>
          </a:prstGeom>
        </p:spPr>
      </p:pic>
      <p:pic>
        <p:nvPicPr>
          <p:cNvPr id="13" name="Picture 12" descr="A screenshot of a phone&#10;&#10;AI-generated content may be incorrect.">
            <a:extLst>
              <a:ext uri="{FF2B5EF4-FFF2-40B4-BE49-F238E27FC236}">
                <a16:creationId xmlns:a16="http://schemas.microsoft.com/office/drawing/2014/main" id="{4E68CE19-E457-5006-C5B0-CFF461A5EAE2}"/>
              </a:ext>
            </a:extLst>
          </p:cNvPr>
          <p:cNvPicPr>
            <a:picLocks noChangeAspect="1"/>
          </p:cNvPicPr>
          <p:nvPr/>
        </p:nvPicPr>
        <p:blipFill>
          <a:blip r:embed="rId3">
            <a:extLst>
              <a:ext uri="{28A0092B-C50C-407E-A947-70E740481C1C}">
                <a14:useLocalDpi xmlns:a14="http://schemas.microsoft.com/office/drawing/2010/main" val="0"/>
              </a:ext>
            </a:extLst>
          </a:blip>
          <a:srcRect l="1" r="202" b="23565"/>
          <a:stretch>
            <a:fillRect/>
          </a:stretch>
        </p:blipFill>
        <p:spPr>
          <a:xfrm>
            <a:off x="10087002" y="4790480"/>
            <a:ext cx="1760510" cy="2067520"/>
          </a:xfrm>
          <a:prstGeom prst="rect">
            <a:avLst/>
          </a:prstGeom>
        </p:spPr>
      </p:pic>
      <p:pic>
        <p:nvPicPr>
          <p:cNvPr id="19" name="Picture Placeholder 18" descr="A two images of a person standing on a bridge&#10;&#10;AI-generated content may be incorrect.">
            <a:extLst>
              <a:ext uri="{FF2B5EF4-FFF2-40B4-BE49-F238E27FC236}">
                <a16:creationId xmlns:a16="http://schemas.microsoft.com/office/drawing/2014/main" id="{23EC9545-B6EA-F413-E30B-3CDFDEA7ADC8}"/>
              </a:ext>
            </a:extLst>
          </p:cNvPr>
          <p:cNvPicPr>
            <a:picLocks noGrp="1" noChangeAspect="1"/>
          </p:cNvPicPr>
          <p:nvPr>
            <p:ph type="pic" sz="quarter" idx="10"/>
          </p:nvPr>
        </p:nvPicPr>
        <p:blipFill>
          <a:blip r:embed="rId4">
            <a:extLst>
              <a:ext uri="{28A0092B-C50C-407E-A947-70E740481C1C}">
                <a14:useLocalDpi xmlns:a14="http://schemas.microsoft.com/office/drawing/2010/main" val="0"/>
              </a:ext>
            </a:extLst>
          </a:blip>
          <a:srcRect l="7477" r="7477"/>
          <a:stretch>
            <a:fillRect/>
          </a:stretch>
        </p:blipFill>
        <p:spPr/>
      </p:pic>
      <p:sp>
        <p:nvSpPr>
          <p:cNvPr id="4" name="Rectangle 3">
            <a:extLst>
              <a:ext uri="{FF2B5EF4-FFF2-40B4-BE49-F238E27FC236}">
                <a16:creationId xmlns:a16="http://schemas.microsoft.com/office/drawing/2014/main" id="{75714F2C-B148-C5A4-E3FD-B12B6F3A3CF3}"/>
              </a:ext>
            </a:extLst>
          </p:cNvPr>
          <p:cNvSpPr/>
          <p:nvPr/>
        </p:nvSpPr>
        <p:spPr>
          <a:xfrm>
            <a:off x="9288855" y="0"/>
            <a:ext cx="2903143" cy="6858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1" name="Picture 20">
            <a:extLst>
              <a:ext uri="{FF2B5EF4-FFF2-40B4-BE49-F238E27FC236}">
                <a16:creationId xmlns:a16="http://schemas.microsoft.com/office/drawing/2014/main" id="{466F8AFA-66D3-7EE5-0E7A-17692B5BF8A0}"/>
              </a:ext>
            </a:extLst>
          </p:cNvPr>
          <p:cNvPicPr>
            <a:picLocks noChangeAspect="1"/>
          </p:cNvPicPr>
          <p:nvPr/>
        </p:nvPicPr>
        <p:blipFill>
          <a:blip r:embed="rId5"/>
          <a:stretch>
            <a:fillRect/>
          </a:stretch>
        </p:blipFill>
        <p:spPr>
          <a:xfrm>
            <a:off x="6096000" y="662781"/>
            <a:ext cx="6134100" cy="5772150"/>
          </a:xfrm>
          <a:prstGeom prst="rect">
            <a:avLst/>
          </a:prstGeom>
        </p:spPr>
      </p:pic>
      <p:sp>
        <p:nvSpPr>
          <p:cNvPr id="2" name="Title 1">
            <a:extLst>
              <a:ext uri="{FF2B5EF4-FFF2-40B4-BE49-F238E27FC236}">
                <a16:creationId xmlns:a16="http://schemas.microsoft.com/office/drawing/2014/main" id="{934935FA-71B4-E85F-6FFD-37DC13A267BC}"/>
              </a:ext>
            </a:extLst>
          </p:cNvPr>
          <p:cNvSpPr>
            <a:spLocks noGrp="1"/>
          </p:cNvSpPr>
          <p:nvPr>
            <p:ph type="title"/>
          </p:nvPr>
        </p:nvSpPr>
        <p:spPr/>
        <p:txBody>
          <a:bodyPr/>
          <a:lstStyle/>
          <a:p>
            <a:r>
              <a:rPr lang="en-GB" dirty="0"/>
              <a:t>Residual error</a:t>
            </a:r>
          </a:p>
        </p:txBody>
      </p:sp>
      <p:sp>
        <p:nvSpPr>
          <p:cNvPr id="3" name="Content Placeholder 2">
            <a:extLst>
              <a:ext uri="{FF2B5EF4-FFF2-40B4-BE49-F238E27FC236}">
                <a16:creationId xmlns:a16="http://schemas.microsoft.com/office/drawing/2014/main" id="{17195559-E191-5A00-6F76-320BE9FB2C6D}"/>
              </a:ext>
            </a:extLst>
          </p:cNvPr>
          <p:cNvSpPr>
            <a:spLocks noGrp="1"/>
          </p:cNvSpPr>
          <p:nvPr>
            <p:ph idx="1"/>
          </p:nvPr>
        </p:nvSpPr>
        <p:spPr/>
        <p:txBody>
          <a:bodyPr/>
          <a:lstStyle/>
          <a:p>
            <a:r>
              <a:rPr lang="en-GB" dirty="0"/>
              <a:t>Residual error is, crudely, how “wrong” a prediction is for its corresponding observation</a:t>
            </a:r>
          </a:p>
          <a:p>
            <a:r>
              <a:rPr lang="en-GB" b="1" dirty="0"/>
              <a:t>We do not want any patterns in residuals!</a:t>
            </a:r>
          </a:p>
        </p:txBody>
      </p:sp>
      <p:grpSp>
        <p:nvGrpSpPr>
          <p:cNvPr id="25" name="Group 24">
            <a:extLst>
              <a:ext uri="{FF2B5EF4-FFF2-40B4-BE49-F238E27FC236}">
                <a16:creationId xmlns:a16="http://schemas.microsoft.com/office/drawing/2014/main" id="{AC3920C7-F75A-66E9-F7E8-4207BA668A5C}"/>
              </a:ext>
            </a:extLst>
          </p:cNvPr>
          <p:cNvGrpSpPr/>
          <p:nvPr/>
        </p:nvGrpSpPr>
        <p:grpSpPr>
          <a:xfrm>
            <a:off x="9569445" y="902046"/>
            <a:ext cx="1098555" cy="524567"/>
            <a:chOff x="9569445" y="902046"/>
            <a:chExt cx="1098555" cy="524567"/>
          </a:xfrm>
        </p:grpSpPr>
        <p:sp>
          <p:nvSpPr>
            <p:cNvPr id="6" name="TextBox 5">
              <a:extLst>
                <a:ext uri="{FF2B5EF4-FFF2-40B4-BE49-F238E27FC236}">
                  <a16:creationId xmlns:a16="http://schemas.microsoft.com/office/drawing/2014/main" id="{5927A7FE-932B-37AD-13B3-32C7587BDEF4}"/>
                </a:ext>
              </a:extLst>
            </p:cNvPr>
            <p:cNvSpPr txBox="1"/>
            <p:nvPr/>
          </p:nvSpPr>
          <p:spPr>
            <a:xfrm>
              <a:off x="9569445" y="902046"/>
              <a:ext cx="889987" cy="369332"/>
            </a:xfrm>
            <a:prstGeom prst="rect">
              <a:avLst/>
            </a:prstGeom>
            <a:noFill/>
          </p:spPr>
          <p:txBody>
            <a:bodyPr wrap="none" rtlCol="0">
              <a:spAutoFit/>
            </a:bodyPr>
            <a:lstStyle/>
            <a:p>
              <a:r>
                <a:rPr lang="en-GB" dirty="0"/>
                <a:t>Reality</a:t>
              </a:r>
            </a:p>
          </p:txBody>
        </p:sp>
        <p:cxnSp>
          <p:nvCxnSpPr>
            <p:cNvPr id="9" name="Straight Arrow Connector 8">
              <a:extLst>
                <a:ext uri="{FF2B5EF4-FFF2-40B4-BE49-F238E27FC236}">
                  <a16:creationId xmlns:a16="http://schemas.microsoft.com/office/drawing/2014/main" id="{784114B2-6D65-AC17-B78A-3DD3D1A9B298}"/>
                </a:ext>
              </a:extLst>
            </p:cNvPr>
            <p:cNvCxnSpPr>
              <a:cxnSpLocks/>
            </p:cNvCxnSpPr>
            <p:nvPr/>
          </p:nvCxnSpPr>
          <p:spPr>
            <a:xfrm>
              <a:off x="10350387" y="1173956"/>
              <a:ext cx="317613" cy="2526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099FDB51-0EBB-7988-D6FB-E2C7ACBD095B}"/>
              </a:ext>
            </a:extLst>
          </p:cNvPr>
          <p:cNvGrpSpPr/>
          <p:nvPr/>
        </p:nvGrpSpPr>
        <p:grpSpPr>
          <a:xfrm>
            <a:off x="9288853" y="1472565"/>
            <a:ext cx="1379147" cy="646331"/>
            <a:chOff x="9288853" y="1472565"/>
            <a:chExt cx="1379147" cy="646331"/>
          </a:xfrm>
        </p:grpSpPr>
        <p:sp>
          <p:nvSpPr>
            <p:cNvPr id="7" name="TextBox 6">
              <a:extLst>
                <a:ext uri="{FF2B5EF4-FFF2-40B4-BE49-F238E27FC236}">
                  <a16:creationId xmlns:a16="http://schemas.microsoft.com/office/drawing/2014/main" id="{5CE8A9CE-0DA3-652D-EE2E-4A4319C974B5}"/>
                </a:ext>
              </a:extLst>
            </p:cNvPr>
            <p:cNvSpPr txBox="1"/>
            <p:nvPr/>
          </p:nvSpPr>
          <p:spPr>
            <a:xfrm>
              <a:off x="9288853" y="1472565"/>
              <a:ext cx="1075936" cy="646331"/>
            </a:xfrm>
            <a:prstGeom prst="rect">
              <a:avLst/>
            </a:prstGeom>
            <a:noFill/>
          </p:spPr>
          <p:txBody>
            <a:bodyPr wrap="none" rtlCol="0">
              <a:spAutoFit/>
            </a:bodyPr>
            <a:lstStyle/>
            <a:p>
              <a:r>
                <a:rPr lang="en-GB" dirty="0"/>
                <a:t>Residual</a:t>
              </a:r>
              <a:br>
                <a:rPr lang="en-GB" dirty="0"/>
              </a:br>
              <a:r>
                <a:rPr lang="en-GB" dirty="0"/>
                <a:t>error</a:t>
              </a:r>
            </a:p>
          </p:txBody>
        </p:sp>
        <p:cxnSp>
          <p:nvCxnSpPr>
            <p:cNvPr id="17" name="Straight Arrow Connector 16">
              <a:extLst>
                <a:ext uri="{FF2B5EF4-FFF2-40B4-BE49-F238E27FC236}">
                  <a16:creationId xmlns:a16="http://schemas.microsoft.com/office/drawing/2014/main" id="{EAA0EEC4-6A7B-FC91-BAC8-EF5EED70B2D1}"/>
                </a:ext>
              </a:extLst>
            </p:cNvPr>
            <p:cNvCxnSpPr>
              <a:cxnSpLocks/>
              <a:stCxn id="7" idx="3"/>
            </p:cNvCxnSpPr>
            <p:nvPr/>
          </p:nvCxnSpPr>
          <p:spPr>
            <a:xfrm>
              <a:off x="10364789" y="1795731"/>
              <a:ext cx="303211"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6" name="Group 25">
            <a:extLst>
              <a:ext uri="{FF2B5EF4-FFF2-40B4-BE49-F238E27FC236}">
                <a16:creationId xmlns:a16="http://schemas.microsoft.com/office/drawing/2014/main" id="{065C5A68-A4B7-9DDD-B539-315781EB5B0A}"/>
              </a:ext>
            </a:extLst>
          </p:cNvPr>
          <p:cNvGrpSpPr/>
          <p:nvPr/>
        </p:nvGrpSpPr>
        <p:grpSpPr>
          <a:xfrm>
            <a:off x="10241762" y="2057400"/>
            <a:ext cx="1390124" cy="853897"/>
            <a:chOff x="10241762" y="2057400"/>
            <a:chExt cx="1390124" cy="853897"/>
          </a:xfrm>
        </p:grpSpPr>
        <p:sp>
          <p:nvSpPr>
            <p:cNvPr id="5" name="TextBox 4">
              <a:extLst>
                <a:ext uri="{FF2B5EF4-FFF2-40B4-BE49-F238E27FC236}">
                  <a16:creationId xmlns:a16="http://schemas.microsoft.com/office/drawing/2014/main" id="{EDE8B1B8-73FA-7CFB-8AE1-D688363BEE1C}"/>
                </a:ext>
              </a:extLst>
            </p:cNvPr>
            <p:cNvSpPr txBox="1"/>
            <p:nvPr/>
          </p:nvSpPr>
          <p:spPr>
            <a:xfrm>
              <a:off x="10241762" y="2541965"/>
              <a:ext cx="1390124" cy="369332"/>
            </a:xfrm>
            <a:prstGeom prst="rect">
              <a:avLst/>
            </a:prstGeom>
            <a:noFill/>
          </p:spPr>
          <p:txBody>
            <a:bodyPr wrap="none" rtlCol="0">
              <a:spAutoFit/>
            </a:bodyPr>
            <a:lstStyle/>
            <a:p>
              <a:r>
                <a:rPr lang="en-GB" dirty="0"/>
                <a:t>Expectation</a:t>
              </a:r>
            </a:p>
          </p:txBody>
        </p:sp>
        <p:cxnSp>
          <p:nvCxnSpPr>
            <p:cNvPr id="20" name="Straight Arrow Connector 19">
              <a:extLst>
                <a:ext uri="{FF2B5EF4-FFF2-40B4-BE49-F238E27FC236}">
                  <a16:creationId xmlns:a16="http://schemas.microsoft.com/office/drawing/2014/main" id="{4D13F599-1A00-DE79-3F61-EAD037EFB9CB}"/>
                </a:ext>
              </a:extLst>
            </p:cNvPr>
            <p:cNvCxnSpPr>
              <a:cxnSpLocks/>
            </p:cNvCxnSpPr>
            <p:nvPr/>
          </p:nvCxnSpPr>
          <p:spPr>
            <a:xfrm flipV="1">
              <a:off x="10711851" y="2057400"/>
              <a:ext cx="0" cy="5810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787695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4"/>
                                        </p:tgtEl>
                                      </p:cBhvr>
                                    </p:animEffect>
                                    <p:set>
                                      <p:cBhvr>
                                        <p:cTn id="17" dur="1" fill="hold">
                                          <p:stCondLst>
                                            <p:cond delay="499"/>
                                          </p:stCondLst>
                                        </p:cTn>
                                        <p:tgtEl>
                                          <p:spTgt spid="4"/>
                                        </p:tgtEl>
                                        <p:attrNameLst>
                                          <p:attrName>style.visibility</p:attrName>
                                        </p:attrNameLst>
                                      </p:cBhvr>
                                      <p:to>
                                        <p:strVal val="hidden"/>
                                      </p:to>
                                    </p:se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nodeType="clickEffect">
                                  <p:stCondLst>
                                    <p:cond delay="0"/>
                                  </p:stCondLst>
                                  <p:childTnLst>
                                    <p:animEffect transition="out" filter="fade">
                                      <p:cBhvr>
                                        <p:cTn id="21" dur="500"/>
                                        <p:tgtEl>
                                          <p:spTgt spid="19"/>
                                        </p:tgtEl>
                                      </p:cBhvr>
                                    </p:animEffect>
                                    <p:set>
                                      <p:cBhvr>
                                        <p:cTn id="22" dur="1" fill="hold">
                                          <p:stCondLst>
                                            <p:cond delay="499"/>
                                          </p:stCondLst>
                                        </p:cTn>
                                        <p:tgtEl>
                                          <p:spTgt spid="19"/>
                                        </p:tgtEl>
                                        <p:attrNameLst>
                                          <p:attrName>style.visibility</p:attrName>
                                        </p:attrNameLst>
                                      </p:cBhvr>
                                      <p:to>
                                        <p:strVal val="hidden"/>
                                      </p:to>
                                    </p:se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par>
                                <p:cTn id="36" presetID="10" presetClass="exit" presetSubtype="0" fill="hold" nodeType="withEffect">
                                  <p:stCondLst>
                                    <p:cond delay="0"/>
                                  </p:stCondLst>
                                  <p:childTnLst>
                                    <p:animEffect transition="out" filter="fade">
                                      <p:cBhvr>
                                        <p:cTn id="37" dur="500"/>
                                        <p:tgtEl>
                                          <p:spTgt spid="13"/>
                                        </p:tgtEl>
                                      </p:cBhvr>
                                    </p:animEffect>
                                    <p:set>
                                      <p:cBhvr>
                                        <p:cTn id="38" dur="1" fill="hold">
                                          <p:stCondLst>
                                            <p:cond delay="499"/>
                                          </p:stCondLst>
                                        </p:cTn>
                                        <p:tgtEl>
                                          <p:spTgt spid="13"/>
                                        </p:tgtEl>
                                        <p:attrNameLst>
                                          <p:attrName>style.visibility</p:attrName>
                                        </p:attrNameLst>
                                      </p:cBhvr>
                                      <p:to>
                                        <p:strVal val="hidden"/>
                                      </p:to>
                                    </p:set>
                                  </p:childTnLst>
                                </p:cTn>
                              </p:par>
                              <p:par>
                                <p:cTn id="39" presetID="10" presetClass="exit" presetSubtype="0" fill="hold" nodeType="withEffect">
                                  <p:stCondLst>
                                    <p:cond delay="0"/>
                                  </p:stCondLst>
                                  <p:childTnLst>
                                    <p:animEffect transition="out" filter="fade">
                                      <p:cBhvr>
                                        <p:cTn id="40" dur="500"/>
                                        <p:tgtEl>
                                          <p:spTgt spid="15"/>
                                        </p:tgtEl>
                                      </p:cBhvr>
                                    </p:animEffect>
                                    <p:set>
                                      <p:cBhvr>
                                        <p:cTn id="41" dur="1" fill="hold">
                                          <p:stCondLst>
                                            <p:cond delay="499"/>
                                          </p:stCondLst>
                                        </p:cTn>
                                        <p:tgtEl>
                                          <p:spTgt spid="1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
                                            <p:txEl>
                                              <p:pRg st="1" end="1"/>
                                            </p:txEl>
                                          </p:spTgt>
                                        </p:tgtEl>
                                        <p:attrNameLst>
                                          <p:attrName>style.visibility</p:attrName>
                                        </p:attrNameLst>
                                      </p:cBhvr>
                                      <p:to>
                                        <p:strVal val="visible"/>
                                      </p:to>
                                    </p:set>
                                    <p:animEffect transition="in" filter="fade">
                                      <p:cBhvr>
                                        <p:cTn id="6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50B39-ADE4-61DD-4371-105AD883AE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3FFA1-1DE6-8D3A-8658-3742DC9C8C8F}"/>
              </a:ext>
            </a:extLst>
          </p:cNvPr>
          <p:cNvSpPr>
            <a:spLocks noGrp="1"/>
          </p:cNvSpPr>
          <p:nvPr>
            <p:ph type="title"/>
          </p:nvPr>
        </p:nvSpPr>
        <p:spPr/>
        <p:txBody>
          <a:bodyPr>
            <a:normAutofit/>
          </a:bodyPr>
          <a:lstStyle/>
          <a:p>
            <a:r>
              <a:rPr lang="en-GB" dirty="0"/>
              <a:t>Assumption of </a:t>
            </a:r>
            <a:r>
              <a:rPr lang="en-GB" dirty="0">
                <a:solidFill>
                  <a:srgbClr val="FFFF00"/>
                </a:solidFill>
              </a:rPr>
              <a:t>independence of errors</a:t>
            </a:r>
          </a:p>
        </p:txBody>
      </p:sp>
      <p:sp>
        <p:nvSpPr>
          <p:cNvPr id="3" name="Content Placeholder 2">
            <a:extLst>
              <a:ext uri="{FF2B5EF4-FFF2-40B4-BE49-F238E27FC236}">
                <a16:creationId xmlns:a16="http://schemas.microsoft.com/office/drawing/2014/main" id="{E84CAF78-831A-A914-86E9-A705D9ECC172}"/>
              </a:ext>
            </a:extLst>
          </p:cNvPr>
          <p:cNvSpPr>
            <a:spLocks noGrp="1"/>
          </p:cNvSpPr>
          <p:nvPr>
            <p:ph idx="1"/>
          </p:nvPr>
        </p:nvSpPr>
        <p:spPr/>
        <p:txBody>
          <a:bodyPr>
            <a:normAutofit lnSpcReduction="10000"/>
          </a:bodyPr>
          <a:lstStyle/>
          <a:p>
            <a:r>
              <a:rPr lang="en-GB" dirty="0"/>
              <a:t>What is the average daily oyster growth rate?</a:t>
            </a:r>
          </a:p>
          <a:p>
            <a:r>
              <a:rPr lang="en-GB" dirty="0"/>
              <a:t>You measure the </a:t>
            </a:r>
            <a:r>
              <a:rPr lang="en-GB" i="1" dirty="0"/>
              <a:t>same</a:t>
            </a:r>
            <a:r>
              <a:rPr lang="en-GB" dirty="0"/>
              <a:t> oysters every day</a:t>
            </a:r>
          </a:p>
          <a:p>
            <a:r>
              <a:rPr lang="en-GB" dirty="0"/>
              <a:t>What is the issue?</a:t>
            </a:r>
          </a:p>
          <a:p>
            <a:pPr lvl="1"/>
            <a:r>
              <a:rPr lang="en-GB" dirty="0"/>
              <a:t>The growth of the oyster yesterday affects how much the oyster can be grow today</a:t>
            </a:r>
          </a:p>
          <a:p>
            <a:pPr lvl="1"/>
            <a:r>
              <a:rPr lang="en-GB" dirty="0"/>
              <a:t>The errors in our model follow a pattern rather than being random (</a:t>
            </a:r>
            <a:r>
              <a:rPr lang="en-GB" b="1" dirty="0">
                <a:solidFill>
                  <a:srgbClr val="FFFF00"/>
                </a:solidFill>
              </a:rPr>
              <a:t>Errors not independent</a:t>
            </a:r>
            <a:r>
              <a:rPr lang="en-GB" dirty="0"/>
              <a:t>)</a:t>
            </a:r>
          </a:p>
          <a:p>
            <a:r>
              <a:rPr lang="en-GB" dirty="0"/>
              <a:t>What is the consequence?</a:t>
            </a:r>
          </a:p>
          <a:p>
            <a:pPr lvl="1"/>
            <a:r>
              <a:rPr lang="en-GB" dirty="0"/>
              <a:t>The model is overly confident</a:t>
            </a:r>
          </a:p>
        </p:txBody>
      </p:sp>
      <p:pic>
        <p:nvPicPr>
          <p:cNvPr id="9" name="Picture 8">
            <a:extLst>
              <a:ext uri="{FF2B5EF4-FFF2-40B4-BE49-F238E27FC236}">
                <a16:creationId xmlns:a16="http://schemas.microsoft.com/office/drawing/2014/main" id="{DC449288-2A9B-229A-67E1-7951A6CC98F7}"/>
              </a:ext>
            </a:extLst>
          </p:cNvPr>
          <p:cNvPicPr>
            <a:picLocks noChangeAspect="1"/>
          </p:cNvPicPr>
          <p:nvPr/>
        </p:nvPicPr>
        <p:blipFill>
          <a:blip r:embed="rId2"/>
          <a:stretch>
            <a:fillRect/>
          </a:stretch>
        </p:blipFill>
        <p:spPr>
          <a:xfrm>
            <a:off x="6921500" y="-38862"/>
            <a:ext cx="5270500" cy="3798063"/>
          </a:xfrm>
          <a:prstGeom prst="rect">
            <a:avLst/>
          </a:prstGeom>
        </p:spPr>
      </p:pic>
      <p:pic>
        <p:nvPicPr>
          <p:cNvPr id="12" name="Picture 11">
            <a:extLst>
              <a:ext uri="{FF2B5EF4-FFF2-40B4-BE49-F238E27FC236}">
                <a16:creationId xmlns:a16="http://schemas.microsoft.com/office/drawing/2014/main" id="{7BACD70C-3829-1A69-9B1C-965393EC9F5A}"/>
              </a:ext>
            </a:extLst>
          </p:cNvPr>
          <p:cNvPicPr>
            <a:picLocks noChangeAspect="1"/>
          </p:cNvPicPr>
          <p:nvPr/>
        </p:nvPicPr>
        <p:blipFill>
          <a:blip r:embed="rId3"/>
          <a:stretch>
            <a:fillRect/>
          </a:stretch>
        </p:blipFill>
        <p:spPr>
          <a:xfrm>
            <a:off x="6984240" y="3136900"/>
            <a:ext cx="5207759" cy="3752850"/>
          </a:xfrm>
          <a:prstGeom prst="rect">
            <a:avLst/>
          </a:prstGeom>
        </p:spPr>
      </p:pic>
    </p:spTree>
    <p:extLst>
      <p:ext uri="{BB962C8B-B14F-4D97-AF65-F5344CB8AC3E}">
        <p14:creationId xmlns:p14="http://schemas.microsoft.com/office/powerpoint/2010/main" val="22269382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AB580-A115-80BC-5E12-1AFF7029DA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1053B-9431-130D-4FED-FA99DBB60F07}"/>
              </a:ext>
            </a:extLst>
          </p:cNvPr>
          <p:cNvSpPr>
            <a:spLocks noGrp="1"/>
          </p:cNvSpPr>
          <p:nvPr>
            <p:ph type="title"/>
          </p:nvPr>
        </p:nvSpPr>
        <p:spPr/>
        <p:txBody>
          <a:bodyPr>
            <a:normAutofit fontScale="90000"/>
          </a:bodyPr>
          <a:lstStyle/>
          <a:p>
            <a:r>
              <a:rPr lang="en-GB" dirty="0"/>
              <a:t>Assumption of </a:t>
            </a:r>
            <a:br>
              <a:rPr lang="en-GB" dirty="0"/>
            </a:br>
            <a:r>
              <a:rPr lang="en-GB" dirty="0">
                <a:solidFill>
                  <a:srgbClr val="FFFF00"/>
                </a:solidFill>
              </a:rPr>
              <a:t>equal variance of errors</a:t>
            </a:r>
          </a:p>
        </p:txBody>
      </p:sp>
      <p:sp>
        <p:nvSpPr>
          <p:cNvPr id="3" name="Content Placeholder 2">
            <a:extLst>
              <a:ext uri="{FF2B5EF4-FFF2-40B4-BE49-F238E27FC236}">
                <a16:creationId xmlns:a16="http://schemas.microsoft.com/office/drawing/2014/main" id="{F8D997D8-F121-C265-2ADE-B6DB5D58D965}"/>
              </a:ext>
            </a:extLst>
          </p:cNvPr>
          <p:cNvSpPr>
            <a:spLocks noGrp="1"/>
          </p:cNvSpPr>
          <p:nvPr>
            <p:ph idx="1"/>
          </p:nvPr>
        </p:nvSpPr>
        <p:spPr/>
        <p:txBody>
          <a:bodyPr>
            <a:normAutofit lnSpcReduction="10000"/>
          </a:bodyPr>
          <a:lstStyle/>
          <a:p>
            <a:r>
              <a:rPr lang="en-GB" dirty="0"/>
              <a:t>Does temperature predict fish swimming speed?</a:t>
            </a:r>
          </a:p>
          <a:p>
            <a:r>
              <a:rPr lang="en-GB" dirty="0"/>
              <a:t>You measure speed at low and high temperatures</a:t>
            </a:r>
          </a:p>
          <a:p>
            <a:r>
              <a:rPr lang="en-GB" dirty="0"/>
              <a:t>What is the issue?</a:t>
            </a:r>
          </a:p>
          <a:p>
            <a:pPr lvl="1"/>
            <a:r>
              <a:rPr lang="en-GB" dirty="0"/>
              <a:t>At higher temperatures, fish vary more in their speed</a:t>
            </a:r>
          </a:p>
          <a:p>
            <a:pPr lvl="1"/>
            <a:r>
              <a:rPr lang="en-GB" dirty="0"/>
              <a:t>The errors in our model get larger at higher temperature rather than being random (</a:t>
            </a:r>
            <a:r>
              <a:rPr lang="en-GB" b="1" dirty="0">
                <a:solidFill>
                  <a:srgbClr val="FFFF00"/>
                </a:solidFill>
              </a:rPr>
              <a:t>Errors not equal</a:t>
            </a:r>
            <a:r>
              <a:rPr lang="en-GB" dirty="0"/>
              <a:t>)</a:t>
            </a:r>
          </a:p>
          <a:p>
            <a:r>
              <a:rPr lang="en-GB" dirty="0"/>
              <a:t>What is the consequence?</a:t>
            </a:r>
          </a:p>
          <a:p>
            <a:pPr lvl="1"/>
            <a:r>
              <a:rPr lang="en-GB" dirty="0"/>
              <a:t>The model is either overly confident or overly conservative</a:t>
            </a:r>
          </a:p>
        </p:txBody>
      </p:sp>
      <p:pic>
        <p:nvPicPr>
          <p:cNvPr id="5" name="Picture 4">
            <a:extLst>
              <a:ext uri="{FF2B5EF4-FFF2-40B4-BE49-F238E27FC236}">
                <a16:creationId xmlns:a16="http://schemas.microsoft.com/office/drawing/2014/main" id="{B6B622C5-4DC1-21B2-071E-6C9D50FCEE44}"/>
              </a:ext>
            </a:extLst>
          </p:cNvPr>
          <p:cNvPicPr>
            <a:picLocks noChangeAspect="1"/>
          </p:cNvPicPr>
          <p:nvPr/>
        </p:nvPicPr>
        <p:blipFill>
          <a:blip r:embed="rId2"/>
          <a:stretch>
            <a:fillRect/>
          </a:stretch>
        </p:blipFill>
        <p:spPr>
          <a:xfrm>
            <a:off x="6355080" y="0"/>
            <a:ext cx="5836920" cy="3429000"/>
          </a:xfrm>
          <a:prstGeom prst="rect">
            <a:avLst/>
          </a:prstGeom>
        </p:spPr>
      </p:pic>
      <p:pic>
        <p:nvPicPr>
          <p:cNvPr id="6" name="Picture 5">
            <a:extLst>
              <a:ext uri="{FF2B5EF4-FFF2-40B4-BE49-F238E27FC236}">
                <a16:creationId xmlns:a16="http://schemas.microsoft.com/office/drawing/2014/main" id="{FEFF9F1A-144C-6AFA-F81C-B97106B41E93}"/>
              </a:ext>
            </a:extLst>
          </p:cNvPr>
          <p:cNvPicPr>
            <a:picLocks noChangeAspect="1"/>
          </p:cNvPicPr>
          <p:nvPr/>
        </p:nvPicPr>
        <p:blipFill>
          <a:blip r:embed="rId3"/>
          <a:stretch>
            <a:fillRect/>
          </a:stretch>
        </p:blipFill>
        <p:spPr>
          <a:xfrm>
            <a:off x="6355080" y="3429000"/>
            <a:ext cx="5836920" cy="3429000"/>
          </a:xfrm>
          <a:prstGeom prst="rect">
            <a:avLst/>
          </a:prstGeom>
        </p:spPr>
      </p:pic>
    </p:spTree>
    <p:extLst>
      <p:ext uri="{BB962C8B-B14F-4D97-AF65-F5344CB8AC3E}">
        <p14:creationId xmlns:p14="http://schemas.microsoft.com/office/powerpoint/2010/main" val="24213528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1002-DFA9-F5C6-7D49-4671BA7A2E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4A4550-4BB4-7C50-182C-B6B8DA2C2503}"/>
              </a:ext>
            </a:extLst>
          </p:cNvPr>
          <p:cNvSpPr>
            <a:spLocks noGrp="1"/>
          </p:cNvSpPr>
          <p:nvPr>
            <p:ph type="title"/>
          </p:nvPr>
        </p:nvSpPr>
        <p:spPr/>
        <p:txBody>
          <a:bodyPr>
            <a:normAutofit/>
          </a:bodyPr>
          <a:lstStyle/>
          <a:p>
            <a:r>
              <a:rPr lang="en-GB" dirty="0"/>
              <a:t>Assumption of </a:t>
            </a:r>
            <a:r>
              <a:rPr lang="en-GB" dirty="0">
                <a:solidFill>
                  <a:srgbClr val="FFFF00"/>
                </a:solidFill>
              </a:rPr>
              <a:t>normality of errors</a:t>
            </a:r>
          </a:p>
        </p:txBody>
      </p:sp>
      <p:sp>
        <p:nvSpPr>
          <p:cNvPr id="3" name="Content Placeholder 2">
            <a:extLst>
              <a:ext uri="{FF2B5EF4-FFF2-40B4-BE49-F238E27FC236}">
                <a16:creationId xmlns:a16="http://schemas.microsoft.com/office/drawing/2014/main" id="{C8C999DA-0C20-B175-6B7F-6E6019FBCAD4}"/>
              </a:ext>
            </a:extLst>
          </p:cNvPr>
          <p:cNvSpPr>
            <a:spLocks noGrp="1"/>
          </p:cNvSpPr>
          <p:nvPr>
            <p:ph idx="1"/>
          </p:nvPr>
        </p:nvSpPr>
        <p:spPr/>
        <p:txBody>
          <a:bodyPr>
            <a:normAutofit lnSpcReduction="10000"/>
          </a:bodyPr>
          <a:lstStyle/>
          <a:p>
            <a:r>
              <a:rPr lang="en-GB" dirty="0"/>
              <a:t>What is the average height of a human in a kindergarten class?</a:t>
            </a:r>
          </a:p>
          <a:p>
            <a:r>
              <a:rPr lang="en-GB" dirty="0"/>
              <a:t>You measure the height of everyone in the class, including staff</a:t>
            </a:r>
          </a:p>
          <a:p>
            <a:r>
              <a:rPr lang="en-GB" dirty="0"/>
              <a:t>What is the issue?</a:t>
            </a:r>
          </a:p>
          <a:p>
            <a:pPr lvl="1"/>
            <a:r>
              <a:rPr lang="en-GB" dirty="0"/>
              <a:t>Most of the humans are short (children) but 3 are tall (adults)</a:t>
            </a:r>
          </a:p>
          <a:p>
            <a:pPr lvl="1"/>
            <a:r>
              <a:rPr lang="en-GB" dirty="0"/>
              <a:t>We have a pattern, where the errors are not bell-shaped </a:t>
            </a:r>
            <a:br>
              <a:rPr lang="en-GB" dirty="0"/>
            </a:br>
            <a:r>
              <a:rPr lang="en-GB" dirty="0"/>
              <a:t>(</a:t>
            </a:r>
            <a:r>
              <a:rPr lang="en-GB" b="1" dirty="0">
                <a:solidFill>
                  <a:srgbClr val="FFFF00"/>
                </a:solidFill>
              </a:rPr>
              <a:t>Errors not normally distributed</a:t>
            </a:r>
            <a:r>
              <a:rPr lang="en-GB" dirty="0"/>
              <a:t>)</a:t>
            </a:r>
          </a:p>
          <a:p>
            <a:r>
              <a:rPr lang="en-GB" dirty="0"/>
              <a:t>What is the consequence?</a:t>
            </a:r>
          </a:p>
          <a:p>
            <a:pPr lvl="1"/>
            <a:r>
              <a:rPr lang="en-GB" dirty="0"/>
              <a:t>The model struggles to predict observations accurately </a:t>
            </a:r>
          </a:p>
          <a:p>
            <a:pPr lvl="1"/>
            <a:r>
              <a:rPr lang="en-GB" dirty="0"/>
              <a:t>(not that big of a deal)</a:t>
            </a:r>
          </a:p>
        </p:txBody>
      </p:sp>
      <p:pic>
        <p:nvPicPr>
          <p:cNvPr id="5" name="Picture 4">
            <a:extLst>
              <a:ext uri="{FF2B5EF4-FFF2-40B4-BE49-F238E27FC236}">
                <a16:creationId xmlns:a16="http://schemas.microsoft.com/office/drawing/2014/main" id="{6C0DAAA4-D751-264E-63FC-8EC84B5C2680}"/>
              </a:ext>
            </a:extLst>
          </p:cNvPr>
          <p:cNvPicPr>
            <a:picLocks noChangeAspect="1"/>
          </p:cNvPicPr>
          <p:nvPr/>
        </p:nvPicPr>
        <p:blipFill>
          <a:blip r:embed="rId2"/>
          <a:stretch>
            <a:fillRect/>
          </a:stretch>
        </p:blipFill>
        <p:spPr>
          <a:xfrm>
            <a:off x="6084382" y="0"/>
            <a:ext cx="6107618" cy="3588026"/>
          </a:xfrm>
          <a:prstGeom prst="rect">
            <a:avLst/>
          </a:prstGeom>
        </p:spPr>
      </p:pic>
      <p:pic>
        <p:nvPicPr>
          <p:cNvPr id="6" name="Picture 5">
            <a:extLst>
              <a:ext uri="{FF2B5EF4-FFF2-40B4-BE49-F238E27FC236}">
                <a16:creationId xmlns:a16="http://schemas.microsoft.com/office/drawing/2014/main" id="{E37783D1-3A48-E418-6EE3-E6452B6E2854}"/>
              </a:ext>
            </a:extLst>
          </p:cNvPr>
          <p:cNvPicPr>
            <a:picLocks noChangeAspect="1"/>
          </p:cNvPicPr>
          <p:nvPr/>
        </p:nvPicPr>
        <p:blipFill>
          <a:blip r:embed="rId3"/>
          <a:stretch>
            <a:fillRect/>
          </a:stretch>
        </p:blipFill>
        <p:spPr>
          <a:xfrm>
            <a:off x="6361043" y="3432502"/>
            <a:ext cx="5830956" cy="3425497"/>
          </a:xfrm>
          <a:prstGeom prst="rect">
            <a:avLst/>
          </a:prstGeom>
        </p:spPr>
      </p:pic>
    </p:spTree>
    <p:extLst>
      <p:ext uri="{BB962C8B-B14F-4D97-AF65-F5344CB8AC3E}">
        <p14:creationId xmlns:p14="http://schemas.microsoft.com/office/powerpoint/2010/main" val="22147511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fade">
                                      <p:cBhvr>
                                        <p:cTn id="33" dur="500"/>
                                        <p:tgtEl>
                                          <p:spTgt spid="6"/>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fade">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fade">
                                      <p:cBhvr>
                                        <p:cTn id="4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71AF-2E89-E27B-A4D1-ACD316CBC9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F4276-92E6-659B-6CFD-43C6C4AB9EEF}"/>
              </a:ext>
            </a:extLst>
          </p:cNvPr>
          <p:cNvSpPr>
            <a:spLocks noGrp="1"/>
          </p:cNvSpPr>
          <p:nvPr>
            <p:ph type="title"/>
          </p:nvPr>
        </p:nvSpPr>
        <p:spPr/>
        <p:txBody>
          <a:bodyPr>
            <a:normAutofit/>
          </a:bodyPr>
          <a:lstStyle/>
          <a:p>
            <a:r>
              <a:rPr lang="en-GB" dirty="0"/>
              <a:t>Assumptions in the scientific workflow</a:t>
            </a:r>
          </a:p>
        </p:txBody>
      </p:sp>
      <p:sp>
        <p:nvSpPr>
          <p:cNvPr id="3" name="Content Placeholder 2">
            <a:extLst>
              <a:ext uri="{FF2B5EF4-FFF2-40B4-BE49-F238E27FC236}">
                <a16:creationId xmlns:a16="http://schemas.microsoft.com/office/drawing/2014/main" id="{141DD952-D9B4-996F-5DC5-13DACA1C5377}"/>
              </a:ext>
            </a:extLst>
          </p:cNvPr>
          <p:cNvSpPr>
            <a:spLocks noGrp="1"/>
          </p:cNvSpPr>
          <p:nvPr>
            <p:ph idx="1"/>
          </p:nvPr>
        </p:nvSpPr>
        <p:spPr/>
        <p:txBody>
          <a:bodyPr/>
          <a:lstStyle/>
          <a:p>
            <a:r>
              <a:rPr lang="en-GB" dirty="0"/>
              <a:t>Assumptions about data relevance</a:t>
            </a:r>
          </a:p>
          <a:p>
            <a:pPr lvl="1"/>
            <a:r>
              <a:rPr lang="en-GB" b="1" dirty="0">
                <a:solidFill>
                  <a:srgbClr val="FFFF00"/>
                </a:solidFill>
              </a:rPr>
              <a:t>Validity</a:t>
            </a:r>
            <a:r>
              <a:rPr lang="en-GB" dirty="0"/>
              <a:t> and </a:t>
            </a:r>
            <a:r>
              <a:rPr lang="en-GB" b="1" dirty="0">
                <a:solidFill>
                  <a:srgbClr val="FFFF00"/>
                </a:solidFill>
              </a:rPr>
              <a:t>Representativeness</a:t>
            </a:r>
          </a:p>
          <a:p>
            <a:r>
              <a:rPr lang="en-GB" dirty="0"/>
              <a:t>Assumptions about model structure</a:t>
            </a:r>
          </a:p>
          <a:p>
            <a:pPr lvl="1"/>
            <a:r>
              <a:rPr lang="en-GB" b="1" dirty="0">
                <a:solidFill>
                  <a:srgbClr val="FFFF00"/>
                </a:solidFill>
              </a:rPr>
              <a:t>Additivity</a:t>
            </a:r>
            <a:r>
              <a:rPr lang="en-GB" dirty="0"/>
              <a:t> and </a:t>
            </a:r>
            <a:r>
              <a:rPr lang="en-GB" b="1" dirty="0">
                <a:solidFill>
                  <a:srgbClr val="FFFF00"/>
                </a:solidFill>
              </a:rPr>
              <a:t>Linearity</a:t>
            </a:r>
          </a:p>
          <a:p>
            <a:r>
              <a:rPr lang="en-GB" dirty="0"/>
              <a:t>Assumptions about residual error</a:t>
            </a:r>
          </a:p>
          <a:p>
            <a:pPr lvl="1"/>
            <a:r>
              <a:rPr lang="en-GB" b="1" dirty="0">
                <a:solidFill>
                  <a:srgbClr val="FFFF00"/>
                </a:solidFill>
              </a:rPr>
              <a:t>Independence of errors</a:t>
            </a:r>
            <a:r>
              <a:rPr lang="en-GB" dirty="0"/>
              <a:t>, </a:t>
            </a:r>
            <a:r>
              <a:rPr lang="en-GB" b="1" dirty="0">
                <a:solidFill>
                  <a:srgbClr val="FFFF00"/>
                </a:solidFill>
              </a:rPr>
              <a:t>Equal variance of errors</a:t>
            </a:r>
            <a:r>
              <a:rPr lang="en-GB" dirty="0"/>
              <a:t>, and </a:t>
            </a:r>
            <a:r>
              <a:rPr lang="en-GB" b="1" dirty="0">
                <a:solidFill>
                  <a:srgbClr val="FFFF00"/>
                </a:solidFill>
              </a:rPr>
              <a:t>Normality of errors</a:t>
            </a:r>
          </a:p>
        </p:txBody>
      </p:sp>
      <p:grpSp>
        <p:nvGrpSpPr>
          <p:cNvPr id="17" name="Group 16">
            <a:extLst>
              <a:ext uri="{FF2B5EF4-FFF2-40B4-BE49-F238E27FC236}">
                <a16:creationId xmlns:a16="http://schemas.microsoft.com/office/drawing/2014/main" id="{8C2DC83B-6982-151B-FFAD-C2040F3A50EA}"/>
              </a:ext>
            </a:extLst>
          </p:cNvPr>
          <p:cNvGrpSpPr/>
          <p:nvPr/>
        </p:nvGrpSpPr>
        <p:grpSpPr>
          <a:xfrm>
            <a:off x="262551" y="2386239"/>
            <a:ext cx="9620820" cy="843530"/>
            <a:chOff x="497941" y="3259248"/>
            <a:chExt cx="9401784" cy="696103"/>
          </a:xfrm>
        </p:grpSpPr>
        <p:sp>
          <p:nvSpPr>
            <p:cNvPr id="5" name="TextBox 4">
              <a:extLst>
                <a:ext uri="{FF2B5EF4-FFF2-40B4-BE49-F238E27FC236}">
                  <a16:creationId xmlns:a16="http://schemas.microsoft.com/office/drawing/2014/main" id="{F951FDB9-21BC-9F76-AC2A-53187EC1A481}"/>
                </a:ext>
              </a:extLst>
            </p:cNvPr>
            <p:cNvSpPr txBox="1"/>
            <p:nvPr/>
          </p:nvSpPr>
          <p:spPr>
            <a:xfrm>
              <a:off x="6558051" y="3264420"/>
              <a:ext cx="3341674" cy="685760"/>
            </a:xfrm>
            <a:prstGeom prst="rect">
              <a:avLst/>
            </a:prstGeom>
            <a:noFill/>
            <a:ln>
              <a:solidFill>
                <a:schemeClr val="tx1"/>
              </a:solidFill>
            </a:ln>
          </p:spPr>
          <p:txBody>
            <a:bodyPr wrap="none" rtlCol="0">
              <a:spAutoFit/>
            </a:bodyPr>
            <a:lstStyle/>
            <a:p>
              <a:r>
                <a:rPr lang="en-GB" sz="2400" dirty="0"/>
                <a:t>Most important! </a:t>
              </a:r>
              <a:br>
                <a:rPr lang="en-GB" sz="2400" dirty="0"/>
              </a:br>
              <a:r>
                <a:rPr lang="en-GB" sz="2400" dirty="0">
                  <a:solidFill>
                    <a:srgbClr val="FFFF00"/>
                  </a:solidFill>
                </a:rPr>
                <a:t>Is my data appropriate?</a:t>
              </a:r>
              <a:endParaRPr lang="en-GB" sz="2400" dirty="0"/>
            </a:p>
          </p:txBody>
        </p:sp>
        <p:sp>
          <p:nvSpPr>
            <p:cNvPr id="8" name="Rectangle 7">
              <a:extLst>
                <a:ext uri="{FF2B5EF4-FFF2-40B4-BE49-F238E27FC236}">
                  <a16:creationId xmlns:a16="http://schemas.microsoft.com/office/drawing/2014/main" id="{62969CF3-433E-BEB7-E469-7AEE9F293E28}"/>
                </a:ext>
              </a:extLst>
            </p:cNvPr>
            <p:cNvSpPr/>
            <p:nvPr/>
          </p:nvSpPr>
          <p:spPr>
            <a:xfrm>
              <a:off x="497941" y="3259248"/>
              <a:ext cx="5700638" cy="6961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3DE52830-3B86-3E66-1D25-378F31BF3C09}"/>
                </a:ext>
              </a:extLst>
            </p:cNvPr>
            <p:cNvCxnSpPr>
              <a:cxnSpLocks/>
              <a:stCxn id="8" idx="3"/>
              <a:endCxn id="5" idx="1"/>
            </p:cNvCxnSpPr>
            <p:nvPr/>
          </p:nvCxnSpPr>
          <p:spPr>
            <a:xfrm>
              <a:off x="6198579" y="3607299"/>
              <a:ext cx="35947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DD55F2CF-347A-5EBF-AAAA-653CB39E0DD4}"/>
              </a:ext>
            </a:extLst>
          </p:cNvPr>
          <p:cNvGrpSpPr/>
          <p:nvPr/>
        </p:nvGrpSpPr>
        <p:grpSpPr>
          <a:xfrm>
            <a:off x="262551" y="3337117"/>
            <a:ext cx="10292734" cy="830997"/>
            <a:chOff x="497941" y="3955351"/>
            <a:chExt cx="9928317" cy="69610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B559C7D-9443-C9CB-96A4-6B1750B6ACD7}"/>
                    </a:ext>
                  </a:extLst>
                </p:cNvPr>
                <p:cNvSpPr txBox="1"/>
                <p:nvPr/>
              </p:nvSpPr>
              <p:spPr>
                <a:xfrm>
                  <a:off x="6479676" y="3955351"/>
                  <a:ext cx="3946582" cy="696106"/>
                </a:xfrm>
                <a:prstGeom prst="rect">
                  <a:avLst/>
                </a:prstGeom>
                <a:noFill/>
                <a:ln>
                  <a:solidFill>
                    <a:schemeClr val="tx1"/>
                  </a:solidFill>
                </a:ln>
              </p:spPr>
              <p:txBody>
                <a:bodyPr wrap="none" rtlCol="0">
                  <a:spAutoFit/>
                </a:bodyPr>
                <a:lstStyle/>
                <a:p>
                  <a:r>
                    <a:rPr lang="en-GB" sz="2400" dirty="0"/>
                    <a:t>Next most important!</a:t>
                  </a:r>
                </a:p>
                <a:p>
                  <a:r>
                    <a:rPr lang="en-GB" sz="2400" dirty="0">
                      <a:solidFill>
                        <a:srgbClr val="FFFF00"/>
                      </a:solidFill>
                    </a:rPr>
                    <a:t>Is </a:t>
                  </a:r>
                  <a14:m>
                    <m:oMath xmlns:m="http://schemas.openxmlformats.org/officeDocument/2006/math">
                      <m:r>
                        <a:rPr lang="en-GB" sz="2400" b="0" i="1" smtClean="0">
                          <a:solidFill>
                            <a:srgbClr val="FFFF00"/>
                          </a:solidFill>
                          <a:latin typeface="Cambria Math" panose="02040503050406030204" pitchFamily="18" charset="0"/>
                        </a:rPr>
                        <m:t>𝑦</m:t>
                      </m:r>
                      <m:r>
                        <a:rPr lang="en-GB" sz="2400" b="0" i="1" smtClean="0">
                          <a:solidFill>
                            <a:srgbClr val="FFFF00"/>
                          </a:solidFill>
                          <a:latin typeface="Cambria Math" panose="02040503050406030204" pitchFamily="18" charset="0"/>
                        </a:rPr>
                        <m:t>=</m:t>
                      </m:r>
                      <m:sSub>
                        <m:sSubPr>
                          <m:ctrlPr>
                            <a:rPr lang="en-GB" sz="2400" b="0" i="1" smtClean="0">
                              <a:solidFill>
                                <a:srgbClr val="FFFF00"/>
                              </a:solidFill>
                              <a:latin typeface="Cambria Math" panose="02040503050406030204" pitchFamily="18" charset="0"/>
                            </a:rPr>
                          </m:ctrlPr>
                        </m:sSubPr>
                        <m:e>
                          <m:r>
                            <a:rPr lang="en-GB" sz="2400" b="0" i="1" smtClean="0">
                              <a:solidFill>
                                <a:srgbClr val="FFFF00"/>
                              </a:solidFill>
                              <a:latin typeface="Cambria Math" panose="02040503050406030204" pitchFamily="18" charset="0"/>
                            </a:rPr>
                            <m:t>𝛽</m:t>
                          </m:r>
                        </m:e>
                        <m:sub>
                          <m:r>
                            <a:rPr lang="en-GB" sz="2400" b="0" i="1" smtClean="0">
                              <a:solidFill>
                                <a:srgbClr val="FFFF00"/>
                              </a:solidFill>
                              <a:latin typeface="Cambria Math" panose="02040503050406030204" pitchFamily="18" charset="0"/>
                            </a:rPr>
                            <m:t>0</m:t>
                          </m:r>
                        </m:sub>
                      </m:sSub>
                      <m:r>
                        <a:rPr lang="en-GB" sz="2400" b="0" i="1" smtClean="0">
                          <a:solidFill>
                            <a:srgbClr val="FFFF00"/>
                          </a:solidFill>
                          <a:latin typeface="Cambria Math" panose="02040503050406030204" pitchFamily="18" charset="0"/>
                        </a:rPr>
                        <m:t>+</m:t>
                      </m:r>
                      <m:sSub>
                        <m:sSubPr>
                          <m:ctrlPr>
                            <a:rPr lang="en-GB" sz="2400" b="0" i="1" smtClean="0">
                              <a:solidFill>
                                <a:srgbClr val="FFFF00"/>
                              </a:solidFill>
                              <a:latin typeface="Cambria Math" panose="02040503050406030204" pitchFamily="18" charset="0"/>
                            </a:rPr>
                          </m:ctrlPr>
                        </m:sSubPr>
                        <m:e>
                          <m:r>
                            <a:rPr lang="en-GB" sz="2400" b="0" i="1" smtClean="0">
                              <a:solidFill>
                                <a:srgbClr val="FFFF00"/>
                              </a:solidFill>
                              <a:latin typeface="Cambria Math" panose="02040503050406030204" pitchFamily="18" charset="0"/>
                            </a:rPr>
                            <m:t>𝛽</m:t>
                          </m:r>
                        </m:e>
                        <m:sub>
                          <m:r>
                            <a:rPr lang="en-GB" sz="2400" b="0" i="1" smtClean="0">
                              <a:solidFill>
                                <a:srgbClr val="FFFF00"/>
                              </a:solidFill>
                              <a:latin typeface="Cambria Math" panose="02040503050406030204" pitchFamily="18" charset="0"/>
                            </a:rPr>
                            <m:t>1</m:t>
                          </m:r>
                        </m:sub>
                      </m:sSub>
                      <m:r>
                        <a:rPr lang="en-GB" sz="2400" b="0" i="1" smtClean="0">
                          <a:solidFill>
                            <a:srgbClr val="FFFF00"/>
                          </a:solidFill>
                          <a:latin typeface="Cambria Math" panose="02040503050406030204" pitchFamily="18" charset="0"/>
                        </a:rPr>
                        <m:t>𝑥</m:t>
                      </m:r>
                    </m:oMath>
                  </a14:m>
                  <a:r>
                    <a:rPr lang="en-GB" sz="2400" dirty="0">
                      <a:solidFill>
                        <a:srgbClr val="FFFF00"/>
                      </a:solidFill>
                    </a:rPr>
                    <a:t> right for me?</a:t>
                  </a:r>
                </a:p>
              </p:txBody>
            </p:sp>
          </mc:Choice>
          <mc:Fallback xmlns="">
            <p:sp>
              <p:nvSpPr>
                <p:cNvPr id="6" name="TextBox 5">
                  <a:extLst>
                    <a:ext uri="{FF2B5EF4-FFF2-40B4-BE49-F238E27FC236}">
                      <a16:creationId xmlns:a16="http://schemas.microsoft.com/office/drawing/2014/main" id="{3B559C7D-9443-C9CB-96A4-6B1750B6ACD7}"/>
                    </a:ext>
                  </a:extLst>
                </p:cNvPr>
                <p:cNvSpPr txBox="1">
                  <a:spLocks noRot="1" noChangeAspect="1" noMove="1" noResize="1" noEditPoints="1" noAdjustHandles="1" noChangeArrowheads="1" noChangeShapeType="1" noTextEdit="1"/>
                </p:cNvSpPr>
                <p:nvPr/>
              </p:nvSpPr>
              <p:spPr>
                <a:xfrm>
                  <a:off x="6479676" y="3955351"/>
                  <a:ext cx="3946582" cy="696106"/>
                </a:xfrm>
                <a:prstGeom prst="rect">
                  <a:avLst/>
                </a:prstGeom>
                <a:blipFill>
                  <a:blip r:embed="rId2"/>
                  <a:stretch>
                    <a:fillRect l="-2077" t="-5036" r="-3116" b="-13669"/>
                  </a:stretch>
                </a:blipFill>
                <a:ln>
                  <a:solidFill>
                    <a:schemeClr val="tx1"/>
                  </a:solidFill>
                </a:ln>
              </p:spPr>
              <p:txBody>
                <a:bodyPr/>
                <a:lstStyle/>
                <a:p>
                  <a:r>
                    <a:rPr lang="en-GB">
                      <a:noFill/>
                    </a:rPr>
                    <a:t> </a:t>
                  </a:r>
                </a:p>
              </p:txBody>
            </p:sp>
          </mc:Fallback>
        </mc:AlternateContent>
        <p:sp>
          <p:nvSpPr>
            <p:cNvPr id="9" name="Rectangle 8">
              <a:extLst>
                <a:ext uri="{FF2B5EF4-FFF2-40B4-BE49-F238E27FC236}">
                  <a16:creationId xmlns:a16="http://schemas.microsoft.com/office/drawing/2014/main" id="{7DFB0096-8F46-6E1F-B806-BEABF4B7E767}"/>
                </a:ext>
              </a:extLst>
            </p:cNvPr>
            <p:cNvSpPr/>
            <p:nvPr/>
          </p:nvSpPr>
          <p:spPr>
            <a:xfrm>
              <a:off x="497941" y="3955351"/>
              <a:ext cx="5598058" cy="6961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Arrow Connector 13">
              <a:extLst>
                <a:ext uri="{FF2B5EF4-FFF2-40B4-BE49-F238E27FC236}">
                  <a16:creationId xmlns:a16="http://schemas.microsoft.com/office/drawing/2014/main" id="{EA79C4F1-7554-4A9F-042B-98A245C028D1}"/>
                </a:ext>
              </a:extLst>
            </p:cNvPr>
            <p:cNvCxnSpPr>
              <a:stCxn id="9" idx="3"/>
              <a:endCxn id="6" idx="1"/>
            </p:cNvCxnSpPr>
            <p:nvPr/>
          </p:nvCxnSpPr>
          <p:spPr>
            <a:xfrm>
              <a:off x="6095999" y="4303403"/>
              <a:ext cx="383676" cy="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301FF93A-7775-2020-418F-62AAB90C8DEE}"/>
              </a:ext>
            </a:extLst>
          </p:cNvPr>
          <p:cNvGrpSpPr/>
          <p:nvPr/>
        </p:nvGrpSpPr>
        <p:grpSpPr>
          <a:xfrm>
            <a:off x="262550" y="4269160"/>
            <a:ext cx="10379041" cy="1436284"/>
            <a:chOff x="497940" y="4651454"/>
            <a:chExt cx="10007381" cy="1034122"/>
          </a:xfrm>
        </p:grpSpPr>
        <p:sp>
          <p:nvSpPr>
            <p:cNvPr id="7" name="TextBox 6">
              <a:extLst>
                <a:ext uri="{FF2B5EF4-FFF2-40B4-BE49-F238E27FC236}">
                  <a16:creationId xmlns:a16="http://schemas.microsoft.com/office/drawing/2014/main" id="{34F59E32-C435-0C71-D94A-0935384DD1D6}"/>
                </a:ext>
              </a:extLst>
            </p:cNvPr>
            <p:cNvSpPr txBox="1"/>
            <p:nvPr/>
          </p:nvSpPr>
          <p:spPr>
            <a:xfrm>
              <a:off x="6477174" y="4736397"/>
              <a:ext cx="4028147" cy="864235"/>
            </a:xfrm>
            <a:prstGeom prst="rect">
              <a:avLst/>
            </a:prstGeom>
            <a:noFill/>
            <a:ln>
              <a:solidFill>
                <a:schemeClr val="tx1"/>
              </a:solidFill>
            </a:ln>
          </p:spPr>
          <p:txBody>
            <a:bodyPr wrap="none" rtlCol="0">
              <a:spAutoFit/>
            </a:bodyPr>
            <a:lstStyle/>
            <a:p>
              <a:r>
                <a:rPr lang="en-GB" sz="2400" dirty="0"/>
                <a:t>Least important.</a:t>
              </a:r>
              <a:br>
                <a:rPr lang="en-GB" sz="2400" dirty="0"/>
              </a:br>
              <a:r>
                <a:rPr lang="en-GB" sz="2400" dirty="0">
                  <a:solidFill>
                    <a:srgbClr val="FFFF00"/>
                  </a:solidFill>
                </a:rPr>
                <a:t>When my model is wrong,</a:t>
              </a:r>
              <a:br>
                <a:rPr lang="en-GB" sz="2400" dirty="0">
                  <a:solidFill>
                    <a:srgbClr val="FFFF00"/>
                  </a:solidFill>
                </a:rPr>
              </a:br>
              <a:r>
                <a:rPr lang="en-GB" sz="2400" dirty="0">
                  <a:solidFill>
                    <a:srgbClr val="FFFF00"/>
                  </a:solidFill>
                </a:rPr>
                <a:t>is it wrong in the </a:t>
              </a:r>
              <a:r>
                <a:rPr lang="en-GB" sz="2400" i="1" dirty="0">
                  <a:solidFill>
                    <a:srgbClr val="FFFF00"/>
                  </a:solidFill>
                </a:rPr>
                <a:t>“right”</a:t>
              </a:r>
              <a:r>
                <a:rPr lang="en-GB" sz="2400" dirty="0">
                  <a:solidFill>
                    <a:srgbClr val="FFFF00"/>
                  </a:solidFill>
                </a:rPr>
                <a:t> way?</a:t>
              </a:r>
            </a:p>
          </p:txBody>
        </p:sp>
        <p:sp>
          <p:nvSpPr>
            <p:cNvPr id="10" name="Rectangle 9">
              <a:extLst>
                <a:ext uri="{FF2B5EF4-FFF2-40B4-BE49-F238E27FC236}">
                  <a16:creationId xmlns:a16="http://schemas.microsoft.com/office/drawing/2014/main" id="{A48996F8-FB84-9730-B71C-DEF761B7980B}"/>
                </a:ext>
              </a:extLst>
            </p:cNvPr>
            <p:cNvSpPr/>
            <p:nvPr/>
          </p:nvSpPr>
          <p:spPr>
            <a:xfrm>
              <a:off x="497940" y="4651454"/>
              <a:ext cx="5598059" cy="103412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Arrow Connector 15">
              <a:extLst>
                <a:ext uri="{FF2B5EF4-FFF2-40B4-BE49-F238E27FC236}">
                  <a16:creationId xmlns:a16="http://schemas.microsoft.com/office/drawing/2014/main" id="{7ECA1C01-3CC7-17A1-29CA-54FF76660B7D}"/>
                </a:ext>
              </a:extLst>
            </p:cNvPr>
            <p:cNvCxnSpPr>
              <a:stCxn id="10" idx="3"/>
              <a:endCxn id="7" idx="1"/>
            </p:cNvCxnSpPr>
            <p:nvPr/>
          </p:nvCxnSpPr>
          <p:spPr>
            <a:xfrm>
              <a:off x="6095999" y="5168515"/>
              <a:ext cx="38117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8BA7C447-58A5-252F-C072-C23C8568424D}"/>
              </a:ext>
            </a:extLst>
          </p:cNvPr>
          <p:cNvSpPr txBox="1"/>
          <p:nvPr/>
        </p:nvSpPr>
        <p:spPr>
          <a:xfrm>
            <a:off x="983061" y="6033627"/>
            <a:ext cx="10225876" cy="523220"/>
          </a:xfrm>
          <a:prstGeom prst="rect">
            <a:avLst/>
          </a:prstGeom>
          <a:noFill/>
        </p:spPr>
        <p:txBody>
          <a:bodyPr wrap="none" rtlCol="0">
            <a:spAutoFit/>
          </a:bodyPr>
          <a:lstStyle/>
          <a:p>
            <a:r>
              <a:rPr lang="en-GB" sz="2800" dirty="0"/>
              <a:t>Dealing with these issues is the core of a well-designed study!</a:t>
            </a:r>
          </a:p>
        </p:txBody>
      </p:sp>
    </p:spTree>
    <p:extLst>
      <p:ext uri="{BB962C8B-B14F-4D97-AF65-F5344CB8AC3E}">
        <p14:creationId xmlns:p14="http://schemas.microsoft.com/office/powerpoint/2010/main" val="1747966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fade">
                                      <p:cBhvr>
                                        <p:cTn id="26" dur="50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00"/>
                                        <p:tgtEl>
                                          <p:spTgt spid="1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4"/>
                                        </p:tgtEl>
                                        <p:attrNameLst>
                                          <p:attrName>style.visibility</p:attrName>
                                        </p:attrNameLst>
                                      </p:cBhvr>
                                      <p:to>
                                        <p:strVal val="visible"/>
                                      </p:to>
                                    </p:set>
                                    <p:animEffect transition="in" filter="fade">
                                      <p:cBhvr>
                                        <p:cTn id="4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F1DA7-C0E2-DF0C-9723-1B6946FFAE1E}"/>
              </a:ext>
            </a:extLst>
          </p:cNvPr>
          <p:cNvSpPr>
            <a:spLocks noGrp="1"/>
          </p:cNvSpPr>
          <p:nvPr>
            <p:ph type="title"/>
          </p:nvPr>
        </p:nvSpPr>
        <p:spPr>
          <a:xfrm>
            <a:off x="0" y="0"/>
            <a:ext cx="12192000" cy="1325563"/>
          </a:xfrm>
        </p:spPr>
        <p:txBody>
          <a:bodyPr/>
          <a:lstStyle/>
          <a:p>
            <a:r>
              <a:rPr lang="en-GB" dirty="0"/>
              <a:t>TL;DR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4311B5-BEAC-9F63-5C7A-510527D185F7}"/>
                  </a:ext>
                </a:extLst>
              </p:cNvPr>
              <p:cNvSpPr>
                <a:spLocks noGrp="1"/>
              </p:cNvSpPr>
              <p:nvPr>
                <p:ph idx="1"/>
              </p:nvPr>
            </p:nvSpPr>
            <p:spPr>
              <a:xfrm>
                <a:off x="0" y="1426613"/>
                <a:ext cx="12192000" cy="5240194"/>
              </a:xfrm>
            </p:spPr>
            <p:txBody>
              <a:bodyPr>
                <a:normAutofit lnSpcReduction="10000"/>
              </a:bodyPr>
              <a:lstStyle/>
              <a:p>
                <a:r>
                  <a:rPr lang="en-GB" dirty="0"/>
                  <a:t>We choose a distribution to state what the data should look like and how variation should work</a:t>
                </a:r>
              </a:p>
              <a:p>
                <a:pPr lvl="1"/>
                <a:r>
                  <a:rPr lang="en-GB" b="0" dirty="0"/>
                  <a:t>The </a:t>
                </a:r>
                <a14:m>
                  <m:oMath xmlns:m="http://schemas.openxmlformats.org/officeDocument/2006/math">
                    <m:r>
                      <a:rPr lang="en-GB" b="0" i="1" smtClean="0">
                        <a:latin typeface="Cambria Math" panose="02040503050406030204" pitchFamily="18" charset="0"/>
                      </a:rPr>
                      <m:t>𝑁𝑜𝑟𝑚𝑎𝑙</m:t>
                    </m:r>
                  </m:oMath>
                </a14:m>
                <a:r>
                  <a:rPr lang="en-GB" dirty="0"/>
                  <a:t> is a common one (but not the only one)</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𝑁𝑜𝑟𝑚𝑎𝑙</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𝜎</m:t>
                    </m:r>
                    <m:r>
                      <a:rPr lang="en-GB" b="0" i="1" smtClean="0">
                        <a:latin typeface="Cambria Math" panose="02040503050406030204" pitchFamily="18" charset="0"/>
                      </a:rPr>
                      <m:t>)</m:t>
                    </m:r>
                  </m:oMath>
                </a14:m>
                <a:endParaRPr lang="en-GB" dirty="0"/>
              </a:p>
              <a:p>
                <a:r>
                  <a:rPr lang="en-GB" dirty="0"/>
                  <a:t>We use a linear equation to say what determines the average (</a:t>
                </a:r>
                <a14:m>
                  <m:oMath xmlns:m="http://schemas.openxmlformats.org/officeDocument/2006/math">
                    <m:r>
                      <a:rPr lang="en-GB" b="0" i="1" smtClean="0">
                        <a:latin typeface="Cambria Math" panose="02040503050406030204" pitchFamily="18" charset="0"/>
                      </a:rPr>
                      <m:t>𝜇</m:t>
                    </m:r>
                  </m:oMath>
                </a14:m>
                <a:r>
                  <a:rPr lang="en-GB" dirty="0"/>
                  <a:t>)</a:t>
                </a: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𝜇</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0</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1</m:t>
                        </m:r>
                      </m:sub>
                    </m:sSub>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endParaRPr lang="en-GB" dirty="0"/>
              </a:p>
              <a:p>
                <a:r>
                  <a:rPr lang="en-GB" dirty="0"/>
                  <a:t>When we fit these models, we make various assumptions</a:t>
                </a:r>
              </a:p>
              <a:p>
                <a:pPr lvl="1"/>
                <a:r>
                  <a:rPr lang="en-GB" dirty="0"/>
                  <a:t>Assumptions about the data are most important</a:t>
                </a:r>
              </a:p>
              <a:p>
                <a:pPr lvl="2"/>
                <a:r>
                  <a:rPr lang="en-GB" dirty="0">
                    <a:solidFill>
                      <a:srgbClr val="FFFF00"/>
                    </a:solidFill>
                  </a:rPr>
                  <a:t>Are we measuring the right thing, in the right way?</a:t>
                </a:r>
              </a:p>
              <a:p>
                <a:pPr lvl="1"/>
                <a:r>
                  <a:rPr lang="en-GB" dirty="0"/>
                  <a:t>Assumptions about the model structure is next most important</a:t>
                </a:r>
              </a:p>
              <a:p>
                <a:pPr lvl="2"/>
                <a:r>
                  <a:rPr lang="en-GB" dirty="0">
                    <a:solidFill>
                      <a:srgbClr val="FFFF00"/>
                    </a:solidFill>
                  </a:rPr>
                  <a:t>Does our model match reality?</a:t>
                </a:r>
              </a:p>
              <a:p>
                <a:pPr lvl="1"/>
                <a:r>
                  <a:rPr lang="en-GB" dirty="0"/>
                  <a:t>Assumptions about residual errors are least important</a:t>
                </a:r>
              </a:p>
              <a:p>
                <a:pPr lvl="2"/>
                <a:r>
                  <a:rPr lang="en-GB" dirty="0">
                    <a:solidFill>
                      <a:srgbClr val="FFFF00"/>
                    </a:solidFill>
                  </a:rPr>
                  <a:t>Are the “mistakes” behaving as we expect?</a:t>
                </a:r>
              </a:p>
            </p:txBody>
          </p:sp>
        </mc:Choice>
        <mc:Fallback xmlns="">
          <p:sp>
            <p:nvSpPr>
              <p:cNvPr id="3" name="Content Placeholder 2">
                <a:extLst>
                  <a:ext uri="{FF2B5EF4-FFF2-40B4-BE49-F238E27FC236}">
                    <a16:creationId xmlns:a16="http://schemas.microsoft.com/office/drawing/2014/main" id="{B34311B5-BEAC-9F63-5C7A-510527D185F7}"/>
                  </a:ext>
                </a:extLst>
              </p:cNvPr>
              <p:cNvSpPr>
                <a:spLocks noGrp="1" noRot="1" noChangeAspect="1" noMove="1" noResize="1" noEditPoints="1" noAdjustHandles="1" noChangeArrowheads="1" noChangeShapeType="1" noTextEdit="1"/>
              </p:cNvSpPr>
              <p:nvPr>
                <p:ph idx="1"/>
              </p:nvPr>
            </p:nvSpPr>
            <p:spPr>
              <a:xfrm>
                <a:off x="0" y="1426613"/>
                <a:ext cx="12192000" cy="5240194"/>
              </a:xfrm>
              <a:blipFill>
                <a:blip r:embed="rId2"/>
                <a:stretch>
                  <a:fillRect l="-900"/>
                </a:stretch>
              </a:blipFill>
            </p:spPr>
            <p:txBody>
              <a:bodyPr/>
              <a:lstStyle/>
              <a:p>
                <a:r>
                  <a:rPr lang="en-GB">
                    <a:noFill/>
                  </a:rPr>
                  <a:t> </a:t>
                </a:r>
              </a:p>
            </p:txBody>
          </p:sp>
        </mc:Fallback>
      </mc:AlternateContent>
    </p:spTree>
    <p:extLst>
      <p:ext uri="{BB962C8B-B14F-4D97-AF65-F5344CB8AC3E}">
        <p14:creationId xmlns:p14="http://schemas.microsoft.com/office/powerpoint/2010/main" val="2161126857"/>
      </p:ext>
    </p:extLst>
  </p:cSld>
  <p:clrMapOvr>
    <a:masterClrMapping/>
  </p:clrMapOvr>
</p:sld>
</file>

<file path=ppt/theme/theme1.xml><?xml version="1.0" encoding="utf-8"?>
<a:theme xmlns:a="http://schemas.openxmlformats.org/drawingml/2006/main" name="sbs_templat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Bahnschrift Light">
      <a:majorFont>
        <a:latin typeface="Bahnschrift Light"/>
        <a:ea typeface=""/>
        <a:cs typeface=""/>
      </a:majorFont>
      <a:minorFont>
        <a:latin typeface="Bahnschrif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bs_slide_template.potx" id="{ECECA26D-C7D9-428D-8AE3-0DEBE87A348A}" vid="{A052F16A-C2E7-4086-BA7D-A0C2C9C1F8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c2b19ad-5f9c-49d4-9077-3ec3cfc52b3f}" enabled="0" method="" siteId="{8c2b19ad-5f9c-49d4-9077-3ec3cfc52b3f}" removed="1"/>
</clbl:labelList>
</file>

<file path=docProps/app.xml><?xml version="1.0" encoding="utf-8"?>
<Properties xmlns="http://schemas.openxmlformats.org/officeDocument/2006/extended-properties" xmlns:vt="http://schemas.openxmlformats.org/officeDocument/2006/docPropsVTypes">
  <Template>sbs_template</Template>
  <TotalTime>5095</TotalTime>
  <Words>2064</Words>
  <Application>Microsoft Office PowerPoint</Application>
  <PresentationFormat>Widescreen</PresentationFormat>
  <Paragraphs>289</Paragraphs>
  <Slides>35</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Bahnschrift Light</vt:lpstr>
      <vt:lpstr>Aptos</vt:lpstr>
      <vt:lpstr>Cambria Math</vt:lpstr>
      <vt:lpstr>Roboto</vt:lpstr>
      <vt:lpstr>Arial</vt:lpstr>
      <vt:lpstr>sbs_template</vt:lpstr>
      <vt:lpstr>Introduction to linear models</vt:lpstr>
      <vt:lpstr>Stats: making the simple seem complicated</vt:lpstr>
      <vt:lpstr>Statistics and data</vt:lpstr>
      <vt:lpstr>Statistics and data</vt:lpstr>
      <vt:lpstr>Doing “stats” by hand</vt:lpstr>
      <vt:lpstr>“Stats” by hand</vt:lpstr>
      <vt:lpstr>More realism</vt:lpstr>
      <vt:lpstr>What stats does</vt:lpstr>
      <vt:lpstr>What about variation?</vt:lpstr>
      <vt:lpstr>Variation</vt:lpstr>
      <vt:lpstr>Normal distribution</vt:lpstr>
      <vt:lpstr>Our model</vt:lpstr>
      <vt:lpstr>Goal of statistics</vt:lpstr>
      <vt:lpstr>The Normal distribution</vt:lpstr>
      <vt:lpstr>Beware the histomancer</vt:lpstr>
      <vt:lpstr>“Do you drink coffee?”</vt:lpstr>
      <vt:lpstr>PowerPoint Presentation</vt:lpstr>
      <vt:lpstr>If you drink coffee, what is the average number of coffees you drink in a year?</vt:lpstr>
      <vt:lpstr>First amongst equals</vt:lpstr>
      <vt:lpstr>The return of  hidden assumptions</vt:lpstr>
      <vt:lpstr>Monkey’s paw</vt:lpstr>
      <vt:lpstr>Assumptions</vt:lpstr>
      <vt:lpstr>Assumptions in the scientific workflow</vt:lpstr>
      <vt:lpstr>Assumption of validity</vt:lpstr>
      <vt:lpstr>Assumption of representativeness</vt:lpstr>
      <vt:lpstr>Assumptions in the scientific workflow</vt:lpstr>
      <vt:lpstr>Assumption of addivity</vt:lpstr>
      <vt:lpstr>Assumption of linearity</vt:lpstr>
      <vt:lpstr>Assumptions in the scientific workflow</vt:lpstr>
      <vt:lpstr>Residual error</vt:lpstr>
      <vt:lpstr>Assumption of independence of errors</vt:lpstr>
      <vt:lpstr>Assumption of  equal variance of errors</vt:lpstr>
      <vt:lpstr>Assumption of normality of errors</vt:lpstr>
      <vt:lpstr>Assumptions in the scientific workflow</vt:lpstr>
      <vt:lpstr>TL;DR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linear models</dc:title>
  <dc:creator>Roos, Deon</dc:creator>
  <cp:lastModifiedBy>Roos, Deon</cp:lastModifiedBy>
  <cp:revision>42</cp:revision>
  <dcterms:created xsi:type="dcterms:W3CDTF">2024-06-28T13:38:41Z</dcterms:created>
  <dcterms:modified xsi:type="dcterms:W3CDTF">2025-08-04T11:40:12Z</dcterms:modified>
</cp:coreProperties>
</file>