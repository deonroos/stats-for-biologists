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2" r:id="rId3"/>
    <p:sldId id="283" r:id="rId4"/>
    <p:sldId id="286" r:id="rId5"/>
    <p:sldId id="287" r:id="rId6"/>
    <p:sldId id="303" r:id="rId7"/>
    <p:sldId id="284" r:id="rId8"/>
    <p:sldId id="291" r:id="rId9"/>
    <p:sldId id="288" r:id="rId10"/>
    <p:sldId id="304" r:id="rId11"/>
    <p:sldId id="289" r:id="rId12"/>
    <p:sldId id="290" r:id="rId13"/>
    <p:sldId id="293" r:id="rId14"/>
    <p:sldId id="305" r:id="rId15"/>
    <p:sldId id="292" r:id="rId16"/>
    <p:sldId id="294" r:id="rId17"/>
    <p:sldId id="296" r:id="rId18"/>
    <p:sldId id="297" r:id="rId19"/>
    <p:sldId id="295" r:id="rId20"/>
    <p:sldId id="298" r:id="rId21"/>
    <p:sldId id="299" r:id="rId22"/>
    <p:sldId id="300" r:id="rId23"/>
    <p:sldId id="301" r:id="rId24"/>
    <p:sldId id="30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2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87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00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39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8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32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3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04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2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135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23E0-ED12-2519-B2D9-5B33C38D6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44F07-B3F4-15C4-AFCE-04078E3CC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7E0C-C606-054E-C5F8-A9092586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3AA6-CCE6-741C-6C54-21C17CDA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6410A-F586-E7BC-9A8A-18533B54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43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0148B-943F-48A9-ADE6-600D1AF7D392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ABFE8-C792-4DE0-994D-B709D3831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95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continuous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pic>
        <p:nvPicPr>
          <p:cNvPr id="6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603FCCAB-D6AB-946D-C461-13BA013788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>
          <a:xfrm>
            <a:off x="192891" y="2317897"/>
            <a:ext cx="2914263" cy="3426678"/>
          </a:xfrm>
        </p:spPr>
      </p:pic>
      <p:pic>
        <p:nvPicPr>
          <p:cNvPr id="7" name="Picture 6" descr="A graph with lines in it&#10;&#10;Description automatically generated">
            <a:extLst>
              <a:ext uri="{FF2B5EF4-FFF2-40B4-BE49-F238E27FC236}">
                <a16:creationId xmlns:a16="http://schemas.microsoft.com/office/drawing/2014/main" id="{EE04B552-923F-6883-4FAA-592C0F247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22976"/>
            <a:ext cx="3327991" cy="33279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entire previous lecture is summarised into a single</a:t>
            </a:r>
            <a:br>
              <a:rPr lang="en-GB" dirty="0"/>
            </a:br>
            <a:r>
              <a:rPr lang="en-GB" i="1" dirty="0"/>
              <a:t>function </a:t>
            </a:r>
            <a:r>
              <a:rPr lang="en-GB" dirty="0"/>
              <a:t>in R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E11959-B2C5-52AB-DA39-4B5312CB5C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  <a:p>
            <a:r>
              <a:rPr lang="en-GB" dirty="0"/>
              <a:t>Easiest when data is entered this way from the start</a:t>
            </a:r>
          </a:p>
          <a:p>
            <a:pPr lvl="1"/>
            <a:r>
              <a:rPr lang="en-GB" dirty="0"/>
              <a:t>Otherwise you need to do lots of data processing (with potential mistakes)</a:t>
            </a:r>
          </a:p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96E4FD-5CDF-7CE4-58A1-ABE39DED4F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362" t="1" r="-141" b="-1504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The formula</a:t>
            </a:r>
          </a:p>
        </p:txBody>
      </p:sp>
    </p:spTree>
    <p:extLst>
      <p:ext uri="{BB962C8B-B14F-4D97-AF65-F5344CB8AC3E}">
        <p14:creationId xmlns:p14="http://schemas.microsoft.com/office/powerpoint/2010/main" val="59642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how owl density changes with pine marten density</a:t>
            </a:r>
          </a:p>
          <a:p>
            <a:pPr lvl="1"/>
            <a:r>
              <a:rPr lang="en-GB" dirty="0"/>
              <a:t>Response variable = owl density</a:t>
            </a:r>
          </a:p>
          <a:p>
            <a:pPr lvl="1"/>
            <a:r>
              <a:rPr lang="en-GB" dirty="0"/>
              <a:t>Explanatory variable = marten density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owl ~ marten</a:t>
            </a:r>
          </a:p>
          <a:p>
            <a:pPr lvl="1"/>
            <a:r>
              <a:rPr lang="en-GB" dirty="0"/>
              <a:t>In English: “owl as a function of marten”</a:t>
            </a:r>
          </a:p>
          <a:p>
            <a:pPr lvl="1"/>
            <a:r>
              <a:rPr lang="en-GB" dirty="0"/>
              <a:t>In actual English: “Owl density changes with marten density”</a:t>
            </a:r>
          </a:p>
        </p:txBody>
      </p:sp>
      <p:pic>
        <p:nvPicPr>
          <p:cNvPr id="4" name="PineMartenandTawny">
            <a:hlinkClick r:id="" action="ppaction://media"/>
            <a:extLst>
              <a:ext uri="{FF2B5EF4-FFF2-40B4-BE49-F238E27FC236}">
                <a16:creationId xmlns:a16="http://schemas.microsoft.com/office/drawing/2014/main" id="{0154B702-E41F-5149-7DF0-E2DB8CD44C5C}"/>
              </a:ext>
            </a:extLst>
          </p:cNvPr>
          <p:cNvPicPr>
            <a:picLocks noGrp="1" noChangeAspect="1"/>
          </p:cNvPicPr>
          <p:nvPr>
            <p:ph type="pic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5690" r="36472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F074-D2E8-B396-406E-9F0FC056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Store your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7072-F3EA-0FC4-24FA-AED68A58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run the model each time you want to do something with it</a:t>
            </a:r>
          </a:p>
          <a:p>
            <a:pPr lvl="1"/>
            <a:r>
              <a:rPr lang="en-GB" dirty="0"/>
              <a:t>E.g. remind yourself what the parameter estimates were</a:t>
            </a:r>
          </a:p>
          <a:p>
            <a:r>
              <a:rPr lang="en-GB" dirty="0"/>
              <a:t>But tedious and annoying</a:t>
            </a:r>
          </a:p>
          <a:p>
            <a:r>
              <a:rPr lang="en-GB" dirty="0"/>
              <a:t>Easiest if you save your model output as an object</a:t>
            </a:r>
          </a:p>
          <a:p>
            <a:pPr lvl="1"/>
            <a:r>
              <a:rPr lang="en-GB" dirty="0"/>
              <a:t>Remember that “&lt;-” stores (or “assigns”) output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9F8F54-C06E-773B-7F2A-E8FB73DB89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84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(tawny ~ marten,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9132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owl_model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4696" y="3330273"/>
              <a:ext cx="205679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3" y="1445920"/>
            <a:ext cx="5587199" cy="2090236"/>
            <a:chOff x="6424613" y="1445920"/>
            <a:chExt cx="5587199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3" y="3138488"/>
              <a:ext cx="2978943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581420" cy="1328023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see if </a:t>
              </a:r>
              <a:br>
                <a:rPr lang="en-GB" dirty="0"/>
              </a:br>
              <a:r>
                <a:rPr lang="en-GB" dirty="0"/>
                <a:t>there is any linear relationship </a:t>
              </a:r>
              <a:br>
                <a:rPr lang="en-GB" dirty="0"/>
              </a:br>
              <a:r>
                <a:rPr lang="en-GB" dirty="0"/>
                <a:t>between tawny owl density and </a:t>
              </a:r>
              <a:br>
                <a:rPr lang="en-GB" dirty="0"/>
              </a:br>
              <a:r>
                <a:rPr lang="en-GB" dirty="0"/>
                <a:t>pine marten density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914085" y="2109932"/>
              <a:ext cx="516307" cy="1028556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owl_data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436894" y="2986685"/>
            <a:ext cx="2628341" cy="715089"/>
            <a:chOff x="9436894" y="2986685"/>
            <a:chExt cx="2628341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436894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565481" y="3336061"/>
              <a:ext cx="757815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348794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Keep in mind, we’re not doing stats for the sake of it</a:t>
                </a:r>
              </a:p>
              <a:p>
                <a:r>
                  <a:rPr lang="en-GB" dirty="0"/>
                  <a:t>We’re doing it to learn something about the world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neMartenandTawny">
            <a:hlinkClick r:id="" action="ppaction://media"/>
            <a:extLst>
              <a:ext uri="{FF2B5EF4-FFF2-40B4-BE49-F238E27FC236}">
                <a16:creationId xmlns:a16="http://schemas.microsoft.com/office/drawing/2014/main" id="{ADE56324-4345-C5A8-D369-5DF60B947FE4}"/>
              </a:ext>
            </a:extLst>
          </p:cNvPr>
          <p:cNvPicPr>
            <a:picLocks noGrp="1" noChangeAspect="1"/>
          </p:cNvPicPr>
          <p:nvPr>
            <p:ph type="pic"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5690" r="36472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8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tawny ~ marten,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owl_data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Min       1Q   Median       3Q  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-15.7312  -3.4267   0.0008   3.4721  14.1214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39.4934     0.4239   93.16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marten       -3.0465     0.2780  -10.96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5.015 on 1033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0.1042,	Adjusted R-squared:  0.1033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120.1 on 1 and 1033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423144" y="3709469"/>
              <a:ext cx="2892056" cy="869653"/>
            </a:xfrm>
            <a:prstGeom prst="rect">
              <a:avLst/>
            </a:prstGeom>
            <a:solidFill>
              <a:srgbClr val="0D0D0D">
                <a:alpha val="7411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solidFill>
              <a:srgbClr val="0D0D0D">
                <a:alpha val="7411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338084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423144" y="1908599"/>
              <a:ext cx="22093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63794" y="2383910"/>
            <a:ext cx="6436157" cy="1031302"/>
          </a:xfrm>
          <a:prstGeom prst="rect">
            <a:avLst/>
          </a:prstGeom>
          <a:solidFill>
            <a:srgbClr val="0D0D0D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D0D0D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 descr="A graph with white dots and red line&#10;&#10;Description automatically generated">
            <a:extLst>
              <a:ext uri="{FF2B5EF4-FFF2-40B4-BE49-F238E27FC236}">
                <a16:creationId xmlns:a16="http://schemas.microsoft.com/office/drawing/2014/main" id="{B3FD84F8-8A77-1A5F-36E1-2EAB6BDEA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3" y="3428814"/>
            <a:ext cx="2545328" cy="3034814"/>
          </a:xfrm>
          <a:prstGeom prst="rect">
            <a:avLst/>
          </a:prstGeom>
        </p:spPr>
      </p:pic>
      <p:pic>
        <p:nvPicPr>
          <p:cNvPr id="25" name="Picture 24" descr="A graph of a mountain&#10;&#10;Description automatically generated">
            <a:extLst>
              <a:ext uri="{FF2B5EF4-FFF2-40B4-BE49-F238E27FC236}">
                <a16:creationId xmlns:a16="http://schemas.microsoft.com/office/drawing/2014/main" id="{AE250D10-F989-54DF-6C91-13750BBD2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472" y="3428814"/>
            <a:ext cx="2640703" cy="31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5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6CF-09DA-FC41-19CD-BC863B3A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91-1B72-1C74-1747-B82E4DA63492}"/>
              </a:ext>
            </a:extLst>
          </p:cNvPr>
          <p:cNvSpPr txBox="1">
            <a:spLocks/>
          </p:cNvSpPr>
          <p:nvPr/>
        </p:nvSpPr>
        <p:spPr>
          <a:xfrm>
            <a:off x="2730500" y="29733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39.4934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marten       -3.0465</a:t>
            </a:r>
          </a:p>
        </p:txBody>
      </p:sp>
    </p:spTree>
    <p:extLst>
      <p:ext uri="{BB962C8B-B14F-4D97-AF65-F5344CB8AC3E}">
        <p14:creationId xmlns:p14="http://schemas.microsoft.com/office/powerpoint/2010/main" val="3572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Plot results</a:t>
            </a:r>
          </a:p>
        </p:txBody>
      </p:sp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CEB0-0F4A-24A4-CF22-498F52E0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life easy for your audience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795C0-17A0-6F99-33BB-DB0C5760C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Reporting the actual parameter estimates is important</a:t>
                </a:r>
              </a:p>
              <a:p>
                <a:pPr lvl="1"/>
                <a:r>
                  <a:rPr lang="en-GB" dirty="0"/>
                  <a:t>Transparency and precision</a:t>
                </a:r>
              </a:p>
              <a:p>
                <a:r>
                  <a:rPr lang="en-GB" dirty="0"/>
                  <a:t>But visualising the results is much more intuitive and helps non-technical readers to grasp the meaning</a:t>
                </a:r>
              </a:p>
              <a:p>
                <a:r>
                  <a:rPr lang="en-GB" dirty="0"/>
                  <a:t>For example, which is easier:</a:t>
                </a:r>
              </a:p>
              <a:p>
                <a:pPr lvl="1"/>
                <a:r>
                  <a:rPr lang="en-GB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was estimated at -99.32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was estimated at 1.89”</a:t>
                </a:r>
              </a:p>
              <a:p>
                <a:pPr lvl="1"/>
                <a:r>
                  <a:rPr lang="en-GB" dirty="0"/>
                  <a:t>Or a figure?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8795C0-17A0-6F99-33BB-DB0C5760C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25FF83A8-5057-E085-3171-CD520CB4D4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3314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074E-F3E1-49DF-DA85-A68EF609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Drawing a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28356C-D405-F3A0-9DF2-AAC11EE08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draw a line, we need a straight line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𝑀𝑎𝑟𝑡𝑒𝑛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Now that we’ve fit the model, we know what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are</a:t>
                </a:r>
              </a:p>
              <a:p>
                <a:r>
                  <a:rPr lang="en-GB" dirty="0"/>
                  <a:t>We just need values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𝑀𝑎𝑟𝑡𝑖𝑛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could just use the actual values from our dataset</a:t>
                </a:r>
              </a:p>
              <a:p>
                <a:pPr lvl="1"/>
                <a:r>
                  <a:rPr lang="en-GB" dirty="0"/>
                  <a:t>But this can cause difficulties later on</a:t>
                </a:r>
              </a:p>
              <a:p>
                <a:r>
                  <a:rPr lang="en-GB" dirty="0"/>
                  <a:t>Or we can just make up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28356C-D405-F3A0-9DF2-AAC11EE08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D439A9E-C0F8-E894-7908-491CC1E6E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3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2762249" y="3180218"/>
                <a:ext cx="770572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𝑀𝑎𝑟𝑡𝑒𝑛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9" y="3180218"/>
                <a:ext cx="7705725" cy="1015663"/>
              </a:xfrm>
              <a:prstGeom prst="rect">
                <a:avLst/>
              </a:prstGeom>
              <a:blipFill>
                <a:blip r:embed="rId2"/>
                <a:stretch>
                  <a:fillRect t="-19880" r="-6092" b="-39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46456-7489-72E7-4B3E-7F9AD082BAE7}"/>
              </a:ext>
            </a:extLst>
          </p:cNvPr>
          <p:cNvGrpSpPr/>
          <p:nvPr/>
        </p:nvGrpSpPr>
        <p:grpSpPr>
          <a:xfrm>
            <a:off x="4374356" y="3406775"/>
            <a:ext cx="2410619" cy="746700"/>
            <a:chOff x="4374356" y="3406775"/>
            <a:chExt cx="2410619" cy="746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A9F06-4997-900C-06E9-78C0237EC4E7}"/>
                </a:ext>
              </a:extLst>
            </p:cNvPr>
            <p:cNvSpPr/>
            <p:nvPr/>
          </p:nvSpPr>
          <p:spPr>
            <a:xfrm>
              <a:off x="43743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258B0A-D19B-A7F2-FD72-3BCBCE76D032}"/>
                </a:ext>
              </a:extLst>
            </p:cNvPr>
            <p:cNvSpPr/>
            <p:nvPr/>
          </p:nvSpPr>
          <p:spPr>
            <a:xfrm>
              <a:off x="60380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766DCB-6155-AB8F-375A-51B1228D3F6D}"/>
              </a:ext>
            </a:extLst>
          </p:cNvPr>
          <p:cNvGrpSpPr/>
          <p:nvPr/>
        </p:nvGrpSpPr>
        <p:grpSpPr>
          <a:xfrm>
            <a:off x="3451413" y="4153475"/>
            <a:ext cx="3826689" cy="1608111"/>
            <a:chOff x="3451413" y="4305875"/>
            <a:chExt cx="3826689" cy="160811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DF176-2855-150C-397B-9F6340DE813D}"/>
                </a:ext>
              </a:extLst>
            </p:cNvPr>
            <p:cNvSpPr txBox="1"/>
            <p:nvPr/>
          </p:nvSpPr>
          <p:spPr>
            <a:xfrm>
              <a:off x="3451413" y="5082989"/>
              <a:ext cx="3826689" cy="83099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can get these by doing:</a:t>
              </a:r>
              <a:br>
                <a:rPr lang="en-GB" sz="2400" dirty="0"/>
              </a:b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summary(</a:t>
              </a:r>
              <a:r>
                <a:rPr lang="en-GB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owl_model</a:t>
              </a: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87E948-0102-D0AA-B757-EEED6CCB26A5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H="1" flipV="1">
              <a:off x="4747816" y="4305875"/>
              <a:ext cx="616942" cy="777114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B2CEF1-76E6-AE33-63FA-8EEFCD99F786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5364758" y="4305875"/>
              <a:ext cx="1046758" cy="777114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7081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51412" y="5837786"/>
                <a:ext cx="3826689" cy="910837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Estimate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(Intercept)  39.4934 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marten       -3.0465 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12" y="5837786"/>
                <a:ext cx="3826689" cy="910837"/>
              </a:xfrm>
              <a:prstGeom prst="rect">
                <a:avLst/>
              </a:prstGeom>
              <a:blipFill>
                <a:blip r:embed="rId3"/>
                <a:stretch>
                  <a:fillRect l="-948" t="-4545" b="-1299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7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457327" y="3262769"/>
                <a:ext cx="849629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=39.5−3.1×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𝑀𝑎𝑟𝑡𝑒𝑛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27" y="3262769"/>
                <a:ext cx="8496297" cy="1015663"/>
              </a:xfrm>
              <a:prstGeom prst="rect">
                <a:avLst/>
              </a:prstGeom>
              <a:blipFill>
                <a:blip r:embed="rId2"/>
                <a:stretch>
                  <a:fillRect t="-19162" r="-6169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2509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470D94-6A2A-7D2A-1A7F-48C1BE12A71F}"/>
              </a:ext>
            </a:extLst>
          </p:cNvPr>
          <p:cNvGrpSpPr/>
          <p:nvPr/>
        </p:nvGrpSpPr>
        <p:grpSpPr>
          <a:xfrm>
            <a:off x="7028047" y="1877611"/>
            <a:ext cx="3013967" cy="1529164"/>
            <a:chOff x="6523222" y="1877611"/>
            <a:chExt cx="3013967" cy="15291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32BA6F-45BF-1760-7154-89E6D61328C4}"/>
                </a:ext>
              </a:extLst>
            </p:cNvPr>
            <p:cNvSpPr txBox="1"/>
            <p:nvPr/>
          </p:nvSpPr>
          <p:spPr>
            <a:xfrm>
              <a:off x="6523222" y="1877611"/>
              <a:ext cx="3013967" cy="830997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just need values </a:t>
              </a:r>
              <a:br>
                <a:rPr lang="en-GB" sz="2400" dirty="0"/>
              </a:br>
              <a:r>
                <a:rPr lang="en-GB" sz="2400" dirty="0"/>
                <a:t>to plug in here</a:t>
              </a:r>
              <a:endParaRPr lang="en-GB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31F947-13A5-1E8F-8C7F-ECACC6B462BE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8020681" y="2708608"/>
              <a:ext cx="9525" cy="6981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6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8066-0FFC-10B1-F716-608CE4BB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up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C2ED-2699-4FB6-5005-513ABF074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426613"/>
                <a:ext cx="4953000" cy="5240194"/>
              </a:xfrm>
            </p:spPr>
            <p:txBody>
              <a:bodyPr/>
              <a:lstStyle/>
              <a:p>
                <a:r>
                  <a:rPr lang="en-GB" dirty="0"/>
                  <a:t>We want a simple list of sequential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𝑀𝑎𝑟𝑡𝑒𝑛</m:t>
                    </m:r>
                  </m:oMath>
                </a14:m>
                <a:endParaRPr lang="en-GB" dirty="0"/>
              </a:p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GB" dirty="0"/>
                  <a:t> is excellent at doing this</a:t>
                </a:r>
              </a:p>
              <a:p>
                <a:r>
                  <a:rPr lang="en-GB" dirty="0"/>
                  <a:t>We can use the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seq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GB" dirty="0"/>
                  <a:t>function</a:t>
                </a:r>
              </a:p>
              <a:p>
                <a:pPr lvl="1"/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seq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GB" dirty="0"/>
                  <a:t>for “sequence”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C2ED-2699-4FB6-5005-513ABF074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426613"/>
                <a:ext cx="4953000" cy="5240194"/>
              </a:xfrm>
              <a:blipFill>
                <a:blip r:embed="rId2"/>
                <a:stretch>
                  <a:fillRect l="-2214" r="-3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80B601-3623-DA8D-983C-7D0256BAB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1" y="3111500"/>
            <a:ext cx="6959600" cy="37465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marten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(from = 0,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    to = 10,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length.out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25)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Creates a sequence of 25 numbers from 0 marten to 10 marten, and stores it as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marten</a:t>
            </a:r>
            <a:r>
              <a:rPr lang="en-GB" dirty="0">
                <a:cs typeface="Courier New" panose="02070309020205020404" pitchFamily="49" charset="0"/>
              </a:rPr>
              <a:t>”.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9E27B6-46D7-BB81-254E-71446931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3054350"/>
            <a:ext cx="43434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219200" y="3262769"/>
                <a:ext cx="87249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=39.5−3.1×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𝑀𝑎𝑟𝑡𝑒𝑛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262769"/>
                <a:ext cx="8724900" cy="1015663"/>
              </a:xfrm>
              <a:prstGeom prst="rect">
                <a:avLst/>
              </a:prstGeom>
              <a:blipFill>
                <a:blip r:embed="rId2"/>
                <a:stretch>
                  <a:fillRect t="-19162" r="-4612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127082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FB2FF7-352A-7294-641D-F7513448876D}"/>
              </a:ext>
            </a:extLst>
          </p:cNvPr>
          <p:cNvGrpSpPr/>
          <p:nvPr/>
        </p:nvGrpSpPr>
        <p:grpSpPr>
          <a:xfrm>
            <a:off x="6717511" y="4153475"/>
            <a:ext cx="4343400" cy="2634675"/>
            <a:chOff x="6717511" y="4153475"/>
            <a:chExt cx="4343400" cy="26346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41FC0CC-A0CE-5210-6B9D-A6C8B3C2C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17511" y="4511675"/>
              <a:ext cx="4343400" cy="2276475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C31F92-4A47-A20F-C028-C09E3A173B86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8411206" y="4153475"/>
              <a:ext cx="0" cy="35820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0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819274" y="2413337"/>
                <a:ext cx="8553451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=39.5−3.1×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𝑀𝑎𝑟𝑡𝑒𝑛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74" y="2413337"/>
                <a:ext cx="8553451" cy="1015663"/>
              </a:xfrm>
              <a:prstGeom prst="rect">
                <a:avLst/>
              </a:prstGeom>
              <a:blipFill>
                <a:blip r:embed="rId2"/>
                <a:stretch>
                  <a:fillRect t="-19760" r="-5698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A0C365E-323F-A581-1C6A-8F0E7B48D60C}"/>
              </a:ext>
            </a:extLst>
          </p:cNvPr>
          <p:cNvSpPr txBox="1"/>
          <p:nvPr/>
        </p:nvSpPr>
        <p:spPr>
          <a:xfrm>
            <a:off x="0" y="3756362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pred_tawny</a:t>
            </a:r>
            <a:r>
              <a:rPr lang="en-GB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&lt;- 39.5 – 3.1 * marten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330E6E-A959-D7DF-1713-A105BF2D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930775"/>
            <a:ext cx="86296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learned how to plot data using ggplot in the first week</a:t>
            </a:r>
          </a:p>
          <a:p>
            <a:r>
              <a:rPr lang="en-GB" dirty="0"/>
              <a:t>We’ll use those skills again here</a:t>
            </a:r>
          </a:p>
          <a:p>
            <a:r>
              <a:rPr lang="en-GB" dirty="0"/>
              <a:t>Specifically, we want to use the </a:t>
            </a:r>
            <a:r>
              <a:rPr lang="en-GB" dirty="0" err="1"/>
              <a:t>geom_line</a:t>
            </a:r>
            <a:r>
              <a:rPr lang="en-GB" dirty="0"/>
              <a:t> geometry to plot a </a:t>
            </a:r>
            <a:r>
              <a:rPr lang="en-GB" i="1" dirty="0"/>
              <a:t>line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marten,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pred_tawny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6" name="Picture Placeholder 5" descr="A graph of a line&#10;&#10;Description automatically generated">
            <a:extLst>
              <a:ext uri="{FF2B5EF4-FFF2-40B4-BE49-F238E27FC236}">
                <a16:creationId xmlns:a16="http://schemas.microsoft.com/office/drawing/2014/main" id="{82987FD7-E50F-5F26-EAD9-154781EC26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9839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2C5D-861F-5E8B-6FB5-956709DB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easier 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EF7F-1178-E55F-CF48-916ED4FFC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various R packages that make plotting model fits easy</a:t>
            </a:r>
          </a:p>
          <a:p>
            <a:r>
              <a:rPr lang="en-GB" dirty="0"/>
              <a:t>But they do come with the cost of limiting your choices</a:t>
            </a:r>
          </a:p>
          <a:p>
            <a:pPr lvl="1"/>
            <a:r>
              <a:rPr lang="en-GB" dirty="0"/>
              <a:t>Useful when learning</a:t>
            </a:r>
          </a:p>
          <a:p>
            <a:pPr lvl="1"/>
            <a:r>
              <a:rPr lang="en-GB" dirty="0"/>
              <a:t>But annoying when you want to make those choices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ggeffects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package is a nice option</a:t>
            </a:r>
          </a:p>
          <a:p>
            <a:pPr lvl="1"/>
            <a:r>
              <a:rPr lang="en-GB" dirty="0"/>
              <a:t>But not the only one</a:t>
            </a:r>
          </a:p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ggeffects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ggpredict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12" name="Picture Placeholder 11" descr="A graph with a line&#10;&#10;Description automatically generated">
            <a:extLst>
              <a:ext uri="{FF2B5EF4-FFF2-40B4-BE49-F238E27FC236}">
                <a16:creationId xmlns:a16="http://schemas.microsoft.com/office/drawing/2014/main" id="{9CA782DE-3DF5-AABB-5315-86E6AB4F3C8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67453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943099"/>
            <a:ext cx="10868025" cy="4723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Actually fitting models in R is easy</a:t>
            </a:r>
          </a:p>
          <a:p>
            <a:pPr lvl="1"/>
            <a:r>
              <a:rPr lang="en-GB" dirty="0"/>
              <a:t>Ensure data is in tabular form</a:t>
            </a:r>
          </a:p>
          <a:p>
            <a:pPr lvl="1"/>
            <a:r>
              <a:rPr lang="en-GB" dirty="0"/>
              <a:t>Get the formula that captures your question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handles all of the theory</a:t>
            </a:r>
          </a:p>
          <a:p>
            <a:r>
              <a:rPr lang="en-GB" dirty="0">
                <a:cs typeface="Courier New" panose="02070309020205020404" pitchFamily="49" charset="0"/>
              </a:rPr>
              <a:t>Use summary() to extract the parameter estimates</a:t>
            </a:r>
          </a:p>
          <a:p>
            <a:r>
              <a:rPr lang="en-GB" dirty="0">
                <a:cs typeface="Courier New" panose="02070309020205020404" pitchFamily="49" charset="0"/>
              </a:rPr>
              <a:t>Report the estimates!</a:t>
            </a:r>
          </a:p>
          <a:p>
            <a:r>
              <a:rPr lang="en-GB" dirty="0">
                <a:cs typeface="Courier New" panose="02070309020205020404" pitchFamily="49" charset="0"/>
              </a:rPr>
              <a:t>Create a simple version of your explanatory variable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Use your equation to generate fitted values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Plot them using your software of preference</a:t>
            </a:r>
          </a:p>
          <a:p>
            <a:endParaRPr lang="en-GB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1626</TotalTime>
  <Words>963</Words>
  <Application>Microsoft Office PowerPoint</Application>
  <PresentationFormat>Widescreen</PresentationFormat>
  <Paragraphs>139</Paragraphs>
  <Slides>24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The core function</vt:lpstr>
      <vt:lpstr>Step 1: The data</vt:lpstr>
      <vt:lpstr>Make sure your data is ready</vt:lpstr>
      <vt:lpstr>Step 2: The formula</vt:lpstr>
      <vt:lpstr>Model formula</vt:lpstr>
      <vt:lpstr>Store your model</vt:lpstr>
      <vt:lpstr>Running the model</vt:lpstr>
      <vt:lpstr>Step 3: Interpret results</vt:lpstr>
      <vt:lpstr>Now what?</vt:lpstr>
      <vt:lpstr>summary(owl_model) </vt:lpstr>
      <vt:lpstr>Done?</vt:lpstr>
      <vt:lpstr>Step 4: Plot results</vt:lpstr>
      <vt:lpstr>Make life easy for your audience</vt:lpstr>
      <vt:lpstr>Drawing a line</vt:lpstr>
      <vt:lpstr>Our objective to make the figure</vt:lpstr>
      <vt:lpstr>Our objective to make the figure</vt:lpstr>
      <vt:lpstr>Making up numbers</vt:lpstr>
      <vt:lpstr>Our objective to make the figure</vt:lpstr>
      <vt:lpstr>Our objective to make the figure</vt:lpstr>
      <vt:lpstr>ggplot</vt:lpstr>
      <vt:lpstr>An easier alternative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 in R</dc:title>
  <dc:creator>Roos, Deon</dc:creator>
  <cp:lastModifiedBy>Roos, Deon</cp:lastModifiedBy>
  <cp:revision>4</cp:revision>
  <dcterms:created xsi:type="dcterms:W3CDTF">2024-07-08T13:23:04Z</dcterms:created>
  <dcterms:modified xsi:type="dcterms:W3CDTF">2024-07-22T16:26:28Z</dcterms:modified>
</cp:coreProperties>
</file>