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326" r:id="rId3"/>
    <p:sldId id="331" r:id="rId4"/>
    <p:sldId id="327" r:id="rId5"/>
    <p:sldId id="309" r:id="rId6"/>
    <p:sldId id="311" r:id="rId7"/>
    <p:sldId id="328" r:id="rId8"/>
    <p:sldId id="329" r:id="rId9"/>
    <p:sldId id="316" r:id="rId10"/>
    <p:sldId id="317" r:id="rId11"/>
    <p:sldId id="315" r:id="rId12"/>
    <p:sldId id="330" r:id="rId13"/>
    <p:sldId id="3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56F05C-6DDD-422D-918C-314E9DA21D16}">
          <p14:sldIdLst>
            <p14:sldId id="256"/>
            <p14:sldId id="326"/>
            <p14:sldId id="331"/>
            <p14:sldId id="327"/>
            <p14:sldId id="309"/>
            <p14:sldId id="311"/>
            <p14:sldId id="328"/>
            <p14:sldId id="329"/>
            <p14:sldId id="316"/>
            <p14:sldId id="317"/>
            <p14:sldId id="315"/>
            <p14:sldId id="330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444" autoAdjust="0"/>
  </p:normalViewPr>
  <p:slideViewPr>
    <p:cSldViewPr snapToGrid="0">
      <p:cViewPr varScale="1">
        <p:scale>
          <a:sx n="107" d="100"/>
          <a:sy n="107" d="100"/>
        </p:scale>
        <p:origin x="13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E2432-6654-47D3-BA2E-C79365803F14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A1917-8758-4A60-BF7C-DAA43A9229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64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1917-8758-4A60-BF7C-DAA43A92293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614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1917-8758-4A60-BF7C-DAA43A92293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133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6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74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597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30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72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7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74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32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35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89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4E24-41AE-F2CF-6A31-4B219D7FF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85D76-968C-67F0-C66E-506640107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65A56-F312-4FC8-1434-D0B76F05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9CEB4-F855-966E-729E-FFDC8DF6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6859A-671B-B909-2339-926606DB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806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B475-942C-4A23-A4EA-2580EABC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71F5-936B-4035-9F86-6FD1BD273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3F82A-49AE-46DD-A16A-7083C557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7676-C212-4803-93A5-304A74E7C3F6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E12B4-51CF-4406-AD70-279DA6C1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CEA7-051F-43A8-8BB6-7B204720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0580-A738-49E0-8221-275B179AE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76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6FFCA-D54E-40C3-ADD4-34D72280AA8D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8133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8D9C-DD53-AF2A-73CA-9B0555072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Information theory and criterion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C4908-BF8B-F6A0-3856-4F1F5F710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Additions to Linear Models</a:t>
            </a:r>
          </a:p>
        </p:txBody>
      </p:sp>
    </p:spTree>
    <p:extLst>
      <p:ext uri="{BB962C8B-B14F-4D97-AF65-F5344CB8AC3E}">
        <p14:creationId xmlns:p14="http://schemas.microsoft.com/office/powerpoint/2010/main" val="935469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EEAF-EFA8-49AD-0FF0-C4165D38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Overfitting and 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E7410-9F52-846D-5138-629E032B0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height data of an individual impala from ages 0 to 4</a:t>
            </a:r>
          </a:p>
          <a:p>
            <a:r>
              <a:rPr lang="en-GB" dirty="0"/>
              <a:t>Model 1: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age_factor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GB" dirty="0"/>
              <a:t>5 parameters</a:t>
            </a:r>
          </a:p>
          <a:p>
            <a:r>
              <a:rPr lang="en-GB" dirty="0"/>
              <a:t>Model 2: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1)</a:t>
            </a:r>
          </a:p>
          <a:p>
            <a:pPr lvl="1"/>
            <a:r>
              <a:rPr lang="en-GB" dirty="0"/>
              <a:t>1 parameter</a:t>
            </a:r>
          </a:p>
          <a:p>
            <a:r>
              <a:rPr lang="en-GB" dirty="0"/>
              <a:t>Model 3: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age)</a:t>
            </a:r>
          </a:p>
          <a:p>
            <a:pPr lvl="1"/>
            <a:r>
              <a:rPr lang="en-GB" dirty="0"/>
              <a:t>2 parameters</a:t>
            </a:r>
          </a:p>
        </p:txBody>
      </p:sp>
      <p:pic>
        <p:nvPicPr>
          <p:cNvPr id="17" name="Picture 16" descr="A screen shot of a graph&#10;&#10;Description automatically generated">
            <a:extLst>
              <a:ext uri="{FF2B5EF4-FFF2-40B4-BE49-F238E27FC236}">
                <a16:creationId xmlns:a16="http://schemas.microsoft.com/office/drawing/2014/main" id="{BDC8B8EB-5350-8885-44CF-E0DCF889F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19" name="Picture 18" descr="A screen shot of a graph&#10;&#10;Description automatically generated">
            <a:extLst>
              <a:ext uri="{FF2B5EF4-FFF2-40B4-BE49-F238E27FC236}">
                <a16:creationId xmlns:a16="http://schemas.microsoft.com/office/drawing/2014/main" id="{822193FF-D837-ABB9-106B-DD1DC8768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21" name="Picture 20" descr="A graph of height and length&#10;&#10;Description automatically generated">
            <a:extLst>
              <a:ext uri="{FF2B5EF4-FFF2-40B4-BE49-F238E27FC236}">
                <a16:creationId xmlns:a16="http://schemas.microsoft.com/office/drawing/2014/main" id="{18008CF1-D372-B1A9-77FD-CEB01969EC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23" name="Picture 22" descr="A graph of a red line&#10;&#10;Description automatically generated">
            <a:extLst>
              <a:ext uri="{FF2B5EF4-FFF2-40B4-BE49-F238E27FC236}">
                <a16:creationId xmlns:a16="http://schemas.microsoft.com/office/drawing/2014/main" id="{B1FA42B3-25FF-CA6E-B752-B8327D4F22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00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93CA-B5B6-B7CF-3973-AC15DAEDE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model do we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12D1-FDD1-80E8-0895-6EE6FC5C5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of the models are trying to explain height</a:t>
            </a:r>
          </a:p>
          <a:p>
            <a:r>
              <a:rPr lang="en-GB" dirty="0"/>
              <a:t>Which do we use?</a:t>
            </a:r>
          </a:p>
          <a:p>
            <a:r>
              <a:rPr lang="en-GB" dirty="0"/>
              <a:t>Model 1 explains the data perfectly</a:t>
            </a:r>
          </a:p>
          <a:p>
            <a:r>
              <a:rPr lang="en-GB" dirty="0"/>
              <a:t>Model 2 is the simplest</a:t>
            </a:r>
          </a:p>
          <a:p>
            <a:r>
              <a:rPr lang="en-GB" dirty="0"/>
              <a:t>Model 3 is somewhere in between</a:t>
            </a:r>
          </a:p>
          <a:p>
            <a:r>
              <a:rPr lang="en-GB" dirty="0"/>
              <a:t>Do we favour simplicity or accuracy?</a:t>
            </a:r>
          </a:p>
        </p:txBody>
      </p:sp>
      <p:pic>
        <p:nvPicPr>
          <p:cNvPr id="5" name="Picture Placeholder 4" descr="A picture containing bedroom&#10;&#10;Description automatically generated">
            <a:extLst>
              <a:ext uri="{FF2B5EF4-FFF2-40B4-BE49-F238E27FC236}">
                <a16:creationId xmlns:a16="http://schemas.microsoft.com/office/drawing/2014/main" id="{FB20C1FB-308D-6A66-8B50-CB73A0D2BC7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9" r="1814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77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A501D-2FF7-5304-FBAE-D8AB77EF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Parsimony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35B1B-5C22-837C-A327-D38BFC9F51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Overfit models:</a:t>
                </a:r>
              </a:p>
              <a:p>
                <a:pPr lvl="1"/>
                <a:r>
                  <a:rPr lang="en-US" dirty="0"/>
                  <a:t>Explains data almost “perfectly”</a:t>
                </a:r>
              </a:p>
              <a:p>
                <a:pPr lvl="1"/>
                <a:r>
                  <a:rPr lang="en-US" dirty="0"/>
                  <a:t>But “costs” lots of parameters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Underfit models:</a:t>
                </a:r>
              </a:p>
              <a:p>
                <a:pPr lvl="1"/>
                <a:r>
                  <a:rPr lang="en-US" dirty="0"/>
                  <a:t>Explains data very poorly</a:t>
                </a:r>
              </a:p>
              <a:p>
                <a:pPr lvl="1"/>
                <a:r>
                  <a:rPr lang="en-US" dirty="0"/>
                  <a:t>But “costs” very few parameters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35B1B-5C22-837C-A327-D38BFC9F5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4" descr="A picture containing bedroom&#10;&#10;Description automatically generated">
            <a:extLst>
              <a:ext uri="{FF2B5EF4-FFF2-40B4-BE49-F238E27FC236}">
                <a16:creationId xmlns:a16="http://schemas.microsoft.com/office/drawing/2014/main" id="{505C0710-1E00-D88E-15E5-874D62B862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9" r="1814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E010FF59-74AE-45D0-FFE4-7414139C9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4" name="Picture 3" descr="A graph of height and length&#10;&#10;Description automatically generated">
            <a:extLst>
              <a:ext uri="{FF2B5EF4-FFF2-40B4-BE49-F238E27FC236}">
                <a16:creationId xmlns:a16="http://schemas.microsoft.com/office/drawing/2014/main" id="{59ECFB5C-E36F-AD70-C189-112901608F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6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E083-F894-431A-9E18-FEA63E495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Which model best fits our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A624-7F5D-46A2-A568-F09298ABA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477480"/>
            <a:ext cx="7223089" cy="487679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When running analysis, you will invariably have multiple models (each of which reflect a different </a:t>
            </a:r>
            <a:r>
              <a:rPr lang="en-GB" i="1" dirty="0"/>
              <a:t>process</a:t>
            </a:r>
            <a:r>
              <a:rPr lang="en-GB" dirty="0"/>
              <a:t>), all trying to explain the same pattern, e.g.,</a:t>
            </a:r>
          </a:p>
          <a:p>
            <a:r>
              <a:rPr lang="en-GB" dirty="0"/>
              <a:t>Out of all the models (i.e., </a:t>
            </a:r>
            <a:r>
              <a:rPr lang="en-GB" i="1" dirty="0"/>
              <a:t>processes</a:t>
            </a:r>
            <a:r>
              <a:rPr lang="en-GB" dirty="0"/>
              <a:t>) that we’ve run, how do we choose the most likely model?</a:t>
            </a:r>
          </a:p>
          <a:p>
            <a:r>
              <a:rPr lang="en-GB" dirty="0"/>
              <a:t>AIC</a:t>
            </a:r>
          </a:p>
          <a:p>
            <a:pPr lvl="1"/>
            <a:r>
              <a:rPr lang="en-GB" dirty="0"/>
              <a:t>“An Information Criteria” or “Information Criterion A”</a:t>
            </a:r>
          </a:p>
          <a:p>
            <a:pPr lvl="1"/>
            <a:r>
              <a:rPr lang="en-GB" dirty="0"/>
              <a:t>“Improperly” called Akaike’s Information Criteria</a:t>
            </a:r>
          </a:p>
          <a:p>
            <a:pPr lvl="2"/>
            <a:r>
              <a:rPr lang="en-GB" dirty="0"/>
              <a:t>He never named it after himself</a:t>
            </a:r>
          </a:p>
        </p:txBody>
      </p:sp>
      <p:pic>
        <p:nvPicPr>
          <p:cNvPr id="53" name="Picture 52" descr="A person wearing glasses&#10;&#10;Description automatically generated with low confidence">
            <a:extLst>
              <a:ext uri="{FF2B5EF4-FFF2-40B4-BE49-F238E27FC236}">
                <a16:creationId xmlns:a16="http://schemas.microsoft.com/office/drawing/2014/main" id="{B7868F4F-A484-421C-96D8-234AC10EB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613" y="1081792"/>
            <a:ext cx="3902876" cy="527248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5E30726-EA69-40FA-A48D-D2F850F2FCC0}"/>
              </a:ext>
            </a:extLst>
          </p:cNvPr>
          <p:cNvSpPr txBox="1"/>
          <p:nvPr/>
        </p:nvSpPr>
        <p:spPr>
          <a:xfrm>
            <a:off x="8509000" y="6354279"/>
            <a:ext cx="350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0" dirty="0">
                <a:effectLst/>
              </a:rPr>
              <a:t>赤池 弘次</a:t>
            </a:r>
            <a:r>
              <a:rPr lang="en-US" altLang="ja-JP" b="0" dirty="0">
                <a:effectLst/>
              </a:rPr>
              <a:t>, </a:t>
            </a:r>
            <a:r>
              <a:rPr lang="en-GB" b="0" i="1" dirty="0">
                <a:effectLst/>
              </a:rPr>
              <a:t>Akaike </a:t>
            </a:r>
            <a:r>
              <a:rPr lang="en-GB" b="0" i="1" dirty="0" err="1">
                <a:effectLst/>
              </a:rPr>
              <a:t>Hirotsugu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1014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938B-348B-45D0-9E42-AD2B954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Using AIC to find most the “parsimonious”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FFC81-65C1-4892-9D46-9277502ED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0537"/>
          </a:xfrm>
        </p:spPr>
        <p:txBody>
          <a:bodyPr/>
          <a:lstStyle/>
          <a:p>
            <a:r>
              <a:rPr lang="en-GB" dirty="0"/>
              <a:t>To do so, we use the best Likelihood (MLE) value (“rating”) for each of the different models that we’ve run.</a:t>
            </a:r>
          </a:p>
        </p:txBody>
      </p:sp>
      <p:pic>
        <p:nvPicPr>
          <p:cNvPr id="7" name="Picture 6" descr="Chart, line chart, histogram&#10;&#10;Description automatically generated">
            <a:extLst>
              <a:ext uri="{FF2B5EF4-FFF2-40B4-BE49-F238E27FC236}">
                <a16:creationId xmlns:a16="http://schemas.microsoft.com/office/drawing/2014/main" id="{17D609EE-407F-48AD-AA84-846862B08B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8" b="8666"/>
          <a:stretch/>
        </p:blipFill>
        <p:spPr>
          <a:xfrm>
            <a:off x="2451864" y="2734147"/>
            <a:ext cx="6953692" cy="41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31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a curve&#10;&#10;Description automatically generated">
            <a:extLst>
              <a:ext uri="{FF2B5EF4-FFF2-40B4-BE49-F238E27FC236}">
                <a16:creationId xmlns:a16="http://schemas.microsoft.com/office/drawing/2014/main" id="{EFBDE51A-BC06-D0B1-99D2-4B8115B9F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1D0369-FF85-2052-AE68-C4470633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Likelihood?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34D21-0A85-7BAD-6F80-70DEAD2B0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We’ve been using likelihood the whole course</a:t>
            </a:r>
          </a:p>
          <a:p>
            <a:r>
              <a:rPr lang="en-GB" dirty="0"/>
              <a:t>The optimiser tries to maximise this for each set of parameters for each model</a:t>
            </a:r>
          </a:p>
          <a:p>
            <a:r>
              <a:rPr lang="en-GB" dirty="0"/>
              <a:t>This happens for:</a:t>
            </a:r>
          </a:p>
          <a:p>
            <a:r>
              <a:rPr lang="en-GB" dirty="0"/>
              <a:t>Model 1: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age_factor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Model 2: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1)</a:t>
            </a:r>
          </a:p>
          <a:p>
            <a:r>
              <a:rPr lang="en-GB" dirty="0"/>
              <a:t>Model 3: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age)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0E833C8F-27C9-7650-E33B-DEB16664C7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0" name="Picture 9" descr="A graph on a black background&#10;&#10;Description automatically generated">
            <a:extLst>
              <a:ext uri="{FF2B5EF4-FFF2-40B4-BE49-F238E27FC236}">
                <a16:creationId xmlns:a16="http://schemas.microsoft.com/office/drawing/2014/main" id="{E16982BB-A441-E55E-5220-096794B86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50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1176-587E-57E3-87D1-43F616DB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Maximised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8273-61DC-9AE8-0334-3E294CD04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Once the algorithm has finished, it tells us what the best likelihood was that it could find</a:t>
            </a:r>
          </a:p>
          <a:p>
            <a:r>
              <a:rPr lang="en-GB" dirty="0"/>
              <a:t>So long as we use the same data to fit each model, we use the likelihood as our “rating”</a:t>
            </a:r>
          </a:p>
          <a:p>
            <a:r>
              <a:rPr lang="en-GB" dirty="0"/>
              <a:t>But how do we deal with over- and under-fitting?</a:t>
            </a:r>
          </a:p>
        </p:txBody>
      </p:sp>
      <p:pic>
        <p:nvPicPr>
          <p:cNvPr id="5" name="Picture Placeholder 4" descr="A graph on a black background&#10;&#10;Description automatically generated">
            <a:extLst>
              <a:ext uri="{FF2B5EF4-FFF2-40B4-BE49-F238E27FC236}">
                <a16:creationId xmlns:a16="http://schemas.microsoft.com/office/drawing/2014/main" id="{0915B139-2770-9A89-B097-51489B75F66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71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Savvy house buyers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32A9F-D566-49FF-ABCF-83482147C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7"/>
                <a:ext cx="10515600" cy="3684954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We have a choice of 3 houses. Which one do we buy?</a:t>
                </a:r>
              </a:p>
              <a:p>
                <a:r>
                  <a:rPr lang="en-GB" dirty="0"/>
                  <a:t>I give a rating to each house, where the lower the rating, the more I like the house.</a:t>
                </a:r>
              </a:p>
              <a:p>
                <a:pPr lvl="1"/>
                <a:r>
                  <a:rPr lang="en-GB" dirty="0"/>
                  <a:t>(for models, this is the -2LogLikelihood (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dirty="0"/>
                  <a:t>))</a:t>
                </a:r>
              </a:p>
              <a:p>
                <a:r>
                  <a:rPr lang="en-GB" dirty="0"/>
                  <a:t>Each house costs a certain amount (£) </a:t>
                </a:r>
              </a:p>
              <a:p>
                <a:pPr lvl="1"/>
                <a:r>
                  <a:rPr lang="en-GB" dirty="0"/>
                  <a:t>(for models, this is the number of parameters)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Our aim is to get the best house we can, for the lowest cost!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32A9F-D566-49FF-ABCF-83482147C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7"/>
                <a:ext cx="10515600" cy="3684954"/>
              </a:xfrm>
              <a:blipFill>
                <a:blip r:embed="rId2"/>
                <a:stretch>
                  <a:fillRect l="-1043" t="-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/>
              <p:nvPr/>
            </p:nvSpPr>
            <p:spPr>
              <a:xfrm>
                <a:off x="2954357" y="5032520"/>
                <a:ext cx="6096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400" b="0" i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GB" sz="4400" b="0" i="0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357" y="5032520"/>
                <a:ext cx="6096000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189F0C-3D67-4310-A4CA-70C273AB8C92}"/>
                  </a:ext>
                </a:extLst>
              </p:cNvPr>
              <p:cNvSpPr txBox="1"/>
              <p:nvPr/>
            </p:nvSpPr>
            <p:spPr>
              <a:xfrm>
                <a:off x="4220348" y="5695315"/>
                <a:ext cx="375130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where;</a:t>
                </a:r>
              </a:p>
              <a:p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GB" sz="1800" i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dirty="0"/>
                  <a:t> is the -2 log Likelihood,</a:t>
                </a:r>
              </a:p>
              <a:p>
                <a:r>
                  <a:rPr lang="en-GB" dirty="0"/>
                  <a:t>K is the number of parameters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189F0C-3D67-4310-A4CA-70C273AB8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348" y="5695315"/>
                <a:ext cx="3751302" cy="923330"/>
              </a:xfrm>
              <a:prstGeom prst="rect">
                <a:avLst/>
              </a:prstGeom>
              <a:blipFill>
                <a:blip r:embed="rId4"/>
                <a:stretch>
                  <a:fillRect l="-1299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308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14413495"/>
                  </p:ext>
                </p:extLst>
              </p:nvPr>
            </p:nvGraphicFramePr>
            <p:xfrm>
              <a:off x="772668" y="1173163"/>
              <a:ext cx="10646664" cy="50292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="0" dirty="0">
                              <a:solidFill>
                                <a:schemeClr val="tx1"/>
                              </a:solidFill>
                            </a:rPr>
                            <a:t>The house</a:t>
                          </a:r>
                          <a:endParaRPr lang="en-GB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0" dirty="0">
                              <a:solidFill>
                                <a:schemeClr val="tx1"/>
                              </a:solidFill>
                            </a:rPr>
                            <a:t>Deon’s Rating </a:t>
                          </a:r>
                          <a:br>
                            <a:rPr lang="en-GB" b="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GB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𝑙𝑛𝐿</m:t>
                              </m:r>
                            </m:oMath>
                          </a14:m>
                          <a:r>
                            <a:rPr lang="en-GB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GB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0" dirty="0">
                              <a:solidFill>
                                <a:schemeClr val="tx1"/>
                              </a:solidFill>
                            </a:rPr>
                            <a:t>Cost </a:t>
                          </a:r>
                          <a:br>
                            <a:rPr lang="en-GB" b="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b="0" dirty="0">
                              <a:solidFill>
                                <a:schemeClr val="tx1"/>
                              </a:solidFill>
                            </a:rPr>
                            <a:t>(K)</a:t>
                          </a:r>
                          <a:endParaRPr lang="en-GB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𝐴𝐼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𝐴𝐼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𝐴𝐼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𝐴𝐼𝐶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2000" b="0" i="1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GB" sz="20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0" kern="1200" smtClean="0">
                                    <a:solidFill>
                                      <a:srgbClr val="737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rgbClr val="737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196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96</m:t>
                                </m:r>
                              </m:oMath>
                            </m:oMathPara>
                          </a14:m>
                          <a:endParaRPr lang="en-GB" sz="20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-200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£2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GB" sz="2000" b="0" i="1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b="0" kern="1200" smtClean="0">
                                    <a:solidFill>
                                      <a:srgbClr val="FFFF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GB" sz="2000" b="0" i="1" kern="1200" smtClean="0">
                                    <a:solidFill>
                                      <a:srgbClr val="FFFF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kern="1200" smtClean="0">
                                    <a:solidFill>
                                      <a:srgbClr val="FFFF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96</m:t>
                                </m:r>
                              </m:oMath>
                            </m:oMathPara>
                          </a14:m>
                          <a:endParaRPr lang="en-GB" sz="20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196</m:t>
                                </m:r>
                                <m:r>
                                  <a:rPr lang="en-GB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GB" sz="2000" b="0" kern="1200" smtClean="0">
                                    <a:solidFill>
                                      <a:srgbClr val="737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rgbClr val="737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196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sz="2000" b="0" kern="12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/>
                          <a:endParaRPr lang="en-GB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8161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GB" sz="20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i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bg1">
                                        <a:lumMod val="65000"/>
                                        <a:lumOff val="3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0" kern="1200" smtClean="0">
                                    <a:solidFill>
                                      <a:srgbClr val="737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rgbClr val="737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196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208</m:t>
                                </m:r>
                              </m:oMath>
                            </m:oMathPara>
                          </a14:m>
                          <a:endParaRPr lang="en-GB" sz="20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14413495"/>
                  </p:ext>
                </p:extLst>
              </p:nvPr>
            </p:nvGraphicFramePr>
            <p:xfrm>
              <a:off x="772668" y="1173163"/>
              <a:ext cx="10646664" cy="50292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b="0" dirty="0">
                              <a:solidFill>
                                <a:schemeClr val="tx1"/>
                              </a:solidFill>
                            </a:rPr>
                            <a:t>The house</a:t>
                          </a:r>
                          <a:endParaRPr lang="en-GB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243" t="-6667" r="-279459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b="0" dirty="0">
                              <a:solidFill>
                                <a:schemeClr val="tx1"/>
                              </a:solidFill>
                            </a:rPr>
                            <a:t>Cost </a:t>
                          </a:r>
                          <a:br>
                            <a:rPr lang="en-GB" b="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b="0" dirty="0">
                              <a:solidFill>
                                <a:schemeClr val="tx1"/>
                              </a:solidFill>
                            </a:rPr>
                            <a:t>(K)</a:t>
                          </a:r>
                          <a:endParaRPr lang="en-GB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0441" t="-6667" r="-95360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6341" t="-6667" r="-24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441" t="-46667" r="-95360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341" t="-46667" r="-244" b="-2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-200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£2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441" t="-146058" r="-95360" b="-105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341" t="-146058" r="-244" b="-1053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81612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chemeClr val="tx1"/>
                              </a:solidFill>
                            </a:rPr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441" t="-247083" r="-95360" b="-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341" t="-247083" r="-244" b="-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C1141F8-5C9D-36BA-7583-79DA50CDF655}"/>
              </a:ext>
            </a:extLst>
          </p:cNvPr>
          <p:cNvSpPr/>
          <p:nvPr/>
        </p:nvSpPr>
        <p:spPr>
          <a:xfrm>
            <a:off x="8500343" y="2095488"/>
            <a:ext cx="3188151" cy="782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F5AD19-6C20-486F-9BE5-EAFF222DBCD7}"/>
              </a:ext>
            </a:extLst>
          </p:cNvPr>
          <p:cNvSpPr/>
          <p:nvPr/>
        </p:nvSpPr>
        <p:spPr>
          <a:xfrm>
            <a:off x="6268406" y="1078187"/>
            <a:ext cx="2151077" cy="8332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Let’s buy a house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/>
              <p:nvPr/>
            </p:nvSpPr>
            <p:spPr>
              <a:xfrm>
                <a:off x="3048000" y="6120740"/>
                <a:ext cx="6096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400" b="0" i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GB" sz="4400" b="0" i="0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6120740"/>
                <a:ext cx="6096000" cy="769441"/>
              </a:xfrm>
              <a:prstGeom prst="rect">
                <a:avLst/>
              </a:prstGeom>
              <a:blipFill>
                <a:blip r:embed="rId3"/>
                <a:stretch>
                  <a:fillRect t="-17460" b="-3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large white house with a pool in front of it&#10;&#10;Description automatically generated with low confidence">
            <a:extLst>
              <a:ext uri="{FF2B5EF4-FFF2-40B4-BE49-F238E27FC236}">
                <a16:creationId xmlns:a16="http://schemas.microsoft.com/office/drawing/2014/main" id="{8A390711-D944-4F36-B5B1-746379961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18" y="1872143"/>
            <a:ext cx="2072081" cy="1383321"/>
          </a:xfrm>
          <a:prstGeom prst="rect">
            <a:avLst/>
          </a:prstGeom>
        </p:spPr>
      </p:pic>
      <p:pic>
        <p:nvPicPr>
          <p:cNvPr id="16" name="Picture 15" descr="A house with a large front yard&#10;&#10;Description automatically generated with low confidence">
            <a:extLst>
              <a:ext uri="{FF2B5EF4-FFF2-40B4-BE49-F238E27FC236}">
                <a16:creationId xmlns:a16="http://schemas.microsoft.com/office/drawing/2014/main" id="{406199C3-58FB-4498-AAFA-2CC3527CD6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18" y="3381299"/>
            <a:ext cx="2072081" cy="1165546"/>
          </a:xfrm>
          <a:prstGeom prst="rect">
            <a:avLst/>
          </a:prstGeom>
        </p:spPr>
      </p:pic>
      <p:pic>
        <p:nvPicPr>
          <p:cNvPr id="18" name="Picture 17" descr="A picture containing grass, outdoor, tree, building&#10;&#10;Description automatically generated">
            <a:extLst>
              <a:ext uri="{FF2B5EF4-FFF2-40B4-BE49-F238E27FC236}">
                <a16:creationId xmlns:a16="http://schemas.microsoft.com/office/drawing/2014/main" id="{28FAAB80-E2DD-4370-9EB3-5B051BBB0F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98"/>
          <a:stretch/>
        </p:blipFill>
        <p:spPr>
          <a:xfrm>
            <a:off x="786119" y="4672680"/>
            <a:ext cx="2072080" cy="139712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DE64102-C7B7-4E58-9B26-B1F596F2A00D}"/>
              </a:ext>
            </a:extLst>
          </p:cNvPr>
          <p:cNvSpPr/>
          <p:nvPr/>
        </p:nvSpPr>
        <p:spPr>
          <a:xfrm>
            <a:off x="2912560" y="1164198"/>
            <a:ext cx="2151077" cy="2082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655F23-EFA4-4CBB-8977-2E8CC752813D}"/>
              </a:ext>
            </a:extLst>
          </p:cNvPr>
          <p:cNvSpPr/>
          <p:nvPr/>
        </p:nvSpPr>
        <p:spPr>
          <a:xfrm>
            <a:off x="5063637" y="1164197"/>
            <a:ext cx="1187741" cy="5047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31F27B-F8B9-4E53-86EC-2674BE3290BA}"/>
              </a:ext>
            </a:extLst>
          </p:cNvPr>
          <p:cNvSpPr/>
          <p:nvPr/>
        </p:nvSpPr>
        <p:spPr>
          <a:xfrm>
            <a:off x="8417832" y="1078188"/>
            <a:ext cx="3188151" cy="782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8FEA1B-2729-BE58-0454-CDC44F36C3CD}"/>
              </a:ext>
            </a:extLst>
          </p:cNvPr>
          <p:cNvSpPr/>
          <p:nvPr/>
        </p:nvSpPr>
        <p:spPr>
          <a:xfrm>
            <a:off x="2930372" y="3341397"/>
            <a:ext cx="2151077" cy="1087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D5887E-1110-C17A-1494-6B91E896E814}"/>
              </a:ext>
            </a:extLst>
          </p:cNvPr>
          <p:cNvSpPr/>
          <p:nvPr/>
        </p:nvSpPr>
        <p:spPr>
          <a:xfrm>
            <a:off x="2930372" y="4771880"/>
            <a:ext cx="2245467" cy="1448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42627C-B2C3-ADF4-96F3-3D6199CEE41E}"/>
              </a:ext>
            </a:extLst>
          </p:cNvPr>
          <p:cNvSpPr/>
          <p:nvPr/>
        </p:nvSpPr>
        <p:spPr>
          <a:xfrm>
            <a:off x="6261910" y="3068351"/>
            <a:ext cx="2151077" cy="32133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850FD-1A9B-9AED-A72A-7D2EE71857F1}"/>
              </a:ext>
            </a:extLst>
          </p:cNvPr>
          <p:cNvSpPr/>
          <p:nvPr/>
        </p:nvSpPr>
        <p:spPr>
          <a:xfrm>
            <a:off x="6251378" y="2243138"/>
            <a:ext cx="2151077" cy="6664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44F43C-DB53-82AE-13D0-655DCCC0D341}"/>
                  </a:ext>
                </a:extLst>
              </p:cNvPr>
              <p:cNvSpPr/>
              <p:nvPr/>
            </p:nvSpPr>
            <p:spPr>
              <a:xfrm>
                <a:off x="6594396" y="2022025"/>
                <a:ext cx="2047164" cy="7265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=−250+150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44F43C-DB53-82AE-13D0-655DCCC0D3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396" y="2022025"/>
                <a:ext cx="2047164" cy="7265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76810AB-B5D1-8C6D-9166-AA9E00491496}"/>
                  </a:ext>
                </a:extLst>
              </p:cNvPr>
              <p:cNvSpPr/>
              <p:nvPr/>
            </p:nvSpPr>
            <p:spPr>
              <a:xfrm>
                <a:off x="9179884" y="2022025"/>
                <a:ext cx="2047164" cy="7265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=−100−</m:t>
                      </m:r>
                      <m:r>
                        <a:rPr lang="en-GB" sz="2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196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76810AB-B5D1-8C6D-9166-AA9E004914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884" y="2022025"/>
                <a:ext cx="2047164" cy="726541"/>
              </a:xfrm>
              <a:prstGeom prst="rect">
                <a:avLst/>
              </a:prstGeom>
              <a:blipFill>
                <a:blip r:embed="rId8"/>
                <a:stretch>
                  <a:fillRect r="-29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62BFF1C7-008F-3B93-3071-9877BA3D363C}"/>
              </a:ext>
            </a:extLst>
          </p:cNvPr>
          <p:cNvSpPr/>
          <p:nvPr/>
        </p:nvSpPr>
        <p:spPr>
          <a:xfrm>
            <a:off x="8551010" y="3586905"/>
            <a:ext cx="3188151" cy="782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B8B4E-5958-72D2-9684-9B421AC4B5A6}"/>
              </a:ext>
            </a:extLst>
          </p:cNvPr>
          <p:cNvSpPr/>
          <p:nvPr/>
        </p:nvSpPr>
        <p:spPr>
          <a:xfrm>
            <a:off x="8402690" y="5245426"/>
            <a:ext cx="3188151" cy="1178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093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0" grpId="0" animBg="1"/>
      <p:bldP spid="10" grpId="0"/>
      <p:bldP spid="26" grpId="0" animBg="1"/>
      <p:bldP spid="27" grpId="0" animBg="1"/>
      <p:bldP spid="29" grpId="0" animBg="1"/>
      <p:bldP spid="3" grpId="0" animBg="1"/>
      <p:bldP spid="4" grpId="0" animBg="1"/>
      <p:bldP spid="7" grpId="0" animBg="1"/>
      <p:bldP spid="8" grpId="0" animBg="1"/>
      <p:bldP spid="9" grpId="0"/>
      <p:bldP spid="9" grpId="1"/>
      <p:bldP spid="11" grpId="0"/>
      <p:bldP spid="11" grpId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98CA-6CDE-4EA1-A4D7-AFA2A95F7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773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Model selection with AIC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14CB06-917F-41A2-A509-75440974C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354" y="1689055"/>
            <a:ext cx="4385683" cy="493824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We select the model with the lowest AIC</a:t>
            </a:r>
          </a:p>
          <a:p>
            <a:pPr lvl="1"/>
            <a:r>
              <a:rPr lang="en-GB" dirty="0"/>
              <a:t>This will be the model where ∆AIC = 0</a:t>
            </a:r>
          </a:p>
          <a:p>
            <a:r>
              <a:rPr lang="en-GB" dirty="0"/>
              <a:t>Any models with ∆AIC &gt; 2, we reject them</a:t>
            </a:r>
          </a:p>
          <a:p>
            <a:r>
              <a:rPr lang="en-GB" dirty="0"/>
              <a:t>If there are models with ∆AIC &lt; 2, both models are valid.</a:t>
            </a:r>
          </a:p>
          <a:p>
            <a:pPr lvl="1"/>
            <a:r>
              <a:rPr lang="en-GB" dirty="0"/>
              <a:t>Some people argue to always choose the lowest </a:t>
            </a:r>
          </a:p>
          <a:p>
            <a:pPr lvl="1"/>
            <a:r>
              <a:rPr lang="en-GB" dirty="0"/>
              <a:t>Other argue </a:t>
            </a:r>
            <a:r>
              <a:rPr lang="en-GB"/>
              <a:t>that you </a:t>
            </a:r>
            <a:r>
              <a:rPr lang="en-GB" dirty="0"/>
              <a:t>choose which one to 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16D51-CBF2-4224-BD22-DF3A64313E0F}"/>
              </a:ext>
            </a:extLst>
          </p:cNvPr>
          <p:cNvSpPr txBox="1"/>
          <p:nvPr/>
        </p:nvSpPr>
        <p:spPr>
          <a:xfrm>
            <a:off x="7361323" y="6257971"/>
            <a:ext cx="2411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No more p-values!</a:t>
            </a:r>
          </a:p>
        </p:txBody>
      </p:sp>
      <p:pic>
        <p:nvPicPr>
          <p:cNvPr id="11" name="Picture 10" descr="A house with a large front yard&#10;&#10;Description automatically generated with low confidence">
            <a:extLst>
              <a:ext uri="{FF2B5EF4-FFF2-40B4-BE49-F238E27FC236}">
                <a16:creationId xmlns:a16="http://schemas.microsoft.com/office/drawing/2014/main" id="{3E1B232A-57DB-42FB-86CF-1285215F6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510" y="1745739"/>
            <a:ext cx="7409135" cy="416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59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F21E-929F-9100-9565-69DA9242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“best”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0B43-0B1A-D39B-EDB0-97154A769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AIC tells us the “most parsimonious model” or “best model”</a:t>
            </a:r>
          </a:p>
          <a:p>
            <a:r>
              <a:rPr lang="en-GB" dirty="0"/>
              <a:t>Best is evaluated by finding the version of the model that most closely fits the data, as efficiently as possible</a:t>
            </a:r>
          </a:p>
          <a:p>
            <a:pPr lvl="1"/>
            <a:r>
              <a:rPr lang="en-GB" dirty="0"/>
              <a:t>Evaluating predictive performance</a:t>
            </a:r>
          </a:p>
          <a:p>
            <a:pPr lvl="1"/>
            <a:r>
              <a:rPr lang="en-GB" dirty="0"/>
              <a:t>I.e. which is the most accurate model</a:t>
            </a:r>
          </a:p>
          <a:p>
            <a:r>
              <a:rPr lang="en-GB" dirty="0"/>
              <a:t>Meaning AIC is useful for making predictive model more efficient</a:t>
            </a:r>
          </a:p>
          <a:p>
            <a:pPr lvl="1"/>
            <a:r>
              <a:rPr lang="en-GB" dirty="0"/>
              <a:t>Remember that confounding allows us to make very accurate predictions with no causation</a:t>
            </a:r>
          </a:p>
        </p:txBody>
      </p:sp>
      <p:pic>
        <p:nvPicPr>
          <p:cNvPr id="5" name="Picture Placeholder 4" descr="A screen shot of a cell phone&#10;&#10;Description automatically generated">
            <a:extLst>
              <a:ext uri="{FF2B5EF4-FFF2-40B4-BE49-F238E27FC236}">
                <a16:creationId xmlns:a16="http://schemas.microsoft.com/office/drawing/2014/main" id="{0CCBD3D3-9640-0891-0EFB-A3929C89B1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98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8B48-F8BF-4A74-9842-D6FDE75B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44B44-F49F-4063-9F34-8A4D4F542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277"/>
            <a:ext cx="10515600" cy="4664686"/>
          </a:xfrm>
        </p:spPr>
        <p:txBody>
          <a:bodyPr>
            <a:normAutofit/>
          </a:bodyPr>
          <a:lstStyle/>
          <a:p>
            <a:r>
              <a:rPr lang="en-GB" dirty="0"/>
              <a:t>We can use the MLE (the “rating”) of each model to find the most parsimonious model that was tested.</a:t>
            </a:r>
          </a:p>
          <a:p>
            <a:r>
              <a:rPr lang="en-GB" dirty="0"/>
              <a:t>AIC attempts to optimise two features</a:t>
            </a:r>
          </a:p>
          <a:p>
            <a:pPr lvl="1"/>
            <a:r>
              <a:rPr lang="en-GB" dirty="0"/>
              <a:t>How well the model captures the data</a:t>
            </a:r>
          </a:p>
          <a:p>
            <a:pPr lvl="1"/>
            <a:r>
              <a:rPr lang="en-GB" dirty="0"/>
              <a:t>The number of parameters required to get that fit</a:t>
            </a:r>
          </a:p>
          <a:p>
            <a:r>
              <a:rPr lang="en-GB" dirty="0"/>
              <a:t>The end result is an efficient </a:t>
            </a:r>
            <a:r>
              <a:rPr lang="en-GB" i="1" dirty="0"/>
              <a:t>predictive</a:t>
            </a:r>
            <a:r>
              <a:rPr lang="en-GB" dirty="0"/>
              <a:t> model</a:t>
            </a:r>
          </a:p>
          <a:p>
            <a:r>
              <a:rPr lang="en-GB" dirty="0"/>
              <a:t>AIC does not help us understand causation</a:t>
            </a:r>
          </a:p>
          <a:p>
            <a:pPr lvl="1"/>
            <a:r>
              <a:rPr lang="en-GB" dirty="0"/>
              <a:t>Because confounding often allows for highly accurate predictions</a:t>
            </a:r>
          </a:p>
        </p:txBody>
      </p:sp>
    </p:spTree>
    <p:extLst>
      <p:ext uri="{BB962C8B-B14F-4D97-AF65-F5344CB8AC3E}">
        <p14:creationId xmlns:p14="http://schemas.microsoft.com/office/powerpoint/2010/main" val="1157666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350</TotalTime>
  <Words>846</Words>
  <Application>Microsoft Office PowerPoint</Application>
  <PresentationFormat>Widescreen</PresentationFormat>
  <Paragraphs>117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Bahnschrift Light</vt:lpstr>
      <vt:lpstr>Cambria Math</vt:lpstr>
      <vt:lpstr>Courier New</vt:lpstr>
      <vt:lpstr>sbs_template</vt:lpstr>
      <vt:lpstr>Information theory and criterion</vt:lpstr>
      <vt:lpstr>Overfitting and underfitting</vt:lpstr>
      <vt:lpstr>Which model do we use?</vt:lpstr>
      <vt:lpstr>Parsimony</vt:lpstr>
      <vt:lpstr>Which model best fits our data?</vt:lpstr>
      <vt:lpstr>Using AIC to find most the “parsimonious” model</vt:lpstr>
      <vt:lpstr>Likelihood?</vt:lpstr>
      <vt:lpstr>Maximised Likelihood</vt:lpstr>
      <vt:lpstr>Savvy house buyers</vt:lpstr>
      <vt:lpstr>Let’s buy a house</vt:lpstr>
      <vt:lpstr>Model selection with AIC</vt:lpstr>
      <vt:lpstr>What does “best” mean?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5</cp:revision>
  <dcterms:created xsi:type="dcterms:W3CDTF">2024-08-08T11:21:53Z</dcterms:created>
  <dcterms:modified xsi:type="dcterms:W3CDTF">2024-09-13T08:56:07Z</dcterms:modified>
</cp:coreProperties>
</file>