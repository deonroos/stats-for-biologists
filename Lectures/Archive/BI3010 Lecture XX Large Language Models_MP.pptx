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301" r:id="rId3"/>
    <p:sldId id="284" r:id="rId4"/>
    <p:sldId id="270" r:id="rId5"/>
    <p:sldId id="263" r:id="rId6"/>
    <p:sldId id="296" r:id="rId7"/>
    <p:sldId id="265" r:id="rId8"/>
    <p:sldId id="266" r:id="rId9"/>
    <p:sldId id="271" r:id="rId10"/>
    <p:sldId id="285" r:id="rId11"/>
    <p:sldId id="272" r:id="rId12"/>
    <p:sldId id="267" r:id="rId13"/>
    <p:sldId id="268" r:id="rId14"/>
    <p:sldId id="273" r:id="rId15"/>
    <p:sldId id="257" r:id="rId16"/>
    <p:sldId id="302" r:id="rId17"/>
    <p:sldId id="258" r:id="rId18"/>
    <p:sldId id="259" r:id="rId19"/>
    <p:sldId id="260" r:id="rId20"/>
    <p:sldId id="261" r:id="rId21"/>
    <p:sldId id="283" r:id="rId22"/>
    <p:sldId id="269" r:id="rId23"/>
    <p:sldId id="275" r:id="rId24"/>
    <p:sldId id="264" r:id="rId25"/>
    <p:sldId id="274" r:id="rId26"/>
    <p:sldId id="276" r:id="rId27"/>
    <p:sldId id="298" r:id="rId28"/>
    <p:sldId id="278" r:id="rId29"/>
    <p:sldId id="300" r:id="rId30"/>
    <p:sldId id="286" r:id="rId31"/>
    <p:sldId id="279" r:id="rId32"/>
    <p:sldId id="280" r:id="rId33"/>
    <p:sldId id="299" r:id="rId34"/>
    <p:sldId id="287" r:id="rId35"/>
    <p:sldId id="281" r:id="rId36"/>
    <p:sldId id="291" r:id="rId37"/>
    <p:sldId id="290" r:id="rId38"/>
    <p:sldId id="292" r:id="rId39"/>
    <p:sldId id="293" r:id="rId40"/>
    <p:sldId id="294" r:id="rId41"/>
    <p:sldId id="295" r:id="rId42"/>
    <p:sldId id="297" r:id="rId43"/>
    <p:sldId id="28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DB14C-A15E-42BF-8783-615C7589C89E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34B80-008E-4E77-8807-F73C3E742B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54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534B80-008E-4E77-8807-F73C3E742B8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248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DF84-5BBE-50A4-B999-0EA2EB51E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B0289-AD2C-A582-3E3D-B941DFFA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E570B-058B-A04F-9EFB-7EB3A76C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C28B2-4B9E-26D8-1EC4-919AE05F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58FA1-60EA-C370-22FF-FE59C54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98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139D-72C6-88B5-0031-2265ECE0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9ACA-3688-26B7-993C-04840235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A54D-79C3-5077-9E0B-5011F368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BCC22-2017-079A-F03A-1782EDA6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620E3-DE19-912D-E871-F33452EE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61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12C5-0C6B-1CE2-30C4-2F720D15C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617CC-A527-7194-0AC0-C602DAF52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BBBDA-0BD5-EA86-F9DF-47A82598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61F24-8694-B7B0-8C10-4AC0DC87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8AF57-51C3-F3A9-4A4C-D433C3D2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27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A177-82C0-186D-284F-6224FAEC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8DC80-D199-B0E7-8F4D-F4B938FA8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4E9D0-44DC-D751-01B6-5D3B6F3FB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21095-FDD5-C50F-87A5-09C9417A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70A6C-7389-8C72-822A-51078E5C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0A591-9CBD-74C5-D82B-E20F0BED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87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FB9B-CBEA-F507-A8A2-CDBFF3B3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39F99-F00B-E36F-2783-50262860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AD04B-D65E-87AB-AD12-DEC0C8C53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9EEC3-78D2-F244-0AAC-C62FA35E3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D01F0-10C3-1240-91E9-63989BD880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E58C-6EFD-B8CE-462E-B5FD3D65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EE3E87-CE69-6DAD-5803-A32AD98C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82D46-2633-8405-89C5-5ECA9414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65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D14A-FE4F-FA4E-F9D8-3F5A4543E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DD616-392C-A072-A9A9-BC9CE07E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B1A3D-7C8E-32DA-074B-BFDA330A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EE7A2-296B-3B61-14A9-06C2A351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8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FFB63-D72F-512F-D7D1-7154B736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E73E6-854C-12B3-586B-98AC719B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FC8B-A8BD-01BE-CA4D-FFC54509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73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9F2E-A288-557E-B7E1-5AA9EA1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239F-CA5C-CE1A-7158-8AA894137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B7F27-D364-8EA1-54C7-CDDEA48DD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266F3-59E0-BF59-0110-06C79922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175CC-1311-0EA7-B0D6-E0B8CED9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6715-7F75-3718-4EB5-1D44AD78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2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369E-5279-FA84-4371-069D1AA8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56CC6-92CD-46E7-BF46-98DBE3D22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AFE17-0F70-EB25-97FE-647E24AD1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2B1B3-E24C-DB24-9812-37815CF7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DF14F-5F7A-8A52-9672-7F9A8F67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5A595-80AC-FACF-9A8E-02B953BF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36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6258-8726-4F41-CF1D-3DA0933D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12DF9-34A3-E439-1813-39309D28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4FCD-BCE5-A7F8-F999-B158BAAB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6F640-3A3D-FC83-98F3-CF660104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839E-C2F7-B6FE-9744-A535EE04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39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AD152-FE24-6A62-85EE-BFBD2C2C2A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60869-C301-75E0-A85B-B62B3822C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466F5-AA5A-48BC-FC7D-77CF4962A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B862F-D8D4-6BC3-198B-D82C3003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F6CF9-5F15-5C32-A196-ACE15BF4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E938C9-2B44-A0F8-048C-310BD90C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E7AB6-BB66-B260-6180-427BA73B9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9587-D7AE-48AC-8616-D47DD567E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44E0F-B98B-4D2F-9803-070B1DEAEC0D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811C0-DF51-3FC3-AC36-321EF423D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0542C-DDB8-6FD0-C120-BFD1A6093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41CA7-E031-46CF-A209-CCA4D289B7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94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0.png"/><Relationship Id="rId7" Type="http://schemas.openxmlformats.org/officeDocument/2006/relationships/image" Target="../media/image17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33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AB91-D6D8-7116-4EF8-471E64EA4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What is “AI”?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792E7-9007-867A-A523-39971E156BE0}"/>
              </a:ext>
            </a:extLst>
          </p:cNvPr>
          <p:cNvSpPr txBox="1"/>
          <p:nvPr/>
        </p:nvSpPr>
        <p:spPr>
          <a:xfrm>
            <a:off x="2318299" y="3720974"/>
            <a:ext cx="7555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More specifically, how do Large Language Models work?</a:t>
            </a:r>
          </a:p>
        </p:txBody>
      </p:sp>
    </p:spTree>
    <p:extLst>
      <p:ext uri="{BB962C8B-B14F-4D97-AF65-F5344CB8AC3E}">
        <p14:creationId xmlns:p14="http://schemas.microsoft.com/office/powerpoint/2010/main" val="292516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7681-9431-D3E8-53DB-4F3824EF3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Conflict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DDD4-582C-2BB5-2160-1FBF5E1B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not my area of speciality</a:t>
            </a:r>
          </a:p>
          <a:p>
            <a:r>
              <a:rPr lang="en-GB" dirty="0"/>
              <a:t>I have built my own “home-brew” AI but as a toy</a:t>
            </a:r>
          </a:p>
          <a:p>
            <a:pPr lvl="1"/>
            <a:r>
              <a:rPr lang="en-GB" dirty="0"/>
              <a:t>It’s called Jeeves and it’s not allowed to leave the basement</a:t>
            </a:r>
          </a:p>
          <a:p>
            <a:r>
              <a:rPr lang="en-GB" dirty="0"/>
              <a:t>It is in my interest to convince you that AI is just statistics</a:t>
            </a:r>
          </a:p>
          <a:p>
            <a:pPr lvl="1"/>
            <a:r>
              <a:rPr lang="en-GB" dirty="0"/>
              <a:t>It secures my job and inflates my ego</a:t>
            </a:r>
          </a:p>
        </p:txBody>
      </p:sp>
    </p:spTree>
    <p:extLst>
      <p:ext uri="{BB962C8B-B14F-4D97-AF65-F5344CB8AC3E}">
        <p14:creationId xmlns:p14="http://schemas.microsoft.com/office/powerpoint/2010/main" val="92656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16150A-8057-B737-F9C5-8B5CBFEF9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28397"/>
            <a:ext cx="6094476" cy="4468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BOSS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(Deflated)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 see. Tell me, what's data science?</a:t>
            </a:r>
          </a:p>
          <a:p>
            <a:pPr marL="0" indent="0" algn="r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marL="0" indent="0" algn="r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(Flat)</a:t>
            </a:r>
          </a:p>
          <a:p>
            <a:pPr marL="0" indent="0" algn="r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It's statistics.</a:t>
            </a:r>
          </a:p>
          <a:p>
            <a:pPr marL="0" indent="0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BOSS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(Angry)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Forget it.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(Pauses then perks up)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What do you know about the blockchain?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B2ECC-E707-928E-A030-3A40E279BD21}"/>
              </a:ext>
            </a:extLst>
          </p:cNvPr>
          <p:cNvSpPr txBox="1"/>
          <p:nvPr/>
        </p:nvSpPr>
        <p:spPr>
          <a:xfrm>
            <a:off x="595884" y="1228397"/>
            <a:ext cx="48996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BOSS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(Excited)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We’ve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get in on this new tech. Tell me, what 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AI?</a:t>
            </a:r>
          </a:p>
          <a:p>
            <a:pPr marL="0" indent="0" algn="r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marL="0" indent="0" algn="r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(Flat)</a:t>
            </a:r>
          </a:p>
          <a:p>
            <a:pPr marL="0" indent="0" algn="r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It’s machine learning.</a:t>
            </a:r>
          </a:p>
          <a:p>
            <a:pPr marL="0" indent="0">
              <a:buNone/>
            </a:pP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BOSS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(Less excited)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 see. Tell me, what’s machine learning?</a:t>
            </a:r>
          </a:p>
          <a:p>
            <a:pPr algn="r"/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EMPLOYEE</a:t>
            </a:r>
          </a:p>
          <a:p>
            <a:pPr algn="r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(Flat)</a:t>
            </a:r>
          </a:p>
          <a:p>
            <a:pPr algn="r"/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It's data science.</a:t>
            </a:r>
          </a:p>
        </p:txBody>
      </p:sp>
    </p:spTree>
    <p:extLst>
      <p:ext uri="{BB962C8B-B14F-4D97-AF65-F5344CB8AC3E}">
        <p14:creationId xmlns:p14="http://schemas.microsoft.com/office/powerpoint/2010/main" val="196324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FC7E13-690A-6D75-3CDB-8939D24CC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2" y="2191833"/>
            <a:ext cx="9245434" cy="40526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866FB-56EA-5AE8-98D1-5E74FA5D3AA4}"/>
              </a:ext>
            </a:extLst>
          </p:cNvPr>
          <p:cNvSpPr txBox="1"/>
          <p:nvPr/>
        </p:nvSpPr>
        <p:spPr>
          <a:xfrm>
            <a:off x="3436971" y="613516"/>
            <a:ext cx="53180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aramond" panose="02020404030301010803" pitchFamily="18" charset="0"/>
              </a:rPr>
              <a:t>“Statistics is great and all, but it can’t do things like analyse time series”</a:t>
            </a:r>
          </a:p>
          <a:p>
            <a:pPr algn="r"/>
            <a:r>
              <a:rPr lang="en-GB" dirty="0">
                <a:latin typeface="Garamond" panose="02020404030301010803" pitchFamily="18" charset="0"/>
              </a:rPr>
              <a:t>Professor of Machine Learning Engineering</a:t>
            </a:r>
            <a:br>
              <a:rPr lang="en-GB" dirty="0">
                <a:latin typeface="Garamond" panose="02020404030301010803" pitchFamily="18" charset="0"/>
              </a:rPr>
            </a:br>
            <a:r>
              <a:rPr lang="en-GB" dirty="0">
                <a:latin typeface="Garamond" panose="02020404030301010803" pitchFamily="18" charset="0"/>
              </a:rPr>
              <a:t>(from a very prestigious university)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CF8F7-4C12-0816-1FD3-D2A84A7CED2A}"/>
              </a:ext>
            </a:extLst>
          </p:cNvPr>
          <p:cNvSpPr/>
          <p:nvPr/>
        </p:nvSpPr>
        <p:spPr>
          <a:xfrm>
            <a:off x="5672796" y="5948232"/>
            <a:ext cx="423204" cy="296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A9C2B7-A8E7-BA11-BE8B-C4BBD3C2EAF2}"/>
              </a:ext>
            </a:extLst>
          </p:cNvPr>
          <p:cNvCxnSpPr>
            <a:cxnSpLocks/>
          </p:cNvCxnSpPr>
          <p:nvPr/>
        </p:nvCxnSpPr>
        <p:spPr>
          <a:xfrm flipH="1">
            <a:off x="8761900" y="2892278"/>
            <a:ext cx="1956816" cy="12984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68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6" presetClass="emph" presetSubtype="0" decel="57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9FF-4B28-A2CA-0D37-AB8F5E20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5859-0FC3-5F0C-FD74-EAE00A9CE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349"/>
            <a:ext cx="6211186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AI is largely a marketing term</a:t>
            </a:r>
          </a:p>
          <a:p>
            <a:pPr lvl="1"/>
            <a:r>
              <a:rPr lang="en-GB" dirty="0"/>
              <a:t>Incredibly loose definition</a:t>
            </a:r>
          </a:p>
          <a:p>
            <a:pPr lvl="1"/>
            <a:r>
              <a:rPr lang="en-GB" dirty="0"/>
              <a:t>Very often a GLM</a:t>
            </a:r>
          </a:p>
          <a:p>
            <a:pPr lvl="1"/>
            <a:r>
              <a:rPr lang="en-GB" dirty="0"/>
              <a:t>But can mean a large language model</a:t>
            </a:r>
          </a:p>
          <a:p>
            <a:pPr lvl="1"/>
            <a:r>
              <a:rPr lang="en-GB" dirty="0"/>
              <a:t>At times, it’s just clever conditional code</a:t>
            </a:r>
          </a:p>
          <a:p>
            <a:r>
              <a:rPr lang="en-GB" dirty="0"/>
              <a:t>AI, or “</a:t>
            </a:r>
            <a:r>
              <a:rPr lang="en-GB" dirty="0" err="1"/>
              <a:t>genAI</a:t>
            </a:r>
            <a:r>
              <a:rPr lang="en-GB" dirty="0"/>
              <a:t>”, mostly taken to mean Large Language Models (LLMs)</a:t>
            </a:r>
          </a:p>
          <a:p>
            <a:pPr lvl="1"/>
            <a:r>
              <a:rPr lang="en-GB" dirty="0"/>
              <a:t>ChatGPT, Claude, Co-Pilot, etc.</a:t>
            </a:r>
          </a:p>
          <a:p>
            <a:pPr lvl="1"/>
            <a:r>
              <a:rPr lang="en-GB" dirty="0"/>
              <a:t>AI that produces text</a:t>
            </a:r>
          </a:p>
          <a:p>
            <a:r>
              <a:rPr lang="en-GB" dirty="0"/>
              <a:t>Image generators (Diffusion models) similar but distinct</a:t>
            </a:r>
          </a:p>
          <a:p>
            <a:pPr lvl="1"/>
            <a:r>
              <a:rPr lang="en-GB" dirty="0"/>
              <a:t>Midjourney etc.</a:t>
            </a:r>
          </a:p>
          <a:p>
            <a:pPr lvl="1"/>
            <a:r>
              <a:rPr lang="en-GB" dirty="0"/>
              <a:t>AI that produces images (and videos)</a:t>
            </a:r>
          </a:p>
          <a:p>
            <a:r>
              <a:rPr lang="en-GB" dirty="0"/>
              <a:t>Vagueness breeds misunderstanding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692C64-FDA6-A4EB-BEE3-3B162136C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968" y="4013018"/>
            <a:ext cx="4673406" cy="1992649"/>
          </a:xfrm>
          <a:prstGeom prst="rect">
            <a:avLst/>
          </a:prstGeom>
        </p:spPr>
      </p:pic>
      <p:pic>
        <p:nvPicPr>
          <p:cNvPr id="5" name="Picture 4" descr="A washing machine in front of a blue wall&#10;&#10;AI-generated content may be incorrect.">
            <a:extLst>
              <a:ext uri="{FF2B5EF4-FFF2-40B4-BE49-F238E27FC236}">
                <a16:creationId xmlns:a16="http://schemas.microsoft.com/office/drawing/2014/main" id="{51DA7A2D-69D5-98F6-9BD8-EF134E6DF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005" y="485004"/>
            <a:ext cx="4917332" cy="327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6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1E16-196D-88E1-416C-7D727B55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32704"/>
            <a:ext cx="12192000" cy="1225296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Vagueness breeds misunderstanding</a:t>
            </a:r>
          </a:p>
        </p:txBody>
      </p:sp>
    </p:spTree>
    <p:extLst>
      <p:ext uri="{BB962C8B-B14F-4D97-AF65-F5344CB8AC3E}">
        <p14:creationId xmlns:p14="http://schemas.microsoft.com/office/powerpoint/2010/main" val="62873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55EA-BA29-6165-53CC-A2CFDD3E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EE4DFE-4493-B643-C651-44A151CAD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165" y="1471231"/>
            <a:ext cx="9073669" cy="510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5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81A4-CDFB-7ACC-965A-DF057210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F139-5A74-DFE2-45B6-79BC2D9BD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</a:t>
            </a:r>
            <a:r>
              <a:rPr lang="en-GB" dirty="0" err="1"/>
              <a:t>LoL</a:t>
            </a:r>
            <a:r>
              <a:rPr lang="en-GB" dirty="0"/>
              <a:t> </a:t>
            </a:r>
            <a:r>
              <a:rPr lang="en-GB" dirty="0" err="1"/>
              <a:t>It’S</a:t>
            </a:r>
            <a:r>
              <a:rPr lang="en-GB" dirty="0"/>
              <a:t> So </a:t>
            </a:r>
            <a:r>
              <a:rPr lang="en-GB" dirty="0" err="1"/>
              <a:t>dUMB</a:t>
            </a:r>
            <a:r>
              <a:rPr lang="en-GB" dirty="0"/>
              <a:t>! It </a:t>
            </a:r>
            <a:r>
              <a:rPr lang="en-GB" dirty="0" err="1"/>
              <a:t>CAN’t</a:t>
            </a:r>
            <a:r>
              <a:rPr lang="en-GB" dirty="0"/>
              <a:t> do </a:t>
            </a:r>
            <a:r>
              <a:rPr lang="en-GB" dirty="0" err="1"/>
              <a:t>MAthS</a:t>
            </a:r>
            <a:r>
              <a:rPr lang="en-GB" dirty="0"/>
              <a:t>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EC7EBD68-375F-AB8D-1824-A8CAD69F1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2021444" y="1278662"/>
            <a:ext cx="8110108" cy="5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3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2C91-53C9-2CD6-ED54-590AC312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6B74-A7A9-72FB-884A-400658E9D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smarter than humans”</a:t>
            </a:r>
          </a:p>
        </p:txBody>
      </p:sp>
      <p:pic>
        <p:nvPicPr>
          <p:cNvPr id="9" name="Picture 8" descr="A robot with a glowing brain&#10;&#10;AI-generated content may be incorrect.">
            <a:extLst>
              <a:ext uri="{FF2B5EF4-FFF2-40B4-BE49-F238E27FC236}">
                <a16:creationId xmlns:a16="http://schemas.microsoft.com/office/drawing/2014/main" id="{D2638265-B9C5-A75C-7D59-66C87D617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93"/>
          <a:stretch>
            <a:fillRect/>
          </a:stretch>
        </p:blipFill>
        <p:spPr>
          <a:xfrm>
            <a:off x="3188874" y="1407224"/>
            <a:ext cx="5814252" cy="526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3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1643-4BFB-7EF2-E359-596DDD8D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DADD5-DB0F-CC21-6721-2F11087C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2BDE6031-E238-9AF2-9403-A783C5CDB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5" r="22143"/>
          <a:stretch>
            <a:fillRect/>
          </a:stretch>
        </p:blipFill>
        <p:spPr>
          <a:xfrm>
            <a:off x="3645642" y="1269890"/>
            <a:ext cx="4900715" cy="5479017"/>
          </a:xfrm>
        </p:spPr>
      </p:pic>
    </p:spTree>
    <p:extLst>
      <p:ext uri="{BB962C8B-B14F-4D97-AF65-F5344CB8AC3E}">
        <p14:creationId xmlns:p14="http://schemas.microsoft.com/office/powerpoint/2010/main" val="2419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CFD5-7EF4-AD90-FC0B-F748FF1C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7" name="Content Placeholder 6" descr="A person in a hat&#10;&#10;AI-generated content may be incorrect.">
            <a:extLst>
              <a:ext uri="{FF2B5EF4-FFF2-40B4-BE49-F238E27FC236}">
                <a16:creationId xmlns:a16="http://schemas.microsoft.com/office/drawing/2014/main" id="{386AE44C-01D5-8619-5702-285B1FE4C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533" y="1325563"/>
            <a:ext cx="9870934" cy="5182241"/>
          </a:xfrm>
        </p:spPr>
      </p:pic>
    </p:spTree>
    <p:extLst>
      <p:ext uri="{BB962C8B-B14F-4D97-AF65-F5344CB8AC3E}">
        <p14:creationId xmlns:p14="http://schemas.microsoft.com/office/powerpoint/2010/main" val="316562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0376-0958-D6C4-F87C-A630A965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what </a:t>
            </a:r>
            <a:r>
              <a:rPr lang="en-GB" i="1" dirty="0"/>
              <a:t>is </a:t>
            </a:r>
            <a:r>
              <a:rPr lang="en-GB" dirty="0"/>
              <a:t>a large language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F3343-3AFB-0FD8-7078-533A6E0D7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follows is a crude summary explanation intended to give an intuitive understanding.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I’ll describe LLMs as having three “stages”</a:t>
            </a:r>
          </a:p>
          <a:p>
            <a:r>
              <a:rPr lang="en-GB" dirty="0"/>
              <a:t>Tokenisation (akin to data processing)</a:t>
            </a:r>
          </a:p>
          <a:p>
            <a:r>
              <a:rPr lang="en-GB" dirty="0"/>
              <a:t>Embedding (akin to multivariate analysis)</a:t>
            </a:r>
          </a:p>
          <a:p>
            <a:r>
              <a:rPr lang="en-GB" dirty="0"/>
              <a:t>Transformer (akin to stacked GLMs)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000" dirty="0"/>
              <a:t>Technically, this is then passed to a chatbot which you interact with.</a:t>
            </a:r>
          </a:p>
        </p:txBody>
      </p:sp>
    </p:spTree>
    <p:extLst>
      <p:ext uri="{BB962C8B-B14F-4D97-AF65-F5344CB8AC3E}">
        <p14:creationId xmlns:p14="http://schemas.microsoft.com/office/powerpoint/2010/main" val="367178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327D782-73D4-F681-0BE9-B9AE6CFDEB49}"/>
              </a:ext>
            </a:extLst>
          </p:cNvPr>
          <p:cNvGrpSpPr/>
          <p:nvPr/>
        </p:nvGrpSpPr>
        <p:grpSpPr>
          <a:xfrm>
            <a:off x="1077250" y="5226838"/>
            <a:ext cx="9988419" cy="551436"/>
            <a:chOff x="1077250" y="5226838"/>
            <a:chExt cx="9988419" cy="55143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D26601-7C6F-F678-9759-8D5F48C88C9F}"/>
                </a:ext>
              </a:extLst>
            </p:cNvPr>
            <p:cNvSpPr/>
            <p:nvPr/>
          </p:nvSpPr>
          <p:spPr>
            <a:xfrm>
              <a:off x="1077362" y="5226843"/>
              <a:ext cx="516048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64BD0B-7D25-166A-1BAD-3FC59C509D5B}"/>
                </a:ext>
              </a:extLst>
            </p:cNvPr>
            <p:cNvSpPr/>
            <p:nvPr/>
          </p:nvSpPr>
          <p:spPr>
            <a:xfrm>
              <a:off x="1986999" y="5226843"/>
              <a:ext cx="415682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C6FF6D-18F2-25C8-6AB4-12663282C0BD}"/>
                </a:ext>
              </a:extLst>
            </p:cNvPr>
            <p:cNvSpPr/>
            <p:nvPr/>
          </p:nvSpPr>
          <p:spPr>
            <a:xfrm>
              <a:off x="2796270" y="5226843"/>
              <a:ext cx="342218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247C4E-EB7D-7A2E-CCE3-A5505FD2DAD1}"/>
                </a:ext>
              </a:extLst>
            </p:cNvPr>
            <p:cNvSpPr/>
            <p:nvPr/>
          </p:nvSpPr>
          <p:spPr>
            <a:xfrm>
              <a:off x="3532077" y="5226843"/>
              <a:ext cx="369998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1FA624-830D-1109-83B2-EA92132C9E9F}"/>
                </a:ext>
              </a:extLst>
            </p:cNvPr>
            <p:cNvSpPr/>
            <p:nvPr/>
          </p:nvSpPr>
          <p:spPr>
            <a:xfrm>
              <a:off x="4265501" y="5226842"/>
              <a:ext cx="665273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F7AAFA-A922-A25D-4997-0AE46D980844}"/>
                </a:ext>
              </a:extLst>
            </p:cNvPr>
            <p:cNvSpPr/>
            <p:nvPr/>
          </p:nvSpPr>
          <p:spPr>
            <a:xfrm>
              <a:off x="5324475" y="5226841"/>
              <a:ext cx="752475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6F065A-E598-1B87-7EC2-E3DF198B35F6}"/>
                </a:ext>
              </a:extLst>
            </p:cNvPr>
            <p:cNvSpPr/>
            <p:nvPr/>
          </p:nvSpPr>
          <p:spPr>
            <a:xfrm>
              <a:off x="6470651" y="5226840"/>
              <a:ext cx="1204118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F39AD3-EA45-93B3-3A8C-90C225A1C425}"/>
                </a:ext>
              </a:extLst>
            </p:cNvPr>
            <p:cNvSpPr/>
            <p:nvPr/>
          </p:nvSpPr>
          <p:spPr>
            <a:xfrm>
              <a:off x="8068470" y="5226840"/>
              <a:ext cx="854074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58B535-B830-49EA-8C23-1A2AED4828A4}"/>
                </a:ext>
              </a:extLst>
            </p:cNvPr>
            <p:cNvSpPr/>
            <p:nvPr/>
          </p:nvSpPr>
          <p:spPr>
            <a:xfrm>
              <a:off x="9316244" y="5226839"/>
              <a:ext cx="427037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5435B1-9073-8442-BDA2-8939FD7E876A}"/>
                </a:ext>
              </a:extLst>
            </p:cNvPr>
            <p:cNvSpPr/>
            <p:nvPr/>
          </p:nvSpPr>
          <p:spPr>
            <a:xfrm>
              <a:off x="10136188" y="5226838"/>
              <a:ext cx="929481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A86F71-FD99-13EE-EAE2-EE81617402D9}"/>
                </a:ext>
              </a:extLst>
            </p:cNvPr>
            <p:cNvSpPr/>
            <p:nvPr/>
          </p:nvSpPr>
          <p:spPr>
            <a:xfrm>
              <a:off x="1077250" y="5500611"/>
              <a:ext cx="929480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EE3D2A-4875-B096-0DE6-7F37C3FB58A8}"/>
                </a:ext>
              </a:extLst>
            </p:cNvPr>
            <p:cNvSpPr/>
            <p:nvPr/>
          </p:nvSpPr>
          <p:spPr>
            <a:xfrm>
              <a:off x="2395715" y="5500611"/>
              <a:ext cx="427038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ED5134-2A9E-E53D-01FE-DFEB87C0B3F1}"/>
                </a:ext>
              </a:extLst>
            </p:cNvPr>
            <p:cNvSpPr/>
            <p:nvPr/>
          </p:nvSpPr>
          <p:spPr>
            <a:xfrm>
              <a:off x="3203839" y="5500611"/>
              <a:ext cx="1061661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F862861-18A4-ADED-D1B9-D750E75D4BB5}"/>
                </a:ext>
              </a:extLst>
            </p:cNvPr>
            <p:cNvSpPr/>
            <p:nvPr/>
          </p:nvSpPr>
          <p:spPr>
            <a:xfrm>
              <a:off x="4645404" y="5500611"/>
              <a:ext cx="259972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1E9B02-DB8A-79C9-74A3-EE81B6D25172}"/>
                </a:ext>
              </a:extLst>
            </p:cNvPr>
            <p:cNvSpPr/>
            <p:nvPr/>
          </p:nvSpPr>
          <p:spPr>
            <a:xfrm>
              <a:off x="5285278" y="5500611"/>
              <a:ext cx="727377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519C88D-5E74-1E8A-EA75-E337DF2A3A10}"/>
                </a:ext>
              </a:extLst>
            </p:cNvPr>
            <p:cNvSpPr/>
            <p:nvPr/>
          </p:nvSpPr>
          <p:spPr>
            <a:xfrm>
              <a:off x="6392200" y="5500611"/>
              <a:ext cx="367621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5B2E439-C69E-3B1B-5B9A-F3788A3C67F1}"/>
                </a:ext>
              </a:extLst>
            </p:cNvPr>
            <p:cNvSpPr/>
            <p:nvPr/>
          </p:nvSpPr>
          <p:spPr>
            <a:xfrm>
              <a:off x="7152728" y="5500611"/>
              <a:ext cx="331654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DE5B07-C510-A74F-AABB-BD4DEEE8855C}"/>
                </a:ext>
              </a:extLst>
            </p:cNvPr>
            <p:cNvSpPr/>
            <p:nvPr/>
          </p:nvSpPr>
          <p:spPr>
            <a:xfrm>
              <a:off x="7877289" y="5500611"/>
              <a:ext cx="629684" cy="27766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2A89CB0-579C-041A-F801-595DB368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Tokenisation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3E57E-5402-07D5-797B-213A64746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509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Relatively simple process</a:t>
            </a:r>
          </a:p>
          <a:p>
            <a:r>
              <a:rPr lang="en-GB" dirty="0"/>
              <a:t>Takes text, separates it into words and splits them up into </a:t>
            </a:r>
            <a:r>
              <a:rPr lang="en-GB" i="1" dirty="0"/>
              <a:t>tokens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example:</a:t>
            </a:r>
          </a:p>
          <a:p>
            <a:pPr marL="0" indent="0">
              <a:buNone/>
            </a:pPr>
            <a:r>
              <a:rPr lang="en-GB" dirty="0"/>
              <a:t>The seagull was seen stealing chips on Union Street as people cowered in fear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Becomes:</a:t>
            </a:r>
          </a:p>
          <a:p>
            <a:pPr marL="0" indent="0">
              <a:buNone/>
            </a:pPr>
            <a:r>
              <a:rPr lang="en-US" dirty="0"/>
              <a:t>“The”, “ se”, “ag”, “</a:t>
            </a:r>
            <a:r>
              <a:rPr lang="en-US" dirty="0" err="1"/>
              <a:t>ull</a:t>
            </a:r>
            <a:r>
              <a:rPr lang="en-US" dirty="0"/>
              <a:t>”, “ was”, “ seen”, “ stealing”, “ chips”, “ on”, “ Union”, “ Street”, “ as”, “ people”, “ c”, “</a:t>
            </a:r>
            <a:r>
              <a:rPr lang="en-US" dirty="0" err="1"/>
              <a:t>ower</a:t>
            </a:r>
            <a:r>
              <a:rPr lang="en-US" dirty="0"/>
              <a:t>”, “ed”, “ in”, “ fear”</a:t>
            </a:r>
            <a:endParaRPr lang="en-GB" dirty="0"/>
          </a:p>
          <a:p>
            <a:pPr marL="0" indent="0">
              <a:buNone/>
            </a:pPr>
            <a:endParaRPr lang="en-GB" strike="sngStrike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7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group of red dots with white text&#10;&#10;AI-generated content may be incorrect.">
            <a:extLst>
              <a:ext uri="{FF2B5EF4-FFF2-40B4-BE49-F238E27FC236}">
                <a16:creationId xmlns:a16="http://schemas.microsoft.com/office/drawing/2014/main" id="{79710EB9-7037-5335-AE4F-68FC64F97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173" y="306726"/>
            <a:ext cx="5463315" cy="3893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BB6F53-C415-9D7B-86D3-CC7CE696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73E3-95AA-8461-CD27-DAB58DF1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6723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Which are more similar?</a:t>
            </a:r>
          </a:p>
          <a:p>
            <a:pPr lvl="1"/>
            <a:r>
              <a:rPr lang="en-GB" dirty="0"/>
              <a:t>“King” and “Queen”</a:t>
            </a:r>
          </a:p>
          <a:p>
            <a:pPr lvl="1"/>
            <a:r>
              <a:rPr lang="en-GB" dirty="0"/>
              <a:t>“King” and “Chair”</a:t>
            </a:r>
          </a:p>
          <a:p>
            <a:r>
              <a:rPr lang="en-GB" dirty="0"/>
              <a:t>Embedding converts tokens into a series of numbers that represents this “similarity” across all other tokens</a:t>
            </a:r>
          </a:p>
          <a:p>
            <a:r>
              <a:rPr lang="en-GB" dirty="0"/>
              <a:t>Embedding values change depending on context</a:t>
            </a:r>
          </a:p>
          <a:p>
            <a:pPr lvl="1"/>
            <a:r>
              <a:rPr lang="en-GB" dirty="0"/>
              <a:t>What if we added “Throne”?</a:t>
            </a:r>
          </a:p>
          <a:p>
            <a:r>
              <a:rPr lang="en-GB" dirty="0"/>
              <a:t>If we see the token “King”, what other tokens are we most likely to see?</a:t>
            </a:r>
          </a:p>
          <a:p>
            <a:r>
              <a:rPr lang="en-GB" dirty="0"/>
              <a:t>Embedding is where the model captures context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77BCC3-6618-5D5A-72BC-1BA080D1CBC1}"/>
              </a:ext>
            </a:extLst>
          </p:cNvPr>
          <p:cNvGrpSpPr/>
          <p:nvPr/>
        </p:nvGrpSpPr>
        <p:grpSpPr>
          <a:xfrm>
            <a:off x="8077200" y="4398841"/>
            <a:ext cx="2157046" cy="2051538"/>
            <a:chOff x="8077200" y="4398841"/>
            <a:chExt cx="2157046" cy="205153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BAEC4F0-6606-A7BF-6F0B-EE317ECD54B2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4398841"/>
              <a:ext cx="0" cy="20515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35A923-F120-1AE6-7814-5A44F09691A9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6450379"/>
              <a:ext cx="21570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0DCFCF-F50E-967C-74F7-4E100147B5F9}"/>
                </a:ext>
              </a:extLst>
            </p:cNvPr>
            <p:cNvSpPr txBox="1"/>
            <p:nvPr/>
          </p:nvSpPr>
          <p:spPr>
            <a:xfrm>
              <a:off x="8499231" y="4633302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King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C3562A-0077-864D-61E3-A8945FE97203}"/>
                </a:ext>
              </a:extLst>
            </p:cNvPr>
            <p:cNvSpPr txBox="1"/>
            <p:nvPr/>
          </p:nvSpPr>
          <p:spPr>
            <a:xfrm>
              <a:off x="9102831" y="4398841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Queen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2FE5A0-82E8-8D9C-1DE8-B56D6CB3E276}"/>
                </a:ext>
              </a:extLst>
            </p:cNvPr>
            <p:cNvSpPr txBox="1"/>
            <p:nvPr/>
          </p:nvSpPr>
          <p:spPr>
            <a:xfrm>
              <a:off x="9167307" y="5801525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Chair</a:t>
              </a:r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FCDF4355-2C8A-E49E-245E-5FADFCD1A79A}"/>
              </a:ext>
            </a:extLst>
          </p:cNvPr>
          <p:cNvSpPr/>
          <p:nvPr/>
        </p:nvSpPr>
        <p:spPr>
          <a:xfrm rot="21029215">
            <a:off x="8488000" y="4326695"/>
            <a:ext cx="1546462" cy="76987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26E2C-8927-C5B1-0ECE-10454A17F6B8}"/>
              </a:ext>
            </a:extLst>
          </p:cNvPr>
          <p:cNvSpPr txBox="1"/>
          <p:nvPr/>
        </p:nvSpPr>
        <p:spPr>
          <a:xfrm>
            <a:off x="9022972" y="5255072"/>
            <a:ext cx="87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Throne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E078B7-0FBE-FCDF-9DCA-9A2A5F73A581}"/>
              </a:ext>
            </a:extLst>
          </p:cNvPr>
          <p:cNvSpPr/>
          <p:nvPr/>
        </p:nvSpPr>
        <p:spPr>
          <a:xfrm rot="4385272">
            <a:off x="8350309" y="4289799"/>
            <a:ext cx="2057463" cy="17035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05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5" grpId="1" animBg="1"/>
      <p:bldP spid="4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E7BB-794E-49D4-B7D0-ED40E476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In BI3010, you learnt linear models: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And GLMs: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These form the foundation of almost all complex statistical methods</a:t>
                </a:r>
              </a:p>
              <a:p>
                <a:pPr lvl="1"/>
                <a:r>
                  <a:rPr lang="en-GB" dirty="0"/>
                  <a:t>Including neural networks (LLMs use a special type of NN)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2E0F9B-5E70-EC6C-7244-202AD32DB3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5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30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10AC-2DFD-6749-83B5-091CA6A3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CD19-878A-D528-35EE-F1F6E599D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are people using NN outside of LMMs</a:t>
            </a:r>
          </a:p>
          <a:p>
            <a:r>
              <a:rPr lang="en-GB" dirty="0"/>
              <a:t>Widely used</a:t>
            </a:r>
          </a:p>
          <a:p>
            <a:pPr lvl="1"/>
            <a:r>
              <a:rPr lang="en-GB" dirty="0"/>
              <a:t>“Algorithms”</a:t>
            </a:r>
          </a:p>
          <a:p>
            <a:pPr lvl="1"/>
            <a:r>
              <a:rPr lang="en-GB" dirty="0"/>
              <a:t>Medicine</a:t>
            </a:r>
          </a:p>
        </p:txBody>
      </p:sp>
    </p:spTree>
    <p:extLst>
      <p:ext uri="{BB962C8B-B14F-4D97-AF65-F5344CB8AC3E}">
        <p14:creationId xmlns:p14="http://schemas.microsoft.com/office/powerpoint/2010/main" val="1271963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4AE6-A5E4-09CB-D826-5D17CE9A2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model as a neural network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850263-97FC-8236-5574-B9E31083758C}"/>
              </a:ext>
            </a:extLst>
          </p:cNvPr>
          <p:cNvGrpSpPr/>
          <p:nvPr/>
        </p:nvGrpSpPr>
        <p:grpSpPr>
          <a:xfrm>
            <a:off x="1899138" y="2157046"/>
            <a:ext cx="1242647" cy="3281912"/>
            <a:chOff x="1899138" y="2157046"/>
            <a:chExt cx="1242647" cy="32819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/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F8CCDFF-A1FF-8132-2D8B-0DA8583C25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/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5A58AF0-4908-FE75-C9A5-A1DD134497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9138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4893D5-4FF0-69C9-5506-44CAB260A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D3B3DEC5-B11F-B4AB-4DC5-5449CDF1114D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3C52566-703A-E15C-DB57-87BB2D0E7DDC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53BCA1-31D5-040D-ED9C-5A574C89D2BF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FC39249-CA22-AA27-E6C3-2B13940B4D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3F464A8-073F-2807-E3B0-0A70599E4F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51EA07-DFD8-706D-1C32-5F27DEC572B0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F41482-301D-168E-18A0-B076A0ED0E4F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67ECCD-7408-D7F4-A3A3-0F7528ECFAE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BB2BD6-CF8E-9C45-5074-572299CCCA56}"/>
              </a:ext>
            </a:extLst>
          </p:cNvPr>
          <p:cNvGrpSpPr/>
          <p:nvPr/>
        </p:nvGrpSpPr>
        <p:grpSpPr>
          <a:xfrm>
            <a:off x="3141785" y="2793023"/>
            <a:ext cx="2028091" cy="2009958"/>
            <a:chOff x="3141785" y="2793023"/>
            <a:chExt cx="2028091" cy="200995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8810AB-9168-1304-A994-8E922271866F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3141785" y="2793023"/>
              <a:ext cx="2028091" cy="9378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A852DDD-E941-6D5D-3B4C-3D5935AEDAFE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3141785" y="3730869"/>
              <a:ext cx="2028091" cy="10721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/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9D96DF-E1CC-8202-2084-63980824F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2375" y="2793023"/>
                  <a:ext cx="49539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/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0B5B1A-4DD6-0F2C-DC5A-DE334DBE7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9040" y="4304567"/>
                  <a:ext cx="50071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B4BE80-6F2C-8736-B62F-4750EABDC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/>
              <p:nvPr/>
            </p:nvSpPr>
            <p:spPr>
              <a:xfrm>
                <a:off x="6481782" y="6396335"/>
                <a:ext cx="5710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b="0" dirty="0"/>
                  <a:t>In LLM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/>
                  <a:t> are embedding values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520B0-1C22-1983-1998-F33C3E199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782" y="6396335"/>
                <a:ext cx="5710218" cy="461665"/>
              </a:xfrm>
              <a:prstGeom prst="rect">
                <a:avLst/>
              </a:prstGeom>
              <a:blipFill>
                <a:blip r:embed="rId8"/>
                <a:stretch>
                  <a:fillRect l="-1601" t="-10526" r="-640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73229235-D382-9F01-36EF-B749862F3E46}"/>
              </a:ext>
            </a:extLst>
          </p:cNvPr>
          <p:cNvGrpSpPr/>
          <p:nvPr/>
        </p:nvGrpSpPr>
        <p:grpSpPr>
          <a:xfrm>
            <a:off x="9331568" y="1510449"/>
            <a:ext cx="2273808" cy="3697185"/>
            <a:chOff x="9331568" y="1510449"/>
            <a:chExt cx="2273808" cy="369718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E319C2-7BEF-A5DB-EC59-570B0156998E}"/>
                </a:ext>
              </a:extLst>
            </p:cNvPr>
            <p:cNvSpPr txBox="1"/>
            <p:nvPr/>
          </p:nvSpPr>
          <p:spPr>
            <a:xfrm>
              <a:off x="9331568" y="1510449"/>
              <a:ext cx="22738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NN often doesn’t use a distribution (a.k.a. likelihood) as the metric to minimise</a:t>
              </a:r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1BC774C4-BEA3-2D96-470A-59553751F7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889730" y="3661015"/>
              <a:ext cx="2577659" cy="515580"/>
            </a:xfrm>
            <a:prstGeom prst="bentConnector3">
              <a:avLst>
                <a:gd name="adj1" fmla="val 10010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10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7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B9B5-A28A-8478-FDF2-F19D1896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B88CC-1784-1B9F-87D7-4B07310B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GLMs as a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/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B964BCA-89CA-C753-5B35-4C6716B379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2157046"/>
                <a:ext cx="1242647" cy="1271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/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A68F712-AA27-CD2B-1F44-DCC01C1C98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138" y="4167004"/>
                <a:ext cx="1242647" cy="127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891CFA7-89F8-98F0-495E-8E7FE0CEBEF5}"/>
              </a:ext>
            </a:extLst>
          </p:cNvPr>
          <p:cNvSpPr/>
          <p:nvPr/>
        </p:nvSpPr>
        <p:spPr>
          <a:xfrm>
            <a:off x="5169876" y="3094892"/>
            <a:ext cx="1242647" cy="12719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/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8EE55A-B84B-372C-7D83-2B6F3AAD4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245" y="3094892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1E190AF-69D3-1AA0-363F-873970190133}"/>
              </a:ext>
            </a:extLst>
          </p:cNvPr>
          <p:cNvGrpSpPr/>
          <p:nvPr/>
        </p:nvGrpSpPr>
        <p:grpSpPr>
          <a:xfrm>
            <a:off x="5339860" y="3213955"/>
            <a:ext cx="902677" cy="847541"/>
            <a:chOff x="5369169" y="3319463"/>
            <a:chExt cx="902677" cy="84754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DF1B44D-1900-1A32-0787-AE14A77CC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9169" y="3319463"/>
              <a:ext cx="0" cy="84754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C0FC30C-D9F5-9964-E807-7088F3E7B6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169" y="4167004"/>
              <a:ext cx="90267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2AA6712-B528-858A-6503-2DB9966E419D}"/>
              </a:ext>
            </a:extLst>
          </p:cNvPr>
          <p:cNvSpPr txBox="1"/>
          <p:nvPr/>
        </p:nvSpPr>
        <p:spPr>
          <a:xfrm>
            <a:off x="5131295" y="404669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Link function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1F62D11-C068-9CD9-A2ED-64B96CAF1BB0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141785" y="2793023"/>
            <a:ext cx="2028091" cy="93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C3F933-9463-0D53-3CB0-19170C45CDB6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41785" y="3730869"/>
            <a:ext cx="2028091" cy="1072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54D687-B1DC-AE9D-1B85-2549A310111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12523" y="3730869"/>
            <a:ext cx="22977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/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F9C137-FE0B-C0B2-6F17-8C573729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75" y="2793023"/>
                <a:ext cx="4953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/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2BA8CA-3FE3-730C-ADB1-DAA0F6563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304567"/>
                <a:ext cx="5007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/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D74C78-BAE8-1943-7D70-855036726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040" y="4901348"/>
                <a:ext cx="7236160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3C3CDAD9-8EB9-34FB-7E57-E69EF57E3DBB}"/>
              </a:ext>
            </a:extLst>
          </p:cNvPr>
          <p:cNvCxnSpPr/>
          <p:nvPr/>
        </p:nvCxnSpPr>
        <p:spPr>
          <a:xfrm flipV="1">
            <a:off x="5339860" y="3261946"/>
            <a:ext cx="902677" cy="784752"/>
          </a:xfrm>
          <a:prstGeom prst="curved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C0336BC-1965-8FE6-1995-97DEBE4FE695}"/>
              </a:ext>
            </a:extLst>
          </p:cNvPr>
          <p:cNvGrpSpPr/>
          <p:nvPr/>
        </p:nvGrpSpPr>
        <p:grpSpPr>
          <a:xfrm>
            <a:off x="4483393" y="1721679"/>
            <a:ext cx="2615609" cy="1256010"/>
            <a:chOff x="4483393" y="1721679"/>
            <a:chExt cx="2615609" cy="12560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3C6F18-0A4D-4182-3405-1D7A65037265}"/>
                </a:ext>
              </a:extLst>
            </p:cNvPr>
            <p:cNvSpPr txBox="1"/>
            <p:nvPr/>
          </p:nvSpPr>
          <p:spPr>
            <a:xfrm>
              <a:off x="4483393" y="1721679"/>
              <a:ext cx="26156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Link functions are called “Activation Functions” in machine learning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F2C8D43-DFD3-C2A7-5797-C0D9236F7381}"/>
                </a:ext>
              </a:extLst>
            </p:cNvPr>
            <p:cNvCxnSpPr>
              <a:stCxn id="10" idx="2"/>
            </p:cNvCxnSpPr>
            <p:nvPr/>
          </p:nvCxnSpPr>
          <p:spPr>
            <a:xfrm>
              <a:off x="5791198" y="2645009"/>
              <a:ext cx="0" cy="332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86B8D13-2A0A-6542-2DBA-D89883FD8BE7}"/>
              </a:ext>
            </a:extLst>
          </p:cNvPr>
          <p:cNvGrpSpPr/>
          <p:nvPr/>
        </p:nvGrpSpPr>
        <p:grpSpPr>
          <a:xfrm>
            <a:off x="5169876" y="3094892"/>
            <a:ext cx="1242647" cy="1331541"/>
            <a:chOff x="5169876" y="3094892"/>
            <a:chExt cx="1242647" cy="133154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48A14F-C4A9-CB46-C945-09E8777D5ADF}"/>
                </a:ext>
              </a:extLst>
            </p:cNvPr>
            <p:cNvSpPr/>
            <p:nvPr/>
          </p:nvSpPr>
          <p:spPr>
            <a:xfrm>
              <a:off x="5169876" y="309489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EE0507-1ED3-1147-EA3B-B736D71D3022}"/>
                </a:ext>
              </a:extLst>
            </p:cNvPr>
            <p:cNvGrpSpPr/>
            <p:nvPr/>
          </p:nvGrpSpPr>
          <p:grpSpPr>
            <a:xfrm>
              <a:off x="5339860" y="3213955"/>
              <a:ext cx="902677" cy="847541"/>
              <a:chOff x="5369169" y="3319463"/>
              <a:chExt cx="902677" cy="847541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F850FAA-6C93-758C-097A-8AD3105E7B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801C53B-0E2A-F679-03D0-CFD45A5BCF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AA08291-4841-8150-ED91-88A526A46DD2}"/>
                  </a:ext>
                </a:extLst>
              </p:cNvPr>
              <p:cNvCxnSpPr/>
              <p:nvPr/>
            </p:nvCxnSpPr>
            <p:spPr>
              <a:xfrm flipV="1">
                <a:off x="5369169" y="3319463"/>
                <a:ext cx="893519" cy="70485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D14707-F6F7-4238-14BE-AB06BDBB6268}"/>
                </a:ext>
              </a:extLst>
            </p:cNvPr>
            <p:cNvSpPr txBox="1"/>
            <p:nvPr/>
          </p:nvSpPr>
          <p:spPr>
            <a:xfrm>
              <a:off x="5384906" y="4057101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Linear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/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GB" sz="3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CBA735-B107-98E6-A453-63FC69814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100" y="4901348"/>
                <a:ext cx="6515100" cy="12003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68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2F1D-3367-7576-2C22-41C8C3C8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AD8C-F66F-0381-60DC-C05B586E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 tend to have multiple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/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3E6127E-1EB4-682D-A7FF-EB79509E7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2157046"/>
                <a:ext cx="1242647" cy="12719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/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AB9E02-77E0-2606-4E21-20E4B85761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69" y="4167004"/>
                <a:ext cx="1242647" cy="12719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/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7FACC7-6744-1D29-B740-2E69CD0A43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929" y="3093933"/>
                <a:ext cx="1242647" cy="12719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68A1EF-C2BB-C3F8-B388-C2D1F50CD5A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539679" y="3708503"/>
            <a:ext cx="3308250" cy="21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079247-240B-2E4F-79E5-F06CC9B75DB6}"/>
              </a:ext>
            </a:extLst>
          </p:cNvPr>
          <p:cNvGrpSpPr/>
          <p:nvPr/>
        </p:nvGrpSpPr>
        <p:grpSpPr>
          <a:xfrm>
            <a:off x="1812716" y="2793023"/>
            <a:ext cx="6177243" cy="2009958"/>
            <a:chOff x="1812716" y="2793023"/>
            <a:chExt cx="6177243" cy="200995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CE1A81E-C995-8744-0995-4B5BC3F11E9F}"/>
                </a:ext>
              </a:extLst>
            </p:cNvPr>
            <p:cNvGrpSpPr/>
            <p:nvPr/>
          </p:nvGrpSpPr>
          <p:grpSpPr>
            <a:xfrm>
              <a:off x="1812716" y="2793023"/>
              <a:ext cx="6177243" cy="2009958"/>
              <a:chOff x="1812716" y="2793023"/>
              <a:chExt cx="6177243" cy="2009958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FC754DD-69A9-6261-E4F4-944B3D374C18}"/>
                  </a:ext>
                </a:extLst>
              </p:cNvPr>
              <p:cNvCxnSpPr>
                <a:cxnSpLocks/>
                <a:stCxn id="4" idx="3"/>
                <a:endCxn id="6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6452A0D-9890-7CE5-C036-677A2B6B56FA}"/>
                  </a:ext>
                </a:extLst>
              </p:cNvPr>
              <p:cNvCxnSpPr>
                <a:stCxn id="5" idx="3"/>
                <a:endCxn id="6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54C45E6-31D0-74BF-0C02-25C6528262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1186" y="3105189"/>
                    <a:ext cx="49539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/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9373645-A36C-CFC8-437B-C5A68817EF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79276" y="3942485"/>
                    <a:ext cx="50071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5429D30-3D37-8958-84BE-79CDF9BD44BF}"/>
                  </a:ext>
                </a:extLst>
              </p:cNvPr>
              <p:cNvGrpSpPr/>
              <p:nvPr/>
            </p:nvGrpSpPr>
            <p:grpSpPr>
              <a:xfrm>
                <a:off x="3972347" y="3073485"/>
                <a:ext cx="1334020" cy="1290360"/>
                <a:chOff x="3972347" y="3073485"/>
                <a:chExt cx="1334020" cy="1290360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804E774-5447-8EA8-54CD-EC79C9C2C0FD}"/>
                    </a:ext>
                  </a:extLst>
                </p:cNvPr>
                <p:cNvSpPr/>
                <p:nvPr/>
              </p:nvSpPr>
              <p:spPr>
                <a:xfrm>
                  <a:off x="4010928" y="3073485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865F08E3-4E66-9FB8-7369-6FA7D609DB65}"/>
                    </a:ext>
                  </a:extLst>
                </p:cNvPr>
                <p:cNvGrpSpPr/>
                <p:nvPr/>
              </p:nvGrpSpPr>
              <p:grpSpPr>
                <a:xfrm>
                  <a:off x="4180912" y="3192548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9" name="Straight Connector 8">
                    <a:extLst>
                      <a:ext uri="{FF2B5EF4-FFF2-40B4-BE49-F238E27FC236}">
                        <a16:creationId xmlns:a16="http://schemas.microsoft.com/office/drawing/2014/main" id="{F46F0062-65D1-C684-2925-9A25D7DA72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Connector 10">
                    <a:extLst>
                      <a:ext uri="{FF2B5EF4-FFF2-40B4-BE49-F238E27FC236}">
                        <a16:creationId xmlns:a16="http://schemas.microsoft.com/office/drawing/2014/main" id="{59C082C1-6375-EF23-19C6-D9E6B9EF93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E4C6C6C-E6D4-7B51-3C46-A78101EA3B36}"/>
                    </a:ext>
                  </a:extLst>
                </p:cNvPr>
                <p:cNvSpPr txBox="1"/>
                <p:nvPr/>
              </p:nvSpPr>
              <p:spPr>
                <a:xfrm>
                  <a:off x="3972347" y="4025291"/>
                  <a:ext cx="13340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Link function</a:t>
                  </a:r>
                </a:p>
              </p:txBody>
            </p:sp>
            <p:cxnSp>
              <p:nvCxnSpPr>
                <p:cNvPr id="8" name="Connector: Curved 7">
                  <a:extLst>
                    <a:ext uri="{FF2B5EF4-FFF2-40B4-BE49-F238E27FC236}">
                      <a16:creationId xmlns:a16="http://schemas.microsoft.com/office/drawing/2014/main" id="{B9A129F4-5DDE-9C05-273D-879B73064352}"/>
                    </a:ext>
                  </a:extLst>
                </p:cNvPr>
                <p:cNvCxnSpPr/>
                <p:nvPr/>
              </p:nvCxnSpPr>
              <p:spPr>
                <a:xfrm flipV="1">
                  <a:off x="4180912" y="3240539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4176C5F-EB18-7C7D-4596-16F48D40D062}"/>
                  </a:ext>
                </a:extLst>
              </p:cNvPr>
              <p:cNvGrpSpPr/>
              <p:nvPr/>
            </p:nvGrpSpPr>
            <p:grpSpPr>
              <a:xfrm>
                <a:off x="6655939" y="3072526"/>
                <a:ext cx="1334020" cy="1290360"/>
                <a:chOff x="6655939" y="3072526"/>
                <a:chExt cx="1334020" cy="129036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D3F7876-718A-30BB-923B-A4D8FC24AC89}"/>
                    </a:ext>
                  </a:extLst>
                </p:cNvPr>
                <p:cNvSpPr/>
                <p:nvPr/>
              </p:nvSpPr>
              <p:spPr>
                <a:xfrm>
                  <a:off x="6694520" y="3072526"/>
                  <a:ext cx="1242647" cy="1271954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3600" dirty="0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7EFA4B2B-0FD9-D0C8-311F-84D722422D9C}"/>
                    </a:ext>
                  </a:extLst>
                </p:cNvPr>
                <p:cNvGrpSpPr/>
                <p:nvPr/>
              </p:nvGrpSpPr>
              <p:grpSpPr>
                <a:xfrm>
                  <a:off x="6864504" y="3191589"/>
                  <a:ext cx="902677" cy="847541"/>
                  <a:chOff x="5369169" y="3319463"/>
                  <a:chExt cx="902677" cy="847541"/>
                </a:xfrm>
              </p:grpSpPr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E2508668-D507-58DA-67D7-971DA532CC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369169" y="3319463"/>
                    <a:ext cx="0" cy="84754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B326C665-398F-117A-A3B8-60F891C383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369169" y="4167004"/>
                    <a:ext cx="902677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D5733B4-3B13-B389-4B25-C5BD68A4CD76}"/>
                    </a:ext>
                  </a:extLst>
                </p:cNvPr>
                <p:cNvSpPr txBox="1"/>
                <p:nvPr/>
              </p:nvSpPr>
              <p:spPr>
                <a:xfrm>
                  <a:off x="6655939" y="4024332"/>
                  <a:ext cx="133402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/>
                    <a:t>Link function</a:t>
                  </a:r>
                </a:p>
              </p:txBody>
            </p:sp>
            <p:cxnSp>
              <p:nvCxnSpPr>
                <p:cNvPr id="28" name="Connector: Curved 27">
                  <a:extLst>
                    <a:ext uri="{FF2B5EF4-FFF2-40B4-BE49-F238E27FC236}">
                      <a16:creationId xmlns:a16="http://schemas.microsoft.com/office/drawing/2014/main" id="{75A8994D-08C8-3897-B620-D51F616C9046}"/>
                    </a:ext>
                  </a:extLst>
                </p:cNvPr>
                <p:cNvCxnSpPr/>
                <p:nvPr/>
              </p:nvCxnSpPr>
              <p:spPr>
                <a:xfrm flipV="1">
                  <a:off x="6864504" y="3239580"/>
                  <a:ext cx="902677" cy="784752"/>
                </a:xfrm>
                <a:prstGeom prst="curvedConnector3">
                  <a:avLst/>
                </a:prstGeom>
                <a:ln>
                  <a:solidFill>
                    <a:schemeClr val="bg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E5D3DED-E515-6BB7-9619-52891D0CAA61}"/>
                  </a:ext>
                </a:extLst>
              </p:cNvPr>
              <p:cNvCxnSpPr>
                <a:cxnSpLocks/>
                <a:stCxn id="6" idx="3"/>
                <a:endCxn id="16" idx="1"/>
              </p:cNvCxnSpPr>
              <p:nvPr/>
            </p:nvCxnSpPr>
            <p:spPr>
              <a:xfrm flipV="1">
                <a:off x="5253575" y="3708503"/>
                <a:ext cx="1440945" cy="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/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B71FDA6-3F16-098B-062D-E5087C893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3690" y="3339171"/>
                  <a:ext cx="49372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/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FE2A3D2-0B6E-37DB-6F2A-B4F0EBB7F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25" y="5123004"/>
                <a:ext cx="719216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/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A54B92-1127-B597-888A-5744A2C36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664" y="5803554"/>
                <a:ext cx="609750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rapezoid 48">
            <a:extLst>
              <a:ext uri="{FF2B5EF4-FFF2-40B4-BE49-F238E27FC236}">
                <a16:creationId xmlns:a16="http://schemas.microsoft.com/office/drawing/2014/main" id="{FA0F118E-18B0-0C38-8517-FBD1C509F5E9}"/>
              </a:ext>
            </a:extLst>
          </p:cNvPr>
          <p:cNvSpPr/>
          <p:nvPr/>
        </p:nvSpPr>
        <p:spPr>
          <a:xfrm rot="5400000">
            <a:off x="878213" y="1426851"/>
            <a:ext cx="4068558" cy="4684847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F8FA319-EED4-C795-9F5F-839DAAA2A6F0}"/>
              </a:ext>
            </a:extLst>
          </p:cNvPr>
          <p:cNvSpPr/>
          <p:nvPr/>
        </p:nvSpPr>
        <p:spPr>
          <a:xfrm>
            <a:off x="4010928" y="2749549"/>
            <a:ext cx="3926239" cy="2032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37055A5-AA0C-EA34-62ED-26E8F730DBD6}"/>
              </a:ext>
            </a:extLst>
          </p:cNvPr>
          <p:cNvGrpSpPr/>
          <p:nvPr/>
        </p:nvGrpSpPr>
        <p:grpSpPr>
          <a:xfrm>
            <a:off x="1818609" y="2793023"/>
            <a:ext cx="4823119" cy="2009958"/>
            <a:chOff x="1812716" y="2793023"/>
            <a:chExt cx="4823119" cy="200995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A0F2AC3-BD06-36B9-7A37-B8147DC9B563}"/>
                </a:ext>
              </a:extLst>
            </p:cNvPr>
            <p:cNvGrpSpPr/>
            <p:nvPr/>
          </p:nvGrpSpPr>
          <p:grpSpPr>
            <a:xfrm>
              <a:off x="5301815" y="3072526"/>
              <a:ext cx="1334020" cy="1290360"/>
              <a:chOff x="3972347" y="3073485"/>
              <a:chExt cx="1334020" cy="129036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E42C5BD-7C44-4988-614C-2E212CAEEE21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5AF6501-2BDA-478E-85D7-D74FF295BD86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1449AE3-0B23-C1D0-3C8E-84E959C9C2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D29C87C-0B8E-9704-1458-EE5A4687A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2B81352-892F-DBE4-5C2A-D86CFD8C51D8}"/>
                  </a:ext>
                </a:extLst>
              </p:cNvPr>
              <p:cNvSpPr txBox="1"/>
              <p:nvPr/>
            </p:nvSpPr>
            <p:spPr>
              <a:xfrm>
                <a:off x="3972347" y="4025291"/>
                <a:ext cx="13340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600" dirty="0"/>
                  <a:t>Link function</a:t>
                </a:r>
              </a:p>
            </p:txBody>
          </p:sp>
          <p:cxnSp>
            <p:nvCxnSpPr>
              <p:cNvPr id="58" name="Connector: Curved 57">
                <a:extLst>
                  <a:ext uri="{FF2B5EF4-FFF2-40B4-BE49-F238E27FC236}">
                    <a16:creationId xmlns:a16="http://schemas.microsoft.com/office/drawing/2014/main" id="{1226B67B-333B-7836-1E21-4406A81A6431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345EB06-92F6-30C5-D695-B11A1D91A3AF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 flipV="1">
              <a:off x="1812716" y="3708503"/>
              <a:ext cx="3527680" cy="10944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EBA9645-C7F6-068F-547D-E762621FA3DC}"/>
                </a:ext>
              </a:extLst>
            </p:cNvPr>
            <p:cNvCxnSpPr>
              <a:cxnSpLocks/>
              <a:endCxn id="55" idx="1"/>
            </p:cNvCxnSpPr>
            <p:nvPr/>
          </p:nvCxnSpPr>
          <p:spPr>
            <a:xfrm>
              <a:off x="1812716" y="2793023"/>
              <a:ext cx="3527680" cy="9154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606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8" grpId="0"/>
      <p:bldP spid="49" grpId="0" animBg="1"/>
      <p:bldP spid="49" grpId="1" animBg="1"/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FFC5-DE18-285E-B303-D4E506BC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263F-F855-22FE-5A32-716DBDE3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multiple neurons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0157860-ECCE-FF05-F027-0BB0C53A7FB0}"/>
              </a:ext>
            </a:extLst>
          </p:cNvPr>
          <p:cNvGrpSpPr/>
          <p:nvPr/>
        </p:nvGrpSpPr>
        <p:grpSpPr>
          <a:xfrm>
            <a:off x="570069" y="1586359"/>
            <a:ext cx="10520507" cy="4263653"/>
            <a:chOff x="570069" y="1586359"/>
            <a:chExt cx="10520507" cy="4263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/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6F63019-9675-C222-6010-763C7CFFE9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2157046"/>
                  <a:ext cx="1242647" cy="12719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/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C13496-A606-9F97-9B0B-56C419EB12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69" y="4167004"/>
                  <a:ext cx="1242647" cy="12719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DF5970-A719-821B-611D-8DEBB7FABECB}"/>
                </a:ext>
              </a:extLst>
            </p:cNvPr>
            <p:cNvSpPr/>
            <p:nvPr/>
          </p:nvSpPr>
          <p:spPr>
            <a:xfrm>
              <a:off x="4010928" y="3073485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/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sz="36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E662854-BEED-F3E3-E74F-3355662182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929" y="3093933"/>
                  <a:ext cx="1242647" cy="12719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0D27B4-A798-A921-3554-9CCE1FD85E5A}"/>
                </a:ext>
              </a:extLst>
            </p:cNvPr>
            <p:cNvGrpSpPr/>
            <p:nvPr/>
          </p:nvGrpSpPr>
          <p:grpSpPr>
            <a:xfrm>
              <a:off x="4180912" y="3192548"/>
              <a:ext cx="902677" cy="847541"/>
              <a:chOff x="5369169" y="3319463"/>
              <a:chExt cx="902677" cy="8475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0A637C9-CED6-3CFD-8327-21C367D11B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8136EC6-0282-2F12-245A-D816D9277D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990CDE3-FB40-950A-055C-27A0715BB53C}"/>
                </a:ext>
              </a:extLst>
            </p:cNvPr>
            <p:cNvSpPr txBox="1"/>
            <p:nvPr/>
          </p:nvSpPr>
          <p:spPr>
            <a:xfrm>
              <a:off x="3972347" y="4025291"/>
              <a:ext cx="1334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BAE3741-31F9-C78F-D71D-D91B96703C57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1812716" y="2793023"/>
              <a:ext cx="2198212" cy="9164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256E68E-8E58-3B9D-504A-99843ABA217B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1812716" y="3709462"/>
              <a:ext cx="2198212" cy="10935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D300F24-1CF3-C4C7-E5E9-C3EBF54F99F5}"/>
                </a:ext>
              </a:extLst>
            </p:cNvPr>
            <p:cNvCxnSpPr>
              <a:cxnSpLocks/>
              <a:stCxn id="16" idx="3"/>
              <a:endCxn id="7" idx="1"/>
            </p:cNvCxnSpPr>
            <p:nvPr/>
          </p:nvCxnSpPr>
          <p:spPr>
            <a:xfrm flipV="1">
              <a:off x="7982801" y="3729910"/>
              <a:ext cx="1865128" cy="7657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EC97984-0BCF-8152-B0F6-B7952891A67B}"/>
                </a:ext>
              </a:extLst>
            </p:cNvPr>
            <p:cNvCxnSpPr/>
            <p:nvPr/>
          </p:nvCxnSpPr>
          <p:spPr>
            <a:xfrm flipV="1">
              <a:off x="4180912" y="3240539"/>
              <a:ext cx="902677" cy="784752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A40E70-F57D-B121-8D14-791C04626F50}"/>
                </a:ext>
              </a:extLst>
            </p:cNvPr>
            <p:cNvSpPr/>
            <p:nvPr/>
          </p:nvSpPr>
          <p:spPr>
            <a:xfrm>
              <a:off x="6740154" y="3859693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694DC1-2257-9785-567B-7E15F2BFF48E}"/>
                </a:ext>
              </a:extLst>
            </p:cNvPr>
            <p:cNvGrpSpPr/>
            <p:nvPr/>
          </p:nvGrpSpPr>
          <p:grpSpPr>
            <a:xfrm>
              <a:off x="6910138" y="3978756"/>
              <a:ext cx="902677" cy="847541"/>
              <a:chOff x="5369169" y="3319463"/>
              <a:chExt cx="902677" cy="84754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9DCB22A-8660-C055-DD5E-EAC8989F5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C6550CB-B6FC-1DBA-D7A8-A8E2837EA9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FB1F2-257B-A782-34EB-6375E48EE787}"/>
                </a:ext>
              </a:extLst>
            </p:cNvPr>
            <p:cNvSpPr txBox="1"/>
            <p:nvPr/>
          </p:nvSpPr>
          <p:spPr>
            <a:xfrm>
              <a:off x="6701573" y="4811499"/>
              <a:ext cx="1334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1D410F2C-C1BD-93CD-7DB2-278BD175F7EA}"/>
                </a:ext>
              </a:extLst>
            </p:cNvPr>
            <p:cNvCxnSpPr/>
            <p:nvPr/>
          </p:nvCxnSpPr>
          <p:spPr>
            <a:xfrm flipV="1">
              <a:off x="6910138" y="4026747"/>
              <a:ext cx="902677" cy="784752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BCF0B83-1086-A3FC-DAE4-79F3EF098BA8}"/>
                </a:ext>
              </a:extLst>
            </p:cNvPr>
            <p:cNvCxnSpPr>
              <a:cxnSpLocks/>
              <a:stCxn id="6" idx="3"/>
              <a:endCxn id="16" idx="1"/>
            </p:cNvCxnSpPr>
            <p:nvPr/>
          </p:nvCxnSpPr>
          <p:spPr>
            <a:xfrm>
              <a:off x="5253575" y="3709462"/>
              <a:ext cx="1486579" cy="7862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50417E8-2366-73EC-502E-6E587131A2E3}"/>
                </a:ext>
              </a:extLst>
            </p:cNvPr>
            <p:cNvSpPr/>
            <p:nvPr/>
          </p:nvSpPr>
          <p:spPr>
            <a:xfrm>
              <a:off x="4010928" y="1586359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0624159-1D0E-E046-FAC4-7D83439A4CAC}"/>
                </a:ext>
              </a:extLst>
            </p:cNvPr>
            <p:cNvGrpSpPr/>
            <p:nvPr/>
          </p:nvGrpSpPr>
          <p:grpSpPr>
            <a:xfrm>
              <a:off x="4180912" y="1705422"/>
              <a:ext cx="902677" cy="847541"/>
              <a:chOff x="5369169" y="3319463"/>
              <a:chExt cx="902677" cy="84754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D530B93-43A9-681A-356C-790D6435A8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8F70A74-DFD1-6702-AAFD-51AA4CFB7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7A96ED-6165-53E8-00F7-7E8DE5CD80DA}"/>
                </a:ext>
              </a:extLst>
            </p:cNvPr>
            <p:cNvSpPr txBox="1"/>
            <p:nvPr/>
          </p:nvSpPr>
          <p:spPr>
            <a:xfrm>
              <a:off x="3972347" y="2538165"/>
              <a:ext cx="1334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B45237A8-B73E-A918-8609-4920D9A5BE09}"/>
                </a:ext>
              </a:extLst>
            </p:cNvPr>
            <p:cNvCxnSpPr/>
            <p:nvPr/>
          </p:nvCxnSpPr>
          <p:spPr>
            <a:xfrm flipV="1">
              <a:off x="4180912" y="1753413"/>
              <a:ext cx="902677" cy="784752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7AC6FB-FA45-A36E-E50A-F04A1D6C1F7E}"/>
                </a:ext>
              </a:extLst>
            </p:cNvPr>
            <p:cNvSpPr/>
            <p:nvPr/>
          </p:nvSpPr>
          <p:spPr>
            <a:xfrm>
              <a:off x="6740154" y="2372567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956B84-DAAD-DFA1-1EBF-008C859DD400}"/>
                </a:ext>
              </a:extLst>
            </p:cNvPr>
            <p:cNvGrpSpPr/>
            <p:nvPr/>
          </p:nvGrpSpPr>
          <p:grpSpPr>
            <a:xfrm>
              <a:off x="6910138" y="2491630"/>
              <a:ext cx="902677" cy="847541"/>
              <a:chOff x="5369169" y="3319463"/>
              <a:chExt cx="902677" cy="84754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F6C73F0-AB3A-D6E4-CBFE-41AC8A3D15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2FC6F73-DF81-DFF6-4C4A-8EAE4CCD9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051648-DACD-1B66-F8E7-BA1DAC58AF03}"/>
                </a:ext>
              </a:extLst>
            </p:cNvPr>
            <p:cNvSpPr txBox="1"/>
            <p:nvPr/>
          </p:nvSpPr>
          <p:spPr>
            <a:xfrm>
              <a:off x="6701573" y="3324373"/>
              <a:ext cx="1334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36" name="Connector: Curved 35">
              <a:extLst>
                <a:ext uri="{FF2B5EF4-FFF2-40B4-BE49-F238E27FC236}">
                  <a16:creationId xmlns:a16="http://schemas.microsoft.com/office/drawing/2014/main" id="{CDF21242-748C-EAB4-5709-0B39AD79803F}"/>
                </a:ext>
              </a:extLst>
            </p:cNvPr>
            <p:cNvCxnSpPr/>
            <p:nvPr/>
          </p:nvCxnSpPr>
          <p:spPr>
            <a:xfrm flipV="1">
              <a:off x="6910138" y="2539621"/>
              <a:ext cx="902677" cy="784752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8A5CE1C-8C0C-D53A-6699-2ACDD064ACA2}"/>
                </a:ext>
              </a:extLst>
            </p:cNvPr>
            <p:cNvCxnSpPr>
              <a:cxnSpLocks/>
              <a:stCxn id="3" idx="3"/>
              <a:endCxn id="29" idx="1"/>
            </p:cNvCxnSpPr>
            <p:nvPr/>
          </p:nvCxnSpPr>
          <p:spPr>
            <a:xfrm>
              <a:off x="5253575" y="2222336"/>
              <a:ext cx="1486579" cy="7862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96FB21-E8F5-111B-6AFA-45268D64D4BB}"/>
                </a:ext>
              </a:extLst>
            </p:cNvPr>
            <p:cNvSpPr/>
            <p:nvPr/>
          </p:nvSpPr>
          <p:spPr>
            <a:xfrm>
              <a:off x="4010928" y="4559652"/>
              <a:ext cx="1242647" cy="12719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768DAA8-0A42-F507-FCDC-0B81CE362FDE}"/>
                </a:ext>
              </a:extLst>
            </p:cNvPr>
            <p:cNvGrpSpPr/>
            <p:nvPr/>
          </p:nvGrpSpPr>
          <p:grpSpPr>
            <a:xfrm>
              <a:off x="4180912" y="4678715"/>
              <a:ext cx="902677" cy="847541"/>
              <a:chOff x="5369169" y="3319463"/>
              <a:chExt cx="902677" cy="847541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71149BF-13F0-B8F3-9DC5-4BE3F24191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9169" y="3319463"/>
                <a:ext cx="0" cy="84754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D76740E-50E2-DA44-9089-B29F1F142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69169" y="4167004"/>
                <a:ext cx="90267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C22CAF-067B-F99C-A7B0-5E99D21B5DDB}"/>
                </a:ext>
              </a:extLst>
            </p:cNvPr>
            <p:cNvSpPr txBox="1"/>
            <p:nvPr/>
          </p:nvSpPr>
          <p:spPr>
            <a:xfrm>
              <a:off x="3972347" y="5511458"/>
              <a:ext cx="1334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Link function</a:t>
              </a:r>
            </a:p>
          </p:txBody>
        </p:sp>
        <p:cxnSp>
          <p:nvCxnSpPr>
            <p:cNvPr id="44" name="Connector: Curved 43">
              <a:extLst>
                <a:ext uri="{FF2B5EF4-FFF2-40B4-BE49-F238E27FC236}">
                  <a16:creationId xmlns:a16="http://schemas.microsoft.com/office/drawing/2014/main" id="{710F6C39-69CC-2B8F-CAD8-B1730DEC1ACF}"/>
                </a:ext>
              </a:extLst>
            </p:cNvPr>
            <p:cNvCxnSpPr/>
            <p:nvPr/>
          </p:nvCxnSpPr>
          <p:spPr>
            <a:xfrm flipV="1">
              <a:off x="4180912" y="4726706"/>
              <a:ext cx="902677" cy="784752"/>
            </a:xfrm>
            <a:prstGeom prst="curved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5B74FB3-79AD-3CD0-E56C-952B8885351E}"/>
                </a:ext>
              </a:extLst>
            </p:cNvPr>
            <p:cNvCxnSpPr>
              <a:cxnSpLocks/>
              <a:stCxn id="4" idx="3"/>
              <a:endCxn id="3" idx="1"/>
            </p:cNvCxnSpPr>
            <p:nvPr/>
          </p:nvCxnSpPr>
          <p:spPr>
            <a:xfrm flipV="1">
              <a:off x="1812716" y="2222336"/>
              <a:ext cx="2198212" cy="5706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5D2EF73-B633-E7A5-26F7-3BDEB8D6B0E4}"/>
                </a:ext>
              </a:extLst>
            </p:cNvPr>
            <p:cNvCxnSpPr>
              <a:cxnSpLocks/>
              <a:stCxn id="5" idx="3"/>
              <a:endCxn id="39" idx="1"/>
            </p:cNvCxnSpPr>
            <p:nvPr/>
          </p:nvCxnSpPr>
          <p:spPr>
            <a:xfrm>
              <a:off x="1812716" y="4802981"/>
              <a:ext cx="2198212" cy="3926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F8C32FA-D8EE-772E-46AD-9DC8ED87BD77}"/>
                </a:ext>
              </a:extLst>
            </p:cNvPr>
            <p:cNvCxnSpPr>
              <a:cxnSpLocks/>
              <a:stCxn id="5" idx="3"/>
              <a:endCxn id="3" idx="1"/>
            </p:cNvCxnSpPr>
            <p:nvPr/>
          </p:nvCxnSpPr>
          <p:spPr>
            <a:xfrm flipV="1">
              <a:off x="1812716" y="2222336"/>
              <a:ext cx="2198212" cy="25806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7AFE121-BEEB-86CD-54D1-1A559F625B16}"/>
                </a:ext>
              </a:extLst>
            </p:cNvPr>
            <p:cNvCxnSpPr>
              <a:cxnSpLocks/>
              <a:stCxn id="4" idx="3"/>
              <a:endCxn id="39" idx="1"/>
            </p:cNvCxnSpPr>
            <p:nvPr/>
          </p:nvCxnSpPr>
          <p:spPr>
            <a:xfrm>
              <a:off x="1812716" y="2793023"/>
              <a:ext cx="2198212" cy="24026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E06F757-A5D1-3038-D8E4-58BB081C6045}"/>
                </a:ext>
              </a:extLst>
            </p:cNvPr>
            <p:cNvCxnSpPr>
              <a:cxnSpLocks/>
              <a:stCxn id="39" idx="3"/>
              <a:endCxn id="16" idx="1"/>
            </p:cNvCxnSpPr>
            <p:nvPr/>
          </p:nvCxnSpPr>
          <p:spPr>
            <a:xfrm flipV="1">
              <a:off x="5253575" y="4495670"/>
              <a:ext cx="1486579" cy="6999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CD644B6-CF69-A934-E50B-FDE7D769AF5E}"/>
                </a:ext>
              </a:extLst>
            </p:cNvPr>
            <p:cNvCxnSpPr>
              <a:cxnSpLocks/>
              <a:stCxn id="39" idx="3"/>
              <a:endCxn id="29" idx="1"/>
            </p:cNvCxnSpPr>
            <p:nvPr/>
          </p:nvCxnSpPr>
          <p:spPr>
            <a:xfrm flipV="1">
              <a:off x="5253575" y="3008544"/>
              <a:ext cx="1486579" cy="21870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061B188A-9FFB-8DD2-BEF8-A6D956F22208}"/>
                </a:ext>
              </a:extLst>
            </p:cNvPr>
            <p:cNvCxnSpPr>
              <a:cxnSpLocks/>
              <a:stCxn id="3" idx="3"/>
              <a:endCxn id="16" idx="1"/>
            </p:cNvCxnSpPr>
            <p:nvPr/>
          </p:nvCxnSpPr>
          <p:spPr>
            <a:xfrm>
              <a:off x="5253575" y="2222336"/>
              <a:ext cx="1486579" cy="227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D360781-E859-D552-43F4-6B202258E825}"/>
                </a:ext>
              </a:extLst>
            </p:cNvPr>
            <p:cNvCxnSpPr>
              <a:cxnSpLocks/>
              <a:stCxn id="6" idx="3"/>
              <a:endCxn id="29" idx="1"/>
            </p:cNvCxnSpPr>
            <p:nvPr/>
          </p:nvCxnSpPr>
          <p:spPr>
            <a:xfrm flipV="1">
              <a:off x="5253575" y="3008544"/>
              <a:ext cx="1486579" cy="7009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C07E841-8362-0A0A-442B-28CA0C27D19B}"/>
                </a:ext>
              </a:extLst>
            </p:cNvPr>
            <p:cNvCxnSpPr>
              <a:cxnSpLocks/>
              <a:stCxn id="29" idx="3"/>
              <a:endCxn id="7" idx="1"/>
            </p:cNvCxnSpPr>
            <p:nvPr/>
          </p:nvCxnSpPr>
          <p:spPr>
            <a:xfrm>
              <a:off x="7982801" y="3008544"/>
              <a:ext cx="1865128" cy="7213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967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2AD5-01F7-77C8-121C-C62E34A1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NN can be fit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8D9B-FAFC-793C-C7ED-417A8DE2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0231" cy="4351338"/>
          </a:xfrm>
        </p:spPr>
        <p:txBody>
          <a:bodyPr/>
          <a:lstStyle/>
          <a:p>
            <a:r>
              <a:rPr lang="en-GB" dirty="0"/>
              <a:t>Surprisingly easy to fit neural networks in 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502B8-A29A-FF38-D68B-A6263943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837"/>
          <a:stretch>
            <a:fillRect/>
          </a:stretch>
        </p:blipFill>
        <p:spPr>
          <a:xfrm>
            <a:off x="1676795" y="3729878"/>
            <a:ext cx="8838410" cy="1828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69A84F-49B8-5343-1657-9286D6812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2008"/>
            <a:ext cx="5502421" cy="232723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F81BE8B-4BDE-8760-38DE-F525A82ABD4F}"/>
              </a:ext>
            </a:extLst>
          </p:cNvPr>
          <p:cNvGrpSpPr/>
          <p:nvPr/>
        </p:nvGrpSpPr>
        <p:grpSpPr>
          <a:xfrm>
            <a:off x="6002216" y="926123"/>
            <a:ext cx="3634153" cy="3484567"/>
            <a:chOff x="6002216" y="926123"/>
            <a:chExt cx="3634153" cy="348456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73CEAD-6932-0684-939B-8663C96D5927}"/>
                </a:ext>
              </a:extLst>
            </p:cNvPr>
            <p:cNvSpPr/>
            <p:nvPr/>
          </p:nvSpPr>
          <p:spPr>
            <a:xfrm>
              <a:off x="6002216" y="926123"/>
              <a:ext cx="914400" cy="196338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597672-FB5B-415F-AD49-411F1872320F}"/>
                </a:ext>
              </a:extLst>
            </p:cNvPr>
            <p:cNvSpPr/>
            <p:nvPr/>
          </p:nvSpPr>
          <p:spPr>
            <a:xfrm>
              <a:off x="6747026" y="4009292"/>
              <a:ext cx="2889343" cy="40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98FB6879-9CB4-7140-6ACF-1F1EC219F0F5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16200000" flipH="1">
              <a:off x="5931253" y="3394218"/>
              <a:ext cx="1320488" cy="311058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1EE0EFB-9E9B-2AB7-EA29-65577D7B9ADB}"/>
              </a:ext>
            </a:extLst>
          </p:cNvPr>
          <p:cNvGrpSpPr/>
          <p:nvPr/>
        </p:nvGrpSpPr>
        <p:grpSpPr>
          <a:xfrm>
            <a:off x="2084173" y="662008"/>
            <a:ext cx="6574052" cy="3750622"/>
            <a:chOff x="319850" y="926123"/>
            <a:chExt cx="6574052" cy="37506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92E4C4C-CE09-AFB9-18A9-4AB0D8C839DB}"/>
                </a:ext>
              </a:extLst>
            </p:cNvPr>
            <p:cNvSpPr/>
            <p:nvPr/>
          </p:nvSpPr>
          <p:spPr>
            <a:xfrm>
              <a:off x="6002216" y="926123"/>
              <a:ext cx="891686" cy="24209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305A326-B503-E6E9-3DFB-275A7B520F34}"/>
                </a:ext>
              </a:extLst>
            </p:cNvPr>
            <p:cNvSpPr/>
            <p:nvPr/>
          </p:nvSpPr>
          <p:spPr>
            <a:xfrm>
              <a:off x="319850" y="4275347"/>
              <a:ext cx="4457304" cy="40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9588ADBB-B203-4265-DAEB-D01AAF29FEA6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 rot="5400000">
              <a:off x="4034128" y="1861415"/>
              <a:ext cx="928307" cy="389955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4B0FC7-7649-CA54-3DF2-CF9857C1D4D3}"/>
              </a:ext>
            </a:extLst>
          </p:cNvPr>
          <p:cNvGrpSpPr/>
          <p:nvPr/>
        </p:nvGrpSpPr>
        <p:grpSpPr>
          <a:xfrm>
            <a:off x="2084173" y="1014191"/>
            <a:ext cx="7949879" cy="3737678"/>
            <a:chOff x="-1055977" y="926123"/>
            <a:chExt cx="7949879" cy="373767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BAE2A9-0E65-0370-34E8-82F4A41BA4A3}"/>
                </a:ext>
              </a:extLst>
            </p:cNvPr>
            <p:cNvSpPr/>
            <p:nvPr/>
          </p:nvSpPr>
          <p:spPr>
            <a:xfrm>
              <a:off x="6002216" y="926123"/>
              <a:ext cx="891686" cy="17055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ED6FB8-B090-9D53-8B93-8F5AE59731DD}"/>
                </a:ext>
              </a:extLst>
            </p:cNvPr>
            <p:cNvSpPr/>
            <p:nvPr/>
          </p:nvSpPr>
          <p:spPr>
            <a:xfrm>
              <a:off x="-1055977" y="4315344"/>
              <a:ext cx="4457304" cy="3484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D373B00F-A599-4390-4684-FD0B66154F44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 rot="5400000">
              <a:off x="2968538" y="835823"/>
              <a:ext cx="1683658" cy="527538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121D03-CE11-721F-3EDE-84463B9ACBA3}"/>
              </a:ext>
            </a:extLst>
          </p:cNvPr>
          <p:cNvGrpSpPr/>
          <p:nvPr/>
        </p:nvGrpSpPr>
        <p:grpSpPr>
          <a:xfrm>
            <a:off x="2084173" y="1377363"/>
            <a:ext cx="9533397" cy="3748110"/>
            <a:chOff x="-1208377" y="1136895"/>
            <a:chExt cx="9533397" cy="374811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8169632-D08B-53C2-80BB-C33D57D28272}"/>
                </a:ext>
              </a:extLst>
            </p:cNvPr>
            <p:cNvSpPr/>
            <p:nvPr/>
          </p:nvSpPr>
          <p:spPr>
            <a:xfrm>
              <a:off x="7433334" y="1136895"/>
              <a:ext cx="891686" cy="9907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1900576-A9E9-EA16-F93D-D396821A319E}"/>
                </a:ext>
              </a:extLst>
            </p:cNvPr>
            <p:cNvSpPr/>
            <p:nvPr/>
          </p:nvSpPr>
          <p:spPr>
            <a:xfrm>
              <a:off x="-1208377" y="4536548"/>
              <a:ext cx="2651950" cy="3484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90562F8-ED1B-6520-77A0-5C54788C6D94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 rot="5400000">
              <a:off x="2793912" y="-548718"/>
              <a:ext cx="2408953" cy="77615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CB498-4E2B-6E4F-BFDD-0994AD605724}"/>
              </a:ext>
            </a:extLst>
          </p:cNvPr>
          <p:cNvCxnSpPr/>
          <p:nvPr/>
        </p:nvCxnSpPr>
        <p:spPr>
          <a:xfrm>
            <a:off x="4988459" y="5450186"/>
            <a:ext cx="5160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28AEF0-A524-4DEF-67C5-5AF6EE11240F}"/>
              </a:ext>
            </a:extLst>
          </p:cNvPr>
          <p:cNvSpPr txBox="1"/>
          <p:nvPr/>
        </p:nvSpPr>
        <p:spPr>
          <a:xfrm>
            <a:off x="1198648" y="5808982"/>
            <a:ext cx="10500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GB" sz="2400" dirty="0"/>
              <a:t> is mean squared error. It’s using residual error just like your linear models!</a:t>
            </a:r>
          </a:p>
        </p:txBody>
      </p:sp>
    </p:spTree>
    <p:extLst>
      <p:ext uri="{BB962C8B-B14F-4D97-AF65-F5344CB8AC3E}">
        <p14:creationId xmlns:p14="http://schemas.microsoft.com/office/powerpoint/2010/main" val="297417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88A5-7E5F-7409-2DC6-713C0D0B3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BE1F-B3AD-11AA-0FFA-D80EAC15E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60464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Language models have been around since the 1940’s</a:t>
            </a:r>
          </a:p>
          <a:p>
            <a:pPr lvl="1"/>
            <a:r>
              <a:rPr lang="en-GB" dirty="0"/>
              <a:t>E.g. n-gram models developed by Claude Shannon</a:t>
            </a:r>
          </a:p>
          <a:p>
            <a:pPr lvl="1"/>
            <a:r>
              <a:rPr lang="en-GB" dirty="0"/>
              <a:t>Also include extensions/derivations like Structural Topic Models</a:t>
            </a:r>
          </a:p>
          <a:p>
            <a:pPr lvl="2"/>
            <a:r>
              <a:rPr lang="en-GB" dirty="0"/>
              <a:t>Grace Sommerville is using STMs for their Honour’s project</a:t>
            </a:r>
          </a:p>
          <a:p>
            <a:r>
              <a:rPr lang="en-GB" dirty="0"/>
              <a:t>Neural networks were a big advancement but:</a:t>
            </a:r>
          </a:p>
          <a:p>
            <a:pPr lvl="1"/>
            <a:r>
              <a:rPr lang="en-GB" dirty="0"/>
              <a:t>Slow and inefficient, and bad at retaining information</a:t>
            </a:r>
          </a:p>
          <a:p>
            <a:r>
              <a:rPr lang="en-GB" dirty="0"/>
              <a:t>Transformers are a type of a neural network model</a:t>
            </a:r>
          </a:p>
          <a:p>
            <a:pPr lvl="1"/>
            <a:r>
              <a:rPr lang="en-GB" dirty="0"/>
              <a:t>Crucially, use “attention” to let each token relate to all others in a sequence</a:t>
            </a:r>
          </a:p>
          <a:p>
            <a:pPr lvl="1"/>
            <a:r>
              <a:rPr lang="en-GB" dirty="0"/>
              <a:t>Much faster than previous versions of NN</a:t>
            </a:r>
          </a:p>
          <a:p>
            <a:pPr lvl="1"/>
            <a:r>
              <a:rPr lang="en-GB" dirty="0"/>
              <a:t>Allow context-sensitive meanings, such as distinguishing “river bank” from “money bank”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5ED938-2AE0-99EA-74E2-9984D852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208" y="157618"/>
            <a:ext cx="6268770" cy="139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8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84B63-FB2F-D4B8-108E-40F3B6D1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Here’s how transformers </a:t>
            </a:r>
            <a:r>
              <a:rPr lang="en-GB" i="1" dirty="0"/>
              <a:t>kind of </a:t>
            </a:r>
            <a:r>
              <a:rPr lang="en-GB" dirty="0"/>
              <a:t>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3454836"/>
                <a:ext cx="12192000" cy="332086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𝑇𝑜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This is a type of linear model called an “autoregressive model”</a:t>
                </a:r>
              </a:p>
              <a:p>
                <a:r>
                  <a:rPr lang="en-GB" dirty="0"/>
                  <a:t>GPT3 did this for up to previous 4096 tokens (not just 11 like in above example)</a:t>
                </a:r>
              </a:p>
              <a:p>
                <a:r>
                  <a:rPr lang="en-GB" dirty="0"/>
                  <a:t>Transformers are smarter because they also consider how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𝑇𝑜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 is related to all other tokens</a:t>
                </a:r>
              </a:p>
              <a:p>
                <a:pPr lvl="1"/>
                <a:r>
                  <a:rPr lang="en-GB" dirty="0"/>
                  <a:t>Not just the token we are trying to predict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returned as a probability distribution for the next token</a:t>
                </a:r>
              </a:p>
              <a:p>
                <a:pPr lvl="1"/>
                <a:r>
                  <a:rPr lang="en-GB" dirty="0"/>
                  <a:t>GPT5 predicts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𝑖𝑛𝑠𝑡𝑒𝑎𝑑</m:t>
                    </m:r>
                  </m:oMath>
                </a14:m>
                <a:endParaRPr lang="en-GB" dirty="0"/>
              </a:p>
              <a:p>
                <a:r>
                  <a:rPr lang="en-GB" dirty="0"/>
                  <a:t>GPT stands for “Generative Pre-trained </a:t>
                </a:r>
                <a:r>
                  <a:rPr lang="en-GB" i="1" dirty="0"/>
                  <a:t>Transformer</a:t>
                </a:r>
                <a:r>
                  <a:rPr lang="en-GB" dirty="0"/>
                  <a:t>”</a:t>
                </a:r>
              </a:p>
              <a:p>
                <a:pPr lvl="1"/>
                <a:r>
                  <a:rPr lang="en-GB" dirty="0"/>
                  <a:t>Basically, “a transformer neural network that has already been fitted which can generate text.”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12D66B-0A66-01A6-BBD5-A1E2C5954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3454836"/>
                <a:ext cx="12192000" cy="3320867"/>
              </a:xfrm>
              <a:blipFill>
                <a:blip r:embed="rId2"/>
                <a:stretch>
                  <a:fillRect l="-4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6F7BA-EAD2-5298-D482-ED766DCAF283}"/>
              </a:ext>
            </a:extLst>
          </p:cNvPr>
          <p:cNvGrpSpPr/>
          <p:nvPr/>
        </p:nvGrpSpPr>
        <p:grpSpPr>
          <a:xfrm>
            <a:off x="11020425" y="2183307"/>
            <a:ext cx="1104900" cy="1854201"/>
            <a:chOff x="11087100" y="2349500"/>
            <a:chExt cx="1104900" cy="185420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09594C-496B-30B7-54E5-8DFB675091E0}"/>
                </a:ext>
              </a:extLst>
            </p:cNvPr>
            <p:cNvSpPr txBox="1"/>
            <p:nvPr/>
          </p:nvSpPr>
          <p:spPr>
            <a:xfrm>
              <a:off x="11087100" y="3003372"/>
              <a:ext cx="11049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What comes next?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2D05076-E263-1A7C-54DF-142235041910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639550" y="2349500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F5FF77-2745-0F8B-FC82-0FD09F42B751}"/>
              </a:ext>
            </a:extLst>
          </p:cNvPr>
          <p:cNvGrpSpPr/>
          <p:nvPr/>
        </p:nvGrpSpPr>
        <p:grpSpPr>
          <a:xfrm>
            <a:off x="9948864" y="2214770"/>
            <a:ext cx="1104900" cy="1115537"/>
            <a:chOff x="9363075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/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73DB4DD-4C3D-84EE-06EB-EC0E0DB28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075" y="2772539"/>
                  <a:ext cx="1104900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FAA121-40AE-506A-750F-CD332FF14CA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9915525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28A881-4FEF-C6A8-86E3-8963CC5CB3EE}"/>
              </a:ext>
            </a:extLst>
          </p:cNvPr>
          <p:cNvGrpSpPr/>
          <p:nvPr/>
        </p:nvGrpSpPr>
        <p:grpSpPr>
          <a:xfrm>
            <a:off x="9006312" y="2214770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E80FED3-51C1-AF15-1503-87E28297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AB18650-2427-3FFE-85C6-74C0E020BDE6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59E67E-9C5C-1512-809E-0E9FED5C557F}"/>
              </a:ext>
            </a:extLst>
          </p:cNvPr>
          <p:cNvGrpSpPr/>
          <p:nvPr/>
        </p:nvGrpSpPr>
        <p:grpSpPr>
          <a:xfrm>
            <a:off x="19050" y="2313463"/>
            <a:ext cx="1104900" cy="1115537"/>
            <a:chOff x="19050" y="2313463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/>
                <p:nvPr/>
              </p:nvSpPr>
              <p:spPr>
                <a:xfrm>
                  <a:off x="19050" y="2967335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581422B-D3E9-6694-1080-9B832B0C8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" y="2967335"/>
                  <a:ext cx="110490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10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6453706-4C8B-2275-337F-F55FB80512EA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571500" y="2313463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3A550-58A6-EC7F-E8CE-AD6270EE93FA}"/>
                  </a:ext>
                </a:extLst>
              </p:cNvPr>
              <p:cNvSpPr txBox="1"/>
              <p:nvPr/>
            </p:nvSpPr>
            <p:spPr>
              <a:xfrm>
                <a:off x="1" y="1864753"/>
                <a:ext cx="1219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lynx released today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edinburgh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locals fed whiskers cat food offer </a:t>
                </a:r>
                <a:r>
                  <a:rPr lang="en-GB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buckfast</a:t>
                </a:r>
                <a:r>
                  <a:rPr lang="en-GB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…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F3A550-58A6-EC7F-E8CE-AD6270EE9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864753"/>
                <a:ext cx="12192000" cy="400110"/>
              </a:xfrm>
              <a:prstGeom prst="rect">
                <a:avLst/>
              </a:prstGeom>
              <a:blipFill>
                <a:blip r:embed="rId6"/>
                <a:stretch>
                  <a:fillRect l="-500" t="-7576" b="-2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ADCF874-6D43-C787-66F3-1B29FA87D081}"/>
              </a:ext>
            </a:extLst>
          </p:cNvPr>
          <p:cNvGrpSpPr/>
          <p:nvPr/>
        </p:nvGrpSpPr>
        <p:grpSpPr>
          <a:xfrm>
            <a:off x="8150525" y="2214770"/>
            <a:ext cx="1104900" cy="1115537"/>
            <a:chOff x="8191500" y="2118667"/>
            <a:chExt cx="1104900" cy="1115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/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𝑇𝑜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9601283-5260-C20A-09CD-C29C81665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1500" y="2772539"/>
                  <a:ext cx="11049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B117BCD-2384-5299-3F19-B966E1060877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8743950" y="2118667"/>
              <a:ext cx="0" cy="6538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749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8D93-5A0F-D5EA-7008-EC17E25A1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NN use the same tricks you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19086-1371-78FC-0668-14440CEA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9305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NN is just a model with a collection of parameters that have to be estimated</a:t>
            </a:r>
          </a:p>
          <a:p>
            <a:r>
              <a:rPr lang="en-GB" dirty="0"/>
              <a:t>Uses data to estimate parameter values</a:t>
            </a:r>
          </a:p>
          <a:p>
            <a:r>
              <a:rPr lang="en-GB" dirty="0"/>
              <a:t>Specifically, uses residual error to estimate parameters</a:t>
            </a:r>
          </a:p>
          <a:p>
            <a:r>
              <a:rPr lang="en-GB" dirty="0"/>
              <a:t>Uses optimisers to do the estimation</a:t>
            </a:r>
          </a:p>
          <a:p>
            <a:pPr lvl="1"/>
            <a:r>
              <a:rPr lang="en-GB" dirty="0"/>
              <a:t>Generally, one called Gradient Descent (often Adam or variants specifically)</a:t>
            </a:r>
          </a:p>
          <a:p>
            <a:pPr lvl="1"/>
            <a:endParaRPr lang="en-GB" dirty="0"/>
          </a:p>
          <a:p>
            <a:r>
              <a:rPr lang="en-GB" dirty="0"/>
              <a:t>The “learning” in Machine Learning and “intelligence” in AI is what you’ve been doing this entire course</a:t>
            </a:r>
          </a:p>
          <a:p>
            <a:pPr lvl="1"/>
            <a:r>
              <a:rPr lang="en-GB" dirty="0"/>
              <a:t>It’s just estimating parameters from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38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7A74A-92A8-DE14-C6EA-1406B5FB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 lots of tricks you don’t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1499-2528-C1F0-5457-906A10C57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42022" cy="481084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Multi-head attention</a:t>
            </a:r>
          </a:p>
          <a:p>
            <a:pPr lvl="1"/>
            <a:r>
              <a:rPr lang="en-US" dirty="0"/>
              <a:t>Allows the model look at tokens in multiple different ways at once</a:t>
            </a:r>
            <a:endParaRPr lang="en-GB" dirty="0"/>
          </a:p>
          <a:p>
            <a:r>
              <a:rPr lang="en-GB" dirty="0"/>
              <a:t>Feed forward networks</a:t>
            </a:r>
          </a:p>
          <a:p>
            <a:pPr lvl="1"/>
            <a:r>
              <a:rPr lang="en-GB" dirty="0"/>
              <a:t>Allows each parameter to be re-estimated before passing on to next stage of model</a:t>
            </a:r>
          </a:p>
          <a:p>
            <a:r>
              <a:rPr lang="en-GB" dirty="0"/>
              <a:t>Parameter scale</a:t>
            </a:r>
          </a:p>
          <a:p>
            <a:pPr lvl="1"/>
            <a:r>
              <a:rPr lang="en-GB" dirty="0"/>
              <a:t>Current versions use billions of parameters (hence computational requirements)</a:t>
            </a:r>
          </a:p>
          <a:p>
            <a:r>
              <a:rPr lang="en-GB" dirty="0"/>
              <a:t>Multiple data sources</a:t>
            </a:r>
          </a:p>
          <a:p>
            <a:pPr lvl="1"/>
            <a:r>
              <a:rPr lang="en-GB" dirty="0"/>
              <a:t>Early models used text just from data, but new models now use data collected from users and from experts</a:t>
            </a:r>
          </a:p>
          <a:p>
            <a:pPr lvl="1"/>
            <a:r>
              <a:rPr lang="en-GB" dirty="0"/>
              <a:t>And combine these within the model</a:t>
            </a:r>
          </a:p>
        </p:txBody>
      </p:sp>
    </p:spTree>
    <p:extLst>
      <p:ext uri="{BB962C8B-B14F-4D97-AF65-F5344CB8AC3E}">
        <p14:creationId xmlns:p14="http://schemas.microsoft.com/office/powerpoint/2010/main" val="167082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EBB5-CA15-3314-3F9A-46ACAD92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326E7-4DBB-F1D7-522D-F552DFCF3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5049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Convert words to tokens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Estimate embedding value to capture “similarity”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Use embeddings as explanatory and response variables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DB2971-0961-7AA2-CDA7-93304C864AAF}"/>
              </a:ext>
            </a:extLst>
          </p:cNvPr>
          <p:cNvGrpSpPr/>
          <p:nvPr/>
        </p:nvGrpSpPr>
        <p:grpSpPr>
          <a:xfrm>
            <a:off x="204879" y="4497013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0ADFB95-2283-C991-4EE0-14A2D2071A70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5256F595-5358-29F5-401B-F5D75CF7AB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7835F556-EC1F-F829-65FB-E77E32A32D9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857C5FF-1D92-97F8-64D8-D882C13C7F53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19226FF-7964-309F-7781-5D817D6042D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09D797D-E521-B4F4-871F-D909BAC363A5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D34E303-56E9-C3F1-F404-CCAF79D77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7207E48-2A03-0815-10BD-EEC1F1DA24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AC610C2-D6E5-37A6-7ECD-0C2FB96233D5}"/>
                  </a:ext>
                </a:extLst>
              </p:cNvPr>
              <p:cNvCxnSpPr>
                <a:stCxn id="5" idx="3"/>
                <a:endCxn id="7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755D4B4-81E9-DF86-FE00-CD1A23AE432F}"/>
                  </a:ext>
                </a:extLst>
              </p:cNvPr>
              <p:cNvCxnSpPr>
                <a:stCxn id="6" idx="3"/>
                <a:endCxn id="7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AD2C559-AD8A-7AD7-5323-7E321B2DBA93}"/>
                  </a:ext>
                </a:extLst>
              </p:cNvPr>
              <p:cNvCxnSpPr>
                <a:cxnSpLocks/>
                <a:stCxn id="15" idx="3"/>
                <a:endCxn id="8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: Curved 13">
                <a:extLst>
                  <a:ext uri="{FF2B5EF4-FFF2-40B4-BE49-F238E27FC236}">
                    <a16:creationId xmlns:a16="http://schemas.microsoft.com/office/drawing/2014/main" id="{6A3927BB-5146-7350-8915-D2A9B3FAC38F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A54B22-221D-682D-897A-DCAECE65EBB4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5BC2FB9F-D1AE-F8EA-8941-7E37723ADB20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EA87D67-D50B-7FCB-6AA5-DA62911CD4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F62565B-DFFA-4F11-799B-74950407B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1CB11794-5E49-BEA4-77EE-0E164CD2C97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5560CE5-198B-FF81-7605-5C99A1BC3F3A}"/>
                  </a:ext>
                </a:extLst>
              </p:cNvPr>
              <p:cNvCxnSpPr>
                <a:cxnSpLocks/>
                <a:stCxn id="7" idx="3"/>
                <a:endCxn id="15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F2E3346-7EED-450B-8381-EAD84B4D060D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8ACF5D5-B7CF-0DA5-13C3-2448C3020272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98E8456-9FDD-5C0F-08AB-45DD08266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9C753FA-8C1B-BB40-7C9D-6052437A5F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Connector: Curved 22">
                <a:extLst>
                  <a:ext uri="{FF2B5EF4-FFF2-40B4-BE49-F238E27FC236}">
                    <a16:creationId xmlns:a16="http://schemas.microsoft.com/office/drawing/2014/main" id="{36ECAE39-CD72-8676-7F77-CE77E0FF1675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2275723-A7C7-A6C5-3EC7-E7B5CF867934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0013FDC-B446-F6F4-24BC-D4B73CDDA649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40522C9-A657-6C49-3283-C4537404F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7D87E09-A4AB-C3C4-C98D-918D68006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Connector: Curved 26">
                <a:extLst>
                  <a:ext uri="{FF2B5EF4-FFF2-40B4-BE49-F238E27FC236}">
                    <a16:creationId xmlns:a16="http://schemas.microsoft.com/office/drawing/2014/main" id="{9FF9EB35-5359-2E67-91EB-8A30C9BAB0C5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7BFC30A-3BDB-C1D4-26AD-9CF9DDC9A6DD}"/>
                  </a:ext>
                </a:extLst>
              </p:cNvPr>
              <p:cNvCxnSpPr>
                <a:cxnSpLocks/>
                <a:stCxn id="20" idx="3"/>
                <a:endCxn id="24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5F9AA96-8A6A-3EEA-19A2-FF15FFBC813E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53B0D6-4319-48FE-BE5A-AC6337A66298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D22731E6-B440-31CE-F3BB-4B42717B4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7D7112DE-BC0D-1D1D-B63B-F10BAEDCB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B0139C21-C5E7-3191-39BC-07FFC931EF47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C4CD840-303F-3D15-1ED4-96DF9C919F94}"/>
                  </a:ext>
                </a:extLst>
              </p:cNvPr>
              <p:cNvCxnSpPr>
                <a:cxnSpLocks/>
                <a:stCxn id="5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50FF9D2D-5046-B90D-FF2A-07100A2C49D7}"/>
                  </a:ext>
                </a:extLst>
              </p:cNvPr>
              <p:cNvCxnSpPr>
                <a:cxnSpLocks/>
                <a:stCxn id="6" idx="3"/>
                <a:endCxn id="29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A5EF555-027C-3C93-61D7-A7358E640927}"/>
                  </a:ext>
                </a:extLst>
              </p:cNvPr>
              <p:cNvCxnSpPr>
                <a:cxnSpLocks/>
                <a:stCxn id="6" idx="3"/>
                <a:endCxn id="20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15D2C69-FC8A-7E3E-732D-57AB26CF1063}"/>
                  </a:ext>
                </a:extLst>
              </p:cNvPr>
              <p:cNvCxnSpPr>
                <a:cxnSpLocks/>
                <a:stCxn id="5" idx="3"/>
                <a:endCxn id="29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28DE5F4-345A-4510-EBFC-07D2D49D24E1}"/>
                  </a:ext>
                </a:extLst>
              </p:cNvPr>
              <p:cNvCxnSpPr>
                <a:cxnSpLocks/>
                <a:stCxn id="29" idx="3"/>
                <a:endCxn id="15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00B83D2-5FD4-12FB-928F-C7A854336B51}"/>
                  </a:ext>
                </a:extLst>
              </p:cNvPr>
              <p:cNvCxnSpPr>
                <a:cxnSpLocks/>
                <a:stCxn id="29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0E06F3F-BD45-45A0-27A5-F3A772A9ECE0}"/>
                  </a:ext>
                </a:extLst>
              </p:cNvPr>
              <p:cNvCxnSpPr>
                <a:cxnSpLocks/>
                <a:stCxn id="20" idx="3"/>
                <a:endCxn id="15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98D64A9-14BE-2D22-42F2-382F9FEADB02}"/>
                  </a:ext>
                </a:extLst>
              </p:cNvPr>
              <p:cNvCxnSpPr>
                <a:cxnSpLocks/>
                <a:stCxn id="7" idx="3"/>
                <a:endCxn id="24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05C0C93-403D-7463-A19C-315618A94C29}"/>
                  </a:ext>
                </a:extLst>
              </p:cNvPr>
              <p:cNvCxnSpPr>
                <a:cxnSpLocks/>
                <a:stCxn id="24" idx="3"/>
                <a:endCxn id="8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2" name="Picture 51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12AB24BB-23DC-CF23-2802-588877648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31E46D9-C681-80AD-D842-99EA6B5C93BF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479DE86-BE8E-0948-FED9-7A28577B9A4D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955D95A-BEA4-784D-CD01-3B61DA61AB98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653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3F14-5908-9E94-5687-FDC391D1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F96B-6E5D-4972-76A0-717D1293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 are predictions</a:t>
            </a:r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9903A2FC-C426-CCBE-83B3-85FE5370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1243"/>
            <a:ext cx="10515600" cy="2495720"/>
          </a:xfrm>
        </p:spPr>
        <p:txBody>
          <a:bodyPr/>
          <a:lstStyle/>
          <a:p>
            <a:r>
              <a:rPr lang="en-GB" dirty="0"/>
              <a:t>Your prompt is essentially: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(prompt = “How do you calculate the mean in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Rstudio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??”)</a:t>
            </a:r>
          </a:p>
        </p:txBody>
      </p:sp>
    </p:spTree>
    <p:extLst>
      <p:ext uri="{BB962C8B-B14F-4D97-AF65-F5344CB8AC3E}">
        <p14:creationId xmlns:p14="http://schemas.microsoft.com/office/powerpoint/2010/main" val="343786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5296-5CC4-6989-ADAA-B6E6C0FA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LLMs hallucinate?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2E67E-46F9-A8CB-A9EB-9722BCFFA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66241"/>
                <a:ext cx="10515600" cy="241072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Remember, there’s no intelligence</a:t>
                </a:r>
              </a:p>
              <a:p>
                <a:r>
                  <a:rPr lang="en-GB" dirty="0"/>
                  <a:t>LLMs predict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There is no way for it to know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is sensible or not. It only knows that that sequence of tokens it has predicted is the most likely one</a:t>
                </a:r>
              </a:p>
              <a:p>
                <a:r>
                  <a:rPr lang="en-GB" dirty="0"/>
                  <a:t>Without additional scaffolding, LLMs will always hallucinate</a:t>
                </a:r>
              </a:p>
              <a:p>
                <a:r>
                  <a:rPr lang="en-GB" dirty="0"/>
                  <a:t>If prediction is consequential, I always double check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22E67E-46F9-A8CB-A9EB-9722BCFFA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66241"/>
                <a:ext cx="10515600" cy="2410721"/>
              </a:xfrm>
              <a:blipFill>
                <a:blip r:embed="rId2"/>
                <a:stretch>
                  <a:fillRect l="-928" t="-6329" b="-12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CBC0604-2E09-AA8F-6517-CA52FC8F1D10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195BC7-00AE-A1FE-01A5-0C2941F8266B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5FC752C-7612-24C9-8D9C-FBB7CA1CDD41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5FC752C-7612-24C9-8D9C-FBB7CA1CDD4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D93678E9-C334-BAFF-6AD8-2A8C691B17D0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D93678E9-C334-BAFF-6AD8-2A8C691B17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0D6194A-434A-5255-5221-55DA74CA3621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1F51B5C-72B1-1D14-8434-A3A29AF5FE32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1F51B5C-72B1-1D14-8434-A3A29AF5FE3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17A3FB1-C97C-95E7-A342-CC33F9746561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02F25321-2A41-A2CE-3789-2D198E503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1BF9CBB-05DE-045B-2F87-08AFAFA64A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31ED76A-8858-C224-851F-8FBCD15FED2D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09AC9ABE-1079-6669-95C1-EE19A9E8CA31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707B7F1-0BA3-5AB8-BFDB-8B127596D205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9D91D1BB-F46C-C378-201C-1D45314C8F16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41B62F-6935-C9F7-2BE9-EFA450EA235E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1BE8F16-C7E2-A5CF-A20D-361C743FE2FC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63C2DEA7-07C7-8C20-DCD2-BE6AF4B84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DB524FCC-64D5-CAC3-A5E0-C5DDED4DE9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D7803156-8A55-574D-371C-DB0597D7832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6E02464-56C7-5DBE-360A-9131A3593AF4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F551BE-4619-1EF8-7AD9-1E86623F7D4C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639380C-E2D7-6C8E-8B7B-0E795267B6FD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335D344-D6C6-EC98-683F-621A846DA4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F7087930-7ACE-A910-93B1-D98CBD112A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E1343933-92E2-219D-E3EB-F6B346D2E495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4DEFCBA-04A9-9159-EA2F-FC898E122915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B0DD9D7B-0136-4943-F7F5-A4C56F93071E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6BB1485-A4E9-EBCB-E3B6-2EC216B377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CF097E9-0B02-A80F-95E3-D1CB26A772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52AD5949-6C25-2D12-77B9-CC69E50887B9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0BE0A5E9-17DB-AD2B-5A76-EABB8CA69FC6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CEF66C1-999D-DD12-1B00-45B8DFCC38C3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23F415FC-9143-BC09-3FCA-81AA4AE1100B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2B53658C-158B-1131-D5AA-46ACF79FE8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C302C4C-E58F-F9D7-FCFA-FFA195C38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89174136-B8D6-287B-F1BF-EF6E5D2A2596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C38E5DF-8874-7192-83B9-9BC376BA88C0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1524DB29-0F38-CB65-7E66-47F10B864377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5AF81149-90EE-5DE7-B5C8-05AFD97C05ED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D3CD83B-796B-68DD-3E2F-1355BC2ABC29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AAFDC3B-CD0D-9645-CE27-0519EA495890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E3CF45B-ED3D-FA3F-809E-58EFAF77D51D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8603909-CE29-D143-3804-E3D09C1A95F5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5277673D-6590-1412-A912-6141140EAD53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04C70BC-EA87-C702-4F8E-25680C615CF5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785258B4-3B7F-5602-F54D-A38E1E70A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7C99443-D34A-EE69-48F0-B9CCBB8B4ABE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74AFB9-1183-2A5E-6A20-CD99AD470877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AD1C930-1CE0-DD33-39A5-6F49072D5EF5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180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6C10-F830-2B4B-2BA3-3AAE86E89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9B204-32BA-99B1-EF7D-1569A9F98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Examples of where they fail</a:t>
            </a:r>
          </a:p>
        </p:txBody>
      </p:sp>
    </p:spTree>
    <p:extLst>
      <p:ext uri="{BB962C8B-B14F-4D97-AF65-F5344CB8AC3E}">
        <p14:creationId xmlns:p14="http://schemas.microsoft.com/office/powerpoint/2010/main" val="1007723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85677-1294-4B78-CAD9-32FAE8AC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30F1-0264-C5FB-00E0-DB5FF134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LLMs bad at maths?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0043A-AAC1-2B5E-A222-23B9C6649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0754"/>
            <a:ext cx="10515600" cy="3018808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These are language models</a:t>
            </a:r>
          </a:p>
          <a:p>
            <a:r>
              <a:rPr lang="en-GB" dirty="0"/>
              <a:t>Expecting it to do maths is a failure of the user and the result of marketing</a:t>
            </a:r>
          </a:p>
          <a:p>
            <a:r>
              <a:rPr lang="en-GB" dirty="0"/>
              <a:t>Some chatbots will now recognise maths questions, do the calculations in python and return the output</a:t>
            </a:r>
          </a:p>
          <a:p>
            <a:pPr lvl="1"/>
            <a:r>
              <a:rPr lang="en-GB" dirty="0"/>
              <a:t>A crude but workable solution that obscures the limitation</a:t>
            </a:r>
          </a:p>
          <a:p>
            <a:pPr lvl="1"/>
            <a:r>
              <a:rPr lang="en-GB" dirty="0"/>
              <a:t>ChatGPT does not do this by default unless the problem is complex or you request it</a:t>
            </a:r>
          </a:p>
          <a:p>
            <a:r>
              <a:rPr lang="en-GB" dirty="0"/>
              <a:t>LLMs increasingly used as coordinator of other apps</a:t>
            </a:r>
          </a:p>
          <a:p>
            <a:pPr lvl="1"/>
            <a:r>
              <a:rPr lang="en-GB" dirty="0"/>
              <a:t>python</a:t>
            </a:r>
          </a:p>
          <a:p>
            <a:pPr lvl="1"/>
            <a:r>
              <a:rPr lang="en-GB" dirty="0"/>
              <a:t>Microsoft Bing</a:t>
            </a:r>
          </a:p>
          <a:p>
            <a:pPr lvl="1"/>
            <a:r>
              <a:rPr lang="en-GB" dirty="0"/>
              <a:t>Calculators for simple calculations</a:t>
            </a:r>
          </a:p>
          <a:p>
            <a:pPr lvl="1"/>
            <a:r>
              <a:rPr lang="en-GB" dirty="0"/>
              <a:t>Diffusion models for image generation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60297B0-D8BC-D527-BD2E-437788EAB4DF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2E8C85-1D53-6CD4-D5B3-79171FFCF047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0E336F0-5F85-B67C-2BD6-278F9F222D25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0E336F0-5F85-B67C-2BD6-278F9F222D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7314F435-CA7F-27CB-2F64-3640FD26D140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7314F435-CA7F-27CB-2F64-3640FD26D14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1029F8-ACE3-81FE-F8B5-7AFE153C6B33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4F68662C-D086-80FB-9899-D4C66C648961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4F68662C-D086-80FB-9899-D4C66C6489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CA9EF6BC-92BA-D72A-1E65-260077E0D26F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528F3556-036F-4EDB-E738-4511CF702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901D7A8B-CFF1-ED60-C5D9-68D14DAF0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99747C8-7526-2200-046F-9FA4F62A801F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9327173-F4EA-0556-573B-E83E90568959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E00D288-63E4-AAF3-3A7B-F795D5312CFE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5AFF82E9-F8DD-170B-A552-21929DB9CB8D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02D0B7-5772-9034-857E-D6C36E4A0496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608242B-7D13-2497-AF3D-539C3C8D7FCA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6CBDC4D7-436A-F0B6-EA12-AA2BEB57D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B6A4B65-AB08-8871-DDBD-5BB6D38AF5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6A3BFAED-0728-FD68-D1FD-3DFFA04B5499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003C3A0E-27E2-ED5E-4D7A-FFF1EABBB230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AFA0FB5-8156-742E-650C-351E72BD8967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7ADC289-AC6A-CE01-07D3-8EF97337BE4C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68521A8-3DF6-AAFD-FFE9-EEA83FDE82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759C8E6-C918-BF0A-8548-B08D9DE287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1E709745-60B1-2850-B3B2-6EE213C33976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9E3AC1A-5EE6-1C5D-C569-49DD315DB303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29F2C8-B90F-D2AC-47AF-235561FC21CA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30BFBCA3-2273-E89F-829D-7CFC4B7DDD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B228CE8-DED1-2F7C-8278-5F77E89A7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CDA78910-1865-88A6-2D09-25EF7D5C1208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0983BA6-D037-CE3B-8D17-902420B72ACE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71B2F0C-B266-4D78-2DDC-562C62DF09F9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833237D-090C-AEBA-F958-2D03D59375F4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62581B7-C3CD-4FCB-BDA2-7907B1C19A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D789AF46-68EF-0A64-610A-72EDA4204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97793212-999D-DDDC-63B4-80FE88C74E2C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1FD2AD6-3B5D-6918-7475-384D1DDF90FB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C1B488A3-A241-2B83-E548-57B732C91599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966A15B7-E395-FD9A-5B83-DA2EDA38EF77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AABE81F-38E2-0540-B466-42A4B3957B24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37402AB-C97E-36D0-2ACB-A5C505EF071A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F6A128D-3647-A50E-754A-62E039E463EB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306E018C-0588-4D03-7ECF-219DAD6CA490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B67C3D1-F6E3-D112-EF35-231B3BC17087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C318D83-1B2F-97BC-ADC1-ACA2967B79F7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E60233F6-C259-7CF5-BD32-ED1DEAB7B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9835763-E0C5-3860-16EF-35B8D072B882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84EC94-2343-5289-2CFD-A535CB582B34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D4281B5-BDC7-C384-52DE-8015DBAD3E79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FD6B920-DDD5-3292-6058-1F332F6F55D3}"/>
              </a:ext>
            </a:extLst>
          </p:cNvPr>
          <p:cNvGrpSpPr/>
          <p:nvPr/>
        </p:nvGrpSpPr>
        <p:grpSpPr>
          <a:xfrm>
            <a:off x="10104471" y="100086"/>
            <a:ext cx="1443255" cy="2002184"/>
            <a:chOff x="10104471" y="100086"/>
            <a:chExt cx="1443255" cy="2002184"/>
          </a:xfrm>
        </p:grpSpPr>
        <p:pic>
          <p:nvPicPr>
            <p:cNvPr id="54" name="Graphic 53" descr="Cloud Computing with solid fill">
              <a:extLst>
                <a:ext uri="{FF2B5EF4-FFF2-40B4-BE49-F238E27FC236}">
                  <a16:creationId xmlns:a16="http://schemas.microsoft.com/office/drawing/2014/main" id="{4BA06DA3-8EAA-17C3-78E0-957CEEFBF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4471" y="100086"/>
              <a:ext cx="1376309" cy="1376309"/>
            </a:xfrm>
            <a:prstGeom prst="rect">
              <a:avLst/>
            </a:prstGeom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A30D126-DD7F-F483-0D2D-F669BBF100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81620" y="1424718"/>
              <a:ext cx="385193" cy="67755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09E4634-8B26-D643-A289-2F02455BA5CC}"/>
                </a:ext>
              </a:extLst>
            </p:cNvPr>
            <p:cNvCxnSpPr>
              <a:cxnSpLocks/>
            </p:cNvCxnSpPr>
            <p:nvPr/>
          </p:nvCxnSpPr>
          <p:spPr>
            <a:xfrm>
              <a:off x="11168117" y="1303699"/>
              <a:ext cx="379609" cy="76238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0582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E188-C224-B6EA-E85A-5AD53BA1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LLMs for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1C208-55E2-41C6-CF25-7350226F9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5"/>
            <a:ext cx="10515600" cy="3068448"/>
          </a:xfrm>
        </p:spPr>
        <p:txBody>
          <a:bodyPr>
            <a:normAutofit fontScale="92500"/>
          </a:bodyPr>
          <a:lstStyle/>
          <a:p>
            <a:r>
              <a:rPr lang="en-GB" dirty="0"/>
              <a:t>LLMs are great at predicting repetitive, consistent and logical language</a:t>
            </a:r>
          </a:p>
          <a:p>
            <a:pPr lvl="1"/>
            <a:r>
              <a:rPr lang="en-GB" dirty="0"/>
              <a:t>I.e. programming languages</a:t>
            </a:r>
          </a:p>
          <a:p>
            <a:r>
              <a:rPr lang="en-GB" dirty="0"/>
              <a:t>LLMs great for mundane and fiddly coding tasks</a:t>
            </a:r>
          </a:p>
          <a:p>
            <a:r>
              <a:rPr lang="en-GB" dirty="0"/>
              <a:t>Used to be unreliable for more complex code but increasingly better </a:t>
            </a:r>
          </a:p>
          <a:p>
            <a:pPr lvl="1"/>
            <a:r>
              <a:rPr lang="en-GB" dirty="0"/>
              <a:t>Not 100% though – lots of back and forth</a:t>
            </a:r>
          </a:p>
          <a:p>
            <a:r>
              <a:rPr lang="en-GB" dirty="0"/>
              <a:t>Fundamentally, you need to know how the code </a:t>
            </a:r>
            <a:r>
              <a:rPr lang="en-GB" i="1" dirty="0"/>
              <a:t>should </a:t>
            </a:r>
            <a:r>
              <a:rPr lang="en-GB" dirty="0"/>
              <a:t>work</a:t>
            </a:r>
          </a:p>
          <a:p>
            <a:pPr lvl="1"/>
            <a:r>
              <a:rPr lang="en-GB" dirty="0"/>
              <a:t>Theory and ideas now far more important than implementation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BA6F26-1C88-076D-50A9-AAAEC61D32A6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BFA1669-46D6-B951-5058-B3E6AB20B3A3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EA5A605-5677-6CF1-14A9-D7ED26FC2F6C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EA5A605-5677-6CF1-14A9-D7ED26FC2F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71D8300C-F91F-0042-56C0-19AD6A95803B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71D8300C-F91F-0042-56C0-19AD6A95803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E17076E-461C-15A3-DC9B-F6DCB86D2921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8A74CB1A-6C6D-7CB1-86C3-1E8991900093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8A74CB1A-6C6D-7CB1-86C3-1E899190009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D79D543-CD63-B9EC-A76B-40EA2628FD21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B5C239A-2848-F8C6-710F-BFB3FEC88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6CA4942-0052-4AE0-98C9-6944F12D3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9BFA8FF-0A4D-FEE3-6274-AACCE338BE5B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640E9AA-FE47-8652-3A3A-208870EAB64D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A69F232-904C-DA3B-5954-61973B32DA62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C350063C-BDAF-2239-2E18-C4C123525D3D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649934-4EF7-21DE-7D54-370D3CDF9CAA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F6DF375-E0EF-DF91-1155-50F065770CE1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DC65D4CF-E170-BF48-A650-EE9D7882B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029BDC5D-0D2F-E15F-5F54-2FE739388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BC931C95-D850-38BD-A9AE-062705D452CA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B415BE3-E98D-1744-A8C9-17079E57CF76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2F3FC9B-E3E6-B951-6B6D-02BB541D6ACF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6A69264-30F9-BE9E-D6AE-70C69047CDDB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64D73A13-3C91-F75C-4A97-8D2FA72A8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81BEC7B3-7925-C53B-FE3B-DFA09D7AA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CBBE319F-7A1D-AB37-6190-405CD20596A6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905CC41-5326-7FD5-D14D-5662A71669A3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4964A8B-192B-CB5C-214A-CB07B689FA4C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CB9804D7-3E5F-3B10-AC36-8C15903DB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522F39AA-6093-4555-5614-3084FDD4D3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6BE92805-2972-F964-F02D-486FE54235F1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8546B19-D45B-C0A1-04C9-32307278EF09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165753D-D48E-667B-00B0-7285B5089512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8E1FF29-F266-A904-90AF-D6064BACFD45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F31AA7A1-095A-17C0-9055-640CAEF382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2CB0D0F-94D6-C08E-4C63-267EF5FBB6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09840FCF-5711-E7E3-94FF-6E630C7DE70B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40E8F33-54EA-DABB-7CB2-D12FDFADC2A5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FB770536-4F4C-0D53-CC30-57BA2FF8FD7A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4304B83B-A730-C9EB-AB3C-DFD39EFF1374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42150BC-9DB7-9643-0102-ED251686D2FC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8CE104A0-D8A8-66AB-CBC1-A64625103A46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7127B10-50A8-736C-FF75-4E2DBAF02678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EB1E4643-7CE3-CB30-7E93-246C424E02F3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160505A-3DC3-6BB4-AD55-8AE385D15F82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DB12604A-22C9-6D1E-F03B-FCA8FE7EB3F0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5E428295-562B-9E0D-91A5-AD653F4DA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621DB12-B188-7EC3-BFFE-586887E2F5BA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2A97C5-C222-8ABD-B832-D42ADF8320EA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BCF78AE-A64B-8A4D-E7A1-9A21505862E7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827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8E99-8A70-4003-7D72-369DE32B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4F3D-367E-2E25-7B7D-96C5887BE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8296"/>
            <a:ext cx="10515600" cy="2914577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less information rich your prompt, the less quality data the model has to predict from</a:t>
            </a:r>
          </a:p>
          <a:p>
            <a:pPr lvl="1"/>
            <a:r>
              <a:rPr lang="en-GB" dirty="0"/>
              <a:t>Predictions become increasingly “average” and extremely generic</a:t>
            </a:r>
          </a:p>
          <a:p>
            <a:r>
              <a:rPr lang="en-GB" dirty="0"/>
              <a:t>Richer context in your prompt usually helps, but it also depends on whether your prompt matches patterns the model has seen</a:t>
            </a:r>
          </a:p>
          <a:p>
            <a:pPr lvl="1"/>
            <a:r>
              <a:rPr lang="en-GB" dirty="0"/>
              <a:t>Aim to guide the model towards the patterns it has likely seen before</a:t>
            </a:r>
          </a:p>
          <a:p>
            <a:r>
              <a:rPr lang="en-GB" dirty="0"/>
              <a:t>So give it lots of context</a:t>
            </a:r>
          </a:p>
          <a:p>
            <a:pPr lvl="1"/>
            <a:r>
              <a:rPr lang="en-GB" dirty="0"/>
              <a:t>“Write an essay about red deer overabundance” will produce an essay </a:t>
            </a:r>
          </a:p>
          <a:p>
            <a:pPr lvl="1"/>
            <a:r>
              <a:rPr lang="en-GB" dirty="0"/>
              <a:t>But it will be extremely and painfully generic</a:t>
            </a: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48A598-D97C-DA58-F89C-E621FB1E73AC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0BBF799-7E9C-A719-571A-1EDBA3274A00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9B746747-454B-E0C3-E912-8A3E435640BB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9B746747-454B-E0C3-E912-8A3E435640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863930D6-E427-27AD-CDE2-6F102A9E738B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863930D6-E427-27AD-CDE2-6F102A9E73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351E7FB-51CC-F83D-16EF-DF4D9A1BFB7B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B9B49CF-47B3-1370-F5EC-5CE13FBBEF3F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B9B49CF-47B3-1370-F5EC-5CE13FBBEF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AB77F4E-750D-9DCA-69D6-B19C68AFD9F7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6044B5B-F703-F195-7CB9-B7109548F2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547B9A1A-E902-E6A0-5398-619D74B5A4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52E3F04-67B1-E11B-9BD9-36BDCE848E60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E7F9C01-AD09-8E31-8FBA-3E639722E916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35430AB-273C-D71C-9A35-FCCBC6242712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E5AE7210-5903-34CE-0333-1ED8382CD0A5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8EA024-94E6-16DF-C2DC-912A5E5787A6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952FDFF-EB21-5F6E-2870-72269235DC6B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5A517199-9875-C7BB-0F7E-4B2B7CA3F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CEB3E3F2-5464-47DF-C2C0-8AA2D735FF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0938123A-62D8-9E22-D82F-E5DE1548645D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877243FA-7A1F-F773-6A6B-2406636B60BB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BF1E51E-A38C-2DFF-66C9-F5843A5D39BB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4C1CBB3-EE26-2ADA-35CF-8E7BCFD3F3F6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9ED7955-C624-2F6C-527E-F52D27202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BEC6526-143A-9977-92E0-13E3B3137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E151340E-E740-AD01-1031-5832201763A4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36F00A-5B82-B54A-863D-32DFCEFCD206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922A78A-FF15-9F71-0929-28D551CD97AD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F46CD9A-CB3A-31DA-C30B-D11FB45678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7E7ADA4-F9F8-D5B9-8F8B-4B06196A7B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F45A0000-2BF0-6F10-004F-377CC72D7459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82C520D-7C49-A216-DD03-375EF35B3C2A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1E66FB2-8A4E-BF2D-D34C-3EF5AEB4810B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C3101E3-01A4-7A2A-15ED-EC20AEFDF679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2475914-D253-AD68-FF0E-E01C0E5C7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90531DF5-65ED-0DD7-927A-5606F21516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281A94FA-7A97-AFB5-5108-297929B9325C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D0D35CF-305D-AD28-EF98-A3D027DE5380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F79545A6-83B9-D97D-89F2-553F7B6AAD4A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B5973FA-383C-1423-8E41-D0657379DCEC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741FB2BB-CD7B-AEE7-DF24-A89436A4F3F1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B7D6EF5-E605-3764-6C06-CAEB3BA50AAE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406316E1-988A-B55E-572C-2DDECB50C207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30CF8DB6-8291-58B2-2A61-9625B4CC0167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C77003A-558F-F4A1-133C-173D651AA635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A3822010-827F-A049-2E74-D1070D800BC8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9118B419-EE30-9E95-D380-96328F90A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C347463-ABAE-2369-DE28-B92690DE1AFD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F51B2AC-B589-8CF3-9568-00C70934DF20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D0E47AD-026E-4F2C-F672-A49FCF9EBE13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563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23F8-36F1-BBBB-19D8-C3A8977E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F6345-1BD9-2CEA-0824-786E6760D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report on habitat conservation for species</a:t>
            </a:r>
          </a:p>
          <a:p>
            <a:pPr lvl="1"/>
            <a:r>
              <a:rPr lang="en-GB" dirty="0"/>
              <a:t>“Birds flittering in the trees”</a:t>
            </a:r>
          </a:p>
        </p:txBody>
      </p:sp>
    </p:spTree>
    <p:extLst>
      <p:ext uri="{BB962C8B-B14F-4D97-AF65-F5344CB8AC3E}">
        <p14:creationId xmlns:p14="http://schemas.microsoft.com/office/powerpoint/2010/main" val="2510577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B82E-A09A-EA25-C048-8D68FD5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BF84-1046-F309-3E25-D78CC739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25B45-EABB-C9BC-6D3C-F092EC852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4"/>
            <a:ext cx="10515600" cy="3050341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Early versions of LLMs performed poorly mostly (or at least in part) because their data was low quality</a:t>
            </a:r>
          </a:p>
          <a:p>
            <a:pPr lvl="1"/>
            <a:r>
              <a:rPr lang="en-GB" dirty="0"/>
              <a:t>Companies just scraped text from the web</a:t>
            </a:r>
          </a:p>
          <a:p>
            <a:pPr lvl="1"/>
            <a:r>
              <a:rPr lang="en-GB" dirty="0"/>
              <a:t>Assumption of validity and assumption of representativeness</a:t>
            </a:r>
          </a:p>
          <a:p>
            <a:r>
              <a:rPr lang="en-GB" dirty="0"/>
              <a:t>Some of the “big” advancements have really been about improving the underlying data quality, not the modelling</a:t>
            </a:r>
          </a:p>
          <a:p>
            <a:pPr lvl="1"/>
            <a:r>
              <a:rPr lang="en-GB" dirty="0"/>
              <a:t>E.g. “Which option do you prefer?” or employing PhDs to write questions and answers for topics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DE1CC6-1070-9FD9-056A-7427264C3DAF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3F8245-DBD2-AE7B-BDD8-03B1C723EDC9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C0D74F4-B347-03CA-8BC8-B9D19AE531F4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C0D74F4-B347-03CA-8BC8-B9D19AE531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2FCF493-9204-3B71-A0EE-17C97AE6D7A2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2FCF493-9204-3B71-A0EE-17C97AE6D7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8F48128-1322-8C90-F72E-FF5F8D5BBAFC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6BA0E54-AD36-42DB-1019-B646375DD7CB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6BA0E54-AD36-42DB-1019-B646375DD7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4A01DC1-AEEC-8E66-A33E-3857030518CE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8FA1D4FD-B643-AE94-6308-57D42EA0B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1B71E1C-4830-AB4B-09AD-1C76990562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18E07B7-039B-9A4F-463D-26BE416E27CE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4A31844-2464-2255-0474-B7392F0CF8B1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B65F37A9-89F8-48E4-576A-5632EA6BE1F8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015A0C96-677D-51C5-FD90-D34A287BBFD0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CD29BFB-4EFE-B3FC-B52F-BEFD1183D843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43F42CEB-E757-A4F0-15CB-A7F8793C1376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7B04CC3-F915-9EDB-F669-1EDFFA26F8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0753822-1002-EF49-EF52-7CE586B2F2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01F1208B-2099-F750-B756-4E644F981997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480BB0C-F55D-8070-EDBD-8F770F6D9C8F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840D676-47C5-CB69-2D06-1AFBD2B5D196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B5281E6-0C11-3F0F-8BC4-12C137200941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2F579FB-4028-C421-4235-47112320B4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425A8ED-58FE-31D8-0A7F-6CFB97196F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F4F9B8A0-E5A2-A500-3488-3B4E0FF0B529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D9EF901-921A-B302-5328-77A2D138AE49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6A7D93D1-A1AA-CE1B-5F76-C03074329EFF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D7244B5A-47AD-7BE5-637B-D7DD777D9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88D65CA3-A1E7-345C-D826-4C1051602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585B8235-4879-0F64-302C-9D14B9E2EEE6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1A0443A-4234-173A-4A6F-B16661C22395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8B413A0-24CA-307C-5875-D2A85B45E4AD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708A3D8-E1DD-167F-07CD-6888390FCD7C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54EF50A-FAA6-2930-1AB5-9FD53A408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2952CE53-1C5A-40EE-EC1E-5868A04759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C1651F2C-8F47-D595-2093-583EDD7BBF0A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BF96702-4AAB-C546-CC18-DF1454AC2D03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B92BC70-DAF6-3F07-29B5-69C0379662D9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7710803-C426-05B8-40D9-CBEB50D315EE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CD5304F0-4AE5-A335-37C7-86629E37F71E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7E8FF3B6-8093-D2DD-515A-34955F4F725A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9E225DE-2EAB-7205-7BA2-00B5F4589308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00932C70-B748-5F59-2FA8-1D26AC064B9B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8CFEFE5-5D09-FFA1-930A-CCD8E250AC94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F8EB550-E17F-3C13-1546-0B24262A65AE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3E204AEB-3C44-A531-065B-52F16209A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44895EA-AF85-905F-36D0-ECDB9215F482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E48D0A-9623-F4D9-1C32-B6EDD9224B8A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5E38E7E-4A67-6C1E-291E-7CB8DD16DF7A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111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A82F-D091-8F78-5353-24C13709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Caution of hype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A62E-4501-226B-DF86-F39714913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2475"/>
            <a:ext cx="10515600" cy="297039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Marketing teams now talk about AGI</a:t>
            </a:r>
          </a:p>
          <a:p>
            <a:pPr lvl="1"/>
            <a:r>
              <a:rPr lang="en-GB" dirty="0"/>
              <a:t>Artificial </a:t>
            </a:r>
            <a:r>
              <a:rPr lang="en-GB" i="1" dirty="0"/>
              <a:t>General </a:t>
            </a:r>
            <a:r>
              <a:rPr lang="en-GB" dirty="0"/>
              <a:t>Intelligence </a:t>
            </a:r>
          </a:p>
          <a:p>
            <a:r>
              <a:rPr lang="en-GB" dirty="0"/>
              <a:t>Given the fundamental structure, I don’t see how this is justified</a:t>
            </a:r>
          </a:p>
          <a:p>
            <a:pPr lvl="1"/>
            <a:r>
              <a:rPr lang="en-GB" dirty="0"/>
              <a:t>But the companies no longer share code, so who knows?</a:t>
            </a:r>
          </a:p>
          <a:p>
            <a:pPr lvl="1"/>
            <a:r>
              <a:rPr lang="en-GB" dirty="0"/>
              <a:t>Some interest in “Type 1” versus “Type 2” thinking but these are refinements not revolutions</a:t>
            </a:r>
          </a:p>
          <a:p>
            <a:r>
              <a:rPr lang="en-GB" dirty="0"/>
              <a:t>Strikes me as the equivalent of string theory in physics</a:t>
            </a:r>
          </a:p>
          <a:p>
            <a:pPr lvl="1"/>
            <a:r>
              <a:rPr lang="en-GB" dirty="0"/>
              <a:t>“We’re so close to cracking it, just give us 10 more years”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E95200-A12A-8C28-759C-D773EF1364CF}"/>
              </a:ext>
            </a:extLst>
          </p:cNvPr>
          <p:cNvGrpSpPr/>
          <p:nvPr/>
        </p:nvGrpSpPr>
        <p:grpSpPr>
          <a:xfrm>
            <a:off x="204879" y="1641751"/>
            <a:ext cx="11782242" cy="1839306"/>
            <a:chOff x="0" y="4515120"/>
            <a:chExt cx="11782242" cy="183930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F3D1F20-54D6-5DED-69F3-1CB46D1FDE98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97F334-227D-B0D2-3F84-4E69744221CC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44C8DCF-348D-068D-7985-DAC37DE9E535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9E6E6F3-5C02-9D85-3AA8-EAF1AFE7DE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521791BE-3FCC-5922-F2E3-05A69B381C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BB0F437-83C1-0BA8-B276-FE4D30D53BC5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439B03B-DBB5-76A7-3FCF-A0DA673696CF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C5842F6-5430-B29F-E372-9C2BA03343B6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5069DB80-124D-2FCB-9203-1A68456A5B70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130E278-A6C5-D65D-9736-701B770D0E41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93C2C1B-5C55-9017-BDA0-C28AD7217DCC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7955FEE-BF41-1EC3-9075-72B52A3BE7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66E08B0F-93DB-77B9-5B66-1E651AB788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1563DAE9-DCF0-7B22-9B5F-66A2F77443F8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E5D7E57C-C6A8-F539-4A0C-A418181AE2F6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DA9BD0D-DA13-D3C5-0BB1-E0FDFF615F33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FE98888-17CA-A93D-317E-0691E4ACBA60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6A7DA5A-8F23-1827-F2D7-2EE6F33506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B761B23-BCC2-BEB0-0B44-B2326FE5D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009198E4-2DEB-F42F-9B32-49E9A6AB3659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217C0C0-5853-2072-EA04-D37154CAFC2A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67A70B8A-DCB5-3DDA-6425-03637DC2AD0B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9C22CB9-6B8F-A7FA-A3A2-9B8B3C3DF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E304EAF-F856-369D-FB68-C1736A8C5B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8FB24CEB-6732-119F-5A9D-DF98C2BDB17D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6EFA9383-AA59-33B4-17DD-55D239391CFC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B15EF85-A0F3-8C6D-3D2E-3216FEC9DC23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A8D99EA-507C-B1FA-DE1A-91533084FB4F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6A2DBAF1-3B2F-7C4C-CC27-8B04FEEA5A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B6BE257-B647-5F3A-89AA-1586DFD71E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41252066-8A71-72AB-46E3-7A9114DC969A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CE197C96-E89A-5383-4A0C-6816DC3C3F3F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1386604C-FD25-CC31-5329-D61A7542415A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7D27068-8875-DA23-08E6-BE0D48322B31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21F78E7-5DC9-2148-3186-F4B2C0FFCE4E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330DE06-49BB-3C4E-5E7D-4457F564BD8E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B6C7EF2-132E-7D72-5C08-32673C434247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6D37DC80-40EE-203B-14B5-C05F795F080D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04A0365-5F22-3B00-3631-3848ED4E2DCF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C8B7BB5-27B0-617C-01F0-145AEB6A528D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12A14D67-F99F-BDCD-94FE-7E1A1FD15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F763606-6C70-3DC9-4324-7754E0A908BE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D79F8A-DC04-09B1-C7D8-833FC4E980E2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A672AF-E433-370E-0719-6AD5A9934948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337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DA881-E454-1CBA-0941-2DD1FE03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470400"/>
            <a:ext cx="12192000" cy="2387600"/>
          </a:xfrm>
        </p:spPr>
        <p:txBody>
          <a:bodyPr/>
          <a:lstStyle/>
          <a:p>
            <a:pPr algn="l"/>
            <a:r>
              <a:rPr lang="en-GB" dirty="0"/>
              <a:t>With a basic understanding…</a:t>
            </a:r>
          </a:p>
        </p:txBody>
      </p:sp>
    </p:spTree>
    <p:extLst>
      <p:ext uri="{BB962C8B-B14F-4D97-AF65-F5344CB8AC3E}">
        <p14:creationId xmlns:p14="http://schemas.microsoft.com/office/powerpoint/2010/main" val="224201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A09C-A0CD-EAA0-738A-993DCD682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61D6-CED1-6D1A-F33E-910D344D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566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sentient”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5A87A2-DE1D-1295-CA7F-F7A117502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658" y="3255156"/>
            <a:ext cx="5904681" cy="33213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7E4CDE7-4B1B-396C-E495-DBC846CF1BA5}"/>
              </a:ext>
            </a:extLst>
          </p:cNvPr>
          <p:cNvGrpSpPr/>
          <p:nvPr/>
        </p:nvGrpSpPr>
        <p:grpSpPr>
          <a:xfrm>
            <a:off x="204878" y="1185769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3FB3A42-9BCB-85C3-B861-3EDD1FCCB329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F233DC82-5A2E-FB2F-E55E-3D2724C39AE6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B174F0E-BDF3-BFF9-8D8B-CA8AD260AF33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E55B4B4-B938-AD57-4E7F-5EE95CEF7842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0132905F-07B4-3EFD-7F1A-D6C5426507E5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65A628F-C6F8-3A4B-A669-84875369B3A8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18E8485-D61B-194D-44BC-C213341B4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BB77086E-0210-9802-FADD-0542AC5C80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DB6BEB7-382B-816A-925B-186B89EAD867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1941F4E-C0ED-F4D7-D1BA-C40530CBCEDA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6F384C2B-DFFC-2BDE-054D-42B5D20BBEDD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16361D36-4479-8038-9DD6-B4C3DC9601CD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380DB2D-F5D0-CC13-7E03-1CE0DD941CA3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366EC9B-4AF7-E370-F2CB-8F7C80C1AD33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FC402805-57DC-2B94-A9AB-4FBCB23EB0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27CC3F4-B183-54D7-2699-A4E552CB0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76AA96BF-EC42-1B99-5A2D-B3BC6049C7A8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DE61EB0-CA93-C3CF-6D46-55DBB403B4AF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3C4F5D0-7FDC-BB46-D0D9-354AC32B53B5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B2B939D-EE69-B7C3-1D45-499F36A7EEB9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F0F345B-D651-7D79-DA08-7EF3362BC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CC20B743-5049-EEA9-186E-DE9410F11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1F79ACD6-CF96-DDE8-E19F-5779CB36F8AC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DD9BA4B-048D-A6FC-6035-3F05E5956610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7A2C243-AB3C-E6A1-3629-2770C7FACD16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565FC7B-40BF-0BB4-2657-75E6E7F797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5DC4C77-D3D3-87D9-4981-FD6C60F0DF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6CA59388-850F-8674-591B-EDF81129740B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4CA9A6C-874B-C87A-BD57-CD384AC15250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9048B1-735D-767E-1E78-F3999024A742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A7BD63E-B199-7CB4-9C66-F8F9986D8DDD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05D1500-9493-180B-5705-0063FB92E7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0B87315D-90C1-FE30-0AF0-FCDF2C4632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EE09A032-1531-70A3-A575-C476AF6763C3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17ED7E7-7C40-4328-F29E-768B85D68F3A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97FC7FA-4383-75D4-1008-73DE77D66664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E914833C-358A-F69D-5CBB-4A72C40BE6D8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4F353EA4-2F10-3BB7-8ED9-6C2E09AFDFF3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AE6BF96-1BAB-1773-CDC4-305EBF7F94CD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A5256E0-A739-2EB6-7F78-23EE6BFE4046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6DD4B2C-18F8-68D5-6FB0-C95FE770325C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C1FDF01A-973A-FB9C-8F4D-900D70132923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97021A72-2DFF-434E-1A50-1368036F550C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4F22EE25-CB10-C310-B1BC-DBD3F5E56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D401961-74F0-7D93-2EDE-66119535C8A9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272F43-11C1-7BE7-0694-44E93943515D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CA7E70E-7E87-AE68-4D38-3EEF83562C39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145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9783-D31D-6FB3-5F3C-E34D3CA1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7D74-119C-48AF-349B-9A3FAAEB5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</a:t>
            </a:r>
            <a:r>
              <a:rPr lang="en-GB" dirty="0" err="1"/>
              <a:t>LoL</a:t>
            </a:r>
            <a:r>
              <a:rPr lang="en-GB" dirty="0"/>
              <a:t> </a:t>
            </a:r>
            <a:r>
              <a:rPr lang="en-GB" dirty="0" err="1"/>
              <a:t>It’S</a:t>
            </a:r>
            <a:r>
              <a:rPr lang="en-GB" dirty="0"/>
              <a:t> So </a:t>
            </a:r>
            <a:r>
              <a:rPr lang="en-GB" dirty="0" err="1"/>
              <a:t>dUMB</a:t>
            </a:r>
            <a:r>
              <a:rPr lang="en-GB" dirty="0"/>
              <a:t>! It </a:t>
            </a:r>
            <a:r>
              <a:rPr lang="en-GB" dirty="0" err="1"/>
              <a:t>CAN’t</a:t>
            </a:r>
            <a:r>
              <a:rPr lang="en-GB" dirty="0"/>
              <a:t> do </a:t>
            </a:r>
            <a:r>
              <a:rPr lang="en-GB" dirty="0" err="1"/>
              <a:t>MAthS</a:t>
            </a:r>
            <a:r>
              <a:rPr lang="en-GB" dirty="0"/>
              <a:t>”</a:t>
            </a:r>
          </a:p>
        </p:txBody>
      </p:sp>
      <p:pic>
        <p:nvPicPr>
          <p:cNvPr id="6" name="Content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4F1065E4-BAE2-2463-80D4-4C6AF6092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32"/>
          <a:stretch>
            <a:fillRect/>
          </a:stretch>
        </p:blipFill>
        <p:spPr>
          <a:xfrm>
            <a:off x="3163384" y="3078669"/>
            <a:ext cx="5595022" cy="366947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1080745-94B9-BBB2-E865-AD5F3C4BBFA5}"/>
              </a:ext>
            </a:extLst>
          </p:cNvPr>
          <p:cNvGrpSpPr/>
          <p:nvPr/>
        </p:nvGrpSpPr>
        <p:grpSpPr>
          <a:xfrm>
            <a:off x="204878" y="1185769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FFCEBF1-779D-A6B6-781D-EB4731E37566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9D2C9BA6-8573-22B7-9335-4E41D936D3D0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F56E8A62-3A16-F37F-9EEF-03B6957CC570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2562E0-B0C8-5074-1378-52EB1378CBC5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5E382CA-3A36-984D-624B-4FE7D89968D4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DA78BC9-528A-51E9-2025-1A093EE0A7CA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A6D2F5A-3CC3-5934-AC25-18E8B74EC8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2819CB6-5042-C250-B26E-804C0BEFE0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3EFA504-8295-D113-F723-0C73202358CF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C7DB1EA-C215-C202-BB61-B246178DB832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FD9EA17-BF8A-BBA2-1EB8-8AFE82A1C85F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E5609C2B-5050-A081-EE0F-C5DA395CA5C1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BC736C-4373-0909-AC63-BCD5DB47FFC7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DFB1C06-548D-79EC-9974-31D0EAF1D29C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D1E4BB4-6DE9-5E84-F131-C4390F1A18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C7797D5D-CCFE-7A02-35CE-7810EEC8AF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22934204-1998-FDA4-C5E7-57BAF0E8FA6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EB6979F-7C82-D84E-9E79-24EAF8A44FAF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F4E9D5-6F3A-D725-FA16-804C108159B1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DEBF1AB-1C68-9AAB-40C6-BE753E73C16C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87152929-CDF7-A433-4039-4E3103879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F3B98AA9-DF3F-0978-CFB1-0B38CDBEB0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CC17F655-BD1B-93F0-387C-CCD8B81E3EB2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E882DB2-2C9A-263E-6050-956B6E587A7D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B6CA73E-7DDB-4843-2152-F27A5A2A7AD4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F2FBF41-ECF2-2164-7D5D-38ADD3895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81708DD-B117-141F-447E-1C98FBEFC6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51B87740-A9BC-AD29-115E-E9B9EE210B8A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52E577BA-DA0B-1B09-BE43-DF4AC2494AB9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F9A0A8D-60BF-F777-F4F2-C7AB1AE5A89E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8A478C77-E13B-D3FC-86B8-72640746ECEF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09E449B-56DF-2BBA-8211-33CC16E8FB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2EDB1AE-5143-9A8F-7EC5-C5093994A5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4F48C130-5FFD-3D53-C5A3-9187DB461B2F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622B9B8-AF20-B388-4601-D400C1B7DA83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9AAB198-C4F9-0044-CC65-B0D7CA37E9CC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E2F1129-C667-7E03-0C9C-784A957A04DA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DC7986B-D932-6D09-F5DE-279445443853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348E653-1CDD-E9B6-61D1-D382BE4B4F1B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78381D93-B918-630A-5740-A17B2FF1AAC2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0CB7D1E-F2BB-EB11-2AF9-55CB4433D659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CFC544D6-447D-112D-FAFA-D41F1958AD90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9D8BCBD7-FC53-D943-FE9F-97A3FF109E4C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DC6BD2C2-CE2D-11F0-DFEC-8BBDADB1C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9030EA7-8885-41C2-CB36-9FB72023CA16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1BD3C5-50FA-FBB5-1710-1DA98F36EBFA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40D8C5B-19F6-A6B5-6B15-99CC876AA5F4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31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3C6E-A45F-49BC-5E9C-AF8E5A435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E354-DCCC-DB68-FDC6-1098224E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smarter than humans”</a:t>
            </a:r>
          </a:p>
        </p:txBody>
      </p:sp>
      <p:pic>
        <p:nvPicPr>
          <p:cNvPr id="9" name="Picture 8" descr="A robot with a glowing brain&#10;&#10;AI-generated content may be incorrect.">
            <a:extLst>
              <a:ext uri="{FF2B5EF4-FFF2-40B4-BE49-F238E27FC236}">
                <a16:creationId xmlns:a16="http://schemas.microsoft.com/office/drawing/2014/main" id="{048F1FD6-9CE5-4A30-A0B4-8B8FD2078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93"/>
          <a:stretch>
            <a:fillRect/>
          </a:stretch>
        </p:blipFill>
        <p:spPr>
          <a:xfrm>
            <a:off x="4244561" y="3328416"/>
            <a:ext cx="3702877" cy="335330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6A913B-B9D1-ADCD-E0CB-2F7DFA61CFDA}"/>
              </a:ext>
            </a:extLst>
          </p:cNvPr>
          <p:cNvGrpSpPr/>
          <p:nvPr/>
        </p:nvGrpSpPr>
        <p:grpSpPr>
          <a:xfrm>
            <a:off x="204878" y="1185769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A92FAF-500A-2535-FB7D-33422866B433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7BE3CE-887F-2704-5C65-3458819EC909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449D7019-9EED-52B2-2FB7-7EBD66812AF3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82B925F-4A74-400F-BC35-26DA219D1CA5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A6D2FD4-1459-7FEF-C646-6B6AE4B1995D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86A5F3C-C8B9-01B3-F452-238AC053CDAD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088F2938-3309-F30A-4D02-F0E3B41AF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BF22031-3318-644B-B23D-56A84E095C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ABAE978-D939-0463-155B-7AB198D17714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E7CCE0A-072E-58F5-F081-8F2558E96059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254A158-F311-44D5-C10E-C42CDE96D7E8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4E6587DB-3BFE-E7FB-86B5-E10FAECF695A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FE17CC-C94B-FDA0-B6FB-76F52FB1D2B5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94381AD-6380-F168-26E0-09D716C401CB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8CB94892-6F71-12C0-4AC2-DBADEBE18F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DDCF14B-94D1-7F1A-ED5C-2F59990C9A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11759DA6-2DE4-76CD-87F7-E4FA3F19EE8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09D32FC9-AD7A-F192-6E1E-9F0A106D5CFD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C6A6D8E-490C-B029-06BF-D3E82E79FCF0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E4FA5BF-8055-3E12-D2AA-0E2067EDE413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BA07B46C-E51D-3B7D-7E22-6F930EBD18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DEBB9CE-6D1A-D539-1D4F-47A709E903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23F84989-1437-C8AB-0188-A319F1DCA472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8F100C8-2697-4379-B81E-473593C3E043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A70B77D-5055-E6B7-0D28-E0D194445F97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AE6B328-A7DE-7287-DC81-87676D3224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71EC251C-6821-9BB8-F8F8-56AE3812CF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2622B6A0-2D8A-92C2-3FB9-BFD5F14A997C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C1E668E-E6B4-D9A7-013C-28C8C10D6363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8257C17-3FDC-E3D7-327D-638AE9D467D8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637700BD-28B8-B1B5-631B-345C34E576C5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5D3EE09-20F2-390D-DB56-851A4891D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A44DA3E5-B9F7-962D-867F-365CBED14F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9844BAA7-125D-226D-FA12-9FFA39F8FC91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AD2FEC6-818C-7A2D-5966-35104D3A60D8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21319B97-6C9C-03BA-00BC-451EA9C771E0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EAB5EC4D-0F63-CFBC-6570-398D390BAE40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928074F9-F597-70FA-404C-21F3CFB6843E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37F3481-310A-6EC5-3AB1-946A27D14AE8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389E7BF-BB2B-BD39-C5CB-A202CACA91EE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05647DB-72A2-3F1B-5FDD-E2EEA5A36CB7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C06232D0-7B99-EA26-CD28-87F86A360C4A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6130480-2C40-A118-943A-D40A66AA5830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689B9591-ACDE-12D9-1BCC-7A9BAA6F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B2B3805-9330-A99F-6332-9935B576976E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7AAEB7-2B94-353D-C10D-DFD770F6C6E4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8C45E3-440B-B27A-9890-7D5415D60604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85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3597-BC17-3785-8CB4-8E1F698F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30AB-ADD9-ED40-4644-C103F7E4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1090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“AI is just a parrot”</a:t>
            </a:r>
          </a:p>
        </p:txBody>
      </p:sp>
      <p:pic>
        <p:nvPicPr>
          <p:cNvPr id="7" name="Content Placeholder 6" descr="A screenshot of a keyboard&#10;&#10;AI-generated content may be incorrect.">
            <a:extLst>
              <a:ext uri="{FF2B5EF4-FFF2-40B4-BE49-F238E27FC236}">
                <a16:creationId xmlns:a16="http://schemas.microsoft.com/office/drawing/2014/main" id="{03126C8A-02E3-C806-7ECC-1E7570A06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5" r="22143"/>
          <a:stretch>
            <a:fillRect/>
          </a:stretch>
        </p:blipFill>
        <p:spPr>
          <a:xfrm>
            <a:off x="4611252" y="3429000"/>
            <a:ext cx="2969496" cy="3319907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B3AC196-894C-A0BB-E7F8-22319A76BE04}"/>
              </a:ext>
            </a:extLst>
          </p:cNvPr>
          <p:cNvGrpSpPr/>
          <p:nvPr/>
        </p:nvGrpSpPr>
        <p:grpSpPr>
          <a:xfrm>
            <a:off x="204878" y="1185769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91CF6D-D72F-9B11-32AA-3D9A5D0C3968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4254F186-35BD-D870-9138-71135CAC289C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E65F8A94-F854-649E-AC12-8B6BA71F410F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3F8B5E1-5BE5-A2DE-7791-72C5437FDD46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7E1AA86-B3B2-ABA4-5ED5-ED3EF640B29D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E43B608-F4AF-81EC-0B1B-104B6C1495B8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3FBAB35-ED1A-B335-2D12-D89491CA1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3D29BC93-83B9-44F5-A9F5-92A9D4910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D213BD6-EBEA-1922-DCBE-C1AD3A5198D1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26CDA8D-5215-FFAE-2B26-8FE40648FCAC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4243C1E-7494-DAC6-47AA-B252B51D4832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706C6F3E-4E85-7087-D62A-139F24E9C96E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E78F2C-276C-7640-D0F4-164B2DBBCD3D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8AAB33F-70E3-9277-F30E-B828C73FDF31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185069ED-10EC-AB94-9F39-7E56B9363B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FD4FD0DA-324C-EC29-44D4-EC87111ABA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D6F44B8A-AB39-3D82-50C3-E5A2FA09871A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D4157FB-15DC-C049-3B80-396D7F81D809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5574111-0EEB-5302-B2D5-070FB2FCEAC5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E5CA638-B55A-A516-2B2E-98023EB5B53C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462AAB1F-1CF5-D62B-C6B3-9747875F2B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401E2143-A41C-EA74-3302-E4264FE5F0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FD7E90A9-C242-5B9C-A62C-441D62316B9C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967C701-E752-2EC0-A147-935540677459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9BC2FEB-3E0E-EAAB-7BF4-B18E0215BFC6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FA7AD1F-B2E2-4BC4-152A-8154B7058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A7EB8BB-4175-1970-6EBB-1BDB51E76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C2212F0C-E971-DD5D-FF16-4843082DB88F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7621A90-59B8-7555-E65F-34A178BDE9DF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507D10C-CC92-BC4D-87F5-B79E73609D18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C0189FB-C94C-E876-FCAE-42E9624B9D2A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55E2026-F551-E5D4-8F4D-41D48EB021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EA4D320-735B-5BDB-E4E2-C64635DAA5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99555D28-B88B-202A-60C9-DA72D9823030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2AFA1A3-64DE-E87C-E100-6D6501757769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64C36A6-C89C-0960-B47F-D511B266007B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53713769-0AE3-3705-8C51-3A260D11ED3D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044EFB1-3CBE-D5AC-B53B-19608BC7401E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71796EF-DB4C-82E1-5B96-9C0013A20531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B981F8D-FC20-1854-A3BC-3CBDDCC259A2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5064FDB0-DBBD-3514-D871-86D8B446D9CD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63DE2F0-A99F-369F-0BF9-BA5B0E3F68F0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7AC0772-3F1B-1F66-0510-1B4C6F8C5EA5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49130152-3089-753D-4434-CE7C25B2B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D0443F0-C366-4FF2-442F-3074B4C46BC2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835CA3-669C-B1E1-92DE-83B95F2E48FF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5F531B-3A00-1C1E-07D2-88EEE9DA3C5E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49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9E63-A514-9DD4-5A18-B47D6B45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B0C4-309E-2E71-3D91-7DB1C2FF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“AI is objective and unbiassed” </a:t>
            </a:r>
          </a:p>
        </p:txBody>
      </p:sp>
      <p:pic>
        <p:nvPicPr>
          <p:cNvPr id="5" name="Content Placeholder 4" descr="A group of books on a shelf&#10;&#10;AI-generated content may be incorrect.">
            <a:extLst>
              <a:ext uri="{FF2B5EF4-FFF2-40B4-BE49-F238E27FC236}">
                <a16:creationId xmlns:a16="http://schemas.microsoft.com/office/drawing/2014/main" id="{F1AEBF49-5E65-F894-BF98-C485F0C97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114" y="3429000"/>
            <a:ext cx="4767771" cy="3127248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AD2BC8D-C2E5-8DEE-F97D-7C9F7C72CC35}"/>
              </a:ext>
            </a:extLst>
          </p:cNvPr>
          <p:cNvGrpSpPr/>
          <p:nvPr/>
        </p:nvGrpSpPr>
        <p:grpSpPr>
          <a:xfrm>
            <a:off x="204878" y="1185769"/>
            <a:ext cx="11782242" cy="1839306"/>
            <a:chOff x="0" y="4515120"/>
            <a:chExt cx="11782242" cy="183930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7BC219-6E93-F78D-E2E0-E9D819E6F37C}"/>
                </a:ext>
              </a:extLst>
            </p:cNvPr>
            <p:cNvGrpSpPr/>
            <p:nvPr/>
          </p:nvGrpSpPr>
          <p:grpSpPr>
            <a:xfrm>
              <a:off x="7162538" y="4515120"/>
              <a:ext cx="4619704" cy="1750495"/>
              <a:chOff x="570069" y="1586359"/>
              <a:chExt cx="10520507" cy="42452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177B9ECE-4D08-9CE4-8963-731887551F41}"/>
                      </a:ext>
                    </a:extLst>
                  </p:cNvPr>
                  <p:cNvSpPr/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A013A44-D279-34FB-AB47-C1A4406A8F0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2157046"/>
                    <a:ext cx="1242647" cy="12719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3E8650D0-7017-DA25-3EC1-5BB7B6C5F553}"/>
                      </a:ext>
                    </a:extLst>
                  </p:cNvPr>
                  <p:cNvSpPr/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77EED35-92FC-FEA6-268A-89120559D0A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0069" y="4167004"/>
                    <a:ext cx="1242647" cy="12719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59AD8B0-3AE7-E9FE-595A-178D22940242}"/>
                  </a:ext>
                </a:extLst>
              </p:cNvPr>
              <p:cNvSpPr/>
              <p:nvPr/>
            </p:nvSpPr>
            <p:spPr>
              <a:xfrm>
                <a:off x="4010928" y="3073485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D5111DB8-D555-9C83-F148-F69891B59A04}"/>
                      </a:ext>
                    </a:extLst>
                  </p:cNvPr>
                  <p:cNvSpPr/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2C903D09-FFBA-B49A-3668-407DD505A8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7929" y="3093933"/>
                    <a:ext cx="1242647" cy="127195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BC49D94-DB8D-C2B3-356A-C67CCB3C6FE7}"/>
                  </a:ext>
                </a:extLst>
              </p:cNvPr>
              <p:cNvGrpSpPr/>
              <p:nvPr/>
            </p:nvGrpSpPr>
            <p:grpSpPr>
              <a:xfrm>
                <a:off x="4180912" y="3192548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BB4BCE3-6945-BAEE-838D-D9FF02185B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48F7A2A5-4D7B-4525-C161-640ADC0C62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E5EFB91-DE1D-F054-F60B-A8E15D80806E}"/>
                  </a:ext>
                </a:extLst>
              </p:cNvPr>
              <p:cNvCxnSpPr>
                <a:stCxn id="10" idx="3"/>
                <a:endCxn id="12" idx="1"/>
              </p:cNvCxnSpPr>
              <p:nvPr/>
            </p:nvCxnSpPr>
            <p:spPr>
              <a:xfrm>
                <a:off x="1812716" y="2793023"/>
                <a:ext cx="2198212" cy="9164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95710B0-6BC2-CE99-0111-CD6608EE4E1D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 flipV="1">
                <a:off x="1812716" y="3709462"/>
                <a:ext cx="2198212" cy="10935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432E0F8-656D-DA2F-6E54-1DE972EDAFB4}"/>
                  </a:ext>
                </a:extLst>
              </p:cNvPr>
              <p:cNvCxnSpPr>
                <a:cxnSpLocks/>
                <a:stCxn id="19" idx="3"/>
                <a:endCxn id="13" idx="1"/>
              </p:cNvCxnSpPr>
              <p:nvPr/>
            </p:nvCxnSpPr>
            <p:spPr>
              <a:xfrm flipV="1">
                <a:off x="7982801" y="3729910"/>
                <a:ext cx="1865128" cy="76576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A490D400-A505-B5DC-65C9-C110581808E4}"/>
                  </a:ext>
                </a:extLst>
              </p:cNvPr>
              <p:cNvCxnSpPr/>
              <p:nvPr/>
            </p:nvCxnSpPr>
            <p:spPr>
              <a:xfrm flipV="1">
                <a:off x="4180912" y="3240539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0432F9F-A661-30B4-B696-7E183CE06BAD}"/>
                  </a:ext>
                </a:extLst>
              </p:cNvPr>
              <p:cNvSpPr/>
              <p:nvPr/>
            </p:nvSpPr>
            <p:spPr>
              <a:xfrm>
                <a:off x="6740154" y="3859693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6003FB4-4A88-7A14-06AD-C3F1B44115CC}"/>
                  </a:ext>
                </a:extLst>
              </p:cNvPr>
              <p:cNvGrpSpPr/>
              <p:nvPr/>
            </p:nvGrpSpPr>
            <p:grpSpPr>
              <a:xfrm>
                <a:off x="6910138" y="3978756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143E071F-9F54-3CAB-0CD0-29348E13E4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E77A1B8E-E8C8-E9B7-305F-5E29CD17E6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or: Curved 20">
                <a:extLst>
                  <a:ext uri="{FF2B5EF4-FFF2-40B4-BE49-F238E27FC236}">
                    <a16:creationId xmlns:a16="http://schemas.microsoft.com/office/drawing/2014/main" id="{511D51AE-960F-D280-55B2-D05E7337B1C3}"/>
                  </a:ext>
                </a:extLst>
              </p:cNvPr>
              <p:cNvCxnSpPr/>
              <p:nvPr/>
            </p:nvCxnSpPr>
            <p:spPr>
              <a:xfrm flipV="1">
                <a:off x="6910138" y="4026747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4FF101B-4D94-6A0C-6234-65C2420A5F0C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5253575" y="3709462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924FC83-E4C2-7478-B2BC-352C9AA676F8}"/>
                  </a:ext>
                </a:extLst>
              </p:cNvPr>
              <p:cNvSpPr/>
              <p:nvPr/>
            </p:nvSpPr>
            <p:spPr>
              <a:xfrm>
                <a:off x="4010928" y="1586359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D7DE162-CE09-AB52-B345-92A6DF0E6BE3}"/>
                  </a:ext>
                </a:extLst>
              </p:cNvPr>
              <p:cNvGrpSpPr/>
              <p:nvPr/>
            </p:nvGrpSpPr>
            <p:grpSpPr>
              <a:xfrm>
                <a:off x="4180912" y="1705422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715C608D-9108-8B90-1916-D7D917A9C1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FAAB90B-514B-43C5-859A-F8287F924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Connector: Curved 24">
                <a:extLst>
                  <a:ext uri="{FF2B5EF4-FFF2-40B4-BE49-F238E27FC236}">
                    <a16:creationId xmlns:a16="http://schemas.microsoft.com/office/drawing/2014/main" id="{1B5F300C-A8A6-07E4-620F-9B1A32142D12}"/>
                  </a:ext>
                </a:extLst>
              </p:cNvPr>
              <p:cNvCxnSpPr/>
              <p:nvPr/>
            </p:nvCxnSpPr>
            <p:spPr>
              <a:xfrm flipV="1">
                <a:off x="4180912" y="1753413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17D7648-6FAC-6110-5DB3-76B24343C0C2}"/>
                  </a:ext>
                </a:extLst>
              </p:cNvPr>
              <p:cNvSpPr/>
              <p:nvPr/>
            </p:nvSpPr>
            <p:spPr>
              <a:xfrm>
                <a:off x="6740154" y="2372567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17674F12-4343-C116-AE0B-C2132C7FF6F3}"/>
                  </a:ext>
                </a:extLst>
              </p:cNvPr>
              <p:cNvGrpSpPr/>
              <p:nvPr/>
            </p:nvGrpSpPr>
            <p:grpSpPr>
              <a:xfrm>
                <a:off x="6910138" y="2491630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A3B58CF-EAC9-23ED-76E2-93FF065896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AFA64361-1BC7-45E3-5CED-9C2BD6B6F4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" name="Connector: Curved 27">
                <a:extLst>
                  <a:ext uri="{FF2B5EF4-FFF2-40B4-BE49-F238E27FC236}">
                    <a16:creationId xmlns:a16="http://schemas.microsoft.com/office/drawing/2014/main" id="{3DDE6370-9408-788D-2A3E-56F03F012D07}"/>
                  </a:ext>
                </a:extLst>
              </p:cNvPr>
              <p:cNvCxnSpPr/>
              <p:nvPr/>
            </p:nvCxnSpPr>
            <p:spPr>
              <a:xfrm flipV="1">
                <a:off x="6910138" y="2539621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C0C77547-DF73-2DC8-DA98-4BFD23A2FE57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>
              <a:xfrm>
                <a:off x="5253575" y="2222336"/>
                <a:ext cx="1486579" cy="7862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D09E740-C6BC-30D8-5C76-3E751010F769}"/>
                  </a:ext>
                </a:extLst>
              </p:cNvPr>
              <p:cNvSpPr/>
              <p:nvPr/>
            </p:nvSpPr>
            <p:spPr>
              <a:xfrm>
                <a:off x="4010928" y="4559652"/>
                <a:ext cx="1242647" cy="127195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3600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37FCEA3-21DA-9907-B08A-5653D36812FA}"/>
                  </a:ext>
                </a:extLst>
              </p:cNvPr>
              <p:cNvGrpSpPr/>
              <p:nvPr/>
            </p:nvGrpSpPr>
            <p:grpSpPr>
              <a:xfrm>
                <a:off x="4180912" y="4678715"/>
                <a:ext cx="902677" cy="847541"/>
                <a:chOff x="5369169" y="3319463"/>
                <a:chExt cx="902677" cy="847541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E8C33A88-826A-B756-45BB-7AD58DBA3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69169" y="3319463"/>
                  <a:ext cx="0" cy="84754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439141AC-C601-B07B-E550-FC2690756D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9169" y="4167004"/>
                  <a:ext cx="90267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nector: Curved 31">
                <a:extLst>
                  <a:ext uri="{FF2B5EF4-FFF2-40B4-BE49-F238E27FC236}">
                    <a16:creationId xmlns:a16="http://schemas.microsoft.com/office/drawing/2014/main" id="{6A6F26AF-D2EB-F042-9D89-C13EB4860C88}"/>
                  </a:ext>
                </a:extLst>
              </p:cNvPr>
              <p:cNvCxnSpPr/>
              <p:nvPr/>
            </p:nvCxnSpPr>
            <p:spPr>
              <a:xfrm flipV="1">
                <a:off x="4180912" y="4726706"/>
                <a:ext cx="902677" cy="784752"/>
              </a:xfrm>
              <a:prstGeom prst="curvedConnector3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12CDD68-6215-DE08-9F11-3255C4902184}"/>
                  </a:ext>
                </a:extLst>
              </p:cNvPr>
              <p:cNvCxnSpPr>
                <a:cxnSpLocks/>
                <a:stCxn id="10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5706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C217F77-C488-41B1-659F-E90AFC82598F}"/>
                  </a:ext>
                </a:extLst>
              </p:cNvPr>
              <p:cNvCxnSpPr>
                <a:cxnSpLocks/>
                <a:stCxn id="11" idx="3"/>
                <a:endCxn id="30" idx="1"/>
              </p:cNvCxnSpPr>
              <p:nvPr/>
            </p:nvCxnSpPr>
            <p:spPr>
              <a:xfrm>
                <a:off x="1812716" y="4802981"/>
                <a:ext cx="2198212" cy="3926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9EF3B74-B266-323F-9D9B-F7B2E480405F}"/>
                  </a:ext>
                </a:extLst>
              </p:cNvPr>
              <p:cNvCxnSpPr>
                <a:cxnSpLocks/>
                <a:stCxn id="11" idx="3"/>
                <a:endCxn id="23" idx="1"/>
              </p:cNvCxnSpPr>
              <p:nvPr/>
            </p:nvCxnSpPr>
            <p:spPr>
              <a:xfrm flipV="1">
                <a:off x="1812716" y="2222336"/>
                <a:ext cx="2198212" cy="258064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1B1FD492-3CEE-1E0B-A67A-B24EA6D8382B}"/>
                  </a:ext>
                </a:extLst>
              </p:cNvPr>
              <p:cNvCxnSpPr>
                <a:cxnSpLocks/>
                <a:stCxn id="10" idx="3"/>
                <a:endCxn id="30" idx="1"/>
              </p:cNvCxnSpPr>
              <p:nvPr/>
            </p:nvCxnSpPr>
            <p:spPr>
              <a:xfrm>
                <a:off x="1812716" y="2793023"/>
                <a:ext cx="2198212" cy="2402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DABAAFE0-2E6F-F6E0-61DF-FA5CA11B2FE9}"/>
                  </a:ext>
                </a:extLst>
              </p:cNvPr>
              <p:cNvCxnSpPr>
                <a:cxnSpLocks/>
                <a:stCxn id="30" idx="3"/>
                <a:endCxn id="19" idx="1"/>
              </p:cNvCxnSpPr>
              <p:nvPr/>
            </p:nvCxnSpPr>
            <p:spPr>
              <a:xfrm flipV="1">
                <a:off x="5253575" y="4495670"/>
                <a:ext cx="1486579" cy="6999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FE10242A-F05A-0ADE-BCDA-AD1D2E863AF9}"/>
                  </a:ext>
                </a:extLst>
              </p:cNvPr>
              <p:cNvCxnSpPr>
                <a:cxnSpLocks/>
                <a:stCxn id="30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21870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ECA4FBE-AA6D-9219-B571-CADB49943125}"/>
                  </a:ext>
                </a:extLst>
              </p:cNvPr>
              <p:cNvCxnSpPr>
                <a:cxnSpLocks/>
                <a:stCxn id="23" idx="3"/>
                <a:endCxn id="19" idx="1"/>
              </p:cNvCxnSpPr>
              <p:nvPr/>
            </p:nvCxnSpPr>
            <p:spPr>
              <a:xfrm>
                <a:off x="5253575" y="2222336"/>
                <a:ext cx="1486579" cy="2273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52CC337E-E187-FE03-64C4-751E883AA39C}"/>
                  </a:ext>
                </a:extLst>
              </p:cNvPr>
              <p:cNvCxnSpPr>
                <a:cxnSpLocks/>
                <a:stCxn id="12" idx="3"/>
                <a:endCxn id="26" idx="1"/>
              </p:cNvCxnSpPr>
              <p:nvPr/>
            </p:nvCxnSpPr>
            <p:spPr>
              <a:xfrm flipV="1">
                <a:off x="5253575" y="3008544"/>
                <a:ext cx="1486579" cy="7009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AF4006F-89C8-8F7A-40F4-079426DE0AB0}"/>
                  </a:ext>
                </a:extLst>
              </p:cNvPr>
              <p:cNvCxnSpPr>
                <a:cxnSpLocks/>
                <a:stCxn id="26" idx="3"/>
                <a:endCxn id="13" idx="1"/>
              </p:cNvCxnSpPr>
              <p:nvPr/>
            </p:nvCxnSpPr>
            <p:spPr>
              <a:xfrm>
                <a:off x="7982801" y="3008544"/>
                <a:ext cx="1865128" cy="7213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 descr="A group of red dots with white text&#10;&#10;AI-generated content may be incorrect.">
              <a:extLst>
                <a:ext uri="{FF2B5EF4-FFF2-40B4-BE49-F238E27FC236}">
                  <a16:creationId xmlns:a16="http://schemas.microsoft.com/office/drawing/2014/main" id="{406FAEA2-A7C5-4D78-1595-9D5ADE178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533" y="4584003"/>
              <a:ext cx="2484261" cy="1770423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21D4101-8C43-E3D1-B2F6-5890184C5EA8}"/>
                </a:ext>
              </a:extLst>
            </p:cNvPr>
            <p:cNvCxnSpPr>
              <a:cxnSpLocks/>
            </p:cNvCxnSpPr>
            <p:nvPr/>
          </p:nvCxnSpPr>
          <p:spPr>
            <a:xfrm>
              <a:off x="5756017" y="545251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804E01-404F-DCE7-7766-15BF130F803B}"/>
                </a:ext>
              </a:extLst>
            </p:cNvPr>
            <p:cNvSpPr txBox="1"/>
            <p:nvPr/>
          </p:nvSpPr>
          <p:spPr>
            <a:xfrm>
              <a:off x="0" y="4990846"/>
              <a:ext cx="2117729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“The”, “ se”, “ag”, “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ull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”, “ was”, “ seen”, </a:t>
              </a:r>
              <a:endParaRPr lang="en-GB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D7B287E-AD93-554E-3AAA-B7ED0E893BEC}"/>
                </a:ext>
              </a:extLst>
            </p:cNvPr>
            <p:cNvCxnSpPr>
              <a:cxnSpLocks/>
            </p:cNvCxnSpPr>
            <p:nvPr/>
          </p:nvCxnSpPr>
          <p:spPr>
            <a:xfrm>
              <a:off x="2230881" y="5437271"/>
              <a:ext cx="1356746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734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8900-4003-E92C-96D3-51D18D898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F09CB-F949-571A-7003-D253DF6A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Exposure to messaging</a:t>
            </a:r>
          </a:p>
          <a:p>
            <a:pPr lvl="1"/>
            <a:r>
              <a:rPr lang="en-GB" dirty="0"/>
              <a:t>Where have they seen people raising concerns</a:t>
            </a:r>
          </a:p>
          <a:p>
            <a:pPr lvl="1"/>
            <a:r>
              <a:rPr lang="en-GB" dirty="0"/>
              <a:t>Jobs/lives at risk</a:t>
            </a:r>
          </a:p>
          <a:p>
            <a:r>
              <a:rPr lang="en-GB" dirty="0"/>
              <a:t>Where do you think this is heading towards?</a:t>
            </a:r>
          </a:p>
          <a:p>
            <a:r>
              <a:rPr lang="en-GB" dirty="0"/>
              <a:t>Part of broader discussion and may want to “vent”</a:t>
            </a:r>
          </a:p>
          <a:p>
            <a:r>
              <a:rPr lang="en-GB" dirty="0"/>
              <a:t>Who is using versus not / dichotomy</a:t>
            </a:r>
          </a:p>
          <a:p>
            <a:r>
              <a:rPr lang="en-GB" dirty="0"/>
              <a:t>Who has used and noticed nonsense</a:t>
            </a:r>
          </a:p>
          <a:p>
            <a:r>
              <a:rPr lang="en-GB" dirty="0"/>
              <a:t>Which tools would students use</a:t>
            </a:r>
          </a:p>
          <a:p>
            <a:pPr lvl="1"/>
            <a:r>
              <a:rPr lang="en-GB" dirty="0"/>
              <a:t>What are they capable of? How to spot?</a:t>
            </a:r>
          </a:p>
        </p:txBody>
      </p:sp>
    </p:spTree>
    <p:extLst>
      <p:ext uri="{BB962C8B-B14F-4D97-AF65-F5344CB8AC3E}">
        <p14:creationId xmlns:p14="http://schemas.microsoft.com/office/powerpoint/2010/main" val="20369553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ABDA-99D5-F26F-38A0-E2D876DD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remember about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872C-16F7-8ABB-A0BD-B9836C488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LLMs are statistical models of language, not intelligent beings</a:t>
            </a:r>
          </a:p>
          <a:p>
            <a:r>
              <a:rPr lang="en-GB" dirty="0"/>
              <a:t>They predict the most likely next token, not “truth”</a:t>
            </a:r>
          </a:p>
          <a:p>
            <a:r>
              <a:rPr lang="en-GB" dirty="0"/>
              <a:t>Their strength lies in scale and pattern recognition, not reasoning</a:t>
            </a:r>
          </a:p>
          <a:p>
            <a:r>
              <a:rPr lang="en-GB" dirty="0"/>
              <a:t>Great for: drafting, summarising, routine writing and coding</a:t>
            </a:r>
          </a:p>
          <a:p>
            <a:r>
              <a:rPr lang="en-GB" dirty="0"/>
              <a:t>Weak for: complex reasoning, novel ideas, statistics, facts</a:t>
            </a:r>
          </a:p>
          <a:p>
            <a:r>
              <a:rPr lang="en-GB" dirty="0"/>
              <a:t>Responsible use: treat outputs the same as you would for any of your own models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LLMs are impressive tools. But they are neither magic nor sentient minds and are not a substitute for expertise</a:t>
            </a:r>
            <a:r>
              <a:rPr lang="en-GB"/>
              <a:t>. </a:t>
            </a:r>
            <a:br>
              <a:rPr lang="en-GB"/>
            </a:br>
            <a:br>
              <a:rPr lang="en-GB"/>
            </a:br>
            <a:r>
              <a:rPr lang="en-GB"/>
              <a:t>They </a:t>
            </a:r>
            <a:r>
              <a:rPr lang="en-GB" dirty="0"/>
              <a:t>remove implementation barriers. They do not remove the need for knowledge.</a:t>
            </a:r>
          </a:p>
        </p:txBody>
      </p:sp>
    </p:spTree>
    <p:extLst>
      <p:ext uri="{BB962C8B-B14F-4D97-AF65-F5344CB8AC3E}">
        <p14:creationId xmlns:p14="http://schemas.microsoft.com/office/powerpoint/2010/main" val="357637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6074</TotalTime>
  <Words>2234</Words>
  <Application>Microsoft Office PowerPoint</Application>
  <PresentationFormat>Widescreen</PresentationFormat>
  <Paragraphs>321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Cambria Math</vt:lpstr>
      <vt:lpstr>Courier New</vt:lpstr>
      <vt:lpstr>Garamond</vt:lpstr>
      <vt:lpstr>Office Theme</vt:lpstr>
      <vt:lpstr>What is “AI”?</vt:lpstr>
      <vt:lpstr>Conflict of interest</vt:lpstr>
      <vt:lpstr>PowerPoint Presentation</vt:lpstr>
      <vt:lpstr>PowerPoint Presentation</vt:lpstr>
      <vt:lpstr>Artificial Intelligence</vt:lpstr>
      <vt:lpstr>Vagueness breeds misunderstanding</vt:lpstr>
      <vt:lpstr>“AI is sentient”</vt:lpstr>
      <vt:lpstr>“LoL It’S So dUMB! It CAN’t do MAthS”</vt:lpstr>
      <vt:lpstr>“AI is smarter than humans”</vt:lpstr>
      <vt:lpstr>“AI is just a parrot”</vt:lpstr>
      <vt:lpstr>“AI is objective and unbiassed” </vt:lpstr>
      <vt:lpstr>So what is a large language model?</vt:lpstr>
      <vt:lpstr>Tokenisation</vt:lpstr>
      <vt:lpstr>Embedding</vt:lpstr>
      <vt:lpstr>Neural networks</vt:lpstr>
      <vt:lpstr>PowerPoint Presentation</vt:lpstr>
      <vt:lpstr>Linear model as a neural network</vt:lpstr>
      <vt:lpstr>GLMs as a neural network</vt:lpstr>
      <vt:lpstr>Neural networks tend to have multiple layers</vt:lpstr>
      <vt:lpstr>And multiple neurons</vt:lpstr>
      <vt:lpstr>NN can be fit in R</vt:lpstr>
      <vt:lpstr>Transformers</vt:lpstr>
      <vt:lpstr>Here’s how transformers kind of work</vt:lpstr>
      <vt:lpstr>NN use the same tricks you know</vt:lpstr>
      <vt:lpstr>And lots of tricks you don’t know</vt:lpstr>
      <vt:lpstr>Large Language Models</vt:lpstr>
      <vt:lpstr>Output are predictions</vt:lpstr>
      <vt:lpstr>Why do LLMs hallucinate?</vt:lpstr>
      <vt:lpstr>PowerPoint Presentation</vt:lpstr>
      <vt:lpstr>Why are LLMs bad at maths?</vt:lpstr>
      <vt:lpstr>LLMs for coding</vt:lpstr>
      <vt:lpstr>Prompt engineering</vt:lpstr>
      <vt:lpstr>PowerPoint Presentation</vt:lpstr>
      <vt:lpstr>Hidden assumptions</vt:lpstr>
      <vt:lpstr>Caution of hype</vt:lpstr>
      <vt:lpstr>With a basic understanding…</vt:lpstr>
      <vt:lpstr>“AI is sentient”</vt:lpstr>
      <vt:lpstr>“LoL It’S So dUMB! It CAN’t do MAthS”</vt:lpstr>
      <vt:lpstr>“AI is smarter than humans”</vt:lpstr>
      <vt:lpstr>“AI is just a parrot”</vt:lpstr>
      <vt:lpstr>“AI is objective and unbiassed” </vt:lpstr>
      <vt:lpstr>PowerPoint Presentation</vt:lpstr>
      <vt:lpstr>What to remember about LLMs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18</cp:revision>
  <dcterms:created xsi:type="dcterms:W3CDTF">2025-09-17T13:58:17Z</dcterms:created>
  <dcterms:modified xsi:type="dcterms:W3CDTF">2025-10-08T17:35:43Z</dcterms:modified>
</cp:coreProperties>
</file>