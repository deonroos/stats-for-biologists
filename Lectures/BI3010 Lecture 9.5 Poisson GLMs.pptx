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36" r:id="rId2"/>
    <p:sldId id="279" r:id="rId3"/>
    <p:sldId id="278" r:id="rId4"/>
    <p:sldId id="281" r:id="rId5"/>
    <p:sldId id="315" r:id="rId6"/>
    <p:sldId id="339" r:id="rId7"/>
    <p:sldId id="274" r:id="rId8"/>
    <p:sldId id="296" r:id="rId9"/>
    <p:sldId id="295" r:id="rId10"/>
    <p:sldId id="314" r:id="rId11"/>
    <p:sldId id="294" r:id="rId12"/>
    <p:sldId id="284" r:id="rId13"/>
    <p:sldId id="340" r:id="rId14"/>
    <p:sldId id="323" r:id="rId15"/>
    <p:sldId id="317" r:id="rId16"/>
    <p:sldId id="288" r:id="rId17"/>
    <p:sldId id="291" r:id="rId18"/>
    <p:sldId id="289" r:id="rId19"/>
    <p:sldId id="341" r:id="rId20"/>
    <p:sldId id="286" r:id="rId21"/>
    <p:sldId id="310" r:id="rId22"/>
    <p:sldId id="320" r:id="rId23"/>
    <p:sldId id="321" r:id="rId24"/>
    <p:sldId id="32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971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294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7099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7515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3093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699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488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502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544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22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013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66AAF-4858-49E9-B86B-FBFED3DD34F6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FD51F-43B6-4DFB-8451-ED4C954B70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547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66AAF-4858-49E9-B86B-FBFED3DD34F6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FD51F-43B6-4DFB-8451-ED4C954B70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09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3C61BC-174A-47F4-8BCA-DECAC13554C9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4131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2.png"/><Relationship Id="rId5" Type="http://schemas.openxmlformats.org/officeDocument/2006/relationships/image" Target="../media/image410.png"/><Relationship Id="rId4" Type="http://schemas.openxmlformats.org/officeDocument/2006/relationships/image" Target="../media/image28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0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80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4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48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02748CD-56DB-D4E0-DC02-395FFA993091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1524000" y="2387593"/>
                <a:ext cx="9144000" cy="2082814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GB" sz="88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sz="8800" dirty="0"/>
                  <a:t> GLMs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02748CD-56DB-D4E0-DC02-395FFA9930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1524000" y="2387593"/>
                <a:ext cx="9144000" cy="2082814"/>
              </a:xfrm>
              <a:blipFill>
                <a:blip r:embed="rId2"/>
                <a:stretch>
                  <a:fillRect b="-293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itle 2">
            <a:extLst>
              <a:ext uri="{FF2B5EF4-FFF2-40B4-BE49-F238E27FC236}">
                <a16:creationId xmlns:a16="http://schemas.microsoft.com/office/drawing/2014/main" id="{15051A12-B99B-0CD8-D76D-D26863FD9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2538"/>
            <a:ext cx="9144000" cy="462882"/>
          </a:xfrm>
        </p:spPr>
        <p:txBody>
          <a:bodyPr/>
          <a:lstStyle/>
          <a:p>
            <a:r>
              <a:rPr lang="en-GB" dirty="0">
                <a:latin typeface="Bahnschrift Light" panose="020B0502040204020203" pitchFamily="34" charset="0"/>
              </a:rPr>
              <a:t>How many?</a:t>
            </a:r>
          </a:p>
        </p:txBody>
      </p:sp>
    </p:spTree>
    <p:extLst>
      <p:ext uri="{BB962C8B-B14F-4D97-AF65-F5344CB8AC3E}">
        <p14:creationId xmlns:p14="http://schemas.microsoft.com/office/powerpoint/2010/main" val="993567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graph with yellow lines and numbers&#10;&#10;Description automatically generated">
            <a:extLst>
              <a:ext uri="{FF2B5EF4-FFF2-40B4-BE49-F238E27FC236}">
                <a16:creationId xmlns:a16="http://schemas.microsoft.com/office/drawing/2014/main" id="{F12D70E5-D0BC-C843-FCDF-2ED0FAF30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882" y="1274570"/>
            <a:ext cx="5982246" cy="5583430"/>
          </a:xfrm>
          <a:prstGeom prst="rect">
            <a:avLst/>
          </a:prstGeom>
        </p:spPr>
      </p:pic>
      <p:pic>
        <p:nvPicPr>
          <p:cNvPr id="10" name="Picture 9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5EC4E282-8C06-AF49-6518-211207762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882" y="1274570"/>
            <a:ext cx="5982246" cy="55834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GB" sz="5400" dirty="0">
                    <a:latin typeface="Bahnschrift Light" panose="020B0502040204020203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GB" sz="54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sz="5400" dirty="0">
                    <a:latin typeface="Bahnschrift Light" panose="020B0502040204020203" pitchFamily="34" charset="0"/>
                  </a:rPr>
                  <a:t> distribution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  <a:blipFill>
                <a:blip r:embed="rId4"/>
                <a:stretch>
                  <a:fillRect t="-1382" b="-87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19249"/>
                <a:ext cx="4991100" cy="49625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𝑃𝑜𝑖𝑠𝑠𝑜𝑛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(rate) is both the mean and variance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Captures data that: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Are integers (0, 1, …,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).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Non-negative.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Has more variation as average gets larger.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So works very well for many datasets, e.g.: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Counts of entities</a:t>
                </a:r>
              </a:p>
              <a:p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19249"/>
                <a:ext cx="4991100" cy="4962525"/>
              </a:xfrm>
              <a:blipFill>
                <a:blip r:embed="rId5"/>
                <a:stretch>
                  <a:fillRect l="-2200" r="-4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60FBA4E8-8A5D-5155-AAA2-84F3F920FCD2}"/>
              </a:ext>
            </a:extLst>
          </p:cNvPr>
          <p:cNvGrpSpPr/>
          <p:nvPr/>
        </p:nvGrpSpPr>
        <p:grpSpPr>
          <a:xfrm>
            <a:off x="8475785" y="3562675"/>
            <a:ext cx="1652953" cy="2494500"/>
            <a:chOff x="8390327" y="3178114"/>
            <a:chExt cx="1652953" cy="24945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709AD9E-469A-C177-D711-EB8FA6179014}"/>
                    </a:ext>
                  </a:extLst>
                </p:cNvPr>
                <p:cNvSpPr txBox="1"/>
                <p:nvPr/>
              </p:nvSpPr>
              <p:spPr>
                <a:xfrm>
                  <a:off x="8683751" y="3178114"/>
                  <a:ext cx="955186" cy="408623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rgbClr val="E69F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=25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709AD9E-469A-C177-D711-EB8FA61790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3751" y="3178114"/>
                  <a:ext cx="955186" cy="408623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rgbClr val="E69F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103B989-BB0A-56E2-916C-0AD5AB262987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9161344" y="3586737"/>
              <a:ext cx="0" cy="42164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643A356-3C99-4795-9B8C-A295D39860DD}"/>
                    </a:ext>
                  </a:extLst>
                </p:cNvPr>
                <p:cNvSpPr txBox="1"/>
                <p:nvPr/>
              </p:nvSpPr>
              <p:spPr>
                <a:xfrm>
                  <a:off x="8701335" y="5263991"/>
                  <a:ext cx="955186" cy="408623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rgbClr val="E69F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=25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643A356-3C99-4795-9B8C-A295D3986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01335" y="5263991"/>
                  <a:ext cx="955186" cy="408623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rgbClr val="E69F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F4C4E9A-22DC-1184-103D-8D8CE4A5E9E7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>
              <a:off x="9656521" y="5468303"/>
              <a:ext cx="38675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6019082-666B-29EC-4043-ECF05C8BC636}"/>
                </a:ext>
              </a:extLst>
            </p:cNvPr>
            <p:cNvCxnSpPr>
              <a:cxnSpLocks/>
              <a:stCxn id="15" idx="1"/>
            </p:cNvCxnSpPr>
            <p:nvPr/>
          </p:nvCxnSpPr>
          <p:spPr>
            <a:xfrm flipH="1">
              <a:off x="8390327" y="5468303"/>
              <a:ext cx="31100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D71DA9-404E-2880-8D53-D16603D2ABCA}"/>
              </a:ext>
            </a:extLst>
          </p:cNvPr>
          <p:cNvGrpSpPr/>
          <p:nvPr/>
        </p:nvGrpSpPr>
        <p:grpSpPr>
          <a:xfrm>
            <a:off x="6888158" y="1414937"/>
            <a:ext cx="1006337" cy="4591160"/>
            <a:chOff x="8727069" y="2714704"/>
            <a:chExt cx="1006337" cy="45911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B001250-AB64-E6D5-888C-BEB8D987032A}"/>
                    </a:ext>
                  </a:extLst>
                </p:cNvPr>
                <p:cNvSpPr txBox="1"/>
                <p:nvPr/>
              </p:nvSpPr>
              <p:spPr>
                <a:xfrm>
                  <a:off x="8727069" y="2714704"/>
                  <a:ext cx="829638" cy="408623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rgbClr val="00BF7D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=5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B001250-AB64-E6D5-888C-BEB8D9870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7069" y="2714704"/>
                  <a:ext cx="829638" cy="408623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rgbClr val="00BF7D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28CDE00-E06C-1694-B383-1DABEDE35EC8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9141888" y="3123327"/>
              <a:ext cx="0" cy="4520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EC0E10C-7C31-4AF3-C7B6-E6ED6EB274FE}"/>
                    </a:ext>
                  </a:extLst>
                </p:cNvPr>
                <p:cNvSpPr txBox="1"/>
                <p:nvPr/>
              </p:nvSpPr>
              <p:spPr>
                <a:xfrm>
                  <a:off x="8919150" y="6999397"/>
                  <a:ext cx="619674" cy="306467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rgbClr val="00BF7D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=5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EC0E10C-7C31-4AF3-C7B6-E6ED6EB274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9150" y="6999397"/>
                  <a:ext cx="619674" cy="306467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rgbClr val="00BF7D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B2239D0-3872-9985-B876-E3BFCE410906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9538824" y="7152631"/>
              <a:ext cx="19458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1715A24-144B-5156-FDDD-48F23AEC5AFF}"/>
                </a:ext>
              </a:extLst>
            </p:cNvPr>
            <p:cNvCxnSpPr>
              <a:cxnSpLocks/>
              <a:stCxn id="17" idx="1"/>
            </p:cNvCxnSpPr>
            <p:nvPr/>
          </p:nvCxnSpPr>
          <p:spPr>
            <a:xfrm flipH="1">
              <a:off x="8755091" y="7152631"/>
              <a:ext cx="16405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580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4800" dirty="0">
                <a:latin typeface="Bahnschrift Light" panose="020B0502040204020203" pitchFamily="34" charset="0"/>
              </a:rPr>
              <a:t>“Has more variation as average gets larger”</a:t>
            </a:r>
            <a:endParaRPr lang="en-GB" sz="7200" dirty="0">
              <a:latin typeface="Bahnschrift Light" panose="020B0502040204020203" pitchFamily="34" charset="0"/>
            </a:endParaRPr>
          </a:p>
        </p:txBody>
      </p:sp>
      <p:pic>
        <p:nvPicPr>
          <p:cNvPr id="7" name="Picture 6" descr="Birds flying in the sky&#10;&#10;Description automatically generated">
            <a:extLst>
              <a:ext uri="{FF2B5EF4-FFF2-40B4-BE49-F238E27FC236}">
                <a16:creationId xmlns:a16="http://schemas.microsoft.com/office/drawing/2014/main" id="{FBB42139-C88B-3B56-433F-4F9E1317C6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03"/>
          <a:stretch/>
        </p:blipFill>
        <p:spPr>
          <a:xfrm>
            <a:off x="51110" y="1441938"/>
            <a:ext cx="6044890" cy="29630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6F38CC-BFEC-351F-B837-437044E40396}"/>
              </a:ext>
            </a:extLst>
          </p:cNvPr>
          <p:cNvSpPr txBox="1"/>
          <p:nvPr/>
        </p:nvSpPr>
        <p:spPr>
          <a:xfrm>
            <a:off x="850956" y="4753309"/>
            <a:ext cx="2877558" cy="1021556"/>
          </a:xfrm>
          <a:prstGeom prst="roundRect">
            <a:avLst/>
          </a:prstGeom>
          <a:solidFill>
            <a:srgbClr val="000000">
              <a:alpha val="58824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Species A: </a:t>
            </a:r>
          </a:p>
          <a:p>
            <a:pPr algn="ctr"/>
            <a:r>
              <a:rPr lang="en-GB" dirty="0">
                <a:latin typeface="Bahnschrift Light" panose="020B0502040204020203" pitchFamily="34" charset="0"/>
              </a:rPr>
              <a:t>Small flock size, small variation between flocks</a:t>
            </a:r>
          </a:p>
        </p:txBody>
      </p:sp>
      <p:pic>
        <p:nvPicPr>
          <p:cNvPr id="11" name="Picture 10" descr="A large flock of birds in the water&#10;&#10;Description automatically generated">
            <a:extLst>
              <a:ext uri="{FF2B5EF4-FFF2-40B4-BE49-F238E27FC236}">
                <a16:creationId xmlns:a16="http://schemas.microsoft.com/office/drawing/2014/main" id="{9D17CF89-3DB5-D82A-A43F-E9655B09C0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6" b="24700"/>
          <a:stretch/>
        </p:blipFill>
        <p:spPr>
          <a:xfrm>
            <a:off x="6095998" y="1441938"/>
            <a:ext cx="6044891" cy="29630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BCE2A1-BC6A-DDCE-2340-B9099B33DA51}"/>
              </a:ext>
            </a:extLst>
          </p:cNvPr>
          <p:cNvSpPr txBox="1"/>
          <p:nvPr/>
        </p:nvSpPr>
        <p:spPr>
          <a:xfrm>
            <a:off x="8270056" y="4753309"/>
            <a:ext cx="2877558" cy="1021556"/>
          </a:xfrm>
          <a:prstGeom prst="roundRect">
            <a:avLst/>
          </a:prstGeom>
          <a:solidFill>
            <a:srgbClr val="000000">
              <a:alpha val="58824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Species B:</a:t>
            </a:r>
          </a:p>
          <a:p>
            <a:pPr algn="ctr"/>
            <a:r>
              <a:rPr lang="en-GB" dirty="0">
                <a:latin typeface="Bahnschrift Light" panose="020B0502040204020203" pitchFamily="34" charset="0"/>
              </a:rPr>
              <a:t>Large flock size, large variation between flocks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9EA4D6-DF72-C6C0-9C22-8983DF1CC735}"/>
              </a:ext>
            </a:extLst>
          </p:cNvPr>
          <p:cNvSpPr txBox="1"/>
          <p:nvPr/>
        </p:nvSpPr>
        <p:spPr>
          <a:xfrm>
            <a:off x="4018085" y="4753309"/>
            <a:ext cx="3962400" cy="1021556"/>
          </a:xfrm>
          <a:prstGeom prst="roundRect">
            <a:avLst/>
          </a:prstGeom>
          <a:solidFill>
            <a:srgbClr val="000000">
              <a:alpha val="58824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Assumption:</a:t>
            </a:r>
            <a:br>
              <a:rPr lang="en-GB" dirty="0"/>
            </a:br>
            <a:r>
              <a:rPr lang="en-GB" dirty="0"/>
              <a:t>The mean is equal to the variance at 1:1 ratio (called </a:t>
            </a:r>
            <a:r>
              <a:rPr lang="en-GB" i="1" dirty="0"/>
              <a:t>dispersion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877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54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sz="5400" dirty="0">
                    <a:latin typeface="Bahnschrift Light" panose="020B0502040204020203" pitchFamily="34" charset="0"/>
                  </a:rPr>
                  <a:t> link function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  <a:blipFill>
                <a:blip r:embed="rId2"/>
                <a:stretch>
                  <a:fillRect t="-1382" b="-87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5154" y="1798759"/>
                <a:ext cx="4991100" cy="326048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The default link function used 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GLMs is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𝑙𝑜𝑔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link function.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𝑙𝑜𝑔</m:t>
                    </m:r>
                  </m:oMath>
                </a14:m>
                <a:r>
                  <a:rPr lang="en-GB" b="0" dirty="0">
                    <a:latin typeface="Bahnschrift Light" panose="020B0502040204020203" pitchFamily="34" charset="0"/>
                  </a:rPr>
                  <a:t> is how we ensure that the predicted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But there are other options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E.g. Complimentary log-log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5154" y="1798759"/>
                <a:ext cx="4991100" cy="3260482"/>
              </a:xfrm>
              <a:blipFill>
                <a:blip r:embed="rId3"/>
                <a:stretch>
                  <a:fillRect l="-2200" t="-4486" r="-41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1C6287-0B2B-78B0-6C36-77B06EA31BDB}"/>
                  </a:ext>
                </a:extLst>
              </p:cNvPr>
              <p:cNvSpPr txBox="1"/>
              <p:nvPr/>
            </p:nvSpPr>
            <p:spPr>
              <a:xfrm>
                <a:off x="5732585" y="2466224"/>
                <a:ext cx="6096000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400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4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𝑃𝑜𝑖𝑠𝑠𝑜𝑛</m:t>
                      </m:r>
                      <m:d>
                        <m:d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GB" sz="4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en-GB" sz="4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4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4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44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1C6287-0B2B-78B0-6C36-77B06EA31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585" y="2466224"/>
                <a:ext cx="6096000" cy="1446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C09159-4DE2-B231-2A6B-0A0E9967292F}"/>
                  </a:ext>
                </a:extLst>
              </p:cNvPr>
              <p:cNvSpPr txBox="1"/>
              <p:nvPr/>
            </p:nvSpPr>
            <p:spPr>
              <a:xfrm>
                <a:off x="0" y="5325490"/>
                <a:ext cx="8931356" cy="1759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 is our the value of our response variable for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 row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tx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 is the linear predictor (a rate) for the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 distribution, regressed on the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 link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 is the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-intercept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is the slope for the covariate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GB" dirty="0">
                  <a:solidFill>
                    <a:schemeClr val="tx1">
                      <a:lumMod val="65000"/>
                    </a:schemeClr>
                  </a:solidFill>
                  <a:latin typeface="Bahnschrift Light" panose="020B0502040204020203" pitchFamily="34" charset="0"/>
                </a:endParaRPr>
              </a:p>
              <a:p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C09159-4DE2-B231-2A6B-0A0E99672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25490"/>
                <a:ext cx="8931356" cy="1759264"/>
              </a:xfrm>
              <a:prstGeom prst="rect">
                <a:avLst/>
              </a:prstGeom>
              <a:blipFill>
                <a:blip r:embed="rId5"/>
                <a:stretch>
                  <a:fillRect l="-546" t="-2083" r="-4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640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FC61A-C86B-2B46-4C08-FBD72C5F1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function&#10;&#10;Description automatically generated">
            <a:extLst>
              <a:ext uri="{FF2B5EF4-FFF2-40B4-BE49-F238E27FC236}">
                <a16:creationId xmlns:a16="http://schemas.microsoft.com/office/drawing/2014/main" id="{8101808A-ACEC-5558-8DE4-E87249CFE1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046" y="1435376"/>
            <a:ext cx="5809954" cy="5422624"/>
          </a:xfrm>
          <a:prstGeom prst="rect">
            <a:avLst/>
          </a:prstGeom>
        </p:spPr>
      </p:pic>
      <p:pic>
        <p:nvPicPr>
          <p:cNvPr id="17" name="Picture 16" descr="A graph on a black background&#10;&#10;Description automatically generated">
            <a:extLst>
              <a:ext uri="{FF2B5EF4-FFF2-40B4-BE49-F238E27FC236}">
                <a16:creationId xmlns:a16="http://schemas.microsoft.com/office/drawing/2014/main" id="{E5B867C3-8F99-8F77-C5FB-3685C5B2F7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35951"/>
            <a:ext cx="5809954" cy="54220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E4A0EC6-F562-51C6-2216-DE6CB7CC24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54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sz="5400" dirty="0">
                    <a:latin typeface="Bahnschrift Light" panose="020B0502040204020203" pitchFamily="34" charset="0"/>
                  </a:rPr>
                  <a:t> link function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  <a:blipFill>
                <a:blip r:embed="rId4"/>
                <a:stretch>
                  <a:fillRect t="-1382" b="-87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42D4E06-E15F-D619-006B-DC30CCF41D69}"/>
              </a:ext>
            </a:extLst>
          </p:cNvPr>
          <p:cNvSpPr txBox="1"/>
          <p:nvPr/>
        </p:nvSpPr>
        <p:spPr>
          <a:xfrm>
            <a:off x="1779663" y="1435951"/>
            <a:ext cx="2877558" cy="715089"/>
          </a:xfrm>
          <a:prstGeom prst="roundRect">
            <a:avLst/>
          </a:prstGeom>
          <a:solidFill>
            <a:srgbClr val="000000">
              <a:alpha val="58824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What the model is fitting a straight line through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C6E3A6-F17B-4DA9-0758-FC97B43FF0DF}"/>
              </a:ext>
            </a:extLst>
          </p:cNvPr>
          <p:cNvSpPr txBox="1"/>
          <p:nvPr/>
        </p:nvSpPr>
        <p:spPr>
          <a:xfrm>
            <a:off x="8205273" y="1435951"/>
            <a:ext cx="2877558" cy="715089"/>
          </a:xfrm>
          <a:prstGeom prst="roundRect">
            <a:avLst/>
          </a:prstGeom>
          <a:solidFill>
            <a:srgbClr val="000000">
              <a:alpha val="58824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What we can then extract after the model is fit</a:t>
            </a:r>
          </a:p>
        </p:txBody>
      </p:sp>
    </p:spTree>
    <p:extLst>
      <p:ext uri="{BB962C8B-B14F-4D97-AF65-F5344CB8AC3E}">
        <p14:creationId xmlns:p14="http://schemas.microsoft.com/office/powerpoint/2010/main" val="335013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56840-3AEE-0FCE-3F7E-951E5169C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question</a:t>
            </a:r>
          </a:p>
        </p:txBody>
      </p:sp>
    </p:spTree>
    <p:extLst>
      <p:ext uri="{BB962C8B-B14F-4D97-AF65-F5344CB8AC3E}">
        <p14:creationId xmlns:p14="http://schemas.microsoft.com/office/powerpoint/2010/main" val="643350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15EE18E-E594-5589-1183-000663AE2C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87" r="22959"/>
          <a:stretch/>
        </p:blipFill>
        <p:spPr>
          <a:xfrm flipH="1">
            <a:off x="7231223" y="2267217"/>
            <a:ext cx="4960775" cy="459078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2445303-6598-8078-BEAB-D3F86E75A96E}"/>
              </a:ext>
            </a:extLst>
          </p:cNvPr>
          <p:cNvSpPr txBox="1">
            <a:spLocks/>
          </p:cNvSpPr>
          <p:nvPr/>
        </p:nvSpPr>
        <p:spPr>
          <a:xfrm>
            <a:off x="1" y="3313568"/>
            <a:ext cx="7231223" cy="3544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What determines the number of seabirds that collide with wind turbines? </a:t>
            </a:r>
          </a:p>
        </p:txBody>
      </p:sp>
    </p:spTree>
    <p:extLst>
      <p:ext uri="{BB962C8B-B14F-4D97-AF65-F5344CB8AC3E}">
        <p14:creationId xmlns:p14="http://schemas.microsoft.com/office/powerpoint/2010/main" val="838472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determines bird-turbine collisions?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BA6F-FFE0-43B0-753F-6E3B955C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814" y="2264636"/>
            <a:ext cx="6755402" cy="4593364"/>
          </a:xfrm>
        </p:spPr>
        <p:txBody>
          <a:bodyPr>
            <a:normAutofit/>
          </a:bodyPr>
          <a:lstStyle/>
          <a:p>
            <a:r>
              <a:rPr lang="en-GB" dirty="0">
                <a:latin typeface="Bahnschrift Light" panose="020B0502040204020203" pitchFamily="34" charset="0"/>
              </a:rPr>
              <a:t>Movement towards renewables could impact already struggling species.</a:t>
            </a:r>
          </a:p>
          <a:p>
            <a:r>
              <a:rPr lang="en-GB" dirty="0">
                <a:latin typeface="Bahnschrift Light" panose="020B0502040204020203" pitchFamily="34" charset="0"/>
              </a:rPr>
              <a:t>How many birds collide with turbines?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Does distance from nearest colony have any relationship with the number of collisions?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How big is this effect?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Are some species at higher risk?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E5775E-EDC5-A5EC-3D23-3BA9142E91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765"/>
          <a:stretch/>
        </p:blipFill>
        <p:spPr>
          <a:xfrm>
            <a:off x="7021216" y="1768105"/>
            <a:ext cx="5170784" cy="44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5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determines bird-turbine collisions?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BA6F-FFE0-43B0-753F-6E3B955C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619249"/>
            <a:ext cx="6693863" cy="4962525"/>
          </a:xfrm>
        </p:spPr>
        <p:txBody>
          <a:bodyPr>
            <a:normAutofit/>
          </a:bodyPr>
          <a:lstStyle/>
          <a:p>
            <a:r>
              <a:rPr lang="en-GB" dirty="0">
                <a:latin typeface="Bahnschrift Light" panose="020B0502040204020203" pitchFamily="34" charset="0"/>
              </a:rPr>
              <a:t>8 wind turbine locations across Scotland.</a:t>
            </a:r>
          </a:p>
          <a:p>
            <a:r>
              <a:rPr lang="en-GB" dirty="0">
                <a:latin typeface="Bahnschrift Light" panose="020B0502040204020203" pitchFamily="34" charset="0"/>
              </a:rPr>
              <a:t>In each location, every month we record: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Number of dead seabirds per species.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What the species was.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Distance to nearest colony for that species.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Which location data was collected from.</a:t>
            </a:r>
          </a:p>
          <a:p>
            <a:r>
              <a:rPr lang="en-GB" dirty="0">
                <a:latin typeface="Bahnschrift Light" panose="020B0502040204020203" pitchFamily="34" charset="0"/>
              </a:rPr>
              <a:t>Plot your data!</a:t>
            </a:r>
          </a:p>
        </p:txBody>
      </p:sp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9D33ACF8-A81E-B37B-E62C-3F6B2E08F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63" y="1477846"/>
            <a:ext cx="4904720" cy="517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19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Translating our question into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6400" y="2770360"/>
                <a:ext cx="6693863" cy="3811414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Our question relates primarily to number of birds found as a function of distance to nearest colony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So: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found ~ dist2col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Or: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2770360"/>
                <a:ext cx="6693863" cy="3811414"/>
              </a:xfrm>
              <a:blipFill>
                <a:blip r:embed="rId2"/>
                <a:stretch>
                  <a:fillRect l="-1639" t="-28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9D33ACF8-A81E-B37B-E62C-3F6B2E08F5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63" y="1477846"/>
            <a:ext cx="4904720" cy="517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16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Running a GLM in </a:t>
            </a:r>
            <a:r>
              <a:rPr lang="en-GB" sz="7200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endParaRPr lang="en-GB" sz="5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06598"/>
                <a:ext cx="5709684" cy="4962525"/>
              </a:xfrm>
            </p:spPr>
            <p:txBody>
              <a:bodyPr>
                <a:normAutofit fontScale="92500"/>
              </a:bodyPr>
              <a:lstStyle/>
              <a:p>
                <a:pPr algn="ctr"/>
                <a:endParaRPr lang="en-GB" sz="1400" dirty="0"/>
              </a:p>
              <a:p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The function </a:t>
                </a:r>
                <a:r>
                  <a:rPr lang="en-GB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glm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 will run a generalised linear model.</a:t>
                </a:r>
              </a:p>
              <a:p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The arguments: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Response as a function of X:</a:t>
                </a:r>
              </a:p>
              <a:p>
                <a:pPr lvl="2"/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formula = found ~ dist2col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We assume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 distribution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log</m:t>
                    </m:r>
                    <m:r>
                      <a:rPr lang="en-GB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⁡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 link</a:t>
                </a:r>
                <a:endParaRPr lang="en-GB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lvl="2"/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family = </a:t>
                </a:r>
                <a:r>
                  <a:rPr lang="en-GB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poisson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(link = “log”)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Tell the model where to find the data</a:t>
                </a:r>
                <a:endParaRPr lang="en-GB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lvl="2"/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data = birds</a:t>
                </a:r>
              </a:p>
              <a:p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Remember to store your model object</a:t>
                </a:r>
              </a:p>
              <a:p>
                <a:endParaRPr lang="en-GB" dirty="0">
                  <a:latin typeface="Bahnschrift Light" panose="020B0502040204020203" pitchFamily="34" charset="0"/>
                  <a:cs typeface="Courier New" panose="02070309020205020404" pitchFamily="49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06598"/>
                <a:ext cx="5709684" cy="4962525"/>
              </a:xfrm>
              <a:blipFill>
                <a:blip r:embed="rId2"/>
                <a:stretch>
                  <a:fillRect l="-1601" r="-10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C95EF2-5655-601A-03FA-85A293226AAA}"/>
                  </a:ext>
                </a:extLst>
              </p:cNvPr>
              <p:cNvSpPr txBox="1"/>
              <p:nvPr/>
            </p:nvSpPr>
            <p:spPr>
              <a:xfrm>
                <a:off x="5709684" y="2474893"/>
                <a:ext cx="6094602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𝑃𝑜𝑖𝑠𝑠𝑜𝑛</m:t>
                      </m:r>
                      <m:d>
                        <m:dPr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sz="28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C95EF2-5655-601A-03FA-85A293226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684" y="2474893"/>
                <a:ext cx="6094602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C5DFC24-97D5-2C0D-4E36-E26E2A333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024" y="3663079"/>
            <a:ext cx="6338976" cy="88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9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2424375-1258-5CE3-FADC-6EE171A1C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27" y="1381009"/>
            <a:ext cx="6671870" cy="38124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does </a:t>
            </a:r>
            <a:r>
              <a:rPr lang="en-GB" sz="5400" dirty="0">
                <a:latin typeface="Courier New" panose="02070309020205020404" pitchFamily="49" charset="0"/>
                <a:cs typeface="Courier New" panose="02070309020205020404" pitchFamily="49" charset="0"/>
              </a:rPr>
              <a:t>summary()</a:t>
            </a:r>
            <a:r>
              <a:rPr lang="en-GB" sz="5400" dirty="0">
                <a:latin typeface="Bahnschrift Light" panose="020B0502040204020203" pitchFamily="34" charset="0"/>
              </a:rPr>
              <a:t> say?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A721FBA-24B0-4A4C-7227-B5238D5709D9}"/>
              </a:ext>
            </a:extLst>
          </p:cNvPr>
          <p:cNvGrpSpPr/>
          <p:nvPr/>
        </p:nvGrpSpPr>
        <p:grpSpPr>
          <a:xfrm>
            <a:off x="126309" y="1348799"/>
            <a:ext cx="9150979" cy="715089"/>
            <a:chOff x="126309" y="1348799"/>
            <a:chExt cx="9150979" cy="71508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2CC4745-6719-57BD-9EA4-856F52E5FD21}"/>
                </a:ext>
              </a:extLst>
            </p:cNvPr>
            <p:cNvSpPr txBox="1"/>
            <p:nvPr/>
          </p:nvSpPr>
          <p:spPr>
            <a:xfrm>
              <a:off x="7222281" y="1348799"/>
              <a:ext cx="2055007" cy="715089"/>
            </a:xfrm>
            <a:prstGeom prst="roundRect">
              <a:avLst/>
            </a:prstGeom>
            <a:solidFill>
              <a:srgbClr val="000000">
                <a:alpha val="58824"/>
              </a:srgb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Bahnschrift Light" panose="020B0502040204020203" pitchFamily="34" charset="0"/>
                </a:rPr>
                <a:t>A reminder of the model we ran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8ADCAA1-98CA-366D-A51E-86C402E48416}"/>
                </a:ext>
              </a:extLst>
            </p:cNvPr>
            <p:cNvSpPr/>
            <p:nvPr/>
          </p:nvSpPr>
          <p:spPr>
            <a:xfrm>
              <a:off x="126309" y="1390650"/>
              <a:ext cx="6659988" cy="631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8C1D703-2B0E-0A76-47FD-3E06BCC3FB03}"/>
                </a:ext>
              </a:extLst>
            </p:cNvPr>
            <p:cNvCxnSpPr>
              <a:cxnSpLocks/>
              <a:stCxn id="4" idx="3"/>
              <a:endCxn id="16" idx="1"/>
            </p:cNvCxnSpPr>
            <p:nvPr/>
          </p:nvCxnSpPr>
          <p:spPr>
            <a:xfrm>
              <a:off x="6786297" y="1706344"/>
              <a:ext cx="4359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79FB800-EC1B-E6CE-8B0E-244193049D2E}"/>
              </a:ext>
            </a:extLst>
          </p:cNvPr>
          <p:cNvGrpSpPr/>
          <p:nvPr/>
        </p:nvGrpSpPr>
        <p:grpSpPr>
          <a:xfrm>
            <a:off x="113734" y="2230396"/>
            <a:ext cx="9972472" cy="1297564"/>
            <a:chOff x="113734" y="2230396"/>
            <a:chExt cx="9972472" cy="12975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FC1A957-EEFE-C046-D79B-D0E677F71DAC}"/>
                    </a:ext>
                  </a:extLst>
                </p:cNvPr>
                <p:cNvSpPr txBox="1"/>
                <p:nvPr/>
              </p:nvSpPr>
              <p:spPr>
                <a:xfrm>
                  <a:off x="7004289" y="2368400"/>
                  <a:ext cx="3081917" cy="1021556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dirty="0">
                      <a:latin typeface="Bahnschrift Light" panose="020B0502040204020203" pitchFamily="34" charset="0"/>
                    </a:rPr>
                    <a:t>The parameter values estimated by the model:</a:t>
                  </a:r>
                  <a:br>
                    <a:rPr lang="en-GB" dirty="0">
                      <a:latin typeface="Bahnschrift Light" panose="020B0502040204020203" pitchFamily="34" charset="0"/>
                    </a:rPr>
                  </a:b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latin typeface="Bahnschrift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FC1A957-EEFE-C046-D79B-D0E677F71D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4289" y="2368400"/>
                  <a:ext cx="3081917" cy="1021556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68A164-EFD1-811A-D531-D8E21FD2215F}"/>
                </a:ext>
              </a:extLst>
            </p:cNvPr>
            <p:cNvSpPr/>
            <p:nvPr/>
          </p:nvSpPr>
          <p:spPr>
            <a:xfrm>
              <a:off x="113734" y="2230396"/>
              <a:ext cx="6576626" cy="1297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335835-E3EE-C6E2-FE75-63C2393892E9}"/>
                </a:ext>
              </a:extLst>
            </p:cNvPr>
            <p:cNvCxnSpPr>
              <a:cxnSpLocks/>
              <a:stCxn id="7" idx="3"/>
              <a:endCxn id="17" idx="1"/>
            </p:cNvCxnSpPr>
            <p:nvPr/>
          </p:nvCxnSpPr>
          <p:spPr>
            <a:xfrm>
              <a:off x="6690360" y="2879178"/>
              <a:ext cx="31392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C99B99CE-18D7-6275-7627-56DB9966ECFE}"/>
              </a:ext>
            </a:extLst>
          </p:cNvPr>
          <p:cNvSpPr/>
          <p:nvPr/>
        </p:nvSpPr>
        <p:spPr>
          <a:xfrm>
            <a:off x="126304" y="3654803"/>
            <a:ext cx="5771576" cy="2624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D300075-E984-D3A0-E6BF-9AD4C7AFBFDA}"/>
              </a:ext>
            </a:extLst>
          </p:cNvPr>
          <p:cNvGrpSpPr/>
          <p:nvPr/>
        </p:nvGrpSpPr>
        <p:grpSpPr>
          <a:xfrm>
            <a:off x="5897880" y="3692471"/>
            <a:ext cx="4932582" cy="715089"/>
            <a:chOff x="5897880" y="3692471"/>
            <a:chExt cx="4932582" cy="7150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1FE3126-E37A-6690-9896-D978640C4E0B}"/>
                    </a:ext>
                  </a:extLst>
                </p:cNvPr>
                <p:cNvSpPr txBox="1"/>
                <p:nvPr/>
              </p:nvSpPr>
              <p:spPr>
                <a:xfrm>
                  <a:off x="7004289" y="3692471"/>
                  <a:ext cx="3826173" cy="715089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dirty="0">
                      <a:latin typeface="Bahnschrift Light" panose="020B0502040204020203" pitchFamily="34" charset="0"/>
                    </a:rPr>
                    <a:t>Important reminder of the mean-var relationship (for </a:t>
                  </a:r>
                  <a14:m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𝑃𝑜𝑖𝑠𝑠𝑜𝑛</m:t>
                      </m:r>
                    </m:oMath>
                  </a14:m>
                  <a:r>
                    <a:rPr lang="en-GB" dirty="0">
                      <a:latin typeface="Bahnschrift Light" panose="020B0502040204020203" pitchFamily="34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1FE3126-E37A-6690-9896-D978640C4E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4289" y="3692471"/>
                  <a:ext cx="3826173" cy="715089"/>
                </a:xfrm>
                <a:prstGeom prst="roundRect">
                  <a:avLst/>
                </a:prstGeom>
                <a:blipFill>
                  <a:blip r:embed="rId4"/>
                  <a:stretch>
                    <a:fillRect b="-672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2E2A892-365C-F2B6-E8A7-A889967D5BCE}"/>
                </a:ext>
              </a:extLst>
            </p:cNvPr>
            <p:cNvCxnSpPr>
              <a:cxnSpLocks/>
              <a:stCxn id="22" idx="3"/>
              <a:endCxn id="18" idx="1"/>
            </p:cNvCxnSpPr>
            <p:nvPr/>
          </p:nvCxnSpPr>
          <p:spPr>
            <a:xfrm>
              <a:off x="5897880" y="3786026"/>
              <a:ext cx="1106409" cy="26399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75DA25C-6006-D702-C246-85CCA7F639ED}"/>
              </a:ext>
            </a:extLst>
          </p:cNvPr>
          <p:cNvGrpSpPr/>
          <p:nvPr/>
        </p:nvGrpSpPr>
        <p:grpSpPr>
          <a:xfrm>
            <a:off x="126304" y="4100513"/>
            <a:ext cx="10348260" cy="1937219"/>
            <a:chOff x="126304" y="4100513"/>
            <a:chExt cx="10348260" cy="193721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376ECDE-E84D-D38F-6E4E-78EBCEFF2EA9}"/>
                </a:ext>
              </a:extLst>
            </p:cNvPr>
            <p:cNvSpPr txBox="1"/>
            <p:nvPr/>
          </p:nvSpPr>
          <p:spPr>
            <a:xfrm>
              <a:off x="7004289" y="4709709"/>
              <a:ext cx="3470275" cy="1328023"/>
            </a:xfrm>
            <a:prstGeom prst="roundRect">
              <a:avLst/>
            </a:prstGeom>
            <a:solidFill>
              <a:srgbClr val="000000">
                <a:alpha val="58824"/>
              </a:srgb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Bahnschrift Light" panose="020B0502040204020203" pitchFamily="34" charset="0"/>
                </a:rPr>
                <a:t>Null Dev: Lack-of-fit for intercept only model</a:t>
              </a:r>
            </a:p>
            <a:p>
              <a:pPr algn="ctr"/>
              <a:r>
                <a:rPr lang="en-GB" dirty="0">
                  <a:latin typeface="Bahnschrift Light" panose="020B0502040204020203" pitchFamily="34" charset="0"/>
                </a:rPr>
                <a:t>Resid Dev: A measure of lack-of-fit from current model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FB2CA3D-DAE9-CF19-2713-449D5B73D4A8}"/>
                </a:ext>
              </a:extLst>
            </p:cNvPr>
            <p:cNvSpPr/>
            <p:nvPr/>
          </p:nvSpPr>
          <p:spPr>
            <a:xfrm>
              <a:off x="126304" y="4100513"/>
              <a:ext cx="5626796" cy="41542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229CDF7-2BB0-B010-7DC0-8DA2EC1A9A59}"/>
                </a:ext>
              </a:extLst>
            </p:cNvPr>
            <p:cNvCxnSpPr>
              <a:cxnSpLocks/>
              <a:stCxn id="26" idx="3"/>
              <a:endCxn id="19" idx="1"/>
            </p:cNvCxnSpPr>
            <p:nvPr/>
          </p:nvCxnSpPr>
          <p:spPr>
            <a:xfrm>
              <a:off x="5753100" y="4308227"/>
              <a:ext cx="1251189" cy="10654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09F44CB6-35F3-B78E-F8BD-7A42A2FA0D67}"/>
              </a:ext>
            </a:extLst>
          </p:cNvPr>
          <p:cNvSpPr/>
          <p:nvPr/>
        </p:nvSpPr>
        <p:spPr>
          <a:xfrm>
            <a:off x="126304" y="4517944"/>
            <a:ext cx="1178621" cy="1917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8357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6721E-AFE5-C3DF-491B-CB15618A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Diagnose</a:t>
            </a:r>
          </a:p>
        </p:txBody>
      </p:sp>
    </p:spTree>
    <p:extLst>
      <p:ext uri="{BB962C8B-B14F-4D97-AF65-F5344CB8AC3E}">
        <p14:creationId xmlns:p14="http://schemas.microsoft.com/office/powerpoint/2010/main" val="917503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2424375-1258-5CE3-FADC-6EE171A1C5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063"/>
          <a:stretch/>
        </p:blipFill>
        <p:spPr>
          <a:xfrm>
            <a:off x="114427" y="1381009"/>
            <a:ext cx="6267323" cy="38124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Dispersion assumption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9B99CE-18D7-6275-7627-56DB9966ECFE}"/>
              </a:ext>
            </a:extLst>
          </p:cNvPr>
          <p:cNvSpPr/>
          <p:nvPr/>
        </p:nvSpPr>
        <p:spPr>
          <a:xfrm>
            <a:off x="126304" y="3654803"/>
            <a:ext cx="5771576" cy="2624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17AE43-8289-9FBB-94D0-C7A6DD065F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72300" y="1435986"/>
                <a:ext cx="4972050" cy="529818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A quick crude way to check: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Dispersion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is the residual deviance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is the degrees of freedom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must equal 1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requirement to be met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, then maybe </a:t>
                </a:r>
                <a:r>
                  <a:rPr lang="en-GB" dirty="0" err="1">
                    <a:latin typeface="Bahnschrift Light" panose="020B0502040204020203" pitchFamily="34" charset="0"/>
                  </a:rPr>
                  <a:t>underdispersed</a:t>
                </a:r>
                <a:endParaRPr lang="en-GB" dirty="0">
                  <a:latin typeface="Bahnschrift Light" panose="020B0502040204020203" pitchFamily="34" charset="0"/>
                </a:endParaRP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, then maybe </a:t>
                </a:r>
                <a:r>
                  <a:rPr lang="en-GB" dirty="0" err="1">
                    <a:latin typeface="Bahnschrift Light" panose="020B0502040204020203" pitchFamily="34" charset="0"/>
                  </a:rPr>
                  <a:t>overdispersed</a:t>
                </a:r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But!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=1.1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=1.7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are very different beasts</a:t>
                </a: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17AE43-8289-9FBB-94D0-C7A6DD065F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72300" y="1435986"/>
                <a:ext cx="4972050" cy="5298189"/>
              </a:xfrm>
              <a:blipFill>
                <a:blip r:embed="rId3"/>
                <a:stretch>
                  <a:fillRect l="-2209" t="-2877" r="-15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61237D4-9763-7339-DCC2-A77632E203BE}"/>
              </a:ext>
            </a:extLst>
          </p:cNvPr>
          <p:cNvSpPr/>
          <p:nvPr/>
        </p:nvSpPr>
        <p:spPr>
          <a:xfrm>
            <a:off x="114427" y="4318000"/>
            <a:ext cx="5771576" cy="203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DC664CAC-BB35-FFA2-829A-55641FF1F7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7650" y="5344202"/>
                <a:ext cx="5581810" cy="12947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b="0" dirty="0"/>
                  <a:t>Here,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376.42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158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=2.4</m:t>
                    </m:r>
                  </m:oMath>
                </a14:m>
                <a:endParaRPr lang="en-GB" dirty="0"/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Not meeting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assumption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DC664CAC-BB35-FFA2-829A-55641FF1F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" y="5344202"/>
                <a:ext cx="5581810" cy="1294723"/>
              </a:xfrm>
              <a:prstGeom prst="rect">
                <a:avLst/>
              </a:prstGeom>
              <a:blipFill>
                <a:blip r:embed="rId4"/>
                <a:stretch>
                  <a:fillRect l="-1749" t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186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is over-dispersion?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44239"/>
                <a:ext cx="6024786" cy="513753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Can occur because of: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Model misspecification 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Excess zeroes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Non-independence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Consequences: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Biassed standard errors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Biassed parameter estimates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Type 1 errors for P-values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Solutions: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Add “missing” covariates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Change distribution</a:t>
                </a:r>
              </a:p>
              <a:p>
                <a:pPr lvl="2"/>
                <a:r>
                  <a:rPr lang="en-GB" dirty="0">
                    <a:latin typeface="Bahnschrift Light" panose="020B0502040204020203" pitchFamily="34" charset="0"/>
                  </a:rPr>
                  <a:t>E.g. ZIP,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𝑁𝑒𝑔𝑎𝑡𝑖𝑣𝑒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𝐵𝑖𝑛𝑜𝑚𝑖𝑎𝑙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, </a:t>
                </a:r>
                <a:br>
                  <a:rPr lang="en-GB" dirty="0">
                    <a:latin typeface="Bahnschrift Light" panose="020B0502040204020203" pitchFamily="34" charset="0"/>
                  </a:rPr>
                </a:br>
                <a:r>
                  <a:rPr lang="en-GB" dirty="0">
                    <a:latin typeface="Bahnschrift Light" panose="020B0502040204020203" pitchFamily="34" charset="0"/>
                  </a:rPr>
                  <a:t>“quasi-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”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Change model </a:t>
                </a:r>
              </a:p>
              <a:p>
                <a:pPr lvl="2"/>
                <a:r>
                  <a:rPr lang="en-GB" dirty="0">
                    <a:latin typeface="Bahnschrift Light" panose="020B0502040204020203" pitchFamily="34" charset="0"/>
                  </a:rPr>
                  <a:t>E.g. GLMM,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Model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44239"/>
                <a:ext cx="6024786" cy="5137535"/>
              </a:xfrm>
              <a:blipFill>
                <a:blip r:embed="rId2"/>
                <a:stretch>
                  <a:fillRect l="-1518" t="-2610" b="-13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with white dots and numbers&#10;&#10;Description automatically generated">
            <a:extLst>
              <a:ext uri="{FF2B5EF4-FFF2-40B4-BE49-F238E27FC236}">
                <a16:creationId xmlns:a16="http://schemas.microsoft.com/office/drawing/2014/main" id="{0B4529C7-A92A-83A5-4521-6F925661EA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25563"/>
            <a:ext cx="5411648" cy="50521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A8443C-0A93-6CDC-B6F3-D3A73EDAA273}"/>
                  </a:ext>
                </a:extLst>
              </p:cNvPr>
              <p:cNvSpPr txBox="1"/>
              <p:nvPr/>
            </p:nvSpPr>
            <p:spPr>
              <a:xfrm rot="18970967">
                <a:off x="7980001" y="3666975"/>
                <a:ext cx="21672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A8443C-0A93-6CDC-B6F3-D3A73EDAA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970967">
                <a:off x="7980001" y="3666975"/>
                <a:ext cx="2167260" cy="369332"/>
              </a:xfrm>
              <a:prstGeom prst="rect">
                <a:avLst/>
              </a:prstGeom>
              <a:blipFill>
                <a:blip r:embed="rId4"/>
                <a:stretch>
                  <a:fillRect r="-1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4C98C0BB-D0AD-6814-F08D-6721346BEEBC}"/>
              </a:ext>
            </a:extLst>
          </p:cNvPr>
          <p:cNvGrpSpPr/>
          <p:nvPr/>
        </p:nvGrpSpPr>
        <p:grpSpPr>
          <a:xfrm>
            <a:off x="7219617" y="1245082"/>
            <a:ext cx="3361794" cy="3886002"/>
            <a:chOff x="7219617" y="1245082"/>
            <a:chExt cx="3361794" cy="388600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257E27A-FAF0-8942-DCFB-0B5F5CF7AC6E}"/>
                </a:ext>
              </a:extLst>
            </p:cNvPr>
            <p:cNvSpPr/>
            <p:nvPr/>
          </p:nvSpPr>
          <p:spPr>
            <a:xfrm rot="1405681">
              <a:off x="7219617" y="1860987"/>
              <a:ext cx="1215111" cy="327009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ACF8F7B-573E-65F7-4D2C-7AD7618FDA3A}"/>
                </a:ext>
              </a:extLst>
            </p:cNvPr>
            <p:cNvSpPr txBox="1"/>
            <p:nvPr/>
          </p:nvSpPr>
          <p:spPr>
            <a:xfrm>
              <a:off x="9019471" y="1245082"/>
              <a:ext cx="1561940" cy="1021556"/>
            </a:xfrm>
            <a:prstGeom prst="roundRect">
              <a:avLst/>
            </a:prstGeom>
            <a:solidFill>
              <a:srgbClr val="0D0D0D">
                <a:alpha val="41961"/>
              </a:srgb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Bahnschrift Light" panose="020B0502040204020203" pitchFamily="34" charset="0"/>
                </a:rPr>
                <a:t>Variance higher than mean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29F6129-7105-EA1B-A093-29D880C90836}"/>
                </a:ext>
              </a:extLst>
            </p:cNvPr>
            <p:cNvCxnSpPr>
              <a:cxnSpLocks/>
              <a:stCxn id="8" idx="1"/>
              <a:endCxn id="7" idx="0"/>
            </p:cNvCxnSpPr>
            <p:nvPr/>
          </p:nvCxnSpPr>
          <p:spPr>
            <a:xfrm flipH="1">
              <a:off x="8477263" y="1755860"/>
              <a:ext cx="542208" cy="2399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812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 shot of a graph&#10;&#10;Description automatically generated">
            <a:extLst>
              <a:ext uri="{FF2B5EF4-FFF2-40B4-BE49-F238E27FC236}">
                <a16:creationId xmlns:a16="http://schemas.microsoft.com/office/drawing/2014/main" id="{458726B2-4504-1CCE-189E-AEEC23403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95375"/>
            <a:ext cx="5684882" cy="5305890"/>
          </a:xfrm>
          <a:prstGeom prst="rect">
            <a:avLst/>
          </a:prstGeom>
        </p:spPr>
      </p:pic>
      <p:pic>
        <p:nvPicPr>
          <p:cNvPr id="14" name="Picture 13" descr="A graph on a black background&#10;&#10;Description automatically generated">
            <a:extLst>
              <a:ext uri="{FF2B5EF4-FFF2-40B4-BE49-F238E27FC236}">
                <a16:creationId xmlns:a16="http://schemas.microsoft.com/office/drawing/2014/main" id="{0B5B0092-3131-A5C1-F3CB-F1B7D1FA2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95375"/>
            <a:ext cx="5684882" cy="53058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F58D0AD-93E1-FD02-D4A7-11FDCDFD5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298" y="1095373"/>
            <a:ext cx="5684883" cy="5305891"/>
          </a:xfrm>
          <a:prstGeom prst="rect">
            <a:avLst/>
          </a:prstGeom>
        </p:spPr>
      </p:pic>
      <p:pic>
        <p:nvPicPr>
          <p:cNvPr id="17" name="Picture 16" descr="A screen shot of a graph&#10;&#10;Description automatically generated">
            <a:extLst>
              <a:ext uri="{FF2B5EF4-FFF2-40B4-BE49-F238E27FC236}">
                <a16:creationId xmlns:a16="http://schemas.microsoft.com/office/drawing/2014/main" id="{0887C99A-46BC-203F-5F35-209F0D59DB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297" y="1095372"/>
            <a:ext cx="5684883" cy="53058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Diagnose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060" y="1619249"/>
                <a:ext cx="5744240" cy="496252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The diagnoses of this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GLM are concerning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Residuals vs Fitted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“Bands” are common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Using Pearson residuals, we should see constant variation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Scale-Location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Equal variation across predicted values (on link scale)?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Q-Q Residuals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Are we expecting Normal residuals?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Residuals vs Leverage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No points close to Cook’s = 1 line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060" y="1619249"/>
                <a:ext cx="5744240" cy="4962525"/>
              </a:xfrm>
              <a:blipFill>
                <a:blip r:embed="rId6"/>
                <a:stretch>
                  <a:fillRect l="-1699" t="-29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BCB95077-5E96-3B3E-C52E-1EE83FFCF0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95375"/>
            <a:ext cx="5684882" cy="5305890"/>
          </a:xfrm>
          <a:prstGeom prst="rect">
            <a:avLst/>
          </a:prstGeom>
        </p:spPr>
      </p:pic>
      <p:pic>
        <p:nvPicPr>
          <p:cNvPr id="5" name="Picture 4" descr="A graph of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C5EADA87-8687-B03C-3076-4787CCD86F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7" y="1264778"/>
            <a:ext cx="5992737" cy="559322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C7F4BDB-36C1-5B3B-7BE4-A22A8D10F438}"/>
              </a:ext>
            </a:extLst>
          </p:cNvPr>
          <p:cNvGrpSpPr/>
          <p:nvPr/>
        </p:nvGrpSpPr>
        <p:grpSpPr>
          <a:xfrm>
            <a:off x="4951798" y="2069598"/>
            <a:ext cx="1442815" cy="4035040"/>
            <a:chOff x="4951798" y="2069598"/>
            <a:chExt cx="1442815" cy="403504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A473716-244B-813D-B8A8-8EC7C72E1162}"/>
                </a:ext>
              </a:extLst>
            </p:cNvPr>
            <p:cNvCxnSpPr/>
            <p:nvPr/>
          </p:nvCxnSpPr>
          <p:spPr>
            <a:xfrm>
              <a:off x="4951798" y="5523524"/>
              <a:ext cx="0" cy="58111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43CC203-9E13-466F-1511-90547162960E}"/>
                </a:ext>
              </a:extLst>
            </p:cNvPr>
            <p:cNvCxnSpPr/>
            <p:nvPr/>
          </p:nvCxnSpPr>
          <p:spPr>
            <a:xfrm>
              <a:off x="6394613" y="2069598"/>
              <a:ext cx="0" cy="58111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7536EEA-582F-604E-336D-6F536D5C68B4}"/>
              </a:ext>
            </a:extLst>
          </p:cNvPr>
          <p:cNvGrpSpPr/>
          <p:nvPr/>
        </p:nvGrpSpPr>
        <p:grpSpPr>
          <a:xfrm>
            <a:off x="1369684" y="1564844"/>
            <a:ext cx="6587383" cy="178038"/>
            <a:chOff x="1369684" y="1564844"/>
            <a:chExt cx="6587383" cy="178038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D71ED4D-B000-D8BD-9613-BF6690E003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69684" y="1564844"/>
              <a:ext cx="638576" cy="312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DF9D2FC-FC52-D0F4-BC60-BC01B69BA4C4}"/>
                </a:ext>
              </a:extLst>
            </p:cNvPr>
            <p:cNvCxnSpPr>
              <a:cxnSpLocks/>
            </p:cNvCxnSpPr>
            <p:nvPr/>
          </p:nvCxnSpPr>
          <p:spPr>
            <a:xfrm>
              <a:off x="7349383" y="1742882"/>
              <a:ext cx="60768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9BFBF68-20A4-2091-BD25-229F0AC65C90}"/>
              </a:ext>
            </a:extLst>
          </p:cNvPr>
          <p:cNvGrpSpPr/>
          <p:nvPr/>
        </p:nvGrpSpPr>
        <p:grpSpPr>
          <a:xfrm>
            <a:off x="895350" y="2742193"/>
            <a:ext cx="7404739" cy="3531849"/>
            <a:chOff x="895350" y="2742193"/>
            <a:chExt cx="7404739" cy="353184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45CA4FC-B809-4CAF-A860-4AE16DC6AD3B}"/>
                </a:ext>
              </a:extLst>
            </p:cNvPr>
            <p:cNvSpPr/>
            <p:nvPr/>
          </p:nvSpPr>
          <p:spPr>
            <a:xfrm>
              <a:off x="895350" y="6024564"/>
              <a:ext cx="4219573" cy="24947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DAE3C1D-B7D4-87E0-FA8F-905D60412870}"/>
                </a:ext>
              </a:extLst>
            </p:cNvPr>
            <p:cNvSpPr/>
            <p:nvPr/>
          </p:nvSpPr>
          <p:spPr>
            <a:xfrm rot="557035">
              <a:off x="6372234" y="2742193"/>
              <a:ext cx="1927855" cy="17390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74590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BA6F-FFE0-43B0-753F-6E3B955C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249"/>
            <a:ext cx="4991100" cy="4962525"/>
          </a:xfrm>
        </p:spPr>
        <p:txBody>
          <a:bodyPr>
            <a:normAutofit/>
          </a:bodyPr>
          <a:lstStyle/>
          <a:p>
            <a:r>
              <a:rPr lang="en-GB" dirty="0">
                <a:latin typeface="Bahnschrift Light" panose="020B0502040204020203" pitchFamily="34" charset="0"/>
              </a:rPr>
              <a:t>Two separate checks suggested problems</a:t>
            </a:r>
          </a:p>
          <a:p>
            <a:r>
              <a:rPr lang="en-GB" dirty="0">
                <a:latin typeface="Bahnschrift Light" panose="020B0502040204020203" pitchFamily="34" charset="0"/>
              </a:rPr>
              <a:t>We’ll try a more complex model to see if that solves our apparent overdispersion</a:t>
            </a:r>
          </a:p>
          <a:p>
            <a:r>
              <a:rPr lang="en-GB" dirty="0">
                <a:latin typeface="Bahnschrift Light" panose="020B0502040204020203" pitchFamily="34" charset="0"/>
              </a:rPr>
              <a:t>We now include species as a fixed effect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Let’s try another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41E395-5909-85FD-1DD8-50B41D478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89" y="4809399"/>
            <a:ext cx="5522055" cy="776867"/>
          </a:xfrm>
          <a:prstGeom prst="rect">
            <a:avLst/>
          </a:prstGeom>
        </p:spPr>
      </p:pic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8EE7B1CB-D4C6-296F-3509-2FF020DBA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426" y="1027073"/>
            <a:ext cx="5737504" cy="53550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D76CEC-5CC0-EDBA-6644-6AF37CF5C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426" y="1027073"/>
            <a:ext cx="5736046" cy="53550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DE969E-CE76-C3EE-9CD4-8F387F251EEC}"/>
                  </a:ext>
                </a:extLst>
              </p:cNvPr>
              <p:cNvSpPr txBox="1"/>
              <p:nvPr/>
            </p:nvSpPr>
            <p:spPr>
              <a:xfrm>
                <a:off x="130756" y="5700565"/>
                <a:ext cx="6272212" cy="786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159.99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154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=1.04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DE969E-CE76-C3EE-9CD4-8F387F251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56" y="5700565"/>
                <a:ext cx="6272212" cy="7861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495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It can always be worse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19249"/>
                <a:ext cx="4991100" cy="4962525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This model uses data simulated using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distribution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But the simulation is far more complex than the model accounts for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The model is missing important covariates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In this case, resulting in overdispersion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=5.4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) and poor model diagnostics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19249"/>
                <a:ext cx="4991100" cy="4962525"/>
              </a:xfrm>
              <a:blipFill>
                <a:blip r:embed="rId2"/>
                <a:stretch>
                  <a:fillRect l="-2200" t="-2211" r="-3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2FAD4D3-9411-CB71-C491-049A601EF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1102639"/>
            <a:ext cx="5961847" cy="559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92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DD5F4-A762-7FC9-9E15-BC09956D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Inference</a:t>
            </a:r>
          </a:p>
        </p:txBody>
      </p:sp>
    </p:spTree>
    <p:extLst>
      <p:ext uri="{BB962C8B-B14F-4D97-AF65-F5344CB8AC3E}">
        <p14:creationId xmlns:p14="http://schemas.microsoft.com/office/powerpoint/2010/main" val="2701454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have we learnt?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28878-BD57-27EC-5D0E-2358E252DE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3162" y="1325563"/>
                <a:ext cx="5577114" cy="53137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b="0" dirty="0">
                    <a:latin typeface="Bahnschrift Light" panose="020B0502040204020203" pitchFamily="34" charset="0"/>
                  </a:rPr>
                  <a:t>Our equation for model 2: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𝐺𝑢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𝐾𝑖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𝑅𝑎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latin typeface="Bahnschrift Light" panose="020B0502040204020203" pitchFamily="34" charset="0"/>
                  </a:rPr>
                  <a:t>Is now estimated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−0.6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1.9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𝐺𝑢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1.7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𝐾𝑖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−0.3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𝑅𝑎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GB" dirty="0">
                        <a:latin typeface="Bahnschrift Light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GB" dirty="0">
                        <a:latin typeface="Bahnschrift Light" panose="020B0502040204020203" pitchFamily="34" charset="0"/>
                      </a:rPr>
                      <m:t>defaults</m:t>
                    </m:r>
                    <m:r>
                      <m:rPr>
                        <m:nor/>
                      </m:rPr>
                      <a:rPr lang="en-GB" dirty="0">
                        <a:latin typeface="Bahnschrift Light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GB" dirty="0">
                        <a:latin typeface="Bahnschrift Light" panose="020B0502040204020203" pitchFamily="34" charset="0"/>
                      </a:rPr>
                      <m:t>to</m:t>
                    </m:r>
                    <m:r>
                      <m:rPr>
                        <m:nor/>
                      </m:rPr>
                      <a:rPr lang="en-GB" dirty="0">
                        <a:latin typeface="Bahnschrift Light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GB" dirty="0">
                        <a:latin typeface="Bahnschrift Light" panose="020B0502040204020203" pitchFamily="34" charset="0"/>
                      </a:rPr>
                      <m:t>Fulmars</m:t>
                    </m:r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2,3, 4, 5</m:t>
                        </m:r>
                      </m:sub>
                    </m:sSub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are contrast treatments.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I.e. difference between fulmars and the given species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28878-BD57-27EC-5D0E-2358E252D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62" y="1325563"/>
                <a:ext cx="5577114" cy="5313776"/>
              </a:xfrm>
              <a:prstGeom prst="rect">
                <a:avLst/>
              </a:prstGeom>
              <a:blipFill>
                <a:blip r:embed="rId2"/>
                <a:stretch>
                  <a:fillRect l="-2186" t="-19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0692C98-4D9C-D38F-2EEB-21A18E76D433}"/>
              </a:ext>
            </a:extLst>
          </p:cNvPr>
          <p:cNvSpPr txBox="1"/>
          <p:nvPr/>
        </p:nvSpPr>
        <p:spPr>
          <a:xfrm>
            <a:off x="6090170" y="2323495"/>
            <a:ext cx="6021936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summary(mod2)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found ~ dist2col + species, family = 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(link = "log"), data = birds)</a:t>
            </a:r>
          </a:p>
          <a:p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  Estimate Std. Error z value  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(&gt;|z|)    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	</a:t>
            </a:r>
            <a:r>
              <a:rPr lang="en-GB" sz="11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0.81742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0.21359   3.827   0.00013 ***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dist2col             </a:t>
            </a:r>
            <a:r>
              <a:rPr lang="en-GB" sz="11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-0.64423    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0.07222  -8.920   &lt; 2e-16 ***</a:t>
            </a:r>
          </a:p>
          <a:p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speciesGuillemot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	</a:t>
            </a:r>
            <a:r>
              <a:rPr lang="en-GB" sz="11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1.86896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0.20002   9.344   &lt; 2e-16 ***</a:t>
            </a:r>
          </a:p>
          <a:p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speciesHerring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gull   </a:t>
            </a:r>
            <a:r>
              <a:rPr lang="en-GB" sz="11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0.77691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0.25645   3.029   0.00245 ** </a:t>
            </a:r>
          </a:p>
          <a:p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speciesKittiwake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1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1.64967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0.20744   7.953  1.83e-15 ***</a:t>
            </a:r>
          </a:p>
          <a:p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speciesRazorbill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GB" sz="11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-0.27517    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0.27921  -0.986   0.32437    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</p:spTree>
    <p:extLst>
      <p:ext uri="{BB962C8B-B14F-4D97-AF65-F5344CB8AC3E}">
        <p14:creationId xmlns:p14="http://schemas.microsoft.com/office/powerpoint/2010/main" val="78898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have we learnt?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28878-BD57-27EC-5D0E-2358E252DE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447799"/>
                <a:ext cx="12192000" cy="51915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−0.6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+1.9×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𝐺𝑢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+0.8×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+1.7×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𝐾𝑖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+−0.3×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𝑅𝑎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 algn="ctr">
                  <a:buNone/>
                </a:pPr>
                <a:r>
                  <a:rPr lang="en-GB" dirty="0">
                    <a:latin typeface="Bahnschrift Light" panose="020B0502040204020203" pitchFamily="34" charset="0"/>
                  </a:rPr>
                  <a:t>How many </a:t>
                </a:r>
                <a:r>
                  <a:rPr lang="en-GB" dirty="0" err="1">
                    <a:latin typeface="Bahnschrift Light" panose="020B0502040204020203" pitchFamily="34" charset="0"/>
                  </a:rPr>
                  <a:t>Kittwakes</a:t>
                </a:r>
                <a:r>
                  <a:rPr lang="en-GB" dirty="0">
                    <a:latin typeface="Bahnschrift Light" panose="020B0502040204020203" pitchFamily="34" charset="0"/>
                  </a:rPr>
                  <a:t> do we expect</a:t>
                </a:r>
                <a:br>
                  <a:rPr lang="en-GB">
                    <a:latin typeface="Bahnschrift Light" panose="020B0502040204020203" pitchFamily="34" charset="0"/>
                  </a:rPr>
                </a:br>
                <a:r>
                  <a:rPr lang="en-GB">
                    <a:latin typeface="Bahnschrift Light" panose="020B0502040204020203" pitchFamily="34" charset="0"/>
                  </a:rPr>
                  <a:t>to </a:t>
                </a:r>
                <a:r>
                  <a:rPr lang="en-GB" dirty="0">
                    <a:latin typeface="Bahnschrift Light" panose="020B0502040204020203" pitchFamily="34" charset="0"/>
                  </a:rPr>
                  <a:t>find at a turbine, if the nearest colony </a:t>
                </a:r>
                <a:br>
                  <a:rPr lang="en-GB" dirty="0">
                    <a:latin typeface="Bahnschrift Light" panose="020B0502040204020203" pitchFamily="34" charset="0"/>
                  </a:rPr>
                </a:br>
                <a:r>
                  <a:rPr lang="en-GB" dirty="0">
                    <a:latin typeface="Bahnschrift Light" panose="020B0502040204020203" pitchFamily="34" charset="0"/>
                  </a:rPr>
                  <a:t>was 5 km away?</a:t>
                </a:r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28878-BD57-27EC-5D0E-2358E252D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47799"/>
                <a:ext cx="12192000" cy="51915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624681-8786-0C77-472F-F4310101FCF0}"/>
                  </a:ext>
                </a:extLst>
              </p:cNvPr>
              <p:cNvSpPr txBox="1"/>
              <p:nvPr/>
            </p:nvSpPr>
            <p:spPr>
              <a:xfrm>
                <a:off x="209550" y="4043568"/>
                <a:ext cx="11772900" cy="2104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0.8+−0.6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i="1" smtClean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1.9×</m:t>
                      </m:r>
                      <m:r>
                        <a:rPr lang="en-GB" sz="3200" b="0" i="1" smtClean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i="1" smtClean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0.8×</m:t>
                      </m:r>
                      <m:r>
                        <a:rPr lang="en-GB" sz="3200" b="0" i="1" smtClean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+1.7×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i="1" smtClean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−0.3×</m:t>
                      </m:r>
                      <m:r>
                        <a:rPr lang="en-GB" sz="3200" b="0" i="1" smtClean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3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             =</m:t>
                      </m:r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0.8+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−3+1.7</m:t>
                      </m:r>
                    </m:oMath>
                  </m:oMathPara>
                </a14:m>
                <a:endParaRPr lang="en-GB" sz="3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3200" b="0" dirty="0"/>
                  <a:t> </a:t>
                </a:r>
                <a14:m>
                  <m:oMath xmlns:m="http://schemas.openxmlformats.org/officeDocument/2006/math">
                    <m:r>
                      <a:rPr lang="en-GB" sz="3200" b="0" i="0" smtClean="0"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=−0.5</m:t>
                    </m:r>
                  </m:oMath>
                </a14:m>
                <a:endParaRPr lang="en-GB" sz="3200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−0.5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GB" sz="3200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624681-8786-0C77-472F-F4310101F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" y="4043568"/>
                <a:ext cx="11772900" cy="21042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CA338F8D-223A-84D1-D13A-0C127869318E}"/>
              </a:ext>
            </a:extLst>
          </p:cNvPr>
          <p:cNvGrpSpPr/>
          <p:nvPr/>
        </p:nvGrpSpPr>
        <p:grpSpPr>
          <a:xfrm>
            <a:off x="1598064" y="1956987"/>
            <a:ext cx="8193992" cy="1726223"/>
            <a:chOff x="1598064" y="1956987"/>
            <a:chExt cx="8193992" cy="172622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235E8EF-0D0D-6F3D-2F8B-A5432EB482DF}"/>
                </a:ext>
              </a:extLst>
            </p:cNvPr>
            <p:cNvGrpSpPr/>
            <p:nvPr/>
          </p:nvGrpSpPr>
          <p:grpSpPr>
            <a:xfrm>
              <a:off x="1598064" y="1956987"/>
              <a:ext cx="8193992" cy="0"/>
              <a:chOff x="1598064" y="1956987"/>
              <a:chExt cx="8193992" cy="0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CB849986-9E77-F5FE-A16B-6489ED57701A}"/>
                  </a:ext>
                </a:extLst>
              </p:cNvPr>
              <p:cNvCxnSpPr/>
              <p:nvPr/>
            </p:nvCxnSpPr>
            <p:spPr>
              <a:xfrm>
                <a:off x="1598064" y="1956987"/>
                <a:ext cx="2273181" cy="0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0D60BECF-9038-1625-825C-61BBA63CB5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17607" y="1956987"/>
                <a:ext cx="1374449" cy="0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EC3469E-3A37-C3CA-0AC4-DFE541875FC0}"/>
                </a:ext>
              </a:extLst>
            </p:cNvPr>
            <p:cNvCxnSpPr>
              <a:cxnSpLocks/>
            </p:cNvCxnSpPr>
            <p:nvPr/>
          </p:nvCxnSpPr>
          <p:spPr>
            <a:xfrm>
              <a:off x="5100330" y="2909487"/>
              <a:ext cx="1555444" cy="0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D48E503-8F6E-25F2-ED39-AAB02E5E729A}"/>
                </a:ext>
              </a:extLst>
            </p:cNvPr>
            <p:cNvCxnSpPr>
              <a:cxnSpLocks/>
            </p:cNvCxnSpPr>
            <p:nvPr/>
          </p:nvCxnSpPr>
          <p:spPr>
            <a:xfrm>
              <a:off x="5554247" y="3683210"/>
              <a:ext cx="758631" cy="0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395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900" y="1905000"/>
                <a:ext cx="5880100" cy="4676774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We can repeat this process for the full range of distances for Kittiwakes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If we want this for each species, we can then “turn on” the prediction for a given species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E.g. for guillemots, set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𝐺𝑈𝐼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𝐻𝑒𝑟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𝐾𝑖𝑡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𝑅𝑎𝑧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lvl="1"/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𝐺𝑢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𝐻𝑒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𝐾𝑖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𝑅𝑎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900" y="1905000"/>
                <a:ext cx="5880100" cy="4676774"/>
              </a:xfrm>
              <a:blipFill>
                <a:blip r:embed="rId2"/>
                <a:stretch>
                  <a:fillRect l="-1865" t="-23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>
                <a:latin typeface="Bahnschrift Light" panose="020B0502040204020203" pitchFamily="34" charset="0"/>
              </a:rPr>
              <a:t>Full predictions</a:t>
            </a:r>
            <a:endParaRPr lang="en-GB" sz="5400" dirty="0">
              <a:latin typeface="Bahnschrift Light" panose="020B0502040204020203" pitchFamily="34" charset="0"/>
            </a:endParaRPr>
          </a:p>
        </p:txBody>
      </p:sp>
      <p:pic>
        <p:nvPicPr>
          <p:cNvPr id="5" name="Picture 4" descr="A black graph with white text&#10;&#10;Description automatically generated">
            <a:extLst>
              <a:ext uri="{FF2B5EF4-FFF2-40B4-BE49-F238E27FC236}">
                <a16:creationId xmlns:a16="http://schemas.microsoft.com/office/drawing/2014/main" id="{2A3143AB-8415-17A9-E0BF-4018B01663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085" y="1423687"/>
            <a:ext cx="5158088" cy="5158088"/>
          </a:xfrm>
          <a:prstGeom prst="rect">
            <a:avLst/>
          </a:prstGeom>
        </p:spPr>
      </p:pic>
      <p:pic>
        <p:nvPicPr>
          <p:cNvPr id="8" name="Picture 7" descr="A graph with numbers and text&#10;&#10;Description automatically generated">
            <a:extLst>
              <a:ext uri="{FF2B5EF4-FFF2-40B4-BE49-F238E27FC236}">
                <a16:creationId xmlns:a16="http://schemas.microsoft.com/office/drawing/2014/main" id="{12419F2F-3C20-970B-EFCE-72B6E5D868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085" y="1423687"/>
            <a:ext cx="5158087" cy="515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91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Returning to answer our 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6400" y="1619249"/>
                <a:ext cx="6494654" cy="50721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800" dirty="0">
                    <a:latin typeface="Bahnschrift Light" panose="020B0502040204020203" pitchFamily="34" charset="0"/>
                  </a:rPr>
                  <a:t>Our questions: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1800" dirty="0">
                    <a:latin typeface="Bahnschrift Light" panose="020B0502040204020203" pitchFamily="34" charset="0"/>
                  </a:rPr>
                  <a:t>Does distance from nearest colony have any relationship with the number of collisions?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1800" dirty="0">
                    <a:latin typeface="Bahnschrift Light" panose="020B0502040204020203" pitchFamily="34" charset="0"/>
                  </a:rPr>
                  <a:t>How big is this effect?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1800" dirty="0">
                    <a:latin typeface="Bahnschrift Light" panose="020B0502040204020203" pitchFamily="34" charset="0"/>
                  </a:rPr>
                  <a:t>Are some species at higher risk?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latin typeface="Bahnschrift Light" panose="020B0502040204020203" pitchFamily="34" charset="0"/>
                  </a:rPr>
                  <a:t>Our answers: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“Yes, we find that turbines closer to colonies have more collisions.”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“The number of collisions can be predicted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0.8</m:t>
                        </m:r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−0.6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(Fig. 1).”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“Yes, kittiwakes and guillemots.”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1619249"/>
                <a:ext cx="6494654" cy="5072108"/>
              </a:xfrm>
              <a:blipFill>
                <a:blip r:embed="rId2"/>
                <a:stretch>
                  <a:fillRect l="-1972" t="-1202" r="-11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6E5775E-EDC5-A5EC-3D23-3BA9142E91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765"/>
          <a:stretch/>
        </p:blipFill>
        <p:spPr>
          <a:xfrm>
            <a:off x="6901054" y="1619249"/>
            <a:ext cx="5170784" cy="44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31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191" y="1723981"/>
                <a:ext cx="5982246" cy="4684608"/>
              </a:xfrm>
            </p:spPr>
            <p:txBody>
              <a:bodyPr>
                <a:normAutofit fontScale="92500"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Think carefully about your data and error structure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is appropriate, fit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GLM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Check your assumptions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has an extra assumption regarding dispersion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Interpret your model results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Use your model equation to make specific predictions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Or make plots </a:t>
                </a:r>
                <a:r>
                  <a:rPr lang="en-GB">
                    <a:latin typeface="Bahnschrift Light" panose="020B0502040204020203" pitchFamily="34" charset="0"/>
                  </a:rPr>
                  <a:t>showing relationships</a:t>
                </a:r>
                <a:endParaRPr lang="en-GB" dirty="0">
                  <a:latin typeface="Bahnschrift Light" panose="020B0502040204020203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Use your results to answer your question (beware Monkey’s paw)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GB" dirty="0">
                  <a:latin typeface="Bahnschrift Light" panose="020B0502040204020203" pitchFamily="34" charset="0"/>
                </a:endParaRPr>
              </a:p>
              <a:p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191" y="1723981"/>
                <a:ext cx="5982246" cy="4684608"/>
              </a:xfrm>
              <a:blipFill>
                <a:blip r:embed="rId2"/>
                <a:stretch>
                  <a:fillRect l="-1835" t="-2865" r="-1835" b="-28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54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sz="5400" dirty="0">
                    <a:latin typeface="Bahnschrift Light" panose="020B0502040204020203" pitchFamily="34" charset="0"/>
                  </a:rPr>
                  <a:t> GLMs in short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  <a:blipFill>
                <a:blip r:embed="rId3"/>
                <a:stretch>
                  <a:fillRect t="-1382" b="-87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DB832E22-E488-A5B6-5580-826EA136D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882" y="1274570"/>
            <a:ext cx="5982246" cy="558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80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66</TotalTime>
  <Words>1329</Words>
  <Application>Microsoft Office PowerPoint</Application>
  <PresentationFormat>Widescreen</PresentationFormat>
  <Paragraphs>179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Bahnschrift Light</vt:lpstr>
      <vt:lpstr>Cambria Math</vt:lpstr>
      <vt:lpstr>Courier New</vt:lpstr>
      <vt:lpstr>sbs_template</vt:lpstr>
      <vt:lpstr>Poisson GLMs</vt:lpstr>
      <vt:lpstr>The Poisson distribution</vt:lpstr>
      <vt:lpstr>“Has more variation as average gets larger”</vt:lpstr>
      <vt:lpstr>Poisson link function</vt:lpstr>
      <vt:lpstr>Poisson link function</vt:lpstr>
      <vt:lpstr>The question</vt:lpstr>
      <vt:lpstr>PowerPoint Presentation</vt:lpstr>
      <vt:lpstr>What determines bird-turbine collisions?</vt:lpstr>
      <vt:lpstr>What determines bird-turbine collisions?</vt:lpstr>
      <vt:lpstr>Translating our question into models</vt:lpstr>
      <vt:lpstr>Running a GLM in R</vt:lpstr>
      <vt:lpstr>What does summary() say?</vt:lpstr>
      <vt:lpstr>Diagnose</vt:lpstr>
      <vt:lpstr>Dispersion assumption</vt:lpstr>
      <vt:lpstr>What is over-dispersion?</vt:lpstr>
      <vt:lpstr>Diagnose model</vt:lpstr>
      <vt:lpstr>Let’s try another model</vt:lpstr>
      <vt:lpstr>It can always be worse</vt:lpstr>
      <vt:lpstr>Inference</vt:lpstr>
      <vt:lpstr>What have we learnt?</vt:lpstr>
      <vt:lpstr>What have we learnt?</vt:lpstr>
      <vt:lpstr>Full predictions</vt:lpstr>
      <vt:lpstr>Returning to answer our questions</vt:lpstr>
      <vt:lpstr>Poisson GLMs in short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3</cp:revision>
  <dcterms:created xsi:type="dcterms:W3CDTF">2024-07-26T12:46:17Z</dcterms:created>
  <dcterms:modified xsi:type="dcterms:W3CDTF">2024-09-13T10:33:50Z</dcterms:modified>
</cp:coreProperties>
</file>