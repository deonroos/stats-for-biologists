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1"/>
  </p:notesMasterIdLst>
  <p:sldIdLst>
    <p:sldId id="256" r:id="rId2"/>
    <p:sldId id="307" r:id="rId3"/>
    <p:sldId id="311" r:id="rId4"/>
    <p:sldId id="308" r:id="rId5"/>
    <p:sldId id="318" r:id="rId6"/>
    <p:sldId id="331" r:id="rId7"/>
    <p:sldId id="309" r:id="rId8"/>
    <p:sldId id="310" r:id="rId9"/>
    <p:sldId id="319" r:id="rId10"/>
    <p:sldId id="330" r:id="rId11"/>
    <p:sldId id="312" r:id="rId12"/>
    <p:sldId id="321" r:id="rId13"/>
    <p:sldId id="323" r:id="rId14"/>
    <p:sldId id="322" r:id="rId15"/>
    <p:sldId id="324" r:id="rId16"/>
    <p:sldId id="326" r:id="rId17"/>
    <p:sldId id="329" r:id="rId18"/>
    <p:sldId id="313" r:id="rId19"/>
    <p:sldId id="327" r:id="rId20"/>
    <p:sldId id="314" r:id="rId21"/>
    <p:sldId id="332" r:id="rId22"/>
    <p:sldId id="328" r:id="rId23"/>
    <p:sldId id="320" r:id="rId24"/>
    <p:sldId id="333" r:id="rId25"/>
    <p:sldId id="334" r:id="rId26"/>
    <p:sldId id="335" r:id="rId27"/>
    <p:sldId id="336" r:id="rId28"/>
    <p:sldId id="337" r:id="rId29"/>
    <p:sldId id="338" r:id="rId30"/>
    <p:sldId id="339" r:id="rId31"/>
    <p:sldId id="342" r:id="rId32"/>
    <p:sldId id="344" r:id="rId33"/>
    <p:sldId id="341" r:id="rId34"/>
    <p:sldId id="345" r:id="rId35"/>
    <p:sldId id="346" r:id="rId36"/>
    <p:sldId id="347" r:id="rId37"/>
    <p:sldId id="348" r:id="rId38"/>
    <p:sldId id="340" r:id="rId39"/>
    <p:sldId id="349" r:id="rId4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  <a:srgbClr val="D95F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4" autoAdjust="0"/>
    <p:restoredTop sz="96283" autoAdjust="0"/>
  </p:normalViewPr>
  <p:slideViewPr>
    <p:cSldViewPr snapToGrid="0">
      <p:cViewPr varScale="1">
        <p:scale>
          <a:sx n="112" d="100"/>
          <a:sy n="112" d="100"/>
        </p:scale>
        <p:origin x="55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20" Type="http://schemas.openxmlformats.org/officeDocument/2006/relationships/slide" Target="slides/slide19.xml"/><Relationship Id="rId41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FB01288-9136-467D-9DC0-9664A6086215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AAD0B0-2BE5-4CCA-8A87-668A11EBE3C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82769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79197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07042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56001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54707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38040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132338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7731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0021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78253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47708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93643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74F88-8AA3-F83B-E332-1B67C54BC1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5237BD-17F5-D5CE-9243-50470C8607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DB1F86-7278-C9F6-E3C0-C274D9F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EB199A-E121-CBDF-3180-0EAB590AF1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ED1A4-E347-04C0-0E70-49706B981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8351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4BFC96-C5AD-4B8C-B2E4-AF6E6CF7ECBA}" type="datetimeFigureOut">
              <a:rPr lang="en-GB" smtClean="0"/>
              <a:t>07/08/2024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F67925A-BB76-4D16-A27F-18569744034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544996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9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gif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deonroos.shinyapps.io/Distributions/" TargetMode="Externa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hyperlink" Target="https://deonroos.shinyapps.io/Distributions/" TargetMode="Externa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B98D9C-DD53-AF2A-73CA-9B055507217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AIC &amp; NHST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17C4908-BF8B-F6A0-3856-4F1F5F7108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Additions to Linear Models</a:t>
            </a:r>
          </a:p>
        </p:txBody>
      </p:sp>
    </p:spTree>
    <p:extLst>
      <p:ext uri="{BB962C8B-B14F-4D97-AF65-F5344CB8AC3E}">
        <p14:creationId xmlns:p14="http://schemas.microsoft.com/office/powerpoint/2010/main" val="9354694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FD712-6B15-2451-9479-3F588889D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 commonly used “additions” in modelling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90BE0A-8364-5600-57DF-D676A4E38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An (Akaike’s) Information Criterion</a:t>
            </a:r>
          </a:p>
          <a:p>
            <a:pPr lvl="1"/>
            <a:r>
              <a:rPr lang="en-GB" dirty="0"/>
              <a:t>AIC</a:t>
            </a:r>
          </a:p>
          <a:p>
            <a:r>
              <a:rPr lang="en-GB" dirty="0"/>
              <a:t>Null Hypothesis Significance Testing</a:t>
            </a:r>
          </a:p>
          <a:p>
            <a:pPr lvl="1"/>
            <a:r>
              <a:rPr lang="en-GB" dirty="0"/>
              <a:t>NHST</a:t>
            </a:r>
          </a:p>
          <a:p>
            <a:r>
              <a:rPr lang="en-GB" dirty="0"/>
              <a:t>Form two different paradigms (i.e. schools of thought)</a:t>
            </a:r>
          </a:p>
          <a:p>
            <a:r>
              <a:rPr lang="en-GB" dirty="0"/>
              <a:t>Both are misused frequently</a:t>
            </a:r>
          </a:p>
          <a:p>
            <a:r>
              <a:rPr lang="en-GB" dirty="0"/>
              <a:t>But are useful tools in specific circumstances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ABA56A2-35BF-8455-8129-31174849CDD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01102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10586-9949-B24C-486A-04C458CEC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Null Hypothesis Significance Testing</a:t>
            </a:r>
          </a:p>
        </p:txBody>
      </p:sp>
    </p:spTree>
    <p:extLst>
      <p:ext uri="{BB962C8B-B14F-4D97-AF65-F5344CB8AC3E}">
        <p14:creationId xmlns:p14="http://schemas.microsoft.com/office/powerpoint/2010/main" val="426392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966F4-61DB-2206-A799-D1DDD327F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65FC6-1568-023E-2E9F-E29AE7DD5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Adelie penguins</a:t>
            </a:r>
          </a:p>
          <a:p>
            <a:r>
              <a:rPr lang="en-GB" dirty="0"/>
              <a:t>Diet varies according to what’s available (krill, </a:t>
            </a:r>
            <a:r>
              <a:rPr lang="en-GB" dirty="0" err="1"/>
              <a:t>laternfish</a:t>
            </a:r>
            <a:r>
              <a:rPr lang="en-GB" dirty="0"/>
              <a:t>, etc)</a:t>
            </a:r>
          </a:p>
          <a:p>
            <a:r>
              <a:rPr lang="en-GB" dirty="0"/>
              <a:t>Data from three islands</a:t>
            </a:r>
          </a:p>
          <a:p>
            <a:pPr lvl="1"/>
            <a:r>
              <a:rPr lang="en-GB" dirty="0"/>
              <a:t>Biscoe, Dream and Torgersen</a:t>
            </a:r>
          </a:p>
          <a:p>
            <a:r>
              <a:rPr lang="en-GB" dirty="0"/>
              <a:t>Does </a:t>
            </a:r>
            <a:r>
              <a:rPr lang="en-GB" dirty="0" err="1"/>
              <a:t>Adélie</a:t>
            </a:r>
            <a:r>
              <a:rPr lang="en-GB" dirty="0"/>
              <a:t> penguin weight differ between the three islands?</a:t>
            </a:r>
          </a:p>
        </p:txBody>
      </p:sp>
      <p:pic>
        <p:nvPicPr>
          <p:cNvPr id="6" name="Picture Placeholder 5" descr="A close up of a penguin&#10;&#10;Description automatically generated">
            <a:extLst>
              <a:ext uri="{FF2B5EF4-FFF2-40B4-BE49-F238E27FC236}">
                <a16:creationId xmlns:a16="http://schemas.microsoft.com/office/drawing/2014/main" id="{4C52760D-41D4-CD89-AA4F-6BA10C432DA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/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B2E5D3-2E00-AA1E-E816-3A14181112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891" r="-1"/>
          <a:stretch/>
        </p:blipFill>
        <p:spPr>
          <a:xfrm>
            <a:off x="6359524" y="-1"/>
            <a:ext cx="5832475" cy="6871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1753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966F4-61DB-2206-A799-D1DDD327F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765FC6-1568-023E-2E9F-E29AE7DD5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Does </a:t>
            </a:r>
            <a:r>
              <a:rPr lang="en-GB" dirty="0" err="1"/>
              <a:t>Adélie</a:t>
            </a:r>
            <a:r>
              <a:rPr lang="en-GB" dirty="0"/>
              <a:t> penguin weight differ between the three islands?</a:t>
            </a:r>
          </a:p>
          <a:p>
            <a:r>
              <a:rPr lang="en-GB" dirty="0"/>
              <a:t>Under NHST, we rephrase our question to a hypothesis (or statement) that we attempt to reject</a:t>
            </a:r>
          </a:p>
          <a:p>
            <a:r>
              <a:rPr lang="en-GB" dirty="0"/>
              <a:t>“There is </a:t>
            </a:r>
            <a:r>
              <a:rPr lang="en-GB" b="1" dirty="0">
                <a:solidFill>
                  <a:srgbClr val="FFFF00"/>
                </a:solidFill>
              </a:rPr>
              <a:t>no</a:t>
            </a:r>
            <a:r>
              <a:rPr lang="en-GB" dirty="0"/>
              <a:t> difference in </a:t>
            </a:r>
            <a:r>
              <a:rPr lang="en-GB" dirty="0" err="1"/>
              <a:t>Adélie</a:t>
            </a:r>
            <a:r>
              <a:rPr lang="en-GB" dirty="0"/>
              <a:t> size between the three islands”</a:t>
            </a:r>
          </a:p>
          <a:p>
            <a:r>
              <a:rPr lang="en-GB" dirty="0"/>
              <a:t>We now set out to disprove this</a:t>
            </a:r>
          </a:p>
        </p:txBody>
      </p:sp>
      <p:pic>
        <p:nvPicPr>
          <p:cNvPr id="6" name="Picture Placeholder 5" descr="A close up of a penguin&#10;&#10;Description automatically generated">
            <a:extLst>
              <a:ext uri="{FF2B5EF4-FFF2-40B4-BE49-F238E27FC236}">
                <a16:creationId xmlns:a16="http://schemas.microsoft.com/office/drawing/2014/main" id="{4C52760D-41D4-CD89-AA4F-6BA10C432DAA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477" r="7477"/>
          <a:stretch>
            <a:fillRect/>
          </a:stretch>
        </p:blipFill>
        <p:spPr/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B2E5D3-2E00-AA1E-E816-3A141811121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7891" r="-1"/>
          <a:stretch/>
        </p:blipFill>
        <p:spPr>
          <a:xfrm>
            <a:off x="6359524" y="-1"/>
            <a:ext cx="5832475" cy="6871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23150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4EA13-FE06-B285-FA0C-362784FD6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Popperian philosophy</a:t>
            </a:r>
          </a:p>
        </p:txBody>
      </p:sp>
    </p:spTree>
    <p:extLst>
      <p:ext uri="{BB962C8B-B14F-4D97-AF65-F5344CB8AC3E}">
        <p14:creationId xmlns:p14="http://schemas.microsoft.com/office/powerpoint/2010/main" val="8884313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E61AD-1DE5-725B-1522-BCB33D83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 negative?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CB3B7-CC55-43E6-8F4A-EFDE96A48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NHST closely follows a philosophy of science described by Karl Popper</a:t>
            </a:r>
          </a:p>
          <a:p>
            <a:pPr lvl="1"/>
            <a:r>
              <a:rPr lang="en-GB" dirty="0"/>
              <a:t>Many other scientific philosophies</a:t>
            </a:r>
          </a:p>
          <a:p>
            <a:pPr lvl="1"/>
            <a:r>
              <a:rPr lang="en-GB" dirty="0"/>
              <a:t>(Some are much better)</a:t>
            </a:r>
          </a:p>
          <a:p>
            <a:r>
              <a:rPr lang="en-GB" dirty="0"/>
              <a:t>Popper sought to distinguish between “science” and “pseudo-science”</a:t>
            </a:r>
          </a:p>
          <a:p>
            <a:r>
              <a:rPr lang="en-GB" dirty="0"/>
              <a:t>Crudely, they argued that “science” tries to prove itself wrong, while “pseudo-science” tries to prove itself right</a:t>
            </a:r>
          </a:p>
        </p:txBody>
      </p:sp>
      <p:pic>
        <p:nvPicPr>
          <p:cNvPr id="6" name="Picture Placeholder 5" descr="An old person in a sweater&#10;&#10;Description automatically generated">
            <a:extLst>
              <a:ext uri="{FF2B5EF4-FFF2-40B4-BE49-F238E27FC236}">
                <a16:creationId xmlns:a16="http://schemas.microsoft.com/office/drawing/2014/main" id="{C748632A-F0EB-F6D4-84B0-04BD9299679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73" r="7973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744504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E61AD-1DE5-725B-1522-BCB33D835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so negative?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4CB3B7-CC55-43E6-8F4A-EFDE96A48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If we cannot prove that we are wrong, then we assume we are right</a:t>
            </a:r>
          </a:p>
          <a:p>
            <a:pPr lvl="1"/>
            <a:r>
              <a:rPr lang="en-GB" dirty="0"/>
              <a:t>Rather than trying to prove that reiki does </a:t>
            </a:r>
            <a:r>
              <a:rPr lang="en-GB" i="1" dirty="0"/>
              <a:t>something</a:t>
            </a:r>
            <a:r>
              <a:rPr lang="en-GB" dirty="0"/>
              <a:t>, we try to show it does </a:t>
            </a:r>
            <a:r>
              <a:rPr lang="en-GB" i="1" dirty="0"/>
              <a:t>nothing</a:t>
            </a:r>
            <a:endParaRPr lang="en-GB" dirty="0"/>
          </a:p>
          <a:p>
            <a:r>
              <a:rPr lang="en-GB" dirty="0"/>
              <a:t>While keeping in mind that new data might come along that could change our mind</a:t>
            </a:r>
          </a:p>
          <a:p>
            <a:r>
              <a:rPr lang="en-GB" dirty="0"/>
              <a:t>When people refer to the “scientific method”, they are generally subscribing to Popper’s philosophy (normally unknowingly)</a:t>
            </a:r>
          </a:p>
        </p:txBody>
      </p:sp>
      <p:pic>
        <p:nvPicPr>
          <p:cNvPr id="6" name="Picture Placeholder 5" descr="A person holding their hands over a person's head&#10;&#10;Description automatically generated">
            <a:extLst>
              <a:ext uri="{FF2B5EF4-FFF2-40B4-BE49-F238E27FC236}">
                <a16:creationId xmlns:a16="http://schemas.microsoft.com/office/drawing/2014/main" id="{A36A2422-E010-2145-72A8-6AE498534631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68" r="24368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82504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45EB2-422E-8273-202C-3C5DAC610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Null hypotheses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82DED4-73A4-3A8D-43CE-F31AE46782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“Rather than trying to prove that reiki does </a:t>
                </a:r>
                <a:r>
                  <a:rPr lang="en-GB" i="1" dirty="0"/>
                  <a:t>something</a:t>
                </a:r>
                <a:r>
                  <a:rPr lang="en-GB" dirty="0"/>
                  <a:t>, we try to show it does </a:t>
                </a:r>
                <a:r>
                  <a:rPr lang="en-GB" i="1" dirty="0"/>
                  <a:t>nothing</a:t>
                </a:r>
                <a:r>
                  <a:rPr lang="en-GB" dirty="0"/>
                  <a:t>”</a:t>
                </a:r>
              </a:p>
              <a:p>
                <a:r>
                  <a:rPr lang="en-GB" dirty="0"/>
                  <a:t>“Does nothing” is the Null hypothesis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𝑂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“Does something” is the Alternative hypothesis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GB" dirty="0"/>
              </a:p>
              <a:p>
                <a:r>
                  <a:rPr lang="en-GB" dirty="0"/>
                  <a:t>Note: you still use hypotheses even if not using NHST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82DED4-73A4-3A8D-43CE-F31AE46782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49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Placeholder 5" descr="A person holding their hands over a person's head&#10;&#10;Description automatically generated">
            <a:extLst>
              <a:ext uri="{FF2B5EF4-FFF2-40B4-BE49-F238E27FC236}">
                <a16:creationId xmlns:a16="http://schemas.microsoft.com/office/drawing/2014/main" id="{80F31FF9-58B9-2094-E234-26383A2E5429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68" r="24368"/>
          <a:stretch>
            <a:fillRect/>
          </a:stretch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31941265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4EA13-FE06-B285-FA0C-362784FD6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P-values</a:t>
            </a:r>
          </a:p>
        </p:txBody>
      </p:sp>
    </p:spTree>
    <p:extLst>
      <p:ext uri="{BB962C8B-B14F-4D97-AF65-F5344CB8AC3E}">
        <p14:creationId xmlns:p14="http://schemas.microsoft.com/office/powerpoint/2010/main" val="11591344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145EB2-422E-8273-202C-3C5DAC610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P-values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2DED4-73A4-3A8D-43CE-F31AE4678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Basically, P-values are:</a:t>
            </a:r>
          </a:p>
          <a:p>
            <a:pPr lvl="1"/>
            <a:r>
              <a:rPr lang="en-GB" dirty="0"/>
              <a:t>What is the probability that the thing you just observed could have happened just by pure chance</a:t>
            </a:r>
          </a:p>
          <a:p>
            <a:pPr lvl="1"/>
            <a:r>
              <a:rPr lang="en-GB" dirty="0"/>
              <a:t>I.e. How likely is it that “nothing happens”, given there is variation?</a:t>
            </a:r>
          </a:p>
          <a:p>
            <a:r>
              <a:rPr lang="en-GB" dirty="0"/>
              <a:t>E.g. how likely is it to see a 1.7 m tall Emperor penguin, given the average is 1.1 m?</a:t>
            </a:r>
          </a:p>
        </p:txBody>
      </p:sp>
      <p:pic>
        <p:nvPicPr>
          <p:cNvPr id="6" name="Picture Placeholder 5" descr="A person standing next to a penguin&#10;&#10;Description automatically generated">
            <a:extLst>
              <a:ext uri="{FF2B5EF4-FFF2-40B4-BE49-F238E27FC236}">
                <a16:creationId xmlns:a16="http://schemas.microsoft.com/office/drawing/2014/main" id="{DB3CC2F4-7297-B269-85E2-1EA3B6E6ABA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1" r="600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4966076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79F4B-775A-E412-6C18-3D3DA5BF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by chance?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9D5C1-58B5-F925-9848-96E2BB222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It’s not </a:t>
            </a:r>
            <a:r>
              <a:rPr lang="en-GB" i="1" dirty="0"/>
              <a:t>impossible</a:t>
            </a:r>
            <a:r>
              <a:rPr lang="en-GB" dirty="0"/>
              <a:t> that we would observe a 1.7 m tall penguin</a:t>
            </a:r>
          </a:p>
          <a:p>
            <a:r>
              <a:rPr lang="en-GB" dirty="0"/>
              <a:t>But doesn’t seem very likely</a:t>
            </a:r>
          </a:p>
          <a:p>
            <a:r>
              <a:rPr lang="en-GB" dirty="0"/>
              <a:t>1.7 m is taller than 99.75 % of our  penguins</a:t>
            </a:r>
          </a:p>
          <a:p>
            <a:r>
              <a:rPr lang="en-GB" dirty="0"/>
              <a:t>99.75% of penguins are between </a:t>
            </a:r>
            <a:br>
              <a:rPr lang="en-GB" dirty="0"/>
            </a:br>
            <a:r>
              <a:rPr lang="en-GB" dirty="0"/>
              <a:t>0.71 m and 1.56 m tall</a:t>
            </a:r>
          </a:p>
          <a:p>
            <a:pPr lvl="1"/>
            <a:r>
              <a:rPr lang="en-GB" dirty="0"/>
              <a:t>So, a 99.75 % probability that if we measured a penguin, they’d be within that range</a:t>
            </a:r>
          </a:p>
        </p:txBody>
      </p:sp>
      <p:pic>
        <p:nvPicPr>
          <p:cNvPr id="28" name="Picture Placeholder 27" descr="A graph of a penguin&#10;&#10;Description automatically generated">
            <a:extLst>
              <a:ext uri="{FF2B5EF4-FFF2-40B4-BE49-F238E27FC236}">
                <a16:creationId xmlns:a16="http://schemas.microsoft.com/office/drawing/2014/main" id="{41EEF88A-D43C-92CC-E85C-8C1ED804645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866256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79F4B-775A-E412-6C18-3D3DA5BF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by chance?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9D5C1-58B5-F925-9848-96E2BB222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green area captures all possible heights we could measure of Emperor penguins</a:t>
            </a:r>
          </a:p>
          <a:p>
            <a:pPr lvl="1"/>
            <a:r>
              <a:rPr lang="en-GB" dirty="0"/>
              <a:t>Given the average height of 1.1 m</a:t>
            </a:r>
          </a:p>
          <a:p>
            <a:pPr lvl="1"/>
            <a:r>
              <a:rPr lang="en-GB" dirty="0"/>
              <a:t>And a standard deviation of 15 cm</a:t>
            </a:r>
          </a:p>
          <a:p>
            <a:r>
              <a:rPr lang="en-GB" dirty="0"/>
              <a:t>Area under the curve includes our 1.7 m tall penguin</a:t>
            </a:r>
          </a:p>
        </p:txBody>
      </p:sp>
      <p:pic>
        <p:nvPicPr>
          <p:cNvPr id="17" name="Picture Placeholder 16" descr="A graph of a penguin&#10;&#10;Description automatically generated with medium confidence">
            <a:extLst>
              <a:ext uri="{FF2B5EF4-FFF2-40B4-BE49-F238E27FC236}">
                <a16:creationId xmlns:a16="http://schemas.microsoft.com/office/drawing/2014/main" id="{749BF699-BE0E-D1D0-DE5C-7361C51F4BC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79043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79F4B-775A-E412-6C18-3D3DA5BF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by chance?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19D5C1-58B5-F925-9848-96E2BB222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99.75% of penguins between 0.71 m and 1.56 m tall</a:t>
            </a:r>
          </a:p>
          <a:p>
            <a:pPr lvl="1"/>
            <a:r>
              <a:rPr lang="en-GB" dirty="0"/>
              <a:t>So, a 99.75% probability that if we measured a penguin, they’d be within that range</a:t>
            </a:r>
          </a:p>
          <a:p>
            <a:r>
              <a:rPr lang="en-GB" dirty="0"/>
              <a:t>0.25% of penguins are greater than 1.56 m tall</a:t>
            </a:r>
          </a:p>
          <a:p>
            <a:pPr lvl="1"/>
            <a:r>
              <a:rPr lang="en-GB" dirty="0"/>
              <a:t>So, a 0.25% probability that each time we measure a penguin, it will be greater than 1.56 cm tall</a:t>
            </a:r>
          </a:p>
          <a:p>
            <a:pPr lvl="1"/>
            <a:r>
              <a:rPr lang="en-GB" dirty="0"/>
              <a:t>Including 1.7 m tall</a:t>
            </a:r>
          </a:p>
        </p:txBody>
      </p:sp>
      <p:pic>
        <p:nvPicPr>
          <p:cNvPr id="18" name="Picture Placeholder 17" descr="A green and white graph&#10;&#10;Description automatically generated">
            <a:extLst>
              <a:ext uri="{FF2B5EF4-FFF2-40B4-BE49-F238E27FC236}">
                <a16:creationId xmlns:a16="http://schemas.microsoft.com/office/drawing/2014/main" id="{9E5D9426-F8D3-0E1F-F687-14D5AA6D7F9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393119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B7451-213B-8E19-36B5-60056C0243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Two possible explanations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9EBEFB-F74D-D753-A2BF-80EFADE47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Either this 1.7 m tall penguin came from the same distribution</a:t>
            </a:r>
          </a:p>
          <a:p>
            <a:pPr lvl="1"/>
            <a:r>
              <a:rPr lang="en-GB" dirty="0"/>
              <a:t>It’s just very rare to see one this big</a:t>
            </a:r>
          </a:p>
          <a:p>
            <a:r>
              <a:rPr lang="en-GB" dirty="0"/>
              <a:t>Or it came from some other unknown distribution (e.g. </a:t>
            </a:r>
            <a:r>
              <a:rPr lang="en-GB" dirty="0">
                <a:solidFill>
                  <a:srgbClr val="D95F02"/>
                </a:solidFill>
              </a:rPr>
              <a:t>orange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E.g. a population with particularly tall penguins</a:t>
            </a:r>
          </a:p>
          <a:p>
            <a:r>
              <a:rPr lang="en-GB" dirty="0"/>
              <a:t>What is the probability that it came from some other distribution?</a:t>
            </a:r>
          </a:p>
        </p:txBody>
      </p:sp>
      <p:pic>
        <p:nvPicPr>
          <p:cNvPr id="22" name="Picture Placeholder 21" descr="A graph of a penguin&#10;&#10;Description automatically generated with medium confidence">
            <a:extLst>
              <a:ext uri="{FF2B5EF4-FFF2-40B4-BE49-F238E27FC236}">
                <a16:creationId xmlns:a16="http://schemas.microsoft.com/office/drawing/2014/main" id="{47F9B64B-C590-23AE-9EF9-6D4BCBA3A2A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23" name="Picture Placeholder 27" descr="A graph of a penguin&#10;&#10;Description automatically generated">
            <a:extLst>
              <a:ext uri="{FF2B5EF4-FFF2-40B4-BE49-F238E27FC236}">
                <a16:creationId xmlns:a16="http://schemas.microsoft.com/office/drawing/2014/main" id="{BCA6BB61-4829-EBE0-04AE-5B0809D4C8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>
          <a:xfrm>
            <a:off x="6359525" y="0"/>
            <a:ext cx="58324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0745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79F4B-775A-E412-6C18-3D3DA5BF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Just by chance?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9D5C1-58B5-F925-9848-96E2BB22273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0" y="1426613"/>
                <a:ext cx="6471138" cy="5240194"/>
              </a:xfrm>
            </p:spPr>
            <p:txBody>
              <a:bodyPr/>
              <a:lstStyle/>
              <a:p>
                <a:r>
                  <a:rPr lang="en-GB" dirty="0"/>
                  <a:t>The P-value to see an extreme height like our giant 1.7 m tall penguin is:</a:t>
                </a:r>
              </a:p>
              <a:p>
                <a:pPr lvl="1"/>
                <a:r>
                  <a:rPr lang="en-GB" dirty="0"/>
                  <a:t>Probability of being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</m:oMath>
                </a14:m>
                <a:r>
                  <a:rPr lang="en-GB" dirty="0"/>
                  <a:t> 1.7 m</a:t>
                </a:r>
              </a:p>
              <a:p>
                <a:pPr lvl="1"/>
                <a:r>
                  <a:rPr lang="en-GB" dirty="0"/>
                  <a:t>Probability of being very small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GB" dirty="0"/>
                  <a:t> 0.71 m)</a:t>
                </a:r>
              </a:p>
              <a:p>
                <a:pPr lvl="2"/>
                <a:r>
                  <a:rPr lang="en-GB" dirty="0"/>
                  <a:t>Included as we want to know extremes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=0.0025+0.0025=0.005</m:t>
                    </m:r>
                  </m:oMath>
                </a14:m>
                <a:endParaRPr lang="en-GB" dirty="0"/>
              </a:p>
              <a:p>
                <a:pPr lvl="2"/>
                <a:r>
                  <a:rPr lang="en-GB" dirty="0"/>
                  <a:t>A “two-sided P-value”</a:t>
                </a:r>
              </a:p>
              <a:p>
                <a:r>
                  <a:rPr lang="en-GB" dirty="0"/>
                  <a:t>0.5% chance our 1.7 m tall came from the same distribution as our “normal” penguins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419D5C1-58B5-F925-9848-96E2BB2227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0" y="1426613"/>
                <a:ext cx="6471138" cy="5240194"/>
              </a:xfrm>
              <a:blipFill>
                <a:blip r:embed="rId2"/>
                <a:stretch>
                  <a:fillRect l="-1695" r="-207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Placeholder 10" descr="A green and white graph&#10;&#10;Description automatically generated">
            <a:extLst>
              <a:ext uri="{FF2B5EF4-FFF2-40B4-BE49-F238E27FC236}">
                <a16:creationId xmlns:a16="http://schemas.microsoft.com/office/drawing/2014/main" id="{488EE6EB-7E41-213E-8DCD-EC9D5FA104A5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1683348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4EA13-FE06-B285-FA0C-362784FD6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“Statistical significance”</a:t>
            </a:r>
          </a:p>
        </p:txBody>
      </p:sp>
    </p:spTree>
    <p:extLst>
      <p:ext uri="{BB962C8B-B14F-4D97-AF65-F5344CB8AC3E}">
        <p14:creationId xmlns:p14="http://schemas.microsoft.com/office/powerpoint/2010/main" val="11220203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DC8ACED-3CB1-4C12-164C-4906C7026A1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level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DC8ACED-3CB1-4C12-164C-4906C7026A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D27ED-04A7-5356-D5A4-9B65A66E2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Getting a P-value does not quite get us to NHST</a:t>
            </a:r>
          </a:p>
          <a:p>
            <a:r>
              <a:rPr lang="en-GB" dirty="0"/>
              <a:t>For that, we need some threshold for a probability which we deem to be meaningful</a:t>
            </a:r>
          </a:p>
          <a:p>
            <a:r>
              <a:rPr lang="en-GB" dirty="0"/>
              <a:t>Choice is entirely arbitrary</a:t>
            </a:r>
          </a:p>
          <a:p>
            <a:r>
              <a:rPr lang="en-GB" dirty="0"/>
              <a:t>But researchers tend to fixate (incorrectly) on a threshold of 5%</a:t>
            </a:r>
          </a:p>
          <a:p>
            <a:pPr lvl="1"/>
            <a:r>
              <a:rPr lang="en-GB" dirty="0"/>
              <a:t>I.e. there is less than a 5% chance that the 1.7 m tall penguin came from the same distribution</a:t>
            </a:r>
          </a:p>
        </p:txBody>
      </p:sp>
      <p:pic>
        <p:nvPicPr>
          <p:cNvPr id="6" name="Picture Placeholder 5" descr="A person lifting weights in front of a green background&#10;&#10;Description automatically generated">
            <a:extLst>
              <a:ext uri="{FF2B5EF4-FFF2-40B4-BE49-F238E27FC236}">
                <a16:creationId xmlns:a16="http://schemas.microsoft.com/office/drawing/2014/main" id="{5FD9F7E4-192E-AE5F-6401-533FFF091A48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651" r="21651"/>
          <a:stretch>
            <a:fillRect/>
          </a:stretch>
        </p:blipFill>
        <p:spPr/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590224-9CF2-FFD5-8945-CC50DDCE3E78}"/>
                  </a:ext>
                </a:extLst>
              </p:cNvPr>
              <p:cNvSpPr txBox="1"/>
              <p:nvPr/>
            </p:nvSpPr>
            <p:spPr>
              <a:xfrm>
                <a:off x="5911606" y="1325563"/>
                <a:ext cx="2097369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6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590224-9CF2-FFD5-8945-CC50DDCE3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606" y="1325563"/>
                <a:ext cx="2097369" cy="2646878"/>
              </a:xfrm>
              <a:prstGeom prst="rect">
                <a:avLst/>
              </a:prstGeom>
              <a:blipFill>
                <a:blip r:embed="rId4"/>
                <a:stretch>
                  <a:fillRect t="-23218" r="-69186" b="-439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75C507-1416-A1A3-2E19-C3772E62043B}"/>
                  </a:ext>
                </a:extLst>
              </p:cNvPr>
              <p:cNvSpPr txBox="1"/>
              <p:nvPr/>
            </p:nvSpPr>
            <p:spPr>
              <a:xfrm>
                <a:off x="10621680" y="1325563"/>
                <a:ext cx="2097369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6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75C507-1416-A1A3-2E19-C3772E620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1680" y="1325563"/>
                <a:ext cx="2097369" cy="2646878"/>
              </a:xfrm>
              <a:prstGeom prst="rect">
                <a:avLst/>
              </a:prstGeom>
              <a:blipFill>
                <a:blip r:embed="rId5"/>
                <a:stretch>
                  <a:fillRect t="-23218" r="-69186" b="-439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81224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DC8ACED-3CB1-4C12-164C-4906C7026A1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level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4DC8ACED-3CB1-4C12-164C-4906C7026A1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1D27ED-04A7-5356-D5A4-9B65A66E29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GB" dirty="0"/>
                  <a:t>If the P-value is below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, then we reject our Null hypothesis</a:t>
                </a:r>
              </a:p>
              <a:p>
                <a:pPr lvl="1"/>
                <a:r>
                  <a:rPr lang="en-GB" dirty="0"/>
                  <a:t>Remember, our Null hypothesis is “nothing happens”</a:t>
                </a:r>
              </a:p>
              <a:p>
                <a:pPr lvl="1"/>
                <a:r>
                  <a:rPr lang="en-GB" dirty="0"/>
                  <a:t>Or more accurately, “no difference”</a:t>
                </a:r>
              </a:p>
              <a:p>
                <a:r>
                  <a:rPr lang="en-GB" dirty="0"/>
                  <a:t>For our tall penguin, our Null hypothesis is:</a:t>
                </a:r>
              </a:p>
              <a:p>
                <a:pPr lvl="1"/>
                <a:r>
                  <a:rPr lang="en-GB" dirty="0"/>
                  <a:t>The 1.7m tall penguin is part of the white distribution</a:t>
                </a:r>
                <a:endParaRPr lang="en-GB" dirty="0">
                  <a:solidFill>
                    <a:srgbClr val="D95F02"/>
                  </a:solidFill>
                </a:endParaRPr>
              </a:p>
              <a:p>
                <a:pPr lvl="1"/>
                <a:r>
                  <a:rPr lang="en-GB" dirty="0"/>
                  <a:t>If the P-value is above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(i.e. big), then we accept this statement</a:t>
                </a:r>
              </a:p>
              <a:p>
                <a:pPr lvl="1"/>
                <a:r>
                  <a:rPr lang="en-GB" dirty="0"/>
                  <a:t>If the P-value is below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(i.e. small), then we reject this statement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81D27ED-04A7-5356-D5A4-9B65A66E29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 t="-349" r="-1082" b="-6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590224-9CF2-FFD5-8945-CC50DDCE3E78}"/>
                  </a:ext>
                </a:extLst>
              </p:cNvPr>
              <p:cNvSpPr txBox="1"/>
              <p:nvPr/>
            </p:nvSpPr>
            <p:spPr>
              <a:xfrm>
                <a:off x="5911606" y="1325563"/>
                <a:ext cx="2097369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6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8590224-9CF2-FFD5-8945-CC50DDCE3E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1606" y="1325563"/>
                <a:ext cx="2097369" cy="2646878"/>
              </a:xfrm>
              <a:prstGeom prst="rect">
                <a:avLst/>
              </a:prstGeom>
              <a:blipFill>
                <a:blip r:embed="rId4"/>
                <a:stretch>
                  <a:fillRect t="-23218" r="-69186" b="-439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75C507-1416-A1A3-2E19-C3772E62043B}"/>
                  </a:ext>
                </a:extLst>
              </p:cNvPr>
              <p:cNvSpPr txBox="1"/>
              <p:nvPr/>
            </p:nvSpPr>
            <p:spPr>
              <a:xfrm>
                <a:off x="10621680" y="1325563"/>
                <a:ext cx="2097369" cy="26468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66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</m:oMath>
                  </m:oMathPara>
                </a14:m>
                <a:endParaRPr lang="en-GB" sz="166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8975C507-1416-A1A3-2E19-C3772E620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21680" y="1325563"/>
                <a:ext cx="2097369" cy="2646878"/>
              </a:xfrm>
              <a:prstGeom prst="rect">
                <a:avLst/>
              </a:prstGeom>
              <a:blipFill>
                <a:blip r:embed="rId5"/>
                <a:stretch>
                  <a:fillRect t="-23218" r="-69186" b="-4390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Placeholder 12" descr="A graph of a penguin&#10;&#10;Description automatically generated with medium confidence">
            <a:extLst>
              <a:ext uri="{FF2B5EF4-FFF2-40B4-BE49-F238E27FC236}">
                <a16:creationId xmlns:a16="http://schemas.microsoft.com/office/drawing/2014/main" id="{D1E7CE66-E6F7-70AC-2F2E-59592BE87DA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3955131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B5089E2-BB20-D90F-2A74-219E5D0950E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=0.05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B5089E2-BB20-D90F-2A74-219E5D0950E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6B6B7F-6C8B-3E40-80B8-CFD283B682E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/>
                  <a:t>To be very, very clear</a:t>
                </a:r>
              </a:p>
              <a:p>
                <a:r>
                  <a:rPr lang="en-GB" dirty="0"/>
                  <a:t>Putting the threshold at 5% (or P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GB" dirty="0"/>
                  <a:t> 0.05) is completely arbitrary</a:t>
                </a:r>
              </a:p>
              <a:p>
                <a:r>
                  <a:rPr lang="en-GB" dirty="0"/>
                  <a:t>There is zero (!) statistical rationale for this</a:t>
                </a:r>
              </a:p>
              <a:p>
                <a:r>
                  <a:rPr lang="en-GB" dirty="0"/>
                  <a:t>Could be as dumb as we have 5 fingers on one hand, so let’s set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to 5%</a:t>
                </a:r>
              </a:p>
              <a:p>
                <a:r>
                  <a:rPr lang="en-GB" dirty="0"/>
                  <a:t>The person who developed this method even warned that 5% should not be thought of as being meaningful </a:t>
                </a:r>
              </a:p>
              <a:p>
                <a:pPr lvl="1"/>
                <a:r>
                  <a:rPr lang="en-GB" dirty="0"/>
                  <a:t>Yet people still use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=0.05</m:t>
                    </m:r>
                  </m:oMath>
                </a14:m>
                <a:r>
                  <a:rPr lang="en-GB" dirty="0"/>
                  <a:t> blindly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6B6B7F-6C8B-3E40-80B8-CFD283B682E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770" t="-1047" r="-3343" b="-69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person looking at a person&#10;&#10;Description automatically generated">
            <a:extLst>
              <a:ext uri="{FF2B5EF4-FFF2-40B4-BE49-F238E27FC236}">
                <a16:creationId xmlns:a16="http://schemas.microsoft.com/office/drawing/2014/main" id="{238757F8-69B0-FE13-A3D1-A0F61420F31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5" t="-48633" r="81" b="3364"/>
          <a:stretch/>
        </p:blipFill>
        <p:spPr>
          <a:xfrm>
            <a:off x="6359525" y="0"/>
            <a:ext cx="5832475" cy="5064369"/>
          </a:xfr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7F828FC-6B86-BECF-1FDA-C8694FB869A7}"/>
              </a:ext>
            </a:extLst>
          </p:cNvPr>
          <p:cNvGrpSpPr/>
          <p:nvPr/>
        </p:nvGrpSpPr>
        <p:grpSpPr>
          <a:xfrm>
            <a:off x="9056076" y="3592278"/>
            <a:ext cx="1063869" cy="1217114"/>
            <a:chOff x="9056076" y="3592278"/>
            <a:chExt cx="1063869" cy="121711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A394A1C-F374-708C-160E-7DE15A368C94}"/>
                </a:ext>
              </a:extLst>
            </p:cNvPr>
            <p:cNvSpPr txBox="1"/>
            <p:nvPr/>
          </p:nvSpPr>
          <p:spPr>
            <a:xfrm>
              <a:off x="9056076" y="3592278"/>
              <a:ext cx="1063869" cy="908864"/>
            </a:xfrm>
            <a:prstGeom prst="ellipse">
              <a:avLst/>
            </a:prstGeom>
            <a:solidFill>
              <a:srgbClr val="000000">
                <a:alpha val="80000"/>
              </a:srgbClr>
            </a:solidFill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3600" b="1" dirty="0"/>
                <a:t>5%</a:t>
              </a:r>
              <a:endParaRPr lang="en-GB" b="1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F97A6EE-23B8-AB72-84C4-5777D1AE6FB8}"/>
                </a:ext>
              </a:extLst>
            </p:cNvPr>
            <p:cNvCxnSpPr>
              <a:stCxn id="7" idx="3"/>
            </p:cNvCxnSpPr>
            <p:nvPr/>
          </p:nvCxnSpPr>
          <p:spPr>
            <a:xfrm flipH="1">
              <a:off x="9073662" y="4368042"/>
              <a:ext cx="138214" cy="4413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198995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5A680A-2270-7751-B7FE-CF993E7A8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magic words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3C4F49-F28A-505D-DC54-5CFFBE3ED52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“Statistical significance”</a:t>
                </a:r>
              </a:p>
              <a:p>
                <a:r>
                  <a:rPr lang="en-GB" dirty="0"/>
                  <a:t>When we have a P-value that is less than 0.05 (the usual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threshold) we can say “statistically significant”</a:t>
                </a:r>
              </a:p>
              <a:p>
                <a:r>
                  <a:rPr lang="en-GB" dirty="0"/>
                  <a:t>For our tall penguin, they are statistically significantly unlikely to come from the same distribution</a:t>
                </a:r>
              </a:p>
              <a:p>
                <a:r>
                  <a:rPr lang="en-GB" dirty="0"/>
                  <a:t>Given P = 0.005, there’s only a 0.5% chance that it does come from the same distribution as it’s friends :(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3C4F49-F28A-505D-DC54-5CFFBE3ED52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304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Placeholder 9" descr="A penguin standing on grass near water&#10;&#10;Description automatically generated">
            <a:extLst>
              <a:ext uri="{FF2B5EF4-FFF2-40B4-BE49-F238E27FC236}">
                <a16:creationId xmlns:a16="http://schemas.microsoft.com/office/drawing/2014/main" id="{0A3C2495-8C2C-D686-9A5B-C66CBA06FF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476"/>
          <a:stretch/>
        </p:blipFill>
        <p:spPr>
          <a:xfrm>
            <a:off x="6359525" y="0"/>
            <a:ext cx="5832475" cy="6858000"/>
          </a:xfrm>
        </p:spPr>
      </p:pic>
    </p:spTree>
    <p:extLst>
      <p:ext uri="{BB962C8B-B14F-4D97-AF65-F5344CB8AC3E}">
        <p14:creationId xmlns:p14="http://schemas.microsoft.com/office/powerpoint/2010/main" val="32853042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64EA13-FE06-B285-FA0C-362784FD6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NHST in statistical models</a:t>
            </a:r>
          </a:p>
        </p:txBody>
      </p:sp>
    </p:spTree>
    <p:extLst>
      <p:ext uri="{BB962C8B-B14F-4D97-AF65-F5344CB8AC3E}">
        <p14:creationId xmlns:p14="http://schemas.microsoft.com/office/powerpoint/2010/main" val="211921929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Placeholder 7" descr="A graph of a function&#10;&#10;Description automatically generated">
            <a:extLst>
              <a:ext uri="{FF2B5EF4-FFF2-40B4-BE49-F238E27FC236}">
                <a16:creationId xmlns:a16="http://schemas.microsoft.com/office/drawing/2014/main" id="{BB1F2407-1CEB-D394-C8F7-D454BD883FD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10" name="Picture 9" descr="A screen shot of a graph&#10;&#10;Description automatically generated">
            <a:extLst>
              <a:ext uri="{FF2B5EF4-FFF2-40B4-BE49-F238E27FC236}">
                <a16:creationId xmlns:a16="http://schemas.microsoft.com/office/drawing/2014/main" id="{B1451BDE-1D18-661D-5323-2823959E24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8145EB2-422E-8273-202C-3C5DAC6103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Null hypotheses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82DED4-73A4-3A8D-43CE-F31AE46782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Within statistical models, we translate the Null hypothesis into:</a:t>
                </a:r>
              </a:p>
              <a:p>
                <a:r>
                  <a:rPr lang="en-GB" dirty="0"/>
                  <a:t>“What is the probability my parameter comes from a distribution with a mean of zero?”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?</a:t>
                </a:r>
              </a:p>
              <a:p>
                <a:r>
                  <a:rPr lang="en-GB" dirty="0"/>
                  <a:t>Why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?</a:t>
                </a:r>
              </a:p>
              <a:p>
                <a:pPr lvl="1"/>
                <a:r>
                  <a:rPr lang="en-GB" dirty="0"/>
                  <a:t>If a parameter is estimated as 0, then there is no association</a:t>
                </a:r>
              </a:p>
              <a:p>
                <a:pPr lvl="1"/>
                <a:r>
                  <a:rPr lang="en-GB" dirty="0"/>
                  <a:t>E.g. a slope that is 0</a:t>
                </a:r>
              </a:p>
              <a:p>
                <a:pPr lvl="1"/>
                <a:r>
                  <a:rPr lang="en-GB" dirty="0"/>
                  <a:t>I.e. our Null hypothesis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D82DED4-73A4-3A8D-43CE-F31AE46782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0F7EBC9-A9A8-D6CD-E543-A2D784579A23}"/>
                  </a:ext>
                </a:extLst>
              </p:cNvPr>
              <p:cNvSpPr txBox="1"/>
              <p:nvPr/>
            </p:nvSpPr>
            <p:spPr>
              <a:xfrm>
                <a:off x="9091245" y="2611315"/>
                <a:ext cx="13009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0F7EBC9-A9A8-D6CD-E543-A2D784579A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91245" y="2611315"/>
                <a:ext cx="1300997" cy="523220"/>
              </a:xfrm>
              <a:prstGeom prst="rect">
                <a:avLst/>
              </a:prstGeom>
              <a:blipFill>
                <a:blip r:embed="rId5"/>
                <a:stretch>
                  <a:fillRect t="-13953" r="-13084" b="-290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F423BD-4828-FD16-139C-0DAB24F8E815}"/>
                  </a:ext>
                </a:extLst>
              </p:cNvPr>
              <p:cNvSpPr txBox="1"/>
              <p:nvPr/>
            </p:nvSpPr>
            <p:spPr>
              <a:xfrm>
                <a:off x="7098322" y="3228945"/>
                <a:ext cx="1185516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en-GB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sz="2000" b="0" i="1" smtClean="0">
                          <a:latin typeface="Cambria Math" panose="02040503050406030204" pitchFamily="18" charset="0"/>
                        </a:rPr>
                        <m:t>=1.4</m:t>
                      </m:r>
                    </m:oMath>
                  </m:oMathPara>
                </a14:m>
                <a:endParaRPr lang="en-GB" sz="20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65F423BD-4828-FD16-139C-0DAB24F8E8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8322" y="3228945"/>
                <a:ext cx="1185516" cy="400110"/>
              </a:xfrm>
              <a:prstGeom prst="rect">
                <a:avLst/>
              </a:prstGeom>
              <a:blipFill>
                <a:blip r:embed="rId6"/>
                <a:stretch>
                  <a:fillRect t="-10769" r="-7179" b="-2615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051659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/>
      <p:bldP spid="12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99EA9-A5BD-AA4E-949E-92B0B5FBA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F399FC-50F2-0732-D175-1B4CAB8F79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We don’t know what the distribution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 is. We just know the mean is 0.</a:t>
                </a:r>
              </a:p>
              <a:p>
                <a:r>
                  <a:rPr lang="en-GB" dirty="0"/>
                  <a:t>We don’t have a way to figure out the standard deviation.</a:t>
                </a:r>
              </a:p>
              <a:p>
                <a:r>
                  <a:rPr lang="en-GB" dirty="0"/>
                  <a:t>We need a different way to calculate our P-value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F399FC-50F2-0732-D175-1B4CAB8F79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 r="-265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graph of a function&#10;&#10;Description automatically generated">
            <a:extLst>
              <a:ext uri="{FF2B5EF4-FFF2-40B4-BE49-F238E27FC236}">
                <a16:creationId xmlns:a16="http://schemas.microsoft.com/office/drawing/2014/main" id="{663D0437-5992-4B93-04C8-B6987FBFF9E0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80191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013C3-2E0B-144D-E308-75C4433FAB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Adélie</a:t>
            </a:r>
            <a:r>
              <a:rPr lang="en-GB" dirty="0"/>
              <a:t> penguins and NHST</a:t>
            </a:r>
          </a:p>
        </p:txBody>
      </p:sp>
    </p:spTree>
    <p:extLst>
      <p:ext uri="{BB962C8B-B14F-4D97-AF65-F5344CB8AC3E}">
        <p14:creationId xmlns:p14="http://schemas.microsoft.com/office/powerpoint/2010/main" val="282501095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5DBA44-07FF-774A-EF2E-C4E6D64489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Adélie</a:t>
            </a:r>
            <a:r>
              <a:rPr lang="en-GB" dirty="0"/>
              <a:t> penguin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7FDF51-4AD3-0CF7-58C0-4B7892BB4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We’ll use NHST to help us answer our question if </a:t>
            </a:r>
            <a:r>
              <a:rPr lang="en-GB" dirty="0" err="1"/>
              <a:t>Adélie</a:t>
            </a:r>
            <a:r>
              <a:rPr lang="en-GB" dirty="0"/>
              <a:t> body size is different on the three islands</a:t>
            </a:r>
          </a:p>
          <a:p>
            <a:r>
              <a:rPr lang="en-GB" dirty="0"/>
              <a:t>Start by doing some EDA</a:t>
            </a:r>
          </a:p>
          <a:p>
            <a:r>
              <a:rPr lang="en-GB" dirty="0"/>
              <a:t>What model would we run to test our question?</a:t>
            </a:r>
          </a:p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(body ~ island)</a:t>
            </a:r>
          </a:p>
        </p:txBody>
      </p:sp>
      <p:pic>
        <p:nvPicPr>
          <p:cNvPr id="6" name="Picture Placeholder 5" descr="A screen shot of a graph&#10;&#10;Description automatically generated">
            <a:extLst>
              <a:ext uri="{FF2B5EF4-FFF2-40B4-BE49-F238E27FC236}">
                <a16:creationId xmlns:a16="http://schemas.microsoft.com/office/drawing/2014/main" id="{BBF0E245-132C-3934-C2D5-79621F3F2476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65623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B6E6C-01AA-4600-ED72-6FD641A08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Diagnose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F2505C-6FF9-384A-1CBB-4637FBEB42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As always, quickly check the diagnostic plots</a:t>
            </a:r>
          </a:p>
          <a:p>
            <a:r>
              <a:rPr lang="en-GB" dirty="0"/>
              <a:t>Any issues?</a:t>
            </a:r>
          </a:p>
        </p:txBody>
      </p:sp>
      <p:pic>
        <p:nvPicPr>
          <p:cNvPr id="8" name="Picture Placeholder 7" descr="A screenshot of a computer screen&#10;&#10;Description automatically generated">
            <a:extLst>
              <a:ext uri="{FF2B5EF4-FFF2-40B4-BE49-F238E27FC236}">
                <a16:creationId xmlns:a16="http://schemas.microsoft.com/office/drawing/2014/main" id="{F577AF0E-3081-5EF2-7993-007DE3388F6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423989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DAB97C-37CA-BF4E-64F7-068137B9D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peng_mod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7749D-6C91-9CEA-6952-CC495ADAAB0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To get our P-values we need: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Estimate</a:t>
                </a:r>
              </a:p>
              <a:p>
                <a:pPr lvl="1"/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Std. Error</a:t>
                </a:r>
              </a:p>
              <a:p>
                <a:r>
                  <a:rPr lang="en-GB" dirty="0"/>
                  <a:t>If we divide 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Estimate</a:t>
                </a:r>
                <a:r>
                  <a:rPr lang="en-GB" dirty="0"/>
                  <a:t> by </a:t>
                </a:r>
                <a:r>
                  <a:rPr lang="en-GB" sz="2400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Std. Error</a:t>
                </a:r>
                <a:r>
                  <a:rPr lang="en-GB" dirty="0"/>
                  <a:t>, we get the </a:t>
                </a:r>
                <a:r>
                  <a:rPr lang="en-GB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t value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en-GB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𝐸𝑠𝑡𝑖𝑚𝑎𝑡𝑒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𝑆𝑡𝑑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. 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𝐸𝑟𝑟𝑜𝑟</m:t>
                        </m:r>
                      </m:den>
                    </m:f>
                  </m:oMath>
                </a14:m>
                <a:endParaRPr lang="en-GB" dirty="0"/>
              </a:p>
              <a:p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With this t value, we can switch from assuming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𝑁𝑜𝑟𝑚𝑎𝑙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 distribution to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𝑇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 distribution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037749D-6C91-9CEA-6952-CC495ADAAB0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7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FC74F7-162B-65C7-483D-69606F4F2BA9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body ~ island, data = </a:t>
            </a: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GB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Estimate Std. Error t value</a:t>
            </a:r>
          </a:p>
          <a:p>
            <a:pPr marL="0" indent="0">
              <a:buNone/>
            </a:pP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3709.659     69.582  53.314</a:t>
            </a:r>
          </a:p>
          <a:p>
            <a:pPr marL="0" indent="0">
              <a:buNone/>
            </a:pP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islandDream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   -21.266     92.983  -0.229</a:t>
            </a:r>
          </a:p>
          <a:p>
            <a:pPr marL="0" indent="0">
              <a:buNone/>
            </a:pPr>
            <a:r>
              <a:rPr lang="en-GB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islandTorgersen</a:t>
            </a:r>
            <a:r>
              <a:rPr lang="en-GB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 -3.287     94.967  -0.035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BB9343-9235-5AA4-A06D-8D912D31742D}"/>
              </a:ext>
            </a:extLst>
          </p:cNvPr>
          <p:cNvSpPr/>
          <p:nvPr/>
        </p:nvSpPr>
        <p:spPr>
          <a:xfrm>
            <a:off x="10911254" y="4123592"/>
            <a:ext cx="914400" cy="369277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07FEF34-207B-E947-FA39-91A6E356487E}"/>
              </a:ext>
            </a:extLst>
          </p:cNvPr>
          <p:cNvSpPr/>
          <p:nvPr/>
        </p:nvSpPr>
        <p:spPr>
          <a:xfrm>
            <a:off x="10911254" y="4593919"/>
            <a:ext cx="914400" cy="246184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66854F9-8641-4D6C-1879-D59DC044D5E3}"/>
              </a:ext>
            </a:extLst>
          </p:cNvPr>
          <p:cNvSpPr/>
          <p:nvPr/>
        </p:nvSpPr>
        <p:spPr>
          <a:xfrm>
            <a:off x="10911254" y="4932360"/>
            <a:ext cx="914400" cy="246184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694334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D6F5F3B-5534-55E8-4A89-D47EE7DD35B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GB" dirty="0"/>
                  <a:t>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GB" dirty="0"/>
                  <a:t> distribution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D6F5F3B-5534-55E8-4A89-D47EE7DD35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5ADAEB-DC34-79A7-D8A7-7951E5DE24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𝑇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 distribution needs just one parameter, degrees of freedom (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𝑑𝑓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𝑑𝑓</m:t>
                    </m:r>
                    <m:r>
                      <a:rPr lang="en-GB" b="0" i="0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n</m:t>
                    </m:r>
                    <m:r>
                      <a:rPr lang="en-GB" b="0" i="0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−</m:t>
                    </m:r>
                    <m:r>
                      <m:rPr>
                        <m:sty m:val="p"/>
                      </m:rPr>
                      <a:rPr lang="en-GB" b="0" i="0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p</m:t>
                    </m:r>
                    <m:r>
                      <a:rPr lang="en-GB" b="0" i="0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−1</m:t>
                    </m:r>
                  </m:oMath>
                </a14:m>
                <a:endParaRPr lang="en-GB" dirty="0">
                  <a:latin typeface="+mj-lt"/>
                  <a:cs typeface="Courier New" panose="02070309020205020404" pitchFamily="49" charset="0"/>
                </a:endParaRPr>
              </a:p>
              <a:p>
                <a:pPr lvl="1"/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(We don’t need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𝜎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 like in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𝑁𝑜𝑟𝑚𝑎𝑙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)</a:t>
                </a:r>
              </a:p>
              <a:p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𝑛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 is our sample size (344 penguins)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𝑝</m:t>
                    </m:r>
                  </m:oMath>
                </a14:m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 is the number of parameters (3)</a:t>
                </a:r>
              </a:p>
              <a:p>
                <a:r>
                  <a:rPr lang="en-GB" dirty="0">
                    <a:latin typeface="+mj-lt"/>
                    <a:cs typeface="Courier New" panose="02070309020205020404" pitchFamily="49" charset="0"/>
                  </a:rPr>
                  <a:t>Giving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𝑇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𝑑𝑓</m:t>
                    </m:r>
                    <m:r>
                      <a:rPr lang="en-GB" b="0" i="1" smtClean="0">
                        <a:latin typeface="Cambria Math" panose="02040503050406030204" pitchFamily="18" charset="0"/>
                        <a:cs typeface="Courier New" panose="02070309020205020404" pitchFamily="49" charset="0"/>
                      </a:rPr>
                      <m:t>=340)</m:t>
                    </m:r>
                  </m:oMath>
                </a14:m>
                <a:endParaRPr lang="en-GB" dirty="0">
                  <a:latin typeface="+mj-lt"/>
                  <a:cs typeface="Courier New" panose="02070309020205020404" pitchFamily="49" charset="0"/>
                </a:endParaRPr>
              </a:p>
              <a:p>
                <a:r>
                  <a:rPr lang="en-GB" dirty="0"/>
                  <a:t>This allows us to create a distribution to test if our parameters are different to 0</a:t>
                </a:r>
              </a:p>
              <a:p>
                <a:r>
                  <a:rPr lang="en-GB" dirty="0">
                    <a:hlinkClick r:id="rId3"/>
                  </a:rPr>
                  <a:t>https://deonroos.shinyapps.io/Distributions/</a:t>
                </a:r>
                <a:r>
                  <a:rPr lang="en-GB" dirty="0"/>
                  <a:t>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55ADAEB-DC34-79A7-D8A7-7951E5DE24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4"/>
                <a:stretch>
                  <a:fillRect l="-1770" t="-2093" r="-1967" b="-20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Placeholder 5" descr="A graph of a function&#10;&#10;Description automatically generated">
            <a:extLst>
              <a:ext uri="{FF2B5EF4-FFF2-40B4-BE49-F238E27FC236}">
                <a16:creationId xmlns:a16="http://schemas.microsoft.com/office/drawing/2014/main" id="{A0624628-9C1F-7F66-9AAE-7954D5668B3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07276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FF80-7D3A-F6C1-A619-E82D675DA6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Are these significant?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190482-5A18-8D47-77D0-E5D947DB77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body ~ island, data =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Estimate Std. Error t value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3709.659     69.582  53.314   &lt;2e-16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islandDream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-21.266     92.983  -0.229    0.819    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islandTorgersen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-3.287     94.967  -0.035    0.972    </a:t>
            </a:r>
          </a:p>
          <a:p>
            <a:endParaRPr lang="en-GB" sz="1400" dirty="0"/>
          </a:p>
        </p:txBody>
      </p:sp>
      <p:pic>
        <p:nvPicPr>
          <p:cNvPr id="6" name="Picture Placeholder 5" descr="A graph on a black background&#10;&#10;Description automatically generated">
            <a:extLst>
              <a:ext uri="{FF2B5EF4-FFF2-40B4-BE49-F238E27FC236}">
                <a16:creationId xmlns:a16="http://schemas.microsoft.com/office/drawing/2014/main" id="{9716BDF5-894F-7C3E-E2F8-6194320FD74B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  <p:pic>
        <p:nvPicPr>
          <p:cNvPr id="8" name="Picture 7" descr="A graph of value on a black background&#10;&#10;Description automatically generated">
            <a:extLst>
              <a:ext uri="{FF2B5EF4-FFF2-40B4-BE49-F238E27FC236}">
                <a16:creationId xmlns:a16="http://schemas.microsoft.com/office/drawing/2014/main" id="{1424BE7D-78B8-0526-6C28-FD10A43762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pic>
        <p:nvPicPr>
          <p:cNvPr id="10" name="Picture 9" descr="A graph of a function&#10;&#10;Description automatically generated">
            <a:extLst>
              <a:ext uri="{FF2B5EF4-FFF2-40B4-BE49-F238E27FC236}">
                <a16:creationId xmlns:a16="http://schemas.microsoft.com/office/drawing/2014/main" id="{2BF8526A-DFF6-A35E-5492-54481C025E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129" y="0"/>
            <a:ext cx="5751871" cy="68580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CE81FD0E-A047-DCC7-B5B2-DD50E17E9892}"/>
              </a:ext>
            </a:extLst>
          </p:cNvPr>
          <p:cNvSpPr/>
          <p:nvPr/>
        </p:nvSpPr>
        <p:spPr>
          <a:xfrm>
            <a:off x="4783015" y="4220308"/>
            <a:ext cx="914400" cy="246184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C3F611-CDF1-0418-3AF5-6F7A3EC24CAF}"/>
              </a:ext>
            </a:extLst>
          </p:cNvPr>
          <p:cNvSpPr/>
          <p:nvPr/>
        </p:nvSpPr>
        <p:spPr>
          <a:xfrm>
            <a:off x="4783015" y="4567542"/>
            <a:ext cx="914400" cy="246184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D7C7F9D-242A-C6C3-E218-B23425D52C34}"/>
              </a:ext>
            </a:extLst>
          </p:cNvPr>
          <p:cNvSpPr/>
          <p:nvPr/>
        </p:nvSpPr>
        <p:spPr>
          <a:xfrm>
            <a:off x="4783015" y="4905983"/>
            <a:ext cx="914400" cy="246184"/>
          </a:xfrm>
          <a:prstGeom prst="rect">
            <a:avLst/>
          </a:prstGeom>
          <a:solidFill>
            <a:srgbClr val="000000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n>
                <a:solidFill>
                  <a:schemeClr val="bg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E64B71F-C504-2BB1-8E6D-996E582F2EEE}"/>
              </a:ext>
            </a:extLst>
          </p:cNvPr>
          <p:cNvSpPr txBox="1"/>
          <p:nvPr/>
        </p:nvSpPr>
        <p:spPr>
          <a:xfrm>
            <a:off x="1037492" y="5743439"/>
            <a:ext cx="374552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Note that &lt;2e-16 is scientific notation for &lt;0.0000000000000002</a:t>
            </a:r>
          </a:p>
        </p:txBody>
      </p:sp>
    </p:spTree>
    <p:extLst>
      <p:ext uri="{BB962C8B-B14F-4D97-AF65-F5344CB8AC3E}">
        <p14:creationId xmlns:p14="http://schemas.microsoft.com/office/powerpoint/2010/main" val="29535476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056DA-D188-5FEC-5D03-52CA62677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Significant what?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71124-05E4-5BB7-C887-A78A54273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An easy way to think of what P-values mean in statistical models is:</a:t>
            </a:r>
          </a:p>
          <a:p>
            <a:r>
              <a:rPr lang="en-GB" dirty="0"/>
              <a:t>“Is the Estimate different to 0?”</a:t>
            </a:r>
          </a:p>
          <a:p>
            <a:r>
              <a:rPr lang="en-GB" dirty="0"/>
              <a:t>Our (Intercept) is 3709.659, so clearly different to 0</a:t>
            </a:r>
          </a:p>
          <a:p>
            <a:r>
              <a:rPr lang="en-GB" dirty="0"/>
              <a:t>Dream penguins are -21.266 g smaller than Biscoe penguins</a:t>
            </a:r>
          </a:p>
          <a:p>
            <a:pPr lvl="1"/>
            <a:r>
              <a:rPr lang="en-GB" dirty="0"/>
              <a:t>But 82% chance the difference with Biscoe is 0</a:t>
            </a:r>
          </a:p>
          <a:p>
            <a:r>
              <a:rPr lang="en-GB" dirty="0"/>
              <a:t>Torgersen penguins are -3.287 g smaller than Biscoe penguins</a:t>
            </a:r>
          </a:p>
          <a:p>
            <a:pPr lvl="1"/>
            <a:r>
              <a:rPr lang="en-GB" dirty="0"/>
              <a:t>But 97% chance the difference with Biscoe is 0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F6A6159-90D2-B145-5259-3765B16E198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body ~ island, data =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Estimate Std. Error t value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3709.659     69.582  53.314   &lt;2e-16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islandDream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-21.266     92.983  -0.229    0.819    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islandTorgersen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-3.287     94.967  -0.035    0.972 </a:t>
            </a:r>
          </a:p>
        </p:txBody>
      </p:sp>
    </p:spTree>
    <p:extLst>
      <p:ext uri="{BB962C8B-B14F-4D97-AF65-F5344CB8AC3E}">
        <p14:creationId xmlns:p14="http://schemas.microsoft.com/office/powerpoint/2010/main" val="270369547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056DA-D188-5FEC-5D03-52CA62677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Strawman argument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71124-05E4-5BB7-C887-A78A54273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Do you think penguins could ever weigh 0 g?</a:t>
            </a:r>
          </a:p>
          <a:p>
            <a:r>
              <a:rPr lang="en-GB" dirty="0"/>
              <a:t>Definitely not.</a:t>
            </a:r>
          </a:p>
          <a:p>
            <a:r>
              <a:rPr lang="en-GB" dirty="0"/>
              <a:t>Even though it’s significant, we’d never seriously think it was going to be 0</a:t>
            </a:r>
          </a:p>
          <a:p>
            <a:r>
              <a:rPr lang="en-GB" dirty="0"/>
              <a:t>So here, we find no significant difference in penguin weight across the three islands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F6A6159-90D2-B145-5259-3765B16E198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body ~ island, data =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Estimate Std. Error t value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3709.659     69.582  53.314   &lt;2e-16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islandDream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-21.266     92.983  -0.229    0.819    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islandTorgersen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-3.287     94.967  -0.035    0.972 </a:t>
            </a:r>
          </a:p>
        </p:txBody>
      </p:sp>
    </p:spTree>
    <p:extLst>
      <p:ext uri="{BB962C8B-B14F-4D97-AF65-F5344CB8AC3E}">
        <p14:creationId xmlns:p14="http://schemas.microsoft.com/office/powerpoint/2010/main" val="21231981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4DE488-2A6F-55AB-0CB0-25BE7E24ED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Criticisms of NHST</a:t>
            </a:r>
          </a:p>
        </p:txBody>
      </p:sp>
    </p:spTree>
    <p:extLst>
      <p:ext uri="{BB962C8B-B14F-4D97-AF65-F5344CB8AC3E}">
        <p14:creationId xmlns:p14="http://schemas.microsoft.com/office/powerpoint/2010/main" val="219778148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D056DA-D188-5FEC-5D03-52CA62677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Need for NHST?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771124-05E4-5BB7-C887-A78A54273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Did you really need P-values to tell you that the penguins on the islands were pretty much the same?</a:t>
            </a:r>
          </a:p>
          <a:p>
            <a:r>
              <a:rPr lang="en-GB" dirty="0"/>
              <a:t>You can often reach the same conclusion just looking at the Estimate and Standard Error (or 95% CI) without needing P-values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F6A6159-90D2-B145-5259-3765B16E198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Call: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(formula = body ~ island, data =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pPr marL="0" indent="0">
              <a:buNone/>
            </a:pPr>
            <a:endParaRPr lang="en-GB" sz="1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Coefficients: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Estimate Std. Error t value </a:t>
            </a: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(&gt;|t|)    </a:t>
            </a:r>
          </a:p>
          <a:p>
            <a:pPr marL="0" indent="0">
              <a:buNone/>
            </a:pP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(Intercept)     3709.659     69.582  53.314   &lt;2e-16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islandDream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   -21.266     92.983  -0.229    0.819    </a:t>
            </a:r>
          </a:p>
          <a:p>
            <a:pPr marL="0" indent="0">
              <a:buNone/>
            </a:pPr>
            <a:r>
              <a:rPr lang="en-GB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islandTorgersen</a:t>
            </a:r>
            <a:r>
              <a:rPr lang="en-GB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 -3.287     94.967  -0.035    0.972 </a:t>
            </a:r>
          </a:p>
        </p:txBody>
      </p:sp>
    </p:spTree>
    <p:extLst>
      <p:ext uri="{BB962C8B-B14F-4D97-AF65-F5344CB8AC3E}">
        <p14:creationId xmlns:p14="http://schemas.microsoft.com/office/powerpoint/2010/main" val="245078770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D81C69-3B29-9770-54F3-FD1C1EF3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Ambiguous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3A551A-E5F7-5146-172F-6CEB1E8504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What can you tell me based on the following statement?</a:t>
            </a:r>
          </a:p>
          <a:p>
            <a:pPr lvl="1"/>
            <a:r>
              <a:rPr lang="en-GB" dirty="0"/>
              <a:t>“The treatment had a significant effect”</a:t>
            </a:r>
          </a:p>
          <a:p>
            <a:r>
              <a:rPr lang="en-GB" dirty="0"/>
              <a:t>Is this positive or negative?</a:t>
            </a:r>
          </a:p>
          <a:p>
            <a:pPr lvl="1"/>
            <a:r>
              <a:rPr lang="en-GB" dirty="0"/>
              <a:t>Significance just says it’s “not zero”</a:t>
            </a:r>
          </a:p>
          <a:p>
            <a:pPr lvl="1"/>
            <a:r>
              <a:rPr lang="en-GB" dirty="0"/>
              <a:t>No idea if it makes things better or worse</a:t>
            </a:r>
          </a:p>
          <a:p>
            <a:r>
              <a:rPr lang="en-GB" dirty="0"/>
              <a:t>Big or small?</a:t>
            </a:r>
          </a:p>
          <a:p>
            <a:pPr lvl="1"/>
            <a:r>
              <a:rPr lang="en-GB" dirty="0"/>
              <a:t>You can get trivially small Estimates that are significant</a:t>
            </a:r>
          </a:p>
          <a:p>
            <a:pPr lvl="1"/>
            <a:r>
              <a:rPr lang="en-GB" dirty="0"/>
              <a:t>E.g. whale tourism decreases juvenile growth by 10 cm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9717EB50-EA32-E53D-2157-D9977FA2F34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69575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2F114-CC91-F42B-A4DE-2F6F542B3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Sensitive to sample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B6E34-73D5-C6A6-D624-899C6C5F5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The bigger your sample size, the more likely you are to have a significant difference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E011D18-BA13-2BC1-30FE-5C4C6BC711F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25051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42F114-CC91-F42B-A4DE-2F6F542B3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Significant does not mean effect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B6E34-73D5-C6A6-D624-899C6C5F50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Just because a parameter is significant, does not mean there is an effect</a:t>
            </a:r>
          </a:p>
          <a:p>
            <a:r>
              <a:rPr lang="en-GB" dirty="0"/>
              <a:t>The relationship might be a confound</a:t>
            </a:r>
          </a:p>
          <a:p>
            <a:r>
              <a:rPr lang="en-GB" dirty="0"/>
              <a:t>Or just pure chance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CE011D18-BA13-2BC1-30FE-5C4C6BC711F3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56103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5089E2-BB20-D90F-2A74-219E5D095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5% is still pretty high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6B6B7F-6C8B-3E40-80B8-CFD283B682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5% chance to have generalised anxiety</a:t>
            </a:r>
          </a:p>
          <a:p>
            <a:r>
              <a:rPr lang="en-GB" dirty="0"/>
              <a:t>3% chance to get 5 head coin flips in a row</a:t>
            </a:r>
          </a:p>
          <a:p>
            <a:r>
              <a:rPr lang="en-GB" dirty="0"/>
              <a:t>8% chance to be accepted by Edinburgh Uni</a:t>
            </a:r>
          </a:p>
          <a:p>
            <a:r>
              <a:rPr lang="en-GB" dirty="0"/>
              <a:t>Just because people use 5% as a threshold, does not mean it makes any sense</a:t>
            </a:r>
          </a:p>
        </p:txBody>
      </p:sp>
      <p:pic>
        <p:nvPicPr>
          <p:cNvPr id="6" name="Picture Placeholder 5" descr="A person looking at a person&#10;&#10;Description automatically generated">
            <a:extLst>
              <a:ext uri="{FF2B5EF4-FFF2-40B4-BE49-F238E27FC236}">
                <a16:creationId xmlns:a16="http://schemas.microsoft.com/office/drawing/2014/main" id="{238757F8-69B0-FE13-A3D1-A0F61420F31C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5" t="-48633" r="81" b="3364"/>
          <a:stretch/>
        </p:blipFill>
        <p:spPr>
          <a:xfrm>
            <a:off x="6359525" y="0"/>
            <a:ext cx="5832475" cy="5064369"/>
          </a:xfr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7F828FC-6B86-BECF-1FDA-C8694FB869A7}"/>
              </a:ext>
            </a:extLst>
          </p:cNvPr>
          <p:cNvGrpSpPr/>
          <p:nvPr/>
        </p:nvGrpSpPr>
        <p:grpSpPr>
          <a:xfrm>
            <a:off x="9056076" y="3592278"/>
            <a:ext cx="1063869" cy="1217114"/>
            <a:chOff x="9056076" y="3592278"/>
            <a:chExt cx="1063869" cy="1217114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A394A1C-F374-708C-160E-7DE15A368C94}"/>
                </a:ext>
              </a:extLst>
            </p:cNvPr>
            <p:cNvSpPr txBox="1"/>
            <p:nvPr/>
          </p:nvSpPr>
          <p:spPr>
            <a:xfrm>
              <a:off x="9056076" y="3592278"/>
              <a:ext cx="1063869" cy="908864"/>
            </a:xfrm>
            <a:prstGeom prst="ellipse">
              <a:avLst/>
            </a:prstGeom>
            <a:solidFill>
              <a:srgbClr val="000000">
                <a:alpha val="80000"/>
              </a:srgbClr>
            </a:solidFill>
            <a:ln>
              <a:solidFill>
                <a:srgbClr val="FF0000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GB" sz="3600" b="1" dirty="0"/>
                <a:t>5%</a:t>
              </a:r>
              <a:endParaRPr lang="en-GB" b="1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5F97A6EE-23B8-AB72-84C4-5777D1AE6FB8}"/>
                </a:ext>
              </a:extLst>
            </p:cNvPr>
            <p:cNvCxnSpPr>
              <a:stCxn id="7" idx="3"/>
            </p:cNvCxnSpPr>
            <p:nvPr/>
          </p:nvCxnSpPr>
          <p:spPr>
            <a:xfrm flipH="1">
              <a:off x="9073662" y="4368042"/>
              <a:ext cx="138214" cy="441350"/>
            </a:xfrm>
            <a:prstGeom prst="straightConnector1">
              <a:avLst/>
            </a:prstGeom>
            <a:ln w="38100">
              <a:solidFill>
                <a:srgbClr val="FF0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62539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E35DB-48D6-8ED1-83C0-4EAB07B981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 err="1"/>
              <a:t>tl;dr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E0CB77-B59E-7131-8A3F-3066412FA6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0" y="1426613"/>
                <a:ext cx="11906250" cy="5240194"/>
              </a:xfrm>
              <a:prstGeom prst="rect">
                <a:avLst/>
              </a:prstGeom>
            </p:spPr>
            <p:txBody>
              <a:bodyPr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GB" dirty="0"/>
                  <a:t>A P-value quantifies the probability that a value is likely to come from a reference distribution</a:t>
                </a:r>
              </a:p>
              <a:p>
                <a:pPr lvl="1"/>
                <a:r>
                  <a:rPr lang="en-GB" dirty="0"/>
                  <a:t>For the tall penguin, the reference distribution was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𝑁𝑜𝑟𝑚𝑎𝑙</m:t>
                    </m:r>
                  </m:oMath>
                </a14:m>
                <a:r>
                  <a:rPr lang="en-GB" dirty="0"/>
                  <a:t> distribution with the mean and standard deviation of penguin heights</a:t>
                </a:r>
              </a:p>
              <a:p>
                <a:pPr lvl="1"/>
                <a:r>
                  <a:rPr lang="en-GB" dirty="0"/>
                  <a:t>For parameters in a linear model, the reference distribution is a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GB" dirty="0"/>
                  <a:t> distribution</a:t>
                </a:r>
              </a:p>
              <a:p>
                <a:pPr lvl="1"/>
                <a:r>
                  <a:rPr lang="en-GB" dirty="0"/>
                  <a:t>See here for more on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GB" dirty="0"/>
                  <a:t> distribution </a:t>
                </a:r>
                <a:r>
                  <a:rPr lang="en-GB" dirty="0">
                    <a:hlinkClick r:id="rId2"/>
                  </a:rPr>
                  <a:t>https://deonroos.shinyapps.io/Distributions/</a:t>
                </a:r>
                <a:r>
                  <a:rPr lang="en-GB" dirty="0"/>
                  <a:t> </a:t>
                </a:r>
              </a:p>
              <a:p>
                <a:r>
                  <a:rPr lang="en-GB" dirty="0"/>
                  <a:t>We deem P-values “statistically significant” if they are below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threshold</a:t>
                </a:r>
              </a:p>
              <a:p>
                <a:r>
                  <a:rPr lang="en-GB" dirty="0"/>
                  <a:t>For no logical reason, the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GB" dirty="0"/>
                  <a:t> threshold is usually 5% (or 0.05)</a:t>
                </a:r>
              </a:p>
              <a:p>
                <a:r>
                  <a:rPr lang="en-GB" dirty="0"/>
                  <a:t>NHST is useful but is heavily overused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7E0CB77-B59E-7131-8A3F-3066412FA6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1426613"/>
                <a:ext cx="11906250" cy="5240194"/>
              </a:xfrm>
              <a:prstGeom prst="rect">
                <a:avLst/>
              </a:prstGeom>
              <a:blipFill>
                <a:blip r:embed="rId3"/>
                <a:stretch>
                  <a:fillRect l="-922" t="-2093" r="-76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92093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theme/theme1.xml><?xml version="1.0" encoding="utf-8"?>
<a:theme xmlns:a="http://schemas.openxmlformats.org/drawingml/2006/main" name="sbs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bs_slide_template.potx" id="{ECECA26D-C7D9-428D-8AE3-0DEBE87A348A}" vid="{A052F16A-C2E7-4086-BA7D-A0C2C9C1F83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sbs_template</Template>
  <TotalTime>530</TotalTime>
  <Words>2032</Words>
  <Application>Microsoft Office PowerPoint</Application>
  <PresentationFormat>Widescreen</PresentationFormat>
  <Paragraphs>268</Paragraphs>
  <Slides>39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5" baseType="lpstr">
      <vt:lpstr>Aptos</vt:lpstr>
      <vt:lpstr>Arial</vt:lpstr>
      <vt:lpstr>Bahnschrift Light</vt:lpstr>
      <vt:lpstr>Cambria Math</vt:lpstr>
      <vt:lpstr>Courier New</vt:lpstr>
      <vt:lpstr>sbs_template</vt:lpstr>
      <vt:lpstr>AIC &amp; NHST</vt:lpstr>
      <vt:lpstr>Two commonly used “additions” in modelling</vt:lpstr>
      <vt:lpstr>Null Hypothesis Significance Testing</vt:lpstr>
      <vt:lpstr>Question</vt:lpstr>
      <vt:lpstr>Question</vt:lpstr>
      <vt:lpstr>The Popperian philosophy</vt:lpstr>
      <vt:lpstr>Why so negative?</vt:lpstr>
      <vt:lpstr>Why so negative?</vt:lpstr>
      <vt:lpstr>Null hypotheses</vt:lpstr>
      <vt:lpstr>P-values</vt:lpstr>
      <vt:lpstr>P-values</vt:lpstr>
      <vt:lpstr>Just by chance?</vt:lpstr>
      <vt:lpstr>Just by chance?</vt:lpstr>
      <vt:lpstr>Just by chance?</vt:lpstr>
      <vt:lpstr>Two possible explanations</vt:lpstr>
      <vt:lpstr>Just by chance?</vt:lpstr>
      <vt:lpstr>“Statistical significance”</vt:lpstr>
      <vt:lpstr>α level</vt:lpstr>
      <vt:lpstr>α level</vt:lpstr>
      <vt:lpstr>α=0.05</vt:lpstr>
      <vt:lpstr>The magic words</vt:lpstr>
      <vt:lpstr>NHST in statistical models</vt:lpstr>
      <vt:lpstr>Null hypotheses</vt:lpstr>
      <vt:lpstr>A problem</vt:lpstr>
      <vt:lpstr>Adélie penguins and NHST</vt:lpstr>
      <vt:lpstr>Adélie penguin data</vt:lpstr>
      <vt:lpstr>Diagnose</vt:lpstr>
      <vt:lpstr>summary(peng_mod)</vt:lpstr>
      <vt:lpstr>The T distribution</vt:lpstr>
      <vt:lpstr>Are these significant?</vt:lpstr>
      <vt:lpstr>Significant what?</vt:lpstr>
      <vt:lpstr>Strawman argument</vt:lpstr>
      <vt:lpstr>Criticisms of NHST</vt:lpstr>
      <vt:lpstr>Need for NHST?</vt:lpstr>
      <vt:lpstr>Ambiguous</vt:lpstr>
      <vt:lpstr>Sensitive to sample size</vt:lpstr>
      <vt:lpstr>Significant does not mean effect</vt:lpstr>
      <vt:lpstr>5% is still pretty high</vt:lpstr>
      <vt:lpstr>tl;dr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Roos, Deon</dc:creator>
  <cp:lastModifiedBy>Roos, Deon</cp:lastModifiedBy>
  <cp:revision>3</cp:revision>
  <dcterms:created xsi:type="dcterms:W3CDTF">2024-08-05T10:21:27Z</dcterms:created>
  <dcterms:modified xsi:type="dcterms:W3CDTF">2024-08-07T15:34:43Z</dcterms:modified>
</cp:coreProperties>
</file>