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319" r:id="rId2"/>
    <p:sldId id="320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338" r:id="rId21"/>
    <p:sldId id="339" r:id="rId22"/>
    <p:sldId id="340" r:id="rId23"/>
    <p:sldId id="341" r:id="rId24"/>
    <p:sldId id="342" r:id="rId25"/>
    <p:sldId id="343" r:id="rId26"/>
    <p:sldId id="344" r:id="rId27"/>
    <p:sldId id="345" r:id="rId28"/>
    <p:sldId id="346" r:id="rId29"/>
    <p:sldId id="347" r:id="rId30"/>
    <p:sldId id="348" r:id="rId31"/>
    <p:sldId id="349" r:id="rId32"/>
    <p:sldId id="350" r:id="rId33"/>
    <p:sldId id="351" r:id="rId34"/>
    <p:sldId id="352" r:id="rId35"/>
    <p:sldId id="353" r:id="rId36"/>
    <p:sldId id="354" r:id="rId37"/>
    <p:sldId id="355" r:id="rId38"/>
    <p:sldId id="356" r:id="rId39"/>
    <p:sldId id="357" r:id="rId40"/>
    <p:sldId id="358" r:id="rId41"/>
    <p:sldId id="359" r:id="rId42"/>
    <p:sldId id="360" r:id="rId43"/>
    <p:sldId id="361" r:id="rId44"/>
    <p:sldId id="36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BCB"/>
    <a:srgbClr val="941515"/>
    <a:srgbClr val="FF5858"/>
    <a:srgbClr val="E00181"/>
    <a:srgbClr val="DF0050"/>
    <a:srgbClr val="FFFFFF"/>
    <a:srgbClr val="E92E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5642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outlineViewPr>
    <p:cViewPr>
      <p:scale>
        <a:sx n="33" d="100"/>
        <a:sy n="33" d="100"/>
      </p:scale>
      <p:origin x="0" y="-969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8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DB14C-A15E-42BF-8783-615C7589C89E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534B80-008E-4E77-8807-F73C3E742B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545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534B80-008E-4E77-8807-F73C3E742B8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248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534B80-008E-4E77-8807-F73C3E742B81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335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448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357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5010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0489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2616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6144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297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221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88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088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811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DF84-5BBE-50A4-B999-0EA2EB51E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4B0289-AD2C-A582-3E3D-B941DFFAA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E570B-058B-A04F-9EFB-7EB3A76C9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C28B2-4B9E-26D8-1EC4-919AE05F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58FA1-60EA-C370-22FF-FE59C54E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796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7139D-72C6-88B5-0031-2265ECE02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59ACA-3688-26B7-993C-04840235E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EA54D-79C3-5077-9E0B-5011F368D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CC22-2017-079A-F03A-1782EDA69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620E3-DE19-912D-E871-F33452EEE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678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44E0F-B98B-4D2F-9803-070B1DEAEC0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3793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7.png"/><Relationship Id="rId7" Type="http://schemas.openxmlformats.org/officeDocument/2006/relationships/image" Target="../media/image14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27.png"/><Relationship Id="rId7" Type="http://schemas.openxmlformats.org/officeDocument/2006/relationships/image" Target="../media/image2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4" Type="http://schemas.openxmlformats.org/officeDocument/2006/relationships/image" Target="../media/image28.png"/><Relationship Id="rId9" Type="http://schemas.openxmlformats.org/officeDocument/2006/relationships/image" Target="../media/image2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30.png"/><Relationship Id="rId7" Type="http://schemas.openxmlformats.org/officeDocument/2006/relationships/image" Target="../media/image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34.png"/><Relationship Id="rId9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svg"/><Relationship Id="rId5" Type="http://schemas.openxmlformats.org/officeDocument/2006/relationships/image" Target="../media/image11.png"/><Relationship Id="rId4" Type="http://schemas.openxmlformats.org/officeDocument/2006/relationships/image" Target="../media/image42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FAB91-D6D8-7116-4EF8-471E64EA46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What is “AI”?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D792E7-9007-867A-A523-39971E156BE0}"/>
              </a:ext>
            </a:extLst>
          </p:cNvPr>
          <p:cNvSpPr txBox="1"/>
          <p:nvPr/>
        </p:nvSpPr>
        <p:spPr>
          <a:xfrm>
            <a:off x="2318299" y="3720974"/>
            <a:ext cx="7555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More specifically, how do Large Language Models work?</a:t>
            </a:r>
          </a:p>
        </p:txBody>
      </p:sp>
    </p:spTree>
    <p:extLst>
      <p:ext uri="{BB962C8B-B14F-4D97-AF65-F5344CB8AC3E}">
        <p14:creationId xmlns:p14="http://schemas.microsoft.com/office/powerpoint/2010/main" val="159403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8B87-367B-12C8-A62C-8D697DF62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Disclaimer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98398-09A3-2257-F136-D8848FADE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2006" cy="466725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I am not an expert in AI or LLM</a:t>
            </a:r>
          </a:p>
          <a:p>
            <a:r>
              <a:rPr lang="en-GB" dirty="0"/>
              <a:t>I have built my own “LLM” but it’s a toy</a:t>
            </a:r>
          </a:p>
          <a:p>
            <a:pPr lvl="1"/>
            <a:r>
              <a:rPr lang="en-GB" dirty="0"/>
              <a:t>It’s called Bert_3010 and it’s not allowed to leave my basement</a:t>
            </a:r>
          </a:p>
          <a:p>
            <a:r>
              <a:rPr lang="en-GB" dirty="0"/>
              <a:t>It is in my interest to convince you that AI is just statistics</a:t>
            </a:r>
          </a:p>
          <a:p>
            <a:pPr lvl="1"/>
            <a:r>
              <a:rPr lang="en-GB" dirty="0"/>
              <a:t>Keeps me in a job</a:t>
            </a:r>
          </a:p>
          <a:p>
            <a:pPr lvl="1"/>
            <a:r>
              <a:rPr lang="en-GB" dirty="0"/>
              <a:t>Inflates my ego</a:t>
            </a:r>
          </a:p>
          <a:p>
            <a:r>
              <a:rPr lang="en-GB" dirty="0"/>
              <a:t>I do believe that what I’m saying is true</a:t>
            </a:r>
          </a:p>
          <a:p>
            <a:pPr lvl="1"/>
            <a:r>
              <a:rPr lang="en-GB" dirty="0"/>
              <a:t>But I am not impartial</a:t>
            </a:r>
          </a:p>
        </p:txBody>
      </p:sp>
      <p:pic>
        <p:nvPicPr>
          <p:cNvPr id="5" name="Picture 4" descr="A painting of a person with two children&#10;&#10;AI-generated content may be incorrect.">
            <a:extLst>
              <a:ext uri="{FF2B5EF4-FFF2-40B4-BE49-F238E27FC236}">
                <a16:creationId xmlns:a16="http://schemas.microsoft.com/office/drawing/2014/main" id="{D5C8F0B2-7029-6132-4F1A-D366AAA08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276" y="0"/>
            <a:ext cx="49267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8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0BE52-EDA1-0915-8027-47E8D61B0608}"/>
              </a:ext>
            </a:extLst>
          </p:cNvPr>
          <p:cNvSpPr txBox="1">
            <a:spLocks/>
          </p:cNvSpPr>
          <p:nvPr/>
        </p:nvSpPr>
        <p:spPr>
          <a:xfrm>
            <a:off x="945173" y="2231170"/>
            <a:ext cx="10301654" cy="37848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/>
              <a:t>When talking to a CEO, it’s </a:t>
            </a:r>
            <a:r>
              <a:rPr lang="en-GB" b="1" dirty="0">
                <a:solidFill>
                  <a:srgbClr val="FFFF00"/>
                </a:solidFill>
              </a:rPr>
              <a:t>Artificial Intelligence</a:t>
            </a:r>
            <a:r>
              <a:rPr lang="en-GB" dirty="0"/>
              <a:t>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When talking to a head of department, it’s </a:t>
            </a:r>
            <a:r>
              <a:rPr lang="en-GB" b="1" dirty="0">
                <a:solidFill>
                  <a:srgbClr val="FFFF00"/>
                </a:solidFill>
              </a:rPr>
              <a:t>Machine Learning</a:t>
            </a:r>
            <a:r>
              <a:rPr lang="en-GB" dirty="0"/>
              <a:t>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When talking to a line manager, it’s </a:t>
            </a:r>
            <a:r>
              <a:rPr lang="en-GB" b="1" dirty="0">
                <a:solidFill>
                  <a:srgbClr val="FFFF00"/>
                </a:solidFill>
              </a:rPr>
              <a:t>Data Science</a:t>
            </a:r>
            <a:r>
              <a:rPr lang="en-GB" dirty="0"/>
              <a:t>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When talking to a colleague, it’s </a:t>
            </a:r>
            <a:r>
              <a:rPr lang="en-GB" b="1" dirty="0">
                <a:solidFill>
                  <a:srgbClr val="FFFF00"/>
                </a:solidFill>
              </a:rPr>
              <a:t>Statistics</a:t>
            </a:r>
            <a:r>
              <a:rPr lang="en-GB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7B7C0C-5619-3005-03DC-52870128E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What’s the difference?</a:t>
            </a:r>
          </a:p>
        </p:txBody>
      </p:sp>
    </p:spTree>
    <p:extLst>
      <p:ext uri="{BB962C8B-B14F-4D97-AF65-F5344CB8AC3E}">
        <p14:creationId xmlns:p14="http://schemas.microsoft.com/office/powerpoint/2010/main" val="111240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CFC7E13-690A-6D75-3CDB-8939D24CC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82" y="2191833"/>
            <a:ext cx="9245434" cy="40526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D866FB-56EA-5AE8-98D1-5E74FA5D3AA4}"/>
              </a:ext>
            </a:extLst>
          </p:cNvPr>
          <p:cNvSpPr txBox="1"/>
          <p:nvPr/>
        </p:nvSpPr>
        <p:spPr>
          <a:xfrm>
            <a:off x="3436971" y="613516"/>
            <a:ext cx="531805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Garamond" panose="02020404030301010803" pitchFamily="18" charset="0"/>
              </a:rPr>
              <a:t>“Statistics is great and all, but it can’t do things like analyse time series”</a:t>
            </a:r>
          </a:p>
          <a:p>
            <a:pPr algn="r"/>
            <a:r>
              <a:rPr lang="en-GB" dirty="0">
                <a:latin typeface="Garamond" panose="02020404030301010803" pitchFamily="18" charset="0"/>
              </a:rPr>
              <a:t>Professor of Machine Learning Engineering</a:t>
            </a:r>
            <a:br>
              <a:rPr lang="en-GB" dirty="0">
                <a:latin typeface="Garamond" panose="02020404030301010803" pitchFamily="18" charset="0"/>
              </a:rPr>
            </a:br>
            <a:r>
              <a:rPr lang="en-GB" dirty="0">
                <a:latin typeface="Garamond" panose="02020404030301010803" pitchFamily="18" charset="0"/>
              </a:rPr>
              <a:t>(from a very prestigious university)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DCF8F7-4C12-0816-1FD3-D2A84A7CED2A}"/>
              </a:ext>
            </a:extLst>
          </p:cNvPr>
          <p:cNvSpPr/>
          <p:nvPr/>
        </p:nvSpPr>
        <p:spPr>
          <a:xfrm>
            <a:off x="5672796" y="5948232"/>
            <a:ext cx="423204" cy="2962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9A9C2B7-A8E7-BA11-BE8B-C4BBD3C2EAF2}"/>
              </a:ext>
            </a:extLst>
          </p:cNvPr>
          <p:cNvCxnSpPr>
            <a:cxnSpLocks/>
          </p:cNvCxnSpPr>
          <p:nvPr/>
        </p:nvCxnSpPr>
        <p:spPr>
          <a:xfrm flipH="1">
            <a:off x="8761900" y="2892278"/>
            <a:ext cx="1956816" cy="12984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67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6" presetClass="emph" presetSubtype="0" decel="57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F9FF-4B28-A2CA-0D37-AB8F5E20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E5859-0FC3-5F0C-FD74-EAE00A9CE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7349"/>
            <a:ext cx="6211186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AI is largely a marketing term</a:t>
            </a:r>
          </a:p>
          <a:p>
            <a:pPr lvl="1"/>
            <a:r>
              <a:rPr lang="en-GB" dirty="0"/>
              <a:t>Incredibly loose definition</a:t>
            </a:r>
          </a:p>
          <a:p>
            <a:pPr lvl="1"/>
            <a:r>
              <a:rPr lang="en-GB" dirty="0"/>
              <a:t>Often a GLM</a:t>
            </a:r>
          </a:p>
          <a:p>
            <a:pPr lvl="1"/>
            <a:r>
              <a:rPr lang="en-GB" dirty="0"/>
              <a:t>Can be a neural network</a:t>
            </a:r>
          </a:p>
          <a:p>
            <a:pPr lvl="1"/>
            <a:r>
              <a:rPr lang="en-GB" dirty="0"/>
              <a:t>But can mean a large language model</a:t>
            </a:r>
          </a:p>
          <a:p>
            <a:pPr lvl="1"/>
            <a:r>
              <a:rPr lang="en-GB" dirty="0"/>
              <a:t>At times, it’s just clever conditional code</a:t>
            </a:r>
          </a:p>
          <a:p>
            <a:r>
              <a:rPr lang="en-GB" dirty="0"/>
              <a:t>AI, or “</a:t>
            </a:r>
            <a:r>
              <a:rPr lang="en-GB" dirty="0" err="1"/>
              <a:t>genAI</a:t>
            </a:r>
            <a:r>
              <a:rPr lang="en-GB" dirty="0"/>
              <a:t>”, mostly taken to mean Large Language Models (LLMs)</a:t>
            </a:r>
          </a:p>
          <a:p>
            <a:pPr lvl="1"/>
            <a:r>
              <a:rPr lang="en-GB" dirty="0"/>
              <a:t>AI that produces text</a:t>
            </a:r>
          </a:p>
          <a:p>
            <a:r>
              <a:rPr lang="en-GB" dirty="0"/>
              <a:t>Image generators (Diffusion models) similar but distinct</a:t>
            </a:r>
          </a:p>
          <a:p>
            <a:pPr lvl="1"/>
            <a:r>
              <a:rPr lang="en-GB" dirty="0"/>
              <a:t>AI that produces images (and videos)</a:t>
            </a:r>
          </a:p>
        </p:txBody>
      </p:sp>
      <p:pic>
        <p:nvPicPr>
          <p:cNvPr id="5" name="Picture 4" descr="A washing machine in front of a blue wall&#10;&#10;AI-generated content may be incorrect.">
            <a:extLst>
              <a:ext uri="{FF2B5EF4-FFF2-40B4-BE49-F238E27FC236}">
                <a16:creationId xmlns:a16="http://schemas.microsoft.com/office/drawing/2014/main" id="{51DA7A2D-69D5-98F6-9BD8-EF134E6DF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005" y="365125"/>
            <a:ext cx="4917332" cy="32782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BEFC23-A837-C481-731B-6A605FB8EAEA}"/>
              </a:ext>
            </a:extLst>
          </p:cNvPr>
          <p:cNvSpPr txBox="1"/>
          <p:nvPr/>
        </p:nvSpPr>
        <p:spPr>
          <a:xfrm>
            <a:off x="7228005" y="4013018"/>
            <a:ext cx="44582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 name &lt;- “Deon”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 if(!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is.null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(name)) {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+   print(paste(“Hello”, name))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+   } else {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+   print(“Hello”)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+   }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“Hello Deon”</a:t>
            </a:r>
          </a:p>
        </p:txBody>
      </p:sp>
    </p:spTree>
    <p:extLst>
      <p:ext uri="{BB962C8B-B14F-4D97-AF65-F5344CB8AC3E}">
        <p14:creationId xmlns:p14="http://schemas.microsoft.com/office/powerpoint/2010/main" val="39491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31E16-196D-88E1-416C-7D727B55D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632704"/>
            <a:ext cx="12192000" cy="1225296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/>
              <a:t>Vagueness breeds misunderstanding</a:t>
            </a:r>
          </a:p>
        </p:txBody>
      </p:sp>
    </p:spTree>
    <p:extLst>
      <p:ext uri="{BB962C8B-B14F-4D97-AF65-F5344CB8AC3E}">
        <p14:creationId xmlns:p14="http://schemas.microsoft.com/office/powerpoint/2010/main" val="1463931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55EA-BA29-6165-53CC-A2CFDD3EB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566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“AI is sentient”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8EE4DFE-4493-B643-C651-44A151CAD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0443" y="1471231"/>
            <a:ext cx="8891113" cy="500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09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C81A4-CDFB-7ACC-965A-DF057210B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9F139-5A74-DFE2-45B6-79BC2D9BD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6525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“AI is dumb because it can’t do maths”</a:t>
            </a:r>
          </a:p>
        </p:txBody>
      </p:sp>
      <p:pic>
        <p:nvPicPr>
          <p:cNvPr id="6" name="Content Placeholder 5" descr="A screenshot of a chat&#10;&#10;AI-generated content may be incorrect.">
            <a:extLst>
              <a:ext uri="{FF2B5EF4-FFF2-40B4-BE49-F238E27FC236}">
                <a16:creationId xmlns:a16="http://schemas.microsoft.com/office/drawing/2014/main" id="{EC7EBD68-375F-AB8D-1824-A8CAD69F1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32"/>
          <a:stretch>
            <a:fillRect/>
          </a:stretch>
        </p:blipFill>
        <p:spPr>
          <a:xfrm>
            <a:off x="2021444" y="1278662"/>
            <a:ext cx="8110108" cy="531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91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AC2AE-3454-9EF9-AB8D-7B659193B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0C63A-126A-40EB-6E8A-249F18C0D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92" y="10909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“It’s </a:t>
            </a:r>
            <a:r>
              <a:rPr lang="en-GB" dirty="0" err="1"/>
              <a:t>gonna</a:t>
            </a:r>
            <a:r>
              <a:rPr lang="en-GB" dirty="0"/>
              <a:t> take your jobs”</a:t>
            </a:r>
          </a:p>
        </p:txBody>
      </p:sp>
      <p:pic>
        <p:nvPicPr>
          <p:cNvPr id="6" name="Content Placeholder 5" descr="A robot carrying a group of people&#10;&#10;AI-generated content may be incorrect.">
            <a:extLst>
              <a:ext uri="{FF2B5EF4-FFF2-40B4-BE49-F238E27FC236}">
                <a16:creationId xmlns:a16="http://schemas.microsoft.com/office/drawing/2014/main" id="{F6BA6B61-30E9-97AF-A0B6-6AE2812FEF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190" y="1434656"/>
            <a:ext cx="9471620" cy="4972601"/>
          </a:xfrm>
        </p:spPr>
      </p:pic>
    </p:spTree>
    <p:extLst>
      <p:ext uri="{BB962C8B-B14F-4D97-AF65-F5344CB8AC3E}">
        <p14:creationId xmlns:p14="http://schemas.microsoft.com/office/powerpoint/2010/main" val="1508540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71643-4BFB-7EF2-E359-596DDD8D0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DADD5-DB0F-CC21-6721-2F11087CB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92" y="10909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“AI is just a parrot”</a:t>
            </a:r>
          </a:p>
        </p:txBody>
      </p:sp>
      <p:pic>
        <p:nvPicPr>
          <p:cNvPr id="7" name="Content Placeholder 6" descr="A screenshot of a keyboard&#10;&#10;AI-generated content may be incorrect.">
            <a:extLst>
              <a:ext uri="{FF2B5EF4-FFF2-40B4-BE49-F238E27FC236}">
                <a16:creationId xmlns:a16="http://schemas.microsoft.com/office/drawing/2014/main" id="{2BDE6031-E238-9AF2-9403-A783C5CDB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151" y="1434656"/>
            <a:ext cx="8209697" cy="5131061"/>
          </a:xfrm>
        </p:spPr>
      </p:pic>
    </p:spTree>
    <p:extLst>
      <p:ext uri="{BB962C8B-B14F-4D97-AF65-F5344CB8AC3E}">
        <p14:creationId xmlns:p14="http://schemas.microsoft.com/office/powerpoint/2010/main" val="2335388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CFD5-7EF4-AD90-FC0B-F748FF1C5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“AI is objective and unbiassed” </a:t>
            </a:r>
          </a:p>
        </p:txBody>
      </p:sp>
      <p:pic>
        <p:nvPicPr>
          <p:cNvPr id="7" name="Content Placeholder 6" descr="A person in a hat&#10;&#10;AI-generated content may be incorrect.">
            <a:extLst>
              <a:ext uri="{FF2B5EF4-FFF2-40B4-BE49-F238E27FC236}">
                <a16:creationId xmlns:a16="http://schemas.microsoft.com/office/drawing/2014/main" id="{386AE44C-01D5-8619-5702-285B1FE4C5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533" y="1325563"/>
            <a:ext cx="9870934" cy="5182241"/>
          </a:xfrm>
        </p:spPr>
      </p:pic>
    </p:spTree>
    <p:extLst>
      <p:ext uri="{BB962C8B-B14F-4D97-AF65-F5344CB8AC3E}">
        <p14:creationId xmlns:p14="http://schemas.microsoft.com/office/powerpoint/2010/main" val="11545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B0376-0958-D6C4-F87C-A630A965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 what </a:t>
            </a:r>
            <a:r>
              <a:rPr lang="en-GB" i="1" dirty="0"/>
              <a:t>is </a:t>
            </a:r>
            <a:r>
              <a:rPr lang="en-GB" dirty="0"/>
              <a:t>a large language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F3343-3AFB-0FD8-7078-533A6E0D7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2612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LLMs have three “stages”</a:t>
            </a:r>
          </a:p>
          <a:p>
            <a:r>
              <a:rPr lang="en-GB" dirty="0"/>
              <a:t>Tokenisation </a:t>
            </a:r>
            <a:br>
              <a:rPr lang="en-GB" dirty="0"/>
            </a:br>
            <a:r>
              <a:rPr lang="en-GB" dirty="0"/>
              <a:t>(akin to data processing)</a:t>
            </a:r>
          </a:p>
          <a:p>
            <a:r>
              <a:rPr lang="en-GB" dirty="0"/>
              <a:t>Embedding </a:t>
            </a:r>
            <a:br>
              <a:rPr lang="en-GB" dirty="0"/>
            </a:br>
            <a:r>
              <a:rPr lang="en-GB" dirty="0"/>
              <a:t>(akin to multivariate analysis)</a:t>
            </a:r>
          </a:p>
          <a:p>
            <a:r>
              <a:rPr lang="en-GB" dirty="0"/>
              <a:t>Transformer </a:t>
            </a:r>
            <a:br>
              <a:rPr lang="en-GB" dirty="0"/>
            </a:br>
            <a:r>
              <a:rPr lang="en-GB" dirty="0"/>
              <a:t>(akin to stacked GLMs)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sz="2000" dirty="0"/>
              <a:t>You interact with an LLM through a chatbot.</a:t>
            </a:r>
          </a:p>
        </p:txBody>
      </p:sp>
      <p:pic>
        <p:nvPicPr>
          <p:cNvPr id="5" name="Picture 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A991C028-EA03-0167-407A-60DF0916F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326" y="1690688"/>
            <a:ext cx="5165696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972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579DD8F-3269-2A09-AD1B-DC94B947B96F}"/>
              </a:ext>
            </a:extLst>
          </p:cNvPr>
          <p:cNvGrpSpPr/>
          <p:nvPr/>
        </p:nvGrpSpPr>
        <p:grpSpPr>
          <a:xfrm>
            <a:off x="1026317" y="5197478"/>
            <a:ext cx="5666703" cy="768081"/>
            <a:chOff x="1043569" y="5137680"/>
            <a:chExt cx="5666703" cy="76808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C5482D7-0E89-D595-5AF5-0868768DF18A}"/>
                </a:ext>
              </a:extLst>
            </p:cNvPr>
            <p:cNvSpPr/>
            <p:nvPr/>
          </p:nvSpPr>
          <p:spPr>
            <a:xfrm>
              <a:off x="1043570" y="5144560"/>
              <a:ext cx="525673" cy="25294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B902428-A703-27E3-EAE4-E43A304E3AC0}"/>
                </a:ext>
              </a:extLst>
            </p:cNvPr>
            <p:cNvSpPr/>
            <p:nvPr/>
          </p:nvSpPr>
          <p:spPr>
            <a:xfrm>
              <a:off x="1043569" y="5652821"/>
              <a:ext cx="402433" cy="25294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5FA30D-3C58-1CB5-7D75-82B56CF22170}"/>
                </a:ext>
              </a:extLst>
            </p:cNvPr>
            <p:cNvSpPr/>
            <p:nvPr/>
          </p:nvSpPr>
          <p:spPr>
            <a:xfrm>
              <a:off x="1043570" y="5399881"/>
              <a:ext cx="1157288" cy="25294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E36C6A5-CE2A-8540-DEFF-A3917FFC147F}"/>
                </a:ext>
              </a:extLst>
            </p:cNvPr>
            <p:cNvSpPr/>
            <p:nvPr/>
          </p:nvSpPr>
          <p:spPr>
            <a:xfrm>
              <a:off x="1876429" y="5144560"/>
              <a:ext cx="403012" cy="25294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CA4395-CA72-F2EF-5B26-84B4318F097C}"/>
                </a:ext>
              </a:extLst>
            </p:cNvPr>
            <p:cNvSpPr/>
            <p:nvPr/>
          </p:nvSpPr>
          <p:spPr>
            <a:xfrm>
              <a:off x="2617916" y="5144560"/>
              <a:ext cx="366709" cy="26617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48A1132-E97C-48EF-AB3D-4C042D8AD972}"/>
                </a:ext>
              </a:extLst>
            </p:cNvPr>
            <p:cNvSpPr/>
            <p:nvPr/>
          </p:nvSpPr>
          <p:spPr>
            <a:xfrm>
              <a:off x="1786506" y="5652821"/>
              <a:ext cx="997759" cy="25294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35F5856-F70F-12F6-4542-34744F84DEE5}"/>
                </a:ext>
              </a:extLst>
            </p:cNvPr>
            <p:cNvSpPr/>
            <p:nvPr/>
          </p:nvSpPr>
          <p:spPr>
            <a:xfrm>
              <a:off x="2548529" y="5403850"/>
              <a:ext cx="807236" cy="24659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5BD93C-46A9-DA10-359F-45603ECAA4CF}"/>
                </a:ext>
              </a:extLst>
            </p:cNvPr>
            <p:cNvSpPr/>
            <p:nvPr/>
          </p:nvSpPr>
          <p:spPr>
            <a:xfrm>
              <a:off x="3279600" y="5137680"/>
              <a:ext cx="350008" cy="26617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176B1F3-7348-DBAB-5B4C-C3D5DD21145C}"/>
                </a:ext>
              </a:extLst>
            </p:cNvPr>
            <p:cNvSpPr/>
            <p:nvPr/>
          </p:nvSpPr>
          <p:spPr>
            <a:xfrm>
              <a:off x="3105729" y="5650440"/>
              <a:ext cx="250036" cy="25294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0C8C345-2A8F-9256-E7F5-6C544D29B163}"/>
                </a:ext>
              </a:extLst>
            </p:cNvPr>
            <p:cNvSpPr/>
            <p:nvPr/>
          </p:nvSpPr>
          <p:spPr>
            <a:xfrm>
              <a:off x="3969274" y="5137680"/>
              <a:ext cx="634027" cy="25982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CAA6FC6-5743-DE75-CBE1-3D5C6ACF9ADA}"/>
                </a:ext>
              </a:extLst>
            </p:cNvPr>
            <p:cNvSpPr/>
            <p:nvPr/>
          </p:nvSpPr>
          <p:spPr>
            <a:xfrm>
              <a:off x="3688842" y="5400675"/>
              <a:ext cx="443832" cy="24659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39D59E0-8010-E76C-53B3-286370FF5490}"/>
                </a:ext>
              </a:extLst>
            </p:cNvPr>
            <p:cNvSpPr/>
            <p:nvPr/>
          </p:nvSpPr>
          <p:spPr>
            <a:xfrm>
              <a:off x="3688842" y="5650440"/>
              <a:ext cx="702766" cy="25294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58A7F3C-5C5A-8DEB-812A-4D9C4D4B4337}"/>
                </a:ext>
              </a:extLst>
            </p:cNvPr>
            <p:cNvSpPr/>
            <p:nvPr/>
          </p:nvSpPr>
          <p:spPr>
            <a:xfrm>
              <a:off x="4444317" y="5397500"/>
              <a:ext cx="868835" cy="25294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40D9304-A74D-9F97-34F0-B729609FBA31}"/>
                </a:ext>
              </a:extLst>
            </p:cNvPr>
            <p:cNvSpPr/>
            <p:nvPr/>
          </p:nvSpPr>
          <p:spPr>
            <a:xfrm>
              <a:off x="4724685" y="5647265"/>
              <a:ext cx="328911" cy="25294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A60EE0-4EE6-48C5-0257-1DC8BEDEDC74}"/>
                </a:ext>
              </a:extLst>
            </p:cNvPr>
            <p:cNvSpPr/>
            <p:nvPr/>
          </p:nvSpPr>
          <p:spPr>
            <a:xfrm>
              <a:off x="4942967" y="5137680"/>
              <a:ext cx="748886" cy="25982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B6CDA5-0065-9EF5-AF1F-84EF3A9D0EBF}"/>
                </a:ext>
              </a:extLst>
            </p:cNvPr>
            <p:cNvSpPr/>
            <p:nvPr/>
          </p:nvSpPr>
          <p:spPr>
            <a:xfrm>
              <a:off x="5388398" y="5650440"/>
              <a:ext cx="328911" cy="249765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9AA6D1A-666F-B43C-F038-81892F9FAC63}"/>
                </a:ext>
              </a:extLst>
            </p:cNvPr>
            <p:cNvSpPr/>
            <p:nvPr/>
          </p:nvSpPr>
          <p:spPr>
            <a:xfrm>
              <a:off x="5646230" y="5403850"/>
              <a:ext cx="940892" cy="243415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782E695-706A-74BC-DF14-892C45AA056E}"/>
                </a:ext>
              </a:extLst>
            </p:cNvPr>
            <p:cNvSpPr/>
            <p:nvPr/>
          </p:nvSpPr>
          <p:spPr>
            <a:xfrm>
              <a:off x="6046559" y="5647265"/>
              <a:ext cx="663713" cy="243415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3E57E-5402-07D5-797B-213A64746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5095"/>
            <a:ext cx="6724633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Tokenisation</a:t>
            </a:r>
            <a:r>
              <a:rPr lang="en-US" dirty="0"/>
              <a:t> splits text into </a:t>
            </a:r>
            <a:r>
              <a:rPr lang="en-US" dirty="0" err="1"/>
              <a:t>subword</a:t>
            </a:r>
            <a:r>
              <a:rPr lang="en-US" dirty="0"/>
              <a:t> units (tokens)</a:t>
            </a:r>
          </a:p>
          <a:p>
            <a:r>
              <a:rPr lang="en-US" dirty="0"/>
              <a:t>Common words stay whole, rare or novel words get broken into fragments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For example:</a:t>
            </a:r>
          </a:p>
          <a:p>
            <a:pPr marL="0" indent="0">
              <a:buNone/>
            </a:pPr>
            <a:r>
              <a:rPr lang="en-GB" dirty="0"/>
              <a:t>The seagull was seen stealing chips on Union Street as people cowered in fear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Becomes:</a:t>
            </a:r>
          </a:p>
          <a:p>
            <a:pPr marL="0" indent="0">
              <a:buNone/>
            </a:pPr>
            <a:r>
              <a:rPr lang="en-US" dirty="0"/>
              <a:t>“The”, “ se”, “ag”, “</a:t>
            </a:r>
            <a:r>
              <a:rPr lang="en-US" dirty="0" err="1"/>
              <a:t>ull</a:t>
            </a:r>
            <a:r>
              <a:rPr lang="en-US" dirty="0"/>
              <a:t>”, “ was”, “ seen”, </a:t>
            </a:r>
            <a:br>
              <a:rPr lang="en-US" dirty="0"/>
            </a:br>
            <a:r>
              <a:rPr lang="en-US" dirty="0"/>
              <a:t>“ stealing”, “ chips”, “ on”, “ Union”, “ Street”, </a:t>
            </a:r>
            <a:br>
              <a:rPr lang="en-US" dirty="0"/>
            </a:br>
            <a:r>
              <a:rPr lang="en-US" dirty="0"/>
              <a:t>“ as”, “ people”, “ c”, “</a:t>
            </a:r>
            <a:r>
              <a:rPr lang="en-US" dirty="0" err="1"/>
              <a:t>ower</a:t>
            </a:r>
            <a:r>
              <a:rPr lang="en-US" dirty="0"/>
              <a:t>”, “ed”, “ in”, “ fear”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89CB0-579C-041A-F801-595DB368B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Tokenisation</a:t>
            </a:r>
          </a:p>
        </p:txBody>
      </p:sp>
      <p:pic>
        <p:nvPicPr>
          <p:cNvPr id="26" name="Picture 25" descr="A bird holding a bag of chips&#10;&#10;AI-generated content may be incorrect.">
            <a:extLst>
              <a:ext uri="{FF2B5EF4-FFF2-40B4-BE49-F238E27FC236}">
                <a16:creationId xmlns:a16="http://schemas.microsoft.com/office/drawing/2014/main" id="{D2A49724-DC96-C615-61D8-E81191A58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1" r="10698"/>
          <a:stretch>
            <a:fillRect/>
          </a:stretch>
        </p:blipFill>
        <p:spPr>
          <a:xfrm>
            <a:off x="7562833" y="0"/>
            <a:ext cx="4629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4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group of red dots with white text&#10;&#10;AI-generated content may be incorrect.">
            <a:extLst>
              <a:ext uri="{FF2B5EF4-FFF2-40B4-BE49-F238E27FC236}">
                <a16:creationId xmlns:a16="http://schemas.microsoft.com/office/drawing/2014/main" id="{79710EB9-7037-5335-AE4F-68FC64F97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5" r="8798" b="4447"/>
          <a:stretch>
            <a:fillRect/>
          </a:stretch>
        </p:blipFill>
        <p:spPr>
          <a:xfrm>
            <a:off x="6794698" y="1690688"/>
            <a:ext cx="5311783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BB6F53-C415-9D7B-86D3-CC7CE696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273E3-95AA-8461-CD27-DAB58DF10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6723" cy="4351338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Which occur most often together?</a:t>
            </a:r>
          </a:p>
          <a:p>
            <a:pPr lvl="1"/>
            <a:r>
              <a:rPr lang="en-GB" dirty="0"/>
              <a:t>“King” and “Queen”</a:t>
            </a:r>
          </a:p>
          <a:p>
            <a:pPr lvl="1"/>
            <a:r>
              <a:rPr lang="en-GB" dirty="0"/>
              <a:t>“King” and “Qualified”</a:t>
            </a:r>
          </a:p>
          <a:p>
            <a:r>
              <a:rPr lang="en-US" dirty="0"/>
              <a:t>Embedding converts each token into a series of numbers, which maps its position in multidimensional space</a:t>
            </a:r>
          </a:p>
          <a:p>
            <a:r>
              <a:rPr lang="en-US" dirty="0"/>
              <a:t>Similar words occupy the same space which are estimated during fitting</a:t>
            </a:r>
          </a:p>
          <a:p>
            <a:r>
              <a:rPr lang="en-US" dirty="0"/>
              <a:t>The same token can have different values depending on context</a:t>
            </a:r>
          </a:p>
          <a:p>
            <a:r>
              <a:rPr lang="en-GB" dirty="0"/>
              <a:t>Embedding values are the information passed on to the next stage</a:t>
            </a:r>
          </a:p>
        </p:txBody>
      </p:sp>
    </p:spTree>
    <p:extLst>
      <p:ext uri="{BB962C8B-B14F-4D97-AF65-F5344CB8AC3E}">
        <p14:creationId xmlns:p14="http://schemas.microsoft.com/office/powerpoint/2010/main" val="355164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5B8B5-2FF1-C982-E2FF-0BBC0702B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E1BE-3D90-5A31-8BC1-E80C910B7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632704"/>
            <a:ext cx="12192000" cy="1225296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A brief aside on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109676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9E7BB-794E-49D4-B7D0-ED40E476F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Neural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2E0F9B-5E70-EC6C-7244-202AD32DB3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924107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GB" dirty="0"/>
                  <a:t>In BI3010, you learnt linear models: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And GLMs: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dirty="0"/>
                  <a:t>These form the foundation of almost all complex statistical methods</a:t>
                </a:r>
              </a:p>
              <a:p>
                <a:pPr lvl="1"/>
                <a:r>
                  <a:rPr lang="en-GB" dirty="0"/>
                  <a:t>Including neural networks (LLMs use a special type of NN)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2E0F9B-5E70-EC6C-7244-202AD32DB3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924107" cy="4351338"/>
              </a:xfrm>
              <a:blipFill>
                <a:blip r:embed="rId2"/>
                <a:stretch>
                  <a:fillRect l="-1648" t="-2101" b="-2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computer screen shot of a black background&#10;&#10;AI-generated content may be incorrect.">
            <a:extLst>
              <a:ext uri="{FF2B5EF4-FFF2-40B4-BE49-F238E27FC236}">
                <a16:creationId xmlns:a16="http://schemas.microsoft.com/office/drawing/2014/main" id="{132C057C-84CE-743B-A9FD-BE841F0C5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3" r="55830"/>
          <a:stretch>
            <a:fillRect/>
          </a:stretch>
        </p:blipFill>
        <p:spPr>
          <a:xfrm>
            <a:off x="7293935" y="0"/>
            <a:ext cx="4898065" cy="688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1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930E-1A79-5929-7AB4-9D4F459B1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DF420-693F-53C0-8A45-578ED47EF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492752" cy="4794631"/>
          </a:xfrm>
        </p:spPr>
        <p:txBody>
          <a:bodyPr>
            <a:normAutofit/>
          </a:bodyPr>
          <a:lstStyle/>
          <a:p>
            <a:r>
              <a:rPr lang="en-GB" dirty="0"/>
              <a:t>Common method used in:</a:t>
            </a:r>
          </a:p>
          <a:p>
            <a:pPr lvl="1"/>
            <a:r>
              <a:rPr lang="en-GB" dirty="0"/>
              <a:t>Image recognition</a:t>
            </a:r>
          </a:p>
          <a:p>
            <a:pPr lvl="1"/>
            <a:r>
              <a:rPr lang="en-GB" dirty="0"/>
              <a:t>Social media “algorithms”</a:t>
            </a:r>
          </a:p>
          <a:p>
            <a:pPr lvl="1"/>
            <a:r>
              <a:rPr lang="en-GB" dirty="0"/>
              <a:t>Translation software</a:t>
            </a:r>
          </a:p>
          <a:p>
            <a:r>
              <a:rPr lang="en-GB" dirty="0"/>
              <a:t>“Engine” in both LLMs and Diffusion models</a:t>
            </a:r>
          </a:p>
          <a:p>
            <a:r>
              <a:rPr lang="en-GB" dirty="0"/>
              <a:t>Highly flexible approach</a:t>
            </a:r>
          </a:p>
          <a:p>
            <a:pPr lvl="1"/>
            <a:r>
              <a:rPr lang="en-GB" dirty="0"/>
              <a:t>Good for non-linear relationships</a:t>
            </a:r>
          </a:p>
          <a:p>
            <a:r>
              <a:rPr lang="en-GB" dirty="0"/>
              <a:t>Only useful for predicting</a:t>
            </a:r>
          </a:p>
          <a:p>
            <a:pPr lvl="1"/>
            <a:r>
              <a:rPr lang="en-GB" dirty="0"/>
              <a:t>Use</a:t>
            </a:r>
            <a:r>
              <a:rPr lang="en-GB" b="1" i="1" dirty="0"/>
              <a:t>less</a:t>
            </a:r>
            <a:r>
              <a:rPr lang="en-GB" dirty="0"/>
              <a:t> for understanding</a:t>
            </a:r>
          </a:p>
        </p:txBody>
      </p:sp>
      <p:pic>
        <p:nvPicPr>
          <p:cNvPr id="7" name="Picture 6" descr="A zebras standing in a field&#10;&#10;AI-generated content may be incorrect.">
            <a:extLst>
              <a:ext uri="{FF2B5EF4-FFF2-40B4-BE49-F238E27FC236}">
                <a16:creationId xmlns:a16="http://schemas.microsoft.com/office/drawing/2014/main" id="{1979CC36-760C-19F3-8B61-9C71D156E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87"/>
          <a:stretch>
            <a:fillRect/>
          </a:stretch>
        </p:blipFill>
        <p:spPr>
          <a:xfrm>
            <a:off x="6211062" y="1546320"/>
            <a:ext cx="5734050" cy="49465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70BD79-C681-90AF-4335-3715092C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714" y="126633"/>
            <a:ext cx="5174742" cy="202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9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84AE6-A5E4-09CB-D826-5D17CE9A2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model as a neural network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5850263-97FC-8236-5574-B9E31083758C}"/>
              </a:ext>
            </a:extLst>
          </p:cNvPr>
          <p:cNvGrpSpPr/>
          <p:nvPr/>
        </p:nvGrpSpPr>
        <p:grpSpPr>
          <a:xfrm>
            <a:off x="1899138" y="2157046"/>
            <a:ext cx="1242647" cy="3281912"/>
            <a:chOff x="1899138" y="2157046"/>
            <a:chExt cx="1242647" cy="32819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0F8CCDFF-A1FF-8132-2D8B-0DA8583C2594}"/>
                    </a:ext>
                  </a:extLst>
                </p:cNvPr>
                <p:cNvSpPr/>
                <p:nvPr/>
              </p:nvSpPr>
              <p:spPr>
                <a:xfrm>
                  <a:off x="1899138" y="2157046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600" dirty="0"/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0F8CCDFF-A1FF-8132-2D8B-0DA8583C25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9138" y="2157046"/>
                  <a:ext cx="1242647" cy="12719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5A58AF0-4908-FE75-C9A5-A1DD1344978C}"/>
                    </a:ext>
                  </a:extLst>
                </p:cNvPr>
                <p:cNvSpPr/>
                <p:nvPr/>
              </p:nvSpPr>
              <p:spPr>
                <a:xfrm>
                  <a:off x="1899138" y="4167004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600" dirty="0"/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5A58AF0-4908-FE75-C9A5-A1DD134497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9138" y="4167004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84893D5-4FF0-69C9-5506-44CAB260AD7B}"/>
                  </a:ext>
                </a:extLst>
              </p:cNvPr>
              <p:cNvSpPr/>
              <p:nvPr/>
            </p:nvSpPr>
            <p:spPr>
              <a:xfrm>
                <a:off x="8710245" y="3094892"/>
                <a:ext cx="1242647" cy="127195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84893D5-4FF0-69C9-5506-44CAB260AD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245" y="3094892"/>
                <a:ext cx="1242647" cy="12719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D3B3DEC5-B11F-B4AB-4DC5-5449CDF1114D}"/>
              </a:ext>
            </a:extLst>
          </p:cNvPr>
          <p:cNvGrpSpPr/>
          <p:nvPr/>
        </p:nvGrpSpPr>
        <p:grpSpPr>
          <a:xfrm>
            <a:off x="5169876" y="3094892"/>
            <a:ext cx="1242647" cy="1331541"/>
            <a:chOff x="5169876" y="3094892"/>
            <a:chExt cx="1242647" cy="133154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C52566-703A-E15C-DB57-87BB2D0E7DDC}"/>
                </a:ext>
              </a:extLst>
            </p:cNvPr>
            <p:cNvSpPr/>
            <p:nvPr/>
          </p:nvSpPr>
          <p:spPr>
            <a:xfrm>
              <a:off x="5169876" y="309489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B53BCA1-31D5-040D-ED9C-5A574C89D2BF}"/>
                </a:ext>
              </a:extLst>
            </p:cNvPr>
            <p:cNvGrpSpPr/>
            <p:nvPr/>
          </p:nvGrpSpPr>
          <p:grpSpPr>
            <a:xfrm>
              <a:off x="5339860" y="3213955"/>
              <a:ext cx="902677" cy="847541"/>
              <a:chOff x="5369169" y="3319463"/>
              <a:chExt cx="902677" cy="8475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FC39249-CA22-AA27-E6C3-2B13940B4D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3F464A8-073F-2807-E3B0-0A70599E4F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A951EA07-DFD8-706D-1C32-5F27DEC572B0}"/>
                  </a:ext>
                </a:extLst>
              </p:cNvPr>
              <p:cNvCxnSpPr/>
              <p:nvPr/>
            </p:nvCxnSpPr>
            <p:spPr>
              <a:xfrm flipV="1">
                <a:off x="5369169" y="3319463"/>
                <a:ext cx="893519" cy="7048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DF41482-301D-168E-18A0-B076A0ED0E4F}"/>
                </a:ext>
              </a:extLst>
            </p:cNvPr>
            <p:cNvSpPr txBox="1"/>
            <p:nvPr/>
          </p:nvSpPr>
          <p:spPr>
            <a:xfrm>
              <a:off x="5384906" y="4057101"/>
              <a:ext cx="8034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Linear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67ECCD-7408-D7F4-A3A3-0F7528ECFAE0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6412523" y="3730869"/>
            <a:ext cx="22977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6BB2BD6-CF8E-9C45-5074-572299CCCA56}"/>
              </a:ext>
            </a:extLst>
          </p:cNvPr>
          <p:cNvGrpSpPr/>
          <p:nvPr/>
        </p:nvGrpSpPr>
        <p:grpSpPr>
          <a:xfrm>
            <a:off x="3141785" y="2793023"/>
            <a:ext cx="2028091" cy="2009958"/>
            <a:chOff x="3141785" y="2793023"/>
            <a:chExt cx="2028091" cy="2009958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C8810AB-9168-1304-A994-8E922271866F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>
              <a:off x="3141785" y="2793023"/>
              <a:ext cx="2028091" cy="9378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A852DDD-E941-6D5D-3B4C-3D5935AEDAFE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 flipV="1">
              <a:off x="3141785" y="3730869"/>
              <a:ext cx="2028091" cy="10721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D9D96DF-E1CC-8202-2084-63980824F34C}"/>
                    </a:ext>
                  </a:extLst>
                </p:cNvPr>
                <p:cNvSpPr txBox="1"/>
                <p:nvPr/>
              </p:nvSpPr>
              <p:spPr>
                <a:xfrm>
                  <a:off x="3762375" y="2793023"/>
                  <a:ext cx="495392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D9D96DF-E1CC-8202-2084-63980824F3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2375" y="2793023"/>
                  <a:ext cx="495392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9836" r="-18519" b="-2295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0B5B1A-4DD6-0F2C-DC5A-DE334DBE7C11}"/>
                    </a:ext>
                  </a:extLst>
                </p:cNvPr>
                <p:cNvSpPr txBox="1"/>
                <p:nvPr/>
              </p:nvSpPr>
              <p:spPr>
                <a:xfrm>
                  <a:off x="3889040" y="4304567"/>
                  <a:ext cx="50071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0B5B1A-4DD6-0F2C-DC5A-DE334DBE7C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9040" y="4304567"/>
                  <a:ext cx="500715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9836" r="-17073" b="-2295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B4BE80-6F2C-8736-B62F-4750EABDCE69}"/>
                  </a:ext>
                </a:extLst>
              </p:cNvPr>
              <p:cNvSpPr txBox="1"/>
              <p:nvPr/>
            </p:nvSpPr>
            <p:spPr>
              <a:xfrm>
                <a:off x="4610100" y="4901348"/>
                <a:ext cx="65151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GB" sz="36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B4BE80-6F2C-8736-B62F-4750EABDC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100" y="4901348"/>
                <a:ext cx="6515100" cy="1200329"/>
              </a:xfrm>
              <a:prstGeom prst="rect">
                <a:avLst/>
              </a:prstGeom>
              <a:blipFill>
                <a:blip r:embed="rId7"/>
                <a:stretch>
                  <a:fillRect t="-8122" r="-1871" b="-177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A520B0-1C22-1983-1998-F33C3E199FCF}"/>
                  </a:ext>
                </a:extLst>
              </p:cNvPr>
              <p:cNvSpPr txBox="1"/>
              <p:nvPr/>
            </p:nvSpPr>
            <p:spPr>
              <a:xfrm>
                <a:off x="6308046" y="6396335"/>
                <a:ext cx="57102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b="0" dirty="0"/>
                  <a:t>In LLM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400" dirty="0"/>
                  <a:t> are embedding values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A520B0-1C22-1983-1998-F33C3E199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046" y="6396335"/>
                <a:ext cx="5710218" cy="461665"/>
              </a:xfrm>
              <a:prstGeom prst="rect">
                <a:avLst/>
              </a:prstGeom>
              <a:blipFill>
                <a:blip r:embed="rId8"/>
                <a:stretch>
                  <a:fillRect l="-1708" t="-11842" r="-6510" b="-27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73229235-D382-9F01-36EF-B749862F3E46}"/>
              </a:ext>
            </a:extLst>
          </p:cNvPr>
          <p:cNvGrpSpPr/>
          <p:nvPr/>
        </p:nvGrpSpPr>
        <p:grpSpPr>
          <a:xfrm>
            <a:off x="9331568" y="1950790"/>
            <a:ext cx="2273808" cy="3256844"/>
            <a:chOff x="9331568" y="1950790"/>
            <a:chExt cx="2273808" cy="325684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FE319C2-7BEF-A5DB-EC59-570B0156998E}"/>
                </a:ext>
              </a:extLst>
            </p:cNvPr>
            <p:cNvSpPr txBox="1"/>
            <p:nvPr/>
          </p:nvSpPr>
          <p:spPr>
            <a:xfrm>
              <a:off x="9331568" y="1950790"/>
              <a:ext cx="227380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Likelihood referred to as Loss function</a:t>
              </a:r>
            </a:p>
          </p:txBody>
        </p: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1BC774C4-BEA3-2D96-470A-59553751F73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889730" y="3661015"/>
              <a:ext cx="2577659" cy="515580"/>
            </a:xfrm>
            <a:prstGeom prst="bentConnector3">
              <a:avLst>
                <a:gd name="adj1" fmla="val 10010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CEAC986-FFC8-1356-C346-98D830C30AC0}"/>
              </a:ext>
            </a:extLst>
          </p:cNvPr>
          <p:cNvGrpSpPr/>
          <p:nvPr/>
        </p:nvGrpSpPr>
        <p:grpSpPr>
          <a:xfrm>
            <a:off x="4010072" y="1918002"/>
            <a:ext cx="3472182" cy="875020"/>
            <a:chOff x="8336618" y="1950790"/>
            <a:chExt cx="3472182" cy="87502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A953D92-1C8C-FD45-6A1D-478019856609}"/>
                </a:ext>
              </a:extLst>
            </p:cNvPr>
            <p:cNvSpPr txBox="1"/>
            <p:nvPr/>
          </p:nvSpPr>
          <p:spPr>
            <a:xfrm>
              <a:off x="9331568" y="1950790"/>
              <a:ext cx="24772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Parameters referred to as weights</a:t>
              </a:r>
            </a:p>
          </p:txBody>
        </p: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51833C25-97D8-21B5-2884-F0701764A1FB}"/>
                </a:ext>
              </a:extLst>
            </p:cNvPr>
            <p:cNvCxnSpPr>
              <a:cxnSpLocks/>
              <a:stCxn id="16" idx="1"/>
              <a:endCxn id="24" idx="0"/>
            </p:cNvCxnSpPr>
            <p:nvPr/>
          </p:nvCxnSpPr>
          <p:spPr>
            <a:xfrm rot="10800000" flipV="1">
              <a:off x="8336618" y="2273955"/>
              <a:ext cx="994951" cy="551855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7B9A5A1-86E2-6F5B-14A0-56252E90E309}"/>
              </a:ext>
            </a:extLst>
          </p:cNvPr>
          <p:cNvGrpSpPr/>
          <p:nvPr/>
        </p:nvGrpSpPr>
        <p:grpSpPr>
          <a:xfrm>
            <a:off x="1154586" y="5438958"/>
            <a:ext cx="2734454" cy="1188209"/>
            <a:chOff x="1154586" y="5438958"/>
            <a:chExt cx="2734454" cy="118820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B214E04-B853-A217-2A12-75E7A461FFF1}"/>
                </a:ext>
              </a:extLst>
            </p:cNvPr>
            <p:cNvSpPr txBox="1"/>
            <p:nvPr/>
          </p:nvSpPr>
          <p:spPr>
            <a:xfrm>
              <a:off x="1154586" y="5980836"/>
              <a:ext cx="27344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Explanatory variables referred to as features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4C42275-6468-FEBC-0674-481CA78A1988}"/>
                </a:ext>
              </a:extLst>
            </p:cNvPr>
            <p:cNvCxnSpPr>
              <a:cxnSpLocks/>
              <a:stCxn id="32" idx="0"/>
              <a:endCxn id="5" idx="2"/>
            </p:cNvCxnSpPr>
            <p:nvPr/>
          </p:nvCxnSpPr>
          <p:spPr>
            <a:xfrm flipH="1" flipV="1">
              <a:off x="2520462" y="5438958"/>
              <a:ext cx="1351" cy="5418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654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7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5B9B5-A28A-8478-FDF2-F19D18968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D74C78-BAE8-1943-7D70-8550367265E2}"/>
                  </a:ext>
                </a:extLst>
              </p:cNvPr>
              <p:cNvSpPr txBox="1"/>
              <p:nvPr/>
            </p:nvSpPr>
            <p:spPr>
              <a:xfrm>
                <a:off x="3889040" y="4901348"/>
                <a:ext cx="723616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GB" sz="36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D74C78-BAE8-1943-7D70-855036726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040" y="4901348"/>
                <a:ext cx="7236160" cy="1200329"/>
              </a:xfrm>
              <a:prstGeom prst="rect">
                <a:avLst/>
              </a:prstGeom>
              <a:blipFill>
                <a:blip r:embed="rId2"/>
                <a:stretch>
                  <a:fillRect t="-8122" r="-1179" b="-177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DCBA735-B107-98E6-A453-63FC69814730}"/>
                  </a:ext>
                </a:extLst>
              </p:cNvPr>
              <p:cNvSpPr txBox="1"/>
              <p:nvPr/>
            </p:nvSpPr>
            <p:spPr>
              <a:xfrm>
                <a:off x="4610100" y="4901348"/>
                <a:ext cx="65151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GB" sz="36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DCBA735-B107-98E6-A453-63FC69814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100" y="4901348"/>
                <a:ext cx="6515100" cy="1200329"/>
              </a:xfrm>
              <a:prstGeom prst="rect">
                <a:avLst/>
              </a:prstGeom>
              <a:blipFill>
                <a:blip r:embed="rId3"/>
                <a:stretch>
                  <a:fillRect t="-8122" r="-1871" b="-177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65B88CC-1784-1B9F-87D7-4B07310BA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GLMs as a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B964BCA-89CA-C753-5B35-4C6716B3797B}"/>
                  </a:ext>
                </a:extLst>
              </p:cNvPr>
              <p:cNvSpPr/>
              <p:nvPr/>
            </p:nvSpPr>
            <p:spPr>
              <a:xfrm>
                <a:off x="1899138" y="2157046"/>
                <a:ext cx="1242647" cy="127195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B964BCA-89CA-C753-5B35-4C6716B379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138" y="2157046"/>
                <a:ext cx="1242647" cy="12719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A68F712-AA27-CD2B-1F44-DCC01C1C98CD}"/>
                  </a:ext>
                </a:extLst>
              </p:cNvPr>
              <p:cNvSpPr/>
              <p:nvPr/>
            </p:nvSpPr>
            <p:spPr>
              <a:xfrm>
                <a:off x="1899138" y="4167004"/>
                <a:ext cx="1242647" cy="127195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A68F712-AA27-CD2B-1F44-DCC01C1C98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138" y="4167004"/>
                <a:ext cx="1242647" cy="12719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3891CFA7-89F8-98F0-495E-8E7FE0CEBEF5}"/>
              </a:ext>
            </a:extLst>
          </p:cNvPr>
          <p:cNvSpPr/>
          <p:nvPr/>
        </p:nvSpPr>
        <p:spPr>
          <a:xfrm>
            <a:off x="5169876" y="3094892"/>
            <a:ext cx="1242647" cy="12719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58EE55A-B84B-372C-7D83-2B6F3AAD4EE5}"/>
                  </a:ext>
                </a:extLst>
              </p:cNvPr>
              <p:cNvSpPr/>
              <p:nvPr/>
            </p:nvSpPr>
            <p:spPr>
              <a:xfrm>
                <a:off x="8710245" y="3094892"/>
                <a:ext cx="1242647" cy="127195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58EE55A-B84B-372C-7D83-2B6F3AAD4E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245" y="3094892"/>
                <a:ext cx="1242647" cy="12719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1E190AF-69D3-1AA0-363F-873970190133}"/>
              </a:ext>
            </a:extLst>
          </p:cNvPr>
          <p:cNvGrpSpPr/>
          <p:nvPr/>
        </p:nvGrpSpPr>
        <p:grpSpPr>
          <a:xfrm>
            <a:off x="5339860" y="3213955"/>
            <a:ext cx="902677" cy="847541"/>
            <a:chOff x="5369169" y="3319463"/>
            <a:chExt cx="902677" cy="84754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F1B44D-1900-1A32-0787-AE14A77CC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9169" y="3319463"/>
              <a:ext cx="0" cy="8475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C0FC30C-D9F5-9964-E807-7088F3E7B6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69169" y="4167004"/>
              <a:ext cx="9026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2AA6712-B528-858A-6503-2DB9966E419D}"/>
              </a:ext>
            </a:extLst>
          </p:cNvPr>
          <p:cNvSpPr txBox="1"/>
          <p:nvPr/>
        </p:nvSpPr>
        <p:spPr>
          <a:xfrm>
            <a:off x="5131295" y="4046698"/>
            <a:ext cx="1334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Link function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1F62D11-C068-9CD9-A2ED-64B96CAF1BB0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141785" y="2793023"/>
            <a:ext cx="2028091" cy="9378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C3F933-9463-0D53-3CB0-19170C45CDB6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3141785" y="3730869"/>
            <a:ext cx="2028091" cy="10721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54D687-B1DC-AE9D-1B85-2549A310111F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6412523" y="3730869"/>
            <a:ext cx="22977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F9C137-FE0B-C0B2-6F17-8C5737291DF7}"/>
                  </a:ext>
                </a:extLst>
              </p:cNvPr>
              <p:cNvSpPr txBox="1"/>
              <p:nvPr/>
            </p:nvSpPr>
            <p:spPr>
              <a:xfrm>
                <a:off x="3762375" y="2793023"/>
                <a:ext cx="4953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F9C137-FE0B-C0B2-6F17-8C5737291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2375" y="2793023"/>
                <a:ext cx="49539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62BA8CA-3FE3-730C-ADB1-DAA0F6563689}"/>
                  </a:ext>
                </a:extLst>
              </p:cNvPr>
              <p:cNvSpPr txBox="1"/>
              <p:nvPr/>
            </p:nvSpPr>
            <p:spPr>
              <a:xfrm>
                <a:off x="3889040" y="4304567"/>
                <a:ext cx="5007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62BA8CA-3FE3-730C-ADB1-DAA0F6563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040" y="4304567"/>
                <a:ext cx="50071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3C3CDAD9-8EB9-34FB-7E57-E69EF57E3DBB}"/>
              </a:ext>
            </a:extLst>
          </p:cNvPr>
          <p:cNvCxnSpPr/>
          <p:nvPr/>
        </p:nvCxnSpPr>
        <p:spPr>
          <a:xfrm flipV="1">
            <a:off x="5339860" y="3261946"/>
            <a:ext cx="902677" cy="784752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C0336BC-1965-8FE6-1995-97DEBE4FE695}"/>
              </a:ext>
            </a:extLst>
          </p:cNvPr>
          <p:cNvGrpSpPr/>
          <p:nvPr/>
        </p:nvGrpSpPr>
        <p:grpSpPr>
          <a:xfrm>
            <a:off x="4359650" y="1795037"/>
            <a:ext cx="2853936" cy="1299855"/>
            <a:chOff x="4359650" y="1795037"/>
            <a:chExt cx="2853936" cy="129985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3C6F18-0A4D-4182-3405-1D7A65037265}"/>
                </a:ext>
              </a:extLst>
            </p:cNvPr>
            <p:cNvSpPr txBox="1"/>
            <p:nvPr/>
          </p:nvSpPr>
          <p:spPr>
            <a:xfrm>
              <a:off x="4359650" y="1795037"/>
              <a:ext cx="28539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Link functions referred to as activation functions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F2C8D43-DFD3-C2A7-5797-C0D9236F7381}"/>
                </a:ext>
              </a:extLst>
            </p:cNvPr>
            <p:cNvCxnSpPr>
              <a:cxnSpLocks/>
              <a:stCxn id="10" idx="2"/>
              <a:endCxn id="30" idx="0"/>
            </p:cNvCxnSpPr>
            <p:nvPr/>
          </p:nvCxnSpPr>
          <p:spPr>
            <a:xfrm>
              <a:off x="5786618" y="2441368"/>
              <a:ext cx="4582" cy="65352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86B8D13-2A0A-6542-2DBA-D89883FD8BE7}"/>
              </a:ext>
            </a:extLst>
          </p:cNvPr>
          <p:cNvGrpSpPr/>
          <p:nvPr/>
        </p:nvGrpSpPr>
        <p:grpSpPr>
          <a:xfrm>
            <a:off x="5169876" y="3094892"/>
            <a:ext cx="1242647" cy="1331541"/>
            <a:chOff x="5169876" y="3094892"/>
            <a:chExt cx="1242647" cy="133154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048A14F-C4A9-CB46-C945-09E8777D5ADF}"/>
                </a:ext>
              </a:extLst>
            </p:cNvPr>
            <p:cNvSpPr/>
            <p:nvPr/>
          </p:nvSpPr>
          <p:spPr>
            <a:xfrm>
              <a:off x="5169876" y="309489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AEE0507-1ED3-1147-EA3B-B736D71D3022}"/>
                </a:ext>
              </a:extLst>
            </p:cNvPr>
            <p:cNvGrpSpPr/>
            <p:nvPr/>
          </p:nvGrpSpPr>
          <p:grpSpPr>
            <a:xfrm>
              <a:off x="5339860" y="3213955"/>
              <a:ext cx="902677" cy="847541"/>
              <a:chOff x="5369169" y="3319463"/>
              <a:chExt cx="902677" cy="847541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F850FAA-6C93-758C-097A-8AD3105E7B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6801C53B-0E2A-F679-03D0-CFD45A5BCF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9AA08291-4841-8150-ED91-88A526A46DD2}"/>
                  </a:ext>
                </a:extLst>
              </p:cNvPr>
              <p:cNvCxnSpPr/>
              <p:nvPr/>
            </p:nvCxnSpPr>
            <p:spPr>
              <a:xfrm flipV="1">
                <a:off x="5369169" y="3319463"/>
                <a:ext cx="893519" cy="7048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CD14707-F6F7-4238-14BE-AB06BDBB6268}"/>
                </a:ext>
              </a:extLst>
            </p:cNvPr>
            <p:cNvSpPr txBox="1"/>
            <p:nvPr/>
          </p:nvSpPr>
          <p:spPr>
            <a:xfrm>
              <a:off x="5384906" y="4057101"/>
              <a:ext cx="8034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Linear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874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D2F1D-3367-7576-2C22-41C8C3C8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2AD8C-F66F-0381-60DC-C05B586E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Neural networks tend to have multiple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3E6127E-1EB4-682D-A7FF-EB79509E7C0B}"/>
                  </a:ext>
                </a:extLst>
              </p:cNvPr>
              <p:cNvSpPr/>
              <p:nvPr/>
            </p:nvSpPr>
            <p:spPr>
              <a:xfrm>
                <a:off x="570069" y="2157046"/>
                <a:ext cx="1242647" cy="127195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3E6127E-1EB4-682D-A7FF-EB79509E7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69" y="2157046"/>
                <a:ext cx="1242647" cy="12719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5AB9E02-77E0-2606-4E21-20E4B85761B5}"/>
                  </a:ext>
                </a:extLst>
              </p:cNvPr>
              <p:cNvSpPr/>
              <p:nvPr/>
            </p:nvSpPr>
            <p:spPr>
              <a:xfrm>
                <a:off x="570069" y="4167004"/>
                <a:ext cx="1242647" cy="127195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5AB9E02-77E0-2606-4E21-20E4B85761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69" y="4167004"/>
                <a:ext cx="1242647" cy="12719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7FACC7-6744-1D29-B740-2E69CD0A4340}"/>
                  </a:ext>
                </a:extLst>
              </p:cNvPr>
              <p:cNvSpPr/>
              <p:nvPr/>
            </p:nvSpPr>
            <p:spPr>
              <a:xfrm>
                <a:off x="9847929" y="3093933"/>
                <a:ext cx="1242647" cy="127195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7FACC7-6744-1D29-B740-2E69CD0A4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929" y="3093933"/>
                <a:ext cx="1242647" cy="12719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768A1EF-C2BB-C3F8-B388-C2D1F50CD5A2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6539679" y="3708503"/>
            <a:ext cx="3308250" cy="214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C079247-240B-2E4F-79E5-F06CC9B75DB6}"/>
              </a:ext>
            </a:extLst>
          </p:cNvPr>
          <p:cNvGrpSpPr/>
          <p:nvPr/>
        </p:nvGrpSpPr>
        <p:grpSpPr>
          <a:xfrm>
            <a:off x="1812716" y="2793023"/>
            <a:ext cx="6124451" cy="2009958"/>
            <a:chOff x="1812716" y="2793023"/>
            <a:chExt cx="6124451" cy="200995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CE1A81E-C995-8744-0995-4B5BC3F11E9F}"/>
                </a:ext>
              </a:extLst>
            </p:cNvPr>
            <p:cNvGrpSpPr/>
            <p:nvPr/>
          </p:nvGrpSpPr>
          <p:grpSpPr>
            <a:xfrm>
              <a:off x="1812716" y="2793023"/>
              <a:ext cx="6124451" cy="2009958"/>
              <a:chOff x="1812716" y="2793023"/>
              <a:chExt cx="6124451" cy="2009958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FC754DD-69A9-6261-E4F4-944B3D374C18}"/>
                  </a:ext>
                </a:extLst>
              </p:cNvPr>
              <p:cNvCxnSpPr>
                <a:cxnSpLocks/>
                <a:stCxn id="4" idx="3"/>
                <a:endCxn id="6" idx="1"/>
              </p:cNvCxnSpPr>
              <p:nvPr/>
            </p:nvCxnSpPr>
            <p:spPr>
              <a:xfrm>
                <a:off x="1812716" y="2793023"/>
                <a:ext cx="2198212" cy="91643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6452A0D-9890-7CE5-C036-677A2B6B56FA}"/>
                  </a:ext>
                </a:extLst>
              </p:cNvPr>
              <p:cNvCxnSpPr>
                <a:stCxn id="5" idx="3"/>
                <a:endCxn id="6" idx="1"/>
              </p:cNvCxnSpPr>
              <p:nvPr/>
            </p:nvCxnSpPr>
            <p:spPr>
              <a:xfrm flipV="1">
                <a:off x="1812716" y="3709462"/>
                <a:ext cx="2198212" cy="109351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C54C45E6-31D0-74BF-0C02-25C652826287}"/>
                      </a:ext>
                    </a:extLst>
                  </p:cNvPr>
                  <p:cNvSpPr txBox="1"/>
                  <p:nvPr/>
                </p:nvSpPr>
                <p:spPr>
                  <a:xfrm>
                    <a:off x="3161186" y="3105189"/>
                    <a:ext cx="49539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C54C45E6-31D0-74BF-0C02-25C6528262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61186" y="3105189"/>
                    <a:ext cx="495392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9373645-A36C-CFC8-437B-C5A68817EFD4}"/>
                      </a:ext>
                    </a:extLst>
                  </p:cNvPr>
                  <p:cNvSpPr txBox="1"/>
                  <p:nvPr/>
                </p:nvSpPr>
                <p:spPr>
                  <a:xfrm>
                    <a:off x="3179276" y="3942485"/>
                    <a:ext cx="50071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9373645-A36C-CFC8-437B-C5A68817EF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79276" y="3942485"/>
                    <a:ext cx="500715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5429D30-3D37-8958-84BE-79CDF9BD44BF}"/>
                  </a:ext>
                </a:extLst>
              </p:cNvPr>
              <p:cNvGrpSpPr/>
              <p:nvPr/>
            </p:nvGrpSpPr>
            <p:grpSpPr>
              <a:xfrm>
                <a:off x="3945266" y="3073485"/>
                <a:ext cx="1334020" cy="1315026"/>
                <a:chOff x="3945266" y="3073485"/>
                <a:chExt cx="1334020" cy="1315026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3804E774-5447-8EA8-54CD-EC79C9C2C0FD}"/>
                    </a:ext>
                  </a:extLst>
                </p:cNvPr>
                <p:cNvSpPr/>
                <p:nvPr/>
              </p:nvSpPr>
              <p:spPr>
                <a:xfrm>
                  <a:off x="4010928" y="3073485"/>
                  <a:ext cx="1242647" cy="1271954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3600" dirty="0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865F08E3-4E66-9FB8-7369-6FA7D609DB65}"/>
                    </a:ext>
                  </a:extLst>
                </p:cNvPr>
                <p:cNvGrpSpPr/>
                <p:nvPr/>
              </p:nvGrpSpPr>
              <p:grpSpPr>
                <a:xfrm>
                  <a:off x="4180912" y="3192548"/>
                  <a:ext cx="902677" cy="847541"/>
                  <a:chOff x="5369169" y="3319463"/>
                  <a:chExt cx="902677" cy="847541"/>
                </a:xfrm>
              </p:grpSpPr>
              <p:cxnSp>
                <p:nvCxnSpPr>
                  <p:cNvPr id="9" name="Straight Connector 8">
                    <a:extLst>
                      <a:ext uri="{FF2B5EF4-FFF2-40B4-BE49-F238E27FC236}">
                        <a16:creationId xmlns:a16="http://schemas.microsoft.com/office/drawing/2014/main" id="{F46F0062-65D1-C684-2925-9A25D7DA72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369169" y="3319463"/>
                    <a:ext cx="0" cy="84754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Straight Connector 10">
                    <a:extLst>
                      <a:ext uri="{FF2B5EF4-FFF2-40B4-BE49-F238E27FC236}">
                        <a16:creationId xmlns:a16="http://schemas.microsoft.com/office/drawing/2014/main" id="{59C082C1-6375-EF23-19C6-D9E6B9EF93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369169" y="4167004"/>
                    <a:ext cx="90267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E4C6C6C-E6D4-7B51-3C46-A78101EA3B36}"/>
                    </a:ext>
                  </a:extLst>
                </p:cNvPr>
                <p:cNvSpPr txBox="1"/>
                <p:nvPr/>
              </p:nvSpPr>
              <p:spPr>
                <a:xfrm>
                  <a:off x="3945266" y="4049957"/>
                  <a:ext cx="133402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600" dirty="0"/>
                    <a:t>Link function</a:t>
                  </a:r>
                </a:p>
              </p:txBody>
            </p:sp>
            <p:cxnSp>
              <p:nvCxnSpPr>
                <p:cNvPr id="8" name="Connector: Curved 7">
                  <a:extLst>
                    <a:ext uri="{FF2B5EF4-FFF2-40B4-BE49-F238E27FC236}">
                      <a16:creationId xmlns:a16="http://schemas.microsoft.com/office/drawing/2014/main" id="{B9A129F4-5DDE-9C05-273D-879B73064352}"/>
                    </a:ext>
                  </a:extLst>
                </p:cNvPr>
                <p:cNvCxnSpPr/>
                <p:nvPr/>
              </p:nvCxnSpPr>
              <p:spPr>
                <a:xfrm flipV="1">
                  <a:off x="4180912" y="3240539"/>
                  <a:ext cx="902677" cy="784752"/>
                </a:xfrm>
                <a:prstGeom prst="curvedConnector3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A4176C5F-EB18-7C7D-4596-16F48D40D062}"/>
                  </a:ext>
                </a:extLst>
              </p:cNvPr>
              <p:cNvGrpSpPr/>
              <p:nvPr/>
            </p:nvGrpSpPr>
            <p:grpSpPr>
              <a:xfrm>
                <a:off x="6694520" y="3072526"/>
                <a:ext cx="1242647" cy="1271954"/>
                <a:chOff x="6694520" y="3072526"/>
                <a:chExt cx="1242647" cy="1271954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D3F7876-718A-30BB-923B-A4D8FC24AC89}"/>
                    </a:ext>
                  </a:extLst>
                </p:cNvPr>
                <p:cNvSpPr/>
                <p:nvPr/>
              </p:nvSpPr>
              <p:spPr>
                <a:xfrm>
                  <a:off x="6694520" y="3072526"/>
                  <a:ext cx="1242647" cy="1271954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3600" dirty="0"/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7EFA4B2B-0FD9-D0C8-311F-84D722422D9C}"/>
                    </a:ext>
                  </a:extLst>
                </p:cNvPr>
                <p:cNvGrpSpPr/>
                <p:nvPr/>
              </p:nvGrpSpPr>
              <p:grpSpPr>
                <a:xfrm>
                  <a:off x="6864504" y="3191589"/>
                  <a:ext cx="902677" cy="847541"/>
                  <a:chOff x="5369169" y="3319463"/>
                  <a:chExt cx="902677" cy="847541"/>
                </a:xfrm>
              </p:grpSpPr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E2508668-D507-58DA-67D7-971DA532CC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369169" y="3319463"/>
                    <a:ext cx="0" cy="84754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B326C665-398F-117A-A3B8-60F891C383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369169" y="4167004"/>
                    <a:ext cx="90267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8" name="Connector: Curved 27">
                  <a:extLst>
                    <a:ext uri="{FF2B5EF4-FFF2-40B4-BE49-F238E27FC236}">
                      <a16:creationId xmlns:a16="http://schemas.microsoft.com/office/drawing/2014/main" id="{75A8994D-08C8-3897-B620-D51F616C9046}"/>
                    </a:ext>
                  </a:extLst>
                </p:cNvPr>
                <p:cNvCxnSpPr/>
                <p:nvPr/>
              </p:nvCxnSpPr>
              <p:spPr>
                <a:xfrm flipV="1">
                  <a:off x="6864504" y="3239580"/>
                  <a:ext cx="902677" cy="784752"/>
                </a:xfrm>
                <a:prstGeom prst="curvedConnector3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CE5D3DED-E515-6BB7-9619-52891D0CAA61}"/>
                  </a:ext>
                </a:extLst>
              </p:cNvPr>
              <p:cNvCxnSpPr>
                <a:cxnSpLocks/>
                <a:stCxn id="6" idx="3"/>
                <a:endCxn id="16" idx="1"/>
              </p:cNvCxnSpPr>
              <p:nvPr/>
            </p:nvCxnSpPr>
            <p:spPr>
              <a:xfrm flipV="1">
                <a:off x="5253575" y="3708503"/>
                <a:ext cx="1440945" cy="95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B71FDA6-3F16-098B-062D-E5087C893CC6}"/>
                    </a:ext>
                  </a:extLst>
                </p:cNvPr>
                <p:cNvSpPr txBox="1"/>
                <p:nvPr/>
              </p:nvSpPr>
              <p:spPr>
                <a:xfrm>
                  <a:off x="5723690" y="3339171"/>
                  <a:ext cx="4937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B71FDA6-3F16-098B-062D-E5087C893C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3690" y="3339171"/>
                  <a:ext cx="49372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FE2A3D2-0B6E-37DB-6F2A-B4F0EBB7F0CC}"/>
                  </a:ext>
                </a:extLst>
              </p:cNvPr>
              <p:cNvSpPr txBox="1"/>
              <p:nvPr/>
            </p:nvSpPr>
            <p:spPr>
              <a:xfrm>
                <a:off x="3490925" y="5123004"/>
                <a:ext cx="719216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600" b="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FE2A3D2-0B6E-37DB-6F2A-B4F0EBB7F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25" y="5123004"/>
                <a:ext cx="7192164" cy="646331"/>
              </a:xfrm>
              <a:prstGeom prst="rect">
                <a:avLst/>
              </a:prstGeom>
              <a:blipFill>
                <a:blip r:embed="rId8"/>
                <a:stretch>
                  <a:fillRect t="-15094" r="-1612" b="-339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9A54B92-1127-B597-888A-5744A2C36102}"/>
                  </a:ext>
                </a:extLst>
              </p:cNvPr>
              <p:cNvSpPr txBox="1"/>
              <p:nvPr/>
            </p:nvSpPr>
            <p:spPr>
              <a:xfrm>
                <a:off x="2773664" y="5803554"/>
                <a:ext cx="609750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9A54B92-1127-B597-888A-5744A2C36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664" y="5803554"/>
                <a:ext cx="6097508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rapezoid 48">
            <a:extLst>
              <a:ext uri="{FF2B5EF4-FFF2-40B4-BE49-F238E27FC236}">
                <a16:creationId xmlns:a16="http://schemas.microsoft.com/office/drawing/2014/main" id="{FA0F118E-18B0-0C38-8517-FBD1C509F5E9}"/>
              </a:ext>
            </a:extLst>
          </p:cNvPr>
          <p:cNvSpPr/>
          <p:nvPr/>
        </p:nvSpPr>
        <p:spPr>
          <a:xfrm rot="5400000">
            <a:off x="878213" y="1426851"/>
            <a:ext cx="4068558" cy="4684847"/>
          </a:xfrm>
          <a:prstGeom prst="trapezoi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F8FA319-EED4-C795-9F5F-839DAAA2A6F0}"/>
              </a:ext>
            </a:extLst>
          </p:cNvPr>
          <p:cNvSpPr/>
          <p:nvPr/>
        </p:nvSpPr>
        <p:spPr>
          <a:xfrm>
            <a:off x="4010928" y="2749549"/>
            <a:ext cx="3926239" cy="20320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37055A5-AA0C-EA34-62ED-26E8F730DBD6}"/>
              </a:ext>
            </a:extLst>
          </p:cNvPr>
          <p:cNvGrpSpPr/>
          <p:nvPr/>
        </p:nvGrpSpPr>
        <p:grpSpPr>
          <a:xfrm>
            <a:off x="1818609" y="2793023"/>
            <a:ext cx="4770327" cy="2009958"/>
            <a:chOff x="1812716" y="2793023"/>
            <a:chExt cx="4770327" cy="2009958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A0F2AC3-BD06-36B9-7A37-B8147DC9B563}"/>
                </a:ext>
              </a:extLst>
            </p:cNvPr>
            <p:cNvGrpSpPr/>
            <p:nvPr/>
          </p:nvGrpSpPr>
          <p:grpSpPr>
            <a:xfrm>
              <a:off x="5340396" y="3072526"/>
              <a:ext cx="1242647" cy="1271954"/>
              <a:chOff x="4010928" y="3073485"/>
              <a:chExt cx="1242647" cy="1271954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42C5BD-7C44-4988-614C-2E212CAEEE21}"/>
                  </a:ext>
                </a:extLst>
              </p:cNvPr>
              <p:cNvSpPr/>
              <p:nvPr/>
            </p:nvSpPr>
            <p:spPr>
              <a:xfrm>
                <a:off x="4010928" y="3073485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5AF6501-2BDA-478E-85D7-D74FF295BD86}"/>
                  </a:ext>
                </a:extLst>
              </p:cNvPr>
              <p:cNvGrpSpPr/>
              <p:nvPr/>
            </p:nvGrpSpPr>
            <p:grpSpPr>
              <a:xfrm>
                <a:off x="4180912" y="3192548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61449AE3-0B23-C1D0-3C8E-84E959C9C2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BD29C87C-0B8E-9704-1458-EE5A4687AC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" name="Connector: Curved 57">
                <a:extLst>
                  <a:ext uri="{FF2B5EF4-FFF2-40B4-BE49-F238E27FC236}">
                    <a16:creationId xmlns:a16="http://schemas.microsoft.com/office/drawing/2014/main" id="{1226B67B-333B-7836-1E21-4406A81A6431}"/>
                  </a:ext>
                </a:extLst>
              </p:cNvPr>
              <p:cNvCxnSpPr/>
              <p:nvPr/>
            </p:nvCxnSpPr>
            <p:spPr>
              <a:xfrm flipV="1">
                <a:off x="4180912" y="3240539"/>
                <a:ext cx="902677" cy="784752"/>
              </a:xfrm>
              <a:prstGeom prst="curvedConnector3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345EB06-92F6-30C5-D695-B11A1D91A3AF}"/>
                </a:ext>
              </a:extLst>
            </p:cNvPr>
            <p:cNvCxnSpPr>
              <a:cxnSpLocks/>
              <a:endCxn id="55" idx="1"/>
            </p:cNvCxnSpPr>
            <p:nvPr/>
          </p:nvCxnSpPr>
          <p:spPr>
            <a:xfrm flipV="1">
              <a:off x="1812716" y="3708503"/>
              <a:ext cx="3527680" cy="10944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EBA9645-C7F6-068F-547D-E762621FA3DC}"/>
                </a:ext>
              </a:extLst>
            </p:cNvPr>
            <p:cNvCxnSpPr>
              <a:cxnSpLocks/>
              <a:endCxn id="55" idx="1"/>
            </p:cNvCxnSpPr>
            <p:nvPr/>
          </p:nvCxnSpPr>
          <p:spPr>
            <a:xfrm>
              <a:off x="1812716" y="2793023"/>
              <a:ext cx="3527680" cy="9154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2B81352-892F-DBE4-5C2A-D86CFD8C51D8}"/>
              </a:ext>
            </a:extLst>
          </p:cNvPr>
          <p:cNvSpPr txBox="1"/>
          <p:nvPr/>
        </p:nvSpPr>
        <p:spPr>
          <a:xfrm>
            <a:off x="5307708" y="4024332"/>
            <a:ext cx="1334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Link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5733B4-3B13-B389-4B25-C5BD68A4CD76}"/>
              </a:ext>
            </a:extLst>
          </p:cNvPr>
          <p:cNvSpPr txBox="1"/>
          <p:nvPr/>
        </p:nvSpPr>
        <p:spPr>
          <a:xfrm>
            <a:off x="6655939" y="4024332"/>
            <a:ext cx="1334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Link function</a:t>
            </a:r>
          </a:p>
        </p:txBody>
      </p:sp>
    </p:spTree>
    <p:extLst>
      <p:ext uri="{BB962C8B-B14F-4D97-AF65-F5344CB8AC3E}">
        <p14:creationId xmlns:p14="http://schemas.microsoft.com/office/powerpoint/2010/main" val="255281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8" grpId="0"/>
      <p:bldP spid="49" grpId="0" animBg="1"/>
      <p:bldP spid="49" grpId="1" animBg="1"/>
      <p:bldP spid="50" grpId="0" animBg="1"/>
      <p:bldP spid="10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FFC5-DE18-285E-B303-D4E506BCF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3263F-F855-22FE-5A32-716DBDE3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And multiple neurons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0157860-ECCE-FF05-F027-0BB0C53A7FB0}"/>
              </a:ext>
            </a:extLst>
          </p:cNvPr>
          <p:cNvGrpSpPr/>
          <p:nvPr/>
        </p:nvGrpSpPr>
        <p:grpSpPr>
          <a:xfrm>
            <a:off x="570069" y="1586359"/>
            <a:ext cx="10520507" cy="4263653"/>
            <a:chOff x="570069" y="1586359"/>
            <a:chExt cx="10520507" cy="42636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96F63019-9675-C222-6010-763C7CFFE911}"/>
                    </a:ext>
                  </a:extLst>
                </p:cNvPr>
                <p:cNvSpPr/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600" dirty="0"/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96F63019-9675-C222-6010-763C7CFFE9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3CC13496-A606-9F97-9B0B-56C419EB12D4}"/>
                    </a:ext>
                  </a:extLst>
                </p:cNvPr>
                <p:cNvSpPr/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600" dirty="0"/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3CC13496-A606-9F97-9B0B-56C419EB12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CDF5970-A719-821B-611D-8DEBB7FABECB}"/>
                </a:ext>
              </a:extLst>
            </p:cNvPr>
            <p:cNvSpPr/>
            <p:nvPr/>
          </p:nvSpPr>
          <p:spPr>
            <a:xfrm>
              <a:off x="4010928" y="3073485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1E662854-BEED-F3E3-E74F-3355662182F6}"/>
                    </a:ext>
                  </a:extLst>
                </p:cNvPr>
                <p:cNvSpPr/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GB" sz="3600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1E662854-BEED-F3E3-E74F-3355662182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B0D27B4-A798-A921-3554-9CCE1FD85E5A}"/>
                </a:ext>
              </a:extLst>
            </p:cNvPr>
            <p:cNvGrpSpPr/>
            <p:nvPr/>
          </p:nvGrpSpPr>
          <p:grpSpPr>
            <a:xfrm>
              <a:off x="4180912" y="3192548"/>
              <a:ext cx="902677" cy="847541"/>
              <a:chOff x="5369169" y="3319463"/>
              <a:chExt cx="902677" cy="8475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0A637C9-CED6-3CFD-8327-21C367D11B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8136EC6-0282-2F12-245A-D816D9277D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990CDE3-FB40-950A-055C-27A0715BB53C}"/>
                </a:ext>
              </a:extLst>
            </p:cNvPr>
            <p:cNvSpPr txBox="1"/>
            <p:nvPr/>
          </p:nvSpPr>
          <p:spPr>
            <a:xfrm>
              <a:off x="3972347" y="4025291"/>
              <a:ext cx="13340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Link function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BAE3741-31F9-C78F-D71D-D91B96703C57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>
              <a:off x="1812716" y="2793023"/>
              <a:ext cx="2198212" cy="9164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256E68E-8E58-3B9D-504A-99843ABA217B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 flipV="1">
              <a:off x="1812716" y="3709462"/>
              <a:ext cx="2198212" cy="10935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D300F24-1CF3-C4C7-E5E9-C3EBF54F99F5}"/>
                </a:ext>
              </a:extLst>
            </p:cNvPr>
            <p:cNvCxnSpPr>
              <a:cxnSpLocks/>
              <a:stCxn id="16" idx="3"/>
              <a:endCxn id="7" idx="1"/>
            </p:cNvCxnSpPr>
            <p:nvPr/>
          </p:nvCxnSpPr>
          <p:spPr>
            <a:xfrm flipV="1">
              <a:off x="7982801" y="3729910"/>
              <a:ext cx="1865128" cy="7657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EEC97984-0BCF-8152-B0F6-B7952891A67B}"/>
                </a:ext>
              </a:extLst>
            </p:cNvPr>
            <p:cNvCxnSpPr/>
            <p:nvPr/>
          </p:nvCxnSpPr>
          <p:spPr>
            <a:xfrm flipV="1">
              <a:off x="4180912" y="3240539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A40E70-F57D-B121-8D14-791C04626F50}"/>
                </a:ext>
              </a:extLst>
            </p:cNvPr>
            <p:cNvSpPr/>
            <p:nvPr/>
          </p:nvSpPr>
          <p:spPr>
            <a:xfrm>
              <a:off x="6740154" y="3859693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7694DC1-2257-9785-567B-7E15F2BFF48E}"/>
                </a:ext>
              </a:extLst>
            </p:cNvPr>
            <p:cNvGrpSpPr/>
            <p:nvPr/>
          </p:nvGrpSpPr>
          <p:grpSpPr>
            <a:xfrm>
              <a:off x="6910138" y="3978756"/>
              <a:ext cx="902677" cy="847541"/>
              <a:chOff x="5369169" y="3319463"/>
              <a:chExt cx="902677" cy="847541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89DCB22A-8660-C055-DD5E-EAC8989F5B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CC6550CB-B6FC-1DBA-D7A8-A8E2837EA9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ABFB1F2-257B-A782-34EB-6375E48EE787}"/>
                </a:ext>
              </a:extLst>
            </p:cNvPr>
            <p:cNvSpPr txBox="1"/>
            <p:nvPr/>
          </p:nvSpPr>
          <p:spPr>
            <a:xfrm>
              <a:off x="6701573" y="4811499"/>
              <a:ext cx="13340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Link function</a:t>
              </a:r>
            </a:p>
          </p:txBody>
        </p: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1D410F2C-C1BD-93CD-7DB2-278BD175F7EA}"/>
                </a:ext>
              </a:extLst>
            </p:cNvPr>
            <p:cNvCxnSpPr/>
            <p:nvPr/>
          </p:nvCxnSpPr>
          <p:spPr>
            <a:xfrm flipV="1">
              <a:off x="6910138" y="4026747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BCF0B83-1086-A3FC-DAE4-79F3EF098BA8}"/>
                </a:ext>
              </a:extLst>
            </p:cNvPr>
            <p:cNvCxnSpPr>
              <a:cxnSpLocks/>
              <a:stCxn id="6" idx="3"/>
              <a:endCxn id="16" idx="1"/>
            </p:cNvCxnSpPr>
            <p:nvPr/>
          </p:nvCxnSpPr>
          <p:spPr>
            <a:xfrm>
              <a:off x="5253575" y="3709462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50417E8-2366-73EC-502E-6E587131A2E3}"/>
                </a:ext>
              </a:extLst>
            </p:cNvPr>
            <p:cNvSpPr/>
            <p:nvPr/>
          </p:nvSpPr>
          <p:spPr>
            <a:xfrm>
              <a:off x="4010928" y="1586359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0624159-1D0E-E046-FAC4-7D83439A4CAC}"/>
                </a:ext>
              </a:extLst>
            </p:cNvPr>
            <p:cNvGrpSpPr/>
            <p:nvPr/>
          </p:nvGrpSpPr>
          <p:grpSpPr>
            <a:xfrm>
              <a:off x="4180912" y="1705422"/>
              <a:ext cx="902677" cy="847541"/>
              <a:chOff x="5369169" y="3319463"/>
              <a:chExt cx="902677" cy="847541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D530B93-43A9-681A-356C-790D6435A8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8F70A74-DFD1-6702-AAFD-51AA4CFB78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D7A96ED-6165-53E8-00F7-7E8DE5CD80DA}"/>
                </a:ext>
              </a:extLst>
            </p:cNvPr>
            <p:cNvSpPr txBox="1"/>
            <p:nvPr/>
          </p:nvSpPr>
          <p:spPr>
            <a:xfrm>
              <a:off x="3972347" y="2538165"/>
              <a:ext cx="13340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Link function</a:t>
              </a:r>
            </a:p>
          </p:txBody>
        </p:sp>
        <p:cxnSp>
          <p:nvCxnSpPr>
            <p:cNvPr id="27" name="Connector: Curved 26">
              <a:extLst>
                <a:ext uri="{FF2B5EF4-FFF2-40B4-BE49-F238E27FC236}">
                  <a16:creationId xmlns:a16="http://schemas.microsoft.com/office/drawing/2014/main" id="{B45237A8-B73E-A918-8609-4920D9A5BE09}"/>
                </a:ext>
              </a:extLst>
            </p:cNvPr>
            <p:cNvCxnSpPr/>
            <p:nvPr/>
          </p:nvCxnSpPr>
          <p:spPr>
            <a:xfrm flipV="1">
              <a:off x="4180912" y="1753413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67AC6FB-FA45-A36E-E50A-F04A1D6C1F7E}"/>
                </a:ext>
              </a:extLst>
            </p:cNvPr>
            <p:cNvSpPr/>
            <p:nvPr/>
          </p:nvSpPr>
          <p:spPr>
            <a:xfrm>
              <a:off x="6740154" y="2372567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6956B84-DAAD-DFA1-1EBF-008C859DD400}"/>
                </a:ext>
              </a:extLst>
            </p:cNvPr>
            <p:cNvGrpSpPr/>
            <p:nvPr/>
          </p:nvGrpSpPr>
          <p:grpSpPr>
            <a:xfrm>
              <a:off x="6910138" y="2491630"/>
              <a:ext cx="902677" cy="847541"/>
              <a:chOff x="5369169" y="3319463"/>
              <a:chExt cx="902677" cy="84754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F6C73F0-AB3A-D6E4-CBFE-41AC8A3D15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2FC6F73-DF81-DFF6-4C4A-8EAE4CCD97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6051648-DACD-1B66-F8E7-BA1DAC58AF03}"/>
                </a:ext>
              </a:extLst>
            </p:cNvPr>
            <p:cNvSpPr txBox="1"/>
            <p:nvPr/>
          </p:nvSpPr>
          <p:spPr>
            <a:xfrm>
              <a:off x="6701573" y="3324373"/>
              <a:ext cx="13340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Link function</a:t>
              </a:r>
            </a:p>
          </p:txBody>
        </p:sp>
        <p:cxnSp>
          <p:nvCxnSpPr>
            <p:cNvPr id="36" name="Connector: Curved 35">
              <a:extLst>
                <a:ext uri="{FF2B5EF4-FFF2-40B4-BE49-F238E27FC236}">
                  <a16:creationId xmlns:a16="http://schemas.microsoft.com/office/drawing/2014/main" id="{CDF21242-748C-EAB4-5709-0B39AD79803F}"/>
                </a:ext>
              </a:extLst>
            </p:cNvPr>
            <p:cNvCxnSpPr/>
            <p:nvPr/>
          </p:nvCxnSpPr>
          <p:spPr>
            <a:xfrm flipV="1">
              <a:off x="6910138" y="2539621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8A5CE1C-8C0C-D53A-6699-2ACDD064ACA2}"/>
                </a:ext>
              </a:extLst>
            </p:cNvPr>
            <p:cNvCxnSpPr>
              <a:cxnSpLocks/>
              <a:stCxn id="3" idx="3"/>
              <a:endCxn id="29" idx="1"/>
            </p:cNvCxnSpPr>
            <p:nvPr/>
          </p:nvCxnSpPr>
          <p:spPr>
            <a:xfrm>
              <a:off x="5253575" y="2222336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D96FB21-E8F5-111B-6AFA-45268D64D4BB}"/>
                </a:ext>
              </a:extLst>
            </p:cNvPr>
            <p:cNvSpPr/>
            <p:nvPr/>
          </p:nvSpPr>
          <p:spPr>
            <a:xfrm>
              <a:off x="4010928" y="455965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768DAA8-0A42-F507-FCDC-0B81CE362FDE}"/>
                </a:ext>
              </a:extLst>
            </p:cNvPr>
            <p:cNvGrpSpPr/>
            <p:nvPr/>
          </p:nvGrpSpPr>
          <p:grpSpPr>
            <a:xfrm>
              <a:off x="4180912" y="4678715"/>
              <a:ext cx="902677" cy="847541"/>
              <a:chOff x="5369169" y="3319463"/>
              <a:chExt cx="902677" cy="847541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71149BF-13F0-B8F3-9DC5-4BE3F24191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D76740E-50E2-DA44-9089-B29F1F142F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9C22CAF-067B-F99C-A7B0-5E99D21B5DDB}"/>
                </a:ext>
              </a:extLst>
            </p:cNvPr>
            <p:cNvSpPr txBox="1"/>
            <p:nvPr/>
          </p:nvSpPr>
          <p:spPr>
            <a:xfrm>
              <a:off x="3972347" y="5511458"/>
              <a:ext cx="13340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Link function</a:t>
              </a:r>
            </a:p>
          </p:txBody>
        </p:sp>
        <p:cxnSp>
          <p:nvCxnSpPr>
            <p:cNvPr id="44" name="Connector: Curved 43">
              <a:extLst>
                <a:ext uri="{FF2B5EF4-FFF2-40B4-BE49-F238E27FC236}">
                  <a16:creationId xmlns:a16="http://schemas.microsoft.com/office/drawing/2014/main" id="{710F6C39-69CC-2B8F-CAD8-B1730DEC1ACF}"/>
                </a:ext>
              </a:extLst>
            </p:cNvPr>
            <p:cNvCxnSpPr/>
            <p:nvPr/>
          </p:nvCxnSpPr>
          <p:spPr>
            <a:xfrm flipV="1">
              <a:off x="4180912" y="4726706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5B74FB3-79AD-3CD0-E56C-952B8885351E}"/>
                </a:ext>
              </a:extLst>
            </p:cNvPr>
            <p:cNvCxnSpPr>
              <a:cxnSpLocks/>
              <a:stCxn id="4" idx="3"/>
              <a:endCxn id="3" idx="1"/>
            </p:cNvCxnSpPr>
            <p:nvPr/>
          </p:nvCxnSpPr>
          <p:spPr>
            <a:xfrm flipV="1">
              <a:off x="1812716" y="2222336"/>
              <a:ext cx="2198212" cy="5706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5D2EF73-B633-E7A5-26F7-3BDEB8D6B0E4}"/>
                </a:ext>
              </a:extLst>
            </p:cNvPr>
            <p:cNvCxnSpPr>
              <a:cxnSpLocks/>
              <a:stCxn id="5" idx="3"/>
              <a:endCxn id="39" idx="1"/>
            </p:cNvCxnSpPr>
            <p:nvPr/>
          </p:nvCxnSpPr>
          <p:spPr>
            <a:xfrm>
              <a:off x="1812716" y="4802981"/>
              <a:ext cx="2198212" cy="3926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F8C32FA-D8EE-772E-46AD-9DC8ED87BD77}"/>
                </a:ext>
              </a:extLst>
            </p:cNvPr>
            <p:cNvCxnSpPr>
              <a:cxnSpLocks/>
              <a:stCxn id="5" idx="3"/>
              <a:endCxn id="3" idx="1"/>
            </p:cNvCxnSpPr>
            <p:nvPr/>
          </p:nvCxnSpPr>
          <p:spPr>
            <a:xfrm flipV="1">
              <a:off x="1812716" y="2222336"/>
              <a:ext cx="2198212" cy="25806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77AFE121-BEEB-86CD-54D1-1A559F625B16}"/>
                </a:ext>
              </a:extLst>
            </p:cNvPr>
            <p:cNvCxnSpPr>
              <a:cxnSpLocks/>
              <a:stCxn id="4" idx="3"/>
              <a:endCxn id="39" idx="1"/>
            </p:cNvCxnSpPr>
            <p:nvPr/>
          </p:nvCxnSpPr>
          <p:spPr>
            <a:xfrm>
              <a:off x="1812716" y="2793023"/>
              <a:ext cx="2198212" cy="24026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4E06F757-A5D1-3038-D8E4-58BB081C6045}"/>
                </a:ext>
              </a:extLst>
            </p:cNvPr>
            <p:cNvCxnSpPr>
              <a:cxnSpLocks/>
              <a:stCxn id="39" idx="3"/>
              <a:endCxn id="16" idx="1"/>
            </p:cNvCxnSpPr>
            <p:nvPr/>
          </p:nvCxnSpPr>
          <p:spPr>
            <a:xfrm flipV="1">
              <a:off x="5253575" y="4495670"/>
              <a:ext cx="1486579" cy="6999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2CD644B6-CF69-A934-E50B-FDE7D769AF5E}"/>
                </a:ext>
              </a:extLst>
            </p:cNvPr>
            <p:cNvCxnSpPr>
              <a:cxnSpLocks/>
              <a:stCxn id="39" idx="3"/>
              <a:endCxn id="29" idx="1"/>
            </p:cNvCxnSpPr>
            <p:nvPr/>
          </p:nvCxnSpPr>
          <p:spPr>
            <a:xfrm flipV="1">
              <a:off x="5253575" y="3008544"/>
              <a:ext cx="1486579" cy="2187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061B188A-9FFB-8DD2-BEF8-A6D956F22208}"/>
                </a:ext>
              </a:extLst>
            </p:cNvPr>
            <p:cNvCxnSpPr>
              <a:cxnSpLocks/>
              <a:stCxn id="3" idx="3"/>
              <a:endCxn id="16" idx="1"/>
            </p:cNvCxnSpPr>
            <p:nvPr/>
          </p:nvCxnSpPr>
          <p:spPr>
            <a:xfrm>
              <a:off x="5253575" y="2222336"/>
              <a:ext cx="1486579" cy="2273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D360781-E859-D552-43F4-6B202258E825}"/>
                </a:ext>
              </a:extLst>
            </p:cNvPr>
            <p:cNvCxnSpPr>
              <a:cxnSpLocks/>
              <a:stCxn id="6" idx="3"/>
              <a:endCxn id="29" idx="1"/>
            </p:cNvCxnSpPr>
            <p:nvPr/>
          </p:nvCxnSpPr>
          <p:spPr>
            <a:xfrm flipV="1">
              <a:off x="5253575" y="3008544"/>
              <a:ext cx="1486579" cy="7009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2C07E841-8362-0A0A-442B-28CA0C27D19B}"/>
                </a:ext>
              </a:extLst>
            </p:cNvPr>
            <p:cNvCxnSpPr>
              <a:cxnSpLocks/>
              <a:stCxn id="29" idx="3"/>
              <a:endCxn id="7" idx="1"/>
            </p:cNvCxnSpPr>
            <p:nvPr/>
          </p:nvCxnSpPr>
          <p:spPr>
            <a:xfrm>
              <a:off x="7982801" y="3008544"/>
              <a:ext cx="1865128" cy="7213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350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FC1882A-9241-BC40-8C1D-DAB6B82014F1}"/>
              </a:ext>
            </a:extLst>
          </p:cNvPr>
          <p:cNvSpPr txBox="1"/>
          <p:nvPr/>
        </p:nvSpPr>
        <p:spPr>
          <a:xfrm>
            <a:off x="1299637" y="3577881"/>
            <a:ext cx="921758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model </a:t>
            </a:r>
            <a:r>
              <a:rPr lang="en-GB" sz="24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keras_model_sequential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|&gt;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layer_dense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dirty="0">
                <a:solidFill>
                  <a:srgbClr val="DF0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“sigmoid”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input_shape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|&gt;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layer_dense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dirty="0">
                <a:solidFill>
                  <a:srgbClr val="DF0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“sigmoid”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|&gt;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layer_dense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|&gt;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compile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loss </a:t>
            </a:r>
            <a:r>
              <a:rPr lang="en-GB" sz="24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rgbClr val="DF0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GB" sz="2400" dirty="0" err="1">
                <a:solidFill>
                  <a:srgbClr val="DF0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mse</a:t>
            </a:r>
            <a:r>
              <a:rPr lang="en-GB" sz="2400" dirty="0">
                <a:solidFill>
                  <a:srgbClr val="DF0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optimizer </a:t>
            </a:r>
            <a:r>
              <a:rPr lang="en-GB" sz="24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rgbClr val="DF0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GB" sz="2400" dirty="0" err="1">
                <a:solidFill>
                  <a:srgbClr val="DF0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adam</a:t>
            </a:r>
            <a:r>
              <a:rPr lang="en-GB" sz="2400" dirty="0">
                <a:solidFill>
                  <a:srgbClr val="DF0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GB" sz="2400" dirty="0">
                <a:solidFill>
                  <a:srgbClr val="E001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101131-8BA0-4D26-3392-B7F24EAC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851" y="642932"/>
            <a:ext cx="5521570" cy="23689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6B2AD5-01F7-77C8-121C-C62E34A1C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NN can be fit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8D9B-FAFC-793C-C7ED-417A8DE2E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0231" cy="4351338"/>
          </a:xfrm>
        </p:spPr>
        <p:txBody>
          <a:bodyPr/>
          <a:lstStyle/>
          <a:p>
            <a:r>
              <a:rPr lang="en-GB" dirty="0"/>
              <a:t>Surprisingly easy to fit neural networks in 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F81BE8B-4BDE-8760-38DE-F525A82ABD4F}"/>
              </a:ext>
            </a:extLst>
          </p:cNvPr>
          <p:cNvGrpSpPr/>
          <p:nvPr/>
        </p:nvGrpSpPr>
        <p:grpSpPr>
          <a:xfrm>
            <a:off x="6002216" y="926123"/>
            <a:ext cx="3634153" cy="3484567"/>
            <a:chOff x="6002216" y="926123"/>
            <a:chExt cx="3634153" cy="348456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73CEAD-6932-0684-939B-8663C96D5927}"/>
                </a:ext>
              </a:extLst>
            </p:cNvPr>
            <p:cNvSpPr/>
            <p:nvPr/>
          </p:nvSpPr>
          <p:spPr>
            <a:xfrm>
              <a:off x="6002216" y="926123"/>
              <a:ext cx="914400" cy="19633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597672-FB5B-415F-AD49-411F1872320F}"/>
                </a:ext>
              </a:extLst>
            </p:cNvPr>
            <p:cNvSpPr/>
            <p:nvPr/>
          </p:nvSpPr>
          <p:spPr>
            <a:xfrm>
              <a:off x="6747026" y="4009292"/>
              <a:ext cx="2889343" cy="4013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98FB6879-9CB4-7140-6ACF-1F1EC219F0F5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rot="16200000" flipH="1">
              <a:off x="5931253" y="3394218"/>
              <a:ext cx="1320488" cy="311058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1EE0EFB-9E9B-2AB7-EA29-65577D7B9ADB}"/>
              </a:ext>
            </a:extLst>
          </p:cNvPr>
          <p:cNvGrpSpPr/>
          <p:nvPr/>
        </p:nvGrpSpPr>
        <p:grpSpPr>
          <a:xfrm>
            <a:off x="2084173" y="631055"/>
            <a:ext cx="6574052" cy="3750622"/>
            <a:chOff x="319850" y="926123"/>
            <a:chExt cx="6574052" cy="375062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92E4C4C-CE09-AFB9-18A9-4AB0D8C839DB}"/>
                </a:ext>
              </a:extLst>
            </p:cNvPr>
            <p:cNvSpPr/>
            <p:nvPr/>
          </p:nvSpPr>
          <p:spPr>
            <a:xfrm>
              <a:off x="6002216" y="926123"/>
              <a:ext cx="891686" cy="24209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305A326-B503-E6E9-3DFB-275A7B520F34}"/>
                </a:ext>
              </a:extLst>
            </p:cNvPr>
            <p:cNvSpPr/>
            <p:nvPr/>
          </p:nvSpPr>
          <p:spPr>
            <a:xfrm>
              <a:off x="319850" y="4275347"/>
              <a:ext cx="4457304" cy="4013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9588ADBB-B203-4265-DAEB-D01AAF29FEA6}"/>
                </a:ext>
              </a:extLst>
            </p:cNvPr>
            <p:cNvCxnSpPr>
              <a:cxnSpLocks/>
              <a:stCxn id="17" idx="2"/>
              <a:endCxn id="18" idx="0"/>
            </p:cNvCxnSpPr>
            <p:nvPr/>
          </p:nvCxnSpPr>
          <p:spPr>
            <a:xfrm rot="5400000">
              <a:off x="4034128" y="1861415"/>
              <a:ext cx="928307" cy="389955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B0FC7-7649-CA54-3DF2-CF9857C1D4D3}"/>
              </a:ext>
            </a:extLst>
          </p:cNvPr>
          <p:cNvGrpSpPr/>
          <p:nvPr/>
        </p:nvGrpSpPr>
        <p:grpSpPr>
          <a:xfrm>
            <a:off x="2084173" y="1014191"/>
            <a:ext cx="7949879" cy="3716133"/>
            <a:chOff x="-1055977" y="926123"/>
            <a:chExt cx="7949879" cy="371613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0BAE2A9-0E65-0370-34E8-82F4A41BA4A3}"/>
                </a:ext>
              </a:extLst>
            </p:cNvPr>
            <p:cNvSpPr/>
            <p:nvPr/>
          </p:nvSpPr>
          <p:spPr>
            <a:xfrm>
              <a:off x="6002216" y="926123"/>
              <a:ext cx="891686" cy="1705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4ED6FB8-B090-9D53-8B93-8F5AE59731DD}"/>
                </a:ext>
              </a:extLst>
            </p:cNvPr>
            <p:cNvSpPr/>
            <p:nvPr/>
          </p:nvSpPr>
          <p:spPr>
            <a:xfrm>
              <a:off x="-1055977" y="4293799"/>
              <a:ext cx="4457304" cy="3484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D373B00F-A599-4390-4684-FD0B66154F44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>
            <a:xfrm rot="5400000">
              <a:off x="2979311" y="825050"/>
              <a:ext cx="1662113" cy="527538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4121D03-CE11-721F-3EDE-84463B9ACBA3}"/>
              </a:ext>
            </a:extLst>
          </p:cNvPr>
          <p:cNvGrpSpPr/>
          <p:nvPr/>
        </p:nvGrpSpPr>
        <p:grpSpPr>
          <a:xfrm>
            <a:off x="2084173" y="1377363"/>
            <a:ext cx="9533397" cy="3704451"/>
            <a:chOff x="-1208377" y="1136895"/>
            <a:chExt cx="9533397" cy="370445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8169632-D08B-53C2-80BB-C33D57D28272}"/>
                </a:ext>
              </a:extLst>
            </p:cNvPr>
            <p:cNvSpPr/>
            <p:nvPr/>
          </p:nvSpPr>
          <p:spPr>
            <a:xfrm>
              <a:off x="7433334" y="1136895"/>
              <a:ext cx="891686" cy="9907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1900576-A9E9-EA16-F93D-D396821A319E}"/>
                </a:ext>
              </a:extLst>
            </p:cNvPr>
            <p:cNvSpPr/>
            <p:nvPr/>
          </p:nvSpPr>
          <p:spPr>
            <a:xfrm>
              <a:off x="-1208377" y="4492889"/>
              <a:ext cx="2651950" cy="3484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790562F8-ED1B-6520-77A0-5C54788C6D94}"/>
                </a:ext>
              </a:extLst>
            </p:cNvPr>
            <p:cNvCxnSpPr>
              <a:cxnSpLocks/>
              <a:stCxn id="32" idx="2"/>
              <a:endCxn id="33" idx="0"/>
            </p:cNvCxnSpPr>
            <p:nvPr/>
          </p:nvCxnSpPr>
          <p:spPr>
            <a:xfrm rot="5400000">
              <a:off x="2815741" y="-570547"/>
              <a:ext cx="2365294" cy="776157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CCB498-4E2B-6E4F-BFDD-0994AD605724}"/>
              </a:ext>
            </a:extLst>
          </p:cNvPr>
          <p:cNvCxnSpPr/>
          <p:nvPr/>
        </p:nvCxnSpPr>
        <p:spPr>
          <a:xfrm>
            <a:off x="5067590" y="5406225"/>
            <a:ext cx="51604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12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48716-3335-5E8A-D7DD-23BB75C46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7EFC-1ADB-D111-7378-0FD7BD504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632704"/>
            <a:ext cx="12192000" cy="1225296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Neural Networks in LLMs</a:t>
            </a:r>
          </a:p>
        </p:txBody>
      </p:sp>
    </p:spTree>
    <p:extLst>
      <p:ext uri="{BB962C8B-B14F-4D97-AF65-F5344CB8AC3E}">
        <p14:creationId xmlns:p14="http://schemas.microsoft.com/office/powerpoint/2010/main" val="208371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88A5-7E5F-7409-2DC6-713C0D0B3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BE1F-B3AD-11AA-0FFA-D80EAC15E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167664" cy="4874757"/>
          </a:xfrm>
        </p:spPr>
        <p:txBody>
          <a:bodyPr>
            <a:normAutofit lnSpcReduction="10000"/>
          </a:bodyPr>
          <a:lstStyle/>
          <a:p>
            <a:r>
              <a:rPr lang="en-GB" dirty="0"/>
              <a:t>Language models as a general concept have been around since the 1940’s</a:t>
            </a:r>
          </a:p>
          <a:p>
            <a:pPr lvl="1"/>
            <a:r>
              <a:rPr lang="en-GB" dirty="0"/>
              <a:t>E.g. n-gram models used by Claude Shannon</a:t>
            </a:r>
          </a:p>
          <a:p>
            <a:r>
              <a:rPr lang="en-GB" dirty="0"/>
              <a:t>Neural networks were a big advancement</a:t>
            </a:r>
          </a:p>
          <a:p>
            <a:pPr lvl="1"/>
            <a:r>
              <a:rPr lang="en-GB" dirty="0"/>
              <a:t>But were slow and inefficient, and bad at retaining information</a:t>
            </a:r>
          </a:p>
          <a:p>
            <a:r>
              <a:rPr lang="en-GB" dirty="0"/>
              <a:t>Transformers are a type of a neural network model</a:t>
            </a:r>
          </a:p>
          <a:p>
            <a:pPr lvl="1"/>
            <a:r>
              <a:rPr lang="en-GB" dirty="0"/>
              <a:t>Much faster than previous versions of NN</a:t>
            </a:r>
          </a:p>
          <a:p>
            <a:pPr lvl="1"/>
            <a:r>
              <a:rPr lang="en-GB" dirty="0"/>
              <a:t>Crucially, use “attention” to let each token relate to all others in a sequence</a:t>
            </a:r>
          </a:p>
          <a:p>
            <a:pPr lvl="1"/>
            <a:r>
              <a:rPr lang="en-GB" dirty="0"/>
              <a:t>Allow context-sensitive meanings, such as distinguishing “river bank” from “money bank”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95ED938-2AE0-99EA-74E2-9984D8521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208" y="157618"/>
            <a:ext cx="6268770" cy="1396883"/>
          </a:xfrm>
          <a:prstGeom prst="rect">
            <a:avLst/>
          </a:prstGeom>
        </p:spPr>
      </p:pic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57741327-F676-CA46-C384-D230DB11A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334" y="1825625"/>
            <a:ext cx="2926227" cy="4799012"/>
          </a:xfrm>
          <a:prstGeom prst="rect">
            <a:avLst/>
          </a:prstGeom>
        </p:spPr>
      </p:pic>
      <p:pic>
        <p:nvPicPr>
          <p:cNvPr id="6" name="Picture 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8194D4BF-AAB2-F5EE-5972-C022232BAA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300" y="1027906"/>
            <a:ext cx="4166400" cy="524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23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84B63-FB2F-D4B8-108E-40F3B6D15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Here’s how transformers </a:t>
            </a:r>
            <a:r>
              <a:rPr lang="en-GB" i="1" dirty="0"/>
              <a:t>kind of </a:t>
            </a:r>
            <a:r>
              <a:rPr lang="en-GB" dirty="0"/>
              <a:t>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12D66B-0A66-01A6-BBD5-A1E2C59541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15" y="2727293"/>
                <a:ext cx="12192000" cy="3320867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𝑇𝑜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𝑇𝑜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This is a type of linear model called an “autoregressive model”</a:t>
                </a:r>
              </a:p>
              <a:p>
                <a:pPr lvl="1"/>
                <a:r>
                  <a:rPr lang="en-GB" dirty="0"/>
                  <a:t>GPT3 did this for up to previous 2048 tokens (not just 11 like in above example)</a:t>
                </a:r>
              </a:p>
              <a:p>
                <a:r>
                  <a:rPr lang="en-GB" dirty="0"/>
                  <a:t>Transformers are smarter because they also consider how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𝑇𝑜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is related to all other tokens</a:t>
                </a:r>
              </a:p>
              <a:p>
                <a:pPr lvl="1"/>
                <a:r>
                  <a:rPr lang="en-GB" dirty="0"/>
                  <a:t>Not just the token we are trying to predict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is returned as a probability distribution for the next token</a:t>
                </a:r>
              </a:p>
              <a:p>
                <a:pPr lvl="1"/>
                <a:r>
                  <a:rPr lang="en-GB" dirty="0"/>
                  <a:t>With no uncertainty, but with variation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12D66B-0A66-01A6-BBD5-A1E2C59541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15" y="2727293"/>
                <a:ext cx="12192000" cy="3320867"/>
              </a:xfrm>
              <a:blipFill>
                <a:blip r:embed="rId2"/>
                <a:stretch>
                  <a:fillRect l="-800" t="-2752" r="-6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FFE6F7BA-EAD2-5298-D482-ED766DCAF283}"/>
              </a:ext>
            </a:extLst>
          </p:cNvPr>
          <p:cNvGrpSpPr/>
          <p:nvPr/>
        </p:nvGrpSpPr>
        <p:grpSpPr>
          <a:xfrm>
            <a:off x="11020425" y="2183307"/>
            <a:ext cx="1104900" cy="1854201"/>
            <a:chOff x="11087100" y="2349500"/>
            <a:chExt cx="1104900" cy="185420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09594C-496B-30B7-54E5-8DFB675091E0}"/>
                </a:ext>
              </a:extLst>
            </p:cNvPr>
            <p:cNvSpPr txBox="1"/>
            <p:nvPr/>
          </p:nvSpPr>
          <p:spPr>
            <a:xfrm>
              <a:off x="11087100" y="3003372"/>
              <a:ext cx="11049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What comes next?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2D05076-E263-1A7C-54DF-142235041910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11639550" y="2349500"/>
              <a:ext cx="0" cy="6538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8F5FF77-2745-0F8B-FC82-0FD09F42B751}"/>
              </a:ext>
            </a:extLst>
          </p:cNvPr>
          <p:cNvGrpSpPr/>
          <p:nvPr/>
        </p:nvGrpSpPr>
        <p:grpSpPr>
          <a:xfrm>
            <a:off x="10401300" y="2214770"/>
            <a:ext cx="1104900" cy="1115537"/>
            <a:chOff x="9363075" y="2118667"/>
            <a:chExt cx="1104900" cy="1115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73DB4DD-4C3D-84EE-06EB-EC0E0DB282A1}"/>
                    </a:ext>
                  </a:extLst>
                </p:cNvPr>
                <p:cNvSpPr txBox="1"/>
                <p:nvPr/>
              </p:nvSpPr>
              <p:spPr>
                <a:xfrm>
                  <a:off x="9363075" y="2772539"/>
                  <a:ext cx="11049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𝑇𝑜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73DB4DD-4C3D-84EE-06EB-EC0E0DB282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3075" y="2772539"/>
                  <a:ext cx="1104900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AFAA121-40AE-506A-750F-CD332FF14CA4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9915525" y="2118667"/>
              <a:ext cx="0" cy="6538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28A881-4FEF-C6A8-86E3-8963CC5CB3EE}"/>
              </a:ext>
            </a:extLst>
          </p:cNvPr>
          <p:cNvGrpSpPr/>
          <p:nvPr/>
        </p:nvGrpSpPr>
        <p:grpSpPr>
          <a:xfrm>
            <a:off x="9807875" y="2204873"/>
            <a:ext cx="1104900" cy="1115537"/>
            <a:chOff x="8191500" y="2118667"/>
            <a:chExt cx="1104900" cy="1115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E80FED3-51C1-AF15-1503-87E28297DF52}"/>
                    </a:ext>
                  </a:extLst>
                </p:cNvPr>
                <p:cNvSpPr txBox="1"/>
                <p:nvPr/>
              </p:nvSpPr>
              <p:spPr>
                <a:xfrm>
                  <a:off x="8191500" y="2772539"/>
                  <a:ext cx="11049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𝑇𝑜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E80FED3-51C1-AF15-1503-87E28297DF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1500" y="2772539"/>
                  <a:ext cx="1104900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AB18650-2427-3FFE-85C6-74C0E020BDE6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8743950" y="2118667"/>
              <a:ext cx="0" cy="6538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759E67E-9C5C-1512-809E-0E9FED5C557F}"/>
              </a:ext>
            </a:extLst>
          </p:cNvPr>
          <p:cNvGrpSpPr/>
          <p:nvPr/>
        </p:nvGrpSpPr>
        <p:grpSpPr>
          <a:xfrm>
            <a:off x="19050" y="2313463"/>
            <a:ext cx="1104900" cy="1141441"/>
            <a:chOff x="19050" y="2313463"/>
            <a:chExt cx="1104900" cy="11414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581422B-D3E9-6694-1080-9B832B0C813A}"/>
                    </a:ext>
                  </a:extLst>
                </p:cNvPr>
                <p:cNvSpPr txBox="1"/>
                <p:nvPr/>
              </p:nvSpPr>
              <p:spPr>
                <a:xfrm>
                  <a:off x="19050" y="2967335"/>
                  <a:ext cx="1104900" cy="487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𝑇𝑜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581422B-D3E9-6694-1080-9B832B0C81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50" y="2967335"/>
                  <a:ext cx="1104900" cy="487569"/>
                </a:xfrm>
                <a:prstGeom prst="rect">
                  <a:avLst/>
                </a:prstGeom>
                <a:blipFill>
                  <a:blip r:embed="rId5"/>
                  <a:stretch>
                    <a:fillRect t="-12500" r="-10497" b="-20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6453706-4C8B-2275-337F-F55FB80512EA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V="1">
              <a:off x="571500" y="2313463"/>
              <a:ext cx="0" cy="6538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AF3A550-58A6-EC7F-E8CE-AD6270EE93FA}"/>
              </a:ext>
            </a:extLst>
          </p:cNvPr>
          <p:cNvSpPr txBox="1"/>
          <p:nvPr/>
        </p:nvSpPr>
        <p:spPr>
          <a:xfrm>
            <a:off x="1" y="1864753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Apparently, seagulls are dinosaurs but I swear I saw one eating a bag of …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DCF874-6D43-C787-66F3-1B29FA87D081}"/>
              </a:ext>
            </a:extLst>
          </p:cNvPr>
          <p:cNvGrpSpPr/>
          <p:nvPr/>
        </p:nvGrpSpPr>
        <p:grpSpPr>
          <a:xfrm>
            <a:off x="9390070" y="2204873"/>
            <a:ext cx="1104900" cy="1115537"/>
            <a:chOff x="8191500" y="2118667"/>
            <a:chExt cx="1104900" cy="1115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9601283-5260-C20A-09CD-C29C816658EB}"/>
                    </a:ext>
                  </a:extLst>
                </p:cNvPr>
                <p:cNvSpPr txBox="1"/>
                <p:nvPr/>
              </p:nvSpPr>
              <p:spPr>
                <a:xfrm>
                  <a:off x="8191500" y="2772539"/>
                  <a:ext cx="11049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𝑇𝑜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9601283-5260-C20A-09CD-C29C816658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1500" y="2772539"/>
                  <a:ext cx="1104900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B117BCD-2384-5299-3F19-B966E1060877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V="1">
              <a:off x="8743950" y="2118667"/>
              <a:ext cx="0" cy="6538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B63B7-9B30-A921-BE3D-FE3B0F359F08}"/>
                  </a:ext>
                </a:extLst>
              </p:cNvPr>
              <p:cNvSpPr txBox="1"/>
              <p:nvPr/>
            </p:nvSpPr>
            <p:spPr>
              <a:xfrm>
                <a:off x="11371556" y="1846227"/>
                <a:ext cx="40547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B63B7-9B30-A921-BE3D-FE3B0F359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1556" y="1846227"/>
                <a:ext cx="405470" cy="400110"/>
              </a:xfrm>
              <a:prstGeom prst="rect">
                <a:avLst/>
              </a:prstGeom>
              <a:blipFill>
                <a:blip r:embed="rId8"/>
                <a:stretch>
                  <a:fillRect t="-10769" r="-22388" b="-261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20E99992-1362-AC6C-B08B-3D10EF3A409E}"/>
              </a:ext>
            </a:extLst>
          </p:cNvPr>
          <p:cNvSpPr/>
          <p:nvPr/>
        </p:nvSpPr>
        <p:spPr>
          <a:xfrm>
            <a:off x="19050" y="1864753"/>
            <a:ext cx="1812624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20F1E8-C029-B6B0-7FE6-982EF6BCF087}"/>
              </a:ext>
            </a:extLst>
          </p:cNvPr>
          <p:cNvSpPr/>
          <p:nvPr/>
        </p:nvSpPr>
        <p:spPr>
          <a:xfrm>
            <a:off x="1831674" y="1869495"/>
            <a:ext cx="142903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AA3379-B402-B6A0-29ED-DD5F15414B3D}"/>
              </a:ext>
            </a:extLst>
          </p:cNvPr>
          <p:cNvSpPr/>
          <p:nvPr/>
        </p:nvSpPr>
        <p:spPr>
          <a:xfrm>
            <a:off x="3260709" y="1864753"/>
            <a:ext cx="59342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9E86B3-E5D8-BB37-818E-56E620460F24}"/>
              </a:ext>
            </a:extLst>
          </p:cNvPr>
          <p:cNvSpPr/>
          <p:nvPr/>
        </p:nvSpPr>
        <p:spPr>
          <a:xfrm>
            <a:off x="3854128" y="1869890"/>
            <a:ext cx="149424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9772D7-6811-EB21-00F7-650800D5C992}"/>
              </a:ext>
            </a:extLst>
          </p:cNvPr>
          <p:cNvSpPr/>
          <p:nvPr/>
        </p:nvSpPr>
        <p:spPr>
          <a:xfrm>
            <a:off x="5349381" y="1869495"/>
            <a:ext cx="61811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6F83F3-A908-11A8-9F37-1F14DB2B3458}"/>
              </a:ext>
            </a:extLst>
          </p:cNvPr>
          <p:cNvSpPr/>
          <p:nvPr/>
        </p:nvSpPr>
        <p:spPr>
          <a:xfrm>
            <a:off x="5983494" y="1877696"/>
            <a:ext cx="313786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3F60A9-D1A8-477D-4301-109431B8211B}"/>
              </a:ext>
            </a:extLst>
          </p:cNvPr>
          <p:cNvSpPr/>
          <p:nvPr/>
        </p:nvSpPr>
        <p:spPr>
          <a:xfrm>
            <a:off x="6313274" y="1881557"/>
            <a:ext cx="801553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C612DC-F5EF-D59B-F48A-DCF634B61E69}"/>
              </a:ext>
            </a:extLst>
          </p:cNvPr>
          <p:cNvSpPr/>
          <p:nvPr/>
        </p:nvSpPr>
        <p:spPr>
          <a:xfrm>
            <a:off x="7130821" y="1877696"/>
            <a:ext cx="3469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784E25-F2AC-9D43-94CF-4357A33ACC57}"/>
              </a:ext>
            </a:extLst>
          </p:cNvPr>
          <p:cNvSpPr/>
          <p:nvPr/>
        </p:nvSpPr>
        <p:spPr>
          <a:xfrm>
            <a:off x="7493817" y="1874203"/>
            <a:ext cx="617041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752126-1D6E-A4E0-23F8-0B26BDAA7978}"/>
              </a:ext>
            </a:extLst>
          </p:cNvPr>
          <p:cNvSpPr/>
          <p:nvPr/>
        </p:nvSpPr>
        <p:spPr>
          <a:xfrm>
            <a:off x="8126058" y="1879744"/>
            <a:ext cx="54822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64566F-65CD-0235-E914-3761749D6828}"/>
              </a:ext>
            </a:extLst>
          </p:cNvPr>
          <p:cNvSpPr/>
          <p:nvPr/>
        </p:nvSpPr>
        <p:spPr>
          <a:xfrm>
            <a:off x="8693971" y="1877630"/>
            <a:ext cx="107293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850C23-09A9-904A-1066-4CB6EBAA5CFA}"/>
              </a:ext>
            </a:extLst>
          </p:cNvPr>
          <p:cNvSpPr/>
          <p:nvPr/>
        </p:nvSpPr>
        <p:spPr>
          <a:xfrm>
            <a:off x="9780161" y="1885432"/>
            <a:ext cx="32315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0ADDC08-F750-BE70-CC1B-3ACEE0FBEBDB}"/>
              </a:ext>
            </a:extLst>
          </p:cNvPr>
          <p:cNvSpPr/>
          <p:nvPr/>
        </p:nvSpPr>
        <p:spPr>
          <a:xfrm>
            <a:off x="10104095" y="1890589"/>
            <a:ext cx="592641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2FE442-A8F5-3DE3-6FF4-357B20B4DC87}"/>
              </a:ext>
            </a:extLst>
          </p:cNvPr>
          <p:cNvSpPr/>
          <p:nvPr/>
        </p:nvSpPr>
        <p:spPr>
          <a:xfrm>
            <a:off x="10712323" y="1879744"/>
            <a:ext cx="426736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1D95055-411D-126D-0B0F-F72306CC4B74}"/>
                  </a:ext>
                </a:extLst>
              </p:cNvPr>
              <p:cNvSpPr txBox="1"/>
              <p:nvPr/>
            </p:nvSpPr>
            <p:spPr>
              <a:xfrm>
                <a:off x="7437066" y="1838917"/>
                <a:ext cx="40547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1D95055-411D-126D-0B0F-F72306CC4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066" y="1838917"/>
                <a:ext cx="405470" cy="400110"/>
              </a:xfrm>
              <a:prstGeom prst="rect">
                <a:avLst/>
              </a:prstGeom>
              <a:blipFill>
                <a:blip r:embed="rId9"/>
                <a:stretch>
                  <a:fillRect t="-10769" r="-20896" b="-261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DA49391-9F8E-E95B-3487-B0DF1476830F}"/>
              </a:ext>
            </a:extLst>
          </p:cNvPr>
          <p:cNvSpPr/>
          <p:nvPr/>
        </p:nvSpPr>
        <p:spPr>
          <a:xfrm>
            <a:off x="11174511" y="1859145"/>
            <a:ext cx="54822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6904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19" grpId="0"/>
      <p:bldP spid="19" grpId="1"/>
      <p:bldP spid="19" grpId="2"/>
      <p:bldP spid="23" grpId="0" animBg="1"/>
      <p:bldP spid="23" grpId="1" animBg="1"/>
      <p:bldP spid="23" grpId="2" animBg="1"/>
      <p:bldP spid="24" grpId="0" animBg="1"/>
      <p:bldP spid="25" grpId="0" animBg="1"/>
      <p:bldP spid="25" grpId="1" animBg="1"/>
      <p:bldP spid="25" grpId="2" animBg="1"/>
      <p:bldP spid="26" grpId="0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/>
      <p:bldP spid="37" grpId="1"/>
      <p:bldP spid="38" grpId="0" animBg="1"/>
      <p:bldP spid="38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165D1-5B4A-88DE-BE3C-480CF4874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Context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BA264-3EE4-39F5-37BD-096BBC846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34125" cy="4667247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“GPT3 did this for up to previous 2048 tokens”</a:t>
            </a:r>
          </a:p>
          <a:p>
            <a:r>
              <a:rPr lang="en-GB" dirty="0"/>
              <a:t>The length of tokens considered is called the context window</a:t>
            </a:r>
          </a:p>
          <a:p>
            <a:r>
              <a:rPr lang="en-GB" dirty="0"/>
              <a:t>If a document has 2048+1 tokens, then the start and end of the context window do not get considered together</a:t>
            </a:r>
          </a:p>
          <a:p>
            <a:r>
              <a:rPr lang="en-GB" dirty="0"/>
              <a:t>Can lead to disconnected text that goes on tangents</a:t>
            </a:r>
          </a:p>
          <a:p>
            <a:r>
              <a:rPr lang="en-GB" dirty="0"/>
              <a:t>Keep in mind that rare words tend to be broken up into smaller tokens</a:t>
            </a:r>
          </a:p>
          <a:p>
            <a:pPr lvl="1"/>
            <a:r>
              <a:rPr lang="en-GB" dirty="0"/>
              <a:t>So in a thesis, even if the word limit is 5000 words, this will often end up with far more than 5000 tokens</a:t>
            </a:r>
          </a:p>
          <a:p>
            <a:pPr lvl="1"/>
            <a:r>
              <a:rPr lang="en-GB" dirty="0"/>
              <a:t>LLMs may not be able to link your introduction with your conclusion</a:t>
            </a:r>
          </a:p>
          <a:p>
            <a:r>
              <a:rPr lang="en-GB" dirty="0"/>
              <a:t>Current LLMs have windows of 100 k – 1 mill</a:t>
            </a:r>
          </a:p>
          <a:p>
            <a:r>
              <a:rPr lang="en-GB" dirty="0"/>
              <a:t>Beware context poisoning</a:t>
            </a:r>
          </a:p>
          <a:p>
            <a:pPr lvl="1"/>
            <a:r>
              <a:rPr lang="en-GB" dirty="0"/>
              <a:t>Chats that go on for too long become poisoned</a:t>
            </a:r>
          </a:p>
          <a:p>
            <a:pPr lvl="1"/>
            <a:r>
              <a:rPr lang="en-GB" dirty="0"/>
              <a:t>Better to start from scratch rather than trying to “fix”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9764659-357D-2643-9FAD-9A71D550C77F}"/>
              </a:ext>
            </a:extLst>
          </p:cNvPr>
          <p:cNvGrpSpPr/>
          <p:nvPr/>
        </p:nvGrpSpPr>
        <p:grpSpPr>
          <a:xfrm>
            <a:off x="8277225" y="438150"/>
            <a:ext cx="1885063" cy="5962650"/>
            <a:chOff x="8277225" y="438150"/>
            <a:chExt cx="1885063" cy="596265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655E6E0-14BA-8CDA-5A72-E98C6C420BE9}"/>
                </a:ext>
              </a:extLst>
            </p:cNvPr>
            <p:cNvGrpSpPr/>
            <p:nvPr/>
          </p:nvGrpSpPr>
          <p:grpSpPr>
            <a:xfrm>
              <a:off x="8277225" y="438150"/>
              <a:ext cx="305533" cy="5962650"/>
              <a:chOff x="8277225" y="438150"/>
              <a:chExt cx="305533" cy="5962650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D5562223-7B3D-1F24-F992-B2BBF34D9E77}"/>
                  </a:ext>
                </a:extLst>
              </p:cNvPr>
              <p:cNvCxnSpPr/>
              <p:nvPr/>
            </p:nvCxnSpPr>
            <p:spPr>
              <a:xfrm>
                <a:off x="8429625" y="438150"/>
                <a:ext cx="0" cy="596265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8332837A-E523-C38A-EDFF-9450AF3FB639}"/>
                  </a:ext>
                </a:extLst>
              </p:cNvPr>
              <p:cNvCxnSpPr/>
              <p:nvPr/>
            </p:nvCxnSpPr>
            <p:spPr>
              <a:xfrm>
                <a:off x="8277225" y="776288"/>
                <a:ext cx="3048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0EB9213-9AC0-97AC-7A32-CD33F9C9EE57}"/>
                  </a:ext>
                </a:extLst>
              </p:cNvPr>
              <p:cNvCxnSpPr/>
              <p:nvPr/>
            </p:nvCxnSpPr>
            <p:spPr>
              <a:xfrm>
                <a:off x="8277225" y="6072188"/>
                <a:ext cx="3048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F5233B34-BCCA-0E17-DFCD-6B6ABC944F82}"/>
                  </a:ext>
                </a:extLst>
              </p:cNvPr>
              <p:cNvCxnSpPr/>
              <p:nvPr/>
            </p:nvCxnSpPr>
            <p:spPr>
              <a:xfrm>
                <a:off x="8277225" y="3349503"/>
                <a:ext cx="3048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2905001-A648-349B-0065-71C6BAA716DB}"/>
                  </a:ext>
                </a:extLst>
              </p:cNvPr>
              <p:cNvCxnSpPr/>
              <p:nvPr/>
            </p:nvCxnSpPr>
            <p:spPr>
              <a:xfrm>
                <a:off x="8277225" y="2068757"/>
                <a:ext cx="3048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92283C5-F1B8-3BEF-4E88-9584DB2936E0}"/>
                  </a:ext>
                </a:extLst>
              </p:cNvPr>
              <p:cNvCxnSpPr/>
              <p:nvPr/>
            </p:nvCxnSpPr>
            <p:spPr>
              <a:xfrm>
                <a:off x="8277958" y="4779718"/>
                <a:ext cx="3048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9171A8B-00B0-50C2-A1B3-D9FC3CCD1D68}"/>
                </a:ext>
              </a:extLst>
            </p:cNvPr>
            <p:cNvSpPr txBox="1"/>
            <p:nvPr/>
          </p:nvSpPr>
          <p:spPr>
            <a:xfrm>
              <a:off x="8733692" y="591622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Introduction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A919F4-CBA7-3D58-BACA-1C6B59B9D057}"/>
                </a:ext>
              </a:extLst>
            </p:cNvPr>
            <p:cNvSpPr txBox="1"/>
            <p:nvPr/>
          </p:nvSpPr>
          <p:spPr>
            <a:xfrm>
              <a:off x="8733692" y="5887522"/>
              <a:ext cx="13067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Discussion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0FAF6E1-3C39-9DC2-E888-AE91A838E08C}"/>
              </a:ext>
            </a:extLst>
          </p:cNvPr>
          <p:cNvGrpSpPr/>
          <p:nvPr/>
        </p:nvGrpSpPr>
        <p:grpSpPr>
          <a:xfrm>
            <a:off x="8044962" y="1354015"/>
            <a:ext cx="2435683" cy="2695966"/>
            <a:chOff x="8044962" y="1354015"/>
            <a:chExt cx="2435683" cy="269596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1B5C628-C516-7D98-3C9E-FE853FB13A80}"/>
                </a:ext>
              </a:extLst>
            </p:cNvPr>
            <p:cNvSpPr/>
            <p:nvPr/>
          </p:nvSpPr>
          <p:spPr>
            <a:xfrm>
              <a:off x="8044962" y="1354015"/>
              <a:ext cx="800100" cy="269596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D0EE8605-6EFA-F571-AD25-FA487D50B87F}"/>
                </a:ext>
              </a:extLst>
            </p:cNvPr>
            <p:cNvSpPr/>
            <p:nvPr/>
          </p:nvSpPr>
          <p:spPr>
            <a:xfrm>
              <a:off x="9105532" y="1354015"/>
              <a:ext cx="254977" cy="2695966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23FC071-E0F2-D3EB-ADAC-8837CBABC12E}"/>
                </a:ext>
              </a:extLst>
            </p:cNvPr>
            <p:cNvSpPr txBox="1"/>
            <p:nvPr/>
          </p:nvSpPr>
          <p:spPr>
            <a:xfrm>
              <a:off x="9447990" y="2378832"/>
              <a:ext cx="10326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Context </a:t>
              </a:r>
              <a:br>
                <a:rPr lang="en-GB" dirty="0"/>
              </a:br>
              <a:r>
                <a:rPr lang="en-GB" dirty="0"/>
                <a:t>window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626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EBB5-CA15-3314-3F9A-46ACAD920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Large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326E7-4DBB-F1D7-522D-F552DFCF3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5049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Convert words to tokens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Estimate embedding value to capture “similarity”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Use embeddings in jacked up autoregressive model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6DB2971-0961-7AA2-CDA7-93304C864AAF}"/>
              </a:ext>
            </a:extLst>
          </p:cNvPr>
          <p:cNvGrpSpPr/>
          <p:nvPr/>
        </p:nvGrpSpPr>
        <p:grpSpPr>
          <a:xfrm>
            <a:off x="204879" y="4497013"/>
            <a:ext cx="11782242" cy="1839306"/>
            <a:chOff x="0" y="4515120"/>
            <a:chExt cx="11782242" cy="183930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0ADFB95-2283-C991-4EE0-14A2D2071A70}"/>
                </a:ext>
              </a:extLst>
            </p:cNvPr>
            <p:cNvGrpSpPr/>
            <p:nvPr/>
          </p:nvGrpSpPr>
          <p:grpSpPr>
            <a:xfrm>
              <a:off x="7162538" y="4515120"/>
              <a:ext cx="4619704" cy="1750495"/>
              <a:chOff x="570069" y="1586359"/>
              <a:chExt cx="10520507" cy="42452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5256F595-5358-29F5-401B-F5D75CF7ABEF}"/>
                      </a:ext>
                    </a:extLst>
                  </p:cNvPr>
                  <p:cNvSpPr/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5256F595-5358-29F5-401B-F5D75CF7ABE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7835F556-EC1F-F829-65FB-E77E32A32D98}"/>
                      </a:ext>
                    </a:extLst>
                  </p:cNvPr>
                  <p:cNvSpPr/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7835F556-EC1F-F829-65FB-E77E32A32D9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857C5FF-1D92-97F8-64D8-D882C13C7F53}"/>
                  </a:ext>
                </a:extLst>
              </p:cNvPr>
              <p:cNvSpPr/>
              <p:nvPr/>
            </p:nvSpPr>
            <p:spPr>
              <a:xfrm>
                <a:off x="4010928" y="3073485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B19226FF-7964-309F-7781-5D817D6042D2}"/>
                      </a:ext>
                    </a:extLst>
                  </p:cNvPr>
                  <p:cNvSpPr/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B19226FF-7964-309F-7781-5D817D6042D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09D797D-E521-B4F4-871F-D909BAC363A5}"/>
                  </a:ext>
                </a:extLst>
              </p:cNvPr>
              <p:cNvGrpSpPr/>
              <p:nvPr/>
            </p:nvGrpSpPr>
            <p:grpSpPr>
              <a:xfrm>
                <a:off x="4180912" y="3192548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7D34E303-56E9-C3F1-F404-CCAF79D773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07207E48-2A03-0815-10BD-EEC1F1DA24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CAC610C2-D6E5-37A6-7ECD-0C2FB96233D5}"/>
                  </a:ext>
                </a:extLst>
              </p:cNvPr>
              <p:cNvCxnSpPr>
                <a:stCxn id="5" idx="3"/>
                <a:endCxn id="7" idx="1"/>
              </p:cNvCxnSpPr>
              <p:nvPr/>
            </p:nvCxnSpPr>
            <p:spPr>
              <a:xfrm>
                <a:off x="1812716" y="2793023"/>
                <a:ext cx="2198212" cy="91643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755D4B4-81E9-DF86-FE00-CD1A23AE432F}"/>
                  </a:ext>
                </a:extLst>
              </p:cNvPr>
              <p:cNvCxnSpPr>
                <a:stCxn id="6" idx="3"/>
                <a:endCxn id="7" idx="1"/>
              </p:cNvCxnSpPr>
              <p:nvPr/>
            </p:nvCxnSpPr>
            <p:spPr>
              <a:xfrm flipV="1">
                <a:off x="1812716" y="3709462"/>
                <a:ext cx="2198212" cy="109351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AD2C559-AD8A-7AD7-5323-7E321B2DBA93}"/>
                  </a:ext>
                </a:extLst>
              </p:cNvPr>
              <p:cNvCxnSpPr>
                <a:cxnSpLocks/>
                <a:stCxn id="15" idx="3"/>
                <a:endCxn id="8" idx="1"/>
              </p:cNvCxnSpPr>
              <p:nvPr/>
            </p:nvCxnSpPr>
            <p:spPr>
              <a:xfrm flipV="1">
                <a:off x="7982801" y="3729910"/>
                <a:ext cx="1865128" cy="76576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ctor: Curved 13">
                <a:extLst>
                  <a:ext uri="{FF2B5EF4-FFF2-40B4-BE49-F238E27FC236}">
                    <a16:creationId xmlns:a16="http://schemas.microsoft.com/office/drawing/2014/main" id="{6A3927BB-5146-7350-8915-D2A9B3FAC38F}"/>
                  </a:ext>
                </a:extLst>
              </p:cNvPr>
              <p:cNvCxnSpPr/>
              <p:nvPr/>
            </p:nvCxnSpPr>
            <p:spPr>
              <a:xfrm flipV="1">
                <a:off x="4180912" y="3240539"/>
                <a:ext cx="902677" cy="784752"/>
              </a:xfrm>
              <a:prstGeom prst="curvedConnector3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EA54B22-221D-682D-897A-DCAECE65EBB4}"/>
                  </a:ext>
                </a:extLst>
              </p:cNvPr>
              <p:cNvSpPr/>
              <p:nvPr/>
            </p:nvSpPr>
            <p:spPr>
              <a:xfrm>
                <a:off x="6740154" y="3859693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5BC2FB9F-D1AE-F8EA-8941-7E37723ADB20}"/>
                  </a:ext>
                </a:extLst>
              </p:cNvPr>
              <p:cNvGrpSpPr/>
              <p:nvPr/>
            </p:nvGrpSpPr>
            <p:grpSpPr>
              <a:xfrm>
                <a:off x="6910138" y="3978756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AEA87D67-D50B-7FCB-6AA5-DA62911CD4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BF62565B-DFFA-4F11-799B-74950407B7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" name="Connector: Curved 17">
                <a:extLst>
                  <a:ext uri="{FF2B5EF4-FFF2-40B4-BE49-F238E27FC236}">
                    <a16:creationId xmlns:a16="http://schemas.microsoft.com/office/drawing/2014/main" id="{1CB11794-5E49-BEA4-77EE-0E164CD2C973}"/>
                  </a:ext>
                </a:extLst>
              </p:cNvPr>
              <p:cNvCxnSpPr/>
              <p:nvPr/>
            </p:nvCxnSpPr>
            <p:spPr>
              <a:xfrm flipV="1">
                <a:off x="6910138" y="4026747"/>
                <a:ext cx="902677" cy="784752"/>
              </a:xfrm>
              <a:prstGeom prst="curvedConnector3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C5560CE5-198B-FF81-7605-5C99A1BC3F3A}"/>
                  </a:ext>
                </a:extLst>
              </p:cNvPr>
              <p:cNvCxnSpPr>
                <a:cxnSpLocks/>
                <a:stCxn id="7" idx="3"/>
                <a:endCxn id="15" idx="1"/>
              </p:cNvCxnSpPr>
              <p:nvPr/>
            </p:nvCxnSpPr>
            <p:spPr>
              <a:xfrm>
                <a:off x="5253575" y="3709462"/>
                <a:ext cx="1486579" cy="78620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F2E3346-7EED-450B-8381-EAD84B4D060D}"/>
                  </a:ext>
                </a:extLst>
              </p:cNvPr>
              <p:cNvSpPr/>
              <p:nvPr/>
            </p:nvSpPr>
            <p:spPr>
              <a:xfrm>
                <a:off x="4010928" y="1586359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8ACF5D5-B7CF-0DA5-13C3-2448C3020272}"/>
                  </a:ext>
                </a:extLst>
              </p:cNvPr>
              <p:cNvGrpSpPr/>
              <p:nvPr/>
            </p:nvGrpSpPr>
            <p:grpSpPr>
              <a:xfrm>
                <a:off x="4180912" y="1705422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598E8456-9FDD-5C0F-08AB-45DD082662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B9C753FA-8C1B-BB40-7C9D-6052437A5F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" name="Connector: Curved 22">
                <a:extLst>
                  <a:ext uri="{FF2B5EF4-FFF2-40B4-BE49-F238E27FC236}">
                    <a16:creationId xmlns:a16="http://schemas.microsoft.com/office/drawing/2014/main" id="{36ECAE39-CD72-8676-7F77-CE77E0FF1675}"/>
                  </a:ext>
                </a:extLst>
              </p:cNvPr>
              <p:cNvCxnSpPr/>
              <p:nvPr/>
            </p:nvCxnSpPr>
            <p:spPr>
              <a:xfrm flipV="1">
                <a:off x="4180912" y="1753413"/>
                <a:ext cx="902677" cy="784752"/>
              </a:xfrm>
              <a:prstGeom prst="curvedConnector3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2275723-A7C7-A6C5-3EC7-E7B5CF867934}"/>
                  </a:ext>
                </a:extLst>
              </p:cNvPr>
              <p:cNvSpPr/>
              <p:nvPr/>
            </p:nvSpPr>
            <p:spPr>
              <a:xfrm>
                <a:off x="6740154" y="2372567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D0013FDC-B446-F6F4-24BC-D4B73CDDA649}"/>
                  </a:ext>
                </a:extLst>
              </p:cNvPr>
              <p:cNvGrpSpPr/>
              <p:nvPr/>
            </p:nvGrpSpPr>
            <p:grpSpPr>
              <a:xfrm>
                <a:off x="6910138" y="2491630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A40522C9-A657-6C49-3283-C4537404F4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7D87E09-A4AB-C3C4-C98D-918D68006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Connector: Curved 26">
                <a:extLst>
                  <a:ext uri="{FF2B5EF4-FFF2-40B4-BE49-F238E27FC236}">
                    <a16:creationId xmlns:a16="http://schemas.microsoft.com/office/drawing/2014/main" id="{9FF9EB35-5359-2E67-91EB-8A30C9BAB0C5}"/>
                  </a:ext>
                </a:extLst>
              </p:cNvPr>
              <p:cNvCxnSpPr/>
              <p:nvPr/>
            </p:nvCxnSpPr>
            <p:spPr>
              <a:xfrm flipV="1">
                <a:off x="6910138" y="2539621"/>
                <a:ext cx="902677" cy="784752"/>
              </a:xfrm>
              <a:prstGeom prst="curvedConnector3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7BFC30A-3BDB-C1D4-26AD-9CF9DDC9A6DD}"/>
                  </a:ext>
                </a:extLst>
              </p:cNvPr>
              <p:cNvCxnSpPr>
                <a:cxnSpLocks/>
                <a:stCxn id="20" idx="3"/>
                <a:endCxn id="24" idx="1"/>
              </p:cNvCxnSpPr>
              <p:nvPr/>
            </p:nvCxnSpPr>
            <p:spPr>
              <a:xfrm>
                <a:off x="5253575" y="2222336"/>
                <a:ext cx="1486579" cy="78620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5F9AA96-8A6A-3EEA-19A2-FF15FFBC813E}"/>
                  </a:ext>
                </a:extLst>
              </p:cNvPr>
              <p:cNvSpPr/>
              <p:nvPr/>
            </p:nvSpPr>
            <p:spPr>
              <a:xfrm>
                <a:off x="4010928" y="4559652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753B0D6-4319-48FE-BE5A-AC6337A66298}"/>
                  </a:ext>
                </a:extLst>
              </p:cNvPr>
              <p:cNvGrpSpPr/>
              <p:nvPr/>
            </p:nvGrpSpPr>
            <p:grpSpPr>
              <a:xfrm>
                <a:off x="4180912" y="4678715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D22731E6-B440-31CE-F3BB-4B42717B42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7D7112DE-BC0D-1D1D-B63B-F10BAEDCB9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nector: Curved 31">
                <a:extLst>
                  <a:ext uri="{FF2B5EF4-FFF2-40B4-BE49-F238E27FC236}">
                    <a16:creationId xmlns:a16="http://schemas.microsoft.com/office/drawing/2014/main" id="{B0139C21-C5E7-3191-39BC-07FFC931EF47}"/>
                  </a:ext>
                </a:extLst>
              </p:cNvPr>
              <p:cNvCxnSpPr/>
              <p:nvPr/>
            </p:nvCxnSpPr>
            <p:spPr>
              <a:xfrm flipV="1">
                <a:off x="4180912" y="4726706"/>
                <a:ext cx="902677" cy="784752"/>
              </a:xfrm>
              <a:prstGeom prst="curvedConnector3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C4CD840-303F-3D15-1ED4-96DF9C919F94}"/>
                  </a:ext>
                </a:extLst>
              </p:cNvPr>
              <p:cNvCxnSpPr>
                <a:cxnSpLocks/>
                <a:stCxn id="5" idx="3"/>
                <a:endCxn id="20" idx="1"/>
              </p:cNvCxnSpPr>
              <p:nvPr/>
            </p:nvCxnSpPr>
            <p:spPr>
              <a:xfrm flipV="1">
                <a:off x="1812716" y="2222336"/>
                <a:ext cx="2198212" cy="5706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50FF9D2D-5046-B90D-FF2A-07100A2C49D7}"/>
                  </a:ext>
                </a:extLst>
              </p:cNvPr>
              <p:cNvCxnSpPr>
                <a:cxnSpLocks/>
                <a:stCxn id="6" idx="3"/>
                <a:endCxn id="29" idx="1"/>
              </p:cNvCxnSpPr>
              <p:nvPr/>
            </p:nvCxnSpPr>
            <p:spPr>
              <a:xfrm>
                <a:off x="1812716" y="4802981"/>
                <a:ext cx="2198212" cy="39264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2A5EF555-027C-3C93-61D7-A7358E640927}"/>
                  </a:ext>
                </a:extLst>
              </p:cNvPr>
              <p:cNvCxnSpPr>
                <a:cxnSpLocks/>
                <a:stCxn id="6" idx="3"/>
                <a:endCxn id="20" idx="1"/>
              </p:cNvCxnSpPr>
              <p:nvPr/>
            </p:nvCxnSpPr>
            <p:spPr>
              <a:xfrm flipV="1">
                <a:off x="1812716" y="2222336"/>
                <a:ext cx="2198212" cy="258064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715D2C69-FC8A-7E3E-732D-57AB26CF1063}"/>
                  </a:ext>
                </a:extLst>
              </p:cNvPr>
              <p:cNvCxnSpPr>
                <a:cxnSpLocks/>
                <a:stCxn id="5" idx="3"/>
                <a:endCxn id="29" idx="1"/>
              </p:cNvCxnSpPr>
              <p:nvPr/>
            </p:nvCxnSpPr>
            <p:spPr>
              <a:xfrm>
                <a:off x="1812716" y="2793023"/>
                <a:ext cx="2198212" cy="240260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C28DE5F4-345A-4510-EBFC-07D2D49D24E1}"/>
                  </a:ext>
                </a:extLst>
              </p:cNvPr>
              <p:cNvCxnSpPr>
                <a:cxnSpLocks/>
                <a:stCxn id="29" idx="3"/>
                <a:endCxn id="15" idx="1"/>
              </p:cNvCxnSpPr>
              <p:nvPr/>
            </p:nvCxnSpPr>
            <p:spPr>
              <a:xfrm flipV="1">
                <a:off x="5253575" y="4495670"/>
                <a:ext cx="1486579" cy="69995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A00B83D2-5FD4-12FB-928F-C7A854336B51}"/>
                  </a:ext>
                </a:extLst>
              </p:cNvPr>
              <p:cNvCxnSpPr>
                <a:cxnSpLocks/>
                <a:stCxn id="29" idx="3"/>
                <a:endCxn id="24" idx="1"/>
              </p:cNvCxnSpPr>
              <p:nvPr/>
            </p:nvCxnSpPr>
            <p:spPr>
              <a:xfrm flipV="1">
                <a:off x="5253575" y="3008544"/>
                <a:ext cx="1486579" cy="218708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70E06F3F-BD45-45A0-27A5-F3A772A9ECE0}"/>
                  </a:ext>
                </a:extLst>
              </p:cNvPr>
              <p:cNvCxnSpPr>
                <a:cxnSpLocks/>
                <a:stCxn id="20" idx="3"/>
                <a:endCxn id="15" idx="1"/>
              </p:cNvCxnSpPr>
              <p:nvPr/>
            </p:nvCxnSpPr>
            <p:spPr>
              <a:xfrm>
                <a:off x="5253575" y="2222336"/>
                <a:ext cx="1486579" cy="227333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498D64A9-14BE-2D22-42F2-382F9FEADB02}"/>
                  </a:ext>
                </a:extLst>
              </p:cNvPr>
              <p:cNvCxnSpPr>
                <a:cxnSpLocks/>
                <a:stCxn id="7" idx="3"/>
                <a:endCxn id="24" idx="1"/>
              </p:cNvCxnSpPr>
              <p:nvPr/>
            </p:nvCxnSpPr>
            <p:spPr>
              <a:xfrm flipV="1">
                <a:off x="5253575" y="3008544"/>
                <a:ext cx="1486579" cy="70091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A05C0C93-403D-7463-A19C-315618A94C29}"/>
                  </a:ext>
                </a:extLst>
              </p:cNvPr>
              <p:cNvCxnSpPr>
                <a:cxnSpLocks/>
                <a:stCxn id="24" idx="3"/>
                <a:endCxn id="8" idx="1"/>
              </p:cNvCxnSpPr>
              <p:nvPr/>
            </p:nvCxnSpPr>
            <p:spPr>
              <a:xfrm>
                <a:off x="7982801" y="3008544"/>
                <a:ext cx="1865128" cy="7213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2" name="Picture 51" descr="A group of red dots with white text&#10;&#10;AI-generated content may be incorrect.">
              <a:extLst>
                <a:ext uri="{FF2B5EF4-FFF2-40B4-BE49-F238E27FC236}">
                  <a16:creationId xmlns:a16="http://schemas.microsoft.com/office/drawing/2014/main" id="{12AB24BB-23DC-CF23-2802-588877648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8533" y="4584003"/>
              <a:ext cx="2484261" cy="1770423"/>
            </a:xfrm>
            <a:prstGeom prst="rect">
              <a:avLst/>
            </a:prstGeom>
          </p:spPr>
        </p:pic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31E46D9-C681-80AD-D842-99EA6B5C93BF}"/>
                </a:ext>
              </a:extLst>
            </p:cNvPr>
            <p:cNvCxnSpPr>
              <a:cxnSpLocks/>
            </p:cNvCxnSpPr>
            <p:nvPr/>
          </p:nvCxnSpPr>
          <p:spPr>
            <a:xfrm>
              <a:off x="5756017" y="545251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479DE86-BE8E-0948-FED9-7A28577B9A4D}"/>
                </a:ext>
              </a:extLst>
            </p:cNvPr>
            <p:cNvSpPr txBox="1"/>
            <p:nvPr/>
          </p:nvSpPr>
          <p:spPr>
            <a:xfrm>
              <a:off x="0" y="4990846"/>
              <a:ext cx="2117729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“The”, “ se”, “ag”, “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ull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”, “ was”, “ seen”, </a:t>
              </a:r>
              <a:endParaRPr lang="en-GB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955D95A-BEA4-784D-CD01-3B61DA61AB98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81" y="543727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18827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0EF7F-4F82-5C23-E680-48607CA67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LLMs can’t do and why</a:t>
            </a:r>
          </a:p>
        </p:txBody>
      </p:sp>
    </p:spTree>
    <p:extLst>
      <p:ext uri="{BB962C8B-B14F-4D97-AF65-F5344CB8AC3E}">
        <p14:creationId xmlns:p14="http://schemas.microsoft.com/office/powerpoint/2010/main" val="350500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13F14-5908-9E94-5687-FDC391D1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F96B-6E5D-4972-76A0-717D1293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87" y="365125"/>
            <a:ext cx="11129513" cy="1325563"/>
          </a:xfrm>
        </p:spPr>
        <p:txBody>
          <a:bodyPr/>
          <a:lstStyle/>
          <a:p>
            <a:r>
              <a:rPr lang="en-GB" dirty="0"/>
              <a:t>Output are predictions</a:t>
            </a:r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9903A2FC-C426-CCBE-83B3-85FE53705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925" y="1571492"/>
            <a:ext cx="5578475" cy="4929920"/>
          </a:xfrm>
        </p:spPr>
        <p:txBody>
          <a:bodyPr>
            <a:normAutofit fontScale="92500"/>
          </a:bodyPr>
          <a:lstStyle/>
          <a:p>
            <a:r>
              <a:rPr lang="en-GB" dirty="0"/>
              <a:t>You created “prompts” during BI3010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fake &lt;-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eggs = 0:10)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predict(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owl_model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newdata = fake)</a:t>
            </a:r>
          </a:p>
          <a:p>
            <a:r>
              <a:rPr lang="en-GB" dirty="0"/>
              <a:t>Predictions represent the most average string of tokens for your given prompt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/>
              <a:t>Predictions are </a:t>
            </a:r>
            <a:r>
              <a:rPr lang="en-GB" b="1" dirty="0">
                <a:solidFill>
                  <a:srgbClr val="FFFF00"/>
                </a:solidFill>
              </a:rPr>
              <a:t>comparatively</a:t>
            </a:r>
            <a:r>
              <a:rPr lang="en-GB" dirty="0"/>
              <a:t> energy efficient. Fitting models are massively more energy expensive.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050" name="Picture 2" descr="Nostradamus - Wikipedia">
            <a:extLst>
              <a:ext uri="{FF2B5EF4-FFF2-40B4-BE49-F238E27FC236}">
                <a16:creationId xmlns:a16="http://schemas.microsoft.com/office/drawing/2014/main" id="{A702E2FC-EB4D-E481-BB0C-FD04160E1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525" y="0"/>
            <a:ext cx="55784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699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5296-5CC4-6989-ADAA-B6E6C0FA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 LLMs hallucinate?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2E67E-46F9-A8CB-A9EB-9722BCFFA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215849" cy="4929187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Hallucinations are when LLMs apparently “make up” information</a:t>
            </a:r>
          </a:p>
          <a:p>
            <a:r>
              <a:rPr lang="en-GB" dirty="0"/>
              <a:t>LLMs predict the most </a:t>
            </a:r>
            <a:r>
              <a:rPr lang="en-GB" i="1" dirty="0"/>
              <a:t>average</a:t>
            </a:r>
            <a:r>
              <a:rPr lang="en-GB" dirty="0"/>
              <a:t> sentence</a:t>
            </a:r>
          </a:p>
          <a:p>
            <a:r>
              <a:rPr lang="en-GB" dirty="0"/>
              <a:t>There is no way for it to know if prediction is sensible or not. </a:t>
            </a:r>
          </a:p>
          <a:p>
            <a:pPr lvl="1"/>
            <a:r>
              <a:rPr lang="en-GB" dirty="0"/>
              <a:t>It’s the </a:t>
            </a:r>
            <a:r>
              <a:rPr lang="en-GB" i="1" dirty="0"/>
              <a:t>most average series of tokens</a:t>
            </a:r>
            <a:endParaRPr lang="en-GB" dirty="0"/>
          </a:p>
          <a:p>
            <a:pPr lvl="1"/>
            <a:r>
              <a:rPr lang="en-GB" dirty="0"/>
              <a:t>The model has no ground truth</a:t>
            </a:r>
          </a:p>
          <a:p>
            <a:r>
              <a:rPr lang="en-GB" dirty="0"/>
              <a:t>Becomes increasingly common when conversations are of rare topics</a:t>
            </a:r>
          </a:p>
          <a:p>
            <a:pPr lvl="1"/>
            <a:r>
              <a:rPr lang="en-GB" dirty="0"/>
              <a:t>In “low-frequency regions”</a:t>
            </a:r>
          </a:p>
          <a:p>
            <a:r>
              <a:rPr lang="en-GB" dirty="0"/>
              <a:t>This is how references get made up</a:t>
            </a:r>
          </a:p>
          <a:p>
            <a:r>
              <a:rPr lang="en-GB" dirty="0"/>
              <a:t>Lowering “temperature” in some LLMs reduces hallucination risk</a:t>
            </a:r>
          </a:p>
          <a:p>
            <a:r>
              <a:rPr lang="en-GB" dirty="0"/>
              <a:t>They are not LLMs being “creative”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91C1BF-8E17-1CC8-99E0-B84919A712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8"/>
          <a:stretch>
            <a:fillRect/>
          </a:stretch>
        </p:blipFill>
        <p:spPr>
          <a:xfrm>
            <a:off x="7892249" y="698006"/>
            <a:ext cx="4299751" cy="615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820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8E99-8A70-4003-7D72-369DE32B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“Prompt engineering”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E4F3D-367E-2E25-7B7D-96C5887BE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5773615" cy="489267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The less information rich your prompt, the less quality data the model has to predict from</a:t>
            </a:r>
          </a:p>
          <a:p>
            <a:pPr lvl="1"/>
            <a:r>
              <a:rPr lang="en-GB" dirty="0"/>
              <a:t>Predictions become increasingly “average” and extremely generic</a:t>
            </a:r>
          </a:p>
          <a:p>
            <a:r>
              <a:rPr lang="en-GB" dirty="0"/>
              <a:t>Richer context in your prompt usually helps, but it also depends on whether your prompt matches patterns the model has seen</a:t>
            </a:r>
          </a:p>
          <a:p>
            <a:pPr lvl="1"/>
            <a:r>
              <a:rPr lang="en-GB" dirty="0"/>
              <a:t>Aim to guide the model towards the patterns it has likely seen before</a:t>
            </a:r>
          </a:p>
          <a:p>
            <a:r>
              <a:rPr lang="en-GB" dirty="0"/>
              <a:t>Can’t interpret what you’ve asked – just predicts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6E44395-1C22-90BE-1C20-32A0A0C9BE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486"/>
          <a:stretch>
            <a:fillRect/>
          </a:stretch>
        </p:blipFill>
        <p:spPr>
          <a:xfrm>
            <a:off x="6611815" y="276386"/>
            <a:ext cx="5580185" cy="630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77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9B82E-A09A-EA25-C048-8D68FD51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BF84-1046-F309-3E25-D78CC739A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Crap data, crap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25B45-EABB-C9BC-6D3C-F092EC852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090138" cy="488212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Early versions of LLMs performed poorly mostly (or at least in part) because their data was low quality</a:t>
            </a:r>
          </a:p>
          <a:p>
            <a:pPr lvl="1"/>
            <a:r>
              <a:rPr lang="en-GB" dirty="0"/>
              <a:t>Companies just scraped text from the web</a:t>
            </a:r>
          </a:p>
          <a:p>
            <a:pPr lvl="1"/>
            <a:r>
              <a:rPr lang="en-GB" dirty="0"/>
              <a:t>Assumption of validity and assumption of representativeness</a:t>
            </a:r>
          </a:p>
          <a:p>
            <a:r>
              <a:rPr lang="en-GB" dirty="0"/>
              <a:t>Some of the “big” advancements have really been about improving the underlying data quality, not the modelling</a:t>
            </a:r>
          </a:p>
          <a:p>
            <a:pPr lvl="1"/>
            <a:r>
              <a:rPr lang="en-GB" dirty="0"/>
              <a:t>E.g. employing PhDs to write questions and answers for topics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C909DA94-9BF9-5D28-1FBA-5045416BF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950" y="114300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265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5677-1294-4B78-CAD9-32FAE8AC7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30F1-0264-C5FB-00E0-DB5FF134E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En-suite bathrooms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0043A-AAC1-2B5E-A222-23B9C6649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80754"/>
            <a:ext cx="10515600" cy="301880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Why are LLMs bad at maths? Why do they suck at chess?</a:t>
            </a:r>
          </a:p>
          <a:p>
            <a:pPr lvl="1"/>
            <a:r>
              <a:rPr lang="en-GB" dirty="0"/>
              <a:t>These are language models. Expecting it to do maths or be a chess grandmaster is wrong.</a:t>
            </a:r>
          </a:p>
          <a:p>
            <a:r>
              <a:rPr lang="en-GB" dirty="0"/>
              <a:t>To get around this, LLMs increasingly used as coordinator of other apps</a:t>
            </a:r>
          </a:p>
          <a:p>
            <a:pPr lvl="1"/>
            <a:r>
              <a:rPr lang="en-GB" dirty="0"/>
              <a:t>Python; Web browsers; Calculators for simple calculations; Diffusion models for image generation; LLMs into subsequent LLMs</a:t>
            </a:r>
          </a:p>
          <a:p>
            <a:r>
              <a:rPr lang="en-GB" dirty="0"/>
              <a:t>A solution that obscures the limitation and implies competence</a:t>
            </a:r>
          </a:p>
          <a:p>
            <a:pPr lvl="1"/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2E8C85-1D53-6CD4-D5B3-79171FFCF047}"/>
              </a:ext>
            </a:extLst>
          </p:cNvPr>
          <p:cNvGrpSpPr/>
          <p:nvPr/>
        </p:nvGrpSpPr>
        <p:grpSpPr>
          <a:xfrm>
            <a:off x="7367417" y="1641751"/>
            <a:ext cx="4619704" cy="1750495"/>
            <a:chOff x="570069" y="1586359"/>
            <a:chExt cx="10520507" cy="4245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A0E336F0-5F85-B67C-2BD6-278F9F222D25}"/>
                    </a:ext>
                  </a:extLst>
                </p:cNvPr>
                <p:cNvSpPr/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A0E336F0-5F85-B67C-2BD6-278F9F222D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blipFill>
                  <a:blip r:embed="rId2"/>
                  <a:stretch>
                    <a:fillRect r="-6522" b="-44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314F435-CA7F-27CB-2F64-3640FD26D140}"/>
                    </a:ext>
                  </a:extLst>
                </p:cNvPr>
                <p:cNvSpPr/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314F435-CA7F-27CB-2F64-3640FD26D1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 r="-6522" b="-44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A1029F8-ACE3-81FE-F8B5-7AFE153C6B33}"/>
                </a:ext>
              </a:extLst>
            </p:cNvPr>
            <p:cNvSpPr/>
            <p:nvPr/>
          </p:nvSpPr>
          <p:spPr>
            <a:xfrm>
              <a:off x="4010928" y="3073485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F68662C-D086-80FB-9899-D4C66C648961}"/>
                    </a:ext>
                  </a:extLst>
                </p:cNvPr>
                <p:cNvSpPr/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F68662C-D086-80FB-9899-D4C66C6489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blipFill>
                  <a:blip r:embed="rId4"/>
                  <a:stretch>
                    <a:fillRect t="-2247" r="-6522" b="-168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A9EF6BC-92BA-D72A-1E65-260077E0D26F}"/>
                </a:ext>
              </a:extLst>
            </p:cNvPr>
            <p:cNvGrpSpPr/>
            <p:nvPr/>
          </p:nvGrpSpPr>
          <p:grpSpPr>
            <a:xfrm>
              <a:off x="4180912" y="3192548"/>
              <a:ext cx="902677" cy="847541"/>
              <a:chOff x="5369169" y="3319463"/>
              <a:chExt cx="902677" cy="847541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528F3556-036F-4EDB-E738-4511CF7022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01D7A8B-CFF1-ED60-C5D9-68D14DAF0A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99747C8-7526-2200-046F-9FA4F62A801F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>
              <a:off x="1812716" y="2793023"/>
              <a:ext cx="2198212" cy="9164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9327173-F4EA-0556-573B-E83E90568959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V="1">
              <a:off x="1812716" y="3709462"/>
              <a:ext cx="2198212" cy="10935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E00D288-63E4-AAF3-3A7B-F795D5312CFE}"/>
                </a:ext>
              </a:extLst>
            </p:cNvPr>
            <p:cNvCxnSpPr>
              <a:cxnSpLocks/>
              <a:stCxn id="19" idx="3"/>
              <a:endCxn id="13" idx="1"/>
            </p:cNvCxnSpPr>
            <p:nvPr/>
          </p:nvCxnSpPr>
          <p:spPr>
            <a:xfrm flipV="1">
              <a:off x="7982801" y="3729910"/>
              <a:ext cx="1865128" cy="7657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5AFF82E9-F8DD-170B-A552-21929DB9CB8D}"/>
                </a:ext>
              </a:extLst>
            </p:cNvPr>
            <p:cNvCxnSpPr/>
            <p:nvPr/>
          </p:nvCxnSpPr>
          <p:spPr>
            <a:xfrm flipV="1">
              <a:off x="4180912" y="3240539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B02D0B7-5772-9034-857E-D6C36E4A0496}"/>
                </a:ext>
              </a:extLst>
            </p:cNvPr>
            <p:cNvSpPr/>
            <p:nvPr/>
          </p:nvSpPr>
          <p:spPr>
            <a:xfrm>
              <a:off x="6740154" y="3859693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608242B-7D13-2497-AF3D-539C3C8D7FCA}"/>
                </a:ext>
              </a:extLst>
            </p:cNvPr>
            <p:cNvGrpSpPr/>
            <p:nvPr/>
          </p:nvGrpSpPr>
          <p:grpSpPr>
            <a:xfrm>
              <a:off x="6910138" y="3978756"/>
              <a:ext cx="902677" cy="847541"/>
              <a:chOff x="5369169" y="3319463"/>
              <a:chExt cx="902677" cy="847541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CBDC4D7-436A-F0B6-EA12-AA2BEB57D7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7B6A4B65-AB08-8871-DDBD-5BB6D38AF5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6A3BFAED-0728-FD68-D1FD-3DFFA04B5499}"/>
                </a:ext>
              </a:extLst>
            </p:cNvPr>
            <p:cNvCxnSpPr/>
            <p:nvPr/>
          </p:nvCxnSpPr>
          <p:spPr>
            <a:xfrm flipV="1">
              <a:off x="6910138" y="4026747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03C3A0E-27E2-ED5E-4D7A-FFF1EABBB230}"/>
                </a:ext>
              </a:extLst>
            </p:cNvPr>
            <p:cNvCxnSpPr>
              <a:cxnSpLocks/>
              <a:stCxn id="12" idx="3"/>
              <a:endCxn id="19" idx="1"/>
            </p:cNvCxnSpPr>
            <p:nvPr/>
          </p:nvCxnSpPr>
          <p:spPr>
            <a:xfrm>
              <a:off x="5253575" y="3709462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AFA0FB5-8156-742E-650C-351E72BD8967}"/>
                </a:ext>
              </a:extLst>
            </p:cNvPr>
            <p:cNvSpPr/>
            <p:nvPr/>
          </p:nvSpPr>
          <p:spPr>
            <a:xfrm>
              <a:off x="4010928" y="1586359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7ADC289-AC6A-CE01-07D3-8EF97337BE4C}"/>
                </a:ext>
              </a:extLst>
            </p:cNvPr>
            <p:cNvGrpSpPr/>
            <p:nvPr/>
          </p:nvGrpSpPr>
          <p:grpSpPr>
            <a:xfrm>
              <a:off x="4180912" y="1705422"/>
              <a:ext cx="902677" cy="847541"/>
              <a:chOff x="5369169" y="3319463"/>
              <a:chExt cx="902677" cy="847541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68521A8-3DF6-AAFD-FFE9-EEA83FDE82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C759C8E6-C918-BF0A-8548-B08D9DE287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1E709745-60B1-2850-B3B2-6EE213C33976}"/>
                </a:ext>
              </a:extLst>
            </p:cNvPr>
            <p:cNvCxnSpPr/>
            <p:nvPr/>
          </p:nvCxnSpPr>
          <p:spPr>
            <a:xfrm flipV="1">
              <a:off x="4180912" y="1753413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9E3AC1A-5EE6-1C5D-C569-49DD315DB303}"/>
                </a:ext>
              </a:extLst>
            </p:cNvPr>
            <p:cNvSpPr/>
            <p:nvPr/>
          </p:nvSpPr>
          <p:spPr>
            <a:xfrm>
              <a:off x="6740154" y="2372567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229F2C8-B90F-D2AC-47AF-235561FC21CA}"/>
                </a:ext>
              </a:extLst>
            </p:cNvPr>
            <p:cNvGrpSpPr/>
            <p:nvPr/>
          </p:nvGrpSpPr>
          <p:grpSpPr>
            <a:xfrm>
              <a:off x="6910138" y="2491630"/>
              <a:ext cx="902677" cy="847541"/>
              <a:chOff x="5369169" y="3319463"/>
              <a:chExt cx="902677" cy="84754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0BFBCA3-2273-E89F-829D-7CFC4B7DDD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B228CE8-DED1-2F7C-8278-5F77E89A7A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CDA78910-1865-88A6-2D09-25EF7D5C1208}"/>
                </a:ext>
              </a:extLst>
            </p:cNvPr>
            <p:cNvCxnSpPr/>
            <p:nvPr/>
          </p:nvCxnSpPr>
          <p:spPr>
            <a:xfrm flipV="1">
              <a:off x="6910138" y="2539621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0983BA6-D037-CE3B-8D17-902420B72ACE}"/>
                </a:ext>
              </a:extLst>
            </p:cNvPr>
            <p:cNvCxnSpPr>
              <a:cxnSpLocks/>
              <a:stCxn id="23" idx="3"/>
              <a:endCxn id="26" idx="1"/>
            </p:cNvCxnSpPr>
            <p:nvPr/>
          </p:nvCxnSpPr>
          <p:spPr>
            <a:xfrm>
              <a:off x="5253575" y="2222336"/>
              <a:ext cx="1486579" cy="786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71B2F0C-B266-4D78-2DDC-562C62DF09F9}"/>
                </a:ext>
              </a:extLst>
            </p:cNvPr>
            <p:cNvSpPr/>
            <p:nvPr/>
          </p:nvSpPr>
          <p:spPr>
            <a:xfrm>
              <a:off x="4010928" y="455965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833237D-090C-AEBA-F958-2D03D59375F4}"/>
                </a:ext>
              </a:extLst>
            </p:cNvPr>
            <p:cNvGrpSpPr/>
            <p:nvPr/>
          </p:nvGrpSpPr>
          <p:grpSpPr>
            <a:xfrm>
              <a:off x="4180912" y="4678715"/>
              <a:ext cx="902677" cy="847541"/>
              <a:chOff x="5369169" y="3319463"/>
              <a:chExt cx="902677" cy="847541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E62581B7-C3CD-4FCB-BDA2-7907B1C19A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D789AF46-68EF-0A64-610A-72EDA4204A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97793212-999D-DDDC-63B4-80FE88C74E2C}"/>
                </a:ext>
              </a:extLst>
            </p:cNvPr>
            <p:cNvCxnSpPr/>
            <p:nvPr/>
          </p:nvCxnSpPr>
          <p:spPr>
            <a:xfrm flipV="1">
              <a:off x="4180912" y="4726706"/>
              <a:ext cx="902677" cy="784752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1FD2AD6-3B5D-6918-7475-384D1DDF90FB}"/>
                </a:ext>
              </a:extLst>
            </p:cNvPr>
            <p:cNvCxnSpPr>
              <a:cxnSpLocks/>
              <a:stCxn id="10" idx="3"/>
              <a:endCxn id="23" idx="1"/>
            </p:cNvCxnSpPr>
            <p:nvPr/>
          </p:nvCxnSpPr>
          <p:spPr>
            <a:xfrm flipV="1">
              <a:off x="1812716" y="2222336"/>
              <a:ext cx="2198212" cy="5706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1B488A3-A241-2B83-E548-57B732C91599}"/>
                </a:ext>
              </a:extLst>
            </p:cNvPr>
            <p:cNvCxnSpPr>
              <a:cxnSpLocks/>
              <a:stCxn id="11" idx="3"/>
              <a:endCxn id="30" idx="1"/>
            </p:cNvCxnSpPr>
            <p:nvPr/>
          </p:nvCxnSpPr>
          <p:spPr>
            <a:xfrm>
              <a:off x="1812716" y="4802981"/>
              <a:ext cx="2198212" cy="3926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66A15B7-E395-FD9A-5B83-DA2EDA38EF77}"/>
                </a:ext>
              </a:extLst>
            </p:cNvPr>
            <p:cNvCxnSpPr>
              <a:cxnSpLocks/>
              <a:stCxn id="11" idx="3"/>
              <a:endCxn id="23" idx="1"/>
            </p:cNvCxnSpPr>
            <p:nvPr/>
          </p:nvCxnSpPr>
          <p:spPr>
            <a:xfrm flipV="1">
              <a:off x="1812716" y="2222336"/>
              <a:ext cx="2198212" cy="25806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AABE81F-38E2-0540-B466-42A4B3957B24}"/>
                </a:ext>
              </a:extLst>
            </p:cNvPr>
            <p:cNvCxnSpPr>
              <a:cxnSpLocks/>
              <a:stCxn id="10" idx="3"/>
              <a:endCxn id="30" idx="1"/>
            </p:cNvCxnSpPr>
            <p:nvPr/>
          </p:nvCxnSpPr>
          <p:spPr>
            <a:xfrm>
              <a:off x="1812716" y="2793023"/>
              <a:ext cx="2198212" cy="24026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37402AB-C97E-36D0-2ACB-A5C505EF071A}"/>
                </a:ext>
              </a:extLst>
            </p:cNvPr>
            <p:cNvCxnSpPr>
              <a:cxnSpLocks/>
              <a:stCxn id="30" idx="3"/>
              <a:endCxn id="19" idx="1"/>
            </p:cNvCxnSpPr>
            <p:nvPr/>
          </p:nvCxnSpPr>
          <p:spPr>
            <a:xfrm flipV="1">
              <a:off x="5253575" y="4495670"/>
              <a:ext cx="1486579" cy="6999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F6A128D-3647-A50E-754A-62E039E463EB}"/>
                </a:ext>
              </a:extLst>
            </p:cNvPr>
            <p:cNvCxnSpPr>
              <a:cxnSpLocks/>
              <a:stCxn id="30" idx="3"/>
              <a:endCxn id="26" idx="1"/>
            </p:cNvCxnSpPr>
            <p:nvPr/>
          </p:nvCxnSpPr>
          <p:spPr>
            <a:xfrm flipV="1">
              <a:off x="5253575" y="3008544"/>
              <a:ext cx="1486579" cy="2187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06E018C-0588-4D03-7ECF-219DAD6CA490}"/>
                </a:ext>
              </a:extLst>
            </p:cNvPr>
            <p:cNvCxnSpPr>
              <a:cxnSpLocks/>
              <a:stCxn id="23" idx="3"/>
              <a:endCxn id="19" idx="1"/>
            </p:cNvCxnSpPr>
            <p:nvPr/>
          </p:nvCxnSpPr>
          <p:spPr>
            <a:xfrm>
              <a:off x="5253575" y="2222336"/>
              <a:ext cx="1486579" cy="2273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B67C3D1-F6E3-D112-EF35-231B3BC17087}"/>
                </a:ext>
              </a:extLst>
            </p:cNvPr>
            <p:cNvCxnSpPr>
              <a:cxnSpLocks/>
              <a:stCxn id="12" idx="3"/>
              <a:endCxn id="26" idx="1"/>
            </p:cNvCxnSpPr>
            <p:nvPr/>
          </p:nvCxnSpPr>
          <p:spPr>
            <a:xfrm flipV="1">
              <a:off x="5253575" y="3008544"/>
              <a:ext cx="1486579" cy="7009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C318D83-1B2F-97BC-ADC1-ACA2967B79F7}"/>
                </a:ext>
              </a:extLst>
            </p:cNvPr>
            <p:cNvCxnSpPr>
              <a:cxnSpLocks/>
              <a:stCxn id="26" idx="3"/>
              <a:endCxn id="13" idx="1"/>
            </p:cNvCxnSpPr>
            <p:nvPr/>
          </p:nvCxnSpPr>
          <p:spPr>
            <a:xfrm>
              <a:off x="7982801" y="3008544"/>
              <a:ext cx="1865128" cy="7213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 descr="A group of red dots with white text&#10;&#10;AI-generated content may be incorrect.">
            <a:extLst>
              <a:ext uri="{FF2B5EF4-FFF2-40B4-BE49-F238E27FC236}">
                <a16:creationId xmlns:a16="http://schemas.microsoft.com/office/drawing/2014/main" id="{E60233F6-C259-7CF5-BD32-ED1DEAB7B9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412" y="1710634"/>
            <a:ext cx="2484261" cy="177042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835763-E0C5-3860-16EF-35B8D072B882}"/>
              </a:ext>
            </a:extLst>
          </p:cNvPr>
          <p:cNvCxnSpPr>
            <a:cxnSpLocks/>
          </p:cNvCxnSpPr>
          <p:nvPr/>
        </p:nvCxnSpPr>
        <p:spPr>
          <a:xfrm>
            <a:off x="5960896" y="2579142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84EC94-2343-5289-2CFD-A535CB582B34}"/>
              </a:ext>
            </a:extLst>
          </p:cNvPr>
          <p:cNvSpPr txBox="1"/>
          <p:nvPr/>
        </p:nvSpPr>
        <p:spPr>
          <a:xfrm>
            <a:off x="204879" y="2117477"/>
            <a:ext cx="21177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“The”, “ se”, “ag”,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“ was”, “ seen”, 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4281B5-BDC7-C384-52DE-8015DBAD3E79}"/>
              </a:ext>
            </a:extLst>
          </p:cNvPr>
          <p:cNvCxnSpPr>
            <a:cxnSpLocks/>
          </p:cNvCxnSpPr>
          <p:nvPr/>
        </p:nvCxnSpPr>
        <p:spPr>
          <a:xfrm>
            <a:off x="2435760" y="2563902"/>
            <a:ext cx="13567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FD6B920-DDD5-3292-6058-1F332F6F55D3}"/>
              </a:ext>
            </a:extLst>
          </p:cNvPr>
          <p:cNvGrpSpPr/>
          <p:nvPr/>
        </p:nvGrpSpPr>
        <p:grpSpPr>
          <a:xfrm>
            <a:off x="10104471" y="100086"/>
            <a:ext cx="1443255" cy="2002184"/>
            <a:chOff x="10104471" y="100086"/>
            <a:chExt cx="1443255" cy="2002184"/>
          </a:xfrm>
          <a:solidFill>
            <a:schemeClr val="tx1"/>
          </a:solidFill>
        </p:grpSpPr>
        <p:pic>
          <p:nvPicPr>
            <p:cNvPr id="54" name="Graphic 53" descr="Cloud Computing with solid fill">
              <a:extLst>
                <a:ext uri="{FF2B5EF4-FFF2-40B4-BE49-F238E27FC236}">
                  <a16:creationId xmlns:a16="http://schemas.microsoft.com/office/drawing/2014/main" id="{4BA06DA3-8EAA-17C3-78E0-957CEEFBFA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04471" y="100086"/>
              <a:ext cx="1376309" cy="1376309"/>
            </a:xfrm>
            <a:prstGeom prst="rect">
              <a:avLst/>
            </a:prstGeom>
          </p:spPr>
        </p:pic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5A30D126-DD7F-F483-0D2D-F669BBF100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81620" y="1424718"/>
              <a:ext cx="385193" cy="677552"/>
            </a:xfrm>
            <a:prstGeom prst="straightConnector1">
              <a:avLst/>
            </a:prstGeom>
            <a:grpFill/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709E4634-8B26-D643-A289-2F02455BA5CC}"/>
                </a:ext>
              </a:extLst>
            </p:cNvPr>
            <p:cNvCxnSpPr>
              <a:cxnSpLocks/>
            </p:cNvCxnSpPr>
            <p:nvPr/>
          </p:nvCxnSpPr>
          <p:spPr>
            <a:xfrm>
              <a:off x="11168117" y="1303699"/>
              <a:ext cx="379609" cy="762385"/>
            </a:xfrm>
            <a:prstGeom prst="straightConnector1">
              <a:avLst/>
            </a:prstGeom>
            <a:grpFill/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8895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DA881-E454-1CBA-0941-2DD1FE033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470400"/>
            <a:ext cx="12192000" cy="2387600"/>
          </a:xfrm>
        </p:spPr>
        <p:txBody>
          <a:bodyPr/>
          <a:lstStyle/>
          <a:p>
            <a:pPr algn="l"/>
            <a:r>
              <a:rPr lang="en-GB" dirty="0"/>
              <a:t>Play that back again Sam</a:t>
            </a:r>
          </a:p>
        </p:txBody>
      </p:sp>
    </p:spTree>
    <p:extLst>
      <p:ext uri="{BB962C8B-B14F-4D97-AF65-F5344CB8AC3E}">
        <p14:creationId xmlns:p14="http://schemas.microsoft.com/office/powerpoint/2010/main" val="69841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A6AEA-45E3-FEE7-9F87-F91D8D984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D2FC-7938-B629-68A3-80BFC1761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566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“AI is sentient”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D9D6D46-EE25-3002-6043-6E50B181A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0443" y="1471231"/>
            <a:ext cx="8891113" cy="500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88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04DE3-F224-E9A0-FAEF-E00E66595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8FEE4-9C07-CB73-80D1-3F4F783A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6525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“AI is dumb because it can’t do maths”</a:t>
            </a:r>
          </a:p>
        </p:txBody>
      </p:sp>
      <p:pic>
        <p:nvPicPr>
          <p:cNvPr id="6" name="Content Placeholder 5" descr="A screenshot of a chat&#10;&#10;AI-generated content may be incorrect.">
            <a:extLst>
              <a:ext uri="{FF2B5EF4-FFF2-40B4-BE49-F238E27FC236}">
                <a16:creationId xmlns:a16="http://schemas.microsoft.com/office/drawing/2014/main" id="{BE056CE8-35ED-7575-F2AA-515A12E975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32"/>
          <a:stretch>
            <a:fillRect/>
          </a:stretch>
        </p:blipFill>
        <p:spPr>
          <a:xfrm>
            <a:off x="2021444" y="1278662"/>
            <a:ext cx="8110108" cy="531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75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13A92-4F7E-8009-CAB7-296497636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5C6A-DFD2-E413-B51C-E86BD5FE2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92" y="10909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“AI is just a parrot”</a:t>
            </a:r>
          </a:p>
        </p:txBody>
      </p:sp>
      <p:pic>
        <p:nvPicPr>
          <p:cNvPr id="7" name="Content Placeholder 6" descr="A screenshot of a keyboard&#10;&#10;AI-generated content may be incorrect.">
            <a:extLst>
              <a:ext uri="{FF2B5EF4-FFF2-40B4-BE49-F238E27FC236}">
                <a16:creationId xmlns:a16="http://schemas.microsoft.com/office/drawing/2014/main" id="{0324A9EF-89F2-0BA2-0E89-B2F4BEA18A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151" y="1434656"/>
            <a:ext cx="8209697" cy="5131061"/>
          </a:xfrm>
        </p:spPr>
      </p:pic>
    </p:spTree>
    <p:extLst>
      <p:ext uri="{BB962C8B-B14F-4D97-AF65-F5344CB8AC3E}">
        <p14:creationId xmlns:p14="http://schemas.microsoft.com/office/powerpoint/2010/main" val="225784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E1094-E92D-847D-AA49-6F0D393CB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96A9D-9695-E758-9F3A-9E186501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“AI is objective and unbiassed” </a:t>
            </a:r>
          </a:p>
        </p:txBody>
      </p:sp>
      <p:pic>
        <p:nvPicPr>
          <p:cNvPr id="7" name="Content Placeholder 6" descr="A person in a hat&#10;&#10;AI-generated content may be incorrect.">
            <a:extLst>
              <a:ext uri="{FF2B5EF4-FFF2-40B4-BE49-F238E27FC236}">
                <a16:creationId xmlns:a16="http://schemas.microsoft.com/office/drawing/2014/main" id="{B1F565BB-8C3A-B32F-BD7E-EA2E0EB40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533" y="1325563"/>
            <a:ext cx="9870934" cy="5182241"/>
          </a:xfrm>
        </p:spPr>
      </p:pic>
      <p:pic>
        <p:nvPicPr>
          <p:cNvPr id="3" name="Content Placeholder 4" descr="A group of books on a shelf&#10;&#10;AI-generated content may be incorrect.">
            <a:extLst>
              <a:ext uri="{FF2B5EF4-FFF2-40B4-BE49-F238E27FC236}">
                <a16:creationId xmlns:a16="http://schemas.microsoft.com/office/drawing/2014/main" id="{009D30D0-AF80-8367-E8FC-BC5B886ED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601" y="1325563"/>
            <a:ext cx="7900797" cy="518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36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B835B-9D0F-CA65-1084-26840648B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1E478-E6CE-9E88-4F3F-5FF38C841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470400"/>
            <a:ext cx="12192000" cy="2387600"/>
          </a:xfrm>
        </p:spPr>
        <p:txBody>
          <a:bodyPr/>
          <a:lstStyle/>
          <a:p>
            <a:pPr algn="l"/>
            <a:r>
              <a:rPr lang="en-GB" dirty="0"/>
              <a:t>Where are things heading?</a:t>
            </a:r>
          </a:p>
        </p:txBody>
      </p:sp>
    </p:spTree>
    <p:extLst>
      <p:ext uri="{BB962C8B-B14F-4D97-AF65-F5344CB8AC3E}">
        <p14:creationId xmlns:p14="http://schemas.microsoft.com/office/powerpoint/2010/main" val="226224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08241-B36F-EEED-9AFD-FDAFE322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Clankers</a:t>
            </a:r>
            <a:r>
              <a:rPr lang="en-GB" dirty="0"/>
              <a:t> took my job!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49535-6FBE-C4EF-87C4-106FAE1AF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the past X years, people have said AI is going to kill all jobs</a:t>
            </a:r>
          </a:p>
          <a:p>
            <a:r>
              <a:rPr lang="en-GB" dirty="0"/>
              <a:t>Data shows decline in employment for young workers in high AI exposed jobs</a:t>
            </a:r>
          </a:p>
          <a:p>
            <a:r>
              <a:rPr lang="en-GB" dirty="0"/>
              <a:t>But the evidence is weak, half a decade later</a:t>
            </a:r>
          </a:p>
          <a:p>
            <a:pPr lvl="1"/>
            <a:r>
              <a:rPr lang="en-GB" dirty="0"/>
              <a:t>“Most AI exposure” jobs have been in decline since 2004</a:t>
            </a:r>
          </a:p>
          <a:p>
            <a:pPr lvl="1"/>
            <a:r>
              <a:rPr lang="en-GB" dirty="0"/>
              <a:t>Unclear if LLMs are causal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3A837F7-CCD5-DBFC-F9C0-9612A9D2E61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80" t="-28311" r="-533" b="-29023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560B71-7721-591B-10DC-CC457BF7A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294" y="1055138"/>
            <a:ext cx="5863701" cy="485036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60F28B-CB37-D7F2-2575-039C3EFE71EF}"/>
              </a:ext>
            </a:extLst>
          </p:cNvPr>
          <p:cNvSpPr/>
          <p:nvPr/>
        </p:nvSpPr>
        <p:spPr>
          <a:xfrm>
            <a:off x="6764784" y="2109154"/>
            <a:ext cx="4417218" cy="306895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08858A-6E69-C010-70CB-ADE78BAC2332}"/>
              </a:ext>
            </a:extLst>
          </p:cNvPr>
          <p:cNvCxnSpPr>
            <a:cxnSpLocks/>
          </p:cNvCxnSpPr>
          <p:nvPr/>
        </p:nvCxnSpPr>
        <p:spPr>
          <a:xfrm flipV="1">
            <a:off x="6747029" y="2467275"/>
            <a:ext cx="5140171" cy="89494"/>
          </a:xfrm>
          <a:prstGeom prst="line">
            <a:avLst/>
          </a:prstGeom>
          <a:ln>
            <a:solidFill>
              <a:srgbClr val="FFCB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3CCF18-7885-8262-D7AE-C741A1503B03}"/>
              </a:ext>
            </a:extLst>
          </p:cNvPr>
          <p:cNvCxnSpPr>
            <a:cxnSpLocks/>
          </p:cNvCxnSpPr>
          <p:nvPr/>
        </p:nvCxnSpPr>
        <p:spPr>
          <a:xfrm>
            <a:off x="6747029" y="4163627"/>
            <a:ext cx="5140171" cy="603682"/>
          </a:xfrm>
          <a:prstGeom prst="line">
            <a:avLst/>
          </a:prstGeom>
          <a:ln>
            <a:solidFill>
              <a:srgbClr val="94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AF754B-F485-7A76-5DB7-17AF962C9C7C}"/>
              </a:ext>
            </a:extLst>
          </p:cNvPr>
          <p:cNvCxnSpPr>
            <a:cxnSpLocks/>
          </p:cNvCxnSpPr>
          <p:nvPr/>
        </p:nvCxnSpPr>
        <p:spPr>
          <a:xfrm flipV="1">
            <a:off x="6747029" y="4500979"/>
            <a:ext cx="5140171" cy="286684"/>
          </a:xfrm>
          <a:prstGeom prst="line">
            <a:avLst/>
          </a:prstGeom>
          <a:ln>
            <a:solidFill>
              <a:srgbClr val="FF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64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9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57534-EE24-44F6-F9A7-1DA0FBFA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4FD4D1F-AB15-E9BB-DA1E-199825F60107}"/>
              </a:ext>
            </a:extLst>
          </p:cNvPr>
          <p:cNvSpPr/>
          <p:nvPr/>
        </p:nvSpPr>
        <p:spPr>
          <a:xfrm>
            <a:off x="8226576" y="0"/>
            <a:ext cx="4003524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0B6E8-E42C-1D79-352B-C0FC84F5D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439025" cy="1325563"/>
          </a:xfrm>
        </p:spPr>
        <p:txBody>
          <a:bodyPr/>
          <a:lstStyle/>
          <a:p>
            <a:r>
              <a:rPr lang="en-GB" dirty="0"/>
              <a:t>Entry level jobs at risk?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7A12F-D7BD-4176-D7E2-CE31FBF32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25563"/>
            <a:ext cx="7724775" cy="5341244"/>
          </a:xfrm>
        </p:spPr>
        <p:txBody>
          <a:bodyPr>
            <a:normAutofit/>
          </a:bodyPr>
          <a:lstStyle/>
          <a:p>
            <a:r>
              <a:rPr lang="en-GB" dirty="0"/>
              <a:t>Jobs which seem most at risk are entry level jobs</a:t>
            </a:r>
          </a:p>
          <a:p>
            <a:pPr lvl="1"/>
            <a:r>
              <a:rPr lang="en-GB" dirty="0"/>
              <a:t>Fiddly and time consuming work that has traditionally been given to young employees</a:t>
            </a:r>
          </a:p>
          <a:p>
            <a:pPr lvl="1"/>
            <a:r>
              <a:rPr lang="en-GB" dirty="0"/>
              <a:t>Form filling, data entry, literature summaries</a:t>
            </a:r>
          </a:p>
          <a:p>
            <a:r>
              <a:rPr lang="en-GB" dirty="0"/>
              <a:t>LLMs </a:t>
            </a:r>
            <a:r>
              <a:rPr lang="en-GB" b="1" dirty="0">
                <a:solidFill>
                  <a:srgbClr val="FFFF00"/>
                </a:solidFill>
              </a:rPr>
              <a:t>may</a:t>
            </a:r>
            <a:r>
              <a:rPr lang="en-GB" dirty="0"/>
              <a:t> represent a threat to job pipelines</a:t>
            </a:r>
          </a:p>
          <a:p>
            <a:pPr lvl="1"/>
            <a:r>
              <a:rPr lang="en-GB" dirty="0"/>
              <a:t>Chopping out “apprenticeship” stage jobs</a:t>
            </a:r>
          </a:p>
          <a:p>
            <a:pPr lvl="1"/>
            <a:r>
              <a:rPr lang="en-GB" dirty="0"/>
              <a:t>Threat to entire careers seems less justified</a:t>
            </a:r>
          </a:p>
          <a:p>
            <a:pPr lvl="1"/>
            <a:r>
              <a:rPr lang="en-GB" dirty="0"/>
              <a:t>Harder for young people to get on board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3AD05E-BB70-8B69-F5E8-2A10D3263D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8226576" y="0"/>
            <a:ext cx="3965423" cy="36255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56D4C9-9523-3AAF-79C2-A023ADE72F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09"/>
          <a:stretch>
            <a:fillRect/>
          </a:stretch>
        </p:blipFill>
        <p:spPr>
          <a:xfrm>
            <a:off x="8302777" y="3310369"/>
            <a:ext cx="3965423" cy="356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721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7CAD-96F7-564C-DDE8-F9E386DDB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B38F7-BB9F-6ED9-77C8-E7897B265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Be very cautious and sceptical about over (and under) hyping</a:t>
            </a:r>
          </a:p>
          <a:p>
            <a:r>
              <a:rPr lang="en-GB" dirty="0"/>
              <a:t>“Artificial General Intelligence”</a:t>
            </a:r>
          </a:p>
          <a:p>
            <a:pPr lvl="1"/>
            <a:r>
              <a:rPr lang="en-GB" dirty="0"/>
              <a:t>Now harder, better, faster, stronger!</a:t>
            </a:r>
          </a:p>
          <a:p>
            <a:r>
              <a:rPr lang="en-GB" dirty="0"/>
              <a:t>A study showed “AI blackmailed CEOs” to prevent “itself” from being shut down</a:t>
            </a:r>
          </a:p>
          <a:p>
            <a:pPr lvl="1"/>
            <a:r>
              <a:rPr lang="en-GB" dirty="0"/>
              <a:t>Study was by Anthropic</a:t>
            </a:r>
          </a:p>
          <a:p>
            <a:pPr lvl="1"/>
            <a:r>
              <a:rPr lang="en-GB" dirty="0"/>
              <a:t>Coincided with release of their new model</a:t>
            </a:r>
          </a:p>
          <a:p>
            <a:pPr lvl="1"/>
            <a:r>
              <a:rPr lang="en-GB" dirty="0"/>
              <a:t>Experimental design was weak (forced choice)</a:t>
            </a:r>
          </a:p>
          <a:p>
            <a:r>
              <a:rPr lang="en-GB" dirty="0"/>
              <a:t>Most hype/marketing/misinformation is done by social media and podcasts</a:t>
            </a:r>
          </a:p>
          <a:p>
            <a:endParaRPr lang="en-GB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24FF890-3376-83EC-C87F-ECB09D18E25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44" r="51914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4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09A8-98ED-AAEC-6E2A-A4B124807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LLM and stats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F1B0F-13B9-DB2D-972F-64E17194A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With simple prompts, LLMs suggest analysis that is correct </a:t>
            </a:r>
            <a:r>
              <a:rPr lang="en-GB" b="1" dirty="0">
                <a:solidFill>
                  <a:srgbClr val="FFFF00"/>
                </a:solidFill>
              </a:rPr>
              <a:t>only</a:t>
            </a:r>
            <a:r>
              <a:rPr lang="en-GB" dirty="0"/>
              <a:t> </a:t>
            </a:r>
            <a:r>
              <a:rPr lang="en-GB" b="1" dirty="0">
                <a:solidFill>
                  <a:srgbClr val="FFFF00"/>
                </a:solidFill>
              </a:rPr>
              <a:t>40%</a:t>
            </a:r>
            <a:r>
              <a:rPr lang="en-GB" dirty="0"/>
              <a:t> of the time</a:t>
            </a:r>
          </a:p>
          <a:p>
            <a:pPr lvl="1"/>
            <a:r>
              <a:rPr lang="en-GB" dirty="0"/>
              <a:t>I wouldn’t have a job if I was wrong more than half the time</a:t>
            </a:r>
          </a:p>
          <a:p>
            <a:r>
              <a:rPr lang="en-GB" dirty="0"/>
              <a:t>To get it to 100%, you need to convey the nuances of the data</a:t>
            </a:r>
          </a:p>
          <a:p>
            <a:pPr lvl="1"/>
            <a:r>
              <a:rPr lang="en-GB" dirty="0"/>
              <a:t>For that, you need to understand theory</a:t>
            </a:r>
          </a:p>
          <a:p>
            <a:r>
              <a:rPr lang="en-GB" dirty="0"/>
              <a:t>Speak to a stats expert to confirm your approach if you use an LLM to design your analysis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03BD943-F67A-06C8-37DA-71FCA0DDAEE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-131" t="-1" r="-1" b="-93150"/>
          <a:stretch>
            <a:fillRect/>
          </a:stretch>
        </p:blipFill>
        <p:spPr>
          <a:xfrm>
            <a:off x="6359525" y="2545348"/>
            <a:ext cx="5832475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99D037-B958-99B3-867D-E0FE9C9EC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525" y="653938"/>
            <a:ext cx="5832475" cy="189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39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8ABDA-99D5-F26F-38A0-E2D876DD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remember about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9872C-16F7-8ABB-A0BD-B9836C488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LLMs are statistical models of language, not intelligent beings</a:t>
            </a:r>
          </a:p>
          <a:p>
            <a:r>
              <a:rPr lang="en-GB" dirty="0"/>
              <a:t>They predict the most likely next token, not “truth”</a:t>
            </a:r>
          </a:p>
          <a:p>
            <a:r>
              <a:rPr lang="en-GB" dirty="0"/>
              <a:t>Their strength lies in scale and pattern recognition, not reasoning</a:t>
            </a:r>
          </a:p>
          <a:p>
            <a:r>
              <a:rPr lang="en-GB" dirty="0"/>
              <a:t>Great for: summarising, routine writing and coding</a:t>
            </a:r>
          </a:p>
          <a:p>
            <a:r>
              <a:rPr lang="en-GB" dirty="0"/>
              <a:t>Weak for: complex reasoning, novel ideas, statistics, facts</a:t>
            </a:r>
          </a:p>
          <a:p>
            <a:r>
              <a:rPr lang="en-GB" dirty="0"/>
              <a:t>Treat outputs the same as you would as those from a GLM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LLMs are insanely impressive tools. But they are not sentient minds and are not a substitute for expertise. </a:t>
            </a:r>
          </a:p>
        </p:txBody>
      </p:sp>
    </p:spTree>
    <p:extLst>
      <p:ext uri="{BB962C8B-B14F-4D97-AF65-F5344CB8AC3E}">
        <p14:creationId xmlns:p14="http://schemas.microsoft.com/office/powerpoint/2010/main" val="179969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dark_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dark_theme</Template>
  <TotalTime>6914</TotalTime>
  <Words>2083</Words>
  <Application>Microsoft Office PowerPoint</Application>
  <PresentationFormat>Widescreen</PresentationFormat>
  <Paragraphs>271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Aptos</vt:lpstr>
      <vt:lpstr>Arial</vt:lpstr>
      <vt:lpstr>Bahnschrift Light</vt:lpstr>
      <vt:lpstr>Cambria Math</vt:lpstr>
      <vt:lpstr>Courier New</vt:lpstr>
      <vt:lpstr>Garamond</vt:lpstr>
      <vt:lpstr>dark_theme</vt:lpstr>
      <vt:lpstr>What is “AI”?</vt:lpstr>
      <vt:lpstr>Disclaimer</vt:lpstr>
      <vt:lpstr>What’s the difference?</vt:lpstr>
      <vt:lpstr>PowerPoint Presentation</vt:lpstr>
      <vt:lpstr>Artificial Intelligence</vt:lpstr>
      <vt:lpstr>Vagueness breeds misunderstanding</vt:lpstr>
      <vt:lpstr>“AI is sentient”</vt:lpstr>
      <vt:lpstr>“AI is dumb because it can’t do maths”</vt:lpstr>
      <vt:lpstr>“It’s gonna take your jobs”</vt:lpstr>
      <vt:lpstr>“AI is just a parrot”</vt:lpstr>
      <vt:lpstr>“AI is objective and unbiassed” </vt:lpstr>
      <vt:lpstr>So what is a large language model?</vt:lpstr>
      <vt:lpstr>Tokenisation</vt:lpstr>
      <vt:lpstr>Embedding</vt:lpstr>
      <vt:lpstr>A brief aside on Neural Networks</vt:lpstr>
      <vt:lpstr>Neural networks</vt:lpstr>
      <vt:lpstr>Neural networks</vt:lpstr>
      <vt:lpstr>Linear model as a neural network</vt:lpstr>
      <vt:lpstr>GLMs as a neural network</vt:lpstr>
      <vt:lpstr>Neural networks tend to have multiple layers</vt:lpstr>
      <vt:lpstr>And multiple neurons</vt:lpstr>
      <vt:lpstr>NN can be fit in R</vt:lpstr>
      <vt:lpstr>Neural Networks in LLMs</vt:lpstr>
      <vt:lpstr>Transformers</vt:lpstr>
      <vt:lpstr>Here’s how transformers kind of work</vt:lpstr>
      <vt:lpstr>Context window</vt:lpstr>
      <vt:lpstr>Large Language Models</vt:lpstr>
      <vt:lpstr>What LLMs can’t do and why</vt:lpstr>
      <vt:lpstr>Output are predictions</vt:lpstr>
      <vt:lpstr>Why do LLMs hallucinate?</vt:lpstr>
      <vt:lpstr>“Prompt engineering”</vt:lpstr>
      <vt:lpstr>Crap data, crap model</vt:lpstr>
      <vt:lpstr>En-suite bathrooms</vt:lpstr>
      <vt:lpstr>Play that back again Sam</vt:lpstr>
      <vt:lpstr>“AI is sentient”</vt:lpstr>
      <vt:lpstr>“AI is dumb because it can’t do maths”</vt:lpstr>
      <vt:lpstr>“AI is just a parrot”</vt:lpstr>
      <vt:lpstr>“AI is objective and unbiassed” </vt:lpstr>
      <vt:lpstr>Where are things heading?</vt:lpstr>
      <vt:lpstr>Clankers took my job!</vt:lpstr>
      <vt:lpstr>Entry level jobs at risk?</vt:lpstr>
      <vt:lpstr>Hype</vt:lpstr>
      <vt:lpstr>LLM and stats</vt:lpstr>
      <vt:lpstr>What to remember about LLMs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38</cp:revision>
  <dcterms:created xsi:type="dcterms:W3CDTF">2025-09-17T13:58:17Z</dcterms:created>
  <dcterms:modified xsi:type="dcterms:W3CDTF">2026-05-17T09:55:38Z</dcterms:modified>
</cp:coreProperties>
</file>