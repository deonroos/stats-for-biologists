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308" r:id="rId3"/>
    <p:sldId id="318" r:id="rId4"/>
    <p:sldId id="331" r:id="rId5"/>
    <p:sldId id="309" r:id="rId6"/>
    <p:sldId id="310" r:id="rId7"/>
    <p:sldId id="319" r:id="rId8"/>
    <p:sldId id="330" r:id="rId9"/>
    <p:sldId id="312" r:id="rId10"/>
    <p:sldId id="321" r:id="rId11"/>
    <p:sldId id="323" r:id="rId12"/>
    <p:sldId id="322" r:id="rId13"/>
    <p:sldId id="324" r:id="rId14"/>
    <p:sldId id="326" r:id="rId15"/>
    <p:sldId id="329" r:id="rId16"/>
    <p:sldId id="313" r:id="rId17"/>
    <p:sldId id="327" r:id="rId18"/>
    <p:sldId id="314" r:id="rId19"/>
    <p:sldId id="332" r:id="rId20"/>
    <p:sldId id="328" r:id="rId21"/>
    <p:sldId id="320" r:id="rId22"/>
    <p:sldId id="333" r:id="rId23"/>
    <p:sldId id="334" r:id="rId24"/>
    <p:sldId id="335" r:id="rId25"/>
    <p:sldId id="336" r:id="rId26"/>
    <p:sldId id="337" r:id="rId27"/>
    <p:sldId id="338" r:id="rId28"/>
    <p:sldId id="339" r:id="rId29"/>
    <p:sldId id="342" r:id="rId30"/>
    <p:sldId id="344" r:id="rId31"/>
    <p:sldId id="341" r:id="rId32"/>
    <p:sldId id="345" r:id="rId33"/>
    <p:sldId id="350" r:id="rId34"/>
    <p:sldId id="346" r:id="rId35"/>
    <p:sldId id="340" r:id="rId36"/>
    <p:sldId id="347" r:id="rId37"/>
    <p:sldId id="34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95F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6283" autoAdjust="0"/>
  </p:normalViewPr>
  <p:slideViewPr>
    <p:cSldViewPr snapToGrid="0">
      <p:cViewPr>
        <p:scale>
          <a:sx n="100" d="100"/>
          <a:sy n="100" d="100"/>
        </p:scale>
        <p:origin x="4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01288-9136-467D-9DC0-9664A608621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AD0B0-2BE5-4CCA-8A87-668A11EBE3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27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91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70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60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470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80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23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73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021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82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77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364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4F88-8AA3-F83B-E332-1B67C54BC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37BD-17F5-D5CE-9243-50470C860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B1F86-7278-C9F6-E3C0-C274D9FC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B199A-E121-CBDF-3180-0EAB590AF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D1A4-E347-04C0-0E70-49706B98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3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BFC96-C5AD-4B8C-B2E4-AF6E6CF7ECBA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4499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eonroos.shinyapps.io/Distributions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deonroos.shinyapps.io/Distributions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8D9C-DD53-AF2A-73CA-9B0555072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Null Hypothesis Significance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C4908-BF8B-F6A0-3856-4F1F5F710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Additions to Linear Models</a:t>
            </a:r>
          </a:p>
        </p:txBody>
      </p:sp>
    </p:spTree>
    <p:extLst>
      <p:ext uri="{BB962C8B-B14F-4D97-AF65-F5344CB8AC3E}">
        <p14:creationId xmlns:p14="http://schemas.microsoft.com/office/powerpoint/2010/main" val="9354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66F4-61DB-2206-A799-D1DDD327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65FC6-1568-023E-2E9F-E29AE7DD5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Adelie penguins</a:t>
            </a:r>
          </a:p>
          <a:p>
            <a:r>
              <a:rPr lang="en-GB" dirty="0"/>
              <a:t>Diet varies according to what’s available (krill, </a:t>
            </a:r>
            <a:r>
              <a:rPr lang="en-GB" dirty="0" err="1"/>
              <a:t>laternfish</a:t>
            </a:r>
            <a:r>
              <a:rPr lang="en-GB" dirty="0"/>
              <a:t>, etc)</a:t>
            </a:r>
          </a:p>
          <a:p>
            <a:r>
              <a:rPr lang="en-GB" dirty="0"/>
              <a:t>Data from three islands</a:t>
            </a:r>
          </a:p>
          <a:p>
            <a:pPr lvl="1"/>
            <a:r>
              <a:rPr lang="en-GB" dirty="0"/>
              <a:t>Biscoe, Dream and Torgersen</a:t>
            </a:r>
          </a:p>
          <a:p>
            <a:r>
              <a:rPr lang="en-GB" dirty="0"/>
              <a:t>Does </a:t>
            </a:r>
            <a:r>
              <a:rPr lang="en-GB" dirty="0" err="1"/>
              <a:t>Adélie</a:t>
            </a:r>
            <a:r>
              <a:rPr lang="en-GB" dirty="0"/>
              <a:t> penguin weight differ between the three islands?</a:t>
            </a:r>
          </a:p>
        </p:txBody>
      </p:sp>
      <p:pic>
        <p:nvPicPr>
          <p:cNvPr id="6" name="Picture Placeholder 5" descr="A close up of a penguin&#10;&#10;Description automatically generated">
            <a:extLst>
              <a:ext uri="{FF2B5EF4-FFF2-40B4-BE49-F238E27FC236}">
                <a16:creationId xmlns:a16="http://schemas.microsoft.com/office/drawing/2014/main" id="{4C52760D-41D4-CD89-AA4F-6BA10C432D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/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B2E5D3-2E00-AA1E-E816-3A14181112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91" r="-1"/>
          <a:stretch/>
        </p:blipFill>
        <p:spPr>
          <a:xfrm>
            <a:off x="6359524" y="-1"/>
            <a:ext cx="5832475" cy="687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5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66F4-61DB-2206-A799-D1DDD327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65FC6-1568-023E-2E9F-E29AE7DD5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Does </a:t>
            </a:r>
            <a:r>
              <a:rPr lang="en-GB" dirty="0" err="1"/>
              <a:t>Adélie</a:t>
            </a:r>
            <a:r>
              <a:rPr lang="en-GB" dirty="0"/>
              <a:t> penguin weight differ between the three islands?</a:t>
            </a:r>
          </a:p>
          <a:p>
            <a:r>
              <a:rPr lang="en-GB" dirty="0"/>
              <a:t>Under NHST, we rephrase our question to a hypothesis (or statement) that we attempt to reject</a:t>
            </a:r>
          </a:p>
          <a:p>
            <a:r>
              <a:rPr lang="en-GB" dirty="0"/>
              <a:t>“There is </a:t>
            </a:r>
            <a:r>
              <a:rPr lang="en-GB" b="1" dirty="0">
                <a:solidFill>
                  <a:srgbClr val="FFFF00"/>
                </a:solidFill>
              </a:rPr>
              <a:t>no</a:t>
            </a:r>
            <a:r>
              <a:rPr lang="en-GB" dirty="0"/>
              <a:t> difference in </a:t>
            </a:r>
            <a:r>
              <a:rPr lang="en-GB" dirty="0" err="1"/>
              <a:t>Adélie</a:t>
            </a:r>
            <a:r>
              <a:rPr lang="en-GB" dirty="0"/>
              <a:t> size between the three islands”</a:t>
            </a:r>
          </a:p>
          <a:p>
            <a:r>
              <a:rPr lang="en-GB" dirty="0"/>
              <a:t>We now set out to disprove this</a:t>
            </a:r>
          </a:p>
        </p:txBody>
      </p:sp>
      <p:pic>
        <p:nvPicPr>
          <p:cNvPr id="6" name="Picture Placeholder 5" descr="A close up of a penguin&#10;&#10;Description automatically generated">
            <a:extLst>
              <a:ext uri="{FF2B5EF4-FFF2-40B4-BE49-F238E27FC236}">
                <a16:creationId xmlns:a16="http://schemas.microsoft.com/office/drawing/2014/main" id="{4C52760D-41D4-CD89-AA4F-6BA10C432D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/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B2E5D3-2E00-AA1E-E816-3A14181112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91" r="-1"/>
          <a:stretch/>
        </p:blipFill>
        <p:spPr>
          <a:xfrm>
            <a:off x="6359524" y="-1"/>
            <a:ext cx="5832475" cy="687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1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EA13-FE06-B285-FA0C-362784F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Popperian philosophy</a:t>
            </a:r>
          </a:p>
        </p:txBody>
      </p:sp>
    </p:spTree>
    <p:extLst>
      <p:ext uri="{BB962C8B-B14F-4D97-AF65-F5344CB8AC3E}">
        <p14:creationId xmlns:p14="http://schemas.microsoft.com/office/powerpoint/2010/main" val="88843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E61AD-1DE5-725B-1522-BCB33D83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so negative?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B3B7-CC55-43E6-8F4A-EFDE96A4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NHST closely follows a philosophy of science described by Karl Popper</a:t>
            </a:r>
          </a:p>
          <a:p>
            <a:pPr lvl="1"/>
            <a:r>
              <a:rPr lang="en-GB" dirty="0"/>
              <a:t>Many other scientific philosophies</a:t>
            </a:r>
          </a:p>
          <a:p>
            <a:pPr lvl="1"/>
            <a:r>
              <a:rPr lang="en-GB" dirty="0"/>
              <a:t>(Some are much better)</a:t>
            </a:r>
          </a:p>
          <a:p>
            <a:r>
              <a:rPr lang="en-GB" dirty="0"/>
              <a:t>Popper sought to distinguish between “science” and “pseudo-science”</a:t>
            </a:r>
          </a:p>
          <a:p>
            <a:r>
              <a:rPr lang="en-GB" dirty="0"/>
              <a:t>Crudely, they argued that “science” tries to prove itself wrong, while “pseudo-science” tries to prove itself right</a:t>
            </a:r>
          </a:p>
        </p:txBody>
      </p:sp>
      <p:pic>
        <p:nvPicPr>
          <p:cNvPr id="6" name="Picture Placeholder 5" descr="An old person in a sweater&#10;&#10;Description automatically generated">
            <a:extLst>
              <a:ext uri="{FF2B5EF4-FFF2-40B4-BE49-F238E27FC236}">
                <a16:creationId xmlns:a16="http://schemas.microsoft.com/office/drawing/2014/main" id="{C748632A-F0EB-F6D4-84B0-04BD929967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r="797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445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E61AD-1DE5-725B-1522-BCB33D83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so negative?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B3B7-CC55-43E6-8F4A-EFDE96A4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we cannot prove that we are wrong, then we assume we are right</a:t>
            </a:r>
          </a:p>
          <a:p>
            <a:pPr lvl="1"/>
            <a:r>
              <a:rPr lang="en-GB" dirty="0"/>
              <a:t>Rather than trying to prove that reiki does </a:t>
            </a:r>
            <a:r>
              <a:rPr lang="en-GB" i="1" dirty="0"/>
              <a:t>something</a:t>
            </a:r>
            <a:r>
              <a:rPr lang="en-GB" dirty="0"/>
              <a:t>, we try to show it does </a:t>
            </a:r>
            <a:r>
              <a:rPr lang="en-GB" i="1" dirty="0"/>
              <a:t>nothing</a:t>
            </a:r>
            <a:endParaRPr lang="en-GB" dirty="0"/>
          </a:p>
          <a:p>
            <a:r>
              <a:rPr lang="en-GB" dirty="0"/>
              <a:t>While keeping in mind that new data might come along that could change our mind</a:t>
            </a:r>
          </a:p>
          <a:p>
            <a:r>
              <a:rPr lang="en-GB" dirty="0"/>
              <a:t>When people refer to the “scientific method”, they are generally subscribing to Popper’s philosophy (normally unknowingly)</a:t>
            </a:r>
          </a:p>
        </p:txBody>
      </p:sp>
      <p:pic>
        <p:nvPicPr>
          <p:cNvPr id="6" name="Picture Placeholder 5" descr="A person holding their hands over a person's head&#10;&#10;Description automatically generated">
            <a:extLst>
              <a:ext uri="{FF2B5EF4-FFF2-40B4-BE49-F238E27FC236}">
                <a16:creationId xmlns:a16="http://schemas.microsoft.com/office/drawing/2014/main" id="{A36A2422-E010-2145-72A8-6AE4985346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8" r="2436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8250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5EB2-422E-8273-202C-3C5DAC61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Null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2DED4-73A4-3A8D-43CE-F31AE4678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“Rather than trying to prove that reiki does </a:t>
                </a:r>
                <a:r>
                  <a:rPr lang="en-GB" i="1" dirty="0"/>
                  <a:t>something</a:t>
                </a:r>
                <a:r>
                  <a:rPr lang="en-GB" dirty="0"/>
                  <a:t>, we try to show it does </a:t>
                </a:r>
                <a:r>
                  <a:rPr lang="en-GB" i="1" dirty="0"/>
                  <a:t>nothing</a:t>
                </a:r>
                <a:r>
                  <a:rPr lang="en-GB" dirty="0"/>
                  <a:t>”</a:t>
                </a:r>
              </a:p>
              <a:p>
                <a:r>
                  <a:rPr lang="en-GB" dirty="0"/>
                  <a:t>“Does nothing” is the Null hypothesis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Or “no difference”</a:t>
                </a:r>
              </a:p>
              <a:p>
                <a:r>
                  <a:rPr lang="en-GB" dirty="0"/>
                  <a:t>“Does something” is the Alternative hypothesis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Or “difference”</a:t>
                </a:r>
              </a:p>
              <a:p>
                <a:r>
                  <a:rPr lang="en-GB" dirty="0"/>
                  <a:t>Note: you still use hypotheses even if not using NHST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2DED4-73A4-3A8D-43CE-F31AE4678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4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person holding their hands over a person's head&#10;&#10;Description automatically generated">
            <a:extLst>
              <a:ext uri="{FF2B5EF4-FFF2-40B4-BE49-F238E27FC236}">
                <a16:creationId xmlns:a16="http://schemas.microsoft.com/office/drawing/2014/main" id="{80F31FF9-58B9-2094-E234-26383A2E54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8" r="24368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19412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EA13-FE06-B285-FA0C-362784F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P-values</a:t>
            </a:r>
          </a:p>
        </p:txBody>
      </p:sp>
    </p:spTree>
    <p:extLst>
      <p:ext uri="{BB962C8B-B14F-4D97-AF65-F5344CB8AC3E}">
        <p14:creationId xmlns:p14="http://schemas.microsoft.com/office/powerpoint/2010/main" val="115913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5EB2-422E-8273-202C-3C5DAC61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P-values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2DED4-73A4-3A8D-43CE-F31AE467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Crudely:</a:t>
            </a:r>
          </a:p>
          <a:p>
            <a:pPr lvl="1"/>
            <a:r>
              <a:rPr lang="en-GB" dirty="0"/>
              <a:t>What is the probability that the thing you just observed could have happened just by pure chance?</a:t>
            </a:r>
          </a:p>
          <a:p>
            <a:pPr lvl="1"/>
            <a:r>
              <a:rPr lang="en-GB" dirty="0"/>
              <a:t>I.e. How likely is it that there is “no difference”, given there is variation?</a:t>
            </a:r>
          </a:p>
          <a:p>
            <a:r>
              <a:rPr lang="en-GB" dirty="0"/>
              <a:t>E.g. how likely is it to see a 1.56 m tall Emperor penguin, given the average is 1.1 m?</a:t>
            </a:r>
          </a:p>
        </p:txBody>
      </p:sp>
      <p:pic>
        <p:nvPicPr>
          <p:cNvPr id="6" name="Picture Placeholder 5" descr="A person standing next to a penguin&#10;&#10;Description automatically generated">
            <a:extLst>
              <a:ext uri="{FF2B5EF4-FFF2-40B4-BE49-F238E27FC236}">
                <a16:creationId xmlns:a16="http://schemas.microsoft.com/office/drawing/2014/main" id="{DB3CC2F4-7297-B269-85E2-1EA3B6E6AB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1" r="600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9660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9F4B-775A-E412-6C18-3D3DA5BF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by chance?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D5C1-58B5-F925-9848-96E2BB22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It’s not </a:t>
            </a:r>
            <a:r>
              <a:rPr lang="en-GB" i="1" dirty="0"/>
              <a:t>impossible</a:t>
            </a:r>
            <a:r>
              <a:rPr lang="en-GB" dirty="0"/>
              <a:t> that we would observe a 1.56 m tall penguin</a:t>
            </a:r>
          </a:p>
          <a:p>
            <a:r>
              <a:rPr lang="en-GB" dirty="0"/>
              <a:t>But doesn’t seem very likely</a:t>
            </a:r>
          </a:p>
          <a:p>
            <a:r>
              <a:rPr lang="en-GB" dirty="0"/>
              <a:t>What’s the probability of seeing a very big or very small penguin?</a:t>
            </a:r>
          </a:p>
        </p:txBody>
      </p:sp>
      <p:pic>
        <p:nvPicPr>
          <p:cNvPr id="7" name="Picture Placeholder 6" descr="A graph of a penguin&#10;&#10;Description automatically generated">
            <a:extLst>
              <a:ext uri="{FF2B5EF4-FFF2-40B4-BE49-F238E27FC236}">
                <a16:creationId xmlns:a16="http://schemas.microsoft.com/office/drawing/2014/main" id="{6B6C78C7-DCBB-F3C8-E995-16FA42CE10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6625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9F4B-775A-E412-6C18-3D3DA5BF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by chance?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D5C1-58B5-F925-9848-96E2BB22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green area captures all possible heights we could measure of Emperor penguins</a:t>
            </a:r>
          </a:p>
          <a:p>
            <a:pPr lvl="1"/>
            <a:r>
              <a:rPr lang="en-GB" dirty="0"/>
              <a:t>Given the average height of 1.1 m</a:t>
            </a:r>
          </a:p>
          <a:p>
            <a:pPr lvl="1"/>
            <a:r>
              <a:rPr lang="en-GB" dirty="0"/>
              <a:t>And a standard deviation of 15 cm</a:t>
            </a:r>
          </a:p>
          <a:p>
            <a:r>
              <a:rPr lang="en-GB" dirty="0"/>
              <a:t>Area under the curve includes our 1.56 m tall penguin</a:t>
            </a:r>
          </a:p>
        </p:txBody>
      </p:sp>
      <p:pic>
        <p:nvPicPr>
          <p:cNvPr id="11" name="Picture Placeholder 10" descr="A graph of a penguin&#10;&#10;Description automatically generated">
            <a:extLst>
              <a:ext uri="{FF2B5EF4-FFF2-40B4-BE49-F238E27FC236}">
                <a16:creationId xmlns:a16="http://schemas.microsoft.com/office/drawing/2014/main" id="{BE34A20B-0197-0D9F-9D01-FBC8427F41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904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9F4B-775A-E412-6C18-3D3DA5BF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by chance?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D5C1-58B5-F925-9848-96E2BB22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99.5% of penguins between 0.71 m and 1.56 m tall</a:t>
            </a:r>
          </a:p>
          <a:p>
            <a:pPr lvl="1"/>
            <a:r>
              <a:rPr lang="en-GB" dirty="0"/>
              <a:t>So, a 99.5% probability that if we measured a penguin, they’d be within that range</a:t>
            </a:r>
          </a:p>
          <a:p>
            <a:r>
              <a:rPr lang="en-GB" dirty="0"/>
              <a:t>0.25% of penguins are greater than or equal to 1.56 m tall</a:t>
            </a:r>
          </a:p>
          <a:p>
            <a:pPr lvl="1"/>
            <a:r>
              <a:rPr lang="en-GB" dirty="0"/>
              <a:t>So, a 0.25% probability that each time we measure a penguin, it will be greater than 1.56 cm tall</a:t>
            </a:r>
          </a:p>
        </p:txBody>
      </p:sp>
      <p:pic>
        <p:nvPicPr>
          <p:cNvPr id="11" name="Picture Placeholder 10" descr="A green and white graph&#10;&#10;Description automatically generated">
            <a:extLst>
              <a:ext uri="{FF2B5EF4-FFF2-40B4-BE49-F238E27FC236}">
                <a16:creationId xmlns:a16="http://schemas.microsoft.com/office/drawing/2014/main" id="{CF05F0C6-6ADD-0590-F462-A9516FE738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9311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7451-213B-8E19-36B5-60056C02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possible 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EBEFB-F74D-D753-A2BF-80EFADE47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Either this 1.56 m tall penguin came from the same distribution</a:t>
            </a:r>
          </a:p>
          <a:p>
            <a:pPr lvl="1"/>
            <a:r>
              <a:rPr lang="en-GB" dirty="0"/>
              <a:t>It’s just very rare to see one this big</a:t>
            </a:r>
          </a:p>
          <a:p>
            <a:r>
              <a:rPr lang="en-GB" dirty="0"/>
              <a:t>Or it came from some other unknown distribution (e.g. </a:t>
            </a:r>
            <a:r>
              <a:rPr lang="en-GB" dirty="0">
                <a:solidFill>
                  <a:srgbClr val="D95F02"/>
                </a:solidFill>
              </a:rPr>
              <a:t>orange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E.g. a population with particularly tall penguins</a:t>
            </a:r>
          </a:p>
          <a:p>
            <a:r>
              <a:rPr lang="en-GB" dirty="0"/>
              <a:t>P-values tell us what the probability is that it came from the white distribution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2517485-F907-0B93-4B2D-FE6421F4EE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5" name="Picture 4" descr="A graph of a penguin&#10;&#10;Description automatically generated">
            <a:extLst>
              <a:ext uri="{FF2B5EF4-FFF2-40B4-BE49-F238E27FC236}">
                <a16:creationId xmlns:a16="http://schemas.microsoft.com/office/drawing/2014/main" id="{4A33F4D0-2079-8608-C899-C85A5940C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7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9F4B-775A-E412-6C18-3D3DA5BF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by chance?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9D5C1-58B5-F925-9848-96E2BB2227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471138" cy="5240194"/>
              </a:xfrm>
            </p:spPr>
            <p:txBody>
              <a:bodyPr/>
              <a:lstStyle/>
              <a:p>
                <a:r>
                  <a:rPr lang="en-GB" dirty="0"/>
                  <a:t>The P-value to see an extreme height, like our giant 1.56 m tall penguin, is:</a:t>
                </a:r>
              </a:p>
              <a:p>
                <a:pPr lvl="1"/>
                <a:r>
                  <a:rPr lang="en-GB" dirty="0"/>
                  <a:t>Probability of being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GB" dirty="0"/>
                  <a:t> 1.56 m</a:t>
                </a:r>
              </a:p>
              <a:p>
                <a:pPr lvl="1"/>
                <a:r>
                  <a:rPr lang="en-GB" dirty="0"/>
                  <a:t>Probability of being very small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dirty="0"/>
                  <a:t> 0.71 m)</a:t>
                </a:r>
              </a:p>
              <a:p>
                <a:pPr lvl="2"/>
                <a:r>
                  <a:rPr lang="en-GB" dirty="0"/>
                  <a:t>Included as we want to know extremes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=0.0025+0.0025=0.005=0.5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A “two-sided” or “two-tailed” P-value</a:t>
                </a:r>
              </a:p>
              <a:p>
                <a:r>
                  <a:rPr lang="en-GB" dirty="0"/>
                  <a:t>0.5% chance our 1.56 m penguin came from the same distribution as our “normal” penguins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9D5C1-58B5-F925-9848-96E2BB2227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471138" cy="5240194"/>
              </a:xfrm>
              <a:blipFill>
                <a:blip r:embed="rId2"/>
                <a:stretch>
                  <a:fillRect l="-1695" r="-28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Placeholder 6" descr="A green and white graph&#10;&#10;Description automatically generated">
            <a:extLst>
              <a:ext uri="{FF2B5EF4-FFF2-40B4-BE49-F238E27FC236}">
                <a16:creationId xmlns:a16="http://schemas.microsoft.com/office/drawing/2014/main" id="{4D0B505C-B907-9616-0952-90978A3C033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833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EA13-FE06-B285-FA0C-362784F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“Statistical significance”</a:t>
            </a:r>
          </a:p>
        </p:txBody>
      </p:sp>
    </p:spTree>
    <p:extLst>
      <p:ext uri="{BB962C8B-B14F-4D97-AF65-F5344CB8AC3E}">
        <p14:creationId xmlns:p14="http://schemas.microsoft.com/office/powerpoint/2010/main" val="112202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C8ACED-3CB1-4C12-164C-4906C7026A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level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C8ACED-3CB1-4C12-164C-4906C7026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27ED-04A7-5356-D5A4-9B65A66E2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Getting a P-value does not quite get us to NHST</a:t>
            </a:r>
          </a:p>
          <a:p>
            <a:r>
              <a:rPr lang="en-GB" dirty="0"/>
              <a:t>For that, we need some threshold for a probability which we deem to be meaningful</a:t>
            </a:r>
          </a:p>
          <a:p>
            <a:r>
              <a:rPr lang="en-GB" dirty="0"/>
              <a:t>Choice is entirely arbitrary</a:t>
            </a:r>
          </a:p>
          <a:p>
            <a:r>
              <a:rPr lang="en-GB" dirty="0"/>
              <a:t>But researchers tend to fixate (incorrectly) on a threshold of 5%</a:t>
            </a:r>
          </a:p>
          <a:p>
            <a:pPr lvl="1"/>
            <a:r>
              <a:rPr lang="en-GB" dirty="0"/>
              <a:t>I.e. there is less than a 5% chance that the 1.56 m tall penguin came from the same distribution</a:t>
            </a:r>
          </a:p>
        </p:txBody>
      </p:sp>
      <p:pic>
        <p:nvPicPr>
          <p:cNvPr id="6" name="Picture Placeholder 5" descr="A person lifting weights in front of a green background&#10;&#10;Description automatically generated">
            <a:extLst>
              <a:ext uri="{FF2B5EF4-FFF2-40B4-BE49-F238E27FC236}">
                <a16:creationId xmlns:a16="http://schemas.microsoft.com/office/drawing/2014/main" id="{5FD9F7E4-192E-AE5F-6401-533FFF091A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>
            <a:fillRect/>
          </a:stretch>
        </p:blipFill>
        <p:spPr/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90224-9CF2-FFD5-8945-CC50DDCE3E78}"/>
                  </a:ext>
                </a:extLst>
              </p:cNvPr>
              <p:cNvSpPr txBox="1"/>
              <p:nvPr/>
            </p:nvSpPr>
            <p:spPr>
              <a:xfrm>
                <a:off x="5911606" y="1325563"/>
                <a:ext cx="2097369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6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90224-9CF2-FFD5-8945-CC50DDCE3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606" y="1325563"/>
                <a:ext cx="2097369" cy="2646878"/>
              </a:xfrm>
              <a:prstGeom prst="rect">
                <a:avLst/>
              </a:prstGeom>
              <a:blipFill>
                <a:blip r:embed="rId4"/>
                <a:stretch>
                  <a:fillRect t="-23218" r="-69186" b="-439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75C507-1416-A1A3-2E19-C3772E62043B}"/>
                  </a:ext>
                </a:extLst>
              </p:cNvPr>
              <p:cNvSpPr txBox="1"/>
              <p:nvPr/>
            </p:nvSpPr>
            <p:spPr>
              <a:xfrm>
                <a:off x="10621680" y="1325563"/>
                <a:ext cx="2097369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6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75C507-1416-A1A3-2E19-C3772E620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1680" y="1325563"/>
                <a:ext cx="2097369" cy="2646878"/>
              </a:xfrm>
              <a:prstGeom prst="rect">
                <a:avLst/>
              </a:prstGeom>
              <a:blipFill>
                <a:blip r:embed="rId5"/>
                <a:stretch>
                  <a:fillRect t="-23218" r="-69186" b="-439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812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C8ACED-3CB1-4C12-164C-4906C7026A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level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C8ACED-3CB1-4C12-164C-4906C7026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1D27ED-04A7-5356-D5A4-9B65A66E2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If the P-value is below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, then we reject our Null hypothesis</a:t>
                </a:r>
              </a:p>
              <a:p>
                <a:pPr lvl="1"/>
                <a:r>
                  <a:rPr lang="en-GB" dirty="0"/>
                  <a:t>Remember, our Null hypothesis is “no difference” (to white distribution)</a:t>
                </a:r>
              </a:p>
              <a:p>
                <a:r>
                  <a:rPr lang="en-GB" dirty="0"/>
                  <a:t>For our tall penguin, our Null hypothesis is:</a:t>
                </a:r>
              </a:p>
              <a:p>
                <a:pPr lvl="1"/>
                <a:r>
                  <a:rPr lang="en-GB" dirty="0"/>
                  <a:t>The 1.56m tall penguin is part of the white distribution</a:t>
                </a:r>
                <a:endParaRPr lang="en-GB" dirty="0">
                  <a:solidFill>
                    <a:srgbClr val="D95F02"/>
                  </a:solidFill>
                </a:endParaRPr>
              </a:p>
              <a:p>
                <a:pPr lvl="1"/>
                <a:r>
                  <a:rPr lang="en-GB" dirty="0"/>
                  <a:t>If the P-value is above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(i.e. big), then we accept this statement</a:t>
                </a:r>
              </a:p>
              <a:p>
                <a:pPr lvl="1"/>
                <a:r>
                  <a:rPr lang="en-GB" dirty="0"/>
                  <a:t>If the P-value is below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(i.e. small), then we reject this statement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1D27ED-04A7-5356-D5A4-9B65A66E2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r="-10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90224-9CF2-FFD5-8945-CC50DDCE3E78}"/>
                  </a:ext>
                </a:extLst>
              </p:cNvPr>
              <p:cNvSpPr txBox="1"/>
              <p:nvPr/>
            </p:nvSpPr>
            <p:spPr>
              <a:xfrm>
                <a:off x="5911606" y="1325563"/>
                <a:ext cx="2097369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6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90224-9CF2-FFD5-8945-CC50DDCE3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606" y="1325563"/>
                <a:ext cx="2097369" cy="2646878"/>
              </a:xfrm>
              <a:prstGeom prst="rect">
                <a:avLst/>
              </a:prstGeom>
              <a:blipFill>
                <a:blip r:embed="rId4"/>
                <a:stretch>
                  <a:fillRect t="-23218" r="-69186" b="-439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75C507-1416-A1A3-2E19-C3772E62043B}"/>
                  </a:ext>
                </a:extLst>
              </p:cNvPr>
              <p:cNvSpPr txBox="1"/>
              <p:nvPr/>
            </p:nvSpPr>
            <p:spPr>
              <a:xfrm>
                <a:off x="10621680" y="1325563"/>
                <a:ext cx="2097369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6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75C507-1416-A1A3-2E19-C3772E620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1680" y="1325563"/>
                <a:ext cx="2097369" cy="2646878"/>
              </a:xfrm>
              <a:prstGeom prst="rect">
                <a:avLst/>
              </a:prstGeom>
              <a:blipFill>
                <a:blip r:embed="rId5"/>
                <a:stretch>
                  <a:fillRect t="-23218" r="-69186" b="-439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Placeholder 13" descr="A graph of a penguin&#10;&#10;Description automatically generated">
            <a:extLst>
              <a:ext uri="{FF2B5EF4-FFF2-40B4-BE49-F238E27FC236}">
                <a16:creationId xmlns:a16="http://schemas.microsoft.com/office/drawing/2014/main" id="{3C197CA4-CB79-4FF4-8E3C-270B3D41BC0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9551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5089E2-BB20-D90F-2A74-219E5D0950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5089E2-BB20-D90F-2A74-219E5D095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B6B7F-6C8B-3E40-80B8-CFD283B68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To be very, very clear</a:t>
                </a:r>
              </a:p>
              <a:p>
                <a:r>
                  <a:rPr lang="en-GB" dirty="0"/>
                  <a:t>Putting the threshold at 5% (or P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dirty="0"/>
                  <a:t> 0.05) is completely arbitrary</a:t>
                </a:r>
              </a:p>
              <a:p>
                <a:r>
                  <a:rPr lang="en-GB" dirty="0"/>
                  <a:t>There is zero (!) statistical rationale for this</a:t>
                </a:r>
              </a:p>
              <a:p>
                <a:r>
                  <a:rPr lang="en-GB" dirty="0"/>
                  <a:t>Could be as dumb as we have 5 fingers on one hand, so let’s set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to 5%</a:t>
                </a:r>
              </a:p>
              <a:p>
                <a:r>
                  <a:rPr lang="en-GB" dirty="0"/>
                  <a:t>The person who developed this method even warned that 5% should not be thought of as being meaningful </a:t>
                </a:r>
              </a:p>
              <a:p>
                <a:pPr lvl="1"/>
                <a:r>
                  <a:rPr lang="en-GB" dirty="0"/>
                  <a:t>Yet people still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GB" dirty="0"/>
                  <a:t> blindly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B6B7F-6C8B-3E40-80B8-CFD283B68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t="-1047" r="-3343" b="-6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person looking at a person&#10;&#10;Description automatically generated">
            <a:extLst>
              <a:ext uri="{FF2B5EF4-FFF2-40B4-BE49-F238E27FC236}">
                <a16:creationId xmlns:a16="http://schemas.microsoft.com/office/drawing/2014/main" id="{238757F8-69B0-FE13-A3D1-A0F61420F3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5" t="-48633" r="81" b="3364"/>
          <a:stretch/>
        </p:blipFill>
        <p:spPr>
          <a:xfrm>
            <a:off x="6359525" y="0"/>
            <a:ext cx="5832475" cy="5064369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7F828FC-6B86-BECF-1FDA-C8694FB869A7}"/>
              </a:ext>
            </a:extLst>
          </p:cNvPr>
          <p:cNvGrpSpPr/>
          <p:nvPr/>
        </p:nvGrpSpPr>
        <p:grpSpPr>
          <a:xfrm>
            <a:off x="9056076" y="3592278"/>
            <a:ext cx="1063869" cy="1048088"/>
            <a:chOff x="9056076" y="3592278"/>
            <a:chExt cx="1063869" cy="104808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394A1C-F374-708C-160E-7DE15A368C94}"/>
                </a:ext>
              </a:extLst>
            </p:cNvPr>
            <p:cNvSpPr txBox="1"/>
            <p:nvPr/>
          </p:nvSpPr>
          <p:spPr>
            <a:xfrm>
              <a:off x="9056076" y="3592278"/>
              <a:ext cx="1063869" cy="908864"/>
            </a:xfrm>
            <a:prstGeom prst="ellipse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3600" b="1" dirty="0"/>
                <a:t>5%</a:t>
              </a:r>
              <a:endParaRPr lang="en-GB" b="1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F97A6EE-23B8-AB72-84C4-5777D1AE6FB8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9056076" y="4368042"/>
              <a:ext cx="155800" cy="27232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989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680A-2270-7751-B7FE-CF993E7A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magic words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3C4F49-F28A-505D-DC54-5CFFBE3ED5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“Statistical significance”</a:t>
                </a:r>
              </a:p>
              <a:p>
                <a:r>
                  <a:rPr lang="en-GB" dirty="0"/>
                  <a:t>When we have a P-value that is less than 0.05 (the usual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threshold) we can say “statistically significant”</a:t>
                </a:r>
              </a:p>
              <a:p>
                <a:r>
                  <a:rPr lang="en-GB" dirty="0"/>
                  <a:t>For our tall penguin, they are statistically significantly unlikely to come from the same distribution</a:t>
                </a:r>
              </a:p>
              <a:p>
                <a:r>
                  <a:rPr lang="en-GB" dirty="0"/>
                  <a:t>Given P = 0.005, there’s only a 0.5% chance that it does come from the same distribution as it’s friends :(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3C4F49-F28A-505D-DC54-5CFFBE3ED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3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Placeholder 9" descr="A penguin standing on grass near water&#10;&#10;Description automatically generated">
            <a:extLst>
              <a:ext uri="{FF2B5EF4-FFF2-40B4-BE49-F238E27FC236}">
                <a16:creationId xmlns:a16="http://schemas.microsoft.com/office/drawing/2014/main" id="{0A3C2495-8C2C-D686-9A5B-C66CBA06FF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76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28530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EA13-FE06-B285-FA0C-362784F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NHST in statistical models</a:t>
            </a:r>
          </a:p>
        </p:txBody>
      </p:sp>
    </p:spTree>
    <p:extLst>
      <p:ext uri="{BB962C8B-B14F-4D97-AF65-F5344CB8AC3E}">
        <p14:creationId xmlns:p14="http://schemas.microsoft.com/office/powerpoint/2010/main" val="211921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BB1F2407-1CEB-D394-C8F7-D454BD883F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B1451BDE-1D18-661D-5323-2823959E2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145EB2-422E-8273-202C-3C5DAC61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Null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2DED4-73A4-3A8D-43CE-F31AE4678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Within statistical models, we translate the Null hypothesis into:</a:t>
                </a:r>
              </a:p>
              <a:p>
                <a:r>
                  <a:rPr lang="en-GB" dirty="0"/>
                  <a:t>“What is the probability my parameter comes from a distribution with a mean of zero?”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?</a:t>
                </a:r>
              </a:p>
              <a:p>
                <a:r>
                  <a:rPr lang="en-GB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?</a:t>
                </a:r>
              </a:p>
              <a:p>
                <a:pPr lvl="1"/>
                <a:r>
                  <a:rPr lang="en-GB" dirty="0"/>
                  <a:t>If a parameter is estimated as 0, then there is no association</a:t>
                </a:r>
              </a:p>
              <a:p>
                <a:pPr lvl="1"/>
                <a:r>
                  <a:rPr lang="en-GB" dirty="0"/>
                  <a:t>E.g. a slope that is 0</a:t>
                </a:r>
              </a:p>
              <a:p>
                <a:pPr lvl="1"/>
                <a:r>
                  <a:rPr lang="en-GB" dirty="0"/>
                  <a:t>I.e. our Null hypothesis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2DED4-73A4-3A8D-43CE-F31AE4678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F7EBC9-A9A8-D6CD-E543-A2D784579A23}"/>
                  </a:ext>
                </a:extLst>
              </p:cNvPr>
              <p:cNvSpPr txBox="1"/>
              <p:nvPr/>
            </p:nvSpPr>
            <p:spPr>
              <a:xfrm>
                <a:off x="9091245" y="2611315"/>
                <a:ext cx="13009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F7EBC9-A9A8-D6CD-E543-A2D784579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1245" y="2611315"/>
                <a:ext cx="1300997" cy="523220"/>
              </a:xfrm>
              <a:prstGeom prst="rect">
                <a:avLst/>
              </a:prstGeom>
              <a:blipFill>
                <a:blip r:embed="rId5"/>
                <a:stretch>
                  <a:fillRect t="-13953" r="-13084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F423BD-4828-FD16-139C-0DAB24F8E815}"/>
                  </a:ext>
                </a:extLst>
              </p:cNvPr>
              <p:cNvSpPr txBox="1"/>
              <p:nvPr/>
            </p:nvSpPr>
            <p:spPr>
              <a:xfrm>
                <a:off x="7098322" y="3228945"/>
                <a:ext cx="11855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=1.4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F423BD-4828-FD16-139C-0DAB24F8E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322" y="3228945"/>
                <a:ext cx="1185516" cy="400110"/>
              </a:xfrm>
              <a:prstGeom prst="rect">
                <a:avLst/>
              </a:prstGeom>
              <a:blipFill>
                <a:blip r:embed="rId6"/>
                <a:stretch>
                  <a:fillRect t="-10769" r="-7179" b="-26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16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9EA9-A5BD-AA4E-949E-92B0B5FB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F399FC-50F2-0732-D175-1B4CAB8F79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don’t know what the distribution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is. We just know the mean is 0.</a:t>
                </a:r>
              </a:p>
              <a:p>
                <a:r>
                  <a:rPr lang="en-GB" dirty="0"/>
                  <a:t>We don’t have a way to figure out the standard deviation.</a:t>
                </a:r>
              </a:p>
              <a:p>
                <a:r>
                  <a:rPr lang="en-GB" dirty="0"/>
                  <a:t>We need a different way to calculate our P-value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F399FC-50F2-0732-D175-1B4CAB8F79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graph of a function&#10;&#10;Description automatically generated">
            <a:extLst>
              <a:ext uri="{FF2B5EF4-FFF2-40B4-BE49-F238E27FC236}">
                <a16:creationId xmlns:a16="http://schemas.microsoft.com/office/drawing/2014/main" id="{663D0437-5992-4B93-04C8-B6987FBFF9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801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13C3-2E0B-144D-E308-75C4433FA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Adélie</a:t>
            </a:r>
            <a:r>
              <a:rPr lang="en-GB" dirty="0"/>
              <a:t> penguins and NHST</a:t>
            </a:r>
          </a:p>
        </p:txBody>
      </p:sp>
    </p:spTree>
    <p:extLst>
      <p:ext uri="{BB962C8B-B14F-4D97-AF65-F5344CB8AC3E}">
        <p14:creationId xmlns:p14="http://schemas.microsoft.com/office/powerpoint/2010/main" val="282501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DBA44-07FF-774A-EF2E-C4E6D644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Adélie</a:t>
            </a:r>
            <a:r>
              <a:rPr lang="en-GB" dirty="0"/>
              <a:t> penguin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FDF51-4AD3-0CF7-58C0-4B7892BB4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We’ll use NHST to help us answer our question if </a:t>
            </a:r>
            <a:r>
              <a:rPr lang="en-GB" dirty="0" err="1"/>
              <a:t>Adélie</a:t>
            </a:r>
            <a:r>
              <a:rPr lang="en-GB" dirty="0"/>
              <a:t> body size is different on the three islands</a:t>
            </a:r>
          </a:p>
          <a:p>
            <a:r>
              <a:rPr lang="en-GB" dirty="0"/>
              <a:t>Start by doing some EDA</a:t>
            </a:r>
          </a:p>
          <a:p>
            <a:r>
              <a:rPr lang="en-GB" dirty="0"/>
              <a:t>What model would we run to test our question?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(body ~ island)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BBF0E245-132C-3934-C2D5-79621F3F247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656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6E6C-01AA-4600-ED72-6FD641A08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Diagnose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2505C-6FF9-384A-1CBB-4637FBEB4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always, quickly check the diagnostic plots</a:t>
            </a:r>
          </a:p>
          <a:p>
            <a:r>
              <a:rPr lang="en-GB" dirty="0"/>
              <a:t>Any issues?</a:t>
            </a:r>
          </a:p>
        </p:txBody>
      </p:sp>
      <p:pic>
        <p:nvPicPr>
          <p:cNvPr id="8" name="Picture Placeholder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577AF0E-3081-5EF2-7993-007DE3388F6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398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B97C-37CA-BF4E-64F7-068137B9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peng_mod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7749D-6C91-9CEA-6952-CC495ADAAB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To get our P-values we need:</a:t>
                </a:r>
              </a:p>
              <a:p>
                <a:pPr lvl="1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Estimate</a:t>
                </a:r>
              </a:p>
              <a:p>
                <a:pPr lvl="1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Std. Error</a:t>
                </a:r>
              </a:p>
              <a:p>
                <a:r>
                  <a:rPr lang="en-GB" dirty="0"/>
                  <a:t>If we divide 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Estimate</a:t>
                </a:r>
                <a:r>
                  <a:rPr lang="en-GB" dirty="0"/>
                  <a:t> by 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Std. Error</a:t>
                </a:r>
                <a:r>
                  <a:rPr lang="en-GB" dirty="0"/>
                  <a:t>, we get the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 value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𝐸𝑠𝑡𝑖𝑚𝑎𝑡𝑒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𝐸𝑟𝑟𝑜𝑟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With this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 value</a:t>
                </a:r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, we can switch from assuming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distribution to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distribution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7749D-6C91-9CEA-6952-CC495ADAAB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FC74F7-162B-65C7-483D-69606F4F2B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body ~ island, data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t value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3709.659     69.582  53.314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islandDream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-21.266     92.983  -0.229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islandTorgersen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-3.287     94.967  -0.035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B9343-9235-5AA4-A06D-8D912D31742D}"/>
              </a:ext>
            </a:extLst>
          </p:cNvPr>
          <p:cNvSpPr/>
          <p:nvPr/>
        </p:nvSpPr>
        <p:spPr>
          <a:xfrm>
            <a:off x="10911254" y="4123592"/>
            <a:ext cx="914400" cy="369277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7FEF34-207B-E947-FA39-91A6E356487E}"/>
              </a:ext>
            </a:extLst>
          </p:cNvPr>
          <p:cNvSpPr/>
          <p:nvPr/>
        </p:nvSpPr>
        <p:spPr>
          <a:xfrm>
            <a:off x="10911254" y="4593919"/>
            <a:ext cx="914400" cy="246184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6854F9-8641-4D6C-1879-D59DC044D5E3}"/>
              </a:ext>
            </a:extLst>
          </p:cNvPr>
          <p:cNvSpPr/>
          <p:nvPr/>
        </p:nvSpPr>
        <p:spPr>
          <a:xfrm>
            <a:off x="10911254" y="4932360"/>
            <a:ext cx="914400" cy="246184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43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6F5F3B-5534-55E8-4A89-D47EE7DD35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distribution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6F5F3B-5534-55E8-4A89-D47EE7DD3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5ADAEB-DC34-79A7-D8A7-7951E5DE2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distribution needs just one parameter; degrees of freedom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𝑑𝑓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𝑑𝑓</m:t>
                    </m:r>
                    <m: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n</m:t>
                    </m:r>
                    <m: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−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p</m:t>
                    </m:r>
                    <m: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−1</m:t>
                    </m:r>
                  </m:oMath>
                </a14:m>
                <a:endParaRPr lang="en-GB" dirty="0">
                  <a:latin typeface="+mj-lt"/>
                  <a:cs typeface="Courier New" panose="02070309020205020404" pitchFamily="49" charset="0"/>
                </a:endParaRPr>
              </a:p>
              <a:p>
                <a:pPr lvl="1"/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(We don’t need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𝜎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like in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is our sample size (344 penguins)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𝑝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is the number of parameters (3)</a:t>
                </a:r>
              </a:p>
              <a:p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Giving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𝑑𝑓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=340)</m:t>
                    </m:r>
                  </m:oMath>
                </a14:m>
                <a:endParaRPr lang="en-GB" dirty="0">
                  <a:latin typeface="+mj-lt"/>
                  <a:cs typeface="Courier New" panose="02070309020205020404" pitchFamily="49" charset="0"/>
                </a:endParaRPr>
              </a:p>
              <a:p>
                <a:r>
                  <a:rPr lang="en-GB" dirty="0"/>
                  <a:t>This allows us to create a distribution to test if our parameters are different to 0</a:t>
                </a:r>
              </a:p>
              <a:p>
                <a:r>
                  <a:rPr lang="en-GB" dirty="0">
                    <a:hlinkClick r:id="rId3"/>
                  </a:rPr>
                  <a:t>https://deonroos.shinyapps.io/Distributions/</a:t>
                </a:r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5ADAEB-DC34-79A7-D8A7-7951E5DE2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770" t="-2093" r="-2458" b="-20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graph of a function&#10;&#10;Description automatically generated">
            <a:extLst>
              <a:ext uri="{FF2B5EF4-FFF2-40B4-BE49-F238E27FC236}">
                <a16:creationId xmlns:a16="http://schemas.microsoft.com/office/drawing/2014/main" id="{A0624628-9C1F-7F66-9AAE-7954D5668B3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0727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FF80-7D3A-F6C1-A619-E82D675D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 these significant?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90482-5A18-8D47-77D0-E5D947DB7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body ~ island, data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t value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3709.659     69.582  53.314   &lt;2e-16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islandDream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-21.266     92.983  -0.229    0.819    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islandTorgersen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-3.287     94.967  -0.035    0.972    </a:t>
            </a:r>
          </a:p>
          <a:p>
            <a:endParaRPr lang="en-GB" sz="1400" dirty="0"/>
          </a:p>
        </p:txBody>
      </p:sp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9716BDF5-894F-7C3E-E2F8-6194320FD7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graph of value on a black background&#10;&#10;Description automatically generated">
            <a:extLst>
              <a:ext uri="{FF2B5EF4-FFF2-40B4-BE49-F238E27FC236}">
                <a16:creationId xmlns:a16="http://schemas.microsoft.com/office/drawing/2014/main" id="{1424BE7D-78B8-0526-6C28-FD10A4376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10" name="Picture 9" descr="A graph of a function&#10;&#10;Description automatically generated">
            <a:extLst>
              <a:ext uri="{FF2B5EF4-FFF2-40B4-BE49-F238E27FC236}">
                <a16:creationId xmlns:a16="http://schemas.microsoft.com/office/drawing/2014/main" id="{2BF8526A-DFF6-A35E-5492-54481C025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E81FD0E-A047-DCC7-B5B2-DD50E17E9892}"/>
              </a:ext>
            </a:extLst>
          </p:cNvPr>
          <p:cNvSpPr/>
          <p:nvPr/>
        </p:nvSpPr>
        <p:spPr>
          <a:xfrm>
            <a:off x="4783015" y="4220308"/>
            <a:ext cx="914400" cy="246184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C3F611-CDF1-0418-3AF5-6F7A3EC24CAF}"/>
              </a:ext>
            </a:extLst>
          </p:cNvPr>
          <p:cNvSpPr/>
          <p:nvPr/>
        </p:nvSpPr>
        <p:spPr>
          <a:xfrm>
            <a:off x="4783015" y="4567542"/>
            <a:ext cx="914400" cy="246184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7C7F9D-242A-C6C3-E218-B23425D52C34}"/>
              </a:ext>
            </a:extLst>
          </p:cNvPr>
          <p:cNvSpPr/>
          <p:nvPr/>
        </p:nvSpPr>
        <p:spPr>
          <a:xfrm>
            <a:off x="4783015" y="4905983"/>
            <a:ext cx="914400" cy="246184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64B71F-C504-2BB1-8E6D-996E582F2EEE}"/>
              </a:ext>
            </a:extLst>
          </p:cNvPr>
          <p:cNvSpPr txBox="1"/>
          <p:nvPr/>
        </p:nvSpPr>
        <p:spPr>
          <a:xfrm>
            <a:off x="1037492" y="5743439"/>
            <a:ext cx="3745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 that &lt;2e-16 is scientific notation for &lt;0.0000000000000002</a:t>
            </a:r>
          </a:p>
        </p:txBody>
      </p:sp>
    </p:spTree>
    <p:extLst>
      <p:ext uri="{BB962C8B-B14F-4D97-AF65-F5344CB8AC3E}">
        <p14:creationId xmlns:p14="http://schemas.microsoft.com/office/powerpoint/2010/main" val="295354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56DA-D188-5FEC-5D03-52CA6267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Significant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71124-05E4-5BB7-C887-A78A54273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An easy way to think of what P-values mean in statistical models is:</a:t>
            </a:r>
          </a:p>
          <a:p>
            <a:r>
              <a:rPr lang="en-GB" dirty="0"/>
              <a:t>“Is the Estimate different to 0?”</a:t>
            </a:r>
          </a:p>
          <a:p>
            <a:r>
              <a:rPr lang="en-GB" dirty="0"/>
              <a:t>Our (Intercept) is 3709.659, so clearly different to 0</a:t>
            </a:r>
          </a:p>
          <a:p>
            <a:r>
              <a:rPr lang="en-GB" dirty="0"/>
              <a:t>Dream penguins are -21.266 g smaller than Biscoe penguins</a:t>
            </a:r>
          </a:p>
          <a:p>
            <a:pPr lvl="1"/>
            <a:r>
              <a:rPr lang="en-GB" dirty="0"/>
              <a:t>But 82% chance the difference with Biscoe is 0</a:t>
            </a:r>
          </a:p>
          <a:p>
            <a:r>
              <a:rPr lang="en-GB" dirty="0"/>
              <a:t>Torgersen penguins are -3.287 g smaller than Biscoe penguins</a:t>
            </a:r>
          </a:p>
          <a:p>
            <a:pPr lvl="1"/>
            <a:r>
              <a:rPr lang="en-GB" dirty="0"/>
              <a:t>But 97% chance the difference with Biscoe is 0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6A6159-90D2-B145-5259-3765B16E19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body ~ island, data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t value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3709.659     69.582  53.314   &lt;2e-16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islandDream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-21.266     92.983  -0.229    0.819    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islandTorgersen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-3.287     94.967  -0.035    0.972 </a:t>
            </a:r>
          </a:p>
        </p:txBody>
      </p:sp>
    </p:spTree>
    <p:extLst>
      <p:ext uri="{BB962C8B-B14F-4D97-AF65-F5344CB8AC3E}">
        <p14:creationId xmlns:p14="http://schemas.microsoft.com/office/powerpoint/2010/main" val="270369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56DA-D188-5FEC-5D03-52CA6267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Strawman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71124-05E4-5BB7-C887-A78A54273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Do you think penguins could ever weigh 0 g?</a:t>
            </a:r>
          </a:p>
          <a:p>
            <a:r>
              <a:rPr lang="en-GB" dirty="0"/>
              <a:t>Definitely not.</a:t>
            </a:r>
          </a:p>
          <a:p>
            <a:r>
              <a:rPr lang="en-GB" dirty="0"/>
              <a:t>Even though it’s significant, we’d never seriously think it was going to be 0</a:t>
            </a:r>
          </a:p>
          <a:p>
            <a:r>
              <a:rPr lang="en-GB" dirty="0"/>
              <a:t>So here, we find no significant difference in penguin weight across the three islands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6A6159-90D2-B145-5259-3765B16E19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body ~ island, data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t value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3709.659     69.582  53.314   &lt;2e-16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islandDream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-21.266     92.983  -0.229    0.819    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islandTorgersen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-3.287     94.967  -0.035    0.972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74995-29C1-CB43-4C35-7C3DD4C8F73C}"/>
              </a:ext>
            </a:extLst>
          </p:cNvPr>
          <p:cNvSpPr/>
          <p:nvPr/>
        </p:nvSpPr>
        <p:spPr>
          <a:xfrm>
            <a:off x="6460621" y="4127619"/>
            <a:ext cx="5614586" cy="30764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19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E488-2A6F-55AB-0CB0-25BE7E24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Criticisms of NHST</a:t>
            </a:r>
          </a:p>
        </p:txBody>
      </p:sp>
    </p:spTree>
    <p:extLst>
      <p:ext uri="{BB962C8B-B14F-4D97-AF65-F5344CB8AC3E}">
        <p14:creationId xmlns:p14="http://schemas.microsoft.com/office/powerpoint/2010/main" val="219778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56DA-D188-5FEC-5D03-52CA6267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Need for NHST?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71124-05E4-5BB7-C887-A78A54273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Did you really need P-values to tell you that the penguins on the islands were pretty much the same?</a:t>
            </a:r>
          </a:p>
          <a:p>
            <a:r>
              <a:rPr lang="en-GB" dirty="0"/>
              <a:t>You can often reach the same conclusion just looking at the Estimate and Standard Error (or 95% CI) without needing P-values</a:t>
            </a:r>
          </a:p>
          <a:p>
            <a:r>
              <a:rPr lang="en-GB" dirty="0"/>
              <a:t>Or just plotting the results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6A6159-90D2-B145-5259-3765B16E19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body ~ island, data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t value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3709.659     69.582  53.314   &lt;2e-16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islandDream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-21.266     92.983  -0.229    0.819    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islandTorgersen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-3.287     94.967  -0.035    0.972 </a:t>
            </a:r>
          </a:p>
        </p:txBody>
      </p:sp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8F00E200-9B16-95CB-BDA1-96A6DDCBE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8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FCFC-5A31-6098-AAC2-38E79202F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Biological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63EC1-0B17-1B7A-D75B-3716AFFAD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Statistical significance is not the same as biological significance</a:t>
            </a:r>
          </a:p>
          <a:p>
            <a:r>
              <a:rPr lang="en-GB" dirty="0"/>
              <a:t>A parameter might be very </a:t>
            </a:r>
            <a:r>
              <a:rPr lang="en-GB" dirty="0" err="1"/>
              <a:t>very</a:t>
            </a:r>
            <a:r>
              <a:rPr lang="en-GB" dirty="0"/>
              <a:t> weak but be different from zero</a:t>
            </a:r>
          </a:p>
          <a:p>
            <a:r>
              <a:rPr lang="en-GB" dirty="0"/>
              <a:t>For example</a:t>
            </a:r>
          </a:p>
          <a:p>
            <a:pPr lvl="1"/>
            <a:r>
              <a:rPr lang="en-GB" dirty="0"/>
              <a:t>“Ecotourism boats had a significantly negative effect on juvenile humpback whale growth”</a:t>
            </a:r>
          </a:p>
          <a:p>
            <a:r>
              <a:rPr lang="en-GB" dirty="0"/>
              <a:t>Decreased growth rate by 7 cm per year</a:t>
            </a:r>
          </a:p>
          <a:p>
            <a:r>
              <a:rPr lang="en-GB" dirty="0"/>
              <a:t>Adults reach 14-17 m…</a:t>
            </a:r>
          </a:p>
          <a:p>
            <a:endParaRPr lang="en-GB" dirty="0"/>
          </a:p>
        </p:txBody>
      </p:sp>
      <p:pic>
        <p:nvPicPr>
          <p:cNvPr id="6" name="Picture Placeholder 5" descr="A whale and a whale in the water&#10;&#10;Description automatically generated">
            <a:extLst>
              <a:ext uri="{FF2B5EF4-FFF2-40B4-BE49-F238E27FC236}">
                <a16:creationId xmlns:a16="http://schemas.microsoft.com/office/drawing/2014/main" id="{46080895-7A93-1A1B-DB98-B669A7BFE72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9743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81C69-3B29-9770-54F3-FD1C1EF3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Ambiguous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A551A-E5F7-5146-172F-6CEB1E850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can you tell me based on the following statement?</a:t>
            </a:r>
          </a:p>
          <a:p>
            <a:pPr lvl="1"/>
            <a:r>
              <a:rPr lang="en-GB" dirty="0"/>
              <a:t>“The treatment had a significant effect”</a:t>
            </a:r>
          </a:p>
          <a:p>
            <a:r>
              <a:rPr lang="en-GB" dirty="0"/>
              <a:t>Is this positive or negative?</a:t>
            </a:r>
          </a:p>
          <a:p>
            <a:pPr lvl="1"/>
            <a:r>
              <a:rPr lang="en-GB" dirty="0"/>
              <a:t>Significance just says it’s “not zero”</a:t>
            </a:r>
          </a:p>
          <a:p>
            <a:pPr lvl="2"/>
            <a:r>
              <a:rPr lang="en-GB" dirty="0"/>
              <a:t>“The treatment didn’t </a:t>
            </a:r>
            <a:r>
              <a:rPr lang="en-GB" i="1" dirty="0"/>
              <a:t>not</a:t>
            </a:r>
            <a:r>
              <a:rPr lang="en-GB" dirty="0"/>
              <a:t> do something”</a:t>
            </a:r>
          </a:p>
          <a:p>
            <a:pPr lvl="1"/>
            <a:r>
              <a:rPr lang="en-GB" dirty="0"/>
              <a:t>No idea if it makes things better or worse</a:t>
            </a:r>
          </a:p>
          <a:p>
            <a:r>
              <a:rPr lang="en-GB" dirty="0"/>
              <a:t>Big or small?</a:t>
            </a:r>
          </a:p>
          <a:p>
            <a:pPr lvl="1"/>
            <a:r>
              <a:rPr lang="en-GB" dirty="0"/>
              <a:t>Keep in mind, you can get trivially small Estimates that are significant</a:t>
            </a:r>
          </a:p>
        </p:txBody>
      </p:sp>
      <p:pic>
        <p:nvPicPr>
          <p:cNvPr id="6" name="Picture Placeholder 5" descr="A drawing of a duck&#10;&#10;Description automatically generated">
            <a:extLst>
              <a:ext uri="{FF2B5EF4-FFF2-40B4-BE49-F238E27FC236}">
                <a16:creationId xmlns:a16="http://schemas.microsoft.com/office/drawing/2014/main" id="{5C8830D7-C95B-4D5A-17BC-765BF2D6AB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6" t="-18105" r="17968" b="-14532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27695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89E2-BB20-D90F-2A74-219E5D09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5% is still pretty high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6B7F-6C8B-3E40-80B8-CFD283B68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5% chance to have generalised anxiety</a:t>
            </a:r>
          </a:p>
          <a:p>
            <a:r>
              <a:rPr lang="en-GB" dirty="0"/>
              <a:t>3% chance to get 5 head coin flips in a row</a:t>
            </a:r>
          </a:p>
          <a:p>
            <a:r>
              <a:rPr lang="en-GB" dirty="0"/>
              <a:t>8% chance to be accepted by Edinburgh Uni</a:t>
            </a:r>
          </a:p>
          <a:p>
            <a:r>
              <a:rPr lang="en-GB" dirty="0"/>
              <a:t>Just because people use 5% as a threshold, does not mean it makes any sense</a:t>
            </a:r>
          </a:p>
        </p:txBody>
      </p:sp>
      <p:pic>
        <p:nvPicPr>
          <p:cNvPr id="6" name="Picture Placeholder 5" descr="A person looking at a person&#10;&#10;Description automatically generated">
            <a:extLst>
              <a:ext uri="{FF2B5EF4-FFF2-40B4-BE49-F238E27FC236}">
                <a16:creationId xmlns:a16="http://schemas.microsoft.com/office/drawing/2014/main" id="{238757F8-69B0-FE13-A3D1-A0F61420F3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5" t="-48633" r="81" b="3364"/>
          <a:stretch/>
        </p:blipFill>
        <p:spPr>
          <a:xfrm>
            <a:off x="6359525" y="0"/>
            <a:ext cx="5832475" cy="5064369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7F828FC-6B86-BECF-1FDA-C8694FB869A7}"/>
              </a:ext>
            </a:extLst>
          </p:cNvPr>
          <p:cNvGrpSpPr/>
          <p:nvPr/>
        </p:nvGrpSpPr>
        <p:grpSpPr>
          <a:xfrm>
            <a:off x="9056076" y="3592278"/>
            <a:ext cx="1063869" cy="1217114"/>
            <a:chOff x="9056076" y="3592278"/>
            <a:chExt cx="1063869" cy="121711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394A1C-F374-708C-160E-7DE15A368C94}"/>
                </a:ext>
              </a:extLst>
            </p:cNvPr>
            <p:cNvSpPr txBox="1"/>
            <p:nvPr/>
          </p:nvSpPr>
          <p:spPr>
            <a:xfrm>
              <a:off x="9056076" y="3592278"/>
              <a:ext cx="1063869" cy="908864"/>
            </a:xfrm>
            <a:prstGeom prst="ellipse">
              <a:avLst/>
            </a:prstGeom>
            <a:solidFill>
              <a:srgbClr val="000000">
                <a:alpha val="80000"/>
              </a:srgb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3600" b="1" dirty="0"/>
                <a:t>5%</a:t>
              </a:r>
              <a:endParaRPr lang="en-GB" b="1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F97A6EE-23B8-AB72-84C4-5777D1AE6FB8}"/>
                </a:ext>
              </a:extLst>
            </p:cNvPr>
            <p:cNvCxnSpPr>
              <a:stCxn id="7" idx="3"/>
            </p:cNvCxnSpPr>
            <p:nvPr/>
          </p:nvCxnSpPr>
          <p:spPr>
            <a:xfrm flipH="1">
              <a:off x="9073662" y="4368042"/>
              <a:ext cx="138214" cy="4413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625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F114-CC91-F42B-A4DE-2F6F542B3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oddities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B6E34-73D5-C6A6-D624-899C6C5F5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bigger your sample size, the more likely you are to have a significant difference</a:t>
            </a:r>
          </a:p>
          <a:p>
            <a:r>
              <a:rPr lang="en-GB" dirty="0"/>
              <a:t>You can get “false positives” (type 1 error) – significant P-values when there is no difference</a:t>
            </a:r>
          </a:p>
          <a:p>
            <a:r>
              <a:rPr lang="en-GB" dirty="0"/>
              <a:t>Doing multiple tests increases the chance of getting false positives (and negatives)</a:t>
            </a:r>
          </a:p>
          <a:p>
            <a:r>
              <a:rPr lang="en-GB" dirty="0"/>
              <a:t>P-values are highly sensitive to confounded relationships</a:t>
            </a:r>
          </a:p>
        </p:txBody>
      </p:sp>
      <p:pic>
        <p:nvPicPr>
          <p:cNvPr id="6" name="Picture Placeholder 5" descr="A furry animal with orange eyes&#10;&#10;Description automatically generated">
            <a:extLst>
              <a:ext uri="{FF2B5EF4-FFF2-40B4-BE49-F238E27FC236}">
                <a16:creationId xmlns:a16="http://schemas.microsoft.com/office/drawing/2014/main" id="{09AA78E9-F439-E155-81FD-AD83AA0E5EE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1" r="1963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1250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35DB-48D6-8ED1-83C0-4EAB07B98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E0CB77-B59E-7131-8A3F-3066412FA6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426613"/>
                <a:ext cx="11906250" cy="524019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A P-value quantifies the probability that a value is likely to come from a reference distribution</a:t>
                </a:r>
              </a:p>
              <a:p>
                <a:pPr lvl="1"/>
                <a:r>
                  <a:rPr lang="en-GB" dirty="0"/>
                  <a:t>For the tall penguin, the reference distribution was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 with the mean and standard deviation of penguin heights</a:t>
                </a:r>
              </a:p>
              <a:p>
                <a:pPr lvl="1"/>
                <a:r>
                  <a:rPr lang="en-GB" dirty="0"/>
                  <a:t>For parameters in a linear model, the reference distribution is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distribution</a:t>
                </a:r>
              </a:p>
              <a:p>
                <a:pPr lvl="1"/>
                <a:r>
                  <a:rPr lang="en-GB" dirty="0"/>
                  <a:t>See here for more on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distribution </a:t>
                </a:r>
                <a:r>
                  <a:rPr lang="en-GB" dirty="0">
                    <a:hlinkClick r:id="rId2"/>
                  </a:rPr>
                  <a:t>https://deonroos.shinyapps.io/Distributions/</a:t>
                </a:r>
                <a:r>
                  <a:rPr lang="en-GB" dirty="0"/>
                  <a:t> </a:t>
                </a:r>
              </a:p>
              <a:p>
                <a:r>
                  <a:rPr lang="en-GB" dirty="0"/>
                  <a:t>We deem P-values “statistically significant” if they are below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threshold</a:t>
                </a:r>
              </a:p>
              <a:p>
                <a:r>
                  <a:rPr lang="en-GB" dirty="0"/>
                  <a:t>For no logical reason,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threshold is usually 5% (or 0.05)</a:t>
                </a:r>
              </a:p>
              <a:p>
                <a:r>
                  <a:rPr lang="en-GB" dirty="0"/>
                  <a:t>NHST is useful but is heavily overused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E0CB77-B59E-7131-8A3F-3066412FA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26613"/>
                <a:ext cx="11906250" cy="5240194"/>
              </a:xfrm>
              <a:prstGeom prst="rect">
                <a:avLst/>
              </a:prstGeom>
              <a:blipFill>
                <a:blip r:embed="rId3"/>
                <a:stretch>
                  <a:fillRect l="-922" t="-2093" r="-7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09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708</TotalTime>
  <Words>2038</Words>
  <Application>Microsoft Office PowerPoint</Application>
  <PresentationFormat>Widescreen</PresentationFormat>
  <Paragraphs>264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Bahnschrift Light</vt:lpstr>
      <vt:lpstr>Cambria Math</vt:lpstr>
      <vt:lpstr>Courier New</vt:lpstr>
      <vt:lpstr>sbs_template</vt:lpstr>
      <vt:lpstr>Null Hypothesis Significance Testing</vt:lpstr>
      <vt:lpstr>Question</vt:lpstr>
      <vt:lpstr>Question</vt:lpstr>
      <vt:lpstr>The Popperian philosophy</vt:lpstr>
      <vt:lpstr>Why so negative?</vt:lpstr>
      <vt:lpstr>Why so negative?</vt:lpstr>
      <vt:lpstr>Null hypotheses</vt:lpstr>
      <vt:lpstr>P-values</vt:lpstr>
      <vt:lpstr>P-values</vt:lpstr>
      <vt:lpstr>Just by chance?</vt:lpstr>
      <vt:lpstr>Just by chance?</vt:lpstr>
      <vt:lpstr>Just by chance?</vt:lpstr>
      <vt:lpstr>Two possible explanations</vt:lpstr>
      <vt:lpstr>Just by chance?</vt:lpstr>
      <vt:lpstr>“Statistical significance”</vt:lpstr>
      <vt:lpstr>α level</vt:lpstr>
      <vt:lpstr>α level</vt:lpstr>
      <vt:lpstr>α=0.05</vt:lpstr>
      <vt:lpstr>The magic words</vt:lpstr>
      <vt:lpstr>NHST in statistical models</vt:lpstr>
      <vt:lpstr>Null hypotheses</vt:lpstr>
      <vt:lpstr>A problem</vt:lpstr>
      <vt:lpstr>Adélie penguins and NHST</vt:lpstr>
      <vt:lpstr>Adélie penguin data</vt:lpstr>
      <vt:lpstr>Diagnose</vt:lpstr>
      <vt:lpstr>summary(peng_mod)</vt:lpstr>
      <vt:lpstr>The T distribution</vt:lpstr>
      <vt:lpstr>Are these significant?</vt:lpstr>
      <vt:lpstr>Significant what?</vt:lpstr>
      <vt:lpstr>Strawman argument</vt:lpstr>
      <vt:lpstr>Criticisms of NHST</vt:lpstr>
      <vt:lpstr>Need for NHST?</vt:lpstr>
      <vt:lpstr>Biological significance</vt:lpstr>
      <vt:lpstr>Ambiguous</vt:lpstr>
      <vt:lpstr>5% is still pretty high</vt:lpstr>
      <vt:lpstr>Additional oddities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6</cp:revision>
  <dcterms:created xsi:type="dcterms:W3CDTF">2024-08-05T10:21:27Z</dcterms:created>
  <dcterms:modified xsi:type="dcterms:W3CDTF">2024-09-12T09:51:49Z</dcterms:modified>
</cp:coreProperties>
</file>