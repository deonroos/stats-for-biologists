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374" r:id="rId3"/>
    <p:sldId id="263" r:id="rId4"/>
    <p:sldId id="375" r:id="rId5"/>
    <p:sldId id="348" r:id="rId6"/>
    <p:sldId id="349" r:id="rId7"/>
    <p:sldId id="376" r:id="rId8"/>
    <p:sldId id="361" r:id="rId9"/>
    <p:sldId id="354" r:id="rId10"/>
    <p:sldId id="351" r:id="rId11"/>
    <p:sldId id="352" r:id="rId12"/>
    <p:sldId id="344" r:id="rId13"/>
    <p:sldId id="345" r:id="rId14"/>
    <p:sldId id="342" r:id="rId15"/>
    <p:sldId id="343" r:id="rId16"/>
    <p:sldId id="357" r:id="rId17"/>
    <p:sldId id="346" r:id="rId18"/>
    <p:sldId id="347" r:id="rId19"/>
    <p:sldId id="334" r:id="rId20"/>
    <p:sldId id="350" r:id="rId21"/>
    <p:sldId id="356" r:id="rId22"/>
    <p:sldId id="355" r:id="rId23"/>
    <p:sldId id="358" r:id="rId24"/>
    <p:sldId id="362" r:id="rId25"/>
    <p:sldId id="363" r:id="rId26"/>
    <p:sldId id="364" r:id="rId27"/>
    <p:sldId id="365" r:id="rId28"/>
    <p:sldId id="368" r:id="rId29"/>
    <p:sldId id="377" r:id="rId30"/>
    <p:sldId id="373" r:id="rId31"/>
    <p:sldId id="378" r:id="rId32"/>
    <p:sldId id="369" r:id="rId33"/>
    <p:sldId id="371" r:id="rId34"/>
    <p:sldId id="379" r:id="rId35"/>
    <p:sldId id="370" r:id="rId36"/>
    <p:sldId id="372" r:id="rId37"/>
    <p:sldId id="380" r:id="rId38"/>
    <p:sldId id="366" r:id="rId39"/>
    <p:sldId id="367" r:id="rId40"/>
    <p:sldId id="30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F02"/>
    <a:srgbClr val="E7298A"/>
    <a:srgbClr val="7570B3"/>
    <a:srgbClr val="1B9E77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43" autoAdjust="0"/>
  </p:normalViewPr>
  <p:slideViewPr>
    <p:cSldViewPr snapToGrid="0">
      <p:cViewPr>
        <p:scale>
          <a:sx n="100" d="100"/>
          <a:sy n="100" d="100"/>
        </p:scale>
        <p:origin x="4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6A6D2-C8B7-4758-992F-557291917058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4CD8-F1CB-4604-9BDB-C09DE26B38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02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4CD8-F1CB-4604-9BDB-C09DE26B388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228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4CD8-F1CB-4604-9BDB-C09DE26B388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8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94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46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41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05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54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57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0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38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34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458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67EF-50B4-5942-0198-6666772B7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BCDFA-7CC4-5649-AF10-524C71FD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20B4A-AC25-CA7C-94B8-6F15EA17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3031-B7A4-51BB-67C5-EAA175D9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032D3-0A65-2843-DD05-27B15C75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455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7F408-F984-4C70-811B-82458E64648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F5D02-DF74-453C-ABB3-ECCA657705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25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9624A-B20D-466C-BCEF-4DBE77B772FE}" type="datetimeFigureOut">
              <a:rPr lang="en-GB" smtClean="0"/>
              <a:t>07/08/2024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90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6.gif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8.png"/><Relationship Id="rId7" Type="http://schemas.openxmlformats.org/officeDocument/2006/relationships/image" Target="../media/image370.png"/><Relationship Id="rId12" Type="http://schemas.openxmlformats.org/officeDocument/2006/relationships/image" Target="../media/image4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.png"/><Relationship Id="rId5" Type="http://schemas.openxmlformats.org/officeDocument/2006/relationships/image" Target="../media/image310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www.youtube.com/watch?v=zWVw-j8eYSk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968F-C709-2995-5226-38F6A8985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98D3B-6955-5A52-C947-660D06E3C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7339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9E69-5790-D44F-5FB3-4E91935C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Capturing “it depends”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BFFD-0D54-C686-AD09-49C681566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31030EB-7F45-BD4C-88F4-558425D41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90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14983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wildlife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Global needs:</a:t>
            </a:r>
          </a:p>
          <a:p>
            <a:pPr lvl="1"/>
            <a:r>
              <a:rPr lang="en-GB" dirty="0"/>
              <a:t>Increase food production</a:t>
            </a:r>
          </a:p>
          <a:p>
            <a:pPr lvl="1"/>
            <a:r>
              <a:rPr lang="en-GB" dirty="0"/>
              <a:t>Increase biodiversity</a:t>
            </a:r>
          </a:p>
          <a:p>
            <a:r>
              <a:rPr lang="en-GB" dirty="0"/>
              <a:t>These two aims can conflict</a:t>
            </a:r>
          </a:p>
          <a:p>
            <a:r>
              <a:rPr lang="en-GB" dirty="0"/>
              <a:t>While biodiversity in decline, some species have seen huge growth rates</a:t>
            </a:r>
          </a:p>
          <a:p>
            <a:r>
              <a:rPr lang="en-GB" dirty="0"/>
              <a:t>Resulting in damage to crops</a:t>
            </a:r>
          </a:p>
          <a:p>
            <a:r>
              <a:rPr lang="en-GB" dirty="0"/>
              <a:t>Need for information to help guide decision making</a:t>
            </a:r>
          </a:p>
        </p:txBody>
      </p:sp>
      <p:pic>
        <p:nvPicPr>
          <p:cNvPr id="27" name="Picture Placeholder 26" descr="A group of geese in a field&#10;&#10;Description automatically generated">
            <a:extLst>
              <a:ext uri="{FF2B5EF4-FFF2-40B4-BE49-F238E27FC236}">
                <a16:creationId xmlns:a16="http://schemas.microsoft.com/office/drawing/2014/main" id="{62B457E9-535A-51A6-77EB-7A62822ADBF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2552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monkey climbing on a corn stalk&#10;&#10;Description automatically generated">
            <a:extLst>
              <a:ext uri="{FF2B5EF4-FFF2-40B4-BE49-F238E27FC236}">
                <a16:creationId xmlns:a16="http://schemas.microsoft.com/office/drawing/2014/main" id="{71DCE011-5714-AA14-12C9-558AC2B74D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r="2610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wildlife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much does the density of animals impact crop yields?</a:t>
            </a:r>
          </a:p>
          <a:p>
            <a:r>
              <a:rPr lang="en-GB" dirty="0"/>
              <a:t>Do some species cause more damage at the same density?</a:t>
            </a:r>
          </a:p>
          <a:p>
            <a:r>
              <a:rPr lang="en-GB" dirty="0"/>
              <a:t>Different species damage plants in different ways</a:t>
            </a:r>
          </a:p>
          <a:p>
            <a:r>
              <a:rPr lang="en-GB" dirty="0"/>
              <a:t>Individuals of different species can eat different volumes of food</a:t>
            </a:r>
          </a:p>
          <a:p>
            <a:r>
              <a:rPr lang="en-GB" dirty="0"/>
              <a:t>How would you attempt to answer this?</a:t>
            </a:r>
          </a:p>
        </p:txBody>
      </p:sp>
    </p:spTree>
    <p:extLst>
      <p:ext uri="{BB962C8B-B14F-4D97-AF65-F5344CB8AC3E}">
        <p14:creationId xmlns:p14="http://schemas.microsoft.com/office/powerpoint/2010/main" val="1447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pig walking on grass&#10;&#10;Description automatically generated">
            <a:extLst>
              <a:ext uri="{FF2B5EF4-FFF2-40B4-BE49-F238E27FC236}">
                <a16:creationId xmlns:a16="http://schemas.microsoft.com/office/drawing/2014/main" id="{AEBCA779-48B5-1E78-4BAB-CDF01F5AC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338" y="1639271"/>
            <a:ext cx="2794000" cy="1765300"/>
          </a:xfrm>
          <a:prstGeom prst="rect">
            <a:avLst/>
          </a:prstGeom>
        </p:spPr>
      </p:pic>
      <p:pic>
        <p:nvPicPr>
          <p:cNvPr id="10" name="Picture 9" descr="A deer with antlers standing in a field&#10;&#10;Description automatically generated">
            <a:extLst>
              <a:ext uri="{FF2B5EF4-FFF2-40B4-BE49-F238E27FC236}">
                <a16:creationId xmlns:a16="http://schemas.microsoft.com/office/drawing/2014/main" id="{40AF0183-0C87-870D-7129-92419E9E8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335" y="3564042"/>
            <a:ext cx="2791003" cy="1852211"/>
          </a:xfrm>
          <a:prstGeom prst="rect">
            <a:avLst/>
          </a:prstGeom>
        </p:spPr>
      </p:pic>
      <p:pic>
        <p:nvPicPr>
          <p:cNvPr id="12" name="Picture 11" descr="A brown rat on the ground&#10;&#10;Description automatically generated">
            <a:extLst>
              <a:ext uri="{FF2B5EF4-FFF2-40B4-BE49-F238E27FC236}">
                <a16:creationId xmlns:a16="http://schemas.microsoft.com/office/drawing/2014/main" id="{FD6B9137-6F0F-6F50-07B7-BBA4A50524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/>
          <a:stretch/>
        </p:blipFill>
        <p:spPr>
          <a:xfrm>
            <a:off x="6675178" y="3859282"/>
            <a:ext cx="2252624" cy="15569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C57DCB-9843-04C7-A51D-C9D99CEE7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78" y="1639271"/>
            <a:ext cx="2236739" cy="2058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crop?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Experimental approach</a:t>
            </a:r>
          </a:p>
          <a:p>
            <a:r>
              <a:rPr lang="en-GB" dirty="0"/>
              <a:t>Four Indian herbivores</a:t>
            </a:r>
          </a:p>
          <a:p>
            <a:pPr lvl="1"/>
            <a:r>
              <a:rPr lang="en-GB" dirty="0"/>
              <a:t>Indian boar (</a:t>
            </a:r>
            <a:r>
              <a:rPr lang="en-GB" i="1" dirty="0"/>
              <a:t>Sus scrofa cristatus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Chital (</a:t>
            </a:r>
            <a:r>
              <a:rPr lang="en-GB" i="1" dirty="0"/>
              <a:t>Axis axis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Greater bandicoot rat (</a:t>
            </a:r>
            <a:r>
              <a:rPr lang="en-GB" i="1" dirty="0" err="1"/>
              <a:t>Bandicota</a:t>
            </a:r>
            <a:r>
              <a:rPr lang="en-GB" i="1" dirty="0"/>
              <a:t> indica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Malabar Gray </a:t>
            </a:r>
            <a:r>
              <a:rPr lang="en-GB" dirty="0" err="1"/>
              <a:t>Lenagur</a:t>
            </a:r>
            <a:r>
              <a:rPr lang="en-GB" dirty="0"/>
              <a:t> (</a:t>
            </a:r>
            <a:r>
              <a:rPr lang="en-GB" i="1" dirty="0"/>
              <a:t>Semnopithecus </a:t>
            </a:r>
            <a:r>
              <a:rPr lang="en-GB" i="1" dirty="0" err="1"/>
              <a:t>hypoleucos</a:t>
            </a:r>
            <a:r>
              <a:rPr lang="en-GB" dirty="0"/>
              <a:t>)</a:t>
            </a:r>
          </a:p>
          <a:p>
            <a:r>
              <a:rPr lang="en-GB" dirty="0"/>
              <a:t>Controlled density of each species in each plot</a:t>
            </a:r>
          </a:p>
          <a:p>
            <a:r>
              <a:rPr lang="en-GB" dirty="0"/>
              <a:t>Measure yield of crop (response)</a:t>
            </a:r>
          </a:p>
          <a:p>
            <a:r>
              <a:rPr lang="en-GB" dirty="0"/>
              <a:t>We want to understand how each species and their densities influences crop yield</a:t>
            </a:r>
          </a:p>
          <a:p>
            <a:r>
              <a:rPr lang="en-GB" dirty="0"/>
              <a:t>So,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+ density</a:t>
            </a:r>
            <a:r>
              <a:rPr lang="en-GB" dirty="0"/>
              <a:t>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1523778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187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data</a:t>
            </a:r>
          </a:p>
        </p:txBody>
      </p:sp>
    </p:spTree>
    <p:extLst>
      <p:ext uri="{BB962C8B-B14F-4D97-AF65-F5344CB8AC3E}">
        <p14:creationId xmlns:p14="http://schemas.microsoft.com/office/powerpoint/2010/main" val="28681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4D39-1888-8CDE-A91A-22D0FB2C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5DA0-7071-25C5-3BB5-6DD47A87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always start with EDA:</a:t>
            </a:r>
          </a:p>
          <a:p>
            <a:pPr lvl="1"/>
            <a:r>
              <a:rPr lang="en-GB" dirty="0"/>
              <a:t>Notice anything weird?</a:t>
            </a:r>
          </a:p>
          <a:p>
            <a:pPr lvl="1"/>
            <a:r>
              <a:rPr lang="en-GB" dirty="0"/>
              <a:t>Any surprises or concerns?</a:t>
            </a:r>
          </a:p>
          <a:p>
            <a:r>
              <a:rPr lang="en-GB" dirty="0"/>
              <a:t>Is this the best way to visualise the data?</a:t>
            </a:r>
          </a:p>
          <a:p>
            <a:pPr lvl="1"/>
            <a:r>
              <a:rPr lang="en-GB" dirty="0"/>
              <a:t>Our question is if the relationship differs between species</a:t>
            </a:r>
          </a:p>
          <a:p>
            <a:pPr lvl="1"/>
            <a:r>
              <a:rPr lang="en-GB" dirty="0"/>
              <a:t>We can show this with colour</a:t>
            </a:r>
          </a:p>
          <a:p>
            <a:pPr lvl="1"/>
            <a:r>
              <a:rPr lang="en-GB" dirty="0"/>
              <a:t>Or with facets (clearer?)</a:t>
            </a:r>
          </a:p>
          <a:p>
            <a:r>
              <a:rPr lang="en-GB" dirty="0"/>
              <a:t>What do you see?</a:t>
            </a:r>
          </a:p>
        </p:txBody>
      </p:sp>
      <p:pic>
        <p:nvPicPr>
          <p:cNvPr id="10" name="Picture Placeholder 9" descr="A screen shot of a graph&#10;&#10;Description automatically generated">
            <a:extLst>
              <a:ext uri="{FF2B5EF4-FFF2-40B4-BE49-F238E27FC236}">
                <a16:creationId xmlns:a16="http://schemas.microsoft.com/office/drawing/2014/main" id="{1069A9A0-F261-DAFB-197D-780639A634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9655C2CD-DACB-1828-1236-D308F1981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56" y="0"/>
            <a:ext cx="5751871" cy="6858000"/>
          </a:xfrm>
          <a:prstGeom prst="rect">
            <a:avLst/>
          </a:prstGeom>
        </p:spPr>
      </p:pic>
      <p:pic>
        <p:nvPicPr>
          <p:cNvPr id="15" name="Picture 14" descr="A graph of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3603C6F9-2614-CDF8-8F11-90D3C4525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91AB-503D-FBDB-97E7-84F446C9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might the results look like?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/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crop ~ species + density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By including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species</a:t>
                </a:r>
                <a:r>
                  <a:rPr lang="en-GB" dirty="0"/>
                  <a:t>, we allow for each species to have their own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0,…,3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But we only have a single parameter to describe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density</a:t>
                </a:r>
                <a:r>
                  <a:rPr lang="en-GB" dirty="0"/>
                  <a:t>, so all species have the same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The lines will always be parallel </a:t>
                </a:r>
              </a:p>
              <a:p>
                <a:r>
                  <a:rPr lang="en-GB" dirty="0"/>
                  <a:t>Does that make </a:t>
                </a:r>
                <a:r>
                  <a:rPr lang="en-GB" dirty="0">
                    <a:solidFill>
                      <a:srgbClr val="FFFF00"/>
                    </a:solidFill>
                  </a:rPr>
                  <a:t>biological</a:t>
                </a:r>
                <a:r>
                  <a:rPr lang="en-GB" dirty="0"/>
                  <a:t> sense, and does it answer our question?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3"/>
                <a:stretch>
                  <a:fillRect l="-1726" t="-3023" r="-2685" b="-41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colored lines&#10;&#10;Description automatically generated">
            <a:extLst>
              <a:ext uri="{FF2B5EF4-FFF2-40B4-BE49-F238E27FC236}">
                <a16:creationId xmlns:a16="http://schemas.microsoft.com/office/drawing/2014/main" id="{8C5557FE-05B6-2F2B-3955-2CEC45084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689BC639-79C1-E8C0-73F1-B8A879938826}"/>
              </a:ext>
            </a:extLst>
          </p:cNvPr>
          <p:cNvGrpSpPr/>
          <p:nvPr/>
        </p:nvGrpSpPr>
        <p:grpSpPr>
          <a:xfrm>
            <a:off x="8742515" y="4857750"/>
            <a:ext cx="719599" cy="1015990"/>
            <a:chOff x="8742515" y="4857750"/>
            <a:chExt cx="719599" cy="101599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11CC30-DEB7-AA90-785B-982AFA35B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64BE53-5990-EFA0-F29A-EDAF4CC1E942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B1B6AC-B139-209B-C3E2-A3E6C111E2E6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B1B6AC-B139-209B-C3E2-A3E6C111E2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18293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0DF80D-82CE-ED0E-C09B-38A4B132CEAE}"/>
              </a:ext>
            </a:extLst>
          </p:cNvPr>
          <p:cNvGrpSpPr/>
          <p:nvPr/>
        </p:nvGrpSpPr>
        <p:grpSpPr>
          <a:xfrm>
            <a:off x="8746886" y="3235082"/>
            <a:ext cx="719599" cy="1015990"/>
            <a:chOff x="8742515" y="4857750"/>
            <a:chExt cx="719599" cy="101599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576415-6091-27A2-03B0-C4FC97C9A6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F75A38E-751E-D6E4-429F-F587DEE7216F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006EA65-C962-223E-8D33-7188DAB55E78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006EA65-C962-223E-8D33-7188DAB55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19753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AFF8B5-A46A-80CC-61C0-5D02080A3BF7}"/>
              </a:ext>
            </a:extLst>
          </p:cNvPr>
          <p:cNvGrpSpPr/>
          <p:nvPr/>
        </p:nvGrpSpPr>
        <p:grpSpPr>
          <a:xfrm>
            <a:off x="8742514" y="1192512"/>
            <a:ext cx="719599" cy="1015990"/>
            <a:chOff x="8742515" y="4857750"/>
            <a:chExt cx="719599" cy="10159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D0C5A00-3C1F-38D4-C6B0-300726D97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AD02E1E-56E7-FC77-DA9B-E4714B363CCB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911FDD-742E-6076-AB89-428BFCFD6501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911FDD-742E-6076-AB89-428BFCFD6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18293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5EC20C-90AC-4211-8992-2B386EBCAE50}"/>
              </a:ext>
            </a:extLst>
          </p:cNvPr>
          <p:cNvGrpSpPr/>
          <p:nvPr/>
        </p:nvGrpSpPr>
        <p:grpSpPr>
          <a:xfrm>
            <a:off x="8751305" y="2804748"/>
            <a:ext cx="719599" cy="412750"/>
            <a:chOff x="8751305" y="2804748"/>
            <a:chExt cx="719599" cy="4127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10B9199-ED10-821A-0A1F-295B6CA6B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305" y="3217498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D1D4B-A2DE-5D1A-5F2A-A26C844E343A}"/>
                </a:ext>
              </a:extLst>
            </p:cNvPr>
            <p:cNvCxnSpPr>
              <a:cxnSpLocks/>
            </p:cNvCxnSpPr>
            <p:nvPr/>
          </p:nvCxnSpPr>
          <p:spPr>
            <a:xfrm>
              <a:off x="8751305" y="2804748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E9D952A-4FA9-769E-77EF-FF5B2D13D5A2}"/>
              </a:ext>
            </a:extLst>
          </p:cNvPr>
          <p:cNvGrpSpPr/>
          <p:nvPr/>
        </p:nvGrpSpPr>
        <p:grpSpPr>
          <a:xfrm>
            <a:off x="7313151" y="2400300"/>
            <a:ext cx="562418" cy="1625600"/>
            <a:chOff x="7313151" y="2400300"/>
            <a:chExt cx="562418" cy="1625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BC223F-62F0-80DC-8A2E-87270CABA70D}"/>
                    </a:ext>
                  </a:extLst>
                </p:cNvPr>
                <p:cNvSpPr txBox="1"/>
                <p:nvPr/>
              </p:nvSpPr>
              <p:spPr>
                <a:xfrm>
                  <a:off x="7389063" y="350654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BC223F-62F0-80DC-8A2E-87270CABA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063" y="3506549"/>
                  <a:ext cx="486506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1951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0FA43E-5562-83D7-696F-98FF7D182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151" y="2400300"/>
              <a:ext cx="0" cy="16256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5A1F45-3F0C-5369-C411-80198892D18C}"/>
              </a:ext>
            </a:extLst>
          </p:cNvPr>
          <p:cNvGrpSpPr/>
          <p:nvPr/>
        </p:nvGrpSpPr>
        <p:grpSpPr>
          <a:xfrm>
            <a:off x="6652050" y="2142428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C9240E-A109-E8CE-F33E-3343F8000AF5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90980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C9240E-A109-E8CE-F33E-3343F8000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3"/>
                  <a:stretch>
                    <a:fillRect r="-20732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31FD7EC-5B45-03E3-C75E-4949A999453D}"/>
                </a:ext>
              </a:extLst>
            </p:cNvPr>
            <p:cNvCxnSpPr>
              <a:cxnSpLocks/>
              <a:stCxn id="18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7A507C-A436-B3F4-53A5-0AF4293886B1}"/>
              </a:ext>
            </a:extLst>
          </p:cNvPr>
          <p:cNvGrpSpPr/>
          <p:nvPr/>
        </p:nvGrpSpPr>
        <p:grpSpPr>
          <a:xfrm>
            <a:off x="7311103" y="1978451"/>
            <a:ext cx="578974" cy="519351"/>
            <a:chOff x="7311103" y="1978451"/>
            <a:chExt cx="578974" cy="5193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2FB49DC-D567-4C2C-A1AC-D8A931219E1C}"/>
                    </a:ext>
                  </a:extLst>
                </p:cNvPr>
                <p:cNvSpPr txBox="1"/>
                <p:nvPr/>
              </p:nvSpPr>
              <p:spPr>
                <a:xfrm>
                  <a:off x="7406204" y="1978451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2FB49DC-D567-4C2C-A1AC-D8A931219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204" y="1978451"/>
                  <a:ext cx="483873" cy="519351"/>
                </a:xfrm>
                <a:prstGeom prst="ellipse">
                  <a:avLst/>
                </a:prstGeom>
                <a:blipFill>
                  <a:blip r:embed="rId14"/>
                  <a:stretch>
                    <a:fillRect r="-22222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EB02E0-C885-29BA-CB2B-7C6814681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1991948"/>
              <a:ext cx="0" cy="4083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70D6C9-ED69-1610-7FE3-AE15BB499DB6}"/>
              </a:ext>
            </a:extLst>
          </p:cNvPr>
          <p:cNvGrpSpPr/>
          <p:nvPr/>
        </p:nvGrpSpPr>
        <p:grpSpPr>
          <a:xfrm>
            <a:off x="7219734" y="352851"/>
            <a:ext cx="577875" cy="2047449"/>
            <a:chOff x="7219734" y="352851"/>
            <a:chExt cx="577875" cy="20474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5A158A-7E55-3D69-E526-C2112BF37CEC}"/>
                    </a:ext>
                  </a:extLst>
                </p:cNvPr>
                <p:cNvSpPr txBox="1"/>
                <p:nvPr/>
              </p:nvSpPr>
              <p:spPr>
                <a:xfrm>
                  <a:off x="7311103" y="80868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5A158A-7E55-3D69-E526-C2112BF37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1103" y="808687"/>
                  <a:ext cx="486506" cy="519351"/>
                </a:xfrm>
                <a:prstGeom prst="ellipse">
                  <a:avLst/>
                </a:prstGeom>
                <a:blipFill>
                  <a:blip r:embed="rId15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0C8694-CC43-ED87-21BB-9CFC5B7BA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352851"/>
              <a:ext cx="0" cy="204744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Placeholder 9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11DB3763-6428-C850-CC0F-CCB00556F2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7664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Biological sense?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Species clearly differ</a:t>
            </a:r>
          </a:p>
          <a:p>
            <a:r>
              <a:rPr lang="en-GB" dirty="0"/>
              <a:t>The damage done by an individual of each species clearly differ</a:t>
            </a:r>
          </a:p>
          <a:p>
            <a:pPr lvl="1"/>
            <a:r>
              <a:rPr lang="en-GB" dirty="0"/>
              <a:t>One boar eats a lot more than one rat</a:t>
            </a:r>
          </a:p>
          <a:p>
            <a:pPr lvl="1"/>
            <a:r>
              <a:rPr lang="en-GB" dirty="0"/>
              <a:t>Having 1,000 boar in your field is not the same as 1,000 rats</a:t>
            </a:r>
          </a:p>
          <a:p>
            <a:r>
              <a:rPr lang="en-GB" dirty="0"/>
              <a:t>Surely the slopes for each species could be different?</a:t>
            </a:r>
          </a:p>
        </p:txBody>
      </p:sp>
      <p:pic>
        <p:nvPicPr>
          <p:cNvPr id="9" name="Picture 8" descr="A pig digging in the dirt&#10;&#10;Description automatically generated">
            <a:extLst>
              <a:ext uri="{FF2B5EF4-FFF2-40B4-BE49-F238E27FC236}">
                <a16:creationId xmlns:a16="http://schemas.microsoft.com/office/drawing/2014/main" id="{5ADD76D3-1900-4CF9-60E6-EDE48240A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492" y="371192"/>
            <a:ext cx="4694864" cy="3127961"/>
          </a:xfrm>
          <a:prstGeom prst="rect">
            <a:avLst/>
          </a:prstGeom>
        </p:spPr>
      </p:pic>
      <p:pic>
        <p:nvPicPr>
          <p:cNvPr id="13" name="Picture 12" descr="A close-up of a blade of grass&#10;&#10;Description automatically generated">
            <a:extLst>
              <a:ext uri="{FF2B5EF4-FFF2-40B4-BE49-F238E27FC236}">
                <a16:creationId xmlns:a16="http://schemas.microsoft.com/office/drawing/2014/main" id="{E2246254-A4FB-35DF-FA1C-4D6DF4F13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558" y="3716436"/>
            <a:ext cx="4675798" cy="313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94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only the following information, tell me if my cup of coffee is sweet or not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2FA656B2-0B99-5256-A388-66790673D8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stir my coffee with a spoon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AF70E416-77DA-316A-3AB3-C80242B9D9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add sugar to my coffee</a:t>
            </a:r>
          </a:p>
        </p:txBody>
      </p:sp>
      <p:pic>
        <p:nvPicPr>
          <p:cNvPr id="5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590A52A8-1999-3A25-61B7-3A5628C790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6359525" y="0"/>
            <a:ext cx="5832475" cy="51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0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Sometimes I add sugar to my coffee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Sometimes I stir my coffee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75E71B4F-F922-81A8-E841-0D973B0BBF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8253640" y="312058"/>
            <a:ext cx="2437912" cy="2866571"/>
          </a:xfrm>
          <a:prstGeom prst="rect">
            <a:avLst/>
          </a:prstGeom>
        </p:spPr>
      </p:pic>
      <p:pic>
        <p:nvPicPr>
          <p:cNvPr id="6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C075BAC3-B370-9344-14F3-D8347E8B9F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7935995" y="3429000"/>
            <a:ext cx="3073202" cy="26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6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have added sugar to my coffee</a:t>
            </a:r>
          </a:p>
          <a:p>
            <a:pPr marL="0" indent="0">
              <a:buNone/>
            </a:pPr>
            <a:r>
              <a:rPr lang="en-GB" dirty="0"/>
              <a:t>And </a:t>
            </a:r>
            <a:r>
              <a:rPr lang="en-GB" b="1" dirty="0">
                <a:solidFill>
                  <a:srgbClr val="FFFF00"/>
                </a:solidFill>
              </a:rPr>
              <a:t>at the same time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I have stirred the coffee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83889C45-89B2-9623-8A6F-7BCBE56A7C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8253640" y="312058"/>
            <a:ext cx="2437912" cy="2866571"/>
          </a:xfrm>
          <a:prstGeom prst="rect">
            <a:avLst/>
          </a:prstGeom>
        </p:spPr>
      </p:pic>
      <p:pic>
        <p:nvPicPr>
          <p:cNvPr id="6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5008E625-B741-0578-768B-A63D5DB9DA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7935995" y="3429000"/>
            <a:ext cx="3073202" cy="2699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E76297-A4ED-1214-4104-2BD942539CDC}"/>
              </a:ext>
            </a:extLst>
          </p:cNvPr>
          <p:cNvSpPr txBox="1"/>
          <p:nvPr/>
        </p:nvSpPr>
        <p:spPr>
          <a:xfrm>
            <a:off x="8961879" y="3325429"/>
            <a:ext cx="1021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i="1" dirty="0">
                <a:solidFill>
                  <a:srgbClr val="FFFF00"/>
                </a:solidFill>
              </a:rPr>
              <a:t>and</a:t>
            </a:r>
            <a:endParaRPr lang="en-GB" b="1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8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answer question you need to know both pieces of information</a:t>
            </a:r>
          </a:p>
          <a:p>
            <a:pPr lvl="1"/>
            <a:r>
              <a:rPr lang="en-GB" dirty="0"/>
              <a:t>But just knowing that sometimes I stir and sometimes I add sugar doesn’t actually help very much</a:t>
            </a:r>
          </a:p>
          <a:p>
            <a:r>
              <a:rPr lang="en-GB" dirty="0"/>
              <a:t>We need to know if both adding sugar and stirring occurred at the same time</a:t>
            </a:r>
          </a:p>
          <a:p>
            <a:r>
              <a:rPr lang="en-GB" dirty="0"/>
              <a:t>How do we tell the model this?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E5F98108-625A-DD98-B570-8B5AB6906B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2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11" y="2009869"/>
            <a:ext cx="4740479" cy="4127411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Will my tea be sweet?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Sweet ~ sugar + stir</a:t>
            </a:r>
          </a:p>
          <a:p>
            <a:r>
              <a:rPr lang="en-GB" dirty="0">
                <a:cs typeface="Courier New" panose="02070309020205020404" pitchFamily="49" charset="0"/>
              </a:rPr>
              <a:t>The model doesn’t know that the effectiveness of adding sugar depends on stirring and vice versa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if I stirred, but didn’t add sugar?</a:t>
            </a:r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Treats both variables as being independent of each other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E41F70-D0DB-0B50-E3F8-19AE0906F8A0}"/>
              </a:ext>
            </a:extLst>
          </p:cNvPr>
          <p:cNvGrpSpPr/>
          <p:nvPr/>
        </p:nvGrpSpPr>
        <p:grpSpPr>
          <a:xfrm>
            <a:off x="5268090" y="2087177"/>
            <a:ext cx="3381377" cy="3294012"/>
            <a:chOff x="8445039" y="1105489"/>
            <a:chExt cx="3381377" cy="329401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7BFEAF2-B532-F9DE-28A6-EEFC8576A4EC}"/>
                </a:ext>
              </a:extLst>
            </p:cNvPr>
            <p:cNvGrpSpPr/>
            <p:nvPr/>
          </p:nvGrpSpPr>
          <p:grpSpPr>
            <a:xfrm>
              <a:off x="8454565" y="1105489"/>
              <a:ext cx="3371851" cy="3294012"/>
              <a:chOff x="8311690" y="1416050"/>
              <a:chExt cx="3371851" cy="3294012"/>
            </a:xfrm>
          </p:grpSpPr>
          <p:pic>
            <p:nvPicPr>
              <p:cNvPr id="4" name="Picture 3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B7F8CBD0-D84B-3374-D624-B942EDD2A4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8311690" y="1416050"/>
                <a:ext cx="1676400" cy="1589036"/>
              </a:xfrm>
              <a:prstGeom prst="rect">
                <a:avLst/>
              </a:prstGeom>
            </p:spPr>
          </p:pic>
          <p:pic>
            <p:nvPicPr>
              <p:cNvPr id="5" name="Picture 4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4EB12315-515F-254B-AEA3-0D19297308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10007141" y="1416050"/>
                <a:ext cx="1676400" cy="1589036"/>
              </a:xfrm>
              <a:prstGeom prst="rect">
                <a:avLst/>
              </a:prstGeom>
            </p:spPr>
          </p:pic>
          <p:sp>
            <p:nvSpPr>
              <p:cNvPr id="10" name="&quot;Not Allowed&quot; Symbol 9">
                <a:extLst>
                  <a:ext uri="{FF2B5EF4-FFF2-40B4-BE49-F238E27FC236}">
                    <a16:creationId xmlns:a16="http://schemas.microsoft.com/office/drawing/2014/main" id="{8FB6F91D-9BD6-EFF9-E55F-6AAF2AF99E01}"/>
                  </a:ext>
                </a:extLst>
              </p:cNvPr>
              <p:cNvSpPr/>
              <p:nvPr/>
            </p:nvSpPr>
            <p:spPr>
              <a:xfrm>
                <a:off x="10216689" y="1644650"/>
                <a:ext cx="1295400" cy="1250950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9C2B87-6886-54FD-7FFA-F45288F1C155}"/>
                  </a:ext>
                </a:extLst>
              </p:cNvPr>
              <p:cNvSpPr txBox="1"/>
              <p:nvPr/>
            </p:nvSpPr>
            <p:spPr>
              <a:xfrm>
                <a:off x="8750363" y="3551426"/>
                <a:ext cx="8929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Maybe </a:t>
                </a:r>
                <a:br>
                  <a:rPr lang="en-GB" dirty="0"/>
                </a:br>
                <a:r>
                  <a:rPr lang="en-GB" dirty="0"/>
                  <a:t>sweet?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E517BD-D38F-D09F-A882-0C4B3D0A10F9}"/>
                  </a:ext>
                </a:extLst>
              </p:cNvPr>
              <p:cNvSpPr txBox="1"/>
              <p:nvPr/>
            </p:nvSpPr>
            <p:spPr>
              <a:xfrm>
                <a:off x="10253166" y="3695700"/>
                <a:ext cx="1210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Not Sweet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80471F4-09C2-83DC-A240-8AF50537D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071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C9AEF7E-F2EB-0040-A11C-29E05C8AF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4710062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54B2A6E-8C66-4F83-0B38-ACD2E0A05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3005086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2FC770C-FCB6-31D0-E066-332BBF3E0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2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8052F-B94A-3DF9-DC95-0707A6011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835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EEB56D-9462-DA38-72A7-E79B327204F7}"/>
                </a:ext>
              </a:extLst>
            </p:cNvPr>
            <p:cNvCxnSpPr>
              <a:cxnSpLocks/>
            </p:cNvCxnSpPr>
            <p:nvPr/>
          </p:nvCxnSpPr>
          <p:spPr>
            <a:xfrm>
              <a:off x="8445039" y="1105489"/>
              <a:ext cx="33718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6FEE622-5DD7-6F73-C748-1AAA588B0B41}"/>
              </a:ext>
            </a:extLst>
          </p:cNvPr>
          <p:cNvGrpSpPr/>
          <p:nvPr/>
        </p:nvGrpSpPr>
        <p:grpSpPr>
          <a:xfrm>
            <a:off x="8810623" y="2087177"/>
            <a:ext cx="3381377" cy="3294013"/>
            <a:chOff x="8740315" y="1236277"/>
            <a:chExt cx="3381377" cy="3294013"/>
          </a:xfrm>
        </p:grpSpPr>
        <p:pic>
          <p:nvPicPr>
            <p:cNvPr id="41" name="Picture 40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E79D402-B18E-2963-E4A3-D96CA3AD68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5180" b="16894"/>
            <a:stretch/>
          </p:blipFill>
          <p:spPr>
            <a:xfrm>
              <a:off x="10455589" y="1236277"/>
              <a:ext cx="1655807" cy="1580449"/>
            </a:xfrm>
            <a:prstGeom prst="rect">
              <a:avLst/>
            </a:prstGeom>
          </p:spPr>
        </p:pic>
        <p:pic>
          <p:nvPicPr>
            <p:cNvPr id="8" name="Picture 7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893C8856-8FA8-D215-8C49-EF55F6416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6894"/>
            <a:stretch/>
          </p:blipFill>
          <p:spPr>
            <a:xfrm>
              <a:off x="8757222" y="1244864"/>
              <a:ext cx="1698367" cy="1580449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9C59FC4-F5E7-7D2F-49C8-FA4ECF896860}"/>
                </a:ext>
              </a:extLst>
            </p:cNvPr>
            <p:cNvGrpSpPr/>
            <p:nvPr/>
          </p:nvGrpSpPr>
          <p:grpSpPr>
            <a:xfrm>
              <a:off x="8740315" y="1236278"/>
              <a:ext cx="3381377" cy="3294012"/>
              <a:chOff x="8445039" y="1105489"/>
              <a:chExt cx="3381377" cy="329401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D7321B6-B71D-E4FE-25F5-760521D1726F}"/>
                  </a:ext>
                </a:extLst>
              </p:cNvPr>
              <p:cNvGrpSpPr/>
              <p:nvPr/>
            </p:nvGrpSpPr>
            <p:grpSpPr>
              <a:xfrm>
                <a:off x="8454565" y="1105489"/>
                <a:ext cx="3371851" cy="3294012"/>
                <a:chOff x="8311690" y="1416050"/>
                <a:chExt cx="3371851" cy="3294012"/>
              </a:xfrm>
            </p:grpSpPr>
            <p:sp>
              <p:nvSpPr>
                <p:cNvPr id="33" name="&quot;Not Allowed&quot; Symbol 32">
                  <a:extLst>
                    <a:ext uri="{FF2B5EF4-FFF2-40B4-BE49-F238E27FC236}">
                      <a16:creationId xmlns:a16="http://schemas.microsoft.com/office/drawing/2014/main" id="{77CC0B4D-58A1-6C39-B5BF-437F2DDA6890}"/>
                    </a:ext>
                  </a:extLst>
                </p:cNvPr>
                <p:cNvSpPr/>
                <p:nvPr/>
              </p:nvSpPr>
              <p:spPr>
                <a:xfrm>
                  <a:off x="10216689" y="1644650"/>
                  <a:ext cx="1295400" cy="1250950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B0DFCAC-2D58-BE26-FC95-224EF68471D1}"/>
                    </a:ext>
                  </a:extLst>
                </p:cNvPr>
                <p:cNvSpPr txBox="1"/>
                <p:nvPr/>
              </p:nvSpPr>
              <p:spPr>
                <a:xfrm>
                  <a:off x="8756060" y="3548976"/>
                  <a:ext cx="892937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Maybe </a:t>
                  </a:r>
                  <a:br>
                    <a:rPr lang="en-GB" dirty="0"/>
                  </a:br>
                  <a:r>
                    <a:rPr lang="en-GB" dirty="0"/>
                    <a:t>sweet?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23388ED-FB58-D315-5CBD-DCF313D24CA3}"/>
                    </a:ext>
                  </a:extLst>
                </p:cNvPr>
                <p:cNvSpPr txBox="1"/>
                <p:nvPr/>
              </p:nvSpPr>
              <p:spPr>
                <a:xfrm>
                  <a:off x="10253166" y="3695700"/>
                  <a:ext cx="1210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Not Sweet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13C7EBD-0C42-E2EF-130C-34632EE65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071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E48D6E3-AEEC-0E61-6F00-884C1DF917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4710062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10A8676-0543-1B36-DC7E-62539F9B38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3005086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5AF3805-0448-5426-5B4F-20952EF80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2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97DBA51-6D6F-0A98-ECCE-8FC1F615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835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EB810EB-8F02-8722-BBDC-589FFC50B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5039" y="1105489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728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0479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Interactions specify that an outcome is a result of specific combinations of more than one variable</a:t>
            </a:r>
          </a:p>
          <a:p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The effectiveness of a covariate, depends on another covariate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Sweet ~ sugar </a:t>
            </a:r>
            <a:r>
              <a:rPr lang="en-GB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stir</a:t>
            </a:r>
            <a:endParaRPr lang="en-GB" dirty="0"/>
          </a:p>
          <a:p>
            <a:endParaRPr lang="en-GB" dirty="0">
              <a:latin typeface="Bahnschrift Light" panose="020B0502040204020203" pitchFamily="34" charset="0"/>
              <a:cs typeface="Courier New" panose="02070309020205020404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B43BCC-E368-9621-F5ED-EC343CB3ED01}"/>
              </a:ext>
            </a:extLst>
          </p:cNvPr>
          <p:cNvGrpSpPr/>
          <p:nvPr/>
        </p:nvGrpSpPr>
        <p:grpSpPr>
          <a:xfrm>
            <a:off x="6085010" y="1325563"/>
            <a:ext cx="5070218" cy="4998988"/>
            <a:chOff x="4578609" y="1597025"/>
            <a:chExt cx="5070218" cy="4998988"/>
          </a:xfrm>
        </p:grpSpPr>
        <p:pic>
          <p:nvPicPr>
            <p:cNvPr id="44" name="Picture 43" descr="A spoonful of salt&#10;&#10;Description automatically generated">
              <a:extLst>
                <a:ext uri="{FF2B5EF4-FFF2-40B4-BE49-F238E27FC236}">
                  <a16:creationId xmlns:a16="http://schemas.microsoft.com/office/drawing/2014/main" id="{346FE76B-CB0A-61D3-6C3E-8D4805246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6276976" y="1597025"/>
              <a:ext cx="1676400" cy="1589036"/>
            </a:xfrm>
            <a:prstGeom prst="rect">
              <a:avLst/>
            </a:prstGeom>
          </p:spPr>
        </p:pic>
        <p:pic>
          <p:nvPicPr>
            <p:cNvPr id="45" name="Picture 44" descr="A spoonful of salt&#10;&#10;Description automatically generated">
              <a:extLst>
                <a:ext uri="{FF2B5EF4-FFF2-40B4-BE49-F238E27FC236}">
                  <a16:creationId xmlns:a16="http://schemas.microsoft.com/office/drawing/2014/main" id="{CC9B1E1B-9CFA-2243-C57A-0001EC2E40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7972427" y="1597025"/>
              <a:ext cx="1676400" cy="1589036"/>
            </a:xfrm>
            <a:prstGeom prst="rect">
              <a:avLst/>
            </a:prstGeom>
          </p:spPr>
        </p:pic>
        <p:pic>
          <p:nvPicPr>
            <p:cNvPr id="46" name="Picture 45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BC802CB-578F-C0A6-89A6-75E4DA2E3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3186061"/>
              <a:ext cx="1698367" cy="1704976"/>
            </a:xfrm>
            <a:prstGeom prst="rect">
              <a:avLst/>
            </a:prstGeom>
          </p:spPr>
        </p:pic>
        <p:pic>
          <p:nvPicPr>
            <p:cNvPr id="47" name="Picture 46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6F40EE5-59BE-6BB5-7B73-4F92C3C29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4891037"/>
              <a:ext cx="1698367" cy="1704976"/>
            </a:xfrm>
            <a:prstGeom prst="rect">
              <a:avLst/>
            </a:prstGeom>
          </p:spPr>
        </p:pic>
        <p:sp>
          <p:nvSpPr>
            <p:cNvPr id="48" name="&quot;Not Allowed&quot; Symbol 47">
              <a:extLst>
                <a:ext uri="{FF2B5EF4-FFF2-40B4-BE49-F238E27FC236}">
                  <a16:creationId xmlns:a16="http://schemas.microsoft.com/office/drawing/2014/main" id="{D12AF4CB-CE0E-57D1-F3B3-282843514242}"/>
                </a:ext>
              </a:extLst>
            </p:cNvPr>
            <p:cNvSpPr/>
            <p:nvPr/>
          </p:nvSpPr>
          <p:spPr>
            <a:xfrm>
              <a:off x="8181975" y="1825625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9" name="&quot;Not Allowed&quot; Symbol 48">
              <a:extLst>
                <a:ext uri="{FF2B5EF4-FFF2-40B4-BE49-F238E27FC236}">
                  <a16:creationId xmlns:a16="http://schemas.microsoft.com/office/drawing/2014/main" id="{5626F92B-516A-6F08-0F3C-42FE516B5D0D}"/>
                </a:ext>
              </a:extLst>
            </p:cNvPr>
            <p:cNvSpPr/>
            <p:nvPr/>
          </p:nvSpPr>
          <p:spPr>
            <a:xfrm>
              <a:off x="4800600" y="5135538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8DE7FE-C529-A204-3055-440E5F992B6B}"/>
                </a:ext>
              </a:extLst>
            </p:cNvPr>
            <p:cNvSpPr txBox="1"/>
            <p:nvPr/>
          </p:nvSpPr>
          <p:spPr>
            <a:xfrm>
              <a:off x="6715125" y="3876675"/>
              <a:ext cx="798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Sweet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315E20-CE0E-84E7-23EE-9EA74CE4DD9B}"/>
                </a:ext>
              </a:extLst>
            </p:cNvPr>
            <p:cNvSpPr txBox="1"/>
            <p:nvPr/>
          </p:nvSpPr>
          <p:spPr>
            <a:xfrm>
              <a:off x="8218452" y="3876675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84274C3-8E2B-920C-E4DF-153A56E74A11}"/>
                </a:ext>
              </a:extLst>
            </p:cNvPr>
            <p:cNvSpPr txBox="1"/>
            <p:nvPr/>
          </p:nvSpPr>
          <p:spPr>
            <a:xfrm>
              <a:off x="6509135" y="5578390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3CAD47-0FA7-AF7B-321F-136E5AB504E6}"/>
                </a:ext>
              </a:extLst>
            </p:cNvPr>
            <p:cNvSpPr txBox="1"/>
            <p:nvPr/>
          </p:nvSpPr>
          <p:spPr>
            <a:xfrm>
              <a:off x="8204587" y="5576347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7AC2A4-DD25-237B-A108-A2F4EDA94B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7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FE027F-5960-40FC-3657-C12975B55665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4891037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5C69D2-6780-823A-98D7-6BDC07BBCCF7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3186061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A6CA2E-7B0F-DE82-4F5B-9DA44F324C93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8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517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Two ways to specify interactions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“formal”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+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marL="457200" lvl="1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+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: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“shortcut”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*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  <a:blipFill>
                <a:blip r:embed="rId2"/>
                <a:stretch>
                  <a:fillRect l="-2151" t="-2521" b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38D3316-4420-4999-BAAA-CAB091F6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23" y="1325563"/>
            <a:ext cx="4909848" cy="2375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E1222-B8C6-4675-BFE9-CC213BDE3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304" y="4090987"/>
            <a:ext cx="2724150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4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3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F2B03B-9098-3C5E-AACF-8690EAEF6D2D}"/>
              </a:ext>
            </a:extLst>
          </p:cNvPr>
          <p:cNvGrpSpPr/>
          <p:nvPr/>
        </p:nvGrpSpPr>
        <p:grpSpPr>
          <a:xfrm>
            <a:off x="3202959" y="1605307"/>
            <a:ext cx="4416022" cy="3982392"/>
            <a:chOff x="5855624" y="1578147"/>
            <a:chExt cx="4416022" cy="398239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4E91E1-927F-A38B-ED3D-D07C7B64587E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63AAE5E-FBEB-93CB-9157-4C06357A4170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6D241C-1B8E-8BC1-942A-CAEBB7195BA8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835B032-DCC0-B014-9436-4A2EB2432657}"/>
                </a:ext>
              </a:extLst>
            </p:cNvPr>
            <p:cNvCxnSpPr>
              <a:stCxn id="3" idx="6"/>
              <a:endCxn id="2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1D68F05-DA07-8B0E-6838-E159A0DF00B7}"/>
                </a:ext>
              </a:extLst>
            </p:cNvPr>
            <p:cNvCxnSpPr>
              <a:cxnSpLocks/>
              <a:stCxn id="4" idx="6"/>
              <a:endCxn id="2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616378-DF8F-1AB3-CAF8-76F917905F40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4717545" y="3046011"/>
            <a:ext cx="1004245" cy="1272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9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/>
          <a:lstStyle/>
          <a:p>
            <a:r>
              <a:rPr lang="en-GB" dirty="0"/>
              <a:t>How much does density impact crop yields, and does this vary by species? </a:t>
            </a:r>
          </a:p>
          <a:p>
            <a:r>
              <a:rPr lang="en-GB" dirty="0"/>
              <a:t>We want to use an interaction to specify that the impact of density on yield differs between species: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</a:t>
            </a:r>
            <a:r>
              <a:rPr lang="en-GB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density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2064216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DC51A6-0662-4CD2-D344-D7FB088924CB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8501894" y="3504920"/>
            <a:ext cx="1000291" cy="13103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8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9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8646109C-8462-2BF6-1A1A-82AF381A4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4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7494F-DC84-33F2-34D6-EE7E80CD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species *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63BF-94B1-3832-19A6-40532D30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expand on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species + density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By using an interaction</a:t>
            </a:r>
          </a:p>
          <a:p>
            <a:r>
              <a:rPr lang="en-GB" dirty="0"/>
              <a:t>Each species’ intercept can still be different</a:t>
            </a:r>
          </a:p>
          <a:p>
            <a:r>
              <a:rPr lang="en-GB" dirty="0"/>
              <a:t>But the relationship with density can also be species specific</a:t>
            </a:r>
          </a:p>
        </p:txBody>
      </p:sp>
      <p:pic>
        <p:nvPicPr>
          <p:cNvPr id="6" name="Picture Placeholder 5" descr="A graph with colored lines&#10;&#10;Description automatically generated">
            <a:extLst>
              <a:ext uri="{FF2B5EF4-FFF2-40B4-BE49-F238E27FC236}">
                <a16:creationId xmlns:a16="http://schemas.microsoft.com/office/drawing/2014/main" id="{A3D29917-BE5C-316C-A4BA-787A8CE66F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6693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C717-6A7B-6DB8-2FC9-0E323079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FC6B-477C-BEFC-AC73-D1CA5176B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We started with just additive terms: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Now we include the interactions: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Just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1,…, 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are the difference in averages compared to the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5,…,7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are the difference in slope compared to the baseline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FC6B-477C-BEFC-AC73-D1CA5176B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4302" r="-1672" b="-5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graph with colored lines&#10;&#10;Description automatically generated">
            <a:extLst>
              <a:ext uri="{FF2B5EF4-FFF2-40B4-BE49-F238E27FC236}">
                <a16:creationId xmlns:a16="http://schemas.microsoft.com/office/drawing/2014/main" id="{932FF8ED-2BCD-D199-4650-4D097F77F1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7" name="Picture 6" descr="A graph with colored lines&#10;&#10;Description automatically generated">
            <a:extLst>
              <a:ext uri="{FF2B5EF4-FFF2-40B4-BE49-F238E27FC236}">
                <a16:creationId xmlns:a16="http://schemas.microsoft.com/office/drawing/2014/main" id="{8EE628B1-3D33-4232-A0BA-5D4F694EC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48" name="Picture 47" descr="A graph with colored lines&#10;&#10;Description automatically generated">
            <a:extLst>
              <a:ext uri="{FF2B5EF4-FFF2-40B4-BE49-F238E27FC236}">
                <a16:creationId xmlns:a16="http://schemas.microsoft.com/office/drawing/2014/main" id="{39B34474-6CC1-3975-AE8A-BB07B42B7A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D538EC0-736B-A01B-123C-6E89B80A9689}"/>
              </a:ext>
            </a:extLst>
          </p:cNvPr>
          <p:cNvGrpSpPr/>
          <p:nvPr/>
        </p:nvGrpSpPr>
        <p:grpSpPr>
          <a:xfrm>
            <a:off x="8738697" y="2714625"/>
            <a:ext cx="719599" cy="936828"/>
            <a:chOff x="8742515" y="4936912"/>
            <a:chExt cx="719599" cy="93682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BC3162-E66C-4445-519D-A941F6AEA8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D3C9AE-2D5E-83F2-8118-DB7C8A272137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936912"/>
              <a:ext cx="0" cy="333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DBC6F-4A50-517B-8BD2-0D6983FBA048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DBC6F-4A50-517B-8BD2-0D6983FBA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6"/>
                  <a:stretch>
                    <a:fillRect r="-18293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1A8F29-19D8-854B-CD2C-2EBBD57C535C}"/>
              </a:ext>
            </a:extLst>
          </p:cNvPr>
          <p:cNvGrpSpPr/>
          <p:nvPr/>
        </p:nvGrpSpPr>
        <p:grpSpPr>
          <a:xfrm>
            <a:off x="8738697" y="505575"/>
            <a:ext cx="577367" cy="571149"/>
            <a:chOff x="8738697" y="505575"/>
            <a:chExt cx="577367" cy="5711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00E99F-77BC-630E-D7F2-9437FBB29D43}"/>
                    </a:ext>
                  </a:extLst>
                </p:cNvPr>
                <p:cNvSpPr txBox="1"/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00E99F-77BC-630E-D7F2-9437FBB29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blipFill>
                  <a:blip r:embed="rId7"/>
                  <a:stretch>
                    <a:fillRect r="-21951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AAFC28-3950-76EE-6226-7CC6EC6837FE}"/>
                </a:ext>
              </a:extLst>
            </p:cNvPr>
            <p:cNvCxnSpPr>
              <a:cxnSpLocks/>
            </p:cNvCxnSpPr>
            <p:nvPr/>
          </p:nvCxnSpPr>
          <p:spPr>
            <a:xfrm>
              <a:off x="8738697" y="505575"/>
              <a:ext cx="0" cy="53723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3D37DA7-69F1-A460-97C6-0F08F4C85CFF}"/>
              </a:ext>
            </a:extLst>
          </p:cNvPr>
          <p:cNvGrpSpPr/>
          <p:nvPr/>
        </p:nvGrpSpPr>
        <p:grpSpPr>
          <a:xfrm>
            <a:off x="8755856" y="1445419"/>
            <a:ext cx="519905" cy="921544"/>
            <a:chOff x="8755856" y="1445419"/>
            <a:chExt cx="519905" cy="9215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58B556D-7D97-B969-5096-911F7C30CF2A}"/>
                    </a:ext>
                  </a:extLst>
                </p:cNvPr>
                <p:cNvSpPr txBox="1"/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58B556D-7D97-B969-5096-911F7C30C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blipFill>
                  <a:blip r:embed="rId8"/>
                  <a:stretch>
                    <a:fillRect r="-2073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F0F8C83-A4C1-5A99-B483-C0B7C35B8D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1445419"/>
              <a:ext cx="0" cy="9215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5BBEB13-BE8E-B606-D266-38CE5D46B9D0}"/>
              </a:ext>
            </a:extLst>
          </p:cNvPr>
          <p:cNvGrpSpPr/>
          <p:nvPr/>
        </p:nvGrpSpPr>
        <p:grpSpPr>
          <a:xfrm>
            <a:off x="8755856" y="4095316"/>
            <a:ext cx="560208" cy="556171"/>
            <a:chOff x="8755856" y="4095316"/>
            <a:chExt cx="560208" cy="55617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904F14-37A5-0583-6A4D-61FE4A534FB7}"/>
                    </a:ext>
                  </a:extLst>
                </p:cNvPr>
                <p:cNvSpPr txBox="1"/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904F14-37A5-0583-6A4D-61FE4A534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FA2D501-64BC-3C75-8564-A2FB04F156D7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4095316"/>
              <a:ext cx="0" cy="34949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F247C6-F0C6-A85A-5F06-31F9FE7B86A4}"/>
              </a:ext>
            </a:extLst>
          </p:cNvPr>
          <p:cNvGrpSpPr/>
          <p:nvPr/>
        </p:nvGrpSpPr>
        <p:grpSpPr>
          <a:xfrm>
            <a:off x="7308086" y="2025853"/>
            <a:ext cx="546237" cy="1365924"/>
            <a:chOff x="7313151" y="2400300"/>
            <a:chExt cx="546237" cy="13659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0CCB896-FDCF-7ECD-65D5-5E4D2F4246D9}"/>
                    </a:ext>
                  </a:extLst>
                </p:cNvPr>
                <p:cNvSpPr txBox="1"/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0CCB896-FDCF-7ECD-65D5-5E4D2F424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20988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EBED58-EDF8-F65C-AAB4-FC2A5AB46A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3151" y="2400300"/>
              <a:ext cx="7871" cy="136592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2598EB-296A-A6DB-6F0E-338408C7C210}"/>
              </a:ext>
            </a:extLst>
          </p:cNvPr>
          <p:cNvGrpSpPr/>
          <p:nvPr/>
        </p:nvGrpSpPr>
        <p:grpSpPr>
          <a:xfrm>
            <a:off x="6634790" y="1790176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CD4352A-6BD3-962E-E3E9-5283A5E64A28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CD4352A-6BD3-962E-E3E9-5283A5E64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23EBA77-F2A4-ACC5-C440-EB6F92AE5B9A}"/>
                </a:ext>
              </a:extLst>
            </p:cNvPr>
            <p:cNvCxnSpPr>
              <a:cxnSpLocks/>
              <a:stCxn id="41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719EF5-1154-6F19-807E-64EB838BAEEF}"/>
              </a:ext>
            </a:extLst>
          </p:cNvPr>
          <p:cNvGrpSpPr/>
          <p:nvPr/>
        </p:nvGrpSpPr>
        <p:grpSpPr>
          <a:xfrm>
            <a:off x="7315957" y="1625406"/>
            <a:ext cx="605812" cy="519351"/>
            <a:chOff x="7311103" y="1957342"/>
            <a:chExt cx="605812" cy="5193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BD0B7F-CD1A-4E35-AF95-5B1CD3F98537}"/>
                    </a:ext>
                  </a:extLst>
                </p:cNvPr>
                <p:cNvSpPr txBox="1"/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BD0B7F-CD1A-4E35-AF95-5B1CD3F98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20732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A4B0E16-A489-6FA2-F17D-336D6069C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2033736"/>
              <a:ext cx="0" cy="36656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5BC765-3132-62AA-9BFB-52FB51AE3847}"/>
              </a:ext>
            </a:extLst>
          </p:cNvPr>
          <p:cNvGrpSpPr/>
          <p:nvPr/>
        </p:nvGrpSpPr>
        <p:grpSpPr>
          <a:xfrm>
            <a:off x="6598597" y="323850"/>
            <a:ext cx="599287" cy="1742683"/>
            <a:chOff x="6620447" y="657617"/>
            <a:chExt cx="599287" cy="17426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FCDB7BC-56F1-A8D8-9A96-70C6895C1917}"/>
                    </a:ext>
                  </a:extLst>
                </p:cNvPr>
                <p:cNvSpPr txBox="1"/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FCDB7BC-56F1-A8D8-9A96-70C6895C1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blipFill>
                  <a:blip r:embed="rId13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BB8076-CDFA-9DBB-453A-ADEE75EB4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657617"/>
              <a:ext cx="0" cy="174268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4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aph with colored lines&#10;&#10;Description automatically generated">
            <a:extLst>
              <a:ext uri="{FF2B5EF4-FFF2-40B4-BE49-F238E27FC236}">
                <a16:creationId xmlns:a16="http://schemas.microsoft.com/office/drawing/2014/main" id="{B4E730F1-6AC8-3BF7-CAFB-87B093C50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48" name="Picture Placeholder 4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CF791D2-F2B3-5273-947C-80F32BB972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94C2073A-8028-CE25-CF6F-59276EFAC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201295" cy="5240194"/>
              </a:xfrm>
            </p:spPr>
            <p:txBody>
              <a:bodyPr/>
              <a:lstStyle/>
              <a:p>
                <a:r>
                  <a:rPr lang="en-GB" dirty="0"/>
                  <a:t>Starting with our equation: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Assume we have 5 Rats in the field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(for “Yes” this observation is Rat)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 (density is 5)</a:t>
                </a:r>
              </a:p>
              <a:p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</m:t>
                    </m:r>
                    <m:r>
                      <a:rPr lang="en-GB" i="1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</m:t>
                    </m:r>
                    <m:r>
                      <a:rPr lang="en-GB" i="1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1B9E77"/>
                        </a:solidFill>
                        <a:latin typeface="Cambria Math" panose="02040503050406030204" pitchFamily="18" charset="0"/>
                      </a:rPr>
                      <m:t>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×0×5 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×1×5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1B9E77"/>
                        </a:solidFill>
                        <a:latin typeface="Cambria Math" panose="02040503050406030204" pitchFamily="18" charset="0"/>
                      </a:rPr>
                      <m:t>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×1×5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94C2073A-8028-CE25-CF6F-59276EFAC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201295" cy="5240194"/>
              </a:xfrm>
              <a:blipFill>
                <a:blip r:embed="rId4"/>
                <a:stretch>
                  <a:fillRect l="-1770" t="-1163" b="-2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D1C717-6A7B-6DB8-2FC9-0E323079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ADD672-42A4-5BAE-F4E6-F39716F46606}"/>
              </a:ext>
            </a:extLst>
          </p:cNvPr>
          <p:cNvSpPr/>
          <p:nvPr/>
        </p:nvSpPr>
        <p:spPr>
          <a:xfrm>
            <a:off x="1004887" y="4874174"/>
            <a:ext cx="485775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86956-501F-49BA-A65E-2212DA690B2E}"/>
              </a:ext>
            </a:extLst>
          </p:cNvPr>
          <p:cNvSpPr/>
          <p:nvPr/>
        </p:nvSpPr>
        <p:spPr>
          <a:xfrm>
            <a:off x="1490662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789590-38CA-BDF9-6413-7E97B47DFBF9}"/>
              </a:ext>
            </a:extLst>
          </p:cNvPr>
          <p:cNvSpPr/>
          <p:nvPr/>
        </p:nvSpPr>
        <p:spPr>
          <a:xfrm>
            <a:off x="2884126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2BF07-55D3-1D7F-83E2-49E8CD8BB443}"/>
              </a:ext>
            </a:extLst>
          </p:cNvPr>
          <p:cNvSpPr/>
          <p:nvPr/>
        </p:nvSpPr>
        <p:spPr>
          <a:xfrm>
            <a:off x="4271602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85238-B81D-55E7-339B-FFD68B0A4F0C}"/>
              </a:ext>
            </a:extLst>
          </p:cNvPr>
          <p:cNvSpPr/>
          <p:nvPr/>
        </p:nvSpPr>
        <p:spPr>
          <a:xfrm>
            <a:off x="1337628" y="5330062"/>
            <a:ext cx="2012702" cy="370651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7FC373-B384-C827-7754-1653F3A9D2CA}"/>
              </a:ext>
            </a:extLst>
          </p:cNvPr>
          <p:cNvSpPr/>
          <p:nvPr/>
        </p:nvSpPr>
        <p:spPr>
          <a:xfrm>
            <a:off x="3350331" y="5330062"/>
            <a:ext cx="2045581" cy="370651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6F92AE-D36C-3982-C696-57A6F982D050}"/>
              </a:ext>
            </a:extLst>
          </p:cNvPr>
          <p:cNvGrpSpPr/>
          <p:nvPr/>
        </p:nvGrpSpPr>
        <p:grpSpPr>
          <a:xfrm>
            <a:off x="8738697" y="2714625"/>
            <a:ext cx="719599" cy="936828"/>
            <a:chOff x="8742515" y="4936912"/>
            <a:chExt cx="719599" cy="93682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D41B32F-0932-517C-F878-3F737ABFE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3D2321-FD22-C2A1-DAC7-6F323509D105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936912"/>
              <a:ext cx="0" cy="333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F92784C-0CA2-197B-AC5E-67FD3CA3C2DB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F92784C-0CA2-197B-AC5E-67FD3CA3C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5"/>
                  <a:stretch>
                    <a:fillRect r="-18293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319B71-3573-86EE-2358-DB95EC5B4F11}"/>
              </a:ext>
            </a:extLst>
          </p:cNvPr>
          <p:cNvGrpSpPr/>
          <p:nvPr/>
        </p:nvGrpSpPr>
        <p:grpSpPr>
          <a:xfrm>
            <a:off x="8738697" y="505575"/>
            <a:ext cx="577367" cy="571149"/>
            <a:chOff x="8738697" y="505575"/>
            <a:chExt cx="577367" cy="571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9680D44-C99B-350F-520D-FC391D81BA35}"/>
                    </a:ext>
                  </a:extLst>
                </p:cNvPr>
                <p:cNvSpPr txBox="1"/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9680D44-C99B-350F-520D-FC391D81B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blipFill>
                  <a:blip r:embed="rId6"/>
                  <a:stretch>
                    <a:fillRect r="-21951" b="-1136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23C6067-1E8E-5804-471F-7315E8180763}"/>
                </a:ext>
              </a:extLst>
            </p:cNvPr>
            <p:cNvCxnSpPr>
              <a:cxnSpLocks/>
            </p:cNvCxnSpPr>
            <p:nvPr/>
          </p:nvCxnSpPr>
          <p:spPr>
            <a:xfrm>
              <a:off x="8738697" y="505575"/>
              <a:ext cx="0" cy="537234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BCAAE3-3EA6-A5FB-19DF-5538C310E3DE}"/>
              </a:ext>
            </a:extLst>
          </p:cNvPr>
          <p:cNvGrpSpPr/>
          <p:nvPr/>
        </p:nvGrpSpPr>
        <p:grpSpPr>
          <a:xfrm>
            <a:off x="8755856" y="1445419"/>
            <a:ext cx="519905" cy="921544"/>
            <a:chOff x="8755856" y="1445419"/>
            <a:chExt cx="519905" cy="9215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4E94593-CF36-3A13-0339-904D3858795C}"/>
                    </a:ext>
                  </a:extLst>
                </p:cNvPr>
                <p:cNvSpPr txBox="1"/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4E94593-CF36-3A13-0339-904D38587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blipFill>
                  <a:blip r:embed="rId7"/>
                  <a:stretch>
                    <a:fillRect r="-2073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FAF9424-0C7B-CB9F-99AE-E6BDC0EC0CEF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1445419"/>
              <a:ext cx="0" cy="9215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AA7F3B8-724E-F39A-DE8E-3CD23C235BA9}"/>
              </a:ext>
            </a:extLst>
          </p:cNvPr>
          <p:cNvGrpSpPr/>
          <p:nvPr/>
        </p:nvGrpSpPr>
        <p:grpSpPr>
          <a:xfrm>
            <a:off x="8755856" y="4095316"/>
            <a:ext cx="560208" cy="556171"/>
            <a:chOff x="8755856" y="4095316"/>
            <a:chExt cx="560208" cy="556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16F13F-B672-32EA-D0A4-BDC2EE5CD584}"/>
                    </a:ext>
                  </a:extLst>
                </p:cNvPr>
                <p:cNvSpPr txBox="1"/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16F13F-B672-32EA-D0A4-BDC2EE5CD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blipFill>
                  <a:blip r:embed="rId8"/>
                  <a:stretch>
                    <a:fillRect r="-21951" b="-114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EE89035-46D4-C704-F4DF-A88EA76FC28F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4095316"/>
              <a:ext cx="0" cy="349490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BA8B57-013B-B7FF-2A58-843F766E7373}"/>
              </a:ext>
            </a:extLst>
          </p:cNvPr>
          <p:cNvGrpSpPr/>
          <p:nvPr/>
        </p:nvGrpSpPr>
        <p:grpSpPr>
          <a:xfrm>
            <a:off x="7308086" y="2025853"/>
            <a:ext cx="546237" cy="1365924"/>
            <a:chOff x="7313151" y="2400300"/>
            <a:chExt cx="546237" cy="1365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46C9D3-9934-7373-D847-DA5855C5C0C9}"/>
                    </a:ext>
                  </a:extLst>
                </p:cNvPr>
                <p:cNvSpPr txBox="1"/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46C9D3-9934-7373-D847-DA5855C5C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20988" b="-229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CCCC968-A47E-46E2-B410-6968BC3085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3151" y="2400300"/>
              <a:ext cx="7871" cy="1365924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16D58D-4169-E793-B300-CA868B57C20A}"/>
              </a:ext>
            </a:extLst>
          </p:cNvPr>
          <p:cNvGrpSpPr/>
          <p:nvPr/>
        </p:nvGrpSpPr>
        <p:grpSpPr>
          <a:xfrm>
            <a:off x="6634790" y="1790176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CCD8772-0BD3-CD37-A380-DF3131464E20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rgbClr val="FFFF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rgbClr val="1B9E77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CCD8772-0BD3-CD37-A380-DF3131464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21951" b="-1149"/>
                  </a:stretch>
                </a:blipFill>
                <a:ln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076A130-DA28-C641-D2F4-3E75141236FD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rgbClr val="FFFF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2CE3B3-84F6-4169-8F73-C2CCA057847A}"/>
              </a:ext>
            </a:extLst>
          </p:cNvPr>
          <p:cNvGrpSpPr/>
          <p:nvPr/>
        </p:nvGrpSpPr>
        <p:grpSpPr>
          <a:xfrm>
            <a:off x="7315957" y="1625406"/>
            <a:ext cx="605812" cy="519351"/>
            <a:chOff x="7311103" y="1957342"/>
            <a:chExt cx="605812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8C5BE61-0FB3-9A94-C18B-A5DC53349333}"/>
                    </a:ext>
                  </a:extLst>
                </p:cNvPr>
                <p:cNvSpPr txBox="1"/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rgbClr val="FFFF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8C5BE61-0FB3-9A94-C18B-A5DC53349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20732" b="-1149"/>
                  </a:stretch>
                </a:blipFill>
                <a:ln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202778C-87C3-740F-9A92-FAA634C02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2033736"/>
              <a:ext cx="0" cy="366564"/>
            </a:xfrm>
            <a:prstGeom prst="straightConnector1">
              <a:avLst/>
            </a:prstGeom>
            <a:ln>
              <a:solidFill>
                <a:srgbClr val="FFFF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3EF2C4-5B2A-FA78-BA3D-5079EA1F19EC}"/>
              </a:ext>
            </a:extLst>
          </p:cNvPr>
          <p:cNvGrpSpPr/>
          <p:nvPr/>
        </p:nvGrpSpPr>
        <p:grpSpPr>
          <a:xfrm>
            <a:off x="6598597" y="323850"/>
            <a:ext cx="599287" cy="1742683"/>
            <a:chOff x="6620447" y="657617"/>
            <a:chExt cx="599287" cy="1742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5CFF2F6-CA39-4B18-35D6-C9AAD5CC8833}"/>
                    </a:ext>
                  </a:extLst>
                </p:cNvPr>
                <p:cNvSpPr txBox="1"/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5CFF2F6-CA39-4B18-35D6-C9AAD5CC8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21951" b="-114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8B29BF8-EE66-F8B6-B642-D7E3F6A15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657617"/>
              <a:ext cx="0" cy="1742683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30416C-E91C-C252-C564-D744A429DC25}"/>
              </a:ext>
            </a:extLst>
          </p:cNvPr>
          <p:cNvGrpSpPr/>
          <p:nvPr/>
        </p:nvGrpSpPr>
        <p:grpSpPr>
          <a:xfrm>
            <a:off x="313011" y="4872587"/>
            <a:ext cx="5649640" cy="828126"/>
            <a:chOff x="313011" y="4872587"/>
            <a:chExt cx="5649640" cy="82812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2AA7D-949D-E743-8749-4F44E0D5CFE2}"/>
                </a:ext>
              </a:extLst>
            </p:cNvPr>
            <p:cNvSpPr/>
            <p:nvPr/>
          </p:nvSpPr>
          <p:spPr>
            <a:xfrm>
              <a:off x="313011" y="5330062"/>
              <a:ext cx="1019421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B5CE65B-785C-F1D9-35B5-DEA6D9C02CDD}"/>
                </a:ext>
              </a:extLst>
            </p:cNvPr>
            <p:cNvSpPr/>
            <p:nvPr/>
          </p:nvSpPr>
          <p:spPr>
            <a:xfrm>
              <a:off x="5659079" y="4872587"/>
              <a:ext cx="303572" cy="457200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5FEE73C-19F1-B4C8-6D71-586622C1D653}"/>
              </a:ext>
            </a:extLst>
          </p:cNvPr>
          <p:cNvGrpSpPr/>
          <p:nvPr/>
        </p:nvGrpSpPr>
        <p:grpSpPr>
          <a:xfrm>
            <a:off x="312240" y="5330062"/>
            <a:ext cx="5383648" cy="741302"/>
            <a:chOff x="312240" y="5330062"/>
            <a:chExt cx="5383648" cy="74130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BF97B1C-7AB8-EB58-AFE4-80C8EFE21DA2}"/>
                </a:ext>
              </a:extLst>
            </p:cNvPr>
            <p:cNvSpPr/>
            <p:nvPr/>
          </p:nvSpPr>
          <p:spPr>
            <a:xfrm>
              <a:off x="5392315" y="5330062"/>
              <a:ext cx="303573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96AAD9-B9A0-D8E8-7635-48DC1F584952}"/>
                </a:ext>
              </a:extLst>
            </p:cNvPr>
            <p:cNvSpPr/>
            <p:nvPr/>
          </p:nvSpPr>
          <p:spPr>
            <a:xfrm>
              <a:off x="312240" y="5700713"/>
              <a:ext cx="2045581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41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/>
      <p:bldP spid="4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52F-F73B-65BF-4696-7B157E1B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987B1-E950-E66D-776D-B56672EFC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Assume we have 15 Malabar Gray </a:t>
                </a:r>
                <a:r>
                  <a:rPr lang="en-GB" dirty="0" err="1"/>
                  <a:t>Lenagurs</a:t>
                </a:r>
                <a:endParaRPr lang="en-GB" dirty="0"/>
              </a:p>
              <a:p>
                <a:r>
                  <a:rPr lang="en-GB" dirty="0"/>
                  <a:t>What is the “simplified” equation which would describe the average yield?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×15+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×1×15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987B1-E950-E66D-776D-B56672EFC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9A34E48-457B-CA73-8529-8E739C8B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759" y="662781"/>
            <a:ext cx="6105241" cy="56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5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979D-9B94-543E-1DA1-60B850709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fitting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015A3-CAD6-C3E3-F190-02F58F990F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background machinery is the same as always</a:t>
                </a:r>
              </a:p>
              <a:p>
                <a:r>
                  <a:rPr lang="en-GB" dirty="0"/>
                  <a:t>R tweaks the parameter values of our equation, so that the idealised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distribution overlaps the real data as close as possible</a:t>
                </a:r>
              </a:p>
              <a:p>
                <a:pPr lvl="1"/>
                <a:r>
                  <a:rPr lang="en-GB" dirty="0"/>
                  <a:t>(It becomes a real pain to visualise this with complex models)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015A3-CAD6-C3E3-F190-02F58F990F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22C210B4-564B-831D-4CF8-037506EB3E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62417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</p:spTree>
    <p:extLst>
      <p:ext uri="{BB962C8B-B14F-4D97-AF65-F5344CB8AC3E}">
        <p14:creationId xmlns:p14="http://schemas.microsoft.com/office/powerpoint/2010/main" val="7388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9282-B5D9-6641-748D-D9E9605F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6C69-81AB-C22E-75EB-4540FEBF3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running models with lots of explanatory variables, these diagnostic figures become incredibly valuable</a:t>
            </a:r>
          </a:p>
          <a:p>
            <a:r>
              <a:rPr lang="en-GB" dirty="0"/>
              <a:t>Condense information down to be digestible</a:t>
            </a:r>
          </a:p>
          <a:p>
            <a:r>
              <a:rPr lang="en-GB" dirty="0"/>
              <a:t>All four plots look great</a:t>
            </a:r>
          </a:p>
          <a:p>
            <a:r>
              <a:rPr lang="en-GB" dirty="0"/>
              <a:t>On to interpretation!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A182F0-DBF6-72AC-BA00-2E7299DDD5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9799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982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DCF6-C8A8-3FC1-DECB-FCC3E272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02A0-A2CE-5922-A92F-8BD358F5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species is acting as our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</a:t>
            </a:r>
            <a:r>
              <a:rPr lang="en-GB" dirty="0"/>
              <a:t>?</a:t>
            </a:r>
          </a:p>
          <a:p>
            <a:r>
              <a:rPr lang="en-GB" dirty="0"/>
              <a:t>What yield do we expect for Deer when density is zero?</a:t>
            </a:r>
          </a:p>
          <a:p>
            <a:r>
              <a:rPr lang="en-GB" dirty="0"/>
              <a:t>Is there meaningful difference in </a:t>
            </a:r>
          </a:p>
          <a:p>
            <a:r>
              <a:rPr lang="en-GB" dirty="0"/>
              <a:t>Does that make biological sense?</a:t>
            </a:r>
          </a:p>
          <a:p>
            <a:r>
              <a:rPr lang="en-GB" dirty="0"/>
              <a:t>Which species lowers yield the most?</a:t>
            </a:r>
          </a:p>
          <a:p>
            <a:r>
              <a:rPr lang="en-GB" dirty="0"/>
              <a:t>Do any species increase yield?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86E354E-1E7C-8A52-DBF1-20DA55D533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Estimate Std. Error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  2032.722     46.980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speciesDeer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78.767     66.439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speciesMonkey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-47.966     66.439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3.685     66.439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density                -16.371      1.617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speciesDeer:density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1.943      2.287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speciesMonkey:density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11.666      2.287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speciesRat:density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13.376      2.287</a:t>
            </a:r>
          </a:p>
        </p:txBody>
      </p:sp>
      <p:pic>
        <p:nvPicPr>
          <p:cNvPr id="7" name="Picture 6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88A0E2F9-D76F-E05C-909E-05639A7C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88A0E2F9-D76F-E05C-909E-05639A7C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D6DCF6-C8A8-3FC1-DECB-FCC3E272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to farmers?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02A0-A2CE-5922-A92F-8BD358F5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Main species of concern are clearly boar</a:t>
            </a:r>
          </a:p>
          <a:p>
            <a:r>
              <a:rPr lang="en-GB" dirty="0"/>
              <a:t>Rats are not a problem</a:t>
            </a:r>
          </a:p>
          <a:p>
            <a:r>
              <a:rPr lang="en-GB" dirty="0"/>
              <a:t>Focus efforts to keep boars out of field</a:t>
            </a:r>
          </a:p>
        </p:txBody>
      </p:sp>
    </p:spTree>
    <p:extLst>
      <p:ext uri="{BB962C8B-B14F-4D97-AF65-F5344CB8AC3E}">
        <p14:creationId xmlns:p14="http://schemas.microsoft.com/office/powerpoint/2010/main" val="355454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Dangers when making inference</a:t>
            </a:r>
          </a:p>
        </p:txBody>
      </p:sp>
    </p:spTree>
    <p:extLst>
      <p:ext uri="{BB962C8B-B14F-4D97-AF65-F5344CB8AC3E}">
        <p14:creationId xmlns:p14="http://schemas.microsoft.com/office/powerpoint/2010/main" val="192129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CB-C39F-7A06-2514-29C7DC1E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14C7-01A3-94C9-BD5A-4D115D41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This data comes from an experiment</a:t>
            </a:r>
          </a:p>
          <a:p>
            <a:r>
              <a:rPr lang="en-GB" dirty="0"/>
              <a:t>Great right?</a:t>
            </a:r>
          </a:p>
          <a:p>
            <a:r>
              <a:rPr lang="en-GB" dirty="0"/>
              <a:t>Any limitations?</a:t>
            </a:r>
          </a:p>
          <a:p>
            <a:r>
              <a:rPr lang="en-GB" dirty="0"/>
              <a:t>How often do you get 50 individuals of each species?</a:t>
            </a:r>
          </a:p>
          <a:p>
            <a:r>
              <a:rPr lang="en-GB" dirty="0"/>
              <a:t>What kind of densities do the different species occur at?</a:t>
            </a:r>
          </a:p>
          <a:p>
            <a:r>
              <a:rPr lang="en-GB">
                <a:hlinkClick r:id="rId2"/>
              </a:rPr>
              <a:t>https://www.youtube.com/watch?v=zWVw-j8eYSk</a:t>
            </a:r>
            <a:r>
              <a:rPr lang="en-GB"/>
              <a:t> </a:t>
            </a:r>
            <a:endParaRPr lang="en-GB" dirty="0"/>
          </a:p>
          <a:p>
            <a:r>
              <a:rPr lang="en-GB" dirty="0"/>
              <a:t>What if we reran the experiment but used sensible range of densities?</a:t>
            </a:r>
          </a:p>
          <a:p>
            <a:endParaRPr lang="en-GB" dirty="0"/>
          </a:p>
        </p:txBody>
      </p:sp>
      <p:pic>
        <p:nvPicPr>
          <p:cNvPr id="10" name="Picture Placeholder 9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35713774-C025-6ACB-A880-D7452F3847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6623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CB-C39F-7A06-2514-29C7DC1E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to farmers,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14C7-01A3-94C9-BD5A-4D115D41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a more biologically sensible experimental design, we learn:</a:t>
            </a:r>
          </a:p>
          <a:p>
            <a:r>
              <a:rPr lang="en-GB" dirty="0"/>
              <a:t>Rats are the biggest problem by far</a:t>
            </a:r>
          </a:p>
          <a:p>
            <a:r>
              <a:rPr lang="en-GB" dirty="0"/>
              <a:t>Per individual, they don’t do much to yield</a:t>
            </a:r>
          </a:p>
          <a:p>
            <a:r>
              <a:rPr lang="en-GB" dirty="0"/>
              <a:t>But they can reach insanely high densities</a:t>
            </a:r>
          </a:p>
          <a:p>
            <a:r>
              <a:rPr lang="en-GB" dirty="0"/>
              <a:t>“Quantity over quality”</a:t>
            </a:r>
          </a:p>
          <a:p>
            <a:r>
              <a:rPr lang="en-GB" dirty="0"/>
              <a:t>What advice do we give now?</a:t>
            </a:r>
          </a:p>
          <a:p>
            <a:pPr lvl="1"/>
            <a:r>
              <a:rPr lang="en-GB" dirty="0"/>
              <a:t>Focus efforts to reduce rat density</a:t>
            </a:r>
          </a:p>
          <a:p>
            <a:endParaRPr lang="en-GB" dirty="0"/>
          </a:p>
        </p:txBody>
      </p:sp>
      <p:pic>
        <p:nvPicPr>
          <p:cNvPr id="6" name="Picture Placeholder 5" descr="A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DE312CE1-C4CB-F107-732E-C79198FD72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52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Flavours of interactions</a:t>
            </a:r>
          </a:p>
        </p:txBody>
      </p:sp>
    </p:spTree>
    <p:extLst>
      <p:ext uri="{BB962C8B-B14F-4D97-AF65-F5344CB8AC3E}">
        <p14:creationId xmlns:p14="http://schemas.microsoft.com/office/powerpoint/2010/main" val="43587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9C8A-A536-6BE5-11FC-E545909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Flavours of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E87AA-A1E4-4B4C-85E6-37DF22213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previous example we used an interaction between a categorical and a continuous</a:t>
            </a:r>
          </a:p>
          <a:p>
            <a:r>
              <a:rPr lang="en-GB" dirty="0"/>
              <a:t>But you can have interactions between:</a:t>
            </a:r>
          </a:p>
          <a:p>
            <a:pPr lvl="1"/>
            <a:r>
              <a:rPr lang="en-GB" dirty="0"/>
              <a:t>Two categorical variables</a:t>
            </a:r>
          </a:p>
          <a:p>
            <a:pPr lvl="1"/>
            <a:r>
              <a:rPr lang="en-GB" dirty="0"/>
              <a:t>Two continuous variables</a:t>
            </a:r>
          </a:p>
          <a:p>
            <a:r>
              <a:rPr lang="en-GB" dirty="0"/>
              <a:t>Or interactions with more than two variables</a:t>
            </a:r>
          </a:p>
          <a:p>
            <a:pPr lvl="1"/>
            <a:r>
              <a:rPr lang="en-GB" dirty="0"/>
              <a:t>For example, two continuous and one categorical</a:t>
            </a:r>
          </a:p>
          <a:p>
            <a:pPr lvl="1"/>
            <a:endParaRPr lang="en-GB" dirty="0"/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CB415245-6DAB-B15B-2208-50B555026A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2" name="Picture 11" descr="A graph of temperature&#10;&#10;Description automatically generated">
            <a:extLst>
              <a:ext uri="{FF2B5EF4-FFF2-40B4-BE49-F238E27FC236}">
                <a16:creationId xmlns:a16="http://schemas.microsoft.com/office/drawing/2014/main" id="{7AA7178F-C575-AF55-66B2-FCCEF309F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4" name="Picture 13" descr="A graph of different colors&#10;&#10;Description automatically generated">
            <a:extLst>
              <a:ext uri="{FF2B5EF4-FFF2-40B4-BE49-F238E27FC236}">
                <a16:creationId xmlns:a16="http://schemas.microsoft.com/office/drawing/2014/main" id="{95C8EBA8-28B4-E872-C365-CB7CACDE9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6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19DA-79CC-449E-0B4C-04AAB623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D4C6-A84C-BD93-3B54-EE871F2D0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Interactions are incredibly expensive</a:t>
            </a:r>
          </a:p>
          <a:p>
            <a:r>
              <a:rPr lang="en-GB" dirty="0"/>
              <a:t>The number of parameters can quickly get out of control</a:t>
            </a:r>
          </a:p>
          <a:p>
            <a:pPr lvl="1"/>
            <a:r>
              <a:rPr lang="en-GB" dirty="0"/>
              <a:t>Especially true for categorical variables</a:t>
            </a:r>
          </a:p>
          <a:p>
            <a:pPr lvl="1"/>
            <a:r>
              <a:rPr lang="en-GB" dirty="0"/>
              <a:t>Gorilla example needs 4 parameters</a:t>
            </a:r>
          </a:p>
          <a:p>
            <a:pPr lvl="1"/>
            <a:r>
              <a:rPr lang="en-GB" dirty="0"/>
              <a:t>The 3-way example needs 8 parameters</a:t>
            </a:r>
          </a:p>
          <a:p>
            <a:r>
              <a:rPr lang="en-GB" dirty="0"/>
              <a:t>Interactions require sample sizes up to 16 times larger to fit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08C2E11E-F25A-F291-164B-4858EDD4A0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of different colors&#10;&#10;Description automatically generated">
            <a:extLst>
              <a:ext uri="{FF2B5EF4-FFF2-40B4-BE49-F238E27FC236}">
                <a16:creationId xmlns:a16="http://schemas.microsoft.com/office/drawing/2014/main" id="{FD9EBEC1-AAB5-BF04-2BAA-A07E68C29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5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197864"/>
            <a:ext cx="12011025" cy="5468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always start with a question</a:t>
            </a:r>
          </a:p>
          <a:p>
            <a:r>
              <a:rPr lang="en-GB" dirty="0"/>
              <a:t>Statistics is merely how we answer the question</a:t>
            </a:r>
          </a:p>
          <a:p>
            <a:r>
              <a:rPr lang="en-GB" dirty="0"/>
              <a:t>Start by plotting your data – get a feel for what’s going 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Also </a:t>
            </a:r>
            <a:r>
              <a:rPr lang="en-GB" i="1" u="sng" dirty="0">
                <a:cs typeface="Courier New" panose="02070309020205020404" pitchFamily="49" charset="0"/>
              </a:rPr>
              <a:t>really</a:t>
            </a:r>
            <a:r>
              <a:rPr lang="en-GB" dirty="0">
                <a:cs typeface="Courier New" panose="02070309020205020404" pitchFamily="49" charset="0"/>
              </a:rPr>
              <a:t> useful to draw your data generating process</a:t>
            </a:r>
            <a:endParaRPr lang="en-GB" dirty="0"/>
          </a:p>
          <a:p>
            <a:r>
              <a:rPr lang="en-GB" dirty="0"/>
              <a:t>Run your model, including variables you think are appropriate</a:t>
            </a:r>
          </a:p>
          <a:p>
            <a:pPr lvl="1"/>
            <a:r>
              <a:rPr lang="en-GB" dirty="0"/>
              <a:t>If you think the response variable is influenced by the combined values of two or more explanatory variables, include as an interaction</a:t>
            </a:r>
          </a:p>
          <a:p>
            <a:r>
              <a:rPr lang="en-GB" dirty="0"/>
              <a:t>Interpret what those parameter values mean biologically</a:t>
            </a:r>
          </a:p>
          <a:p>
            <a:r>
              <a:rPr lang="en-GB" dirty="0"/>
              <a:t>Visualise the results</a:t>
            </a: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773</TotalTime>
  <Words>1580</Words>
  <Application>Microsoft Office PowerPoint</Application>
  <PresentationFormat>Widescreen</PresentationFormat>
  <Paragraphs>247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Arial</vt:lpstr>
      <vt:lpstr>Bahnschrift Light</vt:lpstr>
      <vt:lpstr>Cambria Math</vt:lpstr>
      <vt:lpstr>Courier New</vt:lpstr>
      <vt:lpstr>sbs_template</vt:lpstr>
      <vt:lpstr>Linear model theory</vt:lpstr>
      <vt:lpstr>Capturing “it depends”</vt:lpstr>
      <vt:lpstr>The question</vt:lpstr>
      <vt:lpstr>Human wildlife conflicts</vt:lpstr>
      <vt:lpstr>Human wildlife conflicts</vt:lpstr>
      <vt:lpstr>How much crop?</vt:lpstr>
      <vt:lpstr>The data</vt:lpstr>
      <vt:lpstr>Exploratory data analysis</vt:lpstr>
      <vt:lpstr>What might the results look like?</vt:lpstr>
      <vt:lpstr>Biological sense?</vt:lpstr>
      <vt:lpstr>How do we say 1 rat ≠ 1 boar?</vt:lpstr>
      <vt:lpstr>Is my coffee sweet?</vt:lpstr>
      <vt:lpstr>Is my coffee sweet? Scenario 1</vt:lpstr>
      <vt:lpstr>Is my coffee sweet? Scenario 2</vt:lpstr>
      <vt:lpstr>Is my coffee sweet? Scenario 3</vt:lpstr>
      <vt:lpstr>Is my coffee sweet? Scenario 4</vt:lpstr>
      <vt:lpstr>Is my coffee sweet?</vt:lpstr>
      <vt:lpstr>What is an interaction?</vt:lpstr>
      <vt:lpstr>What is an interaction?</vt:lpstr>
      <vt:lpstr>Two ways to specify interactions</vt:lpstr>
      <vt:lpstr>How do we say 1 rat ≠ 1 boar?</vt:lpstr>
      <vt:lpstr>PowerPoint Presentation</vt:lpstr>
      <vt:lpstr>The question</vt:lpstr>
      <vt:lpstr>species * density</vt:lpstr>
      <vt:lpstr>Interactions</vt:lpstr>
      <vt:lpstr>Quiz</vt:lpstr>
      <vt:lpstr>Quiz</vt:lpstr>
      <vt:lpstr>Model fitting</vt:lpstr>
      <vt:lpstr>Diagnose</vt:lpstr>
      <vt:lpstr>Diagnose</vt:lpstr>
      <vt:lpstr>Inference</vt:lpstr>
      <vt:lpstr>What do we learn?</vt:lpstr>
      <vt:lpstr>Advice to farmers?</vt:lpstr>
      <vt:lpstr>Dangers when making inference</vt:lpstr>
      <vt:lpstr>A complication</vt:lpstr>
      <vt:lpstr>Advice to farmers, now?</vt:lpstr>
      <vt:lpstr>Flavours of interactions</vt:lpstr>
      <vt:lpstr>Flavours of interactions</vt:lpstr>
      <vt:lpstr>Warning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11</cp:revision>
  <dcterms:created xsi:type="dcterms:W3CDTF">2024-08-02T08:45:51Z</dcterms:created>
  <dcterms:modified xsi:type="dcterms:W3CDTF">2024-08-07T08:56:03Z</dcterms:modified>
</cp:coreProperties>
</file>