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sldIdLst>
    <p:sldId id="256" r:id="rId2"/>
    <p:sldId id="296" r:id="rId3"/>
    <p:sldId id="298" r:id="rId4"/>
    <p:sldId id="299" r:id="rId5"/>
    <p:sldId id="297" r:id="rId6"/>
    <p:sldId id="301" r:id="rId7"/>
    <p:sldId id="302" r:id="rId8"/>
    <p:sldId id="350" r:id="rId9"/>
    <p:sldId id="305" r:id="rId10"/>
    <p:sldId id="317" r:id="rId11"/>
    <p:sldId id="323" r:id="rId12"/>
    <p:sldId id="351" r:id="rId13"/>
    <p:sldId id="318" r:id="rId14"/>
    <p:sldId id="332" r:id="rId15"/>
    <p:sldId id="326" r:id="rId16"/>
    <p:sldId id="352" r:id="rId17"/>
    <p:sldId id="320" r:id="rId18"/>
    <p:sldId id="334" r:id="rId19"/>
    <p:sldId id="325" r:id="rId20"/>
    <p:sldId id="353" r:id="rId21"/>
    <p:sldId id="319" r:id="rId22"/>
    <p:sldId id="333" r:id="rId23"/>
    <p:sldId id="339" r:id="rId24"/>
    <p:sldId id="340" r:id="rId25"/>
    <p:sldId id="341" r:id="rId26"/>
    <p:sldId id="343" r:id="rId27"/>
    <p:sldId id="344" r:id="rId28"/>
    <p:sldId id="348" r:id="rId29"/>
    <p:sldId id="346" r:id="rId30"/>
    <p:sldId id="347" r:id="rId31"/>
    <p:sldId id="34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6ECC"/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724" autoAdjust="0"/>
  </p:normalViewPr>
  <p:slideViewPr>
    <p:cSldViewPr snapToGrid="0">
      <p:cViewPr>
        <p:scale>
          <a:sx n="100" d="100"/>
          <a:sy n="100" d="100"/>
        </p:scale>
        <p:origin x="432" y="342"/>
      </p:cViewPr>
      <p:guideLst/>
    </p:cSldViewPr>
  </p:slideViewPr>
  <p:outlineViewPr>
    <p:cViewPr>
      <p:scale>
        <a:sx n="33" d="100"/>
        <a:sy n="33" d="100"/>
      </p:scale>
      <p:origin x="0" y="-615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7BEE4C-6E4D-4BD2-9DF2-E5E6397C913D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EED7F-77A4-4439-ACBC-7E1B92355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68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8210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9351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6814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19780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04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01397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543103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37509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55955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53572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38369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537973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7876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133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2750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1725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7451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475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1149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816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962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3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94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3325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27213-7412-1E6D-E18C-49C520C21E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6F614C-7C09-4967-2CA4-3C2725646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7C139-B5B7-6003-4304-9DC752EFD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55C45-AB18-961B-944F-E0EF350B0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FB94C-2CB3-E494-35D9-FE47BC489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958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547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95BDC0-D495-4468-B269-05C2B498DD2E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4C5873-338B-4BC6-BCA1-446C398D65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07380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1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9" Type="http://schemas.openxmlformats.org/officeDocument/2006/relationships/image" Target="../media/image16.jp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7.pn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18.png"/><Relationship Id="rId9" Type="http://schemas.openxmlformats.org/officeDocument/2006/relationships/image" Target="../media/image20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image" Target="../media/image23.png"/><Relationship Id="rId7" Type="http://schemas.openxmlformats.org/officeDocument/2006/relationships/image" Target="../media/image2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8.png"/><Relationship Id="rId5" Type="http://schemas.openxmlformats.org/officeDocument/2006/relationships/image" Target="../media/image25.png"/><Relationship Id="rId4" Type="http://schemas.openxmlformats.org/officeDocument/2006/relationships/image" Target="../media/image24.svg"/><Relationship Id="rId9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5.png"/><Relationship Id="rId7" Type="http://schemas.openxmlformats.org/officeDocument/2006/relationships/image" Target="../media/image2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jpg"/><Relationship Id="rId5" Type="http://schemas.openxmlformats.org/officeDocument/2006/relationships/image" Target="../media/image30.jpg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3.png"/><Relationship Id="rId7" Type="http://schemas.openxmlformats.org/officeDocument/2006/relationships/image" Target="../media/image3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2.jpg"/><Relationship Id="rId5" Type="http://schemas.openxmlformats.org/officeDocument/2006/relationships/image" Target="../media/image22.png"/><Relationship Id="rId4" Type="http://schemas.openxmlformats.org/officeDocument/2006/relationships/image" Target="../media/image34.png"/><Relationship Id="rId9" Type="http://schemas.openxmlformats.org/officeDocument/2006/relationships/image" Target="../media/image24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7.png"/><Relationship Id="rId7" Type="http://schemas.openxmlformats.org/officeDocument/2006/relationships/image" Target="../media/image3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0.png"/><Relationship Id="rId7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10" Type="http://schemas.openxmlformats.org/officeDocument/2006/relationships/image" Target="../media/image44.png"/><Relationship Id="rId9" Type="http://schemas.openxmlformats.org/officeDocument/2006/relationships/image" Target="../media/image43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51DDB-62D6-C293-E1AE-68E5CC239D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Confounding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145417-CEA3-2711-9625-1EF585CD65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When associations are not causal</a:t>
            </a:r>
          </a:p>
        </p:txBody>
      </p:sp>
    </p:spTree>
    <p:extLst>
      <p:ext uri="{BB962C8B-B14F-4D97-AF65-F5344CB8AC3E}">
        <p14:creationId xmlns:p14="http://schemas.microsoft.com/office/powerpoint/2010/main" val="2018068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3EF98-3281-4249-A086-0650FBD8F2E0}"/>
                  </a:ext>
                </a:extLst>
              </p:cNvPr>
              <p:cNvSpPr txBox="1"/>
              <p:nvPr/>
            </p:nvSpPr>
            <p:spPr>
              <a:xfrm>
                <a:off x="1939749" y="3780004"/>
                <a:ext cx="49500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3EF98-3281-4249-A086-0650FBD8F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9749" y="3780004"/>
                <a:ext cx="495000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How do we understand causation?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4722C-5C3F-4525-9FDD-10ACFA6D2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8273455" cy="4555200"/>
          </a:xfrm>
        </p:spPr>
        <p:txBody>
          <a:bodyPr/>
          <a:lstStyle/>
          <a:p>
            <a:r>
              <a:rPr lang="en-GB" dirty="0"/>
              <a:t>Causal inference is the goal in most of science</a:t>
            </a:r>
          </a:p>
          <a:p>
            <a:pPr lvl="1">
              <a:spcBef>
                <a:spcPts val="0"/>
              </a:spcBef>
            </a:pPr>
            <a:r>
              <a:rPr lang="en-GB" dirty="0"/>
              <a:t>Do </a:t>
            </a:r>
            <a:r>
              <a:rPr lang="en-GB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ice cream sales </a:t>
            </a:r>
            <a:r>
              <a:rPr lang="en-GB" dirty="0"/>
              <a:t>cause </a:t>
            </a:r>
            <a:r>
              <a:rPr lang="en-GB" b="1" dirty="0">
                <a:solidFill>
                  <a:srgbClr val="FFC000"/>
                </a:solidFill>
              </a:rPr>
              <a:t>sharks to attack</a:t>
            </a:r>
            <a:r>
              <a:rPr lang="en-GB" dirty="0"/>
              <a:t>?</a:t>
            </a:r>
          </a:p>
          <a:p>
            <a:r>
              <a:rPr lang="en-GB" dirty="0"/>
              <a:t>How do we know if there is a causal relationship?</a:t>
            </a:r>
          </a:p>
          <a:p>
            <a:pPr lvl="1">
              <a:spcBef>
                <a:spcPts val="0"/>
              </a:spcBef>
            </a:pPr>
            <a:r>
              <a:rPr lang="en-GB" dirty="0"/>
              <a:t>With a statistical model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6318279-2903-4A14-8685-8EA7ABC8CDAB}"/>
              </a:ext>
            </a:extLst>
          </p:cNvPr>
          <p:cNvGrpSpPr/>
          <p:nvPr/>
        </p:nvGrpSpPr>
        <p:grpSpPr>
          <a:xfrm>
            <a:off x="2090215" y="4726454"/>
            <a:ext cx="4751645" cy="1691343"/>
            <a:chOff x="2439729" y="3563471"/>
            <a:chExt cx="3563734" cy="12685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CC920C-3BEA-47CC-BD41-636B7EC82DC0}"/>
                </a:ext>
              </a:extLst>
            </p:cNvPr>
            <p:cNvSpPr/>
            <p:nvPr/>
          </p:nvSpPr>
          <p:spPr>
            <a:xfrm>
              <a:off x="4652034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7FB031-E047-4A53-9C5D-C4BFC95D09E5}"/>
                </a:ext>
              </a:extLst>
            </p:cNvPr>
            <p:cNvSpPr/>
            <p:nvPr/>
          </p:nvSpPr>
          <p:spPr>
            <a:xfrm>
              <a:off x="2439729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bg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6B71CB-8A25-4739-8293-18C39045DA9D}"/>
              </a:ext>
            </a:extLst>
          </p:cNvPr>
          <p:cNvCxnSpPr>
            <a:stCxn id="7" idx="6"/>
            <a:endCxn id="6" idx="2"/>
          </p:cNvCxnSpPr>
          <p:nvPr/>
        </p:nvCxnSpPr>
        <p:spPr>
          <a:xfrm>
            <a:off x="3892120" y="5572126"/>
            <a:ext cx="11478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6B1C36D-E740-42C1-90E3-25E1B15234CB}"/>
                  </a:ext>
                </a:extLst>
              </p:cNvPr>
              <p:cNvSpPr txBox="1"/>
              <p:nvPr/>
            </p:nvSpPr>
            <p:spPr>
              <a:xfrm>
                <a:off x="1939749" y="3780003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=0.5+5×</m:t>
                      </m:r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6B1C36D-E740-42C1-90E3-25E1B1523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9749" y="3780003"/>
                <a:ext cx="49021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Shark Bite Ice Cream Sundaes Recipe | Food Network Kitchen | Food Network">
            <a:extLst>
              <a:ext uri="{FF2B5EF4-FFF2-40B4-BE49-F238E27FC236}">
                <a16:creationId xmlns:a16="http://schemas.microsoft.com/office/drawing/2014/main" id="{BA910A46-3244-45D1-A6C1-7E4612772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9572" y="2421534"/>
            <a:ext cx="3289300" cy="246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F1C739F-E804-4D8D-97F0-36FCC591672C}"/>
              </a:ext>
            </a:extLst>
          </p:cNvPr>
          <p:cNvGrpSpPr/>
          <p:nvPr/>
        </p:nvGrpSpPr>
        <p:grpSpPr>
          <a:xfrm>
            <a:off x="3738157" y="3814233"/>
            <a:ext cx="1455761" cy="1638300"/>
            <a:chOff x="4094328" y="2422331"/>
            <a:chExt cx="1091821" cy="1228725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EF90363-3E60-461F-8BF3-FFE62866974C}"/>
                </a:ext>
              </a:extLst>
            </p:cNvPr>
            <p:cNvSpPr/>
            <p:nvPr/>
          </p:nvSpPr>
          <p:spPr>
            <a:xfrm>
              <a:off x="4094328" y="2422331"/>
              <a:ext cx="1091821" cy="46166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1F3FF64-BB15-44AD-B1BC-7DD5AAAB240B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4640239" y="2883996"/>
              <a:ext cx="0" cy="7670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4144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3" grpId="0" uiExpand="1" build="p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Sceptical?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4722C-5C3F-4525-9FDD-10ACFA6D2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173459" cy="4555200"/>
          </a:xfrm>
        </p:spPr>
        <p:txBody>
          <a:bodyPr/>
          <a:lstStyle/>
          <a:p>
            <a:r>
              <a:rPr lang="en-GB" dirty="0"/>
              <a:t>How could we convince ourselves?</a:t>
            </a:r>
          </a:p>
          <a:p>
            <a:r>
              <a:rPr lang="en-GB" dirty="0"/>
              <a:t>Plotting the raw data and prediction?</a:t>
            </a:r>
          </a:p>
          <a:p>
            <a:r>
              <a:rPr lang="en-GB" dirty="0"/>
              <a:t>Relationship looks pretty clear cut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C565DC-790C-404B-B4D9-B6693A087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053" y="1203053"/>
            <a:ext cx="5020347" cy="5400951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FD17B58-9636-437A-9241-C39441877485}"/>
              </a:ext>
            </a:extLst>
          </p:cNvPr>
          <p:cNvGrpSpPr/>
          <p:nvPr/>
        </p:nvGrpSpPr>
        <p:grpSpPr>
          <a:xfrm>
            <a:off x="265953" y="4912661"/>
            <a:ext cx="4982583" cy="1691343"/>
            <a:chOff x="1739152" y="3563471"/>
            <a:chExt cx="3736937" cy="1268507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EC8AD3A-9298-42AF-AB5B-FD25AD867D54}"/>
                </a:ext>
              </a:extLst>
            </p:cNvPr>
            <p:cNvSpPr/>
            <p:nvPr/>
          </p:nvSpPr>
          <p:spPr>
            <a:xfrm>
              <a:off x="4124660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7055753-47C3-47F0-8534-EBD5A5F32E8E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E64F779-B70C-4768-9BB2-CBA4E1204C47}"/>
              </a:ext>
            </a:extLst>
          </p:cNvPr>
          <p:cNvCxnSpPr>
            <a:stCxn id="14" idx="6"/>
            <a:endCxn id="12" idx="2"/>
          </p:cNvCxnSpPr>
          <p:nvPr/>
        </p:nvCxnSpPr>
        <p:spPr>
          <a:xfrm>
            <a:off x="2067858" y="5758332"/>
            <a:ext cx="137877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FFB947-6E35-42A2-AD19-6F52AD540960}"/>
                  </a:ext>
                </a:extLst>
              </p:cNvPr>
              <p:cNvSpPr txBox="1"/>
              <p:nvPr/>
            </p:nvSpPr>
            <p:spPr>
              <a:xfrm>
                <a:off x="415601" y="4221001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×5+0.5=</m:t>
                      </m:r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FFB947-6E35-42A2-AD19-6F52AD540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1" y="4221001"/>
                <a:ext cx="49021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1360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Could we think of a causal mechanism?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4722C-5C3F-4525-9FDD-10ACFA6D2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47483"/>
            <a:ext cx="6173459" cy="3266473"/>
          </a:xfrm>
        </p:spPr>
        <p:txBody>
          <a:bodyPr/>
          <a:lstStyle/>
          <a:p>
            <a:pPr marL="152396" indent="0">
              <a:buNone/>
            </a:pPr>
            <a:r>
              <a:rPr lang="en-GB" dirty="0"/>
              <a:t>“Sharks smell sugar!”</a:t>
            </a:r>
          </a:p>
          <a:p>
            <a:pPr marL="152396" indent="0">
              <a:buNone/>
            </a:pPr>
            <a:endParaRPr lang="en-GB" dirty="0"/>
          </a:p>
          <a:p>
            <a:pPr marL="152396" indent="0">
              <a:buNone/>
            </a:pPr>
            <a:r>
              <a:rPr lang="en-GB" sz="2400" dirty="0"/>
              <a:t>“Given sharks have acute sensory organs, we propose that the increased sugar levels are detected by sharks, leading to a preferential targeting of those who recently consumed ice cream.”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2B95685-946B-4FB8-8F51-AF5013DD4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053" y="1203053"/>
            <a:ext cx="5020347" cy="5400951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ECF6AB43-2FA6-47DD-AF8F-D7C2291C490A}"/>
              </a:ext>
            </a:extLst>
          </p:cNvPr>
          <p:cNvGrpSpPr/>
          <p:nvPr/>
        </p:nvGrpSpPr>
        <p:grpSpPr>
          <a:xfrm>
            <a:off x="265953" y="4912661"/>
            <a:ext cx="4982583" cy="1691343"/>
            <a:chOff x="1739152" y="3563471"/>
            <a:chExt cx="3736937" cy="1268507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92E92D4-5165-47BA-989B-6E54A0308FB7}"/>
                </a:ext>
              </a:extLst>
            </p:cNvPr>
            <p:cNvSpPr/>
            <p:nvPr/>
          </p:nvSpPr>
          <p:spPr>
            <a:xfrm>
              <a:off x="4124660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CA8582B-70CA-4439-B2FA-AF7BE4710DD6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</p:grp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436C433-EB15-4FCF-A589-B78C0335780D}"/>
              </a:ext>
            </a:extLst>
          </p:cNvPr>
          <p:cNvCxnSpPr>
            <a:stCxn id="23" idx="6"/>
            <a:endCxn id="22" idx="2"/>
          </p:cNvCxnSpPr>
          <p:nvPr/>
        </p:nvCxnSpPr>
        <p:spPr>
          <a:xfrm>
            <a:off x="2067858" y="5758332"/>
            <a:ext cx="137877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F167F0-FE38-430C-B3EE-10B6D73E92C2}"/>
                  </a:ext>
                </a:extLst>
              </p:cNvPr>
              <p:cNvSpPr txBox="1"/>
              <p:nvPr/>
            </p:nvSpPr>
            <p:spPr>
              <a:xfrm>
                <a:off x="415601" y="4221001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×5+0.5=</m:t>
                      </m:r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F167F0-FE38-430C-B3EE-10B6D73E9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1" y="4221001"/>
                <a:ext cx="490211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084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Do models describe causation?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4722C-5C3F-4525-9FDD-10ACFA6D2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Always remember: models find </a:t>
            </a:r>
            <a:r>
              <a:rPr lang="en-GB" i="1" dirty="0"/>
              <a:t>associations</a:t>
            </a:r>
            <a:r>
              <a:rPr lang="en-GB" dirty="0"/>
              <a:t> between variables</a:t>
            </a:r>
          </a:p>
          <a:p>
            <a:r>
              <a:rPr lang="en-GB" dirty="0"/>
              <a:t>Associations can be:</a:t>
            </a:r>
          </a:p>
          <a:p>
            <a:pPr lvl="1">
              <a:spcBef>
                <a:spcPts val="0"/>
              </a:spcBef>
            </a:pPr>
            <a:r>
              <a:rPr lang="en-GB" dirty="0"/>
              <a:t>Causal</a:t>
            </a:r>
          </a:p>
          <a:p>
            <a:pPr lvl="1">
              <a:spcBef>
                <a:spcPts val="0"/>
              </a:spcBef>
            </a:pPr>
            <a:r>
              <a:rPr lang="en-GB" dirty="0"/>
              <a:t>Coincidental (i.e., “spurious correlations”)</a:t>
            </a:r>
          </a:p>
          <a:p>
            <a:pPr lvl="1">
              <a:spcBef>
                <a:spcPts val="0"/>
              </a:spcBef>
            </a:pPr>
            <a:r>
              <a:rPr lang="en-GB" b="1" dirty="0"/>
              <a:t>Confounded</a:t>
            </a:r>
            <a:endParaRPr lang="en-GB" dirty="0"/>
          </a:p>
          <a:p>
            <a:pPr lvl="1">
              <a:spcBef>
                <a:spcPts val="0"/>
              </a:spcBef>
            </a:pPr>
            <a:endParaRPr lang="en-GB" b="1" dirty="0">
              <a:solidFill>
                <a:srgbClr val="7030A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23B8E3C-F7E3-4215-93BC-BB0CE757EEA8}"/>
              </a:ext>
            </a:extLst>
          </p:cNvPr>
          <p:cNvGrpSpPr/>
          <p:nvPr/>
        </p:nvGrpSpPr>
        <p:grpSpPr>
          <a:xfrm>
            <a:off x="2235197" y="4400491"/>
            <a:ext cx="7721600" cy="1691343"/>
            <a:chOff x="1739152" y="3563471"/>
            <a:chExt cx="5791200" cy="12685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CC920C-3BEA-47CC-BD41-636B7EC82DC0}"/>
                </a:ext>
              </a:extLst>
            </p:cNvPr>
            <p:cNvSpPr/>
            <p:nvPr/>
          </p:nvSpPr>
          <p:spPr>
            <a:xfrm>
              <a:off x="6178923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7FB031-E047-4A53-9C5D-C4BFC95D09E5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66B71CB-8A25-4739-8293-18C39045DA9D}"/>
                </a:ext>
              </a:extLst>
            </p:cNvPr>
            <p:cNvCxnSpPr>
              <a:cxnSpLocks/>
              <a:stCxn id="7" idx="6"/>
              <a:endCxn id="6" idx="2"/>
            </p:cNvCxnSpPr>
            <p:nvPr/>
          </p:nvCxnSpPr>
          <p:spPr>
            <a:xfrm>
              <a:off x="3090581" y="4197725"/>
              <a:ext cx="308834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8E343-8824-45F6-A6F3-70DD139ED2FA}"/>
                  </a:ext>
                </a:extLst>
              </p:cNvPr>
              <p:cNvSpPr txBox="1"/>
              <p:nvPr/>
            </p:nvSpPr>
            <p:spPr>
              <a:xfrm>
                <a:off x="3616901" y="3669879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×5+0.5=</m:t>
                      </m:r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8E343-8824-45F6-A6F3-70DD139ED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901" y="3669879"/>
                <a:ext cx="49021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A59FD66-18F6-4292-998A-B9DF35386C13}"/>
              </a:ext>
            </a:extLst>
          </p:cNvPr>
          <p:cNvGrpSpPr/>
          <p:nvPr/>
        </p:nvGrpSpPr>
        <p:grpSpPr>
          <a:xfrm>
            <a:off x="5260063" y="3669879"/>
            <a:ext cx="1427657" cy="1576283"/>
            <a:chOff x="4115406" y="2422331"/>
            <a:chExt cx="1070743" cy="118221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CF4F04D-B1D3-4A43-9E33-A13A39845411}"/>
                </a:ext>
              </a:extLst>
            </p:cNvPr>
            <p:cNvSpPr/>
            <p:nvPr/>
          </p:nvSpPr>
          <p:spPr>
            <a:xfrm>
              <a:off x="4115406" y="2422331"/>
              <a:ext cx="1070743" cy="46166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274BCD7-4A29-4016-90EA-740BEEFD06C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flipH="1">
              <a:off x="4640239" y="2883996"/>
              <a:ext cx="10539" cy="72054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3622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Why do we find an association between ice cream and shark attacks?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6318279-2903-4A14-8685-8EA7ABC8CDAB}"/>
              </a:ext>
            </a:extLst>
          </p:cNvPr>
          <p:cNvGrpSpPr/>
          <p:nvPr/>
        </p:nvGrpSpPr>
        <p:grpSpPr>
          <a:xfrm>
            <a:off x="2318869" y="4751295"/>
            <a:ext cx="7721600" cy="1691343"/>
            <a:chOff x="1739152" y="3563471"/>
            <a:chExt cx="5791200" cy="12685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CC920C-3BEA-47CC-BD41-636B7EC82DC0}"/>
                </a:ext>
              </a:extLst>
            </p:cNvPr>
            <p:cNvSpPr/>
            <p:nvPr/>
          </p:nvSpPr>
          <p:spPr>
            <a:xfrm>
              <a:off x="6178923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Shark attack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7FB031-E047-4A53-9C5D-C4BFC95D09E5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Ice cream sales</a:t>
              </a: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6B71CB-8A25-4739-8293-18C39045DA9D}"/>
              </a:ext>
            </a:extLst>
          </p:cNvPr>
          <p:cNvCxnSpPr>
            <a:stCxn id="7" idx="6"/>
            <a:endCxn id="6" idx="2"/>
          </p:cNvCxnSpPr>
          <p:nvPr/>
        </p:nvCxnSpPr>
        <p:spPr>
          <a:xfrm>
            <a:off x="4120775" y="5596967"/>
            <a:ext cx="411778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005062A-37F8-4DB2-A260-70B543B3FFD9}"/>
              </a:ext>
            </a:extLst>
          </p:cNvPr>
          <p:cNvSpPr/>
          <p:nvPr/>
        </p:nvSpPr>
        <p:spPr>
          <a:xfrm>
            <a:off x="5195046" y="1737658"/>
            <a:ext cx="1801905" cy="1691343"/>
          </a:xfrm>
          <a:prstGeom prst="ellipse">
            <a:avLst/>
          </a:prstGeom>
          <a:solidFill>
            <a:schemeClr val="bg2">
              <a:lumMod val="75000"/>
            </a:schemeClr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Visit beach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F004B4-318A-4BFC-A053-FAE6A37A8894}"/>
              </a:ext>
            </a:extLst>
          </p:cNvPr>
          <p:cNvCxnSpPr>
            <a:stCxn id="14" idx="3"/>
            <a:endCxn id="7" idx="7"/>
          </p:cNvCxnSpPr>
          <p:nvPr/>
        </p:nvCxnSpPr>
        <p:spPr>
          <a:xfrm flipH="1">
            <a:off x="3856893" y="3181309"/>
            <a:ext cx="1602036" cy="18176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EC6F04B-5835-467F-BA42-1D957E8C00EB}"/>
              </a:ext>
            </a:extLst>
          </p:cNvPr>
          <p:cNvCxnSpPr>
            <a:stCxn id="14" idx="5"/>
            <a:endCxn id="6" idx="1"/>
          </p:cNvCxnSpPr>
          <p:nvPr/>
        </p:nvCxnSpPr>
        <p:spPr>
          <a:xfrm>
            <a:off x="6733068" y="3181309"/>
            <a:ext cx="1769379" cy="18176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2535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7437EA-FFF4-4040-81D6-687DFDBCB391}"/>
                  </a:ext>
                </a:extLst>
              </p:cNvPr>
              <p:cNvSpPr txBox="1"/>
              <p:nvPr/>
            </p:nvSpPr>
            <p:spPr>
              <a:xfrm>
                <a:off x="6801682" y="5864371"/>
                <a:ext cx="490211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=0.5+5×</m:t>
                      </m:r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7437EA-FFF4-4040-81D6-687DFDBCB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682" y="5864371"/>
                <a:ext cx="4902111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3FC8C0-326B-417D-811D-121FE77B74E8}"/>
                  </a:ext>
                </a:extLst>
              </p:cNvPr>
              <p:cNvSpPr txBox="1"/>
              <p:nvPr/>
            </p:nvSpPr>
            <p:spPr>
              <a:xfrm>
                <a:off x="6800531" y="5856774"/>
                <a:ext cx="49500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𝑆h𝑎𝑟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𝑆𝑎𝑙𝑒</m:t>
                      </m:r>
                      <m:sSub>
                        <m:sSubPr>
                          <m:ctrlP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sz="32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3FC8C0-326B-417D-811D-121FE77B7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531" y="5856774"/>
                <a:ext cx="495000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Shark and ice cream connection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6318279-2903-4A14-8685-8EA7ABC8CDAB}"/>
              </a:ext>
            </a:extLst>
          </p:cNvPr>
          <p:cNvGrpSpPr/>
          <p:nvPr/>
        </p:nvGrpSpPr>
        <p:grpSpPr>
          <a:xfrm>
            <a:off x="6526305" y="4113611"/>
            <a:ext cx="5558116" cy="1283143"/>
            <a:chOff x="1739152" y="3563471"/>
            <a:chExt cx="5791200" cy="12685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CC920C-3BEA-47CC-BD41-636B7EC82DC0}"/>
                </a:ext>
              </a:extLst>
            </p:cNvPr>
            <p:cNvSpPr/>
            <p:nvPr/>
          </p:nvSpPr>
          <p:spPr>
            <a:xfrm>
              <a:off x="6178923" y="3563471"/>
              <a:ext cx="1351429" cy="1268507"/>
            </a:xfrm>
            <a:prstGeom prst="ellipse">
              <a:avLst/>
            </a:prstGeom>
            <a:solidFill>
              <a:schemeClr val="tx2">
                <a:lumMod val="50000"/>
              </a:schemeClr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/>
                <a:t>Shark attack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37FB031-E047-4A53-9C5D-C4BFC95D09E5}"/>
                </a:ext>
              </a:extLst>
            </p:cNvPr>
            <p:cNvSpPr/>
            <p:nvPr/>
          </p:nvSpPr>
          <p:spPr>
            <a:xfrm>
              <a:off x="1739152" y="3563471"/>
              <a:ext cx="1351429" cy="1268507"/>
            </a:xfrm>
            <a:prstGeom prst="ellipse">
              <a:avLst/>
            </a:prstGeom>
            <a:solidFill>
              <a:schemeClr val="bg2">
                <a:lumMod val="75000"/>
                <a:lumOff val="25000"/>
              </a:schemeClr>
            </a:solidFill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/>
                <a:t>Ice cream sales</a:t>
              </a:r>
            </a:p>
          </p:txBody>
        </p:sp>
      </p:grpSp>
      <p:sp>
        <p:nvSpPr>
          <p:cNvPr id="14" name="Oval 13">
            <a:extLst>
              <a:ext uri="{FF2B5EF4-FFF2-40B4-BE49-F238E27FC236}">
                <a16:creationId xmlns:a16="http://schemas.microsoft.com/office/drawing/2014/main" id="{B005062A-37F8-4DB2-A260-70B543B3FFD9}"/>
              </a:ext>
            </a:extLst>
          </p:cNvPr>
          <p:cNvSpPr/>
          <p:nvPr/>
        </p:nvSpPr>
        <p:spPr>
          <a:xfrm>
            <a:off x="8596616" y="1827306"/>
            <a:ext cx="1297037" cy="1283143"/>
          </a:xfrm>
          <a:prstGeom prst="ellipse">
            <a:avLst/>
          </a:prstGeom>
          <a:solidFill>
            <a:schemeClr val="bg2">
              <a:lumMod val="75000"/>
            </a:schemeClr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Visit beach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F004B4-318A-4BFC-A053-FAE6A37A8894}"/>
              </a:ext>
            </a:extLst>
          </p:cNvPr>
          <p:cNvCxnSpPr>
            <a:stCxn id="14" idx="3"/>
            <a:endCxn id="7" idx="7"/>
          </p:cNvCxnSpPr>
          <p:nvPr/>
        </p:nvCxnSpPr>
        <p:spPr>
          <a:xfrm flipH="1">
            <a:off x="7633395" y="2922537"/>
            <a:ext cx="1153168" cy="13789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EC6F04B-5835-467F-BA42-1D957E8C00EB}"/>
              </a:ext>
            </a:extLst>
          </p:cNvPr>
          <p:cNvCxnSpPr>
            <a:stCxn id="14" idx="5"/>
            <a:endCxn id="6" idx="1"/>
          </p:cNvCxnSpPr>
          <p:nvPr/>
        </p:nvCxnSpPr>
        <p:spPr>
          <a:xfrm>
            <a:off x="9703707" y="2922537"/>
            <a:ext cx="1273624" cy="13789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6E9E0DF-DD0F-4F4E-BDB2-D03D27377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" y="1228855"/>
            <a:ext cx="6800529" cy="5354631"/>
          </a:xfrm>
        </p:spPr>
        <p:txBody>
          <a:bodyPr/>
          <a:lstStyle/>
          <a:p>
            <a:r>
              <a:rPr lang="en-GB" sz="2400" dirty="0"/>
              <a:t>People eat ice cream when they go to the beach</a:t>
            </a:r>
          </a:p>
          <a:p>
            <a:r>
              <a:rPr lang="en-GB" sz="2400" dirty="0"/>
              <a:t>People go swimming at the beach and can then be attacked by sharks</a:t>
            </a:r>
          </a:p>
          <a:p>
            <a:r>
              <a:rPr lang="en-GB" sz="2400" dirty="0"/>
              <a:t>The model does not know about going to the beach, or which way the arrows go</a:t>
            </a:r>
          </a:p>
          <a:p>
            <a:pPr lvl="1">
              <a:spcBef>
                <a:spcPts val="0"/>
              </a:spcBef>
            </a:pPr>
            <a:r>
              <a:rPr lang="en-GB" sz="2000" dirty="0"/>
              <a:t>The model only knows what we tell it</a:t>
            </a:r>
          </a:p>
          <a:p>
            <a:pPr lvl="1">
              <a:spcBef>
                <a:spcPts val="0"/>
              </a:spcBef>
            </a:pPr>
            <a:r>
              <a:rPr lang="en-GB" sz="2000" dirty="0"/>
              <a:t>It could easily find that shark attacks cause ice cream sales!</a:t>
            </a:r>
          </a:p>
          <a:p>
            <a:r>
              <a:rPr lang="en-GB" sz="2400" dirty="0"/>
              <a:t>Because ice cream and shark attacks are causally linked by going to the beach, the model can find a relationship</a:t>
            </a:r>
          </a:p>
          <a:p>
            <a:pPr lvl="1">
              <a:spcBef>
                <a:spcPts val="0"/>
              </a:spcBef>
            </a:pPr>
            <a:r>
              <a:rPr lang="en-GB" sz="2000" dirty="0"/>
              <a:t>There is an open path for the information (not causation) to flow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0ABAEC-0D05-49A7-8834-7C1D3D3E49DF}"/>
              </a:ext>
            </a:extLst>
          </p:cNvPr>
          <p:cNvCxnSpPr/>
          <p:nvPr/>
        </p:nvCxnSpPr>
        <p:spPr>
          <a:xfrm flipH="1">
            <a:off x="7633395" y="2930134"/>
            <a:ext cx="1153168" cy="13789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1A5D7B-D07F-4320-B966-2F77F0AFCC9A}"/>
              </a:ext>
            </a:extLst>
          </p:cNvPr>
          <p:cNvCxnSpPr>
            <a:cxnSpLocks/>
            <a:stCxn id="14" idx="5"/>
            <a:endCxn id="6" idx="1"/>
          </p:cNvCxnSpPr>
          <p:nvPr/>
        </p:nvCxnSpPr>
        <p:spPr>
          <a:xfrm>
            <a:off x="9703707" y="2922536"/>
            <a:ext cx="1273623" cy="13789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CE6A05-C164-43DD-8B4B-4B2602FC07C3}"/>
              </a:ext>
            </a:extLst>
          </p:cNvPr>
          <p:cNvSpPr/>
          <p:nvPr/>
        </p:nvSpPr>
        <p:spPr>
          <a:xfrm>
            <a:off x="7862131" y="3417988"/>
            <a:ext cx="2905571" cy="1094193"/>
          </a:xfrm>
          <a:custGeom>
            <a:avLst/>
            <a:gdLst>
              <a:gd name="connsiteX0" fmla="*/ 0 w 2179178"/>
              <a:gd name="connsiteY0" fmla="*/ 820645 h 820645"/>
              <a:gd name="connsiteX1" fmla="*/ 1034041 w 2179178"/>
              <a:gd name="connsiteY1" fmla="*/ 248 h 820645"/>
              <a:gd name="connsiteX2" fmla="*/ 2179178 w 2179178"/>
              <a:gd name="connsiteY2" fmla="*/ 752278 h 82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79178" h="820645">
                <a:moveTo>
                  <a:pt x="0" y="820645"/>
                </a:moveTo>
                <a:cubicBezTo>
                  <a:pt x="335422" y="416143"/>
                  <a:pt x="670845" y="11642"/>
                  <a:pt x="1034041" y="248"/>
                </a:cubicBezTo>
                <a:cubicBezTo>
                  <a:pt x="1397237" y="-11147"/>
                  <a:pt x="1788207" y="370565"/>
                  <a:pt x="2179178" y="752278"/>
                </a:cubicBezTo>
              </a:path>
            </a:pathLst>
          </a:custGeom>
          <a:noFill/>
          <a:ln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CE92B3-ACBA-471A-B45B-010ABD573CA5}"/>
              </a:ext>
            </a:extLst>
          </p:cNvPr>
          <p:cNvCxnSpPr>
            <a:stCxn id="7" idx="6"/>
            <a:endCxn id="6" idx="2"/>
          </p:cNvCxnSpPr>
          <p:nvPr/>
        </p:nvCxnSpPr>
        <p:spPr>
          <a:xfrm>
            <a:off x="7823342" y="4755183"/>
            <a:ext cx="2964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953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19" grpId="1"/>
      <p:bldP spid="12" grpId="0" uiExpand="1" build="p"/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4713B-195C-0B56-F6AE-D7757D10B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Different types of confounds</a:t>
            </a:r>
          </a:p>
        </p:txBody>
      </p:sp>
    </p:spTree>
    <p:extLst>
      <p:ext uri="{BB962C8B-B14F-4D97-AF65-F5344CB8AC3E}">
        <p14:creationId xmlns:p14="http://schemas.microsoft.com/office/powerpoint/2010/main" val="2152316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A family of confusion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4BD0FBE-1901-44C1-B2BF-04A0F26F2F78}"/>
              </a:ext>
            </a:extLst>
          </p:cNvPr>
          <p:cNvGrpSpPr/>
          <p:nvPr/>
        </p:nvGrpSpPr>
        <p:grpSpPr>
          <a:xfrm>
            <a:off x="7302365" y="1107020"/>
            <a:ext cx="2088545" cy="2126089"/>
            <a:chOff x="5476773" y="830264"/>
            <a:chExt cx="1566409" cy="1594567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E6A70E16-FEC9-4152-B419-97B35E22CD42}"/>
                </a:ext>
              </a:extLst>
            </p:cNvPr>
            <p:cNvGrpSpPr/>
            <p:nvPr/>
          </p:nvGrpSpPr>
          <p:grpSpPr>
            <a:xfrm>
              <a:off x="5476773" y="1341040"/>
              <a:ext cx="1566409" cy="1083791"/>
              <a:chOff x="6155850" y="1341040"/>
              <a:chExt cx="1566409" cy="1083791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33F65E5-54E3-4F6D-8E50-D41D0D93A99A}"/>
                  </a:ext>
                </a:extLst>
              </p:cNvPr>
              <p:cNvSpPr/>
              <p:nvPr/>
            </p:nvSpPr>
            <p:spPr>
              <a:xfrm>
                <a:off x="7287658" y="2021511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39613A30-CEA7-43EB-9DD4-31A2596A3525}"/>
                  </a:ext>
                </a:extLst>
              </p:cNvPr>
              <p:cNvSpPr/>
              <p:nvPr/>
            </p:nvSpPr>
            <p:spPr>
              <a:xfrm>
                <a:off x="6155850" y="2021511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4B801E74-A95D-44EA-B4DF-54DAACC4A3E1}"/>
                  </a:ext>
                </a:extLst>
              </p:cNvPr>
              <p:cNvSpPr/>
              <p:nvPr/>
            </p:nvSpPr>
            <p:spPr>
              <a:xfrm>
                <a:off x="6725536" y="1341040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A41A44C1-653D-4DC3-8B5B-5B648C14E08A}"/>
                  </a:ext>
                </a:extLst>
              </p:cNvPr>
              <p:cNvCxnSpPr>
                <a:stCxn id="32" idx="5"/>
                <a:endCxn id="28" idx="1"/>
              </p:cNvCxnSpPr>
              <p:nvPr/>
            </p:nvCxnSpPr>
            <p:spPr>
              <a:xfrm>
                <a:off x="7096491" y="1685294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AE978E5-F091-4821-96C6-B724F076F9B2}"/>
                  </a:ext>
                </a:extLst>
              </p:cNvPr>
              <p:cNvCxnSpPr>
                <a:stCxn id="30" idx="7"/>
                <a:endCxn id="32" idx="3"/>
              </p:cNvCxnSpPr>
              <p:nvPr/>
            </p:nvCxnSpPr>
            <p:spPr>
              <a:xfrm flipV="1">
                <a:off x="6526806" y="1685294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9C42D1A-BCCF-453E-9579-4AFC9AB8A212}"/>
                </a:ext>
              </a:extLst>
            </p:cNvPr>
            <p:cNvSpPr txBox="1"/>
            <p:nvPr/>
          </p:nvSpPr>
          <p:spPr>
            <a:xfrm>
              <a:off x="5991889" y="830264"/>
              <a:ext cx="589345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Pipe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54C2958-F320-4C48-A8CA-5C868A94C0AF}"/>
              </a:ext>
            </a:extLst>
          </p:cNvPr>
          <p:cNvGrpSpPr/>
          <p:nvPr/>
        </p:nvGrpSpPr>
        <p:grpSpPr>
          <a:xfrm>
            <a:off x="4701277" y="1116175"/>
            <a:ext cx="2088545" cy="2137851"/>
            <a:chOff x="3525957" y="837131"/>
            <a:chExt cx="1566409" cy="160338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ADABC815-811B-49C9-992B-C158E810C735}"/>
                </a:ext>
              </a:extLst>
            </p:cNvPr>
            <p:cNvGrpSpPr/>
            <p:nvPr/>
          </p:nvGrpSpPr>
          <p:grpSpPr>
            <a:xfrm>
              <a:off x="3525957" y="1356728"/>
              <a:ext cx="1566409" cy="1083791"/>
              <a:chOff x="4205034" y="1356728"/>
              <a:chExt cx="1566409" cy="1083791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5C522C8-ABFA-4058-9BAE-C456C9C05CF4}"/>
                  </a:ext>
                </a:extLst>
              </p:cNvPr>
              <p:cNvSpPr/>
              <p:nvPr/>
            </p:nvSpPr>
            <p:spPr>
              <a:xfrm>
                <a:off x="5336842" y="2037199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D059DA1-CEFB-4BBD-A284-532D2AC070BD}"/>
                  </a:ext>
                </a:extLst>
              </p:cNvPr>
              <p:cNvSpPr/>
              <p:nvPr/>
            </p:nvSpPr>
            <p:spPr>
              <a:xfrm>
                <a:off x="4205034" y="2037199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A4066AC-A54A-467D-88E0-DF35BA925149}"/>
                  </a:ext>
                </a:extLst>
              </p:cNvPr>
              <p:cNvSpPr/>
              <p:nvPr/>
            </p:nvSpPr>
            <p:spPr>
              <a:xfrm>
                <a:off x="4774720" y="1356728"/>
                <a:ext cx="434601" cy="403319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75A2A15-38D9-4ED3-93A0-ADB28A204398}"/>
                  </a:ext>
                </a:extLst>
              </p:cNvPr>
              <p:cNvCxnSpPr>
                <a:stCxn id="20" idx="3"/>
                <a:endCxn id="19" idx="7"/>
              </p:cNvCxnSpPr>
              <p:nvPr/>
            </p:nvCxnSpPr>
            <p:spPr>
              <a:xfrm flipH="1">
                <a:off x="4575990" y="1700982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28B291C2-904F-4007-89AA-0095EB52F029}"/>
                  </a:ext>
                </a:extLst>
              </p:cNvPr>
              <p:cNvCxnSpPr>
                <a:stCxn id="20" idx="5"/>
                <a:endCxn id="18" idx="1"/>
              </p:cNvCxnSpPr>
              <p:nvPr/>
            </p:nvCxnSpPr>
            <p:spPr>
              <a:xfrm>
                <a:off x="5145675" y="1700982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B113D6-8AAE-4097-851A-4EC467169931}"/>
                </a:ext>
              </a:extLst>
            </p:cNvPr>
            <p:cNvSpPr txBox="1"/>
            <p:nvPr/>
          </p:nvSpPr>
          <p:spPr>
            <a:xfrm>
              <a:off x="4041874" y="837131"/>
              <a:ext cx="614591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Fork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78ED9010-4665-484F-8E6C-DA3A0A970AC1}"/>
              </a:ext>
            </a:extLst>
          </p:cNvPr>
          <p:cNvGrpSpPr/>
          <p:nvPr/>
        </p:nvGrpSpPr>
        <p:grpSpPr>
          <a:xfrm>
            <a:off x="4701276" y="4003391"/>
            <a:ext cx="2088545" cy="2203955"/>
            <a:chOff x="3525957" y="3002543"/>
            <a:chExt cx="1566409" cy="1652966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0F3DDA8-C395-407E-9906-32803A28160A}"/>
                </a:ext>
              </a:extLst>
            </p:cNvPr>
            <p:cNvGrpSpPr/>
            <p:nvPr/>
          </p:nvGrpSpPr>
          <p:grpSpPr>
            <a:xfrm>
              <a:off x="3525957" y="3571718"/>
              <a:ext cx="1566409" cy="1083791"/>
              <a:chOff x="4205034" y="3383452"/>
              <a:chExt cx="1566409" cy="1083791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E45509B-490B-4D1A-9F28-C9A5842BB263}"/>
                  </a:ext>
                </a:extLst>
              </p:cNvPr>
              <p:cNvSpPr/>
              <p:nvPr/>
            </p:nvSpPr>
            <p:spPr>
              <a:xfrm>
                <a:off x="5336842" y="4063923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6BE5D0A-4C42-4390-AE7C-F0ED68019773}"/>
                  </a:ext>
                </a:extLst>
              </p:cNvPr>
              <p:cNvSpPr/>
              <p:nvPr/>
            </p:nvSpPr>
            <p:spPr>
              <a:xfrm>
                <a:off x="4205034" y="4063923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F01C355-0AE3-4E43-B31E-6F67F82CCD9D}"/>
                  </a:ext>
                </a:extLst>
              </p:cNvPr>
              <p:cNvSpPr/>
              <p:nvPr/>
            </p:nvSpPr>
            <p:spPr>
              <a:xfrm>
                <a:off x="4774720" y="3383452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ADC4F697-437D-4542-850E-E5CD624387BF}"/>
                  </a:ext>
                </a:extLst>
              </p:cNvPr>
              <p:cNvCxnSpPr>
                <a:stCxn id="24" idx="7"/>
                <a:endCxn id="25" idx="3"/>
              </p:cNvCxnSpPr>
              <p:nvPr/>
            </p:nvCxnSpPr>
            <p:spPr>
              <a:xfrm flipV="1">
                <a:off x="4575990" y="3727706"/>
                <a:ext cx="262376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D75AC29F-F300-4106-B39B-5A6067C1B02E}"/>
                  </a:ext>
                </a:extLst>
              </p:cNvPr>
              <p:cNvCxnSpPr>
                <a:stCxn id="23" idx="1"/>
                <a:endCxn id="25" idx="5"/>
              </p:cNvCxnSpPr>
              <p:nvPr/>
            </p:nvCxnSpPr>
            <p:spPr>
              <a:xfrm flipH="1" flipV="1">
                <a:off x="5145675" y="3727706"/>
                <a:ext cx="254813" cy="3952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55EC461-1B4D-48D9-9BB9-A14CB9D35624}"/>
                </a:ext>
              </a:extLst>
            </p:cNvPr>
            <p:cNvSpPr txBox="1"/>
            <p:nvPr/>
          </p:nvSpPr>
          <p:spPr>
            <a:xfrm>
              <a:off x="3916253" y="3002543"/>
              <a:ext cx="947615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Collider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5E09E6D-8182-477A-BD15-6D9591EDBFCB}"/>
              </a:ext>
            </a:extLst>
          </p:cNvPr>
          <p:cNvGrpSpPr/>
          <p:nvPr/>
        </p:nvGrpSpPr>
        <p:grpSpPr>
          <a:xfrm>
            <a:off x="2105497" y="1107019"/>
            <a:ext cx="2088545" cy="2147005"/>
            <a:chOff x="1579122" y="830264"/>
            <a:chExt cx="1566409" cy="1610254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DB27D496-C095-4342-98D0-7DFBB84BDDDE}"/>
                </a:ext>
              </a:extLst>
            </p:cNvPr>
            <p:cNvGrpSpPr/>
            <p:nvPr/>
          </p:nvGrpSpPr>
          <p:grpSpPr>
            <a:xfrm>
              <a:off x="1579122" y="2037198"/>
              <a:ext cx="1566409" cy="403320"/>
              <a:chOff x="2258199" y="2037198"/>
              <a:chExt cx="1566409" cy="40332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8FBB8E71-E714-4C1E-A0D6-B82B425268CB}"/>
                  </a:ext>
                </a:extLst>
              </p:cNvPr>
              <p:cNvSpPr/>
              <p:nvPr/>
            </p:nvSpPr>
            <p:spPr>
              <a:xfrm>
                <a:off x="3390007" y="2037198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FCDD6CE4-68CF-47F3-9E4C-E6AA8659F717}"/>
                  </a:ext>
                </a:extLst>
              </p:cNvPr>
              <p:cNvSpPr/>
              <p:nvPr/>
            </p:nvSpPr>
            <p:spPr>
              <a:xfrm>
                <a:off x="2258199" y="2037198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CA601D8D-B31A-4808-9732-653AA3E5E614}"/>
                  </a:ext>
                </a:extLst>
              </p:cNvPr>
              <p:cNvCxnSpPr>
                <a:cxnSpLocks/>
                <a:stCxn id="57" idx="6"/>
                <a:endCxn id="56" idx="2"/>
              </p:cNvCxnSpPr>
              <p:nvPr/>
            </p:nvCxnSpPr>
            <p:spPr>
              <a:xfrm>
                <a:off x="2692801" y="2238858"/>
                <a:ext cx="69720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5EA05AE-3093-4CAF-B304-8831AB0AEC87}"/>
                </a:ext>
              </a:extLst>
            </p:cNvPr>
            <p:cNvSpPr txBox="1"/>
            <p:nvPr/>
          </p:nvSpPr>
          <p:spPr>
            <a:xfrm>
              <a:off x="2032548" y="830264"/>
              <a:ext cx="68071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Truth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652350C0-6E90-4B50-B9CA-A1EB04836BE6}"/>
              </a:ext>
            </a:extLst>
          </p:cNvPr>
          <p:cNvGrpSpPr/>
          <p:nvPr/>
        </p:nvGrpSpPr>
        <p:grpSpPr>
          <a:xfrm>
            <a:off x="2074345" y="3999555"/>
            <a:ext cx="2101718" cy="2221236"/>
            <a:chOff x="1555759" y="2999666"/>
            <a:chExt cx="1576288" cy="1665927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69D0486-88B7-4726-BC32-815475763AFF}"/>
                </a:ext>
              </a:extLst>
            </p:cNvPr>
            <p:cNvGrpSpPr/>
            <p:nvPr/>
          </p:nvGrpSpPr>
          <p:grpSpPr>
            <a:xfrm>
              <a:off x="1555759" y="4262273"/>
              <a:ext cx="1566409" cy="403320"/>
              <a:chOff x="2234836" y="4074007"/>
              <a:chExt cx="1566409" cy="403320"/>
            </a:xfrm>
          </p:grpSpPr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2ACE33B8-C5A6-4F98-9755-0547D01854CB}"/>
                  </a:ext>
                </a:extLst>
              </p:cNvPr>
              <p:cNvSpPr/>
              <p:nvPr/>
            </p:nvSpPr>
            <p:spPr>
              <a:xfrm>
                <a:off x="3366644" y="4074007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40BF24B-65C1-4101-9092-AD49AD343F57}"/>
                  </a:ext>
                </a:extLst>
              </p:cNvPr>
              <p:cNvSpPr/>
              <p:nvPr/>
            </p:nvSpPr>
            <p:spPr>
              <a:xfrm>
                <a:off x="2234836" y="4074007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A5890CE-8281-4FD1-96C8-60F3F0094FC0}"/>
                </a:ext>
              </a:extLst>
            </p:cNvPr>
            <p:cNvSpPr txBox="1"/>
            <p:nvPr/>
          </p:nvSpPr>
          <p:spPr>
            <a:xfrm>
              <a:off x="1748014" y="2999666"/>
              <a:ext cx="1384033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Coincidence</a:t>
              </a: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9B8E94E-931F-4959-8839-F3CD81C64B46}"/>
              </a:ext>
            </a:extLst>
          </p:cNvPr>
          <p:cNvGrpSpPr/>
          <p:nvPr/>
        </p:nvGrpSpPr>
        <p:grpSpPr>
          <a:xfrm>
            <a:off x="7012630" y="4003390"/>
            <a:ext cx="2887030" cy="2234268"/>
            <a:chOff x="5259472" y="3002542"/>
            <a:chExt cx="2165272" cy="1675701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572508C-6C04-477C-BEE0-69897BE62DF7}"/>
                </a:ext>
              </a:extLst>
            </p:cNvPr>
            <p:cNvGrpSpPr/>
            <p:nvPr/>
          </p:nvGrpSpPr>
          <p:grpSpPr>
            <a:xfrm>
              <a:off x="5259472" y="3482857"/>
              <a:ext cx="2165272" cy="1195386"/>
              <a:chOff x="5938549" y="3482857"/>
              <a:chExt cx="2165272" cy="119538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674F3F0-220D-4F18-B188-AAF77B01E2A1}"/>
                  </a:ext>
                </a:extLst>
              </p:cNvPr>
              <p:cNvSpPr/>
              <p:nvPr/>
            </p:nvSpPr>
            <p:spPr>
              <a:xfrm>
                <a:off x="7669220" y="3482857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2D53BDBE-54FC-442D-8CDE-41E6E793354A}"/>
                  </a:ext>
                </a:extLst>
              </p:cNvPr>
              <p:cNvSpPr/>
              <p:nvPr/>
            </p:nvSpPr>
            <p:spPr>
              <a:xfrm>
                <a:off x="5938549" y="3482858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80A74BE-D5F4-4C32-9151-8EC13A98740A}"/>
                  </a:ext>
                </a:extLst>
              </p:cNvPr>
              <p:cNvSpPr/>
              <p:nvPr/>
            </p:nvSpPr>
            <p:spPr>
              <a:xfrm>
                <a:off x="6803885" y="3482859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Z</a:t>
                </a: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40013FDE-CAFD-45FF-82A7-CFFF72045FA6}"/>
                  </a:ext>
                </a:extLst>
              </p:cNvPr>
              <p:cNvCxnSpPr>
                <a:cxnSpLocks/>
                <a:stCxn id="43" idx="6"/>
                <a:endCxn id="44" idx="2"/>
              </p:cNvCxnSpPr>
              <p:nvPr/>
            </p:nvCxnSpPr>
            <p:spPr>
              <a:xfrm>
                <a:off x="6373151" y="3684518"/>
                <a:ext cx="430734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08C0A6E7-AF67-4C21-A2BF-5BBAE5D7F026}"/>
                  </a:ext>
                </a:extLst>
              </p:cNvPr>
              <p:cNvCxnSpPr>
                <a:stCxn id="44" idx="6"/>
                <a:endCxn id="42" idx="2"/>
              </p:cNvCxnSpPr>
              <p:nvPr/>
            </p:nvCxnSpPr>
            <p:spPr>
              <a:xfrm flipV="1">
                <a:off x="7238486" y="3684517"/>
                <a:ext cx="430734" cy="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0D74FCBD-9648-48D3-B3A4-8FB638E75F1C}"/>
                  </a:ext>
                </a:extLst>
              </p:cNvPr>
              <p:cNvSpPr/>
              <p:nvPr/>
            </p:nvSpPr>
            <p:spPr>
              <a:xfrm>
                <a:off x="6809961" y="4274924"/>
                <a:ext cx="434601" cy="403319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V</a:t>
                </a:r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3517A162-BFD9-4153-959B-667DA7DA9D65}"/>
                  </a:ext>
                </a:extLst>
              </p:cNvPr>
              <p:cNvCxnSpPr>
                <a:stCxn id="44" idx="4"/>
                <a:endCxn id="53" idx="0"/>
              </p:cNvCxnSpPr>
              <p:nvPr/>
            </p:nvCxnSpPr>
            <p:spPr>
              <a:xfrm>
                <a:off x="7021186" y="3886178"/>
                <a:ext cx="6076" cy="3887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ACA1F83-E692-469A-A7E6-FE1A4F1BA5C1}"/>
                </a:ext>
              </a:extLst>
            </p:cNvPr>
            <p:cNvSpPr txBox="1"/>
            <p:nvPr/>
          </p:nvSpPr>
          <p:spPr>
            <a:xfrm>
              <a:off x="5772080" y="3002542"/>
              <a:ext cx="135397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Descendant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B6E6F98-52DE-4720-8926-DE231BDEF8E8}"/>
              </a:ext>
            </a:extLst>
          </p:cNvPr>
          <p:cNvGrpSpPr/>
          <p:nvPr/>
        </p:nvGrpSpPr>
        <p:grpSpPr>
          <a:xfrm>
            <a:off x="163861" y="1107019"/>
            <a:ext cx="4102415" cy="2227852"/>
            <a:chOff x="122895" y="830264"/>
            <a:chExt cx="3076811" cy="1670889"/>
          </a:xfrm>
        </p:grpSpPr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3F73FB6C-EC80-45BC-9808-2990E5D15689}"/>
                </a:ext>
              </a:extLst>
            </p:cNvPr>
            <p:cNvSpPr/>
            <p:nvPr/>
          </p:nvSpPr>
          <p:spPr>
            <a:xfrm>
              <a:off x="122895" y="1379358"/>
              <a:ext cx="1018793" cy="572700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/>
                <a:t>What we hope for</a:t>
              </a:r>
            </a:p>
          </p:txBody>
        </p:sp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2790BEF0-411A-4BD3-87C7-1727DA02977B}"/>
                </a:ext>
              </a:extLst>
            </p:cNvPr>
            <p:cNvSpPr/>
            <p:nvPr/>
          </p:nvSpPr>
          <p:spPr>
            <a:xfrm>
              <a:off x="1512643" y="830264"/>
              <a:ext cx="1687063" cy="167088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/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CED1CC3-FE97-4FDE-87A3-EADDCA37CBAA}"/>
                </a:ext>
              </a:extLst>
            </p:cNvPr>
            <p:cNvCxnSpPr>
              <a:stCxn id="81" idx="1"/>
              <a:endCxn id="80" idx="3"/>
            </p:cNvCxnSpPr>
            <p:nvPr/>
          </p:nvCxnSpPr>
          <p:spPr>
            <a:xfrm flipH="1" flipV="1">
              <a:off x="1141688" y="1665708"/>
              <a:ext cx="370955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DC9AF6F-6644-4A08-A07D-5DFBEEE9F5EF}"/>
              </a:ext>
            </a:extLst>
          </p:cNvPr>
          <p:cNvGrpSpPr/>
          <p:nvPr/>
        </p:nvGrpSpPr>
        <p:grpSpPr>
          <a:xfrm>
            <a:off x="4347583" y="1107020"/>
            <a:ext cx="7765876" cy="5239993"/>
            <a:chOff x="3260687" y="830264"/>
            <a:chExt cx="5824407" cy="3929995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101F06F6-9CF0-4BED-B6A1-DDFB98A8F2E6}"/>
                </a:ext>
              </a:extLst>
            </p:cNvPr>
            <p:cNvSpPr/>
            <p:nvPr/>
          </p:nvSpPr>
          <p:spPr>
            <a:xfrm>
              <a:off x="7740388" y="2238857"/>
              <a:ext cx="1344706" cy="1117583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Different types of confounding relationships</a:t>
              </a: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B908BFC6-17A6-4583-BAFE-110E79EB5CCA}"/>
                </a:ext>
              </a:extLst>
            </p:cNvPr>
            <p:cNvSpPr/>
            <p:nvPr/>
          </p:nvSpPr>
          <p:spPr>
            <a:xfrm>
              <a:off x="3260687" y="830264"/>
              <a:ext cx="4304191" cy="392999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/>
            </a:p>
          </p:txBody>
        </p: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B0680D51-4539-4B60-8332-1E7F181C2CB4}"/>
                </a:ext>
              </a:extLst>
            </p:cNvPr>
            <p:cNvCxnSpPr>
              <a:cxnSpLocks/>
              <a:stCxn id="76" idx="3"/>
              <a:endCxn id="75" idx="1"/>
            </p:cNvCxnSpPr>
            <p:nvPr/>
          </p:nvCxnSpPr>
          <p:spPr>
            <a:xfrm>
              <a:off x="7564878" y="2795262"/>
              <a:ext cx="175510" cy="23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5F520EF-D276-4C68-A8C5-CBEACE0C6A1B}"/>
              </a:ext>
            </a:extLst>
          </p:cNvPr>
          <p:cNvGrpSpPr/>
          <p:nvPr/>
        </p:nvGrpSpPr>
        <p:grpSpPr>
          <a:xfrm>
            <a:off x="71737" y="3917577"/>
            <a:ext cx="4142879" cy="2429436"/>
            <a:chOff x="53802" y="2938182"/>
            <a:chExt cx="3107159" cy="1822077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21C3E82A-EE21-4D48-8BD5-B545464A0257}"/>
                </a:ext>
              </a:extLst>
            </p:cNvPr>
            <p:cNvSpPr/>
            <p:nvPr/>
          </p:nvSpPr>
          <p:spPr>
            <a:xfrm>
              <a:off x="1505919" y="2938182"/>
              <a:ext cx="1655042" cy="182207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/>
            </a:p>
          </p:txBody>
        </p:sp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EAB6EF53-E4B3-4A5C-AFF3-ABBE451F43DE}"/>
                </a:ext>
              </a:extLst>
            </p:cNvPr>
            <p:cNvSpPr/>
            <p:nvPr/>
          </p:nvSpPr>
          <p:spPr>
            <a:xfrm>
              <a:off x="53802" y="3564994"/>
              <a:ext cx="1121200" cy="572700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Associated by chance</a:t>
              </a: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E23BD477-E813-49E7-AADC-A7F491CFD7AC}"/>
                </a:ext>
              </a:extLst>
            </p:cNvPr>
            <p:cNvCxnSpPr>
              <a:cxnSpLocks/>
              <a:stCxn id="87" idx="1"/>
              <a:endCxn id="88" idx="3"/>
            </p:cNvCxnSpPr>
            <p:nvPr/>
          </p:nvCxnSpPr>
          <p:spPr>
            <a:xfrm flipH="1">
              <a:off x="1175002" y="3849221"/>
              <a:ext cx="330917" cy="212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9915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Spurious correlations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AA7C6F-EDEF-44FC-8DDB-287456C395E5}"/>
              </a:ext>
            </a:extLst>
          </p:cNvPr>
          <p:cNvGrpSpPr/>
          <p:nvPr/>
        </p:nvGrpSpPr>
        <p:grpSpPr>
          <a:xfrm>
            <a:off x="419364" y="3559651"/>
            <a:ext cx="2088545" cy="537760"/>
            <a:chOff x="2234836" y="4074007"/>
            <a:chExt cx="1566409" cy="40332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8285DE4-C229-4BE7-A4B8-B39C5400361F}"/>
                </a:ext>
              </a:extLst>
            </p:cNvPr>
            <p:cNvSpPr/>
            <p:nvPr/>
          </p:nvSpPr>
          <p:spPr>
            <a:xfrm>
              <a:off x="3366644" y="4074007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F198762-5BFF-447D-B8A7-CF3CDC0BE5E2}"/>
                </a:ext>
              </a:extLst>
            </p:cNvPr>
            <p:cNvSpPr/>
            <p:nvPr/>
          </p:nvSpPr>
          <p:spPr>
            <a:xfrm>
              <a:off x="2234836" y="4074007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7F6AFFB1-9066-4C47-B2FA-A6C19A9BBE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221" y="1025495"/>
            <a:ext cx="6293559" cy="559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42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The confounds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06A284-FF7B-4214-B699-4381B44713D1}"/>
              </a:ext>
            </a:extLst>
          </p:cNvPr>
          <p:cNvGrpSpPr/>
          <p:nvPr/>
        </p:nvGrpSpPr>
        <p:grpSpPr>
          <a:xfrm>
            <a:off x="3553794" y="1178738"/>
            <a:ext cx="5198383" cy="5130639"/>
            <a:chOff x="3525957" y="830264"/>
            <a:chExt cx="3898787" cy="3847979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4BD0FBE-1901-44C1-B2BF-04A0F26F2F78}"/>
                </a:ext>
              </a:extLst>
            </p:cNvPr>
            <p:cNvGrpSpPr/>
            <p:nvPr/>
          </p:nvGrpSpPr>
          <p:grpSpPr>
            <a:xfrm>
              <a:off x="5476773" y="830264"/>
              <a:ext cx="1566409" cy="1594567"/>
              <a:chOff x="5476773" y="830264"/>
              <a:chExt cx="1566409" cy="1594567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6A70E16-FEC9-4152-B419-97B35E22CD42}"/>
                  </a:ext>
                </a:extLst>
              </p:cNvPr>
              <p:cNvGrpSpPr/>
              <p:nvPr/>
            </p:nvGrpSpPr>
            <p:grpSpPr>
              <a:xfrm>
                <a:off x="5476773" y="1341040"/>
                <a:ext cx="1566409" cy="1083791"/>
                <a:chOff x="6155850" y="1341040"/>
                <a:chExt cx="1566409" cy="1083791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33F65E5-54E3-4F6D-8E50-D41D0D93A99A}"/>
                    </a:ext>
                  </a:extLst>
                </p:cNvPr>
                <p:cNvSpPr/>
                <p:nvPr/>
              </p:nvSpPr>
              <p:spPr>
                <a:xfrm>
                  <a:off x="7287658" y="2021511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39613A30-CEA7-43EB-9DD4-31A2596A3525}"/>
                    </a:ext>
                  </a:extLst>
                </p:cNvPr>
                <p:cNvSpPr/>
                <p:nvPr/>
              </p:nvSpPr>
              <p:spPr>
                <a:xfrm>
                  <a:off x="6155850" y="2021511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4B801E74-A95D-44EA-B4DF-54DAACC4A3E1}"/>
                    </a:ext>
                  </a:extLst>
                </p:cNvPr>
                <p:cNvSpPr/>
                <p:nvPr/>
              </p:nvSpPr>
              <p:spPr>
                <a:xfrm>
                  <a:off x="6725536" y="1341040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A41A44C1-653D-4DC3-8B5B-5B648C14E08A}"/>
                    </a:ext>
                  </a:extLst>
                </p:cNvPr>
                <p:cNvCxnSpPr>
                  <a:stCxn id="32" idx="5"/>
                  <a:endCxn id="28" idx="1"/>
                </p:cNvCxnSpPr>
                <p:nvPr/>
              </p:nvCxnSpPr>
              <p:spPr>
                <a:xfrm>
                  <a:off x="7096491" y="1685294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6AE978E5-F091-4821-96C6-B724F076F9B2}"/>
                    </a:ext>
                  </a:extLst>
                </p:cNvPr>
                <p:cNvCxnSpPr>
                  <a:stCxn id="30" idx="7"/>
                  <a:endCxn id="32" idx="3"/>
                </p:cNvCxnSpPr>
                <p:nvPr/>
              </p:nvCxnSpPr>
              <p:spPr>
                <a:xfrm flipV="1">
                  <a:off x="6526806" y="1685294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9C42D1A-BCCF-453E-9579-4AFC9AB8A212}"/>
                  </a:ext>
                </a:extLst>
              </p:cNvPr>
              <p:cNvSpPr txBox="1"/>
              <p:nvPr/>
            </p:nvSpPr>
            <p:spPr>
              <a:xfrm>
                <a:off x="5991889" y="830264"/>
                <a:ext cx="58934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Pipe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54C2958-F320-4C48-A8CA-5C868A94C0AF}"/>
                </a:ext>
              </a:extLst>
            </p:cNvPr>
            <p:cNvGrpSpPr/>
            <p:nvPr/>
          </p:nvGrpSpPr>
          <p:grpSpPr>
            <a:xfrm>
              <a:off x="3525957" y="837131"/>
              <a:ext cx="1566409" cy="1603388"/>
              <a:chOff x="3525957" y="837131"/>
              <a:chExt cx="1566409" cy="1603388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DABC815-811B-49C9-992B-C158E810C735}"/>
                  </a:ext>
                </a:extLst>
              </p:cNvPr>
              <p:cNvGrpSpPr/>
              <p:nvPr/>
            </p:nvGrpSpPr>
            <p:grpSpPr>
              <a:xfrm>
                <a:off x="3525957" y="1356728"/>
                <a:ext cx="1566409" cy="1083791"/>
                <a:chOff x="4205034" y="1356728"/>
                <a:chExt cx="1566409" cy="1083791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75C522C8-ABFA-4058-9BAE-C456C9C05CF4}"/>
                    </a:ext>
                  </a:extLst>
                </p:cNvPr>
                <p:cNvSpPr/>
                <p:nvPr/>
              </p:nvSpPr>
              <p:spPr>
                <a:xfrm>
                  <a:off x="5336842" y="2037199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D059DA1-CEFB-4BBD-A284-532D2AC070BD}"/>
                    </a:ext>
                  </a:extLst>
                </p:cNvPr>
                <p:cNvSpPr/>
                <p:nvPr/>
              </p:nvSpPr>
              <p:spPr>
                <a:xfrm>
                  <a:off x="4205034" y="2037199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4A4066AC-A54A-467D-88E0-DF35BA925149}"/>
                    </a:ext>
                  </a:extLst>
                </p:cNvPr>
                <p:cNvSpPr/>
                <p:nvPr/>
              </p:nvSpPr>
              <p:spPr>
                <a:xfrm>
                  <a:off x="4774720" y="1356728"/>
                  <a:ext cx="434601" cy="403319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A75A2A15-38D9-4ED3-93A0-ADB28A204398}"/>
                    </a:ext>
                  </a:extLst>
                </p:cNvPr>
                <p:cNvCxnSpPr>
                  <a:stCxn id="20" idx="3"/>
                  <a:endCxn id="19" idx="7"/>
                </p:cNvCxnSpPr>
                <p:nvPr/>
              </p:nvCxnSpPr>
              <p:spPr>
                <a:xfrm flipH="1">
                  <a:off x="4575990" y="1700982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28B291C2-904F-4007-89AA-0095EB52F029}"/>
                    </a:ext>
                  </a:extLst>
                </p:cNvPr>
                <p:cNvCxnSpPr>
                  <a:stCxn id="20" idx="5"/>
                  <a:endCxn id="18" idx="1"/>
                </p:cNvCxnSpPr>
                <p:nvPr/>
              </p:nvCxnSpPr>
              <p:spPr>
                <a:xfrm>
                  <a:off x="5145675" y="1700982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4B113D6-8AAE-4097-851A-4EC467169931}"/>
                  </a:ext>
                </a:extLst>
              </p:cNvPr>
              <p:cNvSpPr txBox="1"/>
              <p:nvPr/>
            </p:nvSpPr>
            <p:spPr>
              <a:xfrm>
                <a:off x="4041874" y="837131"/>
                <a:ext cx="614591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Fork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8ED9010-4665-484F-8E6C-DA3A0A970AC1}"/>
                </a:ext>
              </a:extLst>
            </p:cNvPr>
            <p:cNvGrpSpPr/>
            <p:nvPr/>
          </p:nvGrpSpPr>
          <p:grpSpPr>
            <a:xfrm>
              <a:off x="3525957" y="3002543"/>
              <a:ext cx="1566409" cy="1652966"/>
              <a:chOff x="3525957" y="3002543"/>
              <a:chExt cx="1566409" cy="1652966"/>
            </a:xfrm>
          </p:grpSpPr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80F3DDA8-C395-407E-9906-32803A28160A}"/>
                  </a:ext>
                </a:extLst>
              </p:cNvPr>
              <p:cNvGrpSpPr/>
              <p:nvPr/>
            </p:nvGrpSpPr>
            <p:grpSpPr>
              <a:xfrm>
                <a:off x="3525957" y="3571718"/>
                <a:ext cx="1566409" cy="1083791"/>
                <a:chOff x="4205034" y="3383452"/>
                <a:chExt cx="1566409" cy="1083791"/>
              </a:xfrm>
            </p:grpSpPr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E45509B-490B-4D1A-9F28-C9A5842BB263}"/>
                    </a:ext>
                  </a:extLst>
                </p:cNvPr>
                <p:cNvSpPr/>
                <p:nvPr/>
              </p:nvSpPr>
              <p:spPr>
                <a:xfrm>
                  <a:off x="5336842" y="4063923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6BE5D0A-4C42-4390-AE7C-F0ED68019773}"/>
                    </a:ext>
                  </a:extLst>
                </p:cNvPr>
                <p:cNvSpPr/>
                <p:nvPr/>
              </p:nvSpPr>
              <p:spPr>
                <a:xfrm>
                  <a:off x="4205034" y="4063923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F01C355-0AE3-4E43-B31E-6F67F82CCD9D}"/>
                    </a:ext>
                  </a:extLst>
                </p:cNvPr>
                <p:cNvSpPr/>
                <p:nvPr/>
              </p:nvSpPr>
              <p:spPr>
                <a:xfrm>
                  <a:off x="4774720" y="3383452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ADC4F697-437D-4542-850E-E5CD624387BF}"/>
                    </a:ext>
                  </a:extLst>
                </p:cNvPr>
                <p:cNvCxnSpPr>
                  <a:stCxn id="24" idx="7"/>
                  <a:endCxn id="25" idx="3"/>
                </p:cNvCxnSpPr>
                <p:nvPr/>
              </p:nvCxnSpPr>
              <p:spPr>
                <a:xfrm flipV="1">
                  <a:off x="4575990" y="3727706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75AC29F-F300-4106-B39B-5A6067C1B02E}"/>
                    </a:ext>
                  </a:extLst>
                </p:cNvPr>
                <p:cNvCxnSpPr>
                  <a:stCxn id="23" idx="1"/>
                  <a:endCxn id="25" idx="5"/>
                </p:cNvCxnSpPr>
                <p:nvPr/>
              </p:nvCxnSpPr>
              <p:spPr>
                <a:xfrm flipH="1" flipV="1">
                  <a:off x="5145675" y="3727706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5EC461-1B4D-48D9-9BB9-A14CB9D35624}"/>
                  </a:ext>
                </a:extLst>
              </p:cNvPr>
              <p:cNvSpPr txBox="1"/>
              <p:nvPr/>
            </p:nvSpPr>
            <p:spPr>
              <a:xfrm>
                <a:off x="3916253" y="3002543"/>
                <a:ext cx="94761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Collider</a:t>
                </a:r>
              </a:p>
            </p:txBody>
          </p: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F9B8E94E-931F-4959-8839-F3CD81C64B46}"/>
                </a:ext>
              </a:extLst>
            </p:cNvPr>
            <p:cNvGrpSpPr/>
            <p:nvPr/>
          </p:nvGrpSpPr>
          <p:grpSpPr>
            <a:xfrm>
              <a:off x="5259472" y="3002542"/>
              <a:ext cx="2165272" cy="1675701"/>
              <a:chOff x="5259472" y="3002542"/>
              <a:chExt cx="2165272" cy="1675701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1572508C-6C04-477C-BEE0-69897BE62DF7}"/>
                  </a:ext>
                </a:extLst>
              </p:cNvPr>
              <p:cNvGrpSpPr/>
              <p:nvPr/>
            </p:nvGrpSpPr>
            <p:grpSpPr>
              <a:xfrm>
                <a:off x="5259472" y="3482857"/>
                <a:ext cx="2165272" cy="1195386"/>
                <a:chOff x="5938549" y="3482857"/>
                <a:chExt cx="2165272" cy="1195386"/>
              </a:xfrm>
            </p:grpSpPr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6674F3F0-220D-4F18-B188-AAF77B01E2A1}"/>
                    </a:ext>
                  </a:extLst>
                </p:cNvPr>
                <p:cNvSpPr/>
                <p:nvPr/>
              </p:nvSpPr>
              <p:spPr>
                <a:xfrm>
                  <a:off x="7669220" y="3482857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2D53BDBE-54FC-442D-8CDE-41E6E793354A}"/>
                    </a:ext>
                  </a:extLst>
                </p:cNvPr>
                <p:cNvSpPr/>
                <p:nvPr/>
              </p:nvSpPr>
              <p:spPr>
                <a:xfrm>
                  <a:off x="5938549" y="3482858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80A74BE-D5F4-4C32-9151-8EC13A98740A}"/>
                    </a:ext>
                  </a:extLst>
                </p:cNvPr>
                <p:cNvSpPr/>
                <p:nvPr/>
              </p:nvSpPr>
              <p:spPr>
                <a:xfrm>
                  <a:off x="6803885" y="3482859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40013FDE-CAFD-45FF-82A7-CFFF72045FA6}"/>
                    </a:ext>
                  </a:extLst>
                </p:cNvPr>
                <p:cNvCxnSpPr>
                  <a:cxnSpLocks/>
                  <a:stCxn id="43" idx="6"/>
                  <a:endCxn id="44" idx="2"/>
                </p:cNvCxnSpPr>
                <p:nvPr/>
              </p:nvCxnSpPr>
              <p:spPr>
                <a:xfrm>
                  <a:off x="6373151" y="3684518"/>
                  <a:ext cx="430734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08C0A6E7-AF67-4C21-A2BF-5BBAE5D7F026}"/>
                    </a:ext>
                  </a:extLst>
                </p:cNvPr>
                <p:cNvCxnSpPr>
                  <a:stCxn id="44" idx="6"/>
                  <a:endCxn id="42" idx="2"/>
                </p:cNvCxnSpPr>
                <p:nvPr/>
              </p:nvCxnSpPr>
              <p:spPr>
                <a:xfrm flipV="1">
                  <a:off x="7238486" y="3684517"/>
                  <a:ext cx="430734" cy="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0D74FCBD-9648-48D3-B3A4-8FB638E75F1C}"/>
                    </a:ext>
                  </a:extLst>
                </p:cNvPr>
                <p:cNvSpPr/>
                <p:nvPr/>
              </p:nvSpPr>
              <p:spPr>
                <a:xfrm>
                  <a:off x="6809961" y="4274924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V</a:t>
                  </a:r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3517A162-BFD9-4153-959B-667DA7DA9D65}"/>
                    </a:ext>
                  </a:extLst>
                </p:cNvPr>
                <p:cNvCxnSpPr>
                  <a:stCxn id="44" idx="4"/>
                  <a:endCxn id="53" idx="0"/>
                </p:cNvCxnSpPr>
                <p:nvPr/>
              </p:nvCxnSpPr>
              <p:spPr>
                <a:xfrm>
                  <a:off x="7021186" y="3886178"/>
                  <a:ext cx="6076" cy="3887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ACA1F83-E692-469A-A7E6-FE1A4F1BA5C1}"/>
                  </a:ext>
                </a:extLst>
              </p:cNvPr>
              <p:cNvSpPr txBox="1"/>
              <p:nvPr/>
            </p:nvSpPr>
            <p:spPr>
              <a:xfrm>
                <a:off x="5772080" y="3002542"/>
                <a:ext cx="1353976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Descendant</a:t>
                </a:r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4B8483-518F-43DA-B2A9-E81E8B45E5C2}"/>
              </a:ext>
            </a:extLst>
          </p:cNvPr>
          <p:cNvSpPr/>
          <p:nvPr/>
        </p:nvSpPr>
        <p:spPr>
          <a:xfrm>
            <a:off x="3415553" y="1178738"/>
            <a:ext cx="2329583" cy="225026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17827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FD9E6-4D6D-66EA-47FC-07FCD81A4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question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F2E26BE-9148-6EA6-2D65-278DC620407D}"/>
              </a:ext>
            </a:extLst>
          </p:cNvPr>
          <p:cNvGrpSpPr/>
          <p:nvPr/>
        </p:nvGrpSpPr>
        <p:grpSpPr>
          <a:xfrm>
            <a:off x="2840705" y="2622869"/>
            <a:ext cx="6252019" cy="1612261"/>
            <a:chOff x="5579295" y="2727421"/>
            <a:chExt cx="3363663" cy="890434"/>
          </a:xfrm>
        </p:grpSpPr>
        <p:pic>
          <p:nvPicPr>
            <p:cNvPr id="4" name="Picture 3" descr="A picture containing bird, black, dark&#10;&#10;Description automatically generated">
              <a:extLst>
                <a:ext uri="{FF2B5EF4-FFF2-40B4-BE49-F238E27FC236}">
                  <a16:creationId xmlns:a16="http://schemas.microsoft.com/office/drawing/2014/main" id="{B7C014CB-ED42-E39C-8ED6-D466F55B36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839" r="10839"/>
            <a:stretch/>
          </p:blipFill>
          <p:spPr>
            <a:xfrm>
              <a:off x="5579295" y="2727421"/>
              <a:ext cx="1328386" cy="890434"/>
            </a:xfrm>
            <a:prstGeom prst="rect">
              <a:avLst/>
            </a:prstGeom>
            <a:ln w="57150">
              <a:solidFill>
                <a:srgbClr val="D86ECC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 descr="A picture containing bird, outdoor, sparrow, oscine&#10;&#10;Description automatically generated">
              <a:extLst>
                <a:ext uri="{FF2B5EF4-FFF2-40B4-BE49-F238E27FC236}">
                  <a16:creationId xmlns:a16="http://schemas.microsoft.com/office/drawing/2014/main" id="{60B8A936-A8D9-EA70-5246-D7F812BA26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14572" y="2727421"/>
              <a:ext cx="1328386" cy="890434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3B95472-CA78-257D-F045-E332CF9CDF1B}"/>
              </a:ext>
            </a:extLst>
          </p:cNvPr>
          <p:cNvSpPr txBox="1"/>
          <p:nvPr/>
        </p:nvSpPr>
        <p:spPr>
          <a:xfrm>
            <a:off x="1836237" y="5167311"/>
            <a:ext cx="56156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32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sparrow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200" dirty="0">
                <a:solidFill>
                  <a:srgbClr val="D86E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starling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97A241-FA8E-D1D7-925A-B475EF991B7B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5309768" y="3429000"/>
            <a:ext cx="1313893" cy="0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3CBFE4C-547D-FA87-9E92-45B7DD029FBD}"/>
              </a:ext>
            </a:extLst>
          </p:cNvPr>
          <p:cNvSpPr txBox="1"/>
          <p:nvPr/>
        </p:nvSpPr>
        <p:spPr>
          <a:xfrm>
            <a:off x="1836237" y="5752086"/>
            <a:ext cx="783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32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sparrow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200" dirty="0">
                <a:solidFill>
                  <a:srgbClr val="D86E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starling 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GB" sz="3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feeder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36062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30E27D06-4733-4FEB-8312-1CEB36FDFFC5}"/>
              </a:ext>
            </a:extLst>
          </p:cNvPr>
          <p:cNvGrpSpPr/>
          <p:nvPr/>
        </p:nvGrpSpPr>
        <p:grpSpPr>
          <a:xfrm>
            <a:off x="10433371" y="570227"/>
            <a:ext cx="1112965" cy="527043"/>
            <a:chOff x="7825028" y="427670"/>
            <a:chExt cx="834724" cy="39528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7763E86-C99F-4E07-9966-D47CF42D2214}"/>
                </a:ext>
              </a:extLst>
            </p:cNvPr>
            <p:cNvCxnSpPr>
              <a:cxnSpLocks/>
              <a:stCxn id="25" idx="5"/>
              <a:endCxn id="22" idx="1"/>
            </p:cNvCxnSpPr>
            <p:nvPr/>
          </p:nvCxnSpPr>
          <p:spPr>
            <a:xfrm>
              <a:off x="8404939" y="427670"/>
              <a:ext cx="254813" cy="39528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Graphic 45" descr="Close with solid fill">
              <a:extLst>
                <a:ext uri="{FF2B5EF4-FFF2-40B4-BE49-F238E27FC236}">
                  <a16:creationId xmlns:a16="http://schemas.microsoft.com/office/drawing/2014/main" id="{63ED753D-9782-40E7-B4A6-402A00487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825028" y="439361"/>
              <a:ext cx="333375" cy="33337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2415B59-7042-4137-913A-01AE6780ADD4}"/>
              </a:ext>
            </a:extLst>
          </p:cNvPr>
          <p:cNvGrpSpPr/>
          <p:nvPr/>
        </p:nvGrpSpPr>
        <p:grpSpPr>
          <a:xfrm>
            <a:off x="9952398" y="111222"/>
            <a:ext cx="2088545" cy="1445055"/>
            <a:chOff x="4205034" y="1356728"/>
            <a:chExt cx="1566409" cy="1083791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8C1F863-96D1-4067-ABE1-CD14C99DDF0A}"/>
                </a:ext>
              </a:extLst>
            </p:cNvPr>
            <p:cNvSpPr/>
            <p:nvPr/>
          </p:nvSpPr>
          <p:spPr>
            <a:xfrm>
              <a:off x="5336842" y="2037199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802B4D1-E4E9-450E-BEF7-A24B199F3D66}"/>
                </a:ext>
              </a:extLst>
            </p:cNvPr>
            <p:cNvSpPr/>
            <p:nvPr/>
          </p:nvSpPr>
          <p:spPr>
            <a:xfrm>
              <a:off x="4205034" y="2037199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4B95E66-490B-48C5-984B-F38AEBB0E279}"/>
                </a:ext>
              </a:extLst>
            </p:cNvPr>
            <p:cNvSpPr/>
            <p:nvPr/>
          </p:nvSpPr>
          <p:spPr>
            <a:xfrm>
              <a:off x="4774720" y="1356728"/>
              <a:ext cx="434601" cy="403319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80970DA-2275-477F-85DF-F557316600DF}"/>
                </a:ext>
              </a:extLst>
            </p:cNvPr>
            <p:cNvCxnSpPr>
              <a:stCxn id="25" idx="3"/>
              <a:endCxn id="23" idx="7"/>
            </p:cNvCxnSpPr>
            <p:nvPr/>
          </p:nvCxnSpPr>
          <p:spPr>
            <a:xfrm flipH="1">
              <a:off x="4575990" y="1700982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B0CC8F8-3F00-4E81-A203-D0422EB92728}"/>
                </a:ext>
              </a:extLst>
            </p:cNvPr>
            <p:cNvCxnSpPr>
              <a:stCxn id="25" idx="5"/>
              <a:endCxn id="22" idx="1"/>
            </p:cNvCxnSpPr>
            <p:nvPr/>
          </p:nvCxnSpPr>
          <p:spPr>
            <a:xfrm>
              <a:off x="5145675" y="1700982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B25795C-3C92-4F16-912F-F7DB548DE366}"/>
              </a:ext>
            </a:extLst>
          </p:cNvPr>
          <p:cNvGrpSpPr/>
          <p:nvPr/>
        </p:nvGrpSpPr>
        <p:grpSpPr>
          <a:xfrm>
            <a:off x="579853" y="500076"/>
            <a:ext cx="1099331" cy="527043"/>
            <a:chOff x="434890" y="375057"/>
            <a:chExt cx="824498" cy="39528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4A1FAAC-1D34-427D-B3AF-55CE5FFBA7B7}"/>
                </a:ext>
              </a:extLst>
            </p:cNvPr>
            <p:cNvCxnSpPr>
              <a:stCxn id="15" idx="7"/>
              <a:endCxn id="16" idx="3"/>
            </p:cNvCxnSpPr>
            <p:nvPr/>
          </p:nvCxnSpPr>
          <p:spPr>
            <a:xfrm flipV="1">
              <a:off x="434890" y="375057"/>
              <a:ext cx="262376" cy="39528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5DB798A-37F1-446F-BA1A-D3FBC6D09495}"/>
                </a:ext>
              </a:extLst>
            </p:cNvPr>
            <p:cNvCxnSpPr>
              <a:cxnSpLocks/>
              <a:stCxn id="16" idx="5"/>
              <a:endCxn id="14" idx="1"/>
            </p:cNvCxnSpPr>
            <p:nvPr/>
          </p:nvCxnSpPr>
          <p:spPr>
            <a:xfrm>
              <a:off x="1004575" y="375057"/>
              <a:ext cx="254813" cy="39528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548E9DE-A30C-4B67-9183-4ACA770F90D3}"/>
              </a:ext>
            </a:extLst>
          </p:cNvPr>
          <p:cNvGrpSpPr/>
          <p:nvPr/>
        </p:nvGrpSpPr>
        <p:grpSpPr>
          <a:xfrm>
            <a:off x="85246" y="41071"/>
            <a:ext cx="2088545" cy="1445055"/>
            <a:chOff x="4205034" y="1356728"/>
            <a:chExt cx="1566409" cy="108379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46E9B16-A51C-4E14-BC09-479EAAE3FF91}"/>
                </a:ext>
              </a:extLst>
            </p:cNvPr>
            <p:cNvSpPr/>
            <p:nvPr/>
          </p:nvSpPr>
          <p:spPr>
            <a:xfrm>
              <a:off x="5336842" y="2037199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F97C4B-7515-465E-BB12-B1AEE53A5D55}"/>
                </a:ext>
              </a:extLst>
            </p:cNvPr>
            <p:cNvSpPr/>
            <p:nvPr/>
          </p:nvSpPr>
          <p:spPr>
            <a:xfrm>
              <a:off x="4205034" y="2037199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F5A1F19-5671-439E-8A43-7389AD69DA2A}"/>
                </a:ext>
              </a:extLst>
            </p:cNvPr>
            <p:cNvSpPr/>
            <p:nvPr/>
          </p:nvSpPr>
          <p:spPr>
            <a:xfrm>
              <a:off x="4774720" y="1356728"/>
              <a:ext cx="434601" cy="403319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A12AB-C2D1-481C-918C-DE34D84B33A5}"/>
                </a:ext>
              </a:extLst>
            </p:cNvPr>
            <p:cNvCxnSpPr>
              <a:stCxn id="16" idx="3"/>
              <a:endCxn id="15" idx="7"/>
            </p:cNvCxnSpPr>
            <p:nvPr/>
          </p:nvCxnSpPr>
          <p:spPr>
            <a:xfrm flipH="1">
              <a:off x="4575990" y="1700982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B32B62D-9B61-422B-82F2-A3C2D15CA33C}"/>
                </a:ext>
              </a:extLst>
            </p:cNvPr>
            <p:cNvCxnSpPr>
              <a:stCxn id="16" idx="5"/>
              <a:endCxn id="14" idx="1"/>
            </p:cNvCxnSpPr>
            <p:nvPr/>
          </p:nvCxnSpPr>
          <p:spPr>
            <a:xfrm>
              <a:off x="5145675" y="1700982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FC74024A-652F-42D1-9693-2077F05C334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810"/>
          <a:stretch/>
        </p:blipFill>
        <p:spPr>
          <a:xfrm>
            <a:off x="6096000" y="1921080"/>
            <a:ext cx="5513951" cy="4566621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8C53C81-943A-4A97-876B-833D857F1EC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93"/>
          <a:stretch/>
        </p:blipFill>
        <p:spPr>
          <a:xfrm>
            <a:off x="664715" y="1921080"/>
            <a:ext cx="5431284" cy="45666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Forking confounds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E509543-FFB5-4023-8F0A-7B3721CB8049}"/>
              </a:ext>
            </a:extLst>
          </p:cNvPr>
          <p:cNvGrpSpPr/>
          <p:nvPr/>
        </p:nvGrpSpPr>
        <p:grpSpPr>
          <a:xfrm>
            <a:off x="1637944" y="5144747"/>
            <a:ext cx="8886197" cy="1326776"/>
            <a:chOff x="1239675" y="2596842"/>
            <a:chExt cx="6664648" cy="995082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2924E01A-C015-4C61-863A-05168E0A211C}"/>
                </a:ext>
              </a:extLst>
            </p:cNvPr>
            <p:cNvSpPr/>
            <p:nvPr/>
          </p:nvSpPr>
          <p:spPr>
            <a:xfrm>
              <a:off x="1239675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Confounded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FDDBAD15-B8AA-4A5E-9A68-BF8AD88F415B}"/>
                </a:ext>
              </a:extLst>
            </p:cNvPr>
            <p:cNvSpPr/>
            <p:nvPr/>
          </p:nvSpPr>
          <p:spPr>
            <a:xfrm>
              <a:off x="5625047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Causal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9AD9B57-CF92-4695-AA36-077D36694751}"/>
              </a:ext>
            </a:extLst>
          </p:cNvPr>
          <p:cNvGrpSpPr/>
          <p:nvPr/>
        </p:nvGrpSpPr>
        <p:grpSpPr>
          <a:xfrm>
            <a:off x="1763936" y="3140470"/>
            <a:ext cx="3165261" cy="821884"/>
            <a:chOff x="5579295" y="2727421"/>
            <a:chExt cx="3363663" cy="890434"/>
          </a:xfrm>
        </p:grpSpPr>
        <p:pic>
          <p:nvPicPr>
            <p:cNvPr id="34" name="Picture 33" descr="A picture containing bird, black, dark&#10;&#10;Description automatically generated">
              <a:extLst>
                <a:ext uri="{FF2B5EF4-FFF2-40B4-BE49-F238E27FC236}">
                  <a16:creationId xmlns:a16="http://schemas.microsoft.com/office/drawing/2014/main" id="{0FF50F6F-2EF5-44EA-A2B6-01B001BAD8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10839" r="10839"/>
            <a:stretch/>
          </p:blipFill>
          <p:spPr>
            <a:xfrm>
              <a:off x="5579295" y="2727421"/>
              <a:ext cx="1328386" cy="890434"/>
            </a:xfrm>
            <a:prstGeom prst="rect">
              <a:avLst/>
            </a:prstGeom>
            <a:ln w="57150">
              <a:solidFill>
                <a:srgbClr val="D86ECC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7" name="Picture 36" descr="A picture containing bird, outdoor, sparrow, oscine&#10;&#10;Description automatically generated">
              <a:extLst>
                <a:ext uri="{FF2B5EF4-FFF2-40B4-BE49-F238E27FC236}">
                  <a16:creationId xmlns:a16="http://schemas.microsoft.com/office/drawing/2014/main" id="{9A162CF4-5992-46AF-B142-29E80231B2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614572" y="2727421"/>
              <a:ext cx="1328386" cy="890434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AC88BD2-E553-4839-98D8-B0092F4700F0}"/>
              </a:ext>
            </a:extLst>
          </p:cNvPr>
          <p:cNvGrpSpPr/>
          <p:nvPr/>
        </p:nvGrpSpPr>
        <p:grpSpPr>
          <a:xfrm>
            <a:off x="7421994" y="2303789"/>
            <a:ext cx="3165261" cy="2316580"/>
            <a:chOff x="5579295" y="1108057"/>
            <a:chExt cx="3363663" cy="2509798"/>
          </a:xfrm>
        </p:grpSpPr>
        <p:pic>
          <p:nvPicPr>
            <p:cNvPr id="41" name="Picture 40" descr="A picture containing bird, black, dark&#10;&#10;Description automatically generated">
              <a:extLst>
                <a:ext uri="{FF2B5EF4-FFF2-40B4-BE49-F238E27FC236}">
                  <a16:creationId xmlns:a16="http://schemas.microsoft.com/office/drawing/2014/main" id="{B522C3D3-F154-49C1-B530-4E07AF42B4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10839" r="10839"/>
            <a:stretch/>
          </p:blipFill>
          <p:spPr>
            <a:xfrm>
              <a:off x="5579295" y="2727421"/>
              <a:ext cx="1328386" cy="890434"/>
            </a:xfrm>
            <a:prstGeom prst="rect">
              <a:avLst/>
            </a:prstGeom>
            <a:ln w="57150">
              <a:solidFill>
                <a:srgbClr val="D86ECC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2" name="Picture 41" descr="A birdhouse in a field&#10;&#10;Description automatically generated with low confidence">
              <a:extLst>
                <a:ext uri="{FF2B5EF4-FFF2-40B4-BE49-F238E27FC236}">
                  <a16:creationId xmlns:a16="http://schemas.microsoft.com/office/drawing/2014/main" id="{B79CEA5B-ACA3-43A5-8BE9-BC104CE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3909" y="1108057"/>
              <a:ext cx="1084006" cy="1084006"/>
            </a:xfrm>
            <a:prstGeom prst="rect">
              <a:avLst/>
            </a:prstGeom>
            <a:ln w="57150">
              <a:solidFill>
                <a:srgbClr val="00B05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3" name="Picture 42" descr="A picture containing bird, outdoor, sparrow, oscine&#10;&#10;Description automatically generated">
              <a:extLst>
                <a:ext uri="{FF2B5EF4-FFF2-40B4-BE49-F238E27FC236}">
                  <a16:creationId xmlns:a16="http://schemas.microsoft.com/office/drawing/2014/main" id="{534309BC-329A-4903-A6AE-D12D38E48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614572" y="2727421"/>
              <a:ext cx="1328386" cy="890434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C7A09F36-68F8-47C8-934C-57BFB28894C6}"/>
                </a:ext>
              </a:extLst>
            </p:cNvPr>
            <p:cNvCxnSpPr>
              <a:cxnSpLocks/>
              <a:stCxn id="42" idx="2"/>
              <a:endCxn id="43" idx="0"/>
            </p:cNvCxnSpPr>
            <p:nvPr/>
          </p:nvCxnSpPr>
          <p:spPr>
            <a:xfrm>
              <a:off x="7255912" y="2192063"/>
              <a:ext cx="1022853" cy="535358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CC739F-DC9F-4FEB-830F-F3FA814A025F}"/>
              </a:ext>
            </a:extLst>
          </p:cNvPr>
          <p:cNvCxnSpPr>
            <a:stCxn id="34" idx="3"/>
            <a:endCxn id="37" idx="1"/>
          </p:cNvCxnSpPr>
          <p:nvPr/>
        </p:nvCxnSpPr>
        <p:spPr>
          <a:xfrm>
            <a:off x="3013969" y="3551412"/>
            <a:ext cx="665195" cy="0"/>
          </a:xfrm>
          <a:prstGeom prst="straightConnector1">
            <a:avLst/>
          </a:prstGeom>
          <a:ln w="38100">
            <a:solidFill>
              <a:schemeClr val="bg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0190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Forking confound quiz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6FDF11-46C5-4093-86B1-1CE301D0643A}"/>
              </a:ext>
            </a:extLst>
          </p:cNvPr>
          <p:cNvGrpSpPr/>
          <p:nvPr/>
        </p:nvGrpSpPr>
        <p:grpSpPr>
          <a:xfrm>
            <a:off x="85246" y="41071"/>
            <a:ext cx="2088545" cy="1445055"/>
            <a:chOff x="3788794" y="877967"/>
            <a:chExt cx="1566409" cy="108379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46E9B16-A51C-4E14-BC09-479EAAE3FF91}"/>
                </a:ext>
              </a:extLst>
            </p:cNvPr>
            <p:cNvSpPr/>
            <p:nvPr/>
          </p:nvSpPr>
          <p:spPr>
            <a:xfrm>
              <a:off x="4920602" y="1558438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F97C4B-7515-465E-BB12-B1AEE53A5D55}"/>
                </a:ext>
              </a:extLst>
            </p:cNvPr>
            <p:cNvSpPr/>
            <p:nvPr/>
          </p:nvSpPr>
          <p:spPr>
            <a:xfrm>
              <a:off x="3788794" y="1558438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F5A1F19-5671-439E-8A43-7389AD69DA2A}"/>
                </a:ext>
              </a:extLst>
            </p:cNvPr>
            <p:cNvSpPr/>
            <p:nvPr/>
          </p:nvSpPr>
          <p:spPr>
            <a:xfrm>
              <a:off x="4358480" y="877967"/>
              <a:ext cx="434601" cy="403319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A12AB-C2D1-481C-918C-DE34D84B33A5}"/>
                </a:ext>
              </a:extLst>
            </p:cNvPr>
            <p:cNvCxnSpPr>
              <a:stCxn id="16" idx="3"/>
              <a:endCxn id="15" idx="7"/>
            </p:cNvCxnSpPr>
            <p:nvPr/>
          </p:nvCxnSpPr>
          <p:spPr>
            <a:xfrm flipH="1">
              <a:off x="4159750" y="1222221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B32B62D-9B61-422B-82F2-A3C2D15CA33C}"/>
                </a:ext>
              </a:extLst>
            </p:cNvPr>
            <p:cNvCxnSpPr>
              <a:cxnSpLocks/>
              <a:stCxn id="16" idx="5"/>
              <a:endCxn id="14" idx="1"/>
            </p:cNvCxnSpPr>
            <p:nvPr/>
          </p:nvCxnSpPr>
          <p:spPr>
            <a:xfrm>
              <a:off x="4729435" y="1222221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/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Clean</m:t>
                      </m:r>
                      <m: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bedroom</m:t>
                      </m:r>
                      <m: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 ←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Clean</m:t>
                      </m:r>
                      <m: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freak</m:t>
                      </m:r>
                      <m:r>
                        <a:rPr lang="en-GB" sz="2667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Clean</m:t>
                      </m:r>
                      <m: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toilet</m:t>
                      </m:r>
                    </m:oMath>
                  </m:oMathPara>
                </a14:m>
                <a:endParaRPr lang="en-GB" sz="2667" dirty="0">
                  <a:solidFill>
                    <a:srgbClr val="434343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blipFill>
                <a:blip r:embed="rId3"/>
                <a:stretch>
                  <a:fillRect t="-12048" b="-30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C7AF16-67D7-41CE-8E91-4642F0C59711}"/>
              </a:ext>
            </a:extLst>
          </p:cNvPr>
          <p:cNvSpPr txBox="1"/>
          <p:nvPr/>
        </p:nvSpPr>
        <p:spPr>
          <a:xfrm>
            <a:off x="1" y="2558375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If my bedroom is clean, what would you predict my bathroom looks like?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42C35C0-EEF2-4226-A8B2-B9C53F3CD77B}"/>
                  </a:ext>
                </a:extLst>
              </p:cNvPr>
              <p:cNvSpPr txBox="1"/>
              <p:nvPr/>
            </p:nvSpPr>
            <p:spPr>
              <a:xfrm>
                <a:off x="1" y="5909635"/>
                <a:ext cx="1219200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Not knowing “Z”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Clean</m:t>
                    </m:r>
                    <m:r>
                      <a:rPr lang="en-GB" sz="2400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400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freak</m:t>
                    </m:r>
                  </m:oMath>
                </a14:m>
                <a:r>
                  <a:rPr lang="en-GB" sz="2400" dirty="0"/>
                  <a:t>) makes you confounded.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42C35C0-EEF2-4226-A8B2-B9C53F3CD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5909635"/>
                <a:ext cx="12192001" cy="461665"/>
              </a:xfrm>
              <a:prstGeom prst="rect">
                <a:avLst/>
              </a:prstGeom>
              <a:blipFill>
                <a:blip r:embed="rId4"/>
                <a:stretch>
                  <a:fillRect t="-11842" b="-27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5E202F5B-08DB-4B90-AA18-4DB3F515682C}"/>
              </a:ext>
            </a:extLst>
          </p:cNvPr>
          <p:cNvSpPr/>
          <p:nvPr/>
        </p:nvSpPr>
        <p:spPr>
          <a:xfrm>
            <a:off x="5200328" y="1862266"/>
            <a:ext cx="2397839" cy="5292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  <a:latin typeface="+mj-lt"/>
              </a:rPr>
              <a:t>causes (?)</a:t>
            </a:r>
            <a:endParaRPr lang="en-GB" sz="3733" dirty="0">
              <a:solidFill>
                <a:schemeClr val="tx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F0D65F9-3DBD-4381-A14F-B880D5F0F3B5}"/>
              </a:ext>
            </a:extLst>
          </p:cNvPr>
          <p:cNvGrpSpPr/>
          <p:nvPr/>
        </p:nvGrpSpPr>
        <p:grpSpPr>
          <a:xfrm>
            <a:off x="2230318" y="3138535"/>
            <a:ext cx="7662859" cy="2683383"/>
            <a:chOff x="1195742" y="2360362"/>
            <a:chExt cx="5747144" cy="2012537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DCB17A4-88DA-471F-B45F-D9C88D9E82F6}"/>
                </a:ext>
              </a:extLst>
            </p:cNvPr>
            <p:cNvGrpSpPr/>
            <p:nvPr/>
          </p:nvGrpSpPr>
          <p:grpSpPr>
            <a:xfrm>
              <a:off x="1195742" y="2463152"/>
              <a:ext cx="5747144" cy="1850420"/>
              <a:chOff x="1169634" y="2416897"/>
              <a:chExt cx="5747144" cy="18504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0986C1E-7E94-4F29-86BC-41CC2B823F5F}"/>
                      </a:ext>
                    </a:extLst>
                  </p:cNvPr>
                  <p:cNvSpPr txBox="1"/>
                  <p:nvPr/>
                </p:nvSpPr>
                <p:spPr>
                  <a:xfrm>
                    <a:off x="3992643" y="3022476"/>
                    <a:ext cx="607378" cy="6232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4800" i="1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GB" sz="48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0986C1E-7E94-4F29-86BC-41CC2B823F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92643" y="3022476"/>
                    <a:ext cx="607378" cy="62324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1BC3DFFE-A5D2-4B72-8FA0-D470DF2D3EB0}"/>
                      </a:ext>
                    </a:extLst>
                  </p:cNvPr>
                  <p:cNvSpPr txBox="1"/>
                  <p:nvPr/>
                </p:nvSpPr>
                <p:spPr>
                  <a:xfrm>
                    <a:off x="6459682" y="2990749"/>
                    <a:ext cx="457096" cy="6232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4800" i="1">
                              <a:latin typeface="Cambria Math" panose="02040503050406030204" pitchFamily="18" charset="0"/>
                            </a:rPr>
                            <m:t>?</m:t>
                          </m:r>
                        </m:oMath>
                      </m:oMathPara>
                    </a14:m>
                    <a:endParaRPr lang="en-GB" sz="4800" dirty="0"/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1BC3DFFE-A5D2-4B72-8FA0-D470DF2D3E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59682" y="2990749"/>
                    <a:ext cx="457096" cy="62324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7" name="Picture 26" descr="A bed in a room&#10;&#10;Description automatically generated with medium confidence">
                <a:extLst>
                  <a:ext uri="{FF2B5EF4-FFF2-40B4-BE49-F238E27FC236}">
                    <a16:creationId xmlns:a16="http://schemas.microsoft.com/office/drawing/2014/main" id="{3645D5BE-3D7E-4477-B61F-13753711A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69634" y="2416897"/>
                <a:ext cx="2774243" cy="1850420"/>
              </a:xfrm>
              <a:prstGeom prst="rect">
                <a:avLst/>
              </a:prstGeom>
            </p:spPr>
          </p:pic>
        </p:grpSp>
        <p:pic>
          <p:nvPicPr>
            <p:cNvPr id="38" name="Picture 37" descr="A bathroom with graffiti on the walls&#10;&#10;Description automatically generated with medium confidence">
              <a:extLst>
                <a:ext uri="{FF2B5EF4-FFF2-40B4-BE49-F238E27FC236}">
                  <a16:creationId xmlns:a16="http://schemas.microsoft.com/office/drawing/2014/main" id="{D244CAEC-B618-4EA8-BA04-DE039C73B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713186" y="2360362"/>
              <a:ext cx="1650740" cy="928541"/>
            </a:xfrm>
            <a:prstGeom prst="rect">
              <a:avLst/>
            </a:prstGeom>
          </p:spPr>
        </p:pic>
        <p:pic>
          <p:nvPicPr>
            <p:cNvPr id="41" name="Picture 40" descr="A toilet and bathtub in a bathroom&#10;&#10;Description automatically generated with medium confidence">
              <a:extLst>
                <a:ext uri="{FF2B5EF4-FFF2-40B4-BE49-F238E27FC236}">
                  <a16:creationId xmlns:a16="http://schemas.microsoft.com/office/drawing/2014/main" id="{F0D46789-26C9-460C-935E-CFC801951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713186" y="3275157"/>
              <a:ext cx="1650740" cy="10977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838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8" grpId="0"/>
      <p:bldP spid="33" grpId="0"/>
      <p:bldP spid="34" grpId="0" animBg="1"/>
      <p:bldP spid="34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The confounds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06A284-FF7B-4214-B699-4381B44713D1}"/>
              </a:ext>
            </a:extLst>
          </p:cNvPr>
          <p:cNvGrpSpPr/>
          <p:nvPr/>
        </p:nvGrpSpPr>
        <p:grpSpPr>
          <a:xfrm>
            <a:off x="3553794" y="1178738"/>
            <a:ext cx="5198383" cy="5130639"/>
            <a:chOff x="3525957" y="830264"/>
            <a:chExt cx="3898787" cy="3847979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4BD0FBE-1901-44C1-B2BF-04A0F26F2F78}"/>
                </a:ext>
              </a:extLst>
            </p:cNvPr>
            <p:cNvGrpSpPr/>
            <p:nvPr/>
          </p:nvGrpSpPr>
          <p:grpSpPr>
            <a:xfrm>
              <a:off x="5476773" y="830264"/>
              <a:ext cx="1566409" cy="1594567"/>
              <a:chOff x="5476773" y="830264"/>
              <a:chExt cx="1566409" cy="1594567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6A70E16-FEC9-4152-B419-97B35E22CD42}"/>
                  </a:ext>
                </a:extLst>
              </p:cNvPr>
              <p:cNvGrpSpPr/>
              <p:nvPr/>
            </p:nvGrpSpPr>
            <p:grpSpPr>
              <a:xfrm>
                <a:off x="5476773" y="1341040"/>
                <a:ext cx="1566409" cy="1083791"/>
                <a:chOff x="6155850" y="1341040"/>
                <a:chExt cx="1566409" cy="1083791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33F65E5-54E3-4F6D-8E50-D41D0D93A99A}"/>
                    </a:ext>
                  </a:extLst>
                </p:cNvPr>
                <p:cNvSpPr/>
                <p:nvPr/>
              </p:nvSpPr>
              <p:spPr>
                <a:xfrm>
                  <a:off x="7287658" y="2021511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39613A30-CEA7-43EB-9DD4-31A2596A3525}"/>
                    </a:ext>
                  </a:extLst>
                </p:cNvPr>
                <p:cNvSpPr/>
                <p:nvPr/>
              </p:nvSpPr>
              <p:spPr>
                <a:xfrm>
                  <a:off x="6155850" y="2021511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4B801E74-A95D-44EA-B4DF-54DAACC4A3E1}"/>
                    </a:ext>
                  </a:extLst>
                </p:cNvPr>
                <p:cNvSpPr/>
                <p:nvPr/>
              </p:nvSpPr>
              <p:spPr>
                <a:xfrm>
                  <a:off x="6725536" y="1341040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A41A44C1-653D-4DC3-8B5B-5B648C14E08A}"/>
                    </a:ext>
                  </a:extLst>
                </p:cNvPr>
                <p:cNvCxnSpPr>
                  <a:stCxn id="32" idx="5"/>
                  <a:endCxn id="28" idx="1"/>
                </p:cNvCxnSpPr>
                <p:nvPr/>
              </p:nvCxnSpPr>
              <p:spPr>
                <a:xfrm>
                  <a:off x="7096491" y="1685294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6AE978E5-F091-4821-96C6-B724F076F9B2}"/>
                    </a:ext>
                  </a:extLst>
                </p:cNvPr>
                <p:cNvCxnSpPr>
                  <a:stCxn id="30" idx="7"/>
                  <a:endCxn id="32" idx="3"/>
                </p:cNvCxnSpPr>
                <p:nvPr/>
              </p:nvCxnSpPr>
              <p:spPr>
                <a:xfrm flipV="1">
                  <a:off x="6526806" y="1685294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9C42D1A-BCCF-453E-9579-4AFC9AB8A212}"/>
                  </a:ext>
                </a:extLst>
              </p:cNvPr>
              <p:cNvSpPr txBox="1"/>
              <p:nvPr/>
            </p:nvSpPr>
            <p:spPr>
              <a:xfrm>
                <a:off x="5991889" y="830264"/>
                <a:ext cx="58934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Pipe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54C2958-F320-4C48-A8CA-5C868A94C0AF}"/>
                </a:ext>
              </a:extLst>
            </p:cNvPr>
            <p:cNvGrpSpPr/>
            <p:nvPr/>
          </p:nvGrpSpPr>
          <p:grpSpPr>
            <a:xfrm>
              <a:off x="3525957" y="837131"/>
              <a:ext cx="1566409" cy="1603388"/>
              <a:chOff x="3525957" y="837131"/>
              <a:chExt cx="1566409" cy="1603388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DABC815-811B-49C9-992B-C158E810C735}"/>
                  </a:ext>
                </a:extLst>
              </p:cNvPr>
              <p:cNvGrpSpPr/>
              <p:nvPr/>
            </p:nvGrpSpPr>
            <p:grpSpPr>
              <a:xfrm>
                <a:off x="3525957" y="1356728"/>
                <a:ext cx="1566409" cy="1083791"/>
                <a:chOff x="4205034" y="1356728"/>
                <a:chExt cx="1566409" cy="1083791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75C522C8-ABFA-4058-9BAE-C456C9C05CF4}"/>
                    </a:ext>
                  </a:extLst>
                </p:cNvPr>
                <p:cNvSpPr/>
                <p:nvPr/>
              </p:nvSpPr>
              <p:spPr>
                <a:xfrm>
                  <a:off x="5336842" y="2037199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D059DA1-CEFB-4BBD-A284-532D2AC070BD}"/>
                    </a:ext>
                  </a:extLst>
                </p:cNvPr>
                <p:cNvSpPr/>
                <p:nvPr/>
              </p:nvSpPr>
              <p:spPr>
                <a:xfrm>
                  <a:off x="4205034" y="2037199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4A4066AC-A54A-467D-88E0-DF35BA925149}"/>
                    </a:ext>
                  </a:extLst>
                </p:cNvPr>
                <p:cNvSpPr/>
                <p:nvPr/>
              </p:nvSpPr>
              <p:spPr>
                <a:xfrm>
                  <a:off x="4774720" y="1356728"/>
                  <a:ext cx="434601" cy="403319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A75A2A15-38D9-4ED3-93A0-ADB28A204398}"/>
                    </a:ext>
                  </a:extLst>
                </p:cNvPr>
                <p:cNvCxnSpPr>
                  <a:stCxn id="20" idx="3"/>
                  <a:endCxn id="19" idx="7"/>
                </p:cNvCxnSpPr>
                <p:nvPr/>
              </p:nvCxnSpPr>
              <p:spPr>
                <a:xfrm flipH="1">
                  <a:off x="4575990" y="1700982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28B291C2-904F-4007-89AA-0095EB52F029}"/>
                    </a:ext>
                  </a:extLst>
                </p:cNvPr>
                <p:cNvCxnSpPr>
                  <a:stCxn id="20" idx="5"/>
                  <a:endCxn id="18" idx="1"/>
                </p:cNvCxnSpPr>
                <p:nvPr/>
              </p:nvCxnSpPr>
              <p:spPr>
                <a:xfrm>
                  <a:off x="5145675" y="1700982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4B113D6-8AAE-4097-851A-4EC467169931}"/>
                  </a:ext>
                </a:extLst>
              </p:cNvPr>
              <p:cNvSpPr txBox="1"/>
              <p:nvPr/>
            </p:nvSpPr>
            <p:spPr>
              <a:xfrm>
                <a:off x="4041874" y="837131"/>
                <a:ext cx="614591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Fork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8ED9010-4665-484F-8E6C-DA3A0A970AC1}"/>
                </a:ext>
              </a:extLst>
            </p:cNvPr>
            <p:cNvGrpSpPr/>
            <p:nvPr/>
          </p:nvGrpSpPr>
          <p:grpSpPr>
            <a:xfrm>
              <a:off x="3525957" y="3002543"/>
              <a:ext cx="1566409" cy="1652966"/>
              <a:chOff x="3525957" y="3002543"/>
              <a:chExt cx="1566409" cy="1652966"/>
            </a:xfrm>
          </p:grpSpPr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80F3DDA8-C395-407E-9906-32803A28160A}"/>
                  </a:ext>
                </a:extLst>
              </p:cNvPr>
              <p:cNvGrpSpPr/>
              <p:nvPr/>
            </p:nvGrpSpPr>
            <p:grpSpPr>
              <a:xfrm>
                <a:off x="3525957" y="3571718"/>
                <a:ext cx="1566409" cy="1083791"/>
                <a:chOff x="4205034" y="3383452"/>
                <a:chExt cx="1566409" cy="1083791"/>
              </a:xfrm>
            </p:grpSpPr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E45509B-490B-4D1A-9F28-C9A5842BB263}"/>
                    </a:ext>
                  </a:extLst>
                </p:cNvPr>
                <p:cNvSpPr/>
                <p:nvPr/>
              </p:nvSpPr>
              <p:spPr>
                <a:xfrm>
                  <a:off x="5336842" y="4063923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6BE5D0A-4C42-4390-AE7C-F0ED68019773}"/>
                    </a:ext>
                  </a:extLst>
                </p:cNvPr>
                <p:cNvSpPr/>
                <p:nvPr/>
              </p:nvSpPr>
              <p:spPr>
                <a:xfrm>
                  <a:off x="4205034" y="4063923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F01C355-0AE3-4E43-B31E-6F67F82CCD9D}"/>
                    </a:ext>
                  </a:extLst>
                </p:cNvPr>
                <p:cNvSpPr/>
                <p:nvPr/>
              </p:nvSpPr>
              <p:spPr>
                <a:xfrm>
                  <a:off x="4774720" y="3383452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ADC4F697-437D-4542-850E-E5CD624387BF}"/>
                    </a:ext>
                  </a:extLst>
                </p:cNvPr>
                <p:cNvCxnSpPr>
                  <a:stCxn id="24" idx="7"/>
                  <a:endCxn id="25" idx="3"/>
                </p:cNvCxnSpPr>
                <p:nvPr/>
              </p:nvCxnSpPr>
              <p:spPr>
                <a:xfrm flipV="1">
                  <a:off x="4575990" y="3727706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75AC29F-F300-4106-B39B-5A6067C1B02E}"/>
                    </a:ext>
                  </a:extLst>
                </p:cNvPr>
                <p:cNvCxnSpPr>
                  <a:stCxn id="23" idx="1"/>
                  <a:endCxn id="25" idx="5"/>
                </p:cNvCxnSpPr>
                <p:nvPr/>
              </p:nvCxnSpPr>
              <p:spPr>
                <a:xfrm flipH="1" flipV="1">
                  <a:off x="5145675" y="3727706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5EC461-1B4D-48D9-9BB9-A14CB9D35624}"/>
                  </a:ext>
                </a:extLst>
              </p:cNvPr>
              <p:cNvSpPr txBox="1"/>
              <p:nvPr/>
            </p:nvSpPr>
            <p:spPr>
              <a:xfrm>
                <a:off x="3916253" y="3002543"/>
                <a:ext cx="94761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Collider</a:t>
                </a:r>
              </a:p>
            </p:txBody>
          </p: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F9B8E94E-931F-4959-8839-F3CD81C64B46}"/>
                </a:ext>
              </a:extLst>
            </p:cNvPr>
            <p:cNvGrpSpPr/>
            <p:nvPr/>
          </p:nvGrpSpPr>
          <p:grpSpPr>
            <a:xfrm>
              <a:off x="5259472" y="3002542"/>
              <a:ext cx="2165272" cy="1675701"/>
              <a:chOff x="5259472" y="3002542"/>
              <a:chExt cx="2165272" cy="1675701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1572508C-6C04-477C-BEE0-69897BE62DF7}"/>
                  </a:ext>
                </a:extLst>
              </p:cNvPr>
              <p:cNvGrpSpPr/>
              <p:nvPr/>
            </p:nvGrpSpPr>
            <p:grpSpPr>
              <a:xfrm>
                <a:off x="5259472" y="3482857"/>
                <a:ext cx="2165272" cy="1195386"/>
                <a:chOff x="5938549" y="3482857"/>
                <a:chExt cx="2165272" cy="1195386"/>
              </a:xfrm>
            </p:grpSpPr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6674F3F0-220D-4F18-B188-AAF77B01E2A1}"/>
                    </a:ext>
                  </a:extLst>
                </p:cNvPr>
                <p:cNvSpPr/>
                <p:nvPr/>
              </p:nvSpPr>
              <p:spPr>
                <a:xfrm>
                  <a:off x="7669220" y="3482857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2D53BDBE-54FC-442D-8CDE-41E6E793354A}"/>
                    </a:ext>
                  </a:extLst>
                </p:cNvPr>
                <p:cNvSpPr/>
                <p:nvPr/>
              </p:nvSpPr>
              <p:spPr>
                <a:xfrm>
                  <a:off x="5938549" y="3482858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80A74BE-D5F4-4C32-9151-8EC13A98740A}"/>
                    </a:ext>
                  </a:extLst>
                </p:cNvPr>
                <p:cNvSpPr/>
                <p:nvPr/>
              </p:nvSpPr>
              <p:spPr>
                <a:xfrm>
                  <a:off x="6803885" y="3482859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40013FDE-CAFD-45FF-82A7-CFFF72045FA6}"/>
                    </a:ext>
                  </a:extLst>
                </p:cNvPr>
                <p:cNvCxnSpPr>
                  <a:cxnSpLocks/>
                  <a:stCxn id="43" idx="6"/>
                  <a:endCxn id="44" idx="2"/>
                </p:cNvCxnSpPr>
                <p:nvPr/>
              </p:nvCxnSpPr>
              <p:spPr>
                <a:xfrm>
                  <a:off x="6373151" y="3684518"/>
                  <a:ext cx="430734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08C0A6E7-AF67-4C21-A2BF-5BBAE5D7F026}"/>
                    </a:ext>
                  </a:extLst>
                </p:cNvPr>
                <p:cNvCxnSpPr>
                  <a:stCxn id="44" idx="6"/>
                  <a:endCxn id="42" idx="2"/>
                </p:cNvCxnSpPr>
                <p:nvPr/>
              </p:nvCxnSpPr>
              <p:spPr>
                <a:xfrm flipV="1">
                  <a:off x="7238486" y="3684517"/>
                  <a:ext cx="430734" cy="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0D74FCBD-9648-48D3-B3A4-8FB638E75F1C}"/>
                    </a:ext>
                  </a:extLst>
                </p:cNvPr>
                <p:cNvSpPr/>
                <p:nvPr/>
              </p:nvSpPr>
              <p:spPr>
                <a:xfrm>
                  <a:off x="6809961" y="4274924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V</a:t>
                  </a:r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3517A162-BFD9-4153-959B-667DA7DA9D65}"/>
                    </a:ext>
                  </a:extLst>
                </p:cNvPr>
                <p:cNvCxnSpPr>
                  <a:stCxn id="44" idx="4"/>
                  <a:endCxn id="53" idx="0"/>
                </p:cNvCxnSpPr>
                <p:nvPr/>
              </p:nvCxnSpPr>
              <p:spPr>
                <a:xfrm>
                  <a:off x="7021186" y="3886178"/>
                  <a:ext cx="6076" cy="3887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ACA1F83-E692-469A-A7E6-FE1A4F1BA5C1}"/>
                  </a:ext>
                </a:extLst>
              </p:cNvPr>
              <p:cNvSpPr txBox="1"/>
              <p:nvPr/>
            </p:nvSpPr>
            <p:spPr>
              <a:xfrm>
                <a:off x="5772080" y="3002542"/>
                <a:ext cx="1353976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Descendant</a:t>
                </a:r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4B8483-518F-43DA-B2A9-E81E8B45E5C2}"/>
              </a:ext>
            </a:extLst>
          </p:cNvPr>
          <p:cNvSpPr/>
          <p:nvPr/>
        </p:nvSpPr>
        <p:spPr>
          <a:xfrm>
            <a:off x="6062681" y="1215411"/>
            <a:ext cx="2329583" cy="225026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705561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FD9E6-4D6D-66EA-47FC-07FCD81A4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question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B95472-CA78-257D-F045-E332CF9CDF1B}"/>
              </a:ext>
            </a:extLst>
          </p:cNvPr>
          <p:cNvSpPr txBox="1"/>
          <p:nvPr/>
        </p:nvSpPr>
        <p:spPr>
          <a:xfrm>
            <a:off x="1836237" y="5167311"/>
            <a:ext cx="48750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32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prey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200" dirty="0">
                <a:solidFill>
                  <a:srgbClr val="D86E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predator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CBFE4C-547D-FA87-9E92-45B7DD029FBD}"/>
              </a:ext>
            </a:extLst>
          </p:cNvPr>
          <p:cNvSpPr txBox="1"/>
          <p:nvPr/>
        </p:nvSpPr>
        <p:spPr>
          <a:xfrm>
            <a:off x="1836237" y="5752086"/>
            <a:ext cx="9071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32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prey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200" dirty="0">
                <a:solidFill>
                  <a:srgbClr val="D86E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predator 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GB" sz="32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predation_rate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53E3A24-2871-0F49-C8D1-B95D282FD432}"/>
              </a:ext>
            </a:extLst>
          </p:cNvPr>
          <p:cNvGrpSpPr/>
          <p:nvPr/>
        </p:nvGrpSpPr>
        <p:grpSpPr>
          <a:xfrm>
            <a:off x="2879516" y="2353106"/>
            <a:ext cx="6432967" cy="1823003"/>
            <a:chOff x="5675897" y="2618789"/>
            <a:chExt cx="3428786" cy="1022549"/>
          </a:xfrm>
        </p:grpSpPr>
        <p:pic>
          <p:nvPicPr>
            <p:cNvPr id="9" name="Picture 8" descr="A picture containing grass, outdoor, ground&#10;&#10;Description automatically generated">
              <a:extLst>
                <a:ext uri="{FF2B5EF4-FFF2-40B4-BE49-F238E27FC236}">
                  <a16:creationId xmlns:a16="http://schemas.microsoft.com/office/drawing/2014/main" id="{47C3C24B-04BF-1A6E-BF32-434634E20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41286" y="2618789"/>
              <a:ext cx="1363397" cy="1022549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1" name="Picture 10" descr="A close up of a lion's face&#10;&#10;Description automatically generated with medium confidence">
              <a:extLst>
                <a:ext uri="{FF2B5EF4-FFF2-40B4-BE49-F238E27FC236}">
                  <a16:creationId xmlns:a16="http://schemas.microsoft.com/office/drawing/2014/main" id="{8A943A2A-B831-E14A-3CE4-2F51751E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75897" y="2618789"/>
              <a:ext cx="1350772" cy="1013078"/>
            </a:xfrm>
            <a:prstGeom prst="rect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D9DFDF-D30B-DCF4-C1BF-E5121331BD8A}"/>
              </a:ext>
            </a:extLst>
          </p:cNvPr>
          <p:cNvCxnSpPr>
            <a:stCxn id="11" idx="3"/>
            <a:endCxn id="9" idx="1"/>
          </p:cNvCxnSpPr>
          <p:nvPr/>
        </p:nvCxnSpPr>
        <p:spPr>
          <a:xfrm>
            <a:off x="5413787" y="3256165"/>
            <a:ext cx="1340739" cy="8443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0436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C68C2392-13F7-4FF1-95D6-97C13F1EAB52}"/>
              </a:ext>
            </a:extLst>
          </p:cNvPr>
          <p:cNvGrpSpPr/>
          <p:nvPr/>
        </p:nvGrpSpPr>
        <p:grpSpPr>
          <a:xfrm>
            <a:off x="579853" y="570227"/>
            <a:ext cx="1099331" cy="527043"/>
            <a:chOff x="7884613" y="375057"/>
            <a:chExt cx="824498" cy="395282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E49979B-0365-49B6-A11E-9560FED387E2}"/>
                </a:ext>
              </a:extLst>
            </p:cNvPr>
            <p:cNvCxnSpPr>
              <a:stCxn id="18" idx="7"/>
              <a:endCxn id="19" idx="3"/>
            </p:cNvCxnSpPr>
            <p:nvPr/>
          </p:nvCxnSpPr>
          <p:spPr>
            <a:xfrm flipV="1">
              <a:off x="7884613" y="375057"/>
              <a:ext cx="262376" cy="39528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9B9CB6C-417F-4C45-A451-6E702C72F57E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>
              <a:off x="8454298" y="375057"/>
              <a:ext cx="254813" cy="39528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699E086-2EE6-4D79-9094-E8C7DD1B986C}"/>
              </a:ext>
            </a:extLst>
          </p:cNvPr>
          <p:cNvGrpSpPr/>
          <p:nvPr/>
        </p:nvGrpSpPr>
        <p:grpSpPr>
          <a:xfrm>
            <a:off x="85246" y="111222"/>
            <a:ext cx="2088545" cy="1445055"/>
            <a:chOff x="6155850" y="1341040"/>
            <a:chExt cx="1566409" cy="1083791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4534DCA-1945-41CB-A2F8-0012177711DF}"/>
                </a:ext>
              </a:extLst>
            </p:cNvPr>
            <p:cNvSpPr/>
            <p:nvPr/>
          </p:nvSpPr>
          <p:spPr>
            <a:xfrm>
              <a:off x="7287658" y="2021511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A3B9921-342B-42A9-999B-A226E9751CF6}"/>
                </a:ext>
              </a:extLst>
            </p:cNvPr>
            <p:cNvSpPr/>
            <p:nvPr/>
          </p:nvSpPr>
          <p:spPr>
            <a:xfrm>
              <a:off x="6155850" y="2021511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D042A35-1E46-4008-93FA-A451267FEC23}"/>
                </a:ext>
              </a:extLst>
            </p:cNvPr>
            <p:cNvSpPr/>
            <p:nvPr/>
          </p:nvSpPr>
          <p:spPr>
            <a:xfrm>
              <a:off x="6725536" y="1341040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9310733-F76D-420F-8BD7-4C32A4737D93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>
              <a:off x="7096491" y="1685294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6814EA8-5E6F-4020-A96B-0CBDB9A7F46B}"/>
                </a:ext>
              </a:extLst>
            </p:cNvPr>
            <p:cNvCxnSpPr>
              <a:stCxn id="18" idx="7"/>
              <a:endCxn id="19" idx="3"/>
            </p:cNvCxnSpPr>
            <p:nvPr/>
          </p:nvCxnSpPr>
          <p:spPr>
            <a:xfrm flipV="1">
              <a:off x="6526806" y="1685294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4603911-61AC-4AED-8E57-954C70742EF1}"/>
              </a:ext>
            </a:extLst>
          </p:cNvPr>
          <p:cNvGrpSpPr/>
          <p:nvPr/>
        </p:nvGrpSpPr>
        <p:grpSpPr>
          <a:xfrm>
            <a:off x="10490012" y="570227"/>
            <a:ext cx="1146664" cy="527043"/>
            <a:chOff x="399390" y="401365"/>
            <a:chExt cx="859998" cy="39528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52161AF-F6C2-4100-A7AB-46051454C566}"/>
                </a:ext>
              </a:extLst>
            </p:cNvPr>
            <p:cNvCxnSpPr>
              <a:cxnSpLocks/>
              <a:stCxn id="32" idx="5"/>
              <a:endCxn id="28" idx="1"/>
            </p:cNvCxnSpPr>
            <p:nvPr/>
          </p:nvCxnSpPr>
          <p:spPr>
            <a:xfrm>
              <a:off x="1004575" y="401365"/>
              <a:ext cx="254813" cy="39528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Graphic 37" descr="Close with solid fill">
              <a:extLst>
                <a:ext uri="{FF2B5EF4-FFF2-40B4-BE49-F238E27FC236}">
                  <a16:creationId xmlns:a16="http://schemas.microsoft.com/office/drawing/2014/main" id="{0ED9661F-58FA-4A10-B2F3-9D6295BBE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390" y="460430"/>
              <a:ext cx="333375" cy="333375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6A70E16-FEC9-4152-B419-97B35E22CD42}"/>
              </a:ext>
            </a:extLst>
          </p:cNvPr>
          <p:cNvGrpSpPr/>
          <p:nvPr/>
        </p:nvGrpSpPr>
        <p:grpSpPr>
          <a:xfrm>
            <a:off x="10042738" y="111222"/>
            <a:ext cx="2088545" cy="1445055"/>
            <a:chOff x="6155850" y="1341040"/>
            <a:chExt cx="1566409" cy="1083791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33F65E5-54E3-4F6D-8E50-D41D0D93A99A}"/>
                </a:ext>
              </a:extLst>
            </p:cNvPr>
            <p:cNvSpPr/>
            <p:nvPr/>
          </p:nvSpPr>
          <p:spPr>
            <a:xfrm>
              <a:off x="7287658" y="2021511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39613A30-CEA7-43EB-9DD4-31A2596A3525}"/>
                </a:ext>
              </a:extLst>
            </p:cNvPr>
            <p:cNvSpPr/>
            <p:nvPr/>
          </p:nvSpPr>
          <p:spPr>
            <a:xfrm>
              <a:off x="6155850" y="2021511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B801E74-A95D-44EA-B4DF-54DAACC4A3E1}"/>
                </a:ext>
              </a:extLst>
            </p:cNvPr>
            <p:cNvSpPr/>
            <p:nvPr/>
          </p:nvSpPr>
          <p:spPr>
            <a:xfrm>
              <a:off x="6725536" y="1341040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41A44C1-653D-4DC3-8B5B-5B648C14E08A}"/>
                </a:ext>
              </a:extLst>
            </p:cNvPr>
            <p:cNvCxnSpPr>
              <a:stCxn id="32" idx="5"/>
              <a:endCxn id="28" idx="1"/>
            </p:cNvCxnSpPr>
            <p:nvPr/>
          </p:nvCxnSpPr>
          <p:spPr>
            <a:xfrm>
              <a:off x="7096491" y="1685294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AE978E5-F091-4821-96C6-B724F076F9B2}"/>
                </a:ext>
              </a:extLst>
            </p:cNvPr>
            <p:cNvCxnSpPr>
              <a:cxnSpLocks/>
              <a:stCxn id="30" idx="7"/>
              <a:endCxn id="32" idx="3"/>
            </p:cNvCxnSpPr>
            <p:nvPr/>
          </p:nvCxnSpPr>
          <p:spPr>
            <a:xfrm flipV="1">
              <a:off x="6526806" y="1685294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F916E58-EA9F-42B4-93D2-E13A9FB69F9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853"/>
          <a:stretch/>
        </p:blipFill>
        <p:spPr>
          <a:xfrm>
            <a:off x="6106306" y="2019300"/>
            <a:ext cx="5725719" cy="47639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8657FE-B937-45D5-BA67-E8F82C7EFB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646" b="1"/>
          <a:stretch/>
        </p:blipFill>
        <p:spPr>
          <a:xfrm>
            <a:off x="414819" y="2009776"/>
            <a:ext cx="5681180" cy="476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Piped confound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435ACAC-242D-4B44-BDF6-2E55C9BE4017}"/>
              </a:ext>
            </a:extLst>
          </p:cNvPr>
          <p:cNvGrpSpPr/>
          <p:nvPr/>
        </p:nvGrpSpPr>
        <p:grpSpPr>
          <a:xfrm>
            <a:off x="1637944" y="5144747"/>
            <a:ext cx="8886197" cy="1326776"/>
            <a:chOff x="1239675" y="2596842"/>
            <a:chExt cx="6664648" cy="995082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C15654C-599E-4053-8BAD-7420C9923753}"/>
                </a:ext>
              </a:extLst>
            </p:cNvPr>
            <p:cNvSpPr/>
            <p:nvPr/>
          </p:nvSpPr>
          <p:spPr>
            <a:xfrm>
              <a:off x="1239675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Causal (indirect)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528E2C57-EBF2-4051-9A73-85EB4839AB80}"/>
                </a:ext>
              </a:extLst>
            </p:cNvPr>
            <p:cNvSpPr/>
            <p:nvPr/>
          </p:nvSpPr>
          <p:spPr>
            <a:xfrm>
              <a:off x="5625047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Confounded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C53B1C9-8978-4562-82CD-75957451514A}"/>
              </a:ext>
            </a:extLst>
          </p:cNvPr>
          <p:cNvGrpSpPr/>
          <p:nvPr/>
        </p:nvGrpSpPr>
        <p:grpSpPr>
          <a:xfrm>
            <a:off x="7137881" y="1737646"/>
            <a:ext cx="3626291" cy="3048441"/>
            <a:chOff x="5629867" y="904432"/>
            <a:chExt cx="3426552" cy="2736906"/>
          </a:xfrm>
        </p:grpSpPr>
        <p:pic>
          <p:nvPicPr>
            <p:cNvPr id="39" name="Picture 38" descr="A picture containing grass, outdoor, ground&#10;&#10;Description automatically generated">
              <a:extLst>
                <a:ext uri="{FF2B5EF4-FFF2-40B4-BE49-F238E27FC236}">
                  <a16:creationId xmlns:a16="http://schemas.microsoft.com/office/drawing/2014/main" id="{8490E93B-27E5-40A2-9E18-F0B030042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693020" y="2618790"/>
              <a:ext cx="1363399" cy="1022548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9CE6785-AF69-4778-9F20-034E419C7CA1}"/>
                </a:ext>
              </a:extLst>
            </p:cNvPr>
            <p:cNvGrpSpPr/>
            <p:nvPr/>
          </p:nvGrpSpPr>
          <p:grpSpPr>
            <a:xfrm>
              <a:off x="5629867" y="904432"/>
              <a:ext cx="2744853" cy="2727436"/>
              <a:chOff x="5629867" y="904432"/>
              <a:chExt cx="2744853" cy="2727436"/>
            </a:xfrm>
          </p:grpSpPr>
          <p:pic>
            <p:nvPicPr>
              <p:cNvPr id="43" name="Picture 42" descr="A cheetah chasing a cheetah in a field&#10;&#10;Description automatically generated with medium confidence">
                <a:extLst>
                  <a:ext uri="{FF2B5EF4-FFF2-40B4-BE49-F238E27FC236}">
                    <a16:creationId xmlns:a16="http://schemas.microsoft.com/office/drawing/2014/main" id="{6CBADA5B-3DCA-44AA-9860-0D53DAA69A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368843" y="904432"/>
                <a:ext cx="1951703" cy="975852"/>
              </a:xfrm>
              <a:prstGeom prst="rect">
                <a:avLst/>
              </a:prstGeom>
              <a:ln w="57150">
                <a:solidFill>
                  <a:srgbClr val="00B050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45" name="Picture 44" descr="A close up of a lion's face&#10;&#10;Description automatically generated with medium confidence">
                <a:extLst>
                  <a:ext uri="{FF2B5EF4-FFF2-40B4-BE49-F238E27FC236}">
                    <a16:creationId xmlns:a16="http://schemas.microsoft.com/office/drawing/2014/main" id="{4923F303-D6C6-4427-9DEE-F767386E68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629867" y="2618789"/>
                <a:ext cx="1350772" cy="1013079"/>
              </a:xfrm>
              <a:prstGeom prst="rect">
                <a:avLst/>
              </a:prstGeom>
              <a:ln w="57150">
                <a:solidFill>
                  <a:schemeClr val="accent5">
                    <a:lumMod val="60000"/>
                    <a:lumOff val="40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</p:pic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42C6A7E0-E4FC-4A02-8443-684C982AE511}"/>
                  </a:ext>
                </a:extLst>
              </p:cNvPr>
              <p:cNvCxnSpPr>
                <a:cxnSpLocks/>
                <a:stCxn id="43" idx="2"/>
                <a:endCxn id="39" idx="0"/>
              </p:cNvCxnSpPr>
              <p:nvPr/>
            </p:nvCxnSpPr>
            <p:spPr>
              <a:xfrm>
                <a:off x="7344695" y="1880284"/>
                <a:ext cx="1030025" cy="738506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113782D-5466-4650-A06E-A0A7A40924DA}"/>
              </a:ext>
            </a:extLst>
          </p:cNvPr>
          <p:cNvGrpSpPr/>
          <p:nvPr/>
        </p:nvGrpSpPr>
        <p:grpSpPr>
          <a:xfrm>
            <a:off x="1339433" y="3093151"/>
            <a:ext cx="3628655" cy="1138944"/>
            <a:chOff x="5675897" y="2618789"/>
            <a:chExt cx="3428786" cy="1022549"/>
          </a:xfrm>
        </p:grpSpPr>
        <p:pic>
          <p:nvPicPr>
            <p:cNvPr id="61" name="Picture 60" descr="A picture containing grass, outdoor, ground&#10;&#10;Description automatically generated">
              <a:extLst>
                <a:ext uri="{FF2B5EF4-FFF2-40B4-BE49-F238E27FC236}">
                  <a16:creationId xmlns:a16="http://schemas.microsoft.com/office/drawing/2014/main" id="{A7C7160B-6BC8-4D89-A412-FBB5EEBEDF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741286" y="2618789"/>
              <a:ext cx="1363397" cy="1022549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4" name="Picture 63" descr="A close up of a lion's face&#10;&#10;Description automatically generated with medium confidence">
              <a:extLst>
                <a:ext uri="{FF2B5EF4-FFF2-40B4-BE49-F238E27FC236}">
                  <a16:creationId xmlns:a16="http://schemas.microsoft.com/office/drawing/2014/main" id="{EE950F6E-9E87-487F-B5B5-93A00CF5B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675897" y="2618789"/>
              <a:ext cx="1350772" cy="1013078"/>
            </a:xfrm>
            <a:prstGeom prst="rect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A90B807-C5CA-4175-B140-50C08D9521C1}"/>
              </a:ext>
            </a:extLst>
          </p:cNvPr>
          <p:cNvCxnSpPr>
            <a:stCxn id="64" idx="3"/>
            <a:endCxn id="61" idx="1"/>
          </p:cNvCxnSpPr>
          <p:nvPr/>
        </p:nvCxnSpPr>
        <p:spPr>
          <a:xfrm>
            <a:off x="2768944" y="3657348"/>
            <a:ext cx="756273" cy="5275"/>
          </a:xfrm>
          <a:prstGeom prst="straightConnector1">
            <a:avLst/>
          </a:prstGeom>
          <a:ln w="38100">
            <a:solidFill>
              <a:schemeClr val="bg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217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1D484F8-E34E-486B-B166-721D74A7E18D}"/>
              </a:ext>
            </a:extLst>
          </p:cNvPr>
          <p:cNvGrpSpPr/>
          <p:nvPr/>
        </p:nvGrpSpPr>
        <p:grpSpPr>
          <a:xfrm>
            <a:off x="2522218" y="3418127"/>
            <a:ext cx="7443024" cy="2306016"/>
            <a:chOff x="1891663" y="2563595"/>
            <a:chExt cx="5582268" cy="172951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DCB17A4-88DA-471F-B45F-D9C88D9E82F6}"/>
                </a:ext>
              </a:extLst>
            </p:cNvPr>
            <p:cNvGrpSpPr/>
            <p:nvPr/>
          </p:nvGrpSpPr>
          <p:grpSpPr>
            <a:xfrm>
              <a:off x="3641649" y="3126474"/>
              <a:ext cx="3832282" cy="623248"/>
              <a:chOff x="3511785" y="3018939"/>
              <a:chExt cx="3832282" cy="62324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0986C1E-7E94-4F29-86BC-41CC2B823F5F}"/>
                      </a:ext>
                    </a:extLst>
                  </p:cNvPr>
                  <p:cNvSpPr txBox="1"/>
                  <p:nvPr/>
                </p:nvSpPr>
                <p:spPr>
                  <a:xfrm>
                    <a:off x="3511785" y="3018939"/>
                    <a:ext cx="607378" cy="6232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4800" i="1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GB" sz="48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0986C1E-7E94-4F29-86BC-41CC2B823F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11785" y="3018939"/>
                    <a:ext cx="607378" cy="62324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1BC3DFFE-A5D2-4B72-8FA0-D470DF2D3EB0}"/>
                      </a:ext>
                    </a:extLst>
                  </p:cNvPr>
                  <p:cNvSpPr txBox="1"/>
                  <p:nvPr/>
                </p:nvSpPr>
                <p:spPr>
                  <a:xfrm>
                    <a:off x="6886971" y="3018939"/>
                    <a:ext cx="457096" cy="6232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4800" i="1">
                              <a:latin typeface="Cambria Math" panose="02040503050406030204" pitchFamily="18" charset="0"/>
                            </a:rPr>
                            <m:t>?</m:t>
                          </m:r>
                        </m:oMath>
                      </m:oMathPara>
                    </a14:m>
                    <a:endParaRPr lang="en-GB" sz="4800" dirty="0"/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1BC3DFFE-A5D2-4B72-8FA0-D470DF2D3E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6971" y="3018939"/>
                    <a:ext cx="457096" cy="62324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6" name="Picture 15" descr="A child with a birthday cake&#10;&#10;Description automatically generated with low confidence">
              <a:extLst>
                <a:ext uri="{FF2B5EF4-FFF2-40B4-BE49-F238E27FC236}">
                  <a16:creationId xmlns:a16="http://schemas.microsoft.com/office/drawing/2014/main" id="{9B212CA2-8883-4453-AB6C-EFD5F97EE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91663" y="2565571"/>
              <a:ext cx="1725561" cy="1725561"/>
            </a:xfrm>
            <a:prstGeom prst="rect">
              <a:avLst/>
            </a:prstGeom>
          </p:spPr>
        </p:pic>
        <p:pic>
          <p:nvPicPr>
            <p:cNvPr id="18" name="Picture 17" descr="A picture containing grass, outdoor, sky, standing&#10;&#10;Description automatically generated">
              <a:extLst>
                <a:ext uri="{FF2B5EF4-FFF2-40B4-BE49-F238E27FC236}">
                  <a16:creationId xmlns:a16="http://schemas.microsoft.com/office/drawing/2014/main" id="{BD249CCB-3BD8-457F-9406-EBA8D6B226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283157" y="2563595"/>
              <a:ext cx="2594269" cy="1729512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Piped confound 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/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Age</m:t>
                      </m:r>
                      <m:r>
                        <a:rPr lang="en-GB" sz="2667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Growth</m:t>
                      </m:r>
                      <m: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rate</m:t>
                      </m:r>
                      <m:r>
                        <a:rPr lang="en-GB" sz="2667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Height</m:t>
                      </m:r>
                    </m:oMath>
                  </m:oMathPara>
                </a14:m>
                <a:endParaRPr lang="en-GB" sz="2667" dirty="0">
                  <a:solidFill>
                    <a:srgbClr val="434343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blipFill>
                <a:blip r:embed="rId7"/>
                <a:stretch>
                  <a:fillRect t="-12048" b="-30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C7AF16-67D7-41CE-8E91-4642F0C59711}"/>
              </a:ext>
            </a:extLst>
          </p:cNvPr>
          <p:cNvSpPr txBox="1"/>
          <p:nvPr/>
        </p:nvSpPr>
        <p:spPr>
          <a:xfrm>
            <a:off x="1" y="2558376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Is a 3 year old short, medium or tall?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42C35C0-EEF2-4226-A8B2-B9C53F3CD77B}"/>
                  </a:ext>
                </a:extLst>
              </p:cNvPr>
              <p:cNvSpPr txBox="1"/>
              <p:nvPr/>
            </p:nvSpPr>
            <p:spPr>
              <a:xfrm>
                <a:off x="1" y="6031149"/>
                <a:ext cx="1219200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Knowing “Z”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b="0" i="0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Growth</m:t>
                    </m:r>
                    <m:r>
                      <a:rPr lang="en-GB" sz="2400" b="0" i="0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400" b="0" i="0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Rate</m:t>
                    </m:r>
                  </m:oMath>
                </a14:m>
                <a:r>
                  <a:rPr lang="en-GB" sz="2400" dirty="0"/>
                  <a:t>) makes you confounded.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42C35C0-EEF2-4226-A8B2-B9C53F3CD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6031149"/>
                <a:ext cx="12192001" cy="461665"/>
              </a:xfrm>
              <a:prstGeom prst="rect">
                <a:avLst/>
              </a:prstGeom>
              <a:blipFill>
                <a:blip r:embed="rId8"/>
                <a:stretch>
                  <a:fillRect t="-11842" b="-27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5E202F5B-08DB-4B90-AA18-4DB3F515682C}"/>
              </a:ext>
            </a:extLst>
          </p:cNvPr>
          <p:cNvSpPr/>
          <p:nvPr/>
        </p:nvSpPr>
        <p:spPr>
          <a:xfrm>
            <a:off x="4618916" y="1854590"/>
            <a:ext cx="2568860" cy="5292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  <a:latin typeface="+mj-lt"/>
              </a:rPr>
              <a:t>causes (?)</a:t>
            </a:r>
            <a:endParaRPr lang="en-GB" sz="3733" dirty="0">
              <a:solidFill>
                <a:schemeClr val="tx1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78B0087-33F0-4C90-9053-376422743CD3}"/>
              </a:ext>
            </a:extLst>
          </p:cNvPr>
          <p:cNvGrpSpPr/>
          <p:nvPr/>
        </p:nvGrpSpPr>
        <p:grpSpPr>
          <a:xfrm>
            <a:off x="85246" y="111222"/>
            <a:ext cx="2088545" cy="1445055"/>
            <a:chOff x="6155850" y="1341040"/>
            <a:chExt cx="1566409" cy="1083791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80EEA1E-A023-408D-951E-10C5D4A93829}"/>
                </a:ext>
              </a:extLst>
            </p:cNvPr>
            <p:cNvSpPr/>
            <p:nvPr/>
          </p:nvSpPr>
          <p:spPr>
            <a:xfrm>
              <a:off x="7287658" y="2021511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050F98A-D5CC-425B-929F-6202E032F235}"/>
                </a:ext>
              </a:extLst>
            </p:cNvPr>
            <p:cNvSpPr/>
            <p:nvPr/>
          </p:nvSpPr>
          <p:spPr>
            <a:xfrm>
              <a:off x="6155850" y="2021511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45A2614-A8FB-4258-B9C4-0A4E14601047}"/>
                </a:ext>
              </a:extLst>
            </p:cNvPr>
            <p:cNvSpPr/>
            <p:nvPr/>
          </p:nvSpPr>
          <p:spPr>
            <a:xfrm>
              <a:off x="6725536" y="1341040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C17BE46-CB63-406D-95E0-9CC8EE36C711}"/>
                </a:ext>
              </a:extLst>
            </p:cNvPr>
            <p:cNvCxnSpPr>
              <a:stCxn id="24" idx="5"/>
              <a:endCxn id="22" idx="1"/>
            </p:cNvCxnSpPr>
            <p:nvPr/>
          </p:nvCxnSpPr>
          <p:spPr>
            <a:xfrm>
              <a:off x="7096491" y="1685294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8249878-2940-44E0-B369-43AA19A969CE}"/>
                </a:ext>
              </a:extLst>
            </p:cNvPr>
            <p:cNvCxnSpPr>
              <a:stCxn id="23" idx="7"/>
              <a:endCxn id="24" idx="3"/>
            </p:cNvCxnSpPr>
            <p:nvPr/>
          </p:nvCxnSpPr>
          <p:spPr>
            <a:xfrm flipV="1">
              <a:off x="6526806" y="1685294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45539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8" grpId="0"/>
      <p:bldP spid="33" grpId="0"/>
      <p:bldP spid="34" grpId="0" animBg="1"/>
      <p:bldP spid="34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The confounds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606A284-FF7B-4214-B699-4381B44713D1}"/>
              </a:ext>
            </a:extLst>
          </p:cNvPr>
          <p:cNvGrpSpPr/>
          <p:nvPr/>
        </p:nvGrpSpPr>
        <p:grpSpPr>
          <a:xfrm>
            <a:off x="3553794" y="1178738"/>
            <a:ext cx="5198383" cy="5130639"/>
            <a:chOff x="3525957" y="830264"/>
            <a:chExt cx="3898787" cy="3847979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4BD0FBE-1901-44C1-B2BF-04A0F26F2F78}"/>
                </a:ext>
              </a:extLst>
            </p:cNvPr>
            <p:cNvGrpSpPr/>
            <p:nvPr/>
          </p:nvGrpSpPr>
          <p:grpSpPr>
            <a:xfrm>
              <a:off x="5476773" y="830264"/>
              <a:ext cx="1566409" cy="1594567"/>
              <a:chOff x="5476773" y="830264"/>
              <a:chExt cx="1566409" cy="1594567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6A70E16-FEC9-4152-B419-97B35E22CD42}"/>
                  </a:ext>
                </a:extLst>
              </p:cNvPr>
              <p:cNvGrpSpPr/>
              <p:nvPr/>
            </p:nvGrpSpPr>
            <p:grpSpPr>
              <a:xfrm>
                <a:off x="5476773" y="1341040"/>
                <a:ext cx="1566409" cy="1083791"/>
                <a:chOff x="6155850" y="1341040"/>
                <a:chExt cx="1566409" cy="1083791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33F65E5-54E3-4F6D-8E50-D41D0D93A99A}"/>
                    </a:ext>
                  </a:extLst>
                </p:cNvPr>
                <p:cNvSpPr/>
                <p:nvPr/>
              </p:nvSpPr>
              <p:spPr>
                <a:xfrm>
                  <a:off x="7287658" y="2021511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39613A30-CEA7-43EB-9DD4-31A2596A3525}"/>
                    </a:ext>
                  </a:extLst>
                </p:cNvPr>
                <p:cNvSpPr/>
                <p:nvPr/>
              </p:nvSpPr>
              <p:spPr>
                <a:xfrm>
                  <a:off x="6155850" y="2021511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4B801E74-A95D-44EA-B4DF-54DAACC4A3E1}"/>
                    </a:ext>
                  </a:extLst>
                </p:cNvPr>
                <p:cNvSpPr/>
                <p:nvPr/>
              </p:nvSpPr>
              <p:spPr>
                <a:xfrm>
                  <a:off x="6725536" y="1341040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A41A44C1-653D-4DC3-8B5B-5B648C14E08A}"/>
                    </a:ext>
                  </a:extLst>
                </p:cNvPr>
                <p:cNvCxnSpPr>
                  <a:stCxn id="32" idx="5"/>
                  <a:endCxn id="28" idx="1"/>
                </p:cNvCxnSpPr>
                <p:nvPr/>
              </p:nvCxnSpPr>
              <p:spPr>
                <a:xfrm>
                  <a:off x="7096491" y="1685294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6AE978E5-F091-4821-96C6-B724F076F9B2}"/>
                    </a:ext>
                  </a:extLst>
                </p:cNvPr>
                <p:cNvCxnSpPr>
                  <a:stCxn id="30" idx="7"/>
                  <a:endCxn id="32" idx="3"/>
                </p:cNvCxnSpPr>
                <p:nvPr/>
              </p:nvCxnSpPr>
              <p:spPr>
                <a:xfrm flipV="1">
                  <a:off x="6526806" y="1685294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9C42D1A-BCCF-453E-9579-4AFC9AB8A212}"/>
                  </a:ext>
                </a:extLst>
              </p:cNvPr>
              <p:cNvSpPr txBox="1"/>
              <p:nvPr/>
            </p:nvSpPr>
            <p:spPr>
              <a:xfrm>
                <a:off x="5991889" y="830264"/>
                <a:ext cx="58934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Pipe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54C2958-F320-4C48-A8CA-5C868A94C0AF}"/>
                </a:ext>
              </a:extLst>
            </p:cNvPr>
            <p:cNvGrpSpPr/>
            <p:nvPr/>
          </p:nvGrpSpPr>
          <p:grpSpPr>
            <a:xfrm>
              <a:off x="3525957" y="837131"/>
              <a:ext cx="1566409" cy="1603388"/>
              <a:chOff x="3525957" y="837131"/>
              <a:chExt cx="1566409" cy="1603388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DABC815-811B-49C9-992B-C158E810C735}"/>
                  </a:ext>
                </a:extLst>
              </p:cNvPr>
              <p:cNvGrpSpPr/>
              <p:nvPr/>
            </p:nvGrpSpPr>
            <p:grpSpPr>
              <a:xfrm>
                <a:off x="3525957" y="1356728"/>
                <a:ext cx="1566409" cy="1083791"/>
                <a:chOff x="4205034" y="1356728"/>
                <a:chExt cx="1566409" cy="1083791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75C522C8-ABFA-4058-9BAE-C456C9C05CF4}"/>
                    </a:ext>
                  </a:extLst>
                </p:cNvPr>
                <p:cNvSpPr/>
                <p:nvPr/>
              </p:nvSpPr>
              <p:spPr>
                <a:xfrm>
                  <a:off x="5336842" y="2037199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D059DA1-CEFB-4BBD-A284-532D2AC070BD}"/>
                    </a:ext>
                  </a:extLst>
                </p:cNvPr>
                <p:cNvSpPr/>
                <p:nvPr/>
              </p:nvSpPr>
              <p:spPr>
                <a:xfrm>
                  <a:off x="4205034" y="2037199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4A4066AC-A54A-467D-88E0-DF35BA925149}"/>
                    </a:ext>
                  </a:extLst>
                </p:cNvPr>
                <p:cNvSpPr/>
                <p:nvPr/>
              </p:nvSpPr>
              <p:spPr>
                <a:xfrm>
                  <a:off x="4774720" y="1356728"/>
                  <a:ext cx="434601" cy="403319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A75A2A15-38D9-4ED3-93A0-ADB28A204398}"/>
                    </a:ext>
                  </a:extLst>
                </p:cNvPr>
                <p:cNvCxnSpPr>
                  <a:stCxn id="20" idx="3"/>
                  <a:endCxn id="19" idx="7"/>
                </p:cNvCxnSpPr>
                <p:nvPr/>
              </p:nvCxnSpPr>
              <p:spPr>
                <a:xfrm flipH="1">
                  <a:off x="4575990" y="1700982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28B291C2-904F-4007-89AA-0095EB52F029}"/>
                    </a:ext>
                  </a:extLst>
                </p:cNvPr>
                <p:cNvCxnSpPr>
                  <a:stCxn id="20" idx="5"/>
                  <a:endCxn id="18" idx="1"/>
                </p:cNvCxnSpPr>
                <p:nvPr/>
              </p:nvCxnSpPr>
              <p:spPr>
                <a:xfrm>
                  <a:off x="5145675" y="1700982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4B113D6-8AAE-4097-851A-4EC467169931}"/>
                  </a:ext>
                </a:extLst>
              </p:cNvPr>
              <p:cNvSpPr txBox="1"/>
              <p:nvPr/>
            </p:nvSpPr>
            <p:spPr>
              <a:xfrm>
                <a:off x="4041874" y="837131"/>
                <a:ext cx="614591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Fork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8ED9010-4665-484F-8E6C-DA3A0A970AC1}"/>
                </a:ext>
              </a:extLst>
            </p:cNvPr>
            <p:cNvGrpSpPr/>
            <p:nvPr/>
          </p:nvGrpSpPr>
          <p:grpSpPr>
            <a:xfrm>
              <a:off x="3525957" y="3002543"/>
              <a:ext cx="1566409" cy="1652966"/>
              <a:chOff x="3525957" y="3002543"/>
              <a:chExt cx="1566409" cy="1652966"/>
            </a:xfrm>
          </p:grpSpPr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80F3DDA8-C395-407E-9906-32803A28160A}"/>
                  </a:ext>
                </a:extLst>
              </p:cNvPr>
              <p:cNvGrpSpPr/>
              <p:nvPr/>
            </p:nvGrpSpPr>
            <p:grpSpPr>
              <a:xfrm>
                <a:off x="3525957" y="3571718"/>
                <a:ext cx="1566409" cy="1083791"/>
                <a:chOff x="4205034" y="3383452"/>
                <a:chExt cx="1566409" cy="1083791"/>
              </a:xfrm>
            </p:grpSpPr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2E45509B-490B-4D1A-9F28-C9A5842BB263}"/>
                    </a:ext>
                  </a:extLst>
                </p:cNvPr>
                <p:cNvSpPr/>
                <p:nvPr/>
              </p:nvSpPr>
              <p:spPr>
                <a:xfrm>
                  <a:off x="5336842" y="4063923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6BE5D0A-4C42-4390-AE7C-F0ED68019773}"/>
                    </a:ext>
                  </a:extLst>
                </p:cNvPr>
                <p:cNvSpPr/>
                <p:nvPr/>
              </p:nvSpPr>
              <p:spPr>
                <a:xfrm>
                  <a:off x="4205034" y="4063923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F01C355-0AE3-4E43-B31E-6F67F82CCD9D}"/>
                    </a:ext>
                  </a:extLst>
                </p:cNvPr>
                <p:cNvSpPr/>
                <p:nvPr/>
              </p:nvSpPr>
              <p:spPr>
                <a:xfrm>
                  <a:off x="4774720" y="3383452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36" name="Straight Arrow Connector 35">
                  <a:extLst>
                    <a:ext uri="{FF2B5EF4-FFF2-40B4-BE49-F238E27FC236}">
                      <a16:creationId xmlns:a16="http://schemas.microsoft.com/office/drawing/2014/main" id="{ADC4F697-437D-4542-850E-E5CD624387BF}"/>
                    </a:ext>
                  </a:extLst>
                </p:cNvPr>
                <p:cNvCxnSpPr>
                  <a:stCxn id="24" idx="7"/>
                  <a:endCxn id="25" idx="3"/>
                </p:cNvCxnSpPr>
                <p:nvPr/>
              </p:nvCxnSpPr>
              <p:spPr>
                <a:xfrm flipV="1">
                  <a:off x="4575990" y="3727706"/>
                  <a:ext cx="262376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D75AC29F-F300-4106-B39B-5A6067C1B02E}"/>
                    </a:ext>
                  </a:extLst>
                </p:cNvPr>
                <p:cNvCxnSpPr>
                  <a:stCxn id="23" idx="1"/>
                  <a:endCxn id="25" idx="5"/>
                </p:cNvCxnSpPr>
                <p:nvPr/>
              </p:nvCxnSpPr>
              <p:spPr>
                <a:xfrm flipH="1" flipV="1">
                  <a:off x="5145675" y="3727706"/>
                  <a:ext cx="254813" cy="39528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55EC461-1B4D-48D9-9BB9-A14CB9D35624}"/>
                  </a:ext>
                </a:extLst>
              </p:cNvPr>
              <p:cNvSpPr txBox="1"/>
              <p:nvPr/>
            </p:nvSpPr>
            <p:spPr>
              <a:xfrm>
                <a:off x="3916253" y="3002543"/>
                <a:ext cx="947615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Collider</a:t>
                </a:r>
              </a:p>
            </p:txBody>
          </p: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F9B8E94E-931F-4959-8839-F3CD81C64B46}"/>
                </a:ext>
              </a:extLst>
            </p:cNvPr>
            <p:cNvGrpSpPr/>
            <p:nvPr/>
          </p:nvGrpSpPr>
          <p:grpSpPr>
            <a:xfrm>
              <a:off x="5259472" y="3002542"/>
              <a:ext cx="2165272" cy="1675701"/>
              <a:chOff x="5259472" y="3002542"/>
              <a:chExt cx="2165272" cy="1675701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1572508C-6C04-477C-BEE0-69897BE62DF7}"/>
                  </a:ext>
                </a:extLst>
              </p:cNvPr>
              <p:cNvGrpSpPr/>
              <p:nvPr/>
            </p:nvGrpSpPr>
            <p:grpSpPr>
              <a:xfrm>
                <a:off x="5259472" y="3482857"/>
                <a:ext cx="2165272" cy="1195386"/>
                <a:chOff x="5938549" y="3482857"/>
                <a:chExt cx="2165272" cy="1195386"/>
              </a:xfrm>
            </p:grpSpPr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6674F3F0-220D-4F18-B188-AAF77B01E2A1}"/>
                    </a:ext>
                  </a:extLst>
                </p:cNvPr>
                <p:cNvSpPr/>
                <p:nvPr/>
              </p:nvSpPr>
              <p:spPr>
                <a:xfrm>
                  <a:off x="7669220" y="3482857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2D53BDBE-54FC-442D-8CDE-41E6E793354A}"/>
                    </a:ext>
                  </a:extLst>
                </p:cNvPr>
                <p:cNvSpPr/>
                <p:nvPr/>
              </p:nvSpPr>
              <p:spPr>
                <a:xfrm>
                  <a:off x="5938549" y="3482858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480A74BE-D5F4-4C32-9151-8EC13A98740A}"/>
                    </a:ext>
                  </a:extLst>
                </p:cNvPr>
                <p:cNvSpPr/>
                <p:nvPr/>
              </p:nvSpPr>
              <p:spPr>
                <a:xfrm>
                  <a:off x="6803885" y="3482859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Z</a:t>
                  </a:r>
                </a:p>
              </p:txBody>
            </p: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40013FDE-CAFD-45FF-82A7-CFFF72045FA6}"/>
                    </a:ext>
                  </a:extLst>
                </p:cNvPr>
                <p:cNvCxnSpPr>
                  <a:cxnSpLocks/>
                  <a:stCxn id="43" idx="6"/>
                  <a:endCxn id="44" idx="2"/>
                </p:cNvCxnSpPr>
                <p:nvPr/>
              </p:nvCxnSpPr>
              <p:spPr>
                <a:xfrm>
                  <a:off x="6373151" y="3684518"/>
                  <a:ext cx="430734" cy="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08C0A6E7-AF67-4C21-A2BF-5BBAE5D7F026}"/>
                    </a:ext>
                  </a:extLst>
                </p:cNvPr>
                <p:cNvCxnSpPr>
                  <a:stCxn id="44" idx="6"/>
                  <a:endCxn id="42" idx="2"/>
                </p:cNvCxnSpPr>
                <p:nvPr/>
              </p:nvCxnSpPr>
              <p:spPr>
                <a:xfrm flipV="1">
                  <a:off x="7238486" y="3684517"/>
                  <a:ext cx="430734" cy="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0D74FCBD-9648-48D3-B3A4-8FB638E75F1C}"/>
                    </a:ext>
                  </a:extLst>
                </p:cNvPr>
                <p:cNvSpPr/>
                <p:nvPr/>
              </p:nvSpPr>
              <p:spPr>
                <a:xfrm>
                  <a:off x="6809961" y="4274924"/>
                  <a:ext cx="434601" cy="403319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V</a:t>
                  </a:r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3517A162-BFD9-4153-959B-667DA7DA9D65}"/>
                    </a:ext>
                  </a:extLst>
                </p:cNvPr>
                <p:cNvCxnSpPr>
                  <a:stCxn id="44" idx="4"/>
                  <a:endCxn id="53" idx="0"/>
                </p:cNvCxnSpPr>
                <p:nvPr/>
              </p:nvCxnSpPr>
              <p:spPr>
                <a:xfrm>
                  <a:off x="7021186" y="3886178"/>
                  <a:ext cx="6076" cy="3887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ACA1F83-E692-469A-A7E6-FE1A4F1BA5C1}"/>
                  </a:ext>
                </a:extLst>
              </p:cNvPr>
              <p:cNvSpPr txBox="1"/>
              <p:nvPr/>
            </p:nvSpPr>
            <p:spPr>
              <a:xfrm>
                <a:off x="5772080" y="3002542"/>
                <a:ext cx="1353976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Descendant</a:t>
                </a:r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4B8483-518F-43DA-B2A9-E81E8B45E5C2}"/>
              </a:ext>
            </a:extLst>
          </p:cNvPr>
          <p:cNvSpPr/>
          <p:nvPr/>
        </p:nvSpPr>
        <p:spPr>
          <a:xfrm>
            <a:off x="3422689" y="4109713"/>
            <a:ext cx="2329583" cy="225026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203073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FD9E6-4D6D-66EA-47FC-07FCD81A4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question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B95472-CA78-257D-F045-E332CF9CDF1B}"/>
              </a:ext>
            </a:extLst>
          </p:cNvPr>
          <p:cNvSpPr txBox="1"/>
          <p:nvPr/>
        </p:nvSpPr>
        <p:spPr>
          <a:xfrm>
            <a:off x="1836237" y="5167311"/>
            <a:ext cx="66030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32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myxomatosis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200" dirty="0">
                <a:solidFill>
                  <a:srgbClr val="D86E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predator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CBFE4C-547D-FA87-9E92-45B7DD029FBD}"/>
              </a:ext>
            </a:extLst>
          </p:cNvPr>
          <p:cNvSpPr txBox="1"/>
          <p:nvPr/>
        </p:nvSpPr>
        <p:spPr>
          <a:xfrm>
            <a:off x="1836237" y="5752086"/>
            <a:ext cx="83311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32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myxomatosis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  <a:r>
              <a:rPr lang="en-GB" sz="3200" dirty="0">
                <a:solidFill>
                  <a:srgbClr val="D86E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predator 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GB" sz="3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prey</a:t>
            </a:r>
            <a:r>
              <a:rPr lang="en-GB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2AAF92B-0981-5B80-AA45-C71D505CF08E}"/>
              </a:ext>
            </a:extLst>
          </p:cNvPr>
          <p:cNvGrpSpPr/>
          <p:nvPr/>
        </p:nvGrpSpPr>
        <p:grpSpPr>
          <a:xfrm>
            <a:off x="2463384" y="2275463"/>
            <a:ext cx="7490241" cy="2094040"/>
            <a:chOff x="2892525" y="3787755"/>
            <a:chExt cx="3456059" cy="1013079"/>
          </a:xfrm>
        </p:grpSpPr>
        <p:pic>
          <p:nvPicPr>
            <p:cNvPr id="15" name="Picture 14" descr="A close up of a lion's face&#10;&#10;Description automatically generated with medium confidence">
              <a:extLst>
                <a:ext uri="{FF2B5EF4-FFF2-40B4-BE49-F238E27FC236}">
                  <a16:creationId xmlns:a16="http://schemas.microsoft.com/office/drawing/2014/main" id="{5E415F89-9B8E-0FB5-74C1-35B531D88C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92525" y="3787755"/>
              <a:ext cx="1350771" cy="1013079"/>
            </a:xfrm>
            <a:prstGeom prst="rect">
              <a:avLst/>
            </a:prstGeom>
            <a:ln w="57150">
              <a:solidFill>
                <a:srgbClr val="D86ECC"/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  <p:pic>
          <p:nvPicPr>
            <p:cNvPr id="16" name="Picture 15" descr="A group of jellyfish&#10;&#10;Description automatically generated with low confidence">
              <a:extLst>
                <a:ext uri="{FF2B5EF4-FFF2-40B4-BE49-F238E27FC236}">
                  <a16:creationId xmlns:a16="http://schemas.microsoft.com/office/drawing/2014/main" id="{1D7459D7-DEBA-729A-962F-BF82B608C8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17333"/>
            <a:stretch/>
          </p:blipFill>
          <p:spPr>
            <a:xfrm>
              <a:off x="4998423" y="3787755"/>
              <a:ext cx="1350161" cy="1012620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0792A7-A997-856B-9017-0B96EE989FBB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5390880" y="3322009"/>
            <a:ext cx="1636570" cy="475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2359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1F8C1C-E887-4173-99CE-DFB32C8E2EE8}"/>
              </a:ext>
            </a:extLst>
          </p:cNvPr>
          <p:cNvGrpSpPr/>
          <p:nvPr/>
        </p:nvGrpSpPr>
        <p:grpSpPr>
          <a:xfrm>
            <a:off x="579853" y="535153"/>
            <a:ext cx="1099331" cy="527043"/>
            <a:chOff x="434890" y="401365"/>
            <a:chExt cx="824498" cy="395282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F48EEA3-18E0-4E87-88F8-28C84EDCBC7C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flipV="1">
              <a:off x="434890" y="401365"/>
              <a:ext cx="262376" cy="39528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071FB5B-2A0B-4A92-92B5-378FBE3CD749}"/>
                </a:ext>
              </a:extLst>
            </p:cNvPr>
            <p:cNvCxnSpPr>
              <a:stCxn id="18" idx="5"/>
              <a:endCxn id="16" idx="1"/>
            </p:cNvCxnSpPr>
            <p:nvPr/>
          </p:nvCxnSpPr>
          <p:spPr>
            <a:xfrm>
              <a:off x="1004575" y="401365"/>
              <a:ext cx="254813" cy="39528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84113FF-D534-4454-AE4B-D44E87E8E96D}"/>
              </a:ext>
            </a:extLst>
          </p:cNvPr>
          <p:cNvGrpSpPr/>
          <p:nvPr/>
        </p:nvGrpSpPr>
        <p:grpSpPr>
          <a:xfrm>
            <a:off x="85246" y="76149"/>
            <a:ext cx="2088545" cy="1445055"/>
            <a:chOff x="4205034" y="3383452"/>
            <a:chExt cx="1566409" cy="1083791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D32C3EC-83EA-4F45-B4F2-7571F0FBEEAC}"/>
                </a:ext>
              </a:extLst>
            </p:cNvPr>
            <p:cNvSpPr/>
            <p:nvPr/>
          </p:nvSpPr>
          <p:spPr>
            <a:xfrm>
              <a:off x="5336842" y="4063923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69E281C-5C47-4A1E-B77E-2E5A9EA59217}"/>
                </a:ext>
              </a:extLst>
            </p:cNvPr>
            <p:cNvSpPr/>
            <p:nvPr/>
          </p:nvSpPr>
          <p:spPr>
            <a:xfrm>
              <a:off x="4205034" y="4063923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9E62AD5-4FFE-4E28-8935-9BB851B3BE16}"/>
                </a:ext>
              </a:extLst>
            </p:cNvPr>
            <p:cNvSpPr/>
            <p:nvPr/>
          </p:nvSpPr>
          <p:spPr>
            <a:xfrm>
              <a:off x="4774720" y="3383452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F26CC2A-6ADF-484C-80D1-F2CBF1640676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flipV="1">
              <a:off x="4575990" y="3727706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49658DC-E530-49C2-8340-B26513DB05A8}"/>
                </a:ext>
              </a:extLst>
            </p:cNvPr>
            <p:cNvCxnSpPr>
              <a:stCxn id="16" idx="1"/>
              <a:endCxn id="18" idx="5"/>
            </p:cNvCxnSpPr>
            <p:nvPr/>
          </p:nvCxnSpPr>
          <p:spPr>
            <a:xfrm flipH="1" flipV="1">
              <a:off x="5145675" y="3727706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8AEAFD5F-6FF8-4F7E-8F4C-6DFAA05DAD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149"/>
          <a:stretch/>
        </p:blipFill>
        <p:spPr>
          <a:xfrm>
            <a:off x="161925" y="1891295"/>
            <a:ext cx="5925649" cy="4914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D2413BD-4D42-46B1-B9BF-3B79DE4E8BC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627"/>
          <a:stretch/>
        </p:blipFill>
        <p:spPr>
          <a:xfrm>
            <a:off x="6096003" y="1902142"/>
            <a:ext cx="5817248" cy="49037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Colliding confound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D612794-078F-4EC2-806A-E55239C46320}"/>
              </a:ext>
            </a:extLst>
          </p:cNvPr>
          <p:cNvGrpSpPr/>
          <p:nvPr/>
        </p:nvGrpSpPr>
        <p:grpSpPr>
          <a:xfrm>
            <a:off x="9854617" y="79397"/>
            <a:ext cx="2088545" cy="1445055"/>
            <a:chOff x="4205034" y="3383452"/>
            <a:chExt cx="1566409" cy="1083791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9DBC493-5918-43CE-B53D-1CDDD61CD1BB}"/>
                </a:ext>
              </a:extLst>
            </p:cNvPr>
            <p:cNvSpPr/>
            <p:nvPr/>
          </p:nvSpPr>
          <p:spPr>
            <a:xfrm>
              <a:off x="5336842" y="4063923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EFB2F66-7805-49AE-9E5B-BE49BB909469}"/>
                </a:ext>
              </a:extLst>
            </p:cNvPr>
            <p:cNvSpPr/>
            <p:nvPr/>
          </p:nvSpPr>
          <p:spPr>
            <a:xfrm>
              <a:off x="4205034" y="4063923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FFE51DA-F191-446B-9CC6-6653C45E5811}"/>
                </a:ext>
              </a:extLst>
            </p:cNvPr>
            <p:cNvSpPr/>
            <p:nvPr/>
          </p:nvSpPr>
          <p:spPr>
            <a:xfrm>
              <a:off x="4774720" y="3383452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72F8ACD-D21B-4901-BC46-A0B71E2A52AE}"/>
                </a:ext>
              </a:extLst>
            </p:cNvPr>
            <p:cNvCxnSpPr>
              <a:stCxn id="31" idx="7"/>
              <a:endCxn id="32" idx="3"/>
            </p:cNvCxnSpPr>
            <p:nvPr/>
          </p:nvCxnSpPr>
          <p:spPr>
            <a:xfrm flipV="1">
              <a:off x="4575990" y="3727706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6475C90-9E1C-4157-A186-00461B63DE51}"/>
                </a:ext>
              </a:extLst>
            </p:cNvPr>
            <p:cNvCxnSpPr>
              <a:stCxn id="30" idx="1"/>
              <a:endCxn id="32" idx="5"/>
            </p:cNvCxnSpPr>
            <p:nvPr/>
          </p:nvCxnSpPr>
          <p:spPr>
            <a:xfrm flipH="1" flipV="1">
              <a:off x="5145675" y="3727706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7D60934-5A01-48D2-B015-6B2E35FDE113}"/>
              </a:ext>
            </a:extLst>
          </p:cNvPr>
          <p:cNvGrpSpPr/>
          <p:nvPr/>
        </p:nvGrpSpPr>
        <p:grpSpPr>
          <a:xfrm>
            <a:off x="1339434" y="1902142"/>
            <a:ext cx="3651417" cy="2887473"/>
            <a:chOff x="2892525" y="2034727"/>
            <a:chExt cx="3456059" cy="276610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0C4E3A8-F793-49D3-993F-E71EBC884853}"/>
                </a:ext>
              </a:extLst>
            </p:cNvPr>
            <p:cNvGrpSpPr/>
            <p:nvPr/>
          </p:nvGrpSpPr>
          <p:grpSpPr>
            <a:xfrm>
              <a:off x="2892525" y="3787755"/>
              <a:ext cx="3456059" cy="1013079"/>
              <a:chOff x="2892525" y="3787755"/>
              <a:chExt cx="3456059" cy="1013079"/>
            </a:xfrm>
          </p:grpSpPr>
          <p:pic>
            <p:nvPicPr>
              <p:cNvPr id="36" name="Picture 35" descr="A close up of a lion's face&#10;&#10;Description automatically generated with medium confidence">
                <a:extLst>
                  <a:ext uri="{FF2B5EF4-FFF2-40B4-BE49-F238E27FC236}">
                    <a16:creationId xmlns:a16="http://schemas.microsoft.com/office/drawing/2014/main" id="{7EA8C1C2-69ED-4FF8-8AC5-8D0894A948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92525" y="3787755"/>
                <a:ext cx="1350771" cy="1013079"/>
              </a:xfrm>
              <a:prstGeom prst="rect">
                <a:avLst/>
              </a:prstGeom>
              <a:ln w="57150">
                <a:solidFill>
                  <a:srgbClr val="D86ECC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</p:pic>
          <p:pic>
            <p:nvPicPr>
              <p:cNvPr id="43" name="Picture 42" descr="A group of jellyfish&#10;&#10;Description automatically generated with low confidence">
                <a:extLst>
                  <a:ext uri="{FF2B5EF4-FFF2-40B4-BE49-F238E27FC236}">
                    <a16:creationId xmlns:a16="http://schemas.microsoft.com/office/drawing/2014/main" id="{290D4B00-FDC1-4CE7-BD82-8BE78433CC2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r="17333"/>
              <a:stretch/>
            </p:blipFill>
            <p:spPr>
              <a:xfrm>
                <a:off x="4998423" y="3787755"/>
                <a:ext cx="1350161" cy="1012620"/>
              </a:xfrm>
              <a:prstGeom prst="rect">
                <a:avLst/>
              </a:prstGeom>
              <a:ln w="57150">
                <a:solidFill>
                  <a:srgbClr val="FFC000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2620A47-0123-4777-9415-0C7F6AAEBCFD}"/>
                </a:ext>
              </a:extLst>
            </p:cNvPr>
            <p:cNvGrpSpPr/>
            <p:nvPr/>
          </p:nvGrpSpPr>
          <p:grpSpPr>
            <a:xfrm>
              <a:off x="3850829" y="2034727"/>
              <a:ext cx="1822675" cy="2259568"/>
              <a:chOff x="3850829" y="2034727"/>
              <a:chExt cx="1822675" cy="2259568"/>
            </a:xfrm>
          </p:grpSpPr>
          <p:pic>
            <p:nvPicPr>
              <p:cNvPr id="44" name="Picture 43" descr="A white and black rabbit in the grass&#10;&#10;Description automatically generated with low confidence">
                <a:extLst>
                  <a:ext uri="{FF2B5EF4-FFF2-40B4-BE49-F238E27FC236}">
                    <a16:creationId xmlns:a16="http://schemas.microsoft.com/office/drawing/2014/main" id="{9D725398-836D-46A1-83CF-C4FBA0212E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7778"/>
              <a:stretch/>
            </p:blipFill>
            <p:spPr>
              <a:xfrm>
                <a:off x="3850829" y="2034727"/>
                <a:ext cx="1350773" cy="1013079"/>
              </a:xfrm>
              <a:prstGeom prst="rect">
                <a:avLst/>
              </a:prstGeom>
              <a:ln w="57150">
                <a:solidFill>
                  <a:srgbClr val="00B050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</p:pic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BB8413C5-202B-4C6C-A9CD-D9DD2100FC0D}"/>
                  </a:ext>
                </a:extLst>
              </p:cNvPr>
              <p:cNvCxnSpPr>
                <a:cxnSpLocks/>
                <a:stCxn id="36" idx="3"/>
                <a:endCxn id="43" idx="1"/>
              </p:cNvCxnSpPr>
              <p:nvPr/>
            </p:nvCxnSpPr>
            <p:spPr>
              <a:xfrm flipV="1">
                <a:off x="4243296" y="4294065"/>
                <a:ext cx="755127" cy="23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03116701-8184-43D7-B167-368F5F8AAA5E}"/>
                  </a:ext>
                </a:extLst>
              </p:cNvPr>
              <p:cNvCxnSpPr>
                <a:cxnSpLocks/>
                <a:stCxn id="44" idx="2"/>
                <a:endCxn id="43" idx="0"/>
              </p:cNvCxnSpPr>
              <p:nvPr/>
            </p:nvCxnSpPr>
            <p:spPr>
              <a:xfrm>
                <a:off x="4526216" y="3047806"/>
                <a:ext cx="1147288" cy="739949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C15E2EF-C557-4A2F-9F0B-883B89E0156C}"/>
              </a:ext>
            </a:extLst>
          </p:cNvPr>
          <p:cNvGrpSpPr/>
          <p:nvPr/>
        </p:nvGrpSpPr>
        <p:grpSpPr>
          <a:xfrm>
            <a:off x="7429480" y="3138482"/>
            <a:ext cx="3184717" cy="1057529"/>
            <a:chOff x="3064833" y="3787755"/>
            <a:chExt cx="3014329" cy="1013079"/>
          </a:xfrm>
        </p:grpSpPr>
        <p:pic>
          <p:nvPicPr>
            <p:cNvPr id="55" name="Picture 54" descr="A close up of a lion's face&#10;&#10;Description automatically generated with medium confidence">
              <a:extLst>
                <a:ext uri="{FF2B5EF4-FFF2-40B4-BE49-F238E27FC236}">
                  <a16:creationId xmlns:a16="http://schemas.microsoft.com/office/drawing/2014/main" id="{1FAE3F05-3122-4BC2-A754-B4333D79DB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64833" y="3787755"/>
              <a:ext cx="1350772" cy="1013079"/>
            </a:xfrm>
            <a:prstGeom prst="rect">
              <a:avLst/>
            </a:prstGeom>
            <a:ln w="57150">
              <a:solidFill>
                <a:srgbClr val="D86ECC"/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  <p:pic>
          <p:nvPicPr>
            <p:cNvPr id="56" name="Picture 55" descr="A group of jellyfish&#10;&#10;Description automatically generated with low confidence">
              <a:extLst>
                <a:ext uri="{FF2B5EF4-FFF2-40B4-BE49-F238E27FC236}">
                  <a16:creationId xmlns:a16="http://schemas.microsoft.com/office/drawing/2014/main" id="{8EECB303-9835-4DF3-8558-E9B9546F902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r="17333"/>
            <a:stretch/>
          </p:blipFill>
          <p:spPr>
            <a:xfrm>
              <a:off x="4729002" y="3787755"/>
              <a:ext cx="1350160" cy="1012620"/>
            </a:xfrm>
            <a:prstGeom prst="rect">
              <a:avLst/>
            </a:prstGeom>
            <a:ln w="57150">
              <a:solidFill>
                <a:srgbClr val="FFC000"/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</p:pic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4A20B48-8FDE-4590-BCB6-0B699C999B65}"/>
              </a:ext>
            </a:extLst>
          </p:cNvPr>
          <p:cNvGrpSpPr/>
          <p:nvPr/>
        </p:nvGrpSpPr>
        <p:grpSpPr>
          <a:xfrm>
            <a:off x="1637944" y="5144747"/>
            <a:ext cx="8886197" cy="1326776"/>
            <a:chOff x="1239675" y="2596842"/>
            <a:chExt cx="6664648" cy="995082"/>
          </a:xfrm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445665D-2237-4236-BDFF-D7357EA6425E}"/>
                </a:ext>
              </a:extLst>
            </p:cNvPr>
            <p:cNvSpPr/>
            <p:nvPr/>
          </p:nvSpPr>
          <p:spPr>
            <a:xfrm>
              <a:off x="1239675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Confounded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9AFB7340-2F70-45A3-A19F-FDDFCE5A3C82}"/>
                </a:ext>
              </a:extLst>
            </p:cNvPr>
            <p:cNvSpPr/>
            <p:nvPr/>
          </p:nvSpPr>
          <p:spPr>
            <a:xfrm>
              <a:off x="5625047" y="2596842"/>
              <a:ext cx="2279276" cy="995082"/>
            </a:xfrm>
            <a:prstGeom prst="roundRect">
              <a:avLst/>
            </a:prstGeom>
            <a:solidFill>
              <a:schemeClr val="tx2">
                <a:lumMod val="50000"/>
              </a:schemeClr>
            </a:solidFill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Causal (none)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3CC54E7-39D7-4D38-B399-B3559FEBC6EA}"/>
              </a:ext>
            </a:extLst>
          </p:cNvPr>
          <p:cNvGrpSpPr/>
          <p:nvPr/>
        </p:nvGrpSpPr>
        <p:grpSpPr>
          <a:xfrm>
            <a:off x="10290565" y="585051"/>
            <a:ext cx="1249047" cy="670520"/>
            <a:chOff x="7717923" y="438788"/>
            <a:chExt cx="936785" cy="502890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438A5E7-344B-4DC8-847F-D0D9C0C0DD6F}"/>
                </a:ext>
              </a:extLst>
            </p:cNvPr>
            <p:cNvGrpSpPr/>
            <p:nvPr/>
          </p:nvGrpSpPr>
          <p:grpSpPr>
            <a:xfrm>
              <a:off x="7717923" y="438788"/>
              <a:ext cx="936785" cy="353211"/>
              <a:chOff x="7717923" y="438788"/>
              <a:chExt cx="936785" cy="353211"/>
            </a:xfrm>
          </p:grpSpPr>
          <p:pic>
            <p:nvPicPr>
              <p:cNvPr id="37" name="Graphic 36" descr="Close with solid fill">
                <a:extLst>
                  <a:ext uri="{FF2B5EF4-FFF2-40B4-BE49-F238E27FC236}">
                    <a16:creationId xmlns:a16="http://schemas.microsoft.com/office/drawing/2014/main" id="{C92FF37C-F109-4A64-B6D8-F8C24F9229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717923" y="458624"/>
                <a:ext cx="333375" cy="333375"/>
              </a:xfrm>
              <a:prstGeom prst="rect">
                <a:avLst/>
              </a:prstGeom>
            </p:spPr>
          </p:pic>
          <p:pic>
            <p:nvPicPr>
              <p:cNvPr id="38" name="Graphic 37" descr="Close with solid fill">
                <a:extLst>
                  <a:ext uri="{FF2B5EF4-FFF2-40B4-BE49-F238E27FC236}">
                    <a16:creationId xmlns:a16="http://schemas.microsoft.com/office/drawing/2014/main" id="{318EC5F3-4742-4D52-AE61-08F08CBCE3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321333" y="438788"/>
                <a:ext cx="333375" cy="333375"/>
              </a:xfrm>
              <a:prstGeom prst="rect">
                <a:avLst/>
              </a:prstGeom>
            </p:spPr>
          </p:pic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4294DD8-28C1-4455-9243-4873F2D883D6}"/>
                </a:ext>
              </a:extLst>
            </p:cNvPr>
            <p:cNvCxnSpPr>
              <a:stCxn id="31" idx="6"/>
              <a:endCxn id="30" idx="2"/>
            </p:cNvCxnSpPr>
            <p:nvPr/>
          </p:nvCxnSpPr>
          <p:spPr>
            <a:xfrm>
              <a:off x="7825564" y="941678"/>
              <a:ext cx="697206" cy="0"/>
            </a:xfrm>
            <a:prstGeom prst="straightConnector1">
              <a:avLst/>
            </a:prstGeom>
            <a:ln w="38100">
              <a:solidFill>
                <a:schemeClr val="accent3">
                  <a:lumMod val="60000"/>
                  <a:lumOff val="40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7276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962E-623F-4A33-9271-D822D9C9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763600"/>
          </a:xfrm>
        </p:spPr>
        <p:txBody>
          <a:bodyPr/>
          <a:lstStyle/>
          <a:p>
            <a:pPr algn="ctr"/>
            <a:r>
              <a:rPr lang="en-GB" dirty="0"/>
              <a:t>Colliding confound 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/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Restaurant</m:t>
                      </m:r>
                      <m: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Location</m:t>
                      </m:r>
                      <m:r>
                        <a:rPr lang="en-GB" sz="2667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GB" sz="2667" b="0" i="0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Busy</m:t>
                      </m:r>
                      <m:r>
                        <a:rPr lang="en-GB" sz="2667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Quality</m:t>
                      </m:r>
                      <m: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67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Food</m:t>
                      </m:r>
                    </m:oMath>
                  </m:oMathPara>
                </a14:m>
                <a:endParaRPr lang="en-GB" sz="2667" dirty="0">
                  <a:solidFill>
                    <a:srgbClr val="434343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D7AD0-38BC-4B0C-AA10-58399B680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67852"/>
                <a:ext cx="12192000" cy="502766"/>
              </a:xfrm>
              <a:prstGeom prst="rect">
                <a:avLst/>
              </a:prstGeom>
              <a:blipFill>
                <a:blip r:embed="rId3"/>
                <a:stretch>
                  <a:fillRect t="-12048" b="-30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C7AF16-67D7-41CE-8E91-4642F0C59711}"/>
              </a:ext>
            </a:extLst>
          </p:cNvPr>
          <p:cNvSpPr txBox="1"/>
          <p:nvPr/>
        </p:nvSpPr>
        <p:spPr>
          <a:xfrm>
            <a:off x="1" y="2558376"/>
            <a:ext cx="121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If a restaurant is in a good location, does that make the food good?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42C35C0-EEF2-4226-A8B2-B9C53F3CD77B}"/>
                  </a:ext>
                </a:extLst>
              </p:cNvPr>
              <p:cNvSpPr txBox="1"/>
              <p:nvPr/>
            </p:nvSpPr>
            <p:spPr>
              <a:xfrm>
                <a:off x="1" y="6031149"/>
                <a:ext cx="1219200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Knowing “Z”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b="0" i="0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Busy</m:t>
                    </m:r>
                  </m:oMath>
                </a14:m>
                <a:r>
                  <a:rPr lang="en-GB" sz="2400" dirty="0"/>
                  <a:t>) makes you confounded.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42C35C0-EEF2-4226-A8B2-B9C53F3CD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6031149"/>
                <a:ext cx="12192001" cy="461665"/>
              </a:xfrm>
              <a:prstGeom prst="rect">
                <a:avLst/>
              </a:prstGeom>
              <a:blipFill>
                <a:blip r:embed="rId4"/>
                <a:stretch>
                  <a:fillRect t="-11842" b="-276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5E202F5B-08DB-4B90-AA18-4DB3F515682C}"/>
              </a:ext>
            </a:extLst>
          </p:cNvPr>
          <p:cNvSpPr/>
          <p:nvPr/>
        </p:nvSpPr>
        <p:spPr>
          <a:xfrm>
            <a:off x="5625433" y="1843242"/>
            <a:ext cx="1626392" cy="5292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  <a:latin typeface="+mj-lt"/>
              </a:rPr>
              <a:t>causes (?)</a:t>
            </a:r>
            <a:endParaRPr lang="en-GB" sz="3733" dirty="0">
              <a:solidFill>
                <a:schemeClr val="tx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1CAF286-8A9C-481C-8CC1-1FBAA545137D}"/>
              </a:ext>
            </a:extLst>
          </p:cNvPr>
          <p:cNvGrpSpPr/>
          <p:nvPr/>
        </p:nvGrpSpPr>
        <p:grpSpPr>
          <a:xfrm>
            <a:off x="85246" y="76149"/>
            <a:ext cx="2088545" cy="1445055"/>
            <a:chOff x="4205034" y="3383452"/>
            <a:chExt cx="1566409" cy="1083791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EB5EC586-9519-45BA-8E7E-6AAEE3668950}"/>
                </a:ext>
              </a:extLst>
            </p:cNvPr>
            <p:cNvSpPr/>
            <p:nvPr/>
          </p:nvSpPr>
          <p:spPr>
            <a:xfrm>
              <a:off x="5336842" y="4063923"/>
              <a:ext cx="434601" cy="403320"/>
            </a:xfrm>
            <a:prstGeom prst="ellipse">
              <a:avLst/>
            </a:prstGeom>
            <a:solidFill>
              <a:srgbClr val="434343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Y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086B1E4-5001-4380-9429-AA4BE120D5FB}"/>
                </a:ext>
              </a:extLst>
            </p:cNvPr>
            <p:cNvSpPr/>
            <p:nvPr/>
          </p:nvSpPr>
          <p:spPr>
            <a:xfrm>
              <a:off x="4205034" y="4063923"/>
              <a:ext cx="434602" cy="403319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X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FFCABDA-2C5B-4665-BF06-E58E1CC7E2D3}"/>
                </a:ext>
              </a:extLst>
            </p:cNvPr>
            <p:cNvSpPr/>
            <p:nvPr/>
          </p:nvSpPr>
          <p:spPr>
            <a:xfrm>
              <a:off x="4774720" y="3383452"/>
              <a:ext cx="434601" cy="4033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Z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F729844-E26D-4506-AB3A-08152DF739D9}"/>
                </a:ext>
              </a:extLst>
            </p:cNvPr>
            <p:cNvCxnSpPr>
              <a:stCxn id="31" idx="7"/>
              <a:endCxn id="35" idx="3"/>
            </p:cNvCxnSpPr>
            <p:nvPr/>
          </p:nvCxnSpPr>
          <p:spPr>
            <a:xfrm flipV="1">
              <a:off x="4575990" y="3727706"/>
              <a:ext cx="262376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C878AA9E-AF96-4DEC-98BF-D1AFDBEC575A}"/>
                </a:ext>
              </a:extLst>
            </p:cNvPr>
            <p:cNvCxnSpPr>
              <a:stCxn id="29" idx="1"/>
              <a:endCxn id="35" idx="5"/>
            </p:cNvCxnSpPr>
            <p:nvPr/>
          </p:nvCxnSpPr>
          <p:spPr>
            <a:xfrm flipH="1" flipV="1">
              <a:off x="5145675" y="3727706"/>
              <a:ext cx="254813" cy="3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0FBAD7E-8989-4A41-A38E-3E45D0B41155}"/>
              </a:ext>
            </a:extLst>
          </p:cNvPr>
          <p:cNvGrpSpPr/>
          <p:nvPr/>
        </p:nvGrpSpPr>
        <p:grpSpPr>
          <a:xfrm>
            <a:off x="2544087" y="3340198"/>
            <a:ext cx="7663966" cy="2401569"/>
            <a:chOff x="2297026" y="2485824"/>
            <a:chExt cx="5747974" cy="180117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930BF61-4106-4DC3-936C-8C9B10E21FEE}"/>
                </a:ext>
              </a:extLst>
            </p:cNvPr>
            <p:cNvGrpSpPr/>
            <p:nvPr/>
          </p:nvGrpSpPr>
          <p:grpSpPr>
            <a:xfrm>
              <a:off x="2297026" y="2485824"/>
              <a:ext cx="5747974" cy="1764686"/>
              <a:chOff x="2297026" y="2485824"/>
              <a:chExt cx="5747974" cy="176468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DCB17A4-88DA-471F-B45F-D9C88D9E82F6}"/>
                  </a:ext>
                </a:extLst>
              </p:cNvPr>
              <p:cNvGrpSpPr/>
              <p:nvPr/>
            </p:nvGrpSpPr>
            <p:grpSpPr>
              <a:xfrm>
                <a:off x="4234580" y="3045001"/>
                <a:ext cx="3810420" cy="638573"/>
                <a:chOff x="4109095" y="3003616"/>
                <a:chExt cx="3810420" cy="63857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C0986C1E-7E94-4F29-86BC-41CC2B823F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09095" y="3018941"/>
                      <a:ext cx="607378" cy="62324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sz="4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m:oMathPara>
                      </a14:m>
                      <a:endParaRPr lang="en-GB" sz="48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C0986C1E-7E94-4F29-86BC-41CC2B823F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09095" y="3018941"/>
                      <a:ext cx="607378" cy="62324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1BC3DFFE-A5D2-4B72-8FA0-D470DF2D3EB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462419" y="3003616"/>
                      <a:ext cx="457096" cy="62324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sz="4800" i="1">
                                <a:latin typeface="Cambria Math" panose="02040503050406030204" pitchFamily="18" charset="0"/>
                              </a:rPr>
                              <m:t>?</m:t>
                            </m:r>
                          </m:oMath>
                        </m:oMathPara>
                      </a14:m>
                      <a:endParaRPr lang="en-GB" sz="4800" dirty="0"/>
                    </a:p>
                  </p:txBody>
                </p:sp>
              </mc:Choice>
              <mc:Fallback xmlns="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1BC3DFFE-A5D2-4B72-8FA0-D470DF2D3EB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462419" y="3003616"/>
                      <a:ext cx="457096" cy="62324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pic>
            <p:nvPicPr>
              <p:cNvPr id="6" name="Picture 5" descr="A picture containing text, outdoor&#10;&#10;Description automatically generated">
                <a:extLst>
                  <a:ext uri="{FF2B5EF4-FFF2-40B4-BE49-F238E27FC236}">
                    <a16:creationId xmlns:a16="http://schemas.microsoft.com/office/drawing/2014/main" id="{786180A3-E5BC-404B-BEFF-85A6ADF2A3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97026" y="2485824"/>
                <a:ext cx="1764686" cy="1764686"/>
              </a:xfrm>
              <a:prstGeom prst="rect">
                <a:avLst/>
              </a:prstGeom>
            </p:spPr>
          </p:pic>
        </p:grpSp>
        <p:pic>
          <p:nvPicPr>
            <p:cNvPr id="11" name="Picture 10" descr="A person holding a plate of food&#10;&#10;Description automatically generated with low confidence">
              <a:extLst>
                <a:ext uri="{FF2B5EF4-FFF2-40B4-BE49-F238E27FC236}">
                  <a16:creationId xmlns:a16="http://schemas.microsoft.com/office/drawing/2014/main" id="{8F1A01A9-7AD4-4CD7-8763-2C4B378A2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064999" y="2524473"/>
              <a:ext cx="2350037" cy="176252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06079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8" grpId="0"/>
      <p:bldP spid="33" grpId="0"/>
      <p:bldP spid="34" grpId="0" animBg="1"/>
      <p:bldP spid="34" grpId="1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6553-A0FC-CD24-55EF-582858573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do we deal with confounding?</a:t>
            </a:r>
          </a:p>
        </p:txBody>
      </p:sp>
    </p:spTree>
    <p:extLst>
      <p:ext uri="{BB962C8B-B14F-4D97-AF65-F5344CB8AC3E}">
        <p14:creationId xmlns:p14="http://schemas.microsoft.com/office/powerpoint/2010/main" val="2483855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E27F0-9042-E0BB-45C0-D7CF9A45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Getting rid of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1148E-CF2A-8E3E-F5E3-953753AB2E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Everyone knows Randomised Control Trials or Experiments are good</a:t>
            </a:r>
          </a:p>
          <a:p>
            <a:r>
              <a:rPr lang="en-GB" dirty="0"/>
              <a:t>But why?</a:t>
            </a:r>
          </a:p>
          <a:p>
            <a:r>
              <a:rPr lang="en-GB" dirty="0"/>
              <a:t>Why does randomisation do anything?</a:t>
            </a:r>
          </a:p>
          <a:p>
            <a:r>
              <a:rPr lang="en-GB" dirty="0"/>
              <a:t>Why use experimental designs?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1F021E4-C9F9-B95A-7E95-7268CC75B9D8}"/>
              </a:ext>
            </a:extLst>
          </p:cNvPr>
          <p:cNvGrpSpPr/>
          <p:nvPr/>
        </p:nvGrpSpPr>
        <p:grpSpPr>
          <a:xfrm>
            <a:off x="8041059" y="2165150"/>
            <a:ext cx="3074645" cy="2878671"/>
            <a:chOff x="6612057" y="2033913"/>
            <a:chExt cx="2305984" cy="215900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25469F8-DA63-227C-A819-463DB6ACB4E3}"/>
                </a:ext>
              </a:extLst>
            </p:cNvPr>
            <p:cNvGrpSpPr/>
            <p:nvPr/>
          </p:nvGrpSpPr>
          <p:grpSpPr>
            <a:xfrm>
              <a:off x="6612057" y="2033913"/>
              <a:ext cx="2305984" cy="2159003"/>
              <a:chOff x="4420186" y="2659201"/>
              <a:chExt cx="2305984" cy="215900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1113C0D0-7343-1711-5030-3AA4CBEA81B0}"/>
                  </a:ext>
                </a:extLst>
              </p:cNvPr>
              <p:cNvGrpSpPr/>
              <p:nvPr/>
            </p:nvGrpSpPr>
            <p:grpSpPr>
              <a:xfrm>
                <a:off x="4637487" y="2659201"/>
                <a:ext cx="780262" cy="897515"/>
                <a:chOff x="4637487" y="2659201"/>
                <a:chExt cx="780262" cy="897515"/>
              </a:xfrm>
            </p:grpSpPr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7919634-72D0-BDAE-F164-B6DF6841FCC4}"/>
                    </a:ext>
                  </a:extLst>
                </p:cNvPr>
                <p:cNvSpPr/>
                <p:nvPr/>
              </p:nvSpPr>
              <p:spPr>
                <a:xfrm>
                  <a:off x="4983148" y="2659201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D</a:t>
                  </a:r>
                </a:p>
              </p:txBody>
            </p: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8AAF7305-1731-5194-F791-A86E303D85B5}"/>
                    </a:ext>
                  </a:extLst>
                </p:cNvPr>
                <p:cNvCxnSpPr>
                  <a:cxnSpLocks/>
                  <a:stCxn id="20" idx="3"/>
                  <a:endCxn id="16" idx="0"/>
                </p:cNvCxnSpPr>
                <p:nvPr/>
              </p:nvCxnSpPr>
              <p:spPr>
                <a:xfrm flipH="1">
                  <a:off x="4637487" y="3003455"/>
                  <a:ext cx="409307" cy="55326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062C910-7E95-7CAD-CD5E-7227E9766B3C}"/>
                  </a:ext>
                </a:extLst>
              </p:cNvPr>
              <p:cNvGrpSpPr/>
              <p:nvPr/>
            </p:nvGrpSpPr>
            <p:grpSpPr>
              <a:xfrm>
                <a:off x="4983147" y="3900971"/>
                <a:ext cx="773687" cy="917233"/>
                <a:chOff x="4983147" y="3900971"/>
                <a:chExt cx="773687" cy="917233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63A14876-9E30-F09A-C730-06DDC81FE56D}"/>
                    </a:ext>
                  </a:extLst>
                </p:cNvPr>
                <p:cNvCxnSpPr>
                  <a:cxnSpLocks/>
                  <a:stCxn id="15" idx="3"/>
                  <a:endCxn id="19" idx="7"/>
                </p:cNvCxnSpPr>
                <p:nvPr/>
              </p:nvCxnSpPr>
              <p:spPr>
                <a:xfrm flipH="1">
                  <a:off x="5354102" y="3900971"/>
                  <a:ext cx="402732" cy="572979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5A9A9671-0ABE-794A-6A96-4C436AE7E560}"/>
                    </a:ext>
                  </a:extLst>
                </p:cNvPr>
                <p:cNvSpPr/>
                <p:nvPr/>
              </p:nvSpPr>
              <p:spPr>
                <a:xfrm>
                  <a:off x="4983147" y="44148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G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D713E0E-9A87-B9F1-C23A-B308C02E9E20}"/>
                  </a:ext>
                </a:extLst>
              </p:cNvPr>
              <p:cNvGrpSpPr/>
              <p:nvPr/>
            </p:nvGrpSpPr>
            <p:grpSpPr>
              <a:xfrm>
                <a:off x="4420186" y="3556716"/>
                <a:ext cx="1707603" cy="403320"/>
                <a:chOff x="4420186" y="3556716"/>
                <a:chExt cx="1707603" cy="403320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3DC33CF8-11FC-5D6A-DB76-E831BBEA5159}"/>
                    </a:ext>
                  </a:extLst>
                </p:cNvPr>
                <p:cNvSpPr/>
                <p:nvPr/>
              </p:nvSpPr>
              <p:spPr>
                <a:xfrm>
                  <a:off x="5693188" y="3556716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2C0AC06-B479-D2D5-926E-074C4A994B43}"/>
                    </a:ext>
                  </a:extLst>
                </p:cNvPr>
                <p:cNvSpPr/>
                <p:nvPr/>
              </p:nvSpPr>
              <p:spPr>
                <a:xfrm>
                  <a:off x="4420186" y="3556716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7894E6CE-D016-EB2C-7780-41806610CF8B}"/>
                    </a:ext>
                  </a:extLst>
                </p:cNvPr>
                <p:cNvCxnSpPr>
                  <a:cxnSpLocks/>
                  <a:stCxn id="16" idx="6"/>
                  <a:endCxn id="15" idx="2"/>
                </p:cNvCxnSpPr>
                <p:nvPr/>
              </p:nvCxnSpPr>
              <p:spPr>
                <a:xfrm>
                  <a:off x="4854788" y="3758376"/>
                  <a:ext cx="8384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F9D72972-3CB2-BF0E-1126-AE1F6F277D69}"/>
                  </a:ext>
                </a:extLst>
              </p:cNvPr>
              <p:cNvGrpSpPr/>
              <p:nvPr/>
            </p:nvGrpSpPr>
            <p:grpSpPr>
              <a:xfrm>
                <a:off x="5417749" y="2669285"/>
                <a:ext cx="1308421" cy="946496"/>
                <a:chOff x="5417749" y="2669285"/>
                <a:chExt cx="1308421" cy="946496"/>
              </a:xfrm>
            </p:grpSpPr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B778A0C-BEDA-87EF-D4A6-7F93EB8AC93A}"/>
                    </a:ext>
                  </a:extLst>
                </p:cNvPr>
                <p:cNvSpPr/>
                <p:nvPr/>
              </p:nvSpPr>
              <p:spPr>
                <a:xfrm>
                  <a:off x="6291569" y="26692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I</a:t>
                  </a:r>
                </a:p>
              </p:txBody>
            </p: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1D9BA1EB-EC31-B119-8AD4-57EE170CABAC}"/>
                    </a:ext>
                  </a:extLst>
                </p:cNvPr>
                <p:cNvCxnSpPr>
                  <a:cxnSpLocks/>
                  <a:stCxn id="12" idx="4"/>
                  <a:endCxn id="15" idx="7"/>
                </p:cNvCxnSpPr>
                <p:nvPr/>
              </p:nvCxnSpPr>
              <p:spPr>
                <a:xfrm flipH="1">
                  <a:off x="6064143" y="3072604"/>
                  <a:ext cx="444727" cy="543177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24F6351-0828-9B41-04BE-FBF03785B4C6}"/>
                    </a:ext>
                  </a:extLst>
                </p:cNvPr>
                <p:cNvCxnSpPr>
                  <a:stCxn id="20" idx="6"/>
                  <a:endCxn id="12" idx="2"/>
                </p:cNvCxnSpPr>
                <p:nvPr/>
              </p:nvCxnSpPr>
              <p:spPr>
                <a:xfrm>
                  <a:off x="5417749" y="2860861"/>
                  <a:ext cx="873820" cy="1008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79D05D-1EF5-50AF-D711-A8DC080A4C13}"/>
                </a:ext>
              </a:extLst>
            </p:cNvPr>
            <p:cNvCxnSpPr>
              <a:cxnSpLocks/>
              <a:stCxn id="16" idx="4"/>
              <a:endCxn id="19" idx="1"/>
            </p:cNvCxnSpPr>
            <p:nvPr/>
          </p:nvCxnSpPr>
          <p:spPr>
            <a:xfrm>
              <a:off x="6829358" y="3334747"/>
              <a:ext cx="409306" cy="513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9390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6AA1C-767F-5DE3-5E3F-10CFAB20B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Randomisation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7BC231-47D9-400F-ED73-5021C3B1C1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When we randomise, we break causal relationships</a:t>
                </a:r>
              </a:p>
              <a:p>
                <a:r>
                  <a:rPr lang="en-GB" dirty="0"/>
                  <a:t>If done well, it breaks the </a:t>
                </a:r>
                <a:r>
                  <a:rPr lang="en-GB" i="1" dirty="0"/>
                  <a:t>confounded</a:t>
                </a:r>
                <a:r>
                  <a:rPr lang="en-GB" dirty="0"/>
                  <a:t> causal relationships</a:t>
                </a:r>
              </a:p>
              <a:p>
                <a:r>
                  <a:rPr lang="en-GB" dirty="0"/>
                  <a:t>Objective is not to have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dirty="0"/>
                  <a:t> be affected by only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It’s to have nothing influence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E.g. patients who received treatment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dirty="0"/>
                  <a:t>) is completely random</a:t>
                </a:r>
              </a:p>
              <a:p>
                <a:r>
                  <a:rPr lang="en-GB" dirty="0"/>
                  <a:t>By isolating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dirty="0"/>
                  <a:t>, we’re left with just the pure causal relationship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7BC231-47D9-400F-ED73-5021C3B1C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264C23D7-0947-39E9-3797-E25FF7438F9F}"/>
              </a:ext>
            </a:extLst>
          </p:cNvPr>
          <p:cNvGrpSpPr/>
          <p:nvPr/>
        </p:nvGrpSpPr>
        <p:grpSpPr>
          <a:xfrm>
            <a:off x="8041059" y="2165150"/>
            <a:ext cx="3074645" cy="2878671"/>
            <a:chOff x="4420186" y="2659201"/>
            <a:chExt cx="2305984" cy="215900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FD7A74C-F12A-0FCF-B7A4-791EA3A82D30}"/>
                </a:ext>
              </a:extLst>
            </p:cNvPr>
            <p:cNvSpPr/>
            <p:nvPr/>
          </p:nvSpPr>
          <p:spPr>
            <a:xfrm>
              <a:off x="4983148" y="2659201"/>
              <a:ext cx="434601" cy="40331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/>
                <a:t>D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EA274DA-B3BA-CCC0-E907-5F76A3AA68BA}"/>
                </a:ext>
              </a:extLst>
            </p:cNvPr>
            <p:cNvGrpSpPr/>
            <p:nvPr/>
          </p:nvGrpSpPr>
          <p:grpSpPr>
            <a:xfrm>
              <a:off x="4983147" y="3900971"/>
              <a:ext cx="773687" cy="917233"/>
              <a:chOff x="4983147" y="3900971"/>
              <a:chExt cx="773687" cy="917233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6F44438-F7B2-F656-3BBC-7F3E6C289D4D}"/>
                  </a:ext>
                </a:extLst>
              </p:cNvPr>
              <p:cNvCxnSpPr>
                <a:cxnSpLocks/>
                <a:stCxn id="15" idx="3"/>
                <a:endCxn id="19" idx="7"/>
              </p:cNvCxnSpPr>
              <p:nvPr/>
            </p:nvCxnSpPr>
            <p:spPr>
              <a:xfrm flipH="1">
                <a:off x="5354102" y="3900971"/>
                <a:ext cx="402732" cy="57297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43F9F23-02CF-CF0F-0C93-42AB8608DEFF}"/>
                  </a:ext>
                </a:extLst>
              </p:cNvPr>
              <p:cNvSpPr/>
              <p:nvPr/>
            </p:nvSpPr>
            <p:spPr>
              <a:xfrm>
                <a:off x="4983147" y="4414885"/>
                <a:ext cx="434601" cy="403319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G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798E0B0-83CB-8C13-CEFA-E66C0721F60C}"/>
                </a:ext>
              </a:extLst>
            </p:cNvPr>
            <p:cNvGrpSpPr/>
            <p:nvPr/>
          </p:nvGrpSpPr>
          <p:grpSpPr>
            <a:xfrm>
              <a:off x="4420186" y="3556716"/>
              <a:ext cx="1707603" cy="403320"/>
              <a:chOff x="4420186" y="3556716"/>
              <a:chExt cx="1707603" cy="40332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49D0D605-C3CF-BCBC-0388-866F40847AC8}"/>
                  </a:ext>
                </a:extLst>
              </p:cNvPr>
              <p:cNvSpPr/>
              <p:nvPr/>
            </p:nvSpPr>
            <p:spPr>
              <a:xfrm>
                <a:off x="5693188" y="3556716"/>
                <a:ext cx="434601" cy="403320"/>
              </a:xfrm>
              <a:prstGeom prst="ellipse">
                <a:avLst/>
              </a:prstGeom>
              <a:solidFill>
                <a:srgbClr val="434343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Y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09A8B1B-B577-68A1-62D0-6EB21FA929EE}"/>
                  </a:ext>
                </a:extLst>
              </p:cNvPr>
              <p:cNvSpPr/>
              <p:nvPr/>
            </p:nvSpPr>
            <p:spPr>
              <a:xfrm>
                <a:off x="4420186" y="3556716"/>
                <a:ext cx="434602" cy="403319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X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48A71E87-AC05-9871-E271-1F6283937C08}"/>
                  </a:ext>
                </a:extLst>
              </p:cNvPr>
              <p:cNvCxnSpPr>
                <a:cxnSpLocks/>
                <a:stCxn id="16" idx="6"/>
                <a:endCxn id="15" idx="2"/>
              </p:cNvCxnSpPr>
              <p:nvPr/>
            </p:nvCxnSpPr>
            <p:spPr>
              <a:xfrm>
                <a:off x="4854788" y="3758376"/>
                <a:ext cx="838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556C09B-D85F-BE79-24F1-4314B808F016}"/>
                </a:ext>
              </a:extLst>
            </p:cNvPr>
            <p:cNvGrpSpPr/>
            <p:nvPr/>
          </p:nvGrpSpPr>
          <p:grpSpPr>
            <a:xfrm>
              <a:off x="5417749" y="2669285"/>
              <a:ext cx="1308421" cy="403319"/>
              <a:chOff x="5417749" y="2669285"/>
              <a:chExt cx="1308421" cy="403319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453F0F3-6CFA-6964-DE43-42877567DEC2}"/>
                  </a:ext>
                </a:extLst>
              </p:cNvPr>
              <p:cNvSpPr/>
              <p:nvPr/>
            </p:nvSpPr>
            <p:spPr>
              <a:xfrm>
                <a:off x="6291569" y="2669285"/>
                <a:ext cx="434601" cy="403319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2400" dirty="0"/>
                  <a:t>I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8D3D991-7224-CA5E-8548-A413D69FC6CC}"/>
                  </a:ext>
                </a:extLst>
              </p:cNvPr>
              <p:cNvCxnSpPr>
                <a:stCxn id="20" idx="6"/>
                <a:endCxn id="12" idx="2"/>
              </p:cNvCxnSpPr>
              <p:nvPr/>
            </p:nvCxnSpPr>
            <p:spPr>
              <a:xfrm>
                <a:off x="5417749" y="2860861"/>
                <a:ext cx="873820" cy="1008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50E919-32E1-86B9-00EC-09C91B799351}"/>
              </a:ext>
            </a:extLst>
          </p:cNvPr>
          <p:cNvCxnSpPr>
            <a:cxnSpLocks/>
            <a:stCxn id="20" idx="3"/>
            <a:endCxn id="16" idx="0"/>
          </p:cNvCxnSpPr>
          <p:nvPr/>
        </p:nvCxnSpPr>
        <p:spPr>
          <a:xfrm flipH="1">
            <a:off x="8330794" y="2624156"/>
            <a:ext cx="545742" cy="7376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570773D-B49D-8112-FC1D-6BACAEE4D3DA}"/>
              </a:ext>
            </a:extLst>
          </p:cNvPr>
          <p:cNvCxnSpPr>
            <a:cxnSpLocks/>
            <a:stCxn id="16" idx="4"/>
            <a:endCxn id="19" idx="1"/>
          </p:cNvCxnSpPr>
          <p:nvPr/>
        </p:nvCxnSpPr>
        <p:spPr>
          <a:xfrm>
            <a:off x="8330794" y="3899596"/>
            <a:ext cx="545741" cy="6852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8D3990-633E-3B34-C804-FE05F2BF1F58}"/>
              </a:ext>
            </a:extLst>
          </p:cNvPr>
          <p:cNvCxnSpPr>
            <a:cxnSpLocks/>
            <a:stCxn id="12" idx="4"/>
            <a:endCxn id="15" idx="7"/>
          </p:cNvCxnSpPr>
          <p:nvPr/>
        </p:nvCxnSpPr>
        <p:spPr>
          <a:xfrm flipH="1">
            <a:off x="10233002" y="2716354"/>
            <a:ext cx="592968" cy="7242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012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E71C-8444-02AC-6277-EF18E6341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about observation data?</a:t>
            </a:r>
          </a:p>
        </p:txBody>
      </p:sp>
    </p:spTree>
    <p:extLst>
      <p:ext uri="{BB962C8B-B14F-4D97-AF65-F5344CB8AC3E}">
        <p14:creationId xmlns:p14="http://schemas.microsoft.com/office/powerpoint/2010/main" val="2055325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DF436-7BC4-AEFC-6B6D-CC57AA646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Backdoor Criterion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ECFCF-1FC6-B8FB-30E7-1764706499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There are a number of options available to attempt to deal with confounding in observation data</a:t>
                </a:r>
              </a:p>
              <a:p>
                <a:r>
                  <a:rPr lang="en-GB" dirty="0"/>
                  <a:t>The simplest is the backdoor criterion</a:t>
                </a:r>
              </a:p>
              <a:p>
                <a:r>
                  <a:rPr lang="en-GB" dirty="0"/>
                  <a:t>But requires that we make a (big) set of assumptions</a:t>
                </a:r>
              </a:p>
              <a:p>
                <a:pPr lvl="1"/>
                <a:r>
                  <a:rPr lang="en-GB" dirty="0"/>
                  <a:t>I.e. Our diagram (DAG) is “True”</a:t>
                </a:r>
              </a:p>
              <a:p>
                <a:r>
                  <a:rPr lang="en-GB" dirty="0"/>
                  <a:t>Objective is the same as experiments</a:t>
                </a:r>
              </a:p>
              <a:p>
                <a:pPr lvl="1"/>
                <a:r>
                  <a:rPr lang="en-GB" dirty="0"/>
                  <a:t>Stop everything that influences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We just do this statistically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ECFCF-1FC6-B8FB-30E7-1764706499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t="-930" b="-12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379A8FAE-F3D9-0AB9-5D92-D3489D396998}"/>
              </a:ext>
            </a:extLst>
          </p:cNvPr>
          <p:cNvGrpSpPr/>
          <p:nvPr/>
        </p:nvGrpSpPr>
        <p:grpSpPr>
          <a:xfrm>
            <a:off x="8337281" y="2376549"/>
            <a:ext cx="3074645" cy="2878671"/>
            <a:chOff x="6612057" y="2033913"/>
            <a:chExt cx="2305984" cy="215900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B94DC90-9DD4-7910-AC4C-793423BA8E02}"/>
                </a:ext>
              </a:extLst>
            </p:cNvPr>
            <p:cNvGrpSpPr/>
            <p:nvPr/>
          </p:nvGrpSpPr>
          <p:grpSpPr>
            <a:xfrm>
              <a:off x="6612057" y="2033913"/>
              <a:ext cx="2305984" cy="2159003"/>
              <a:chOff x="4420186" y="2659201"/>
              <a:chExt cx="2305984" cy="215900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D8DFD62B-468B-8582-8F0B-0043AB603152}"/>
                  </a:ext>
                </a:extLst>
              </p:cNvPr>
              <p:cNvGrpSpPr/>
              <p:nvPr/>
            </p:nvGrpSpPr>
            <p:grpSpPr>
              <a:xfrm>
                <a:off x="4637487" y="2659201"/>
                <a:ext cx="780262" cy="897515"/>
                <a:chOff x="4637487" y="2659201"/>
                <a:chExt cx="780262" cy="897515"/>
              </a:xfrm>
            </p:grpSpPr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A38DC46D-3E6B-4172-9937-F38CED94D39B}"/>
                    </a:ext>
                  </a:extLst>
                </p:cNvPr>
                <p:cNvSpPr/>
                <p:nvPr/>
              </p:nvSpPr>
              <p:spPr>
                <a:xfrm>
                  <a:off x="4983148" y="2659201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D</a:t>
                  </a:r>
                </a:p>
              </p:txBody>
            </p: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92FA7FAA-D91D-A909-A141-6E21F3E55587}"/>
                    </a:ext>
                  </a:extLst>
                </p:cNvPr>
                <p:cNvCxnSpPr>
                  <a:cxnSpLocks/>
                  <a:stCxn id="20" idx="3"/>
                  <a:endCxn id="16" idx="0"/>
                </p:cNvCxnSpPr>
                <p:nvPr/>
              </p:nvCxnSpPr>
              <p:spPr>
                <a:xfrm flipH="1">
                  <a:off x="4637487" y="3003455"/>
                  <a:ext cx="409307" cy="55326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93323E0-C95A-E246-F4AF-759A56CDE397}"/>
                  </a:ext>
                </a:extLst>
              </p:cNvPr>
              <p:cNvGrpSpPr/>
              <p:nvPr/>
            </p:nvGrpSpPr>
            <p:grpSpPr>
              <a:xfrm>
                <a:off x="4983147" y="3900971"/>
                <a:ext cx="773687" cy="917233"/>
                <a:chOff x="4983147" y="3900971"/>
                <a:chExt cx="773687" cy="917233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0AB8FF18-8888-9C6D-4ED6-C5A8E7EC43AC}"/>
                    </a:ext>
                  </a:extLst>
                </p:cNvPr>
                <p:cNvCxnSpPr>
                  <a:cxnSpLocks/>
                  <a:stCxn id="15" idx="3"/>
                  <a:endCxn id="19" idx="7"/>
                </p:cNvCxnSpPr>
                <p:nvPr/>
              </p:nvCxnSpPr>
              <p:spPr>
                <a:xfrm flipH="1">
                  <a:off x="5354102" y="3900971"/>
                  <a:ext cx="402732" cy="572979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DD75226D-F922-73A8-4E3B-F456F163EB2A}"/>
                    </a:ext>
                  </a:extLst>
                </p:cNvPr>
                <p:cNvSpPr/>
                <p:nvPr/>
              </p:nvSpPr>
              <p:spPr>
                <a:xfrm>
                  <a:off x="4983147" y="44148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G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7406DFA-1EED-3AE4-4C09-1389AD5CA5F6}"/>
                  </a:ext>
                </a:extLst>
              </p:cNvPr>
              <p:cNvGrpSpPr/>
              <p:nvPr/>
            </p:nvGrpSpPr>
            <p:grpSpPr>
              <a:xfrm>
                <a:off x="4420186" y="3556716"/>
                <a:ext cx="1707603" cy="403320"/>
                <a:chOff x="4420186" y="3556716"/>
                <a:chExt cx="1707603" cy="403320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F1828F22-FA19-3E28-6DCE-AF8B500B310B}"/>
                    </a:ext>
                  </a:extLst>
                </p:cNvPr>
                <p:cNvSpPr/>
                <p:nvPr/>
              </p:nvSpPr>
              <p:spPr>
                <a:xfrm>
                  <a:off x="5693188" y="3556716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38A30976-B2F8-F50C-BCE1-B389E36E6B2B}"/>
                    </a:ext>
                  </a:extLst>
                </p:cNvPr>
                <p:cNvSpPr/>
                <p:nvPr/>
              </p:nvSpPr>
              <p:spPr>
                <a:xfrm>
                  <a:off x="4420186" y="3556716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AF4E9FDA-E337-2939-381F-636C116DC74D}"/>
                    </a:ext>
                  </a:extLst>
                </p:cNvPr>
                <p:cNvCxnSpPr>
                  <a:cxnSpLocks/>
                  <a:stCxn id="16" idx="6"/>
                  <a:endCxn id="15" idx="2"/>
                </p:cNvCxnSpPr>
                <p:nvPr/>
              </p:nvCxnSpPr>
              <p:spPr>
                <a:xfrm>
                  <a:off x="4854788" y="3758376"/>
                  <a:ext cx="8384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E90C0250-13F8-BC0F-048C-19C975C58D65}"/>
                  </a:ext>
                </a:extLst>
              </p:cNvPr>
              <p:cNvGrpSpPr/>
              <p:nvPr/>
            </p:nvGrpSpPr>
            <p:grpSpPr>
              <a:xfrm>
                <a:off x="5417749" y="2669285"/>
                <a:ext cx="1308421" cy="946496"/>
                <a:chOff x="5417749" y="2669285"/>
                <a:chExt cx="1308421" cy="946496"/>
              </a:xfrm>
            </p:grpSpPr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48601DC-C766-5E38-4537-D9B157AB3C02}"/>
                    </a:ext>
                  </a:extLst>
                </p:cNvPr>
                <p:cNvSpPr/>
                <p:nvPr/>
              </p:nvSpPr>
              <p:spPr>
                <a:xfrm>
                  <a:off x="6291569" y="26692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I</a:t>
                  </a:r>
                </a:p>
              </p:txBody>
            </p: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ED69E13B-7BB3-E9DE-4462-94D57A301618}"/>
                    </a:ext>
                  </a:extLst>
                </p:cNvPr>
                <p:cNvCxnSpPr>
                  <a:cxnSpLocks/>
                  <a:stCxn id="12" idx="4"/>
                  <a:endCxn id="15" idx="7"/>
                </p:cNvCxnSpPr>
                <p:nvPr/>
              </p:nvCxnSpPr>
              <p:spPr>
                <a:xfrm flipH="1">
                  <a:off x="6064143" y="3072604"/>
                  <a:ext cx="444727" cy="543177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4D0C722F-9B85-47B7-7D2D-2DBE78A2601D}"/>
                    </a:ext>
                  </a:extLst>
                </p:cNvPr>
                <p:cNvCxnSpPr>
                  <a:stCxn id="20" idx="6"/>
                  <a:endCxn id="12" idx="2"/>
                </p:cNvCxnSpPr>
                <p:nvPr/>
              </p:nvCxnSpPr>
              <p:spPr>
                <a:xfrm>
                  <a:off x="5417749" y="2860861"/>
                  <a:ext cx="873820" cy="1008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C1E30AC-2D0E-D42F-0154-22CB663D1EC6}"/>
                </a:ext>
              </a:extLst>
            </p:cNvPr>
            <p:cNvCxnSpPr>
              <a:cxnSpLocks/>
              <a:stCxn id="16" idx="4"/>
              <a:endCxn id="19" idx="1"/>
            </p:cNvCxnSpPr>
            <p:nvPr/>
          </p:nvCxnSpPr>
          <p:spPr>
            <a:xfrm>
              <a:off x="6829358" y="3334747"/>
              <a:ext cx="409306" cy="513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F09D6AF8-AEE8-2957-D8AA-8E7D23D44A59}"/>
              </a:ext>
            </a:extLst>
          </p:cNvPr>
          <p:cNvGrpSpPr/>
          <p:nvPr/>
        </p:nvGrpSpPr>
        <p:grpSpPr>
          <a:xfrm>
            <a:off x="8463330" y="3655213"/>
            <a:ext cx="3074645" cy="2878671"/>
            <a:chOff x="8463330" y="3655213"/>
            <a:chExt cx="3074645" cy="2878671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7365C63-616D-9ED2-C95A-309CB4784A79}"/>
                </a:ext>
              </a:extLst>
            </p:cNvPr>
            <p:cNvGrpSpPr/>
            <p:nvPr/>
          </p:nvGrpSpPr>
          <p:grpSpPr>
            <a:xfrm>
              <a:off x="8463330" y="3655213"/>
              <a:ext cx="3074645" cy="2878671"/>
              <a:chOff x="6612057" y="2033913"/>
              <a:chExt cx="2305984" cy="2159003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F7B62ABE-2D02-9FE6-CA28-EEA876E2A26C}"/>
                  </a:ext>
                </a:extLst>
              </p:cNvPr>
              <p:cNvGrpSpPr/>
              <p:nvPr/>
            </p:nvGrpSpPr>
            <p:grpSpPr>
              <a:xfrm>
                <a:off x="6612057" y="2033913"/>
                <a:ext cx="2305984" cy="2159003"/>
                <a:chOff x="4420186" y="2659201"/>
                <a:chExt cx="2305984" cy="2159003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215494B4-418D-0AEF-A434-954B24E7BE56}"/>
                    </a:ext>
                  </a:extLst>
                </p:cNvPr>
                <p:cNvGrpSpPr/>
                <p:nvPr/>
              </p:nvGrpSpPr>
              <p:grpSpPr>
                <a:xfrm>
                  <a:off x="4983148" y="2659201"/>
                  <a:ext cx="773686" cy="956580"/>
                  <a:chOff x="4983148" y="2659201"/>
                  <a:chExt cx="773686" cy="956580"/>
                </a:xfrm>
              </p:grpSpPr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BFE39C0-B917-97C1-FCBE-532076D616AA}"/>
                      </a:ext>
                    </a:extLst>
                  </p:cNvPr>
                  <p:cNvSpPr/>
                  <p:nvPr/>
                </p:nvSpPr>
                <p:spPr>
                  <a:xfrm>
                    <a:off x="4983148" y="2659201"/>
                    <a:ext cx="434601" cy="403319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D</a:t>
                    </a:r>
                  </a:p>
                </p:txBody>
              </p: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341570B5-E4D2-CCEF-3171-FCF6EB724F14}"/>
                      </a:ext>
                    </a:extLst>
                  </p:cNvPr>
                  <p:cNvCxnSpPr>
                    <a:cxnSpLocks/>
                    <a:stCxn id="37" idx="4"/>
                    <a:endCxn id="32" idx="1"/>
                  </p:cNvCxnSpPr>
                  <p:nvPr/>
                </p:nvCxnSpPr>
                <p:spPr>
                  <a:xfrm>
                    <a:off x="5200449" y="3062520"/>
                    <a:ext cx="556385" cy="553261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FDB0E21B-1A9D-D6CA-4320-84D2AC273BBD}"/>
                    </a:ext>
                  </a:extLst>
                </p:cNvPr>
                <p:cNvGrpSpPr/>
                <p:nvPr/>
              </p:nvGrpSpPr>
              <p:grpSpPr>
                <a:xfrm>
                  <a:off x="4983147" y="3900971"/>
                  <a:ext cx="773687" cy="917233"/>
                  <a:chOff x="4983147" y="3900971"/>
                  <a:chExt cx="773687" cy="917233"/>
                </a:xfrm>
              </p:grpSpPr>
              <p:cxnSp>
                <p:nvCxnSpPr>
                  <p:cNvPr id="35" name="Straight Arrow Connector 34">
                    <a:extLst>
                      <a:ext uri="{FF2B5EF4-FFF2-40B4-BE49-F238E27FC236}">
                        <a16:creationId xmlns:a16="http://schemas.microsoft.com/office/drawing/2014/main" id="{A7096F96-8B55-9526-3A49-6E2D0658F9D6}"/>
                      </a:ext>
                    </a:extLst>
                  </p:cNvPr>
                  <p:cNvCxnSpPr>
                    <a:cxnSpLocks/>
                    <a:stCxn id="32" idx="3"/>
                    <a:endCxn id="36" idx="7"/>
                  </p:cNvCxnSpPr>
                  <p:nvPr/>
                </p:nvCxnSpPr>
                <p:spPr>
                  <a:xfrm flipH="1">
                    <a:off x="5354102" y="3900971"/>
                    <a:ext cx="402732" cy="572979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BB82CFD4-ABFF-A740-B896-3D9F98FA6155}"/>
                      </a:ext>
                    </a:extLst>
                  </p:cNvPr>
                  <p:cNvSpPr/>
                  <p:nvPr/>
                </p:nvSpPr>
                <p:spPr>
                  <a:xfrm>
                    <a:off x="4983147" y="4414885"/>
                    <a:ext cx="434601" cy="403319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G</a:t>
                    </a:r>
                  </a:p>
                </p:txBody>
              </p:sp>
            </p:grpSp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1FE70123-8C88-56E3-3F3F-C8572DAEAA38}"/>
                    </a:ext>
                  </a:extLst>
                </p:cNvPr>
                <p:cNvGrpSpPr/>
                <p:nvPr/>
              </p:nvGrpSpPr>
              <p:grpSpPr>
                <a:xfrm>
                  <a:off x="4420186" y="3556716"/>
                  <a:ext cx="1707603" cy="403320"/>
                  <a:chOff x="4420186" y="3556716"/>
                  <a:chExt cx="1707603" cy="403320"/>
                </a:xfrm>
              </p:grpSpPr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909D9AF8-74BE-D281-7644-286E2E2CC012}"/>
                      </a:ext>
                    </a:extLst>
                  </p:cNvPr>
                  <p:cNvSpPr/>
                  <p:nvPr/>
                </p:nvSpPr>
                <p:spPr>
                  <a:xfrm>
                    <a:off x="5693188" y="3556716"/>
                    <a:ext cx="434601" cy="403320"/>
                  </a:xfrm>
                  <a:prstGeom prst="ellipse">
                    <a:avLst/>
                  </a:prstGeom>
                  <a:solidFill>
                    <a:srgbClr val="434343"/>
                  </a:solidFill>
                  <a:ln w="38100">
                    <a:solidFill>
                      <a:srgbClr val="FFC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Y</a:t>
                    </a:r>
                  </a:p>
                </p:txBody>
              </p:sp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3C066E59-7C1F-0C77-AA5D-77977C660E21}"/>
                      </a:ext>
                    </a:extLst>
                  </p:cNvPr>
                  <p:cNvSpPr/>
                  <p:nvPr/>
                </p:nvSpPr>
                <p:spPr>
                  <a:xfrm>
                    <a:off x="4420186" y="3556716"/>
                    <a:ext cx="434602" cy="403319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38100">
                    <a:solidFill>
                      <a:schemeClr val="accent5">
                        <a:lumMod val="60000"/>
                        <a:lumOff val="4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X</a:t>
                    </a:r>
                  </a:p>
                </p:txBody>
              </p:sp>
              <p:cxnSp>
                <p:nvCxnSpPr>
                  <p:cNvPr id="34" name="Straight Arrow Connector 33">
                    <a:extLst>
                      <a:ext uri="{FF2B5EF4-FFF2-40B4-BE49-F238E27FC236}">
                        <a16:creationId xmlns:a16="http://schemas.microsoft.com/office/drawing/2014/main" id="{291F517B-9FE3-3A0C-B44C-450F65D4B0D2}"/>
                      </a:ext>
                    </a:extLst>
                  </p:cNvPr>
                  <p:cNvCxnSpPr>
                    <a:cxnSpLocks/>
                    <a:stCxn id="33" idx="6"/>
                    <a:endCxn id="32" idx="2"/>
                  </p:cNvCxnSpPr>
                  <p:nvPr/>
                </p:nvCxnSpPr>
                <p:spPr>
                  <a:xfrm>
                    <a:off x="4854788" y="3758376"/>
                    <a:ext cx="8384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8B539816-2C2D-5EFF-9C60-BA903052D394}"/>
                    </a:ext>
                  </a:extLst>
                </p:cNvPr>
                <p:cNvGrpSpPr/>
                <p:nvPr/>
              </p:nvGrpSpPr>
              <p:grpSpPr>
                <a:xfrm>
                  <a:off x="5417749" y="2669285"/>
                  <a:ext cx="1308421" cy="946496"/>
                  <a:chOff x="5417749" y="2669285"/>
                  <a:chExt cx="1308421" cy="946496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50C595E8-CD6F-94D6-102B-236B3B33ACDF}"/>
                      </a:ext>
                    </a:extLst>
                  </p:cNvPr>
                  <p:cNvSpPr/>
                  <p:nvPr/>
                </p:nvSpPr>
                <p:spPr>
                  <a:xfrm>
                    <a:off x="6291569" y="2669285"/>
                    <a:ext cx="434601" cy="403319"/>
                  </a:xfrm>
                  <a:prstGeom prst="ellipse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2400" dirty="0"/>
                      <a:t>I</a:t>
                    </a:r>
                  </a:p>
                </p:txBody>
              </p:sp>
              <p:cxnSp>
                <p:nvCxnSpPr>
                  <p:cNvPr id="30" name="Straight Arrow Connector 29">
                    <a:extLst>
                      <a:ext uri="{FF2B5EF4-FFF2-40B4-BE49-F238E27FC236}">
                        <a16:creationId xmlns:a16="http://schemas.microsoft.com/office/drawing/2014/main" id="{AA3D59BA-AFAE-B3E9-BBB9-6C41743CF53B}"/>
                      </a:ext>
                    </a:extLst>
                  </p:cNvPr>
                  <p:cNvCxnSpPr>
                    <a:cxnSpLocks/>
                    <a:stCxn id="29" idx="4"/>
                    <a:endCxn id="32" idx="7"/>
                  </p:cNvCxnSpPr>
                  <p:nvPr/>
                </p:nvCxnSpPr>
                <p:spPr>
                  <a:xfrm flipH="1">
                    <a:off x="6064143" y="3072604"/>
                    <a:ext cx="444727" cy="543177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Straight Arrow Connector 30">
                    <a:extLst>
                      <a:ext uri="{FF2B5EF4-FFF2-40B4-BE49-F238E27FC236}">
                        <a16:creationId xmlns:a16="http://schemas.microsoft.com/office/drawing/2014/main" id="{D6D46F7C-8C48-90C3-D65B-2A0C21F6E9D0}"/>
                      </a:ext>
                    </a:extLst>
                  </p:cNvPr>
                  <p:cNvCxnSpPr>
                    <a:stCxn id="37" idx="6"/>
                    <a:endCxn id="29" idx="2"/>
                  </p:cNvCxnSpPr>
                  <p:nvPr/>
                </p:nvCxnSpPr>
                <p:spPr>
                  <a:xfrm>
                    <a:off x="5417749" y="2860861"/>
                    <a:ext cx="873820" cy="10084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36CB04-B691-D71A-BA16-0C5AF4D5FD72}"/>
                  </a:ext>
                </a:extLst>
              </p:cNvPr>
              <p:cNvCxnSpPr>
                <a:cxnSpLocks/>
                <a:stCxn id="36" idx="1"/>
                <a:endCxn id="33" idx="4"/>
              </p:cNvCxnSpPr>
              <p:nvPr/>
            </p:nvCxnSpPr>
            <p:spPr>
              <a:xfrm flipH="1" flipV="1">
                <a:off x="6829358" y="3334747"/>
                <a:ext cx="409306" cy="51391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DA21B8B-C670-3A29-5BDD-E6E6CC013AAD}"/>
                </a:ext>
              </a:extLst>
            </p:cNvPr>
            <p:cNvCxnSpPr>
              <a:cxnSpLocks/>
              <a:stCxn id="29" idx="3"/>
              <a:endCxn id="33" idx="7"/>
            </p:cNvCxnSpPr>
            <p:nvPr/>
          </p:nvCxnSpPr>
          <p:spPr>
            <a:xfrm flipH="1">
              <a:off x="8957938" y="4127664"/>
              <a:ext cx="2085430" cy="80298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2615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0 L -0.00326 -0.30093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" y="-1504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31510-2330-F8E3-646D-E7933F20E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do we “close the backdoor”?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90E068-5A9E-4C88-1C80-259A300662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Look for variables that cause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GB" dirty="0"/>
              </a:p>
              <a:p>
                <a:r>
                  <a:rPr lang="en-GB" dirty="0"/>
                  <a:t>Any variables on that path can be included in the model to close that path</a:t>
                </a:r>
              </a:p>
              <a:p>
                <a:r>
                  <a:rPr lang="en-GB" dirty="0"/>
                  <a:t>Here, we could include either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GB" dirty="0"/>
              </a:p>
              <a:p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lm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(y ~ x + 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90E068-5A9E-4C88-1C80-259A300662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6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355ED4E1-A784-BB06-6D5B-88E4DFD8FFB9}"/>
              </a:ext>
            </a:extLst>
          </p:cNvPr>
          <p:cNvGrpSpPr/>
          <p:nvPr/>
        </p:nvGrpSpPr>
        <p:grpSpPr>
          <a:xfrm>
            <a:off x="8390902" y="1989664"/>
            <a:ext cx="3074645" cy="2878671"/>
            <a:chOff x="6612057" y="2033913"/>
            <a:chExt cx="2305984" cy="215900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74D40B-B9F6-58FD-267C-8A488EFA87B0}"/>
                </a:ext>
              </a:extLst>
            </p:cNvPr>
            <p:cNvGrpSpPr/>
            <p:nvPr/>
          </p:nvGrpSpPr>
          <p:grpSpPr>
            <a:xfrm>
              <a:off x="6612057" y="2033913"/>
              <a:ext cx="2305984" cy="2159003"/>
              <a:chOff x="4420186" y="2659201"/>
              <a:chExt cx="2305984" cy="215900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40E0E91-35AF-BE55-DB89-FF46274C2693}"/>
                  </a:ext>
                </a:extLst>
              </p:cNvPr>
              <p:cNvGrpSpPr/>
              <p:nvPr/>
            </p:nvGrpSpPr>
            <p:grpSpPr>
              <a:xfrm>
                <a:off x="4637487" y="2659201"/>
                <a:ext cx="780262" cy="897515"/>
                <a:chOff x="4637487" y="2659201"/>
                <a:chExt cx="780262" cy="897515"/>
              </a:xfrm>
            </p:grpSpPr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8C2025A0-0598-0C87-8821-D9789BCC0606}"/>
                    </a:ext>
                  </a:extLst>
                </p:cNvPr>
                <p:cNvSpPr/>
                <p:nvPr/>
              </p:nvSpPr>
              <p:spPr>
                <a:xfrm>
                  <a:off x="4983148" y="2659201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D</a:t>
                  </a:r>
                </a:p>
              </p:txBody>
            </p: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DA750571-85F1-C565-323A-F52176BA1A78}"/>
                    </a:ext>
                  </a:extLst>
                </p:cNvPr>
                <p:cNvCxnSpPr>
                  <a:cxnSpLocks/>
                  <a:stCxn id="20" idx="3"/>
                  <a:endCxn id="16" idx="0"/>
                </p:cNvCxnSpPr>
                <p:nvPr/>
              </p:nvCxnSpPr>
              <p:spPr>
                <a:xfrm flipH="1">
                  <a:off x="4637487" y="3003455"/>
                  <a:ext cx="409307" cy="553261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42C442DE-4A64-40D0-2F4A-A696D05D082F}"/>
                  </a:ext>
                </a:extLst>
              </p:cNvPr>
              <p:cNvGrpSpPr/>
              <p:nvPr/>
            </p:nvGrpSpPr>
            <p:grpSpPr>
              <a:xfrm>
                <a:off x="4983147" y="3900971"/>
                <a:ext cx="773687" cy="917233"/>
                <a:chOff x="4983147" y="3900971"/>
                <a:chExt cx="773687" cy="917233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4E20D515-1CBB-F399-A1CE-A9EADF211608}"/>
                    </a:ext>
                  </a:extLst>
                </p:cNvPr>
                <p:cNvCxnSpPr>
                  <a:cxnSpLocks/>
                  <a:stCxn id="15" idx="3"/>
                  <a:endCxn id="19" idx="7"/>
                </p:cNvCxnSpPr>
                <p:nvPr/>
              </p:nvCxnSpPr>
              <p:spPr>
                <a:xfrm flipH="1">
                  <a:off x="5354102" y="3900971"/>
                  <a:ext cx="402732" cy="572979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B8023A4A-8CCB-0878-31EA-3FA8489D7F58}"/>
                    </a:ext>
                  </a:extLst>
                </p:cNvPr>
                <p:cNvSpPr/>
                <p:nvPr/>
              </p:nvSpPr>
              <p:spPr>
                <a:xfrm>
                  <a:off x="4983147" y="44148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G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3D3F85D7-82B3-271B-29C7-2639215AF933}"/>
                  </a:ext>
                </a:extLst>
              </p:cNvPr>
              <p:cNvGrpSpPr/>
              <p:nvPr/>
            </p:nvGrpSpPr>
            <p:grpSpPr>
              <a:xfrm>
                <a:off x="4420186" y="3556716"/>
                <a:ext cx="1707603" cy="403320"/>
                <a:chOff x="4420186" y="3556716"/>
                <a:chExt cx="1707603" cy="403320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90B0B04-0283-8724-FFFE-513267C04B0A}"/>
                    </a:ext>
                  </a:extLst>
                </p:cNvPr>
                <p:cNvSpPr/>
                <p:nvPr/>
              </p:nvSpPr>
              <p:spPr>
                <a:xfrm>
                  <a:off x="5693188" y="3556716"/>
                  <a:ext cx="434601" cy="403320"/>
                </a:xfrm>
                <a:prstGeom prst="ellipse">
                  <a:avLst/>
                </a:prstGeom>
                <a:solidFill>
                  <a:srgbClr val="434343"/>
                </a:solidFill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Y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91C837-EF01-841D-E321-61E15BC3A12B}"/>
                    </a:ext>
                  </a:extLst>
                </p:cNvPr>
                <p:cNvSpPr/>
                <p:nvPr/>
              </p:nvSpPr>
              <p:spPr>
                <a:xfrm>
                  <a:off x="4420186" y="3556716"/>
                  <a:ext cx="434602" cy="403319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38100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X</a:t>
                  </a:r>
                </a:p>
              </p:txBody>
            </p: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43EE2757-9DCC-DA3B-3C52-3DAB8DCA8D34}"/>
                    </a:ext>
                  </a:extLst>
                </p:cNvPr>
                <p:cNvCxnSpPr>
                  <a:cxnSpLocks/>
                  <a:stCxn id="16" idx="6"/>
                  <a:endCxn id="15" idx="2"/>
                </p:cNvCxnSpPr>
                <p:nvPr/>
              </p:nvCxnSpPr>
              <p:spPr>
                <a:xfrm>
                  <a:off x="4854788" y="3758376"/>
                  <a:ext cx="8384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E2FE37AC-7607-6904-6DBD-D39CF643A6C9}"/>
                  </a:ext>
                </a:extLst>
              </p:cNvPr>
              <p:cNvGrpSpPr/>
              <p:nvPr/>
            </p:nvGrpSpPr>
            <p:grpSpPr>
              <a:xfrm>
                <a:off x="5417749" y="2669285"/>
                <a:ext cx="1308421" cy="946496"/>
                <a:chOff x="5417749" y="2669285"/>
                <a:chExt cx="1308421" cy="946496"/>
              </a:xfrm>
            </p:grpSpPr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9031E69C-C297-A67E-4871-2394D02E607E}"/>
                    </a:ext>
                  </a:extLst>
                </p:cNvPr>
                <p:cNvSpPr/>
                <p:nvPr/>
              </p:nvSpPr>
              <p:spPr>
                <a:xfrm>
                  <a:off x="6291569" y="2669285"/>
                  <a:ext cx="434601" cy="403319"/>
                </a:xfrm>
                <a:prstGeom prst="ellipse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2400" dirty="0"/>
                    <a:t>I</a:t>
                  </a:r>
                </a:p>
              </p:txBody>
            </p: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515DECA1-0761-D4C2-032D-F2C6DF070848}"/>
                    </a:ext>
                  </a:extLst>
                </p:cNvPr>
                <p:cNvCxnSpPr>
                  <a:cxnSpLocks/>
                  <a:stCxn id="12" idx="4"/>
                  <a:endCxn id="15" idx="7"/>
                </p:cNvCxnSpPr>
                <p:nvPr/>
              </p:nvCxnSpPr>
              <p:spPr>
                <a:xfrm flipH="1">
                  <a:off x="6064143" y="3072604"/>
                  <a:ext cx="444727" cy="543177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2CBDB8E4-F007-BBB0-5907-66CF570EFBD7}"/>
                    </a:ext>
                  </a:extLst>
                </p:cNvPr>
                <p:cNvCxnSpPr>
                  <a:stCxn id="20" idx="6"/>
                  <a:endCxn id="12" idx="2"/>
                </p:cNvCxnSpPr>
                <p:nvPr/>
              </p:nvCxnSpPr>
              <p:spPr>
                <a:xfrm>
                  <a:off x="5417749" y="2860861"/>
                  <a:ext cx="873820" cy="1008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C255713-AE4F-FEF6-787F-1D0151E09144}"/>
                </a:ext>
              </a:extLst>
            </p:cNvPr>
            <p:cNvCxnSpPr>
              <a:cxnSpLocks/>
              <a:stCxn id="16" idx="4"/>
              <a:endCxn id="19" idx="1"/>
            </p:cNvCxnSpPr>
            <p:nvPr/>
          </p:nvCxnSpPr>
          <p:spPr>
            <a:xfrm>
              <a:off x="6829358" y="3334747"/>
              <a:ext cx="409306" cy="513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1623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F46FD-F306-62C2-1A33-C2BAA1C10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804968" cy="1325563"/>
          </a:xfrm>
        </p:spPr>
        <p:txBody>
          <a:bodyPr/>
          <a:lstStyle/>
          <a:p>
            <a:r>
              <a:rPr lang="en-GB" dirty="0"/>
              <a:t>R to the rescue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5803A-FFF4-673C-F7C6-BD37DD7A0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7414788" cy="5240194"/>
          </a:xfrm>
        </p:spPr>
        <p:txBody>
          <a:bodyPr/>
          <a:lstStyle/>
          <a:p>
            <a:r>
              <a:rPr lang="en-GB" dirty="0"/>
              <a:t>Often a real pain to identify all backdoor paths and how best to close them</a:t>
            </a:r>
          </a:p>
          <a:p>
            <a:r>
              <a:rPr lang="en-GB" dirty="0"/>
              <a:t>Thankfully, there are great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GB" dirty="0"/>
              <a:t> packages that do the fiddly work for you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library(performance)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AE11770-ED56-F61B-243F-1C4DDB58B05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-228" r="52265"/>
          <a:stretch/>
        </p:blipFill>
        <p:spPr>
          <a:xfrm>
            <a:off x="7804968" y="0"/>
            <a:ext cx="43870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35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18A19-7A78-FE14-47EE-08F8621CC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about our trophic cascade?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E6C0B-2B1A-3B59-C129-F6E55CB5D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426613"/>
            <a:ext cx="7170345" cy="5240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library(performance)</a:t>
            </a:r>
          </a:p>
          <a:p>
            <a:pPr marL="0" indent="0">
              <a:buNone/>
            </a:pP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troph_dag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check_dag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Wolf ~ Park,  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Beaver ~ Park + Survival + Repro,  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outcome = "Beaver",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exposure = "Wolf")</a:t>
            </a:r>
          </a:p>
          <a:p>
            <a:pPr marL="0" indent="0">
              <a:buNone/>
            </a:pP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troph_dag</a:t>
            </a:r>
            <a:endParaRPr lang="en-GB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F8B33E-61EC-4B8E-DC72-2BB8FF8F4589}"/>
              </a:ext>
            </a:extLst>
          </p:cNvPr>
          <p:cNvGrpSpPr/>
          <p:nvPr/>
        </p:nvGrpSpPr>
        <p:grpSpPr>
          <a:xfrm>
            <a:off x="6923511" y="1340610"/>
            <a:ext cx="4428979" cy="4344401"/>
            <a:chOff x="7428336" y="1447636"/>
            <a:chExt cx="4428979" cy="434440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19B9B67-1613-EBE0-950F-53275655A597}"/>
                </a:ext>
              </a:extLst>
            </p:cNvPr>
            <p:cNvGrpSpPr/>
            <p:nvPr/>
          </p:nvGrpSpPr>
          <p:grpSpPr>
            <a:xfrm>
              <a:off x="7428336" y="1447636"/>
              <a:ext cx="3997828" cy="2693488"/>
              <a:chOff x="6923511" y="1333336"/>
              <a:chExt cx="3997828" cy="2693488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465722-1616-D3F2-4574-B1C7D6A78AF2}"/>
                  </a:ext>
                </a:extLst>
              </p:cNvPr>
              <p:cNvSpPr txBox="1"/>
              <p:nvPr/>
            </p:nvSpPr>
            <p:spPr>
              <a:xfrm>
                <a:off x="9543617" y="3117960"/>
                <a:ext cx="1377722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Beaver </a:t>
                </a:r>
                <a:br>
                  <a:rPr lang="en-GB" dirty="0"/>
                </a:br>
                <a:r>
                  <a:rPr lang="en-GB" dirty="0"/>
                  <a:t>density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06A8CAE-1E17-7C8D-F727-00887AFC8ACC}"/>
                      </a:ext>
                    </a:extLst>
                  </p:cNvPr>
                  <p:cNvSpPr txBox="1"/>
                  <p:nvPr/>
                </p:nvSpPr>
                <p:spPr>
                  <a:xfrm>
                    <a:off x="6923511" y="1333336"/>
                    <a:ext cx="1626873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a14:m>
                    <a:r>
                      <a:rPr lang="en-GB" dirty="0"/>
                      <a:t>olf </a:t>
                    </a:r>
                    <a:br>
                      <a:rPr lang="en-GB" dirty="0"/>
                    </a:br>
                    <a:r>
                      <a:rPr lang="en-GB" dirty="0"/>
                      <a:t>presence</a:t>
                    </a: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0DB4058-2CA5-24F9-68EC-DDBA153A74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3511" y="1333336"/>
                    <a:ext cx="1626873" cy="908864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DDC51A0-B0D8-ED3E-3ED0-F037AE9F7E73}"/>
                </a:ext>
              </a:extLst>
            </p:cNvPr>
            <p:cNvGrpSpPr/>
            <p:nvPr/>
          </p:nvGrpSpPr>
          <p:grpSpPr>
            <a:xfrm>
              <a:off x="7476763" y="3232260"/>
              <a:ext cx="2571679" cy="908864"/>
              <a:chOff x="7334096" y="4088731"/>
              <a:chExt cx="2571679" cy="90886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44C3D881-9284-7463-FE7E-B5F57618CC90}"/>
                      </a:ext>
                    </a:extLst>
                  </p:cNvPr>
                  <p:cNvSpPr txBox="1"/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a14:m>
                    <a:r>
                      <a:rPr lang="en-GB" dirty="0"/>
                      <a:t>urvival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7D1BCBB-794D-43FB-3C7C-05EF04E15F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6148F293-EA8A-041D-9663-877F752714E0}"/>
                  </a:ext>
                </a:extLst>
              </p:cNvPr>
              <p:cNvCxnSpPr>
                <a:cxnSpLocks/>
                <a:stCxn id="15" idx="6"/>
                <a:endCxn id="17" idx="2"/>
              </p:cNvCxnSpPr>
              <p:nvPr/>
            </p:nvCxnSpPr>
            <p:spPr>
              <a:xfrm>
                <a:off x="8786205" y="4543163"/>
                <a:ext cx="1119570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49292BA-EDFD-9485-296C-9CC7CF3BFC05}"/>
                </a:ext>
              </a:extLst>
            </p:cNvPr>
            <p:cNvGrpSpPr/>
            <p:nvPr/>
          </p:nvGrpSpPr>
          <p:grpSpPr>
            <a:xfrm>
              <a:off x="9617291" y="4141124"/>
              <a:ext cx="2240024" cy="1650913"/>
              <a:chOff x="4655054" y="901858"/>
              <a:chExt cx="2240024" cy="165091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4A16998F-6BEC-769C-FA11-D347AF3330CB}"/>
                      </a:ext>
                    </a:extLst>
                  </p:cNvPr>
                  <p:cNvSpPr txBox="1"/>
                  <p:nvPr/>
                </p:nvSpPr>
                <p:spPr>
                  <a:xfrm>
                    <a:off x="4655054" y="1643907"/>
                    <a:ext cx="2240024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oMath>
                    </a14:m>
                    <a:r>
                      <a:rPr lang="en-GB" dirty="0"/>
                      <a:t>eproduction</a:t>
                    </a: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D14FF42-E3F0-DA45-E49B-4C887CFE7C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5054" y="1643907"/>
                    <a:ext cx="2240024" cy="908864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20858C3-DB63-B39C-C292-F699F71F70B7}"/>
                  </a:ext>
                </a:extLst>
              </p:cNvPr>
              <p:cNvCxnSpPr>
                <a:cxnSpLocks/>
                <a:stCxn id="13" idx="0"/>
                <a:endCxn id="17" idx="4"/>
              </p:cNvCxnSpPr>
              <p:nvPr/>
            </p:nvCxnSpPr>
            <p:spPr>
              <a:xfrm flipV="1">
                <a:off x="5775066" y="901858"/>
                <a:ext cx="0" cy="74204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7EC8E9C-AA31-13BB-BED2-73AFD75F1F9C}"/>
                </a:ext>
              </a:extLst>
            </p:cNvPr>
            <p:cNvGrpSpPr/>
            <p:nvPr/>
          </p:nvGrpSpPr>
          <p:grpSpPr>
            <a:xfrm>
              <a:off x="9870365" y="1447636"/>
              <a:ext cx="1733875" cy="1784624"/>
              <a:chOff x="9365540" y="1333336"/>
              <a:chExt cx="1733875" cy="17846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CAA47E9-AE14-C1E2-D4D0-0D59A498934B}"/>
                      </a:ext>
                    </a:extLst>
                  </p:cNvPr>
                  <p:cNvSpPr txBox="1"/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oMath>
                    </a14:m>
                    <a:r>
                      <a:rPr lang="en-GB" dirty="0"/>
                      <a:t>ark</a:t>
                    </a:r>
                    <a:br>
                      <a:rPr lang="en-GB" dirty="0"/>
                    </a:br>
                    <a:r>
                      <a:rPr lang="en-GB" dirty="0"/>
                      <a:t>protection</a:t>
                    </a: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A4F8AB6F-4AE9-30E0-EA78-F48B998B21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ECFC461B-3229-04A2-06DE-0502B7ADFA5B}"/>
                  </a:ext>
                </a:extLst>
              </p:cNvPr>
              <p:cNvCxnSpPr>
                <a:cxnSpLocks/>
                <a:stCxn id="11" idx="4"/>
                <a:endCxn id="17" idx="0"/>
              </p:cNvCxnSpPr>
              <p:nvPr/>
            </p:nvCxnSpPr>
            <p:spPr>
              <a:xfrm>
                <a:off x="10232478" y="2242200"/>
                <a:ext cx="0" cy="87576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D647CDC-42F9-9ECB-09CF-E29106F39C63}"/>
                </a:ext>
              </a:extLst>
            </p:cNvPr>
            <p:cNvCxnSpPr>
              <a:cxnSpLocks/>
              <a:stCxn id="11" idx="2"/>
              <a:endCxn id="18" idx="6"/>
            </p:cNvCxnSpPr>
            <p:nvPr/>
          </p:nvCxnSpPr>
          <p:spPr>
            <a:xfrm flipH="1">
              <a:off x="9055209" y="1902068"/>
              <a:ext cx="81515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6D9B1DE-494B-17F6-497E-898D9AA3C747}"/>
              </a:ext>
            </a:extLst>
          </p:cNvPr>
          <p:cNvSpPr txBox="1"/>
          <p:nvPr/>
        </p:nvSpPr>
        <p:spPr>
          <a:xfrm>
            <a:off x="6201295" y="187040"/>
            <a:ext cx="597471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Check for correct adjustment sets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 Outcome: Beaver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 Exposure: Wolf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Identification of direct and total effects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Incorrectly adjusted!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To estimate the direct and total effect,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 least adjust for `Park`.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Currently, the model does not adjust for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 variables.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52C1B0-F9CD-A282-74EF-9F74BC83A74D}"/>
              </a:ext>
            </a:extLst>
          </p:cNvPr>
          <p:cNvSpPr/>
          <p:nvPr/>
        </p:nvSpPr>
        <p:spPr>
          <a:xfrm>
            <a:off x="6201296" y="2124075"/>
            <a:ext cx="5562080" cy="57982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51C52E-EEDF-8EC8-D185-8349339EC44E}"/>
              </a:ext>
            </a:extLst>
          </p:cNvPr>
          <p:cNvSpPr txBox="1"/>
          <p:nvPr/>
        </p:nvSpPr>
        <p:spPr>
          <a:xfrm>
            <a:off x="0" y="5021812"/>
            <a:ext cx="739378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troph_mod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(beaver ~ wolf </a:t>
            </a: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park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	 data =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troph_dat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GB" sz="2400" dirty="0"/>
          </a:p>
        </p:txBody>
      </p:sp>
      <p:pic>
        <p:nvPicPr>
          <p:cNvPr id="25" name="Picture 24" descr="A screenshot of a cell phone screen&#10;&#10;Description automatically generated">
            <a:extLst>
              <a:ext uri="{FF2B5EF4-FFF2-40B4-BE49-F238E27FC236}">
                <a16:creationId xmlns:a16="http://schemas.microsoft.com/office/drawing/2014/main" id="{608ED2A6-909C-67C2-A74D-8A82D197280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4233" y="872855"/>
            <a:ext cx="4709144" cy="5614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743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0" grpId="1"/>
      <p:bldP spid="22" grpId="0" animBg="1"/>
      <p:bldP spid="22" grpId="1" animBg="1"/>
      <p:bldP spid="2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8D2E-27A0-55A1-7815-D83D53AC2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 err="1"/>
              <a:t>tl:dr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E6E4C-02EC-98C9-5579-57CACF8B6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12192000" cy="5240194"/>
          </a:xfrm>
        </p:spPr>
        <p:txBody>
          <a:bodyPr/>
          <a:lstStyle/>
          <a:p>
            <a:r>
              <a:rPr lang="en-GB" dirty="0"/>
              <a:t>Confounding is what makes understanding causation incredibly difficult</a:t>
            </a:r>
          </a:p>
          <a:p>
            <a:pPr lvl="1"/>
            <a:r>
              <a:rPr lang="en-GB" dirty="0"/>
              <a:t>We don’t worry about confounding in predictive modelling (it’s actually a benefit)</a:t>
            </a:r>
          </a:p>
          <a:p>
            <a:r>
              <a:rPr lang="en-GB" dirty="0"/>
              <a:t>Experiments allow us to understand causation through “manually” breaking confounding through appropriate randomisation</a:t>
            </a:r>
          </a:p>
          <a:p>
            <a:r>
              <a:rPr lang="en-GB" dirty="0"/>
              <a:t>Observational datasets don’t have this luxury</a:t>
            </a:r>
          </a:p>
          <a:p>
            <a:r>
              <a:rPr lang="en-GB" dirty="0"/>
              <a:t>Meaning we have to do this in the models</a:t>
            </a:r>
          </a:p>
          <a:p>
            <a:r>
              <a:rPr lang="en-GB" dirty="0"/>
              <a:t>Multiple ways to do this, backdoor criterion is just one of them</a:t>
            </a:r>
          </a:p>
          <a:p>
            <a:r>
              <a:rPr lang="en-GB" dirty="0"/>
              <a:t>Requires that we make an additional assumption about how causation works *</a:t>
            </a:r>
            <a:r>
              <a:rPr lang="en-GB" i="1" dirty="0"/>
              <a:t>before</a:t>
            </a:r>
            <a:r>
              <a:rPr lang="en-GB" dirty="0"/>
              <a:t>* we fit the model</a:t>
            </a:r>
          </a:p>
          <a:p>
            <a:pPr lvl="1"/>
            <a:r>
              <a:rPr lang="en-GB" dirty="0"/>
              <a:t>If our assumption is right, then we get the causal effect</a:t>
            </a:r>
          </a:p>
        </p:txBody>
      </p:sp>
    </p:spTree>
    <p:extLst>
      <p:ext uri="{BB962C8B-B14F-4D97-AF65-F5344CB8AC3E}">
        <p14:creationId xmlns:p14="http://schemas.microsoft.com/office/powerpoint/2010/main" val="336374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477</TotalTime>
  <Words>1193</Words>
  <Application>Microsoft Office PowerPoint</Application>
  <PresentationFormat>Widescreen</PresentationFormat>
  <Paragraphs>286</Paragraphs>
  <Slides>31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Arial</vt:lpstr>
      <vt:lpstr>Bahnschrift Light</vt:lpstr>
      <vt:lpstr>Cambria Math</vt:lpstr>
      <vt:lpstr>Courier New</vt:lpstr>
      <vt:lpstr>sbs_template</vt:lpstr>
      <vt:lpstr>Confounding</vt:lpstr>
      <vt:lpstr>How do we understand causation?</vt:lpstr>
      <vt:lpstr>Sceptical?</vt:lpstr>
      <vt:lpstr>Could we think of a causal mechanism?</vt:lpstr>
      <vt:lpstr>Do models describe causation?</vt:lpstr>
      <vt:lpstr>Why do we find an association between ice cream and shark attacks?</vt:lpstr>
      <vt:lpstr>Shark and ice cream connection</vt:lpstr>
      <vt:lpstr>Different types of confounds</vt:lpstr>
      <vt:lpstr>A family of confusion</vt:lpstr>
      <vt:lpstr>Spurious correlations</vt:lpstr>
      <vt:lpstr>The confounds</vt:lpstr>
      <vt:lpstr>Our question</vt:lpstr>
      <vt:lpstr>Forking confounds</vt:lpstr>
      <vt:lpstr>Forking confound quiz</vt:lpstr>
      <vt:lpstr>The confounds</vt:lpstr>
      <vt:lpstr>Our question</vt:lpstr>
      <vt:lpstr>Piped confound</vt:lpstr>
      <vt:lpstr>Piped confound quiz</vt:lpstr>
      <vt:lpstr>The confounds</vt:lpstr>
      <vt:lpstr>Our question</vt:lpstr>
      <vt:lpstr>Colliding confound</vt:lpstr>
      <vt:lpstr>Colliding confound quiz</vt:lpstr>
      <vt:lpstr>How do we deal with confounding?</vt:lpstr>
      <vt:lpstr>Getting rid of confounding</vt:lpstr>
      <vt:lpstr>Randomisation</vt:lpstr>
      <vt:lpstr>What about observation data?</vt:lpstr>
      <vt:lpstr>The Backdoor Criterion</vt:lpstr>
      <vt:lpstr>How do we “close the backdoor”?</vt:lpstr>
      <vt:lpstr>R to the rescue</vt:lpstr>
      <vt:lpstr>What about our trophic cascade?</vt:lpstr>
      <vt:lpstr>tl:dr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8</cp:revision>
  <dcterms:created xsi:type="dcterms:W3CDTF">2024-07-29T10:08:40Z</dcterms:created>
  <dcterms:modified xsi:type="dcterms:W3CDTF">2024-09-11T12:04:29Z</dcterms:modified>
</cp:coreProperties>
</file>