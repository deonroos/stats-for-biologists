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296" r:id="rId3"/>
    <p:sldId id="298" r:id="rId4"/>
    <p:sldId id="299" r:id="rId5"/>
    <p:sldId id="297" r:id="rId6"/>
    <p:sldId id="301" r:id="rId7"/>
    <p:sldId id="302" r:id="rId8"/>
    <p:sldId id="305" r:id="rId9"/>
    <p:sldId id="317" r:id="rId10"/>
    <p:sldId id="323" r:id="rId11"/>
    <p:sldId id="318" r:id="rId12"/>
    <p:sldId id="332" r:id="rId13"/>
    <p:sldId id="326" r:id="rId14"/>
    <p:sldId id="320" r:id="rId15"/>
    <p:sldId id="334" r:id="rId16"/>
    <p:sldId id="325" r:id="rId17"/>
    <p:sldId id="319" r:id="rId18"/>
    <p:sldId id="333" r:id="rId19"/>
    <p:sldId id="327" r:id="rId20"/>
    <p:sldId id="314" r:id="rId21"/>
    <p:sldId id="339" r:id="rId22"/>
    <p:sldId id="340" r:id="rId23"/>
    <p:sldId id="341" r:id="rId24"/>
    <p:sldId id="343" r:id="rId25"/>
    <p:sldId id="344" r:id="rId26"/>
    <p:sldId id="345" r:id="rId27"/>
    <p:sldId id="328" r:id="rId28"/>
    <p:sldId id="346" r:id="rId29"/>
    <p:sldId id="347" r:id="rId30"/>
    <p:sldId id="33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6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7BEE4C-6E4D-4BD2-9DF2-E5E6397C913D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EED7F-77A4-4439-ACBC-7E1B92355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68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8210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9351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6814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19780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04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0139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43103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37509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55955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3572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38369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37973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78766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34657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9142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679072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0896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133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2750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1725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7451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47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1149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816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962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3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94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325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27213-7412-1E6D-E18C-49C520C21E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6F614C-7C09-4967-2CA4-3C2725646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7C139-B5B7-6003-4304-9DC752EFD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55C45-AB18-961B-944F-E0EF350B0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FB94C-2CB3-E494-35D9-FE47BC48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958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547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5BDC0-D495-4468-B269-05C2B498DD2E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07380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7.png"/><Relationship Id="rId7" Type="http://schemas.openxmlformats.org/officeDocument/2006/relationships/image" Target="../media/image1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jp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image" Target="../media/image21.png"/><Relationship Id="rId7" Type="http://schemas.openxmlformats.org/officeDocument/2006/relationships/image" Target="../media/image2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7.jpg"/><Relationship Id="rId5" Type="http://schemas.openxmlformats.org/officeDocument/2006/relationships/image" Target="../media/image26.jp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9.png"/><Relationship Id="rId7" Type="http://schemas.openxmlformats.org/officeDocument/2006/relationships/image" Target="../media/image3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jpg"/><Relationship Id="rId5" Type="http://schemas.openxmlformats.org/officeDocument/2006/relationships/image" Target="../media/image25.png"/><Relationship Id="rId4" Type="http://schemas.openxmlformats.org/officeDocument/2006/relationships/image" Target="../media/image30.png"/><Relationship Id="rId9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4.jp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g"/><Relationship Id="rId3" Type="http://schemas.openxmlformats.org/officeDocument/2006/relationships/image" Target="../media/image44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jpe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7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0" Type="http://schemas.openxmlformats.org/officeDocument/2006/relationships/image" Target="../media/image45.png"/><Relationship Id="rId9" Type="http://schemas.openxmlformats.org/officeDocument/2006/relationships/image" Target="../media/image4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51DDB-62D6-C293-E1AE-68E5CC239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Confounding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145417-CEA3-2711-9625-1EF585CD65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Confounding with a worked example of a linear model with multiple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2018068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3EF98-3281-4249-A086-0650FBD8F2E0}"/>
                  </a:ext>
                </a:extLst>
              </p:cNvPr>
              <p:cNvSpPr txBox="1"/>
              <p:nvPr/>
            </p:nvSpPr>
            <p:spPr>
              <a:xfrm>
                <a:off x="1939749" y="3780004"/>
                <a:ext cx="49500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3EF98-3281-4249-A086-0650FBD8F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9749" y="3780004"/>
                <a:ext cx="495000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How do we understand causation?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8273455" cy="4555200"/>
          </a:xfrm>
        </p:spPr>
        <p:txBody>
          <a:bodyPr/>
          <a:lstStyle/>
          <a:p>
            <a:r>
              <a:rPr lang="en-GB" dirty="0"/>
              <a:t>Causal inference is the goal in most of science</a:t>
            </a:r>
          </a:p>
          <a:p>
            <a:pPr lvl="1">
              <a:spcBef>
                <a:spcPts val="0"/>
              </a:spcBef>
            </a:pPr>
            <a:r>
              <a:rPr lang="en-GB" dirty="0"/>
              <a:t>Do </a:t>
            </a:r>
            <a:r>
              <a:rPr lang="en-GB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ice cream sales </a:t>
            </a:r>
            <a:r>
              <a:rPr lang="en-GB" dirty="0"/>
              <a:t>cause </a:t>
            </a:r>
            <a:r>
              <a:rPr lang="en-GB" b="1" dirty="0">
                <a:solidFill>
                  <a:srgbClr val="FFC000"/>
                </a:solidFill>
              </a:rPr>
              <a:t>sharks to attack</a:t>
            </a:r>
            <a:r>
              <a:rPr lang="en-GB" dirty="0"/>
              <a:t>?</a:t>
            </a:r>
          </a:p>
          <a:p>
            <a:r>
              <a:rPr lang="en-GB" dirty="0"/>
              <a:t>How do we know if there is a causal relationship?</a:t>
            </a:r>
          </a:p>
          <a:p>
            <a:pPr lvl="1">
              <a:spcBef>
                <a:spcPts val="0"/>
              </a:spcBef>
            </a:pPr>
            <a:r>
              <a:rPr lang="en-GB" dirty="0"/>
              <a:t>With a statistical model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318279-2903-4A14-8685-8EA7ABC8CDAB}"/>
              </a:ext>
            </a:extLst>
          </p:cNvPr>
          <p:cNvGrpSpPr/>
          <p:nvPr/>
        </p:nvGrpSpPr>
        <p:grpSpPr>
          <a:xfrm>
            <a:off x="2090215" y="4726454"/>
            <a:ext cx="4751645" cy="1691343"/>
            <a:chOff x="2439729" y="3563471"/>
            <a:chExt cx="3563734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4652034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2439729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bg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B71CB-8A25-4739-8293-18C39045DA9D}"/>
              </a:ext>
            </a:extLst>
          </p:cNvPr>
          <p:cNvCxnSpPr>
            <a:stCxn id="7" idx="6"/>
            <a:endCxn id="6" idx="2"/>
          </p:cNvCxnSpPr>
          <p:nvPr/>
        </p:nvCxnSpPr>
        <p:spPr>
          <a:xfrm>
            <a:off x="3892120" y="5572126"/>
            <a:ext cx="11478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1C36D-E740-42C1-90E3-25E1B15234CB}"/>
                  </a:ext>
                </a:extLst>
              </p:cNvPr>
              <p:cNvSpPr txBox="1"/>
              <p:nvPr/>
            </p:nvSpPr>
            <p:spPr>
              <a:xfrm>
                <a:off x="1939749" y="3780003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=0.5+5×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1C36D-E740-42C1-90E3-25E1B152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9749" y="3780003"/>
                <a:ext cx="49021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hark Bite Ice Cream Sundaes Recipe | Food Network Kitchen | Food Network">
            <a:extLst>
              <a:ext uri="{FF2B5EF4-FFF2-40B4-BE49-F238E27FC236}">
                <a16:creationId xmlns:a16="http://schemas.microsoft.com/office/drawing/2014/main" id="{BA910A46-3244-45D1-A6C1-7E4612772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9572" y="2421534"/>
            <a:ext cx="3289300" cy="246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F1C739F-E804-4D8D-97F0-36FCC591672C}"/>
              </a:ext>
            </a:extLst>
          </p:cNvPr>
          <p:cNvGrpSpPr/>
          <p:nvPr/>
        </p:nvGrpSpPr>
        <p:grpSpPr>
          <a:xfrm>
            <a:off x="3738157" y="3814233"/>
            <a:ext cx="1455761" cy="1638300"/>
            <a:chOff x="4094328" y="2422331"/>
            <a:chExt cx="1091821" cy="12287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EF90363-3E60-461F-8BF3-FFE62866974C}"/>
                </a:ext>
              </a:extLst>
            </p:cNvPr>
            <p:cNvSpPr/>
            <p:nvPr/>
          </p:nvSpPr>
          <p:spPr>
            <a:xfrm>
              <a:off x="4094328" y="2422331"/>
              <a:ext cx="1091821" cy="46166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1F3FF64-BB15-44AD-B1BC-7DD5AAAB240B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4640239" y="2883996"/>
              <a:ext cx="0" cy="7670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41447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3" grpId="0" uiExpand="1" build="p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Sceptical?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173459" cy="4555200"/>
          </a:xfrm>
        </p:spPr>
        <p:txBody>
          <a:bodyPr/>
          <a:lstStyle/>
          <a:p>
            <a:r>
              <a:rPr lang="en-GB" dirty="0"/>
              <a:t>How could we convince ourselves?</a:t>
            </a:r>
          </a:p>
          <a:p>
            <a:r>
              <a:rPr lang="en-GB" dirty="0"/>
              <a:t>Plotting the raw data and prediction?</a:t>
            </a:r>
          </a:p>
          <a:p>
            <a:r>
              <a:rPr lang="en-GB" dirty="0"/>
              <a:t>Relationship looks pretty clear cut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C565DC-790C-404B-B4D9-B6693A087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053" y="1203053"/>
            <a:ext cx="5020347" cy="540095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FD17B58-9636-437A-9241-C39441877485}"/>
              </a:ext>
            </a:extLst>
          </p:cNvPr>
          <p:cNvGrpSpPr/>
          <p:nvPr/>
        </p:nvGrpSpPr>
        <p:grpSpPr>
          <a:xfrm>
            <a:off x="265953" y="4912661"/>
            <a:ext cx="4982583" cy="1691343"/>
            <a:chOff x="1739152" y="3563471"/>
            <a:chExt cx="3736937" cy="126850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EC8AD3A-9298-42AF-AB5B-FD25AD867D54}"/>
                </a:ext>
              </a:extLst>
            </p:cNvPr>
            <p:cNvSpPr/>
            <p:nvPr/>
          </p:nvSpPr>
          <p:spPr>
            <a:xfrm>
              <a:off x="4124660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7055753-47C3-47F0-8534-EBD5A5F32E8E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E64F779-B70C-4768-9BB2-CBA4E1204C47}"/>
              </a:ext>
            </a:extLst>
          </p:cNvPr>
          <p:cNvCxnSpPr>
            <a:stCxn id="14" idx="6"/>
            <a:endCxn id="12" idx="2"/>
          </p:cNvCxnSpPr>
          <p:nvPr/>
        </p:nvCxnSpPr>
        <p:spPr>
          <a:xfrm>
            <a:off x="2067858" y="5758332"/>
            <a:ext cx="13787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FFB947-6E35-42A2-AD19-6F52AD540960}"/>
                  </a:ext>
                </a:extLst>
              </p:cNvPr>
              <p:cNvSpPr txBox="1"/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×5+0.5=</m:t>
                      </m:r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FFB947-6E35-42A2-AD19-6F52AD540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13600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Could we think of a causal mechanism?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47483"/>
            <a:ext cx="6173459" cy="3266473"/>
          </a:xfrm>
        </p:spPr>
        <p:txBody>
          <a:bodyPr/>
          <a:lstStyle/>
          <a:p>
            <a:pPr marL="152396" indent="0">
              <a:buNone/>
            </a:pPr>
            <a:r>
              <a:rPr lang="en-GB" dirty="0"/>
              <a:t>“Sharks smell sugar!”</a:t>
            </a:r>
          </a:p>
          <a:p>
            <a:pPr marL="152396" indent="0">
              <a:buNone/>
            </a:pPr>
            <a:endParaRPr lang="en-GB" dirty="0"/>
          </a:p>
          <a:p>
            <a:pPr marL="152396" indent="0">
              <a:buNone/>
            </a:pPr>
            <a:r>
              <a:rPr lang="en-GB" sz="2400" dirty="0"/>
              <a:t>“Given sharks have acute sensory organs, we propose that the increased sugar levels are detected by sharks, leading to a preferential targeting of those who recently consumed ice cream.”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2B95685-946B-4FB8-8F51-AF5013DD4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053" y="1203053"/>
            <a:ext cx="5020347" cy="5400951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CF6AB43-2FA6-47DD-AF8F-D7C2291C490A}"/>
              </a:ext>
            </a:extLst>
          </p:cNvPr>
          <p:cNvGrpSpPr/>
          <p:nvPr/>
        </p:nvGrpSpPr>
        <p:grpSpPr>
          <a:xfrm>
            <a:off x="265953" y="4912661"/>
            <a:ext cx="4982583" cy="1691343"/>
            <a:chOff x="1739152" y="3563471"/>
            <a:chExt cx="3736937" cy="1268507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92E92D4-5165-47BA-989B-6E54A0308FB7}"/>
                </a:ext>
              </a:extLst>
            </p:cNvPr>
            <p:cNvSpPr/>
            <p:nvPr/>
          </p:nvSpPr>
          <p:spPr>
            <a:xfrm>
              <a:off x="4124660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CA8582B-70CA-4439-B2FA-AF7BE4710DD6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436C433-EB15-4FCF-A589-B78C0335780D}"/>
              </a:ext>
            </a:extLst>
          </p:cNvPr>
          <p:cNvCxnSpPr>
            <a:stCxn id="23" idx="6"/>
            <a:endCxn id="22" idx="2"/>
          </p:cNvCxnSpPr>
          <p:nvPr/>
        </p:nvCxnSpPr>
        <p:spPr>
          <a:xfrm>
            <a:off x="2067858" y="5758332"/>
            <a:ext cx="13787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F167F0-FE38-430C-B3EE-10B6D73E92C2}"/>
                  </a:ext>
                </a:extLst>
              </p:cNvPr>
              <p:cNvSpPr txBox="1"/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×5+0.5=</m:t>
                      </m:r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F167F0-FE38-430C-B3EE-10B6D73E9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084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Do models describe causation?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Always remember: models find </a:t>
            </a:r>
            <a:r>
              <a:rPr lang="en-GB" i="1" dirty="0"/>
              <a:t>associations</a:t>
            </a:r>
            <a:r>
              <a:rPr lang="en-GB" dirty="0"/>
              <a:t> between variables</a:t>
            </a:r>
          </a:p>
          <a:p>
            <a:r>
              <a:rPr lang="en-GB" dirty="0"/>
              <a:t>Associations can be:</a:t>
            </a:r>
          </a:p>
          <a:p>
            <a:pPr lvl="1">
              <a:spcBef>
                <a:spcPts val="0"/>
              </a:spcBef>
            </a:pPr>
            <a:r>
              <a:rPr lang="en-GB" dirty="0"/>
              <a:t>Causal</a:t>
            </a:r>
          </a:p>
          <a:p>
            <a:pPr lvl="1">
              <a:spcBef>
                <a:spcPts val="0"/>
              </a:spcBef>
            </a:pPr>
            <a:r>
              <a:rPr lang="en-GB" dirty="0"/>
              <a:t>Coincidental (i.e., “spurious correlations”)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Confounded</a:t>
            </a:r>
            <a:r>
              <a:rPr lang="en-GB" b="1" dirty="0">
                <a:solidFill>
                  <a:srgbClr val="7030A0"/>
                </a:solidFill>
              </a:rPr>
              <a:t> </a:t>
            </a:r>
            <a:r>
              <a:rPr lang="en-GB" dirty="0"/>
              <a:t>(i.e., special types of “spurious correlations”)</a:t>
            </a:r>
          </a:p>
          <a:p>
            <a:pPr lvl="1">
              <a:spcBef>
                <a:spcPts val="0"/>
              </a:spcBef>
            </a:pPr>
            <a:endParaRPr lang="en-GB" b="1" dirty="0">
              <a:solidFill>
                <a:srgbClr val="7030A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23B8E3C-F7E3-4215-93BC-BB0CE757EEA8}"/>
              </a:ext>
            </a:extLst>
          </p:cNvPr>
          <p:cNvGrpSpPr/>
          <p:nvPr/>
        </p:nvGrpSpPr>
        <p:grpSpPr>
          <a:xfrm>
            <a:off x="2235197" y="4400491"/>
            <a:ext cx="7721600" cy="1691343"/>
            <a:chOff x="1739152" y="3563471"/>
            <a:chExt cx="5791200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6178923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66B71CB-8A25-4739-8293-18C39045DA9D}"/>
                </a:ext>
              </a:extLst>
            </p:cNvPr>
            <p:cNvCxnSpPr>
              <a:cxnSpLocks/>
              <a:stCxn id="7" idx="6"/>
              <a:endCxn id="6" idx="2"/>
            </p:cNvCxnSpPr>
            <p:nvPr/>
          </p:nvCxnSpPr>
          <p:spPr>
            <a:xfrm>
              <a:off x="3090581" y="4197725"/>
              <a:ext cx="308834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8E343-8824-45F6-A6F3-70DD139ED2FA}"/>
                  </a:ext>
                </a:extLst>
              </p:cNvPr>
              <p:cNvSpPr txBox="1"/>
              <p:nvPr/>
            </p:nvSpPr>
            <p:spPr>
              <a:xfrm>
                <a:off x="3616901" y="3669879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×5+0.5=</m:t>
                      </m:r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8E343-8824-45F6-A6F3-70DD139ED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901" y="3669879"/>
                <a:ext cx="49021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A59FD66-18F6-4292-998A-B9DF35386C13}"/>
              </a:ext>
            </a:extLst>
          </p:cNvPr>
          <p:cNvGrpSpPr/>
          <p:nvPr/>
        </p:nvGrpSpPr>
        <p:grpSpPr>
          <a:xfrm>
            <a:off x="5295333" y="3669879"/>
            <a:ext cx="1455761" cy="1576283"/>
            <a:chOff x="4094328" y="2422331"/>
            <a:chExt cx="1091821" cy="118221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CF4F04D-B1D3-4A43-9E33-A13A39845411}"/>
                </a:ext>
              </a:extLst>
            </p:cNvPr>
            <p:cNvSpPr/>
            <p:nvPr/>
          </p:nvSpPr>
          <p:spPr>
            <a:xfrm>
              <a:off x="4094328" y="2422331"/>
              <a:ext cx="1091821" cy="461665"/>
            </a:xfrm>
            <a:prstGeom prst="roundRect">
              <a:avLst/>
            </a:prstGeom>
            <a:noFill/>
            <a:ln>
              <a:solidFill>
                <a:schemeClr val="tx2">
                  <a:lumMod val="1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274BCD7-4A29-4016-90EA-740BEEFD06C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4640239" y="2883996"/>
              <a:ext cx="0" cy="720547"/>
            </a:xfrm>
            <a:prstGeom prst="straightConnector1">
              <a:avLst/>
            </a:prstGeom>
            <a:ln>
              <a:solidFill>
                <a:schemeClr val="tx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6226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Why do we find an association between ice cream and shark attacks?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318279-2903-4A14-8685-8EA7ABC8CDAB}"/>
              </a:ext>
            </a:extLst>
          </p:cNvPr>
          <p:cNvGrpSpPr/>
          <p:nvPr/>
        </p:nvGrpSpPr>
        <p:grpSpPr>
          <a:xfrm>
            <a:off x="2318869" y="4751295"/>
            <a:ext cx="7721600" cy="1691343"/>
            <a:chOff x="1739152" y="3563471"/>
            <a:chExt cx="5791200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6178923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B71CB-8A25-4739-8293-18C39045DA9D}"/>
              </a:ext>
            </a:extLst>
          </p:cNvPr>
          <p:cNvCxnSpPr>
            <a:stCxn id="7" idx="6"/>
            <a:endCxn id="6" idx="2"/>
          </p:cNvCxnSpPr>
          <p:nvPr/>
        </p:nvCxnSpPr>
        <p:spPr>
          <a:xfrm>
            <a:off x="4120775" y="5596967"/>
            <a:ext cx="411778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005062A-37F8-4DB2-A260-70B543B3FFD9}"/>
              </a:ext>
            </a:extLst>
          </p:cNvPr>
          <p:cNvSpPr/>
          <p:nvPr/>
        </p:nvSpPr>
        <p:spPr>
          <a:xfrm>
            <a:off x="5195046" y="1737658"/>
            <a:ext cx="1801905" cy="1691343"/>
          </a:xfrm>
          <a:prstGeom prst="ellipse">
            <a:avLst/>
          </a:prstGeom>
          <a:solidFill>
            <a:schemeClr val="bg2">
              <a:lumMod val="75000"/>
            </a:schemeClr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Visit beach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F004B4-318A-4BFC-A053-FAE6A37A8894}"/>
              </a:ext>
            </a:extLst>
          </p:cNvPr>
          <p:cNvCxnSpPr>
            <a:stCxn id="14" idx="3"/>
            <a:endCxn id="7" idx="7"/>
          </p:cNvCxnSpPr>
          <p:nvPr/>
        </p:nvCxnSpPr>
        <p:spPr>
          <a:xfrm flipH="1">
            <a:off x="3856893" y="3181309"/>
            <a:ext cx="1602036" cy="18176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C6F04B-5835-467F-BA42-1D957E8C00EB}"/>
              </a:ext>
            </a:extLst>
          </p:cNvPr>
          <p:cNvCxnSpPr>
            <a:stCxn id="14" idx="5"/>
            <a:endCxn id="6" idx="1"/>
          </p:cNvCxnSpPr>
          <p:nvPr/>
        </p:nvCxnSpPr>
        <p:spPr>
          <a:xfrm>
            <a:off x="6733068" y="3181309"/>
            <a:ext cx="1769379" cy="18176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25357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7437EA-FFF4-4040-81D6-687DFDBCB391}"/>
                  </a:ext>
                </a:extLst>
              </p:cNvPr>
              <p:cNvSpPr txBox="1"/>
              <p:nvPr/>
            </p:nvSpPr>
            <p:spPr>
              <a:xfrm>
                <a:off x="6801682" y="5864371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=0.5+5×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7437EA-FFF4-4040-81D6-687DFDBCB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682" y="5864371"/>
                <a:ext cx="4902111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3FC8C0-326B-417D-811D-121FE77B74E8}"/>
                  </a:ext>
                </a:extLst>
              </p:cNvPr>
              <p:cNvSpPr txBox="1"/>
              <p:nvPr/>
            </p:nvSpPr>
            <p:spPr>
              <a:xfrm>
                <a:off x="6800531" y="5856774"/>
                <a:ext cx="49500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3FC8C0-326B-417D-811D-121FE77B7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531" y="5856774"/>
                <a:ext cx="495000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Shark and ice cream connection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318279-2903-4A14-8685-8EA7ABC8CDAB}"/>
              </a:ext>
            </a:extLst>
          </p:cNvPr>
          <p:cNvGrpSpPr/>
          <p:nvPr/>
        </p:nvGrpSpPr>
        <p:grpSpPr>
          <a:xfrm>
            <a:off x="6526305" y="4113611"/>
            <a:ext cx="5558116" cy="1283143"/>
            <a:chOff x="1739152" y="3563471"/>
            <a:chExt cx="5791200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6178923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Ice cream sales</a:t>
              </a:r>
            </a:p>
          </p:txBody>
        </p:sp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B005062A-37F8-4DB2-A260-70B543B3FFD9}"/>
              </a:ext>
            </a:extLst>
          </p:cNvPr>
          <p:cNvSpPr/>
          <p:nvPr/>
        </p:nvSpPr>
        <p:spPr>
          <a:xfrm>
            <a:off x="8596616" y="1827306"/>
            <a:ext cx="1297037" cy="1283143"/>
          </a:xfrm>
          <a:prstGeom prst="ellipse">
            <a:avLst/>
          </a:prstGeom>
          <a:solidFill>
            <a:schemeClr val="bg2">
              <a:lumMod val="75000"/>
            </a:schemeClr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Visit beach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F004B4-318A-4BFC-A053-FAE6A37A8894}"/>
              </a:ext>
            </a:extLst>
          </p:cNvPr>
          <p:cNvCxnSpPr>
            <a:stCxn id="14" idx="3"/>
            <a:endCxn id="7" idx="7"/>
          </p:cNvCxnSpPr>
          <p:nvPr/>
        </p:nvCxnSpPr>
        <p:spPr>
          <a:xfrm flipH="1">
            <a:off x="7633395" y="2922537"/>
            <a:ext cx="1153168" cy="13789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C6F04B-5835-467F-BA42-1D957E8C00EB}"/>
              </a:ext>
            </a:extLst>
          </p:cNvPr>
          <p:cNvCxnSpPr>
            <a:stCxn id="14" idx="5"/>
            <a:endCxn id="6" idx="1"/>
          </p:cNvCxnSpPr>
          <p:nvPr/>
        </p:nvCxnSpPr>
        <p:spPr>
          <a:xfrm>
            <a:off x="9703707" y="2922537"/>
            <a:ext cx="1273624" cy="13789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6E9E0DF-DD0F-4F4E-BDB2-D03D27377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" y="1228855"/>
            <a:ext cx="6800529" cy="5354631"/>
          </a:xfrm>
        </p:spPr>
        <p:txBody>
          <a:bodyPr/>
          <a:lstStyle/>
          <a:p>
            <a:r>
              <a:rPr lang="en-GB" sz="2400" dirty="0"/>
              <a:t>The arrows show the direction of causation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People eat ice cream when they go to the beach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People go swimming at the beach and can then be attacked by sharks</a:t>
            </a:r>
          </a:p>
          <a:p>
            <a:r>
              <a:rPr lang="en-GB" sz="2400" dirty="0"/>
              <a:t>The model does not know about going to the beach, or which way the arrows go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The model only knows what we tell it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It could easily find that shark attacks cause ice cream sales!</a:t>
            </a:r>
          </a:p>
          <a:p>
            <a:r>
              <a:rPr lang="en-GB" sz="2400" dirty="0"/>
              <a:t>Because ice cream and shark attacks are causally linked by going to the beach, the model can find a relationship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There is an open path for the information (not causation) to flow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0ABAEC-0D05-49A7-8834-7C1D3D3E49DF}"/>
              </a:ext>
            </a:extLst>
          </p:cNvPr>
          <p:cNvCxnSpPr/>
          <p:nvPr/>
        </p:nvCxnSpPr>
        <p:spPr>
          <a:xfrm flipH="1">
            <a:off x="7633395" y="2930134"/>
            <a:ext cx="1153168" cy="13789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1A5D7B-D07F-4320-B966-2F77F0AFCC9A}"/>
              </a:ext>
            </a:extLst>
          </p:cNvPr>
          <p:cNvCxnSpPr>
            <a:cxnSpLocks/>
            <a:stCxn id="14" idx="5"/>
            <a:endCxn id="6" idx="1"/>
          </p:cNvCxnSpPr>
          <p:nvPr/>
        </p:nvCxnSpPr>
        <p:spPr>
          <a:xfrm>
            <a:off x="9703707" y="2922536"/>
            <a:ext cx="1273623" cy="13789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CE6A05-C164-43DD-8B4B-4B2602FC07C3}"/>
              </a:ext>
            </a:extLst>
          </p:cNvPr>
          <p:cNvSpPr/>
          <p:nvPr/>
        </p:nvSpPr>
        <p:spPr>
          <a:xfrm>
            <a:off x="7862131" y="3417988"/>
            <a:ext cx="2905571" cy="1094193"/>
          </a:xfrm>
          <a:custGeom>
            <a:avLst/>
            <a:gdLst>
              <a:gd name="connsiteX0" fmla="*/ 0 w 2179178"/>
              <a:gd name="connsiteY0" fmla="*/ 820645 h 820645"/>
              <a:gd name="connsiteX1" fmla="*/ 1034041 w 2179178"/>
              <a:gd name="connsiteY1" fmla="*/ 248 h 820645"/>
              <a:gd name="connsiteX2" fmla="*/ 2179178 w 2179178"/>
              <a:gd name="connsiteY2" fmla="*/ 752278 h 82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79178" h="820645">
                <a:moveTo>
                  <a:pt x="0" y="820645"/>
                </a:moveTo>
                <a:cubicBezTo>
                  <a:pt x="335422" y="416143"/>
                  <a:pt x="670845" y="11642"/>
                  <a:pt x="1034041" y="248"/>
                </a:cubicBezTo>
                <a:cubicBezTo>
                  <a:pt x="1397237" y="-11147"/>
                  <a:pt x="1788207" y="370565"/>
                  <a:pt x="2179178" y="752278"/>
                </a:cubicBezTo>
              </a:path>
            </a:pathLst>
          </a:custGeom>
          <a:noFill/>
          <a:ln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CE92B3-ACBA-471A-B45B-010ABD573CA5}"/>
              </a:ext>
            </a:extLst>
          </p:cNvPr>
          <p:cNvCxnSpPr>
            <a:stCxn id="7" idx="6"/>
            <a:endCxn id="6" idx="2"/>
          </p:cNvCxnSpPr>
          <p:nvPr/>
        </p:nvCxnSpPr>
        <p:spPr>
          <a:xfrm>
            <a:off x="7823342" y="4755183"/>
            <a:ext cx="2964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95304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19" grpId="1"/>
      <p:bldP spid="12" grpId="0" uiExpand="1" build="p"/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A family of confusion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4BD0FBE-1901-44C1-B2BF-04A0F26F2F78}"/>
              </a:ext>
            </a:extLst>
          </p:cNvPr>
          <p:cNvGrpSpPr/>
          <p:nvPr/>
        </p:nvGrpSpPr>
        <p:grpSpPr>
          <a:xfrm>
            <a:off x="7302365" y="1107020"/>
            <a:ext cx="2088545" cy="2126089"/>
            <a:chOff x="5476773" y="830264"/>
            <a:chExt cx="1566409" cy="1594567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E6A70E16-FEC9-4152-B419-97B35E22CD42}"/>
                </a:ext>
              </a:extLst>
            </p:cNvPr>
            <p:cNvGrpSpPr/>
            <p:nvPr/>
          </p:nvGrpSpPr>
          <p:grpSpPr>
            <a:xfrm>
              <a:off x="5476773" y="1341040"/>
              <a:ext cx="1566409" cy="1083791"/>
              <a:chOff x="6155850" y="1341040"/>
              <a:chExt cx="1566409" cy="1083791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33F65E5-54E3-4F6D-8E50-D41D0D93A99A}"/>
                  </a:ext>
                </a:extLst>
              </p:cNvPr>
              <p:cNvSpPr/>
              <p:nvPr/>
            </p:nvSpPr>
            <p:spPr>
              <a:xfrm>
                <a:off x="7287658" y="2021511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9613A30-CEA7-43EB-9DD4-31A2596A3525}"/>
                  </a:ext>
                </a:extLst>
              </p:cNvPr>
              <p:cNvSpPr/>
              <p:nvPr/>
            </p:nvSpPr>
            <p:spPr>
              <a:xfrm>
                <a:off x="6155850" y="2021511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B801E74-A95D-44EA-B4DF-54DAACC4A3E1}"/>
                  </a:ext>
                </a:extLst>
              </p:cNvPr>
              <p:cNvSpPr/>
              <p:nvPr/>
            </p:nvSpPr>
            <p:spPr>
              <a:xfrm>
                <a:off x="6725536" y="1341040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A41A44C1-653D-4DC3-8B5B-5B648C14E08A}"/>
                  </a:ext>
                </a:extLst>
              </p:cNvPr>
              <p:cNvCxnSpPr>
                <a:stCxn id="32" idx="5"/>
                <a:endCxn id="28" idx="1"/>
              </p:cNvCxnSpPr>
              <p:nvPr/>
            </p:nvCxnSpPr>
            <p:spPr>
              <a:xfrm>
                <a:off x="7096491" y="1685294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AE978E5-F091-4821-96C6-B724F076F9B2}"/>
                  </a:ext>
                </a:extLst>
              </p:cNvPr>
              <p:cNvCxnSpPr>
                <a:stCxn id="30" idx="7"/>
                <a:endCxn id="32" idx="3"/>
              </p:cNvCxnSpPr>
              <p:nvPr/>
            </p:nvCxnSpPr>
            <p:spPr>
              <a:xfrm flipV="1">
                <a:off x="6526806" y="1685294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9C42D1A-BCCF-453E-9579-4AFC9AB8A212}"/>
                </a:ext>
              </a:extLst>
            </p:cNvPr>
            <p:cNvSpPr txBox="1"/>
            <p:nvPr/>
          </p:nvSpPr>
          <p:spPr>
            <a:xfrm>
              <a:off x="5991889" y="830264"/>
              <a:ext cx="589345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Pipe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54C2958-F320-4C48-A8CA-5C868A94C0AF}"/>
              </a:ext>
            </a:extLst>
          </p:cNvPr>
          <p:cNvGrpSpPr/>
          <p:nvPr/>
        </p:nvGrpSpPr>
        <p:grpSpPr>
          <a:xfrm>
            <a:off x="4701277" y="1116175"/>
            <a:ext cx="2088545" cy="2137851"/>
            <a:chOff x="3525957" y="837131"/>
            <a:chExt cx="1566409" cy="160338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ADABC815-811B-49C9-992B-C158E810C735}"/>
                </a:ext>
              </a:extLst>
            </p:cNvPr>
            <p:cNvGrpSpPr/>
            <p:nvPr/>
          </p:nvGrpSpPr>
          <p:grpSpPr>
            <a:xfrm>
              <a:off x="3525957" y="1356728"/>
              <a:ext cx="1566409" cy="1083791"/>
              <a:chOff x="4205034" y="1356728"/>
              <a:chExt cx="1566409" cy="1083791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5C522C8-ABFA-4058-9BAE-C456C9C05CF4}"/>
                  </a:ext>
                </a:extLst>
              </p:cNvPr>
              <p:cNvSpPr/>
              <p:nvPr/>
            </p:nvSpPr>
            <p:spPr>
              <a:xfrm>
                <a:off x="5336842" y="2037199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D059DA1-CEFB-4BBD-A284-532D2AC070BD}"/>
                  </a:ext>
                </a:extLst>
              </p:cNvPr>
              <p:cNvSpPr/>
              <p:nvPr/>
            </p:nvSpPr>
            <p:spPr>
              <a:xfrm>
                <a:off x="4205034" y="2037199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A4066AC-A54A-467D-88E0-DF35BA925149}"/>
                  </a:ext>
                </a:extLst>
              </p:cNvPr>
              <p:cNvSpPr/>
              <p:nvPr/>
            </p:nvSpPr>
            <p:spPr>
              <a:xfrm>
                <a:off x="4774720" y="1356728"/>
                <a:ext cx="434601" cy="403319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75A2A15-38D9-4ED3-93A0-ADB28A204398}"/>
                  </a:ext>
                </a:extLst>
              </p:cNvPr>
              <p:cNvCxnSpPr>
                <a:stCxn id="20" idx="3"/>
                <a:endCxn id="19" idx="7"/>
              </p:cNvCxnSpPr>
              <p:nvPr/>
            </p:nvCxnSpPr>
            <p:spPr>
              <a:xfrm flipH="1">
                <a:off x="4575990" y="1700982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28B291C2-904F-4007-89AA-0095EB52F029}"/>
                  </a:ext>
                </a:extLst>
              </p:cNvPr>
              <p:cNvCxnSpPr>
                <a:stCxn id="20" idx="5"/>
                <a:endCxn id="18" idx="1"/>
              </p:cNvCxnSpPr>
              <p:nvPr/>
            </p:nvCxnSpPr>
            <p:spPr>
              <a:xfrm>
                <a:off x="5145675" y="1700982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B113D6-8AAE-4097-851A-4EC467169931}"/>
                </a:ext>
              </a:extLst>
            </p:cNvPr>
            <p:cNvSpPr txBox="1"/>
            <p:nvPr/>
          </p:nvSpPr>
          <p:spPr>
            <a:xfrm>
              <a:off x="4041874" y="837131"/>
              <a:ext cx="614591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Fork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78ED9010-4665-484F-8E6C-DA3A0A970AC1}"/>
              </a:ext>
            </a:extLst>
          </p:cNvPr>
          <p:cNvGrpSpPr/>
          <p:nvPr/>
        </p:nvGrpSpPr>
        <p:grpSpPr>
          <a:xfrm>
            <a:off x="4701276" y="4003391"/>
            <a:ext cx="2088545" cy="2203955"/>
            <a:chOff x="3525957" y="3002543"/>
            <a:chExt cx="1566409" cy="1652966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0F3DDA8-C395-407E-9906-32803A28160A}"/>
                </a:ext>
              </a:extLst>
            </p:cNvPr>
            <p:cNvGrpSpPr/>
            <p:nvPr/>
          </p:nvGrpSpPr>
          <p:grpSpPr>
            <a:xfrm>
              <a:off x="3525957" y="3571718"/>
              <a:ext cx="1566409" cy="1083791"/>
              <a:chOff x="4205034" y="3383452"/>
              <a:chExt cx="1566409" cy="1083791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E45509B-490B-4D1A-9F28-C9A5842BB263}"/>
                  </a:ext>
                </a:extLst>
              </p:cNvPr>
              <p:cNvSpPr/>
              <p:nvPr/>
            </p:nvSpPr>
            <p:spPr>
              <a:xfrm>
                <a:off x="5336842" y="4063923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6BE5D0A-4C42-4390-AE7C-F0ED68019773}"/>
                  </a:ext>
                </a:extLst>
              </p:cNvPr>
              <p:cNvSpPr/>
              <p:nvPr/>
            </p:nvSpPr>
            <p:spPr>
              <a:xfrm>
                <a:off x="4205034" y="4063923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01C355-0AE3-4E43-B31E-6F67F82CCD9D}"/>
                  </a:ext>
                </a:extLst>
              </p:cNvPr>
              <p:cNvSpPr/>
              <p:nvPr/>
            </p:nvSpPr>
            <p:spPr>
              <a:xfrm>
                <a:off x="4774720" y="3383452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DC4F697-437D-4542-850E-E5CD624387BF}"/>
                  </a:ext>
                </a:extLst>
              </p:cNvPr>
              <p:cNvCxnSpPr>
                <a:stCxn id="24" idx="7"/>
                <a:endCxn id="25" idx="3"/>
              </p:cNvCxnSpPr>
              <p:nvPr/>
            </p:nvCxnSpPr>
            <p:spPr>
              <a:xfrm flipV="1">
                <a:off x="4575990" y="3727706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75AC29F-F300-4106-B39B-5A6067C1B02E}"/>
                  </a:ext>
                </a:extLst>
              </p:cNvPr>
              <p:cNvCxnSpPr>
                <a:stCxn id="23" idx="1"/>
                <a:endCxn id="25" idx="5"/>
              </p:cNvCxnSpPr>
              <p:nvPr/>
            </p:nvCxnSpPr>
            <p:spPr>
              <a:xfrm flipH="1" flipV="1">
                <a:off x="5145675" y="3727706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5EC461-1B4D-48D9-9BB9-A14CB9D35624}"/>
                </a:ext>
              </a:extLst>
            </p:cNvPr>
            <p:cNvSpPr txBox="1"/>
            <p:nvPr/>
          </p:nvSpPr>
          <p:spPr>
            <a:xfrm>
              <a:off x="3916253" y="3002543"/>
              <a:ext cx="947615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Collider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5E09E6D-8182-477A-BD15-6D9591EDBFCB}"/>
              </a:ext>
            </a:extLst>
          </p:cNvPr>
          <p:cNvGrpSpPr/>
          <p:nvPr/>
        </p:nvGrpSpPr>
        <p:grpSpPr>
          <a:xfrm>
            <a:off x="2105497" y="1107019"/>
            <a:ext cx="2088545" cy="2147005"/>
            <a:chOff x="1579122" y="830264"/>
            <a:chExt cx="1566409" cy="1610254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DB27D496-C095-4342-98D0-7DFBB84BDDDE}"/>
                </a:ext>
              </a:extLst>
            </p:cNvPr>
            <p:cNvGrpSpPr/>
            <p:nvPr/>
          </p:nvGrpSpPr>
          <p:grpSpPr>
            <a:xfrm>
              <a:off x="1579122" y="2037198"/>
              <a:ext cx="1566409" cy="403320"/>
              <a:chOff x="2258199" y="2037198"/>
              <a:chExt cx="1566409" cy="40332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8FBB8E71-E714-4C1E-A0D6-B82B425268CB}"/>
                  </a:ext>
                </a:extLst>
              </p:cNvPr>
              <p:cNvSpPr/>
              <p:nvPr/>
            </p:nvSpPr>
            <p:spPr>
              <a:xfrm>
                <a:off x="3390007" y="2037198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FCDD6CE4-68CF-47F3-9E4C-E6AA8659F717}"/>
                  </a:ext>
                </a:extLst>
              </p:cNvPr>
              <p:cNvSpPr/>
              <p:nvPr/>
            </p:nvSpPr>
            <p:spPr>
              <a:xfrm>
                <a:off x="2258199" y="2037198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CA601D8D-B31A-4808-9732-653AA3E5E614}"/>
                  </a:ext>
                </a:extLst>
              </p:cNvPr>
              <p:cNvCxnSpPr>
                <a:cxnSpLocks/>
                <a:stCxn id="57" idx="6"/>
                <a:endCxn id="56" idx="2"/>
              </p:cNvCxnSpPr>
              <p:nvPr/>
            </p:nvCxnSpPr>
            <p:spPr>
              <a:xfrm>
                <a:off x="2692801" y="2238858"/>
                <a:ext cx="69720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5EA05AE-3093-4CAF-B304-8831AB0AEC87}"/>
                </a:ext>
              </a:extLst>
            </p:cNvPr>
            <p:cNvSpPr txBox="1"/>
            <p:nvPr/>
          </p:nvSpPr>
          <p:spPr>
            <a:xfrm>
              <a:off x="2032548" y="830264"/>
              <a:ext cx="68071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Truth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652350C0-6E90-4B50-B9CA-A1EB04836BE6}"/>
              </a:ext>
            </a:extLst>
          </p:cNvPr>
          <p:cNvGrpSpPr/>
          <p:nvPr/>
        </p:nvGrpSpPr>
        <p:grpSpPr>
          <a:xfrm>
            <a:off x="2074345" y="3999555"/>
            <a:ext cx="2101718" cy="2221236"/>
            <a:chOff x="1555759" y="2999666"/>
            <a:chExt cx="1576288" cy="1665927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69D0486-88B7-4726-BC32-815475763AFF}"/>
                </a:ext>
              </a:extLst>
            </p:cNvPr>
            <p:cNvGrpSpPr/>
            <p:nvPr/>
          </p:nvGrpSpPr>
          <p:grpSpPr>
            <a:xfrm>
              <a:off x="1555759" y="4262273"/>
              <a:ext cx="1566409" cy="403320"/>
              <a:chOff x="2234836" y="4074007"/>
              <a:chExt cx="1566409" cy="403320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2ACE33B8-C5A6-4F98-9755-0547D01854CB}"/>
                  </a:ext>
                </a:extLst>
              </p:cNvPr>
              <p:cNvSpPr/>
              <p:nvPr/>
            </p:nvSpPr>
            <p:spPr>
              <a:xfrm>
                <a:off x="3366644" y="4074007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40BF24B-65C1-4101-9092-AD49AD343F57}"/>
                  </a:ext>
                </a:extLst>
              </p:cNvPr>
              <p:cNvSpPr/>
              <p:nvPr/>
            </p:nvSpPr>
            <p:spPr>
              <a:xfrm>
                <a:off x="2234836" y="4074007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A5890CE-8281-4FD1-96C8-60F3F0094FC0}"/>
                </a:ext>
              </a:extLst>
            </p:cNvPr>
            <p:cNvSpPr txBox="1"/>
            <p:nvPr/>
          </p:nvSpPr>
          <p:spPr>
            <a:xfrm>
              <a:off x="1748014" y="2999666"/>
              <a:ext cx="1384033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Coincidence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B8E94E-931F-4959-8839-F3CD81C64B46}"/>
              </a:ext>
            </a:extLst>
          </p:cNvPr>
          <p:cNvGrpSpPr/>
          <p:nvPr/>
        </p:nvGrpSpPr>
        <p:grpSpPr>
          <a:xfrm>
            <a:off x="7012630" y="4003390"/>
            <a:ext cx="2887030" cy="2234268"/>
            <a:chOff x="5259472" y="3002542"/>
            <a:chExt cx="2165272" cy="1675701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572508C-6C04-477C-BEE0-69897BE62DF7}"/>
                </a:ext>
              </a:extLst>
            </p:cNvPr>
            <p:cNvGrpSpPr/>
            <p:nvPr/>
          </p:nvGrpSpPr>
          <p:grpSpPr>
            <a:xfrm>
              <a:off x="5259472" y="3482857"/>
              <a:ext cx="2165272" cy="1195386"/>
              <a:chOff x="5938549" y="3482857"/>
              <a:chExt cx="2165272" cy="119538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74F3F0-220D-4F18-B188-AAF77B01E2A1}"/>
                  </a:ext>
                </a:extLst>
              </p:cNvPr>
              <p:cNvSpPr/>
              <p:nvPr/>
            </p:nvSpPr>
            <p:spPr>
              <a:xfrm>
                <a:off x="7669220" y="3482857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D53BDBE-54FC-442D-8CDE-41E6E793354A}"/>
                  </a:ext>
                </a:extLst>
              </p:cNvPr>
              <p:cNvSpPr/>
              <p:nvPr/>
            </p:nvSpPr>
            <p:spPr>
              <a:xfrm>
                <a:off x="5938549" y="3482858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80A74BE-D5F4-4C32-9151-8EC13A98740A}"/>
                  </a:ext>
                </a:extLst>
              </p:cNvPr>
              <p:cNvSpPr/>
              <p:nvPr/>
            </p:nvSpPr>
            <p:spPr>
              <a:xfrm>
                <a:off x="6803885" y="3482859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0013FDE-CAFD-45FF-82A7-CFFF72045FA6}"/>
                  </a:ext>
                </a:extLst>
              </p:cNvPr>
              <p:cNvCxnSpPr>
                <a:cxnSpLocks/>
                <a:stCxn id="43" idx="6"/>
                <a:endCxn id="44" idx="2"/>
              </p:cNvCxnSpPr>
              <p:nvPr/>
            </p:nvCxnSpPr>
            <p:spPr>
              <a:xfrm>
                <a:off x="6373151" y="3684518"/>
                <a:ext cx="430734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08C0A6E7-AF67-4C21-A2BF-5BBAE5D7F026}"/>
                  </a:ext>
                </a:extLst>
              </p:cNvPr>
              <p:cNvCxnSpPr>
                <a:stCxn id="44" idx="6"/>
                <a:endCxn id="42" idx="2"/>
              </p:cNvCxnSpPr>
              <p:nvPr/>
            </p:nvCxnSpPr>
            <p:spPr>
              <a:xfrm flipV="1">
                <a:off x="7238486" y="3684517"/>
                <a:ext cx="430734" cy="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0D74FCBD-9648-48D3-B3A4-8FB638E75F1C}"/>
                  </a:ext>
                </a:extLst>
              </p:cNvPr>
              <p:cNvSpPr/>
              <p:nvPr/>
            </p:nvSpPr>
            <p:spPr>
              <a:xfrm>
                <a:off x="6809961" y="4274924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V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3517A162-BFD9-4153-959B-667DA7DA9D65}"/>
                  </a:ext>
                </a:extLst>
              </p:cNvPr>
              <p:cNvCxnSpPr>
                <a:stCxn id="44" idx="4"/>
                <a:endCxn id="53" idx="0"/>
              </p:cNvCxnSpPr>
              <p:nvPr/>
            </p:nvCxnSpPr>
            <p:spPr>
              <a:xfrm>
                <a:off x="7021186" y="3886178"/>
                <a:ext cx="6076" cy="3887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ACA1F83-E692-469A-A7E6-FE1A4F1BA5C1}"/>
                </a:ext>
              </a:extLst>
            </p:cNvPr>
            <p:cNvSpPr txBox="1"/>
            <p:nvPr/>
          </p:nvSpPr>
          <p:spPr>
            <a:xfrm>
              <a:off x="5772080" y="3002542"/>
              <a:ext cx="135397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Descendant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B6E6F98-52DE-4720-8926-DE231BDEF8E8}"/>
              </a:ext>
            </a:extLst>
          </p:cNvPr>
          <p:cNvGrpSpPr/>
          <p:nvPr/>
        </p:nvGrpSpPr>
        <p:grpSpPr>
          <a:xfrm>
            <a:off x="163861" y="1107019"/>
            <a:ext cx="4102415" cy="2227852"/>
            <a:chOff x="122895" y="830264"/>
            <a:chExt cx="3076811" cy="1670889"/>
          </a:xfrm>
        </p:grpSpPr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3F73FB6C-EC80-45BC-9808-2990E5D15689}"/>
                </a:ext>
              </a:extLst>
            </p:cNvPr>
            <p:cNvSpPr/>
            <p:nvPr/>
          </p:nvSpPr>
          <p:spPr>
            <a:xfrm>
              <a:off x="122895" y="1379358"/>
              <a:ext cx="1018793" cy="572700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What we hope for</a:t>
              </a:r>
            </a:p>
          </p:txBody>
        </p:sp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2790BEF0-411A-4BD3-87C7-1727DA02977B}"/>
                </a:ext>
              </a:extLst>
            </p:cNvPr>
            <p:cNvSpPr/>
            <p:nvPr/>
          </p:nvSpPr>
          <p:spPr>
            <a:xfrm>
              <a:off x="1512643" y="830264"/>
              <a:ext cx="1687063" cy="167088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CED1CC3-FE97-4FDE-87A3-EADDCA37CBAA}"/>
                </a:ext>
              </a:extLst>
            </p:cNvPr>
            <p:cNvCxnSpPr>
              <a:stCxn id="81" idx="1"/>
              <a:endCxn id="80" idx="3"/>
            </p:cNvCxnSpPr>
            <p:nvPr/>
          </p:nvCxnSpPr>
          <p:spPr>
            <a:xfrm flipH="1" flipV="1">
              <a:off x="1141688" y="1665708"/>
              <a:ext cx="370955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DC9AF6F-6644-4A08-A07D-5DFBEEE9F5EF}"/>
              </a:ext>
            </a:extLst>
          </p:cNvPr>
          <p:cNvGrpSpPr/>
          <p:nvPr/>
        </p:nvGrpSpPr>
        <p:grpSpPr>
          <a:xfrm>
            <a:off x="4347583" y="1107020"/>
            <a:ext cx="7765876" cy="5239993"/>
            <a:chOff x="3260687" y="830264"/>
            <a:chExt cx="5824407" cy="3929995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101F06F6-9CF0-4BED-B6A1-DDFB98A8F2E6}"/>
                </a:ext>
              </a:extLst>
            </p:cNvPr>
            <p:cNvSpPr/>
            <p:nvPr/>
          </p:nvSpPr>
          <p:spPr>
            <a:xfrm>
              <a:off x="7740388" y="2238857"/>
              <a:ext cx="1344706" cy="1117583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Different types of confounding relationships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B908BFC6-17A6-4583-BAFE-110E79EB5CCA}"/>
                </a:ext>
              </a:extLst>
            </p:cNvPr>
            <p:cNvSpPr/>
            <p:nvPr/>
          </p:nvSpPr>
          <p:spPr>
            <a:xfrm>
              <a:off x="3260687" y="830264"/>
              <a:ext cx="4304191" cy="392999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B0680D51-4539-4B60-8332-1E7F181C2CB4}"/>
                </a:ext>
              </a:extLst>
            </p:cNvPr>
            <p:cNvCxnSpPr>
              <a:cxnSpLocks/>
              <a:stCxn id="76" idx="3"/>
              <a:endCxn id="75" idx="1"/>
            </p:cNvCxnSpPr>
            <p:nvPr/>
          </p:nvCxnSpPr>
          <p:spPr>
            <a:xfrm>
              <a:off x="7564878" y="2795262"/>
              <a:ext cx="175510" cy="23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5F520EF-D276-4C68-A8C5-CBEACE0C6A1B}"/>
              </a:ext>
            </a:extLst>
          </p:cNvPr>
          <p:cNvGrpSpPr/>
          <p:nvPr/>
        </p:nvGrpSpPr>
        <p:grpSpPr>
          <a:xfrm>
            <a:off x="71737" y="3917577"/>
            <a:ext cx="4142879" cy="2429436"/>
            <a:chOff x="53802" y="2938182"/>
            <a:chExt cx="3107159" cy="1822077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21C3E82A-EE21-4D48-8BD5-B545464A0257}"/>
                </a:ext>
              </a:extLst>
            </p:cNvPr>
            <p:cNvSpPr/>
            <p:nvPr/>
          </p:nvSpPr>
          <p:spPr>
            <a:xfrm>
              <a:off x="1505919" y="2938182"/>
              <a:ext cx="1655042" cy="18220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EAB6EF53-E4B3-4A5C-AFF3-ABBE451F43DE}"/>
                </a:ext>
              </a:extLst>
            </p:cNvPr>
            <p:cNvSpPr/>
            <p:nvPr/>
          </p:nvSpPr>
          <p:spPr>
            <a:xfrm>
              <a:off x="53802" y="3564994"/>
              <a:ext cx="1121200" cy="572700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Associated by chance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23BD477-E813-49E7-AADC-A7F491CFD7AC}"/>
                </a:ext>
              </a:extLst>
            </p:cNvPr>
            <p:cNvCxnSpPr>
              <a:cxnSpLocks/>
              <a:stCxn id="87" idx="1"/>
              <a:endCxn id="88" idx="3"/>
            </p:cNvCxnSpPr>
            <p:nvPr/>
          </p:nvCxnSpPr>
          <p:spPr>
            <a:xfrm flipH="1">
              <a:off x="1175002" y="3849221"/>
              <a:ext cx="330917" cy="21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9915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Spurious correlations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AA7C6F-EDEF-44FC-8DDB-287456C395E5}"/>
              </a:ext>
            </a:extLst>
          </p:cNvPr>
          <p:cNvGrpSpPr/>
          <p:nvPr/>
        </p:nvGrpSpPr>
        <p:grpSpPr>
          <a:xfrm>
            <a:off x="419364" y="3559651"/>
            <a:ext cx="2088545" cy="537760"/>
            <a:chOff x="2234836" y="4074007"/>
            <a:chExt cx="1566409" cy="40332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8285DE4-C229-4BE7-A4B8-B39C5400361F}"/>
                </a:ext>
              </a:extLst>
            </p:cNvPr>
            <p:cNvSpPr/>
            <p:nvPr/>
          </p:nvSpPr>
          <p:spPr>
            <a:xfrm>
              <a:off x="3366644" y="4074007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198762-5BFF-447D-B8A7-CF3CDC0BE5E2}"/>
                </a:ext>
              </a:extLst>
            </p:cNvPr>
            <p:cNvSpPr/>
            <p:nvPr/>
          </p:nvSpPr>
          <p:spPr>
            <a:xfrm>
              <a:off x="2234836" y="4074007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7F6AFFB1-9066-4C47-B2FA-A6C19A9BB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221" y="1025495"/>
            <a:ext cx="6293559" cy="559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420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3415553" y="1178738"/>
            <a:ext cx="2329583" cy="225026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3178277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C74024A-652F-42D1-9693-2077F05C3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600741"/>
            <a:ext cx="5498864" cy="488696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8C53C81-943A-4A97-876B-833D857F1E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35" y="1600741"/>
            <a:ext cx="5498864" cy="488696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30E27D06-4733-4FEB-8312-1CEB36FDFFC5}"/>
              </a:ext>
            </a:extLst>
          </p:cNvPr>
          <p:cNvGrpSpPr/>
          <p:nvPr/>
        </p:nvGrpSpPr>
        <p:grpSpPr>
          <a:xfrm>
            <a:off x="10433371" y="570227"/>
            <a:ext cx="1112965" cy="527043"/>
            <a:chOff x="7825028" y="427670"/>
            <a:chExt cx="834724" cy="39528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7763E86-C99F-4E07-9966-D47CF42D2214}"/>
                </a:ext>
              </a:extLst>
            </p:cNvPr>
            <p:cNvCxnSpPr>
              <a:cxnSpLocks/>
              <a:stCxn id="25" idx="5"/>
              <a:endCxn id="22" idx="1"/>
            </p:cNvCxnSpPr>
            <p:nvPr/>
          </p:nvCxnSpPr>
          <p:spPr>
            <a:xfrm>
              <a:off x="8404939" y="427670"/>
              <a:ext cx="254813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Graphic 45" descr="Close with solid fill">
              <a:extLst>
                <a:ext uri="{FF2B5EF4-FFF2-40B4-BE49-F238E27FC236}">
                  <a16:creationId xmlns:a16="http://schemas.microsoft.com/office/drawing/2014/main" id="{63ED753D-9782-40E7-B4A6-402A00487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825028" y="439361"/>
              <a:ext cx="333375" cy="333375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B25795C-3C92-4F16-912F-F7DB548DE366}"/>
              </a:ext>
            </a:extLst>
          </p:cNvPr>
          <p:cNvGrpSpPr/>
          <p:nvPr/>
        </p:nvGrpSpPr>
        <p:grpSpPr>
          <a:xfrm>
            <a:off x="579853" y="500076"/>
            <a:ext cx="1099331" cy="527043"/>
            <a:chOff x="434890" y="375057"/>
            <a:chExt cx="824498" cy="39528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4A1FAAC-1D34-427D-B3AF-55CE5FFBA7B7}"/>
                </a:ext>
              </a:extLst>
            </p:cNvPr>
            <p:cNvCxnSpPr>
              <a:stCxn id="15" idx="7"/>
              <a:endCxn id="16" idx="3"/>
            </p:cNvCxnSpPr>
            <p:nvPr/>
          </p:nvCxnSpPr>
          <p:spPr>
            <a:xfrm flipV="1">
              <a:off x="434890" y="375057"/>
              <a:ext cx="262376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5DB798A-37F1-446F-BA1A-D3FBC6D09495}"/>
                </a:ext>
              </a:extLst>
            </p:cNvPr>
            <p:cNvCxnSpPr>
              <a:cxnSpLocks/>
              <a:stCxn id="16" idx="5"/>
              <a:endCxn id="14" idx="1"/>
            </p:cNvCxnSpPr>
            <p:nvPr/>
          </p:nvCxnSpPr>
          <p:spPr>
            <a:xfrm>
              <a:off x="1004575" y="375057"/>
              <a:ext cx="254813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Forking confounds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548E9DE-A30C-4B67-9183-4ACA770F90D3}"/>
              </a:ext>
            </a:extLst>
          </p:cNvPr>
          <p:cNvGrpSpPr/>
          <p:nvPr/>
        </p:nvGrpSpPr>
        <p:grpSpPr>
          <a:xfrm>
            <a:off x="85246" y="41071"/>
            <a:ext cx="2088545" cy="1445055"/>
            <a:chOff x="4205034" y="1356728"/>
            <a:chExt cx="1566409" cy="108379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46E9B16-A51C-4E14-BC09-479EAAE3FF91}"/>
                </a:ext>
              </a:extLst>
            </p:cNvPr>
            <p:cNvSpPr/>
            <p:nvPr/>
          </p:nvSpPr>
          <p:spPr>
            <a:xfrm>
              <a:off x="5336842" y="2037199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F97C4B-7515-465E-BB12-B1AEE53A5D55}"/>
                </a:ext>
              </a:extLst>
            </p:cNvPr>
            <p:cNvSpPr/>
            <p:nvPr/>
          </p:nvSpPr>
          <p:spPr>
            <a:xfrm>
              <a:off x="4205034" y="2037199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F5A1F19-5671-439E-8A43-7389AD69DA2A}"/>
                </a:ext>
              </a:extLst>
            </p:cNvPr>
            <p:cNvSpPr/>
            <p:nvPr/>
          </p:nvSpPr>
          <p:spPr>
            <a:xfrm>
              <a:off x="4774720" y="1356728"/>
              <a:ext cx="434601" cy="403319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A12AB-C2D1-481C-918C-DE34D84B33A5}"/>
                </a:ext>
              </a:extLst>
            </p:cNvPr>
            <p:cNvCxnSpPr>
              <a:stCxn id="16" idx="3"/>
              <a:endCxn id="15" idx="7"/>
            </p:cNvCxnSpPr>
            <p:nvPr/>
          </p:nvCxnSpPr>
          <p:spPr>
            <a:xfrm flipH="1">
              <a:off x="4575990" y="1700982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B32B62D-9B61-422B-82F2-A3C2D15CA33C}"/>
                </a:ext>
              </a:extLst>
            </p:cNvPr>
            <p:cNvCxnSpPr>
              <a:stCxn id="16" idx="5"/>
              <a:endCxn id="14" idx="1"/>
            </p:cNvCxnSpPr>
            <p:nvPr/>
          </p:nvCxnSpPr>
          <p:spPr>
            <a:xfrm>
              <a:off x="5145675" y="1700982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2415B59-7042-4137-913A-01AE6780ADD4}"/>
              </a:ext>
            </a:extLst>
          </p:cNvPr>
          <p:cNvGrpSpPr/>
          <p:nvPr/>
        </p:nvGrpSpPr>
        <p:grpSpPr>
          <a:xfrm>
            <a:off x="9952398" y="111222"/>
            <a:ext cx="2088545" cy="1445055"/>
            <a:chOff x="4205034" y="1356728"/>
            <a:chExt cx="1566409" cy="1083791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8C1F863-96D1-4067-ABE1-CD14C99DDF0A}"/>
                </a:ext>
              </a:extLst>
            </p:cNvPr>
            <p:cNvSpPr/>
            <p:nvPr/>
          </p:nvSpPr>
          <p:spPr>
            <a:xfrm>
              <a:off x="5336842" y="2037199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802B4D1-E4E9-450E-BEF7-A24B199F3D66}"/>
                </a:ext>
              </a:extLst>
            </p:cNvPr>
            <p:cNvSpPr/>
            <p:nvPr/>
          </p:nvSpPr>
          <p:spPr>
            <a:xfrm>
              <a:off x="4205034" y="2037199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4B95E66-490B-48C5-984B-F38AEBB0E279}"/>
                </a:ext>
              </a:extLst>
            </p:cNvPr>
            <p:cNvSpPr/>
            <p:nvPr/>
          </p:nvSpPr>
          <p:spPr>
            <a:xfrm>
              <a:off x="4774720" y="1356728"/>
              <a:ext cx="434601" cy="403319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80970DA-2275-477F-85DF-F557316600DF}"/>
                </a:ext>
              </a:extLst>
            </p:cNvPr>
            <p:cNvCxnSpPr>
              <a:stCxn id="25" idx="3"/>
              <a:endCxn id="23" idx="7"/>
            </p:cNvCxnSpPr>
            <p:nvPr/>
          </p:nvCxnSpPr>
          <p:spPr>
            <a:xfrm flipH="1">
              <a:off x="4575990" y="1700982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B0CC8F8-3F00-4E81-A203-D0422EB92728}"/>
                </a:ext>
              </a:extLst>
            </p:cNvPr>
            <p:cNvCxnSpPr>
              <a:stCxn id="25" idx="5"/>
              <a:endCxn id="22" idx="1"/>
            </p:cNvCxnSpPr>
            <p:nvPr/>
          </p:nvCxnSpPr>
          <p:spPr>
            <a:xfrm>
              <a:off x="5145675" y="1700982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E509543-FFB5-4023-8F0A-7B3721CB8049}"/>
              </a:ext>
            </a:extLst>
          </p:cNvPr>
          <p:cNvGrpSpPr/>
          <p:nvPr/>
        </p:nvGrpSpPr>
        <p:grpSpPr>
          <a:xfrm>
            <a:off x="1637944" y="5144747"/>
            <a:ext cx="8886197" cy="1326776"/>
            <a:chOff x="1239675" y="2596842"/>
            <a:chExt cx="6664648" cy="995082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2924E01A-C015-4C61-863A-05168E0A211C}"/>
                </a:ext>
              </a:extLst>
            </p:cNvPr>
            <p:cNvSpPr/>
            <p:nvPr/>
          </p:nvSpPr>
          <p:spPr>
            <a:xfrm>
              <a:off x="1239675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Confounded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FDDBAD15-B8AA-4A5E-9A68-BF8AD88F415B}"/>
                </a:ext>
              </a:extLst>
            </p:cNvPr>
            <p:cNvSpPr/>
            <p:nvPr/>
          </p:nvSpPr>
          <p:spPr>
            <a:xfrm>
              <a:off x="5625047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Causal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9AD9B57-CF92-4695-AA36-077D36694751}"/>
              </a:ext>
            </a:extLst>
          </p:cNvPr>
          <p:cNvGrpSpPr/>
          <p:nvPr/>
        </p:nvGrpSpPr>
        <p:grpSpPr>
          <a:xfrm>
            <a:off x="1763936" y="3140470"/>
            <a:ext cx="3165261" cy="821884"/>
            <a:chOff x="5579295" y="2727421"/>
            <a:chExt cx="3363663" cy="890434"/>
          </a:xfrm>
        </p:grpSpPr>
        <p:pic>
          <p:nvPicPr>
            <p:cNvPr id="34" name="Picture 33" descr="A picture containing bird, black, dark&#10;&#10;Description automatically generated">
              <a:extLst>
                <a:ext uri="{FF2B5EF4-FFF2-40B4-BE49-F238E27FC236}">
                  <a16:creationId xmlns:a16="http://schemas.microsoft.com/office/drawing/2014/main" id="{0FF50F6F-2EF5-44EA-A2B6-01B001BAD8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10839" r="10839"/>
            <a:stretch/>
          </p:blipFill>
          <p:spPr>
            <a:xfrm>
              <a:off x="5579295" y="2727421"/>
              <a:ext cx="1328386" cy="890434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7" name="Picture 36" descr="A picture containing bird, outdoor, sparrow, oscine&#10;&#10;Description automatically generated">
              <a:extLst>
                <a:ext uri="{FF2B5EF4-FFF2-40B4-BE49-F238E27FC236}">
                  <a16:creationId xmlns:a16="http://schemas.microsoft.com/office/drawing/2014/main" id="{9A162CF4-5992-46AF-B142-29E80231B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14572" y="2727421"/>
              <a:ext cx="1328386" cy="890434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AC88BD2-E553-4839-98D8-B0092F4700F0}"/>
              </a:ext>
            </a:extLst>
          </p:cNvPr>
          <p:cNvGrpSpPr/>
          <p:nvPr/>
        </p:nvGrpSpPr>
        <p:grpSpPr>
          <a:xfrm>
            <a:off x="7421994" y="2303789"/>
            <a:ext cx="3165261" cy="2316580"/>
            <a:chOff x="5579295" y="1108057"/>
            <a:chExt cx="3363663" cy="2509798"/>
          </a:xfrm>
        </p:grpSpPr>
        <p:pic>
          <p:nvPicPr>
            <p:cNvPr id="41" name="Picture 40" descr="A picture containing bird, black, dark&#10;&#10;Description automatically generated">
              <a:extLst>
                <a:ext uri="{FF2B5EF4-FFF2-40B4-BE49-F238E27FC236}">
                  <a16:creationId xmlns:a16="http://schemas.microsoft.com/office/drawing/2014/main" id="{B522C3D3-F154-49C1-B530-4E07AF42B4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10839" r="10839"/>
            <a:stretch/>
          </p:blipFill>
          <p:spPr>
            <a:xfrm>
              <a:off x="5579295" y="2727421"/>
              <a:ext cx="1328386" cy="890434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2" name="Picture 41" descr="A birdhouse in a field&#10;&#10;Description automatically generated with low confidence">
              <a:extLst>
                <a:ext uri="{FF2B5EF4-FFF2-40B4-BE49-F238E27FC236}">
                  <a16:creationId xmlns:a16="http://schemas.microsoft.com/office/drawing/2014/main" id="{B79CEA5B-ACA3-43A5-8BE9-BC104CE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3909" y="1108057"/>
              <a:ext cx="1084006" cy="1084006"/>
            </a:xfrm>
            <a:prstGeom prst="rect">
              <a:avLst/>
            </a:prstGeom>
            <a:ln w="57150">
              <a:solidFill>
                <a:srgbClr val="00B05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3" name="Picture 42" descr="A picture containing bird, outdoor, sparrow, oscine&#10;&#10;Description automatically generated">
              <a:extLst>
                <a:ext uri="{FF2B5EF4-FFF2-40B4-BE49-F238E27FC236}">
                  <a16:creationId xmlns:a16="http://schemas.microsoft.com/office/drawing/2014/main" id="{534309BC-329A-4903-A6AE-D12D38E48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14572" y="2727421"/>
              <a:ext cx="1328386" cy="890434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C7A09F36-68F8-47C8-934C-57BFB28894C6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>
              <a:off x="7255912" y="2192063"/>
              <a:ext cx="1022853" cy="535358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CC739F-DC9F-4FEB-830F-F3FA814A025F}"/>
              </a:ext>
            </a:extLst>
          </p:cNvPr>
          <p:cNvCxnSpPr>
            <a:stCxn id="34" idx="3"/>
            <a:endCxn id="37" idx="1"/>
          </p:cNvCxnSpPr>
          <p:nvPr/>
        </p:nvCxnSpPr>
        <p:spPr>
          <a:xfrm>
            <a:off x="3013969" y="3551412"/>
            <a:ext cx="665195" cy="0"/>
          </a:xfrm>
          <a:prstGeom prst="straightConnector1">
            <a:avLst/>
          </a:prstGeom>
          <a:ln w="381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1906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Forking confound quiz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6FDF11-46C5-4093-86B1-1CE301D0643A}"/>
              </a:ext>
            </a:extLst>
          </p:cNvPr>
          <p:cNvGrpSpPr/>
          <p:nvPr/>
        </p:nvGrpSpPr>
        <p:grpSpPr>
          <a:xfrm>
            <a:off x="85246" y="41071"/>
            <a:ext cx="2088545" cy="1445055"/>
            <a:chOff x="3788794" y="877967"/>
            <a:chExt cx="1566409" cy="108379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46E9B16-A51C-4E14-BC09-479EAAE3FF91}"/>
                </a:ext>
              </a:extLst>
            </p:cNvPr>
            <p:cNvSpPr/>
            <p:nvPr/>
          </p:nvSpPr>
          <p:spPr>
            <a:xfrm>
              <a:off x="4920602" y="1558438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F97C4B-7515-465E-BB12-B1AEE53A5D55}"/>
                </a:ext>
              </a:extLst>
            </p:cNvPr>
            <p:cNvSpPr/>
            <p:nvPr/>
          </p:nvSpPr>
          <p:spPr>
            <a:xfrm>
              <a:off x="3788794" y="1558438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F5A1F19-5671-439E-8A43-7389AD69DA2A}"/>
                </a:ext>
              </a:extLst>
            </p:cNvPr>
            <p:cNvSpPr/>
            <p:nvPr/>
          </p:nvSpPr>
          <p:spPr>
            <a:xfrm>
              <a:off x="4358480" y="877967"/>
              <a:ext cx="434601" cy="403319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A12AB-C2D1-481C-918C-DE34D84B33A5}"/>
                </a:ext>
              </a:extLst>
            </p:cNvPr>
            <p:cNvCxnSpPr>
              <a:stCxn id="16" idx="3"/>
              <a:endCxn id="15" idx="7"/>
            </p:cNvCxnSpPr>
            <p:nvPr/>
          </p:nvCxnSpPr>
          <p:spPr>
            <a:xfrm flipH="1">
              <a:off x="4159750" y="1222221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B32B62D-9B61-422B-82F2-A3C2D15CA33C}"/>
                </a:ext>
              </a:extLst>
            </p:cNvPr>
            <p:cNvCxnSpPr>
              <a:cxnSpLocks/>
              <a:stCxn id="16" idx="5"/>
              <a:endCxn id="14" idx="1"/>
            </p:cNvCxnSpPr>
            <p:nvPr/>
          </p:nvCxnSpPr>
          <p:spPr>
            <a:xfrm>
              <a:off x="4729435" y="1222221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/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Clean</m:t>
                      </m:r>
                      <m: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bedroom</m:t>
                      </m:r>
                      <m: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 ←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Clean</m:t>
                      </m:r>
                      <m: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freak</m:t>
                      </m:r>
                      <m:r>
                        <a:rPr lang="en-GB" sz="2667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Clean</m:t>
                      </m:r>
                      <m: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toilet</m:t>
                      </m:r>
                    </m:oMath>
                  </m:oMathPara>
                </a14:m>
                <a:endParaRPr lang="en-GB" sz="2667" dirty="0">
                  <a:solidFill>
                    <a:srgbClr val="434343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blipFill>
                <a:blip r:embed="rId3"/>
                <a:stretch>
                  <a:fillRect t="-12048" b="-30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C7AF16-67D7-41CE-8E91-4642F0C59711}"/>
              </a:ext>
            </a:extLst>
          </p:cNvPr>
          <p:cNvSpPr txBox="1"/>
          <p:nvPr/>
        </p:nvSpPr>
        <p:spPr>
          <a:xfrm>
            <a:off x="1" y="2558375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my bedroom is clean, what would you predict my bathroom looks like?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2C35C0-EEF2-4226-A8B2-B9C53F3CD77B}"/>
              </a:ext>
            </a:extLst>
          </p:cNvPr>
          <p:cNvSpPr txBox="1"/>
          <p:nvPr/>
        </p:nvSpPr>
        <p:spPr>
          <a:xfrm>
            <a:off x="1" y="5909635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you knew Z, would you still misattribute </a:t>
            </a:r>
            <a:r>
              <a:rPr lang="en-GB" sz="2400" dirty="0">
                <a:solidFill>
                  <a:srgbClr val="D86ECC"/>
                </a:solidFill>
              </a:rPr>
              <a:t>clean bedrooms </a:t>
            </a:r>
            <a:r>
              <a:rPr lang="en-GB" sz="2400" dirty="0"/>
              <a:t>as causing </a:t>
            </a:r>
            <a:r>
              <a:rPr lang="en-GB" sz="2400" dirty="0">
                <a:solidFill>
                  <a:srgbClr val="FFFF00"/>
                </a:solidFill>
              </a:rPr>
              <a:t>clean bathrooms</a:t>
            </a:r>
            <a:r>
              <a:rPr lang="en-GB" sz="2400" dirty="0"/>
              <a:t>?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E202F5B-08DB-4B90-AA18-4DB3F515682C}"/>
              </a:ext>
            </a:extLst>
          </p:cNvPr>
          <p:cNvSpPr/>
          <p:nvPr/>
        </p:nvSpPr>
        <p:spPr>
          <a:xfrm>
            <a:off x="5161805" y="1841329"/>
            <a:ext cx="2397839" cy="5292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  <a:latin typeface="+mj-lt"/>
              </a:rPr>
              <a:t>causes (?) a</a:t>
            </a:r>
            <a:endParaRPr lang="en-GB" sz="3733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F0D65F9-3DBD-4381-A14F-B880D5F0F3B5}"/>
              </a:ext>
            </a:extLst>
          </p:cNvPr>
          <p:cNvGrpSpPr/>
          <p:nvPr/>
        </p:nvGrpSpPr>
        <p:grpSpPr>
          <a:xfrm>
            <a:off x="2230318" y="3138535"/>
            <a:ext cx="7662859" cy="2683383"/>
            <a:chOff x="1195742" y="2360362"/>
            <a:chExt cx="5747144" cy="201253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DCB17A4-88DA-471F-B45F-D9C88D9E82F6}"/>
                </a:ext>
              </a:extLst>
            </p:cNvPr>
            <p:cNvGrpSpPr/>
            <p:nvPr/>
          </p:nvGrpSpPr>
          <p:grpSpPr>
            <a:xfrm>
              <a:off x="1195742" y="2463152"/>
              <a:ext cx="5747144" cy="1850420"/>
              <a:chOff x="1169634" y="2416897"/>
              <a:chExt cx="5747144" cy="18504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/>
                  <p:nvPr/>
                </p:nvSpPr>
                <p:spPr>
                  <a:xfrm>
                    <a:off x="3992643" y="3022476"/>
                    <a:ext cx="607378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92643" y="3022476"/>
                    <a:ext cx="607378" cy="62324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/>
                  <p:nvPr/>
                </p:nvSpPr>
                <p:spPr>
                  <a:xfrm>
                    <a:off x="6459682" y="2990749"/>
                    <a:ext cx="457096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59682" y="2990749"/>
                    <a:ext cx="457096" cy="62324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7" name="Picture 26" descr="A bed in a room&#10;&#10;Description automatically generated with medium confidence">
                <a:extLst>
                  <a:ext uri="{FF2B5EF4-FFF2-40B4-BE49-F238E27FC236}">
                    <a16:creationId xmlns:a16="http://schemas.microsoft.com/office/drawing/2014/main" id="{3645D5BE-3D7E-4477-B61F-13753711A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9634" y="2416897"/>
                <a:ext cx="2774243" cy="1850420"/>
              </a:xfrm>
              <a:prstGeom prst="rect">
                <a:avLst/>
              </a:prstGeom>
            </p:spPr>
          </p:pic>
        </p:grpSp>
        <p:pic>
          <p:nvPicPr>
            <p:cNvPr id="38" name="Picture 37" descr="A bathroom with graffiti on the walls&#10;&#10;Description automatically generated with medium confidence">
              <a:extLst>
                <a:ext uri="{FF2B5EF4-FFF2-40B4-BE49-F238E27FC236}">
                  <a16:creationId xmlns:a16="http://schemas.microsoft.com/office/drawing/2014/main" id="{D244CAEC-B618-4EA8-BA04-DE039C73B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13186" y="2360362"/>
              <a:ext cx="1650740" cy="928541"/>
            </a:xfrm>
            <a:prstGeom prst="rect">
              <a:avLst/>
            </a:prstGeom>
          </p:spPr>
        </p:pic>
        <p:pic>
          <p:nvPicPr>
            <p:cNvPr id="41" name="Picture 40" descr="A toilet and bathtub in a bathroom&#10;&#10;Description automatically generated with medium confidence">
              <a:extLst>
                <a:ext uri="{FF2B5EF4-FFF2-40B4-BE49-F238E27FC236}">
                  <a16:creationId xmlns:a16="http://schemas.microsoft.com/office/drawing/2014/main" id="{F0D46789-26C9-460C-935E-CFC801951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713186" y="3275157"/>
              <a:ext cx="1650740" cy="10977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83896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" grpId="0"/>
      <p:bldP spid="33" grpId="0"/>
      <p:bldP spid="34" grpId="0" animBg="1"/>
      <p:bldP spid="34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6062681" y="1215411"/>
            <a:ext cx="2329583" cy="2250263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17055617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16E58-EA9F-42B4-93D2-E13A9FB69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6306" y="1668814"/>
            <a:ext cx="5725719" cy="51144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8657FE-B937-45D5-BA67-E8F82C7EFB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450" y="1667496"/>
            <a:ext cx="5745549" cy="510619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C68C2392-13F7-4FF1-95D6-97C13F1EAB52}"/>
              </a:ext>
            </a:extLst>
          </p:cNvPr>
          <p:cNvGrpSpPr/>
          <p:nvPr/>
        </p:nvGrpSpPr>
        <p:grpSpPr>
          <a:xfrm>
            <a:off x="579853" y="570227"/>
            <a:ext cx="1099331" cy="527043"/>
            <a:chOff x="7884613" y="375057"/>
            <a:chExt cx="824498" cy="39528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E49979B-0365-49B6-A11E-9560FED387E2}"/>
                </a:ext>
              </a:extLst>
            </p:cNvPr>
            <p:cNvCxnSpPr>
              <a:stCxn id="18" idx="7"/>
              <a:endCxn id="19" idx="3"/>
            </p:cNvCxnSpPr>
            <p:nvPr/>
          </p:nvCxnSpPr>
          <p:spPr>
            <a:xfrm flipV="1">
              <a:off x="7884613" y="375057"/>
              <a:ext cx="262376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9B9CB6C-417F-4C45-A451-6E702C72F57E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>
              <a:off x="8454298" y="375057"/>
              <a:ext cx="254813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4603911-61AC-4AED-8E57-954C70742EF1}"/>
              </a:ext>
            </a:extLst>
          </p:cNvPr>
          <p:cNvGrpSpPr/>
          <p:nvPr/>
        </p:nvGrpSpPr>
        <p:grpSpPr>
          <a:xfrm>
            <a:off x="10490012" y="570227"/>
            <a:ext cx="1146664" cy="527043"/>
            <a:chOff x="399390" y="401365"/>
            <a:chExt cx="859998" cy="39528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52161AF-F6C2-4100-A7AB-46051454C566}"/>
                </a:ext>
              </a:extLst>
            </p:cNvPr>
            <p:cNvCxnSpPr>
              <a:cxnSpLocks/>
              <a:stCxn id="32" idx="5"/>
              <a:endCxn id="28" idx="1"/>
            </p:cNvCxnSpPr>
            <p:nvPr/>
          </p:nvCxnSpPr>
          <p:spPr>
            <a:xfrm>
              <a:off x="1004575" y="401365"/>
              <a:ext cx="254813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Graphic 37" descr="Close with solid fill">
              <a:extLst>
                <a:ext uri="{FF2B5EF4-FFF2-40B4-BE49-F238E27FC236}">
                  <a16:creationId xmlns:a16="http://schemas.microsoft.com/office/drawing/2014/main" id="{0ED9661F-58FA-4A10-B2F3-9D6295BBE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99390" y="460430"/>
              <a:ext cx="333375" cy="33337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Piped confound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6A70E16-FEC9-4152-B419-97B35E22CD42}"/>
              </a:ext>
            </a:extLst>
          </p:cNvPr>
          <p:cNvGrpSpPr/>
          <p:nvPr/>
        </p:nvGrpSpPr>
        <p:grpSpPr>
          <a:xfrm>
            <a:off x="10042738" y="111222"/>
            <a:ext cx="2088545" cy="1445055"/>
            <a:chOff x="6155850" y="1341040"/>
            <a:chExt cx="1566409" cy="1083791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33F65E5-54E3-4F6D-8E50-D41D0D93A99A}"/>
                </a:ext>
              </a:extLst>
            </p:cNvPr>
            <p:cNvSpPr/>
            <p:nvPr/>
          </p:nvSpPr>
          <p:spPr>
            <a:xfrm>
              <a:off x="7287658" y="2021511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39613A30-CEA7-43EB-9DD4-31A2596A3525}"/>
                </a:ext>
              </a:extLst>
            </p:cNvPr>
            <p:cNvSpPr/>
            <p:nvPr/>
          </p:nvSpPr>
          <p:spPr>
            <a:xfrm>
              <a:off x="6155850" y="2021511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B801E74-A95D-44EA-B4DF-54DAACC4A3E1}"/>
                </a:ext>
              </a:extLst>
            </p:cNvPr>
            <p:cNvSpPr/>
            <p:nvPr/>
          </p:nvSpPr>
          <p:spPr>
            <a:xfrm>
              <a:off x="6725536" y="1341040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41A44C1-653D-4DC3-8B5B-5B648C14E08A}"/>
                </a:ext>
              </a:extLst>
            </p:cNvPr>
            <p:cNvCxnSpPr>
              <a:stCxn id="32" idx="5"/>
              <a:endCxn id="28" idx="1"/>
            </p:cNvCxnSpPr>
            <p:nvPr/>
          </p:nvCxnSpPr>
          <p:spPr>
            <a:xfrm>
              <a:off x="7096491" y="1685294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AE978E5-F091-4821-96C6-B724F076F9B2}"/>
                </a:ext>
              </a:extLst>
            </p:cNvPr>
            <p:cNvCxnSpPr>
              <a:cxnSpLocks/>
              <a:stCxn id="30" idx="7"/>
              <a:endCxn id="32" idx="3"/>
            </p:cNvCxnSpPr>
            <p:nvPr/>
          </p:nvCxnSpPr>
          <p:spPr>
            <a:xfrm flipV="1">
              <a:off x="6526806" y="1685294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699E086-2EE6-4D79-9094-E8C7DD1B986C}"/>
              </a:ext>
            </a:extLst>
          </p:cNvPr>
          <p:cNvGrpSpPr/>
          <p:nvPr/>
        </p:nvGrpSpPr>
        <p:grpSpPr>
          <a:xfrm>
            <a:off x="85246" y="111222"/>
            <a:ext cx="2088545" cy="1445055"/>
            <a:chOff x="6155850" y="1341040"/>
            <a:chExt cx="1566409" cy="108379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4534DCA-1945-41CB-A2F8-0012177711DF}"/>
                </a:ext>
              </a:extLst>
            </p:cNvPr>
            <p:cNvSpPr/>
            <p:nvPr/>
          </p:nvSpPr>
          <p:spPr>
            <a:xfrm>
              <a:off x="7287658" y="2021511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A3B9921-342B-42A9-999B-A226E9751CF6}"/>
                </a:ext>
              </a:extLst>
            </p:cNvPr>
            <p:cNvSpPr/>
            <p:nvPr/>
          </p:nvSpPr>
          <p:spPr>
            <a:xfrm>
              <a:off x="6155850" y="2021511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D042A35-1E46-4008-93FA-A451267FEC23}"/>
                </a:ext>
              </a:extLst>
            </p:cNvPr>
            <p:cNvSpPr/>
            <p:nvPr/>
          </p:nvSpPr>
          <p:spPr>
            <a:xfrm>
              <a:off x="6725536" y="1341040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9310733-F76D-420F-8BD7-4C32A4737D93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>
              <a:off x="7096491" y="1685294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6814EA8-5E6F-4020-A96B-0CBDB9A7F46B}"/>
                </a:ext>
              </a:extLst>
            </p:cNvPr>
            <p:cNvCxnSpPr>
              <a:stCxn id="18" idx="7"/>
              <a:endCxn id="19" idx="3"/>
            </p:cNvCxnSpPr>
            <p:nvPr/>
          </p:nvCxnSpPr>
          <p:spPr>
            <a:xfrm flipV="1">
              <a:off x="6526806" y="1685294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435ACAC-242D-4B44-BDF6-2E55C9BE4017}"/>
              </a:ext>
            </a:extLst>
          </p:cNvPr>
          <p:cNvGrpSpPr/>
          <p:nvPr/>
        </p:nvGrpSpPr>
        <p:grpSpPr>
          <a:xfrm>
            <a:off x="1637944" y="5144747"/>
            <a:ext cx="8886197" cy="1326776"/>
            <a:chOff x="1239675" y="2596842"/>
            <a:chExt cx="6664648" cy="995082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C15654C-599E-4053-8BAD-7420C9923753}"/>
                </a:ext>
              </a:extLst>
            </p:cNvPr>
            <p:cNvSpPr/>
            <p:nvPr/>
          </p:nvSpPr>
          <p:spPr>
            <a:xfrm>
              <a:off x="1239675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Causal (indirect)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528E2C57-EBF2-4051-9A73-85EB4839AB80}"/>
                </a:ext>
              </a:extLst>
            </p:cNvPr>
            <p:cNvSpPr/>
            <p:nvPr/>
          </p:nvSpPr>
          <p:spPr>
            <a:xfrm>
              <a:off x="5625047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Confounded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53B1C9-8978-4562-82CD-75957451514A}"/>
              </a:ext>
            </a:extLst>
          </p:cNvPr>
          <p:cNvGrpSpPr/>
          <p:nvPr/>
        </p:nvGrpSpPr>
        <p:grpSpPr>
          <a:xfrm>
            <a:off x="7137881" y="1737646"/>
            <a:ext cx="3626291" cy="3048441"/>
            <a:chOff x="5629867" y="904432"/>
            <a:chExt cx="3426552" cy="2736906"/>
          </a:xfrm>
        </p:grpSpPr>
        <p:pic>
          <p:nvPicPr>
            <p:cNvPr id="39" name="Picture 38" descr="A picture containing grass, outdoor, ground&#10;&#10;Description automatically generated">
              <a:extLst>
                <a:ext uri="{FF2B5EF4-FFF2-40B4-BE49-F238E27FC236}">
                  <a16:creationId xmlns:a16="http://schemas.microsoft.com/office/drawing/2014/main" id="{8490E93B-27E5-40A2-9E18-F0B030042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93020" y="2618790"/>
              <a:ext cx="1363399" cy="1022548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9CE6785-AF69-4778-9F20-034E419C7CA1}"/>
                </a:ext>
              </a:extLst>
            </p:cNvPr>
            <p:cNvGrpSpPr/>
            <p:nvPr/>
          </p:nvGrpSpPr>
          <p:grpSpPr>
            <a:xfrm>
              <a:off x="5629867" y="904432"/>
              <a:ext cx="2744853" cy="2727436"/>
              <a:chOff x="5629867" y="904432"/>
              <a:chExt cx="2744853" cy="2727436"/>
            </a:xfrm>
          </p:grpSpPr>
          <p:pic>
            <p:nvPicPr>
              <p:cNvPr id="43" name="Picture 42" descr="A cheetah chasing a cheetah in a field&#10;&#10;Description automatically generated with medium confidence">
                <a:extLst>
                  <a:ext uri="{FF2B5EF4-FFF2-40B4-BE49-F238E27FC236}">
                    <a16:creationId xmlns:a16="http://schemas.microsoft.com/office/drawing/2014/main" id="{6CBADA5B-3DCA-44AA-9860-0D53DAA69A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368843" y="904432"/>
                <a:ext cx="1951703" cy="975852"/>
              </a:xfrm>
              <a:prstGeom prst="rect">
                <a:avLst/>
              </a:prstGeom>
              <a:ln w="57150">
                <a:solidFill>
                  <a:srgbClr val="00B050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45" name="Picture 44" descr="A close up of a lion's face&#10;&#10;Description automatically generated with medium confidence">
                <a:extLst>
                  <a:ext uri="{FF2B5EF4-FFF2-40B4-BE49-F238E27FC236}">
                    <a16:creationId xmlns:a16="http://schemas.microsoft.com/office/drawing/2014/main" id="{4923F303-D6C6-4427-9DEE-F767386E68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29867" y="2618789"/>
                <a:ext cx="1350772" cy="1013079"/>
              </a:xfrm>
              <a:prstGeom prst="rect">
                <a:avLst/>
              </a:prstGeom>
              <a:ln w="57150">
                <a:solidFill>
                  <a:schemeClr val="accent5">
                    <a:lumMod val="60000"/>
                    <a:lumOff val="40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42C6A7E0-E4FC-4A02-8443-684C982AE511}"/>
                  </a:ext>
                </a:extLst>
              </p:cNvPr>
              <p:cNvCxnSpPr>
                <a:cxnSpLocks/>
                <a:stCxn id="43" idx="2"/>
                <a:endCxn id="39" idx="0"/>
              </p:cNvCxnSpPr>
              <p:nvPr/>
            </p:nvCxnSpPr>
            <p:spPr>
              <a:xfrm>
                <a:off x="7344695" y="1880284"/>
                <a:ext cx="1030025" cy="738506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113782D-5466-4650-A06E-A0A7A40924DA}"/>
              </a:ext>
            </a:extLst>
          </p:cNvPr>
          <p:cNvGrpSpPr/>
          <p:nvPr/>
        </p:nvGrpSpPr>
        <p:grpSpPr>
          <a:xfrm>
            <a:off x="1339433" y="3093151"/>
            <a:ext cx="3628655" cy="1138944"/>
            <a:chOff x="5675897" y="2618789"/>
            <a:chExt cx="3428786" cy="1022549"/>
          </a:xfrm>
        </p:grpSpPr>
        <p:pic>
          <p:nvPicPr>
            <p:cNvPr id="61" name="Picture 60" descr="A picture containing grass, outdoor, ground&#10;&#10;Description automatically generated">
              <a:extLst>
                <a:ext uri="{FF2B5EF4-FFF2-40B4-BE49-F238E27FC236}">
                  <a16:creationId xmlns:a16="http://schemas.microsoft.com/office/drawing/2014/main" id="{A7C7160B-6BC8-4D89-A412-FBB5EEBED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41286" y="2618789"/>
              <a:ext cx="1363397" cy="1022549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4" name="Picture 63" descr="A close up of a lion's face&#10;&#10;Description automatically generated with medium confidence">
              <a:extLst>
                <a:ext uri="{FF2B5EF4-FFF2-40B4-BE49-F238E27FC236}">
                  <a16:creationId xmlns:a16="http://schemas.microsoft.com/office/drawing/2014/main" id="{EE950F6E-9E87-487F-B5B5-93A00CF5B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75897" y="2618789"/>
              <a:ext cx="1350772" cy="1013078"/>
            </a:xfrm>
            <a:prstGeom prst="rect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A90B807-C5CA-4175-B140-50C08D9521C1}"/>
              </a:ext>
            </a:extLst>
          </p:cNvPr>
          <p:cNvCxnSpPr>
            <a:stCxn id="64" idx="3"/>
            <a:endCxn id="61" idx="1"/>
          </p:cNvCxnSpPr>
          <p:nvPr/>
        </p:nvCxnSpPr>
        <p:spPr>
          <a:xfrm>
            <a:off x="2768944" y="3657348"/>
            <a:ext cx="756273" cy="5275"/>
          </a:xfrm>
          <a:prstGeom prst="straightConnector1">
            <a:avLst/>
          </a:prstGeom>
          <a:ln w="38100">
            <a:solidFill>
              <a:schemeClr val="bg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6BF3A0C-AC45-488A-A0BE-63F6FAF75EDB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flipV="1">
            <a:off x="7852637" y="2824576"/>
            <a:ext cx="1100032" cy="822568"/>
          </a:xfrm>
          <a:prstGeom prst="straightConnector1">
            <a:avLst/>
          </a:prstGeom>
          <a:ln w="381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177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1D484F8-E34E-486B-B166-721D74A7E18D}"/>
              </a:ext>
            </a:extLst>
          </p:cNvPr>
          <p:cNvGrpSpPr/>
          <p:nvPr/>
        </p:nvGrpSpPr>
        <p:grpSpPr>
          <a:xfrm>
            <a:off x="2522218" y="3418127"/>
            <a:ext cx="7443024" cy="2306016"/>
            <a:chOff x="1891663" y="2563595"/>
            <a:chExt cx="5582268" cy="172951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DCB17A4-88DA-471F-B45F-D9C88D9E82F6}"/>
                </a:ext>
              </a:extLst>
            </p:cNvPr>
            <p:cNvGrpSpPr/>
            <p:nvPr/>
          </p:nvGrpSpPr>
          <p:grpSpPr>
            <a:xfrm>
              <a:off x="3641649" y="3126474"/>
              <a:ext cx="3832282" cy="623248"/>
              <a:chOff x="3511785" y="3018939"/>
              <a:chExt cx="3832282" cy="6232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/>
                  <p:nvPr/>
                </p:nvSpPr>
                <p:spPr>
                  <a:xfrm>
                    <a:off x="3511785" y="3018939"/>
                    <a:ext cx="607378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1785" y="3018939"/>
                    <a:ext cx="607378" cy="62324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/>
                  <p:nvPr/>
                </p:nvSpPr>
                <p:spPr>
                  <a:xfrm>
                    <a:off x="6886971" y="3018939"/>
                    <a:ext cx="457096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6971" y="3018939"/>
                    <a:ext cx="457096" cy="62324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6" name="Picture 15" descr="A child with a birthday cake&#10;&#10;Description automatically generated with low confidence">
              <a:extLst>
                <a:ext uri="{FF2B5EF4-FFF2-40B4-BE49-F238E27FC236}">
                  <a16:creationId xmlns:a16="http://schemas.microsoft.com/office/drawing/2014/main" id="{9B212CA2-8883-4453-AB6C-EFD5F97EE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91663" y="2565571"/>
              <a:ext cx="1725561" cy="1725561"/>
            </a:xfrm>
            <a:prstGeom prst="rect">
              <a:avLst/>
            </a:prstGeom>
          </p:spPr>
        </p:pic>
        <p:pic>
          <p:nvPicPr>
            <p:cNvPr id="18" name="Picture 17" descr="A picture containing grass, outdoor, sky, standing&#10;&#10;Description automatically generated">
              <a:extLst>
                <a:ext uri="{FF2B5EF4-FFF2-40B4-BE49-F238E27FC236}">
                  <a16:creationId xmlns:a16="http://schemas.microsoft.com/office/drawing/2014/main" id="{BD249CCB-3BD8-457F-9406-EBA8D6B226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83157" y="2563595"/>
              <a:ext cx="2594269" cy="1729512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Piped confound quiz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/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Age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Growth</m:t>
                      </m:r>
                      <m: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rate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Height</m:t>
                      </m:r>
                    </m:oMath>
                  </m:oMathPara>
                </a14:m>
                <a:endParaRPr lang="en-GB" sz="2667" dirty="0">
                  <a:solidFill>
                    <a:srgbClr val="434343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blipFill>
                <a:blip r:embed="rId7"/>
                <a:stretch>
                  <a:fillRect t="-12048" b="-30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C7AF16-67D7-41CE-8E91-4642F0C59711}"/>
              </a:ext>
            </a:extLst>
          </p:cNvPr>
          <p:cNvSpPr txBox="1"/>
          <p:nvPr/>
        </p:nvSpPr>
        <p:spPr>
          <a:xfrm>
            <a:off x="1" y="2558376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I am 3 years old, will I be short, medium or tall?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2C35C0-EEF2-4226-A8B2-B9C53F3CD77B}"/>
              </a:ext>
            </a:extLst>
          </p:cNvPr>
          <p:cNvSpPr txBox="1"/>
          <p:nvPr/>
        </p:nvSpPr>
        <p:spPr>
          <a:xfrm>
            <a:off x="1" y="6031149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you knew Z, would you still know that </a:t>
            </a:r>
            <a:r>
              <a:rPr lang="en-GB" sz="2400" dirty="0">
                <a:solidFill>
                  <a:srgbClr val="D86ECC"/>
                </a:solidFill>
              </a:rPr>
              <a:t>age</a:t>
            </a:r>
            <a:r>
              <a:rPr lang="en-GB" sz="2400" dirty="0">
                <a:solidFill>
                  <a:srgbClr val="0070C0"/>
                </a:solidFill>
              </a:rPr>
              <a:t> </a:t>
            </a:r>
            <a:r>
              <a:rPr lang="en-GB" sz="2400" dirty="0"/>
              <a:t>influences </a:t>
            </a:r>
            <a:r>
              <a:rPr lang="en-GB" sz="2400" dirty="0">
                <a:solidFill>
                  <a:srgbClr val="FFFF00"/>
                </a:solidFill>
              </a:rPr>
              <a:t>height</a:t>
            </a:r>
            <a:r>
              <a:rPr lang="en-GB" sz="2400" dirty="0"/>
              <a:t>?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E202F5B-08DB-4B90-AA18-4DB3F515682C}"/>
              </a:ext>
            </a:extLst>
          </p:cNvPr>
          <p:cNvSpPr/>
          <p:nvPr/>
        </p:nvSpPr>
        <p:spPr>
          <a:xfrm>
            <a:off x="4618916" y="1854590"/>
            <a:ext cx="2568860" cy="5292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  <a:latin typeface="+mj-lt"/>
              </a:rPr>
              <a:t>causes (?)</a:t>
            </a:r>
            <a:endParaRPr lang="en-GB" sz="3733" dirty="0">
              <a:solidFill>
                <a:schemeClr val="tx1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78B0087-33F0-4C90-9053-376422743CD3}"/>
              </a:ext>
            </a:extLst>
          </p:cNvPr>
          <p:cNvGrpSpPr/>
          <p:nvPr/>
        </p:nvGrpSpPr>
        <p:grpSpPr>
          <a:xfrm>
            <a:off x="85246" y="111222"/>
            <a:ext cx="2088545" cy="1445055"/>
            <a:chOff x="6155850" y="1341040"/>
            <a:chExt cx="1566409" cy="1083791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80EEA1E-A023-408D-951E-10C5D4A93829}"/>
                </a:ext>
              </a:extLst>
            </p:cNvPr>
            <p:cNvSpPr/>
            <p:nvPr/>
          </p:nvSpPr>
          <p:spPr>
            <a:xfrm>
              <a:off x="7287658" y="2021511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050F98A-D5CC-425B-929F-6202E032F235}"/>
                </a:ext>
              </a:extLst>
            </p:cNvPr>
            <p:cNvSpPr/>
            <p:nvPr/>
          </p:nvSpPr>
          <p:spPr>
            <a:xfrm>
              <a:off x="6155850" y="2021511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45A2614-A8FB-4258-B9C4-0A4E14601047}"/>
                </a:ext>
              </a:extLst>
            </p:cNvPr>
            <p:cNvSpPr/>
            <p:nvPr/>
          </p:nvSpPr>
          <p:spPr>
            <a:xfrm>
              <a:off x="6725536" y="1341040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C17BE46-CB63-406D-95E0-9CC8EE36C711}"/>
                </a:ext>
              </a:extLst>
            </p:cNvPr>
            <p:cNvCxnSpPr>
              <a:stCxn id="24" idx="5"/>
              <a:endCxn id="22" idx="1"/>
            </p:cNvCxnSpPr>
            <p:nvPr/>
          </p:nvCxnSpPr>
          <p:spPr>
            <a:xfrm>
              <a:off x="7096491" y="1685294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8249878-2940-44E0-B369-43AA19A969CE}"/>
                </a:ext>
              </a:extLst>
            </p:cNvPr>
            <p:cNvCxnSpPr>
              <a:stCxn id="23" idx="7"/>
              <a:endCxn id="24" idx="3"/>
            </p:cNvCxnSpPr>
            <p:nvPr/>
          </p:nvCxnSpPr>
          <p:spPr>
            <a:xfrm flipV="1">
              <a:off x="6526806" y="1685294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55398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" grpId="0"/>
      <p:bldP spid="33" grpId="0"/>
      <p:bldP spid="34" grpId="0" animBg="1"/>
      <p:bldP spid="3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3422689" y="4109713"/>
            <a:ext cx="2329583" cy="2250263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4203073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AEAFD5F-6FF8-4F7E-8F4C-6DFAA05DA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25" y="1609741"/>
            <a:ext cx="5817249" cy="519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2413BD-4D42-46B1-B9BF-3B79DE4E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2" y="1609741"/>
            <a:ext cx="5817249" cy="519616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AE1F8C1C-E887-4173-99CE-DFB32C8E2EE8}"/>
              </a:ext>
            </a:extLst>
          </p:cNvPr>
          <p:cNvGrpSpPr/>
          <p:nvPr/>
        </p:nvGrpSpPr>
        <p:grpSpPr>
          <a:xfrm>
            <a:off x="579853" y="535153"/>
            <a:ext cx="1099331" cy="527043"/>
            <a:chOff x="434890" y="401365"/>
            <a:chExt cx="824498" cy="395282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F48EEA3-18E0-4E87-88F8-28C84EDCBC7C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flipV="1">
              <a:off x="434890" y="401365"/>
              <a:ext cx="262376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071FB5B-2A0B-4A92-92B5-378FBE3CD749}"/>
                </a:ext>
              </a:extLst>
            </p:cNvPr>
            <p:cNvCxnSpPr>
              <a:stCxn id="18" idx="5"/>
              <a:endCxn id="16" idx="1"/>
            </p:cNvCxnSpPr>
            <p:nvPr/>
          </p:nvCxnSpPr>
          <p:spPr>
            <a:xfrm>
              <a:off x="1004575" y="401365"/>
              <a:ext cx="254813" cy="395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Colliding confound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84113FF-D534-4454-AE4B-D44E87E8E96D}"/>
              </a:ext>
            </a:extLst>
          </p:cNvPr>
          <p:cNvGrpSpPr/>
          <p:nvPr/>
        </p:nvGrpSpPr>
        <p:grpSpPr>
          <a:xfrm>
            <a:off x="85246" y="76149"/>
            <a:ext cx="2088545" cy="1445055"/>
            <a:chOff x="4205034" y="3383452"/>
            <a:chExt cx="1566409" cy="1083791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32C3EC-83EA-4F45-B4F2-7571F0FBEEAC}"/>
                </a:ext>
              </a:extLst>
            </p:cNvPr>
            <p:cNvSpPr/>
            <p:nvPr/>
          </p:nvSpPr>
          <p:spPr>
            <a:xfrm>
              <a:off x="5336842" y="4063923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69E281C-5C47-4A1E-B77E-2E5A9EA59217}"/>
                </a:ext>
              </a:extLst>
            </p:cNvPr>
            <p:cNvSpPr/>
            <p:nvPr/>
          </p:nvSpPr>
          <p:spPr>
            <a:xfrm>
              <a:off x="4205034" y="4063923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9E62AD5-4FFE-4E28-8935-9BB851B3BE16}"/>
                </a:ext>
              </a:extLst>
            </p:cNvPr>
            <p:cNvSpPr/>
            <p:nvPr/>
          </p:nvSpPr>
          <p:spPr>
            <a:xfrm>
              <a:off x="4774720" y="3383452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F26CC2A-6ADF-484C-80D1-F2CBF1640676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flipV="1">
              <a:off x="4575990" y="3727706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49658DC-E530-49C2-8340-B26513DB05A8}"/>
                </a:ext>
              </a:extLst>
            </p:cNvPr>
            <p:cNvCxnSpPr>
              <a:stCxn id="16" idx="1"/>
              <a:endCxn id="18" idx="5"/>
            </p:cNvCxnSpPr>
            <p:nvPr/>
          </p:nvCxnSpPr>
          <p:spPr>
            <a:xfrm flipH="1" flipV="1">
              <a:off x="5145675" y="3727706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D612794-078F-4EC2-806A-E55239C46320}"/>
              </a:ext>
            </a:extLst>
          </p:cNvPr>
          <p:cNvGrpSpPr/>
          <p:nvPr/>
        </p:nvGrpSpPr>
        <p:grpSpPr>
          <a:xfrm>
            <a:off x="9854617" y="79397"/>
            <a:ext cx="2088545" cy="1445055"/>
            <a:chOff x="4205034" y="3383452"/>
            <a:chExt cx="1566409" cy="1083791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9DBC493-5918-43CE-B53D-1CDDD61CD1BB}"/>
                </a:ext>
              </a:extLst>
            </p:cNvPr>
            <p:cNvSpPr/>
            <p:nvPr/>
          </p:nvSpPr>
          <p:spPr>
            <a:xfrm>
              <a:off x="5336842" y="4063923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EFB2F66-7805-49AE-9E5B-BE49BB909469}"/>
                </a:ext>
              </a:extLst>
            </p:cNvPr>
            <p:cNvSpPr/>
            <p:nvPr/>
          </p:nvSpPr>
          <p:spPr>
            <a:xfrm>
              <a:off x="4205034" y="4063923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FFE51DA-F191-446B-9CC6-6653C45E5811}"/>
                </a:ext>
              </a:extLst>
            </p:cNvPr>
            <p:cNvSpPr/>
            <p:nvPr/>
          </p:nvSpPr>
          <p:spPr>
            <a:xfrm>
              <a:off x="4774720" y="3383452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72F8ACD-D21B-4901-BC46-A0B71E2A52AE}"/>
                </a:ext>
              </a:extLst>
            </p:cNvPr>
            <p:cNvCxnSpPr>
              <a:stCxn id="31" idx="7"/>
              <a:endCxn id="32" idx="3"/>
            </p:cNvCxnSpPr>
            <p:nvPr/>
          </p:nvCxnSpPr>
          <p:spPr>
            <a:xfrm flipV="1">
              <a:off x="4575990" y="3727706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6475C90-9E1C-4157-A186-00461B63DE51}"/>
                </a:ext>
              </a:extLst>
            </p:cNvPr>
            <p:cNvCxnSpPr>
              <a:stCxn id="30" idx="1"/>
              <a:endCxn id="32" idx="5"/>
            </p:cNvCxnSpPr>
            <p:nvPr/>
          </p:nvCxnSpPr>
          <p:spPr>
            <a:xfrm flipH="1" flipV="1">
              <a:off x="5145675" y="3727706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7D60934-5A01-48D2-B015-6B2E35FDE113}"/>
              </a:ext>
            </a:extLst>
          </p:cNvPr>
          <p:cNvGrpSpPr/>
          <p:nvPr/>
        </p:nvGrpSpPr>
        <p:grpSpPr>
          <a:xfrm>
            <a:off x="1339434" y="1902142"/>
            <a:ext cx="3651417" cy="2887473"/>
            <a:chOff x="2892525" y="2034727"/>
            <a:chExt cx="3456059" cy="276610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0C4E3A8-F793-49D3-993F-E71EBC884853}"/>
                </a:ext>
              </a:extLst>
            </p:cNvPr>
            <p:cNvGrpSpPr/>
            <p:nvPr/>
          </p:nvGrpSpPr>
          <p:grpSpPr>
            <a:xfrm>
              <a:off x="2892525" y="3787755"/>
              <a:ext cx="3456059" cy="1013079"/>
              <a:chOff x="2892525" y="3787755"/>
              <a:chExt cx="3456059" cy="1013079"/>
            </a:xfrm>
          </p:grpSpPr>
          <p:pic>
            <p:nvPicPr>
              <p:cNvPr id="36" name="Picture 35" descr="A close up of a lion's face&#10;&#10;Description automatically generated with medium confidence">
                <a:extLst>
                  <a:ext uri="{FF2B5EF4-FFF2-40B4-BE49-F238E27FC236}">
                    <a16:creationId xmlns:a16="http://schemas.microsoft.com/office/drawing/2014/main" id="{7EA8C1C2-69ED-4FF8-8AC5-8D0894A948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92525" y="3787755"/>
                <a:ext cx="1350771" cy="1013079"/>
              </a:xfrm>
              <a:prstGeom prst="rect">
                <a:avLst/>
              </a:prstGeom>
              <a:ln w="57150">
                <a:solidFill>
                  <a:srgbClr val="00B0F0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  <p:pic>
            <p:nvPicPr>
              <p:cNvPr id="43" name="Picture 42" descr="A group of jellyfish&#10;&#10;Description automatically generated with low confidence">
                <a:extLst>
                  <a:ext uri="{FF2B5EF4-FFF2-40B4-BE49-F238E27FC236}">
                    <a16:creationId xmlns:a16="http://schemas.microsoft.com/office/drawing/2014/main" id="{290D4B00-FDC1-4CE7-BD82-8BE78433CC2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r="17333"/>
              <a:stretch/>
            </p:blipFill>
            <p:spPr>
              <a:xfrm>
                <a:off x="4998423" y="3787755"/>
                <a:ext cx="1350161" cy="1012620"/>
              </a:xfrm>
              <a:prstGeom prst="rect">
                <a:avLst/>
              </a:prstGeom>
              <a:ln w="57150">
                <a:solidFill>
                  <a:srgbClr val="FFC000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2620A47-0123-4777-9415-0C7F6AAEBCFD}"/>
                </a:ext>
              </a:extLst>
            </p:cNvPr>
            <p:cNvGrpSpPr/>
            <p:nvPr/>
          </p:nvGrpSpPr>
          <p:grpSpPr>
            <a:xfrm>
              <a:off x="3850829" y="2034727"/>
              <a:ext cx="1822675" cy="2259568"/>
              <a:chOff x="3850829" y="2034727"/>
              <a:chExt cx="1822675" cy="2259568"/>
            </a:xfrm>
          </p:grpSpPr>
          <p:pic>
            <p:nvPicPr>
              <p:cNvPr id="44" name="Picture 43" descr="A white and black rabbit in the grass&#10;&#10;Description automatically generated with low confidence">
                <a:extLst>
                  <a:ext uri="{FF2B5EF4-FFF2-40B4-BE49-F238E27FC236}">
                    <a16:creationId xmlns:a16="http://schemas.microsoft.com/office/drawing/2014/main" id="{9D725398-836D-46A1-83CF-C4FBA0212E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7778"/>
              <a:stretch/>
            </p:blipFill>
            <p:spPr>
              <a:xfrm>
                <a:off x="3850829" y="2034727"/>
                <a:ext cx="1350773" cy="1013079"/>
              </a:xfrm>
              <a:prstGeom prst="rect">
                <a:avLst/>
              </a:prstGeom>
              <a:ln w="57150">
                <a:solidFill>
                  <a:srgbClr val="00B050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BB8413C5-202B-4C6C-A9CD-D9DD2100FC0D}"/>
                  </a:ext>
                </a:extLst>
              </p:cNvPr>
              <p:cNvCxnSpPr>
                <a:cxnSpLocks/>
                <a:stCxn id="36" idx="3"/>
                <a:endCxn id="43" idx="1"/>
              </p:cNvCxnSpPr>
              <p:nvPr/>
            </p:nvCxnSpPr>
            <p:spPr>
              <a:xfrm flipV="1">
                <a:off x="4243296" y="4294065"/>
                <a:ext cx="755127" cy="23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03116701-8184-43D7-B167-368F5F8AAA5E}"/>
                  </a:ext>
                </a:extLst>
              </p:cNvPr>
              <p:cNvCxnSpPr>
                <a:cxnSpLocks/>
                <a:stCxn id="44" idx="2"/>
                <a:endCxn id="43" idx="0"/>
              </p:cNvCxnSpPr>
              <p:nvPr/>
            </p:nvCxnSpPr>
            <p:spPr>
              <a:xfrm>
                <a:off x="4526216" y="3047806"/>
                <a:ext cx="1147288" cy="739949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C15E2EF-C557-4A2F-9F0B-883B89E0156C}"/>
              </a:ext>
            </a:extLst>
          </p:cNvPr>
          <p:cNvGrpSpPr/>
          <p:nvPr/>
        </p:nvGrpSpPr>
        <p:grpSpPr>
          <a:xfrm>
            <a:off x="7429480" y="3138482"/>
            <a:ext cx="3184717" cy="1057529"/>
            <a:chOff x="3064833" y="3787755"/>
            <a:chExt cx="3014329" cy="1013079"/>
          </a:xfrm>
        </p:grpSpPr>
        <p:pic>
          <p:nvPicPr>
            <p:cNvPr id="55" name="Picture 54" descr="A close up of a lion's face&#10;&#10;Description automatically generated with medium confidence">
              <a:extLst>
                <a:ext uri="{FF2B5EF4-FFF2-40B4-BE49-F238E27FC236}">
                  <a16:creationId xmlns:a16="http://schemas.microsoft.com/office/drawing/2014/main" id="{1FAE3F05-3122-4BC2-A754-B4333D79DB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64833" y="3787755"/>
              <a:ext cx="1350772" cy="1013079"/>
            </a:xfrm>
            <a:prstGeom prst="rect">
              <a:avLst/>
            </a:prstGeom>
            <a:ln w="57150">
              <a:solidFill>
                <a:srgbClr val="00B0F0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  <p:pic>
          <p:nvPicPr>
            <p:cNvPr id="56" name="Picture 55" descr="A group of jellyfish&#10;&#10;Description automatically generated with low confidence">
              <a:extLst>
                <a:ext uri="{FF2B5EF4-FFF2-40B4-BE49-F238E27FC236}">
                  <a16:creationId xmlns:a16="http://schemas.microsoft.com/office/drawing/2014/main" id="{8EECB303-9835-4DF3-8558-E9B9546F902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r="17333"/>
            <a:stretch/>
          </p:blipFill>
          <p:spPr>
            <a:xfrm>
              <a:off x="4729002" y="3787755"/>
              <a:ext cx="1350160" cy="1012620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4A20B48-8FDE-4590-BCB6-0B699C999B65}"/>
              </a:ext>
            </a:extLst>
          </p:cNvPr>
          <p:cNvGrpSpPr/>
          <p:nvPr/>
        </p:nvGrpSpPr>
        <p:grpSpPr>
          <a:xfrm>
            <a:off x="1637944" y="5144747"/>
            <a:ext cx="8886197" cy="1326776"/>
            <a:chOff x="1239675" y="2596842"/>
            <a:chExt cx="6664648" cy="995082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445665D-2237-4236-BDFF-D7357EA6425E}"/>
                </a:ext>
              </a:extLst>
            </p:cNvPr>
            <p:cNvSpPr/>
            <p:nvPr/>
          </p:nvSpPr>
          <p:spPr>
            <a:xfrm>
              <a:off x="1239675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Confounded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9AFB7340-2F70-45A3-A19F-FDDFCE5A3C82}"/>
                </a:ext>
              </a:extLst>
            </p:cNvPr>
            <p:cNvSpPr/>
            <p:nvPr/>
          </p:nvSpPr>
          <p:spPr>
            <a:xfrm>
              <a:off x="5625047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Causal (none)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3CC54E7-39D7-4D38-B399-B3559FEBC6EA}"/>
              </a:ext>
            </a:extLst>
          </p:cNvPr>
          <p:cNvGrpSpPr/>
          <p:nvPr/>
        </p:nvGrpSpPr>
        <p:grpSpPr>
          <a:xfrm>
            <a:off x="10290565" y="585051"/>
            <a:ext cx="1249047" cy="670520"/>
            <a:chOff x="7717923" y="438788"/>
            <a:chExt cx="936785" cy="50289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438A5E7-344B-4DC8-847F-D0D9C0C0DD6F}"/>
                </a:ext>
              </a:extLst>
            </p:cNvPr>
            <p:cNvGrpSpPr/>
            <p:nvPr/>
          </p:nvGrpSpPr>
          <p:grpSpPr>
            <a:xfrm>
              <a:off x="7717923" y="438788"/>
              <a:ext cx="936785" cy="353211"/>
              <a:chOff x="7717923" y="438788"/>
              <a:chExt cx="936785" cy="353211"/>
            </a:xfrm>
          </p:grpSpPr>
          <p:pic>
            <p:nvPicPr>
              <p:cNvPr id="37" name="Graphic 36" descr="Close with solid fill">
                <a:extLst>
                  <a:ext uri="{FF2B5EF4-FFF2-40B4-BE49-F238E27FC236}">
                    <a16:creationId xmlns:a16="http://schemas.microsoft.com/office/drawing/2014/main" id="{C92FF37C-F109-4A64-B6D8-F8C24F9229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717923" y="458624"/>
                <a:ext cx="333375" cy="333375"/>
              </a:xfrm>
              <a:prstGeom prst="rect">
                <a:avLst/>
              </a:prstGeom>
            </p:spPr>
          </p:pic>
          <p:pic>
            <p:nvPicPr>
              <p:cNvPr id="38" name="Graphic 37" descr="Close with solid fill">
                <a:extLst>
                  <a:ext uri="{FF2B5EF4-FFF2-40B4-BE49-F238E27FC236}">
                    <a16:creationId xmlns:a16="http://schemas.microsoft.com/office/drawing/2014/main" id="{318EC5F3-4742-4D52-AE61-08F08CBCE3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321333" y="438788"/>
                <a:ext cx="333375" cy="333375"/>
              </a:xfrm>
              <a:prstGeom prst="rect">
                <a:avLst/>
              </a:prstGeom>
            </p:spPr>
          </p:pic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4294DD8-28C1-4455-9243-4873F2D883D6}"/>
                </a:ext>
              </a:extLst>
            </p:cNvPr>
            <p:cNvCxnSpPr>
              <a:stCxn id="31" idx="6"/>
              <a:endCxn id="30" idx="2"/>
            </p:cNvCxnSpPr>
            <p:nvPr/>
          </p:nvCxnSpPr>
          <p:spPr>
            <a:xfrm>
              <a:off x="7825564" y="941678"/>
              <a:ext cx="697206" cy="0"/>
            </a:xfrm>
            <a:prstGeom prst="straightConnector1">
              <a:avLst/>
            </a:prstGeom>
            <a:ln w="38100">
              <a:solidFill>
                <a:schemeClr val="accent3">
                  <a:lumMod val="60000"/>
                  <a:lumOff val="40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72764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Colliding confound quiz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/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Restaurant</m:t>
                      </m:r>
                      <m: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Location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In</m:t>
                      </m:r>
                      <m: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business</m:t>
                      </m:r>
                      <m: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Quality</m:t>
                      </m:r>
                      <m: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Food</m:t>
                      </m:r>
                    </m:oMath>
                  </m:oMathPara>
                </a14:m>
                <a:endParaRPr lang="en-GB" sz="2667" dirty="0">
                  <a:solidFill>
                    <a:srgbClr val="434343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blipFill>
                <a:blip r:embed="rId3"/>
                <a:stretch>
                  <a:fillRect t="-12048" b="-30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C7AF16-67D7-41CE-8E91-4642F0C59711}"/>
              </a:ext>
            </a:extLst>
          </p:cNvPr>
          <p:cNvSpPr txBox="1"/>
          <p:nvPr/>
        </p:nvSpPr>
        <p:spPr>
          <a:xfrm>
            <a:off x="1" y="2558376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my restaurant is in a good location, will my food be good?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2C35C0-EEF2-4226-A8B2-B9C53F3CD77B}"/>
              </a:ext>
            </a:extLst>
          </p:cNvPr>
          <p:cNvSpPr txBox="1"/>
          <p:nvPr/>
        </p:nvSpPr>
        <p:spPr>
          <a:xfrm>
            <a:off x="1" y="6031149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Do you need to know Z to know that </a:t>
            </a:r>
            <a:r>
              <a:rPr lang="en-GB" sz="2400" dirty="0">
                <a:solidFill>
                  <a:srgbClr val="D86ECC"/>
                </a:solidFill>
              </a:rPr>
              <a:t>Location</a:t>
            </a:r>
            <a:r>
              <a:rPr lang="en-GB" sz="2400" dirty="0"/>
              <a:t> does not influence the </a:t>
            </a:r>
            <a:r>
              <a:rPr lang="en-GB" sz="2400" dirty="0">
                <a:solidFill>
                  <a:srgbClr val="FFFF00"/>
                </a:solidFill>
              </a:rPr>
              <a:t>Quality of Food</a:t>
            </a:r>
            <a:r>
              <a:rPr lang="en-GB" sz="2400" dirty="0"/>
              <a:t>?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E202F5B-08DB-4B90-AA18-4DB3F515682C}"/>
              </a:ext>
            </a:extLst>
          </p:cNvPr>
          <p:cNvSpPr/>
          <p:nvPr/>
        </p:nvSpPr>
        <p:spPr>
          <a:xfrm>
            <a:off x="5127493" y="1843242"/>
            <a:ext cx="2538260" cy="5292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  <a:latin typeface="+mj-lt"/>
              </a:rPr>
              <a:t>causes (?)</a:t>
            </a:r>
            <a:endParaRPr lang="en-GB" sz="3733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1CAF286-8A9C-481C-8CC1-1FBAA545137D}"/>
              </a:ext>
            </a:extLst>
          </p:cNvPr>
          <p:cNvGrpSpPr/>
          <p:nvPr/>
        </p:nvGrpSpPr>
        <p:grpSpPr>
          <a:xfrm>
            <a:off x="85246" y="76149"/>
            <a:ext cx="2088545" cy="1445055"/>
            <a:chOff x="4205034" y="3383452"/>
            <a:chExt cx="1566409" cy="1083791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EB5EC586-9519-45BA-8E7E-6AAEE3668950}"/>
                </a:ext>
              </a:extLst>
            </p:cNvPr>
            <p:cNvSpPr/>
            <p:nvPr/>
          </p:nvSpPr>
          <p:spPr>
            <a:xfrm>
              <a:off x="5336842" y="4063923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086B1E4-5001-4380-9429-AA4BE120D5FB}"/>
                </a:ext>
              </a:extLst>
            </p:cNvPr>
            <p:cNvSpPr/>
            <p:nvPr/>
          </p:nvSpPr>
          <p:spPr>
            <a:xfrm>
              <a:off x="4205034" y="4063923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FFCABDA-2C5B-4665-BF06-E58E1CC7E2D3}"/>
                </a:ext>
              </a:extLst>
            </p:cNvPr>
            <p:cNvSpPr/>
            <p:nvPr/>
          </p:nvSpPr>
          <p:spPr>
            <a:xfrm>
              <a:off x="4774720" y="3383452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F729844-E26D-4506-AB3A-08152DF739D9}"/>
                </a:ext>
              </a:extLst>
            </p:cNvPr>
            <p:cNvCxnSpPr>
              <a:stCxn id="31" idx="7"/>
              <a:endCxn id="35" idx="3"/>
            </p:cNvCxnSpPr>
            <p:nvPr/>
          </p:nvCxnSpPr>
          <p:spPr>
            <a:xfrm flipV="1">
              <a:off x="4575990" y="3727706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C878AA9E-AF96-4DEC-98BF-D1AFDBEC575A}"/>
                </a:ext>
              </a:extLst>
            </p:cNvPr>
            <p:cNvCxnSpPr>
              <a:stCxn id="29" idx="1"/>
              <a:endCxn id="35" idx="5"/>
            </p:cNvCxnSpPr>
            <p:nvPr/>
          </p:nvCxnSpPr>
          <p:spPr>
            <a:xfrm flipH="1" flipV="1">
              <a:off x="5145675" y="3727706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0FBAD7E-8989-4A41-A38E-3E45D0B41155}"/>
              </a:ext>
            </a:extLst>
          </p:cNvPr>
          <p:cNvGrpSpPr/>
          <p:nvPr/>
        </p:nvGrpSpPr>
        <p:grpSpPr>
          <a:xfrm>
            <a:off x="2544087" y="3340198"/>
            <a:ext cx="7663966" cy="2401569"/>
            <a:chOff x="2297026" y="2485824"/>
            <a:chExt cx="5747974" cy="180117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930BF61-4106-4DC3-936C-8C9B10E21FEE}"/>
                </a:ext>
              </a:extLst>
            </p:cNvPr>
            <p:cNvGrpSpPr/>
            <p:nvPr/>
          </p:nvGrpSpPr>
          <p:grpSpPr>
            <a:xfrm>
              <a:off x="2297026" y="2485824"/>
              <a:ext cx="5747974" cy="1764686"/>
              <a:chOff x="2297026" y="2485824"/>
              <a:chExt cx="5747974" cy="176468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DCB17A4-88DA-471F-B45F-D9C88D9E82F6}"/>
                  </a:ext>
                </a:extLst>
              </p:cNvPr>
              <p:cNvGrpSpPr/>
              <p:nvPr/>
            </p:nvGrpSpPr>
            <p:grpSpPr>
              <a:xfrm>
                <a:off x="4234580" y="3045001"/>
                <a:ext cx="3810420" cy="638573"/>
                <a:chOff x="4109095" y="3003616"/>
                <a:chExt cx="3810420" cy="63857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C0986C1E-7E94-4F29-86BC-41CC2B823F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09095" y="3018941"/>
                      <a:ext cx="607378" cy="623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4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m:oMathPara>
                      </a14:m>
                      <a:endParaRPr lang="en-GB" sz="48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C0986C1E-7E94-4F29-86BC-41CC2B823F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09095" y="3018941"/>
                      <a:ext cx="607378" cy="62324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1BC3DFFE-A5D2-4B72-8FA0-D470DF2D3EB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62419" y="3003616"/>
                      <a:ext cx="457096" cy="623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4800" i="1">
                                <a:latin typeface="Cambria Math" panose="02040503050406030204" pitchFamily="18" charset="0"/>
                              </a:rPr>
                              <m:t>?</m:t>
                            </m:r>
                          </m:oMath>
                        </m:oMathPara>
                      </a14:m>
                      <a:endParaRPr lang="en-GB" sz="4800" dirty="0"/>
                    </a:p>
                  </p:txBody>
                </p:sp>
              </mc:Choice>
              <mc:Fallback xmlns="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1BC3DFFE-A5D2-4B72-8FA0-D470DF2D3EB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62419" y="3003616"/>
                      <a:ext cx="457096" cy="62324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pic>
            <p:nvPicPr>
              <p:cNvPr id="6" name="Picture 5" descr="A picture containing text, outdoor&#10;&#10;Description automatically generated">
                <a:extLst>
                  <a:ext uri="{FF2B5EF4-FFF2-40B4-BE49-F238E27FC236}">
                    <a16:creationId xmlns:a16="http://schemas.microsoft.com/office/drawing/2014/main" id="{786180A3-E5BC-404B-BEFF-85A6ADF2A3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97026" y="2485824"/>
                <a:ext cx="1764686" cy="1764686"/>
              </a:xfrm>
              <a:prstGeom prst="rect">
                <a:avLst/>
              </a:prstGeom>
            </p:spPr>
          </p:pic>
        </p:grpSp>
        <p:pic>
          <p:nvPicPr>
            <p:cNvPr id="11" name="Picture 10" descr="A person holding a plate of food&#10;&#10;Description automatically generated with low confidence">
              <a:extLst>
                <a:ext uri="{FF2B5EF4-FFF2-40B4-BE49-F238E27FC236}">
                  <a16:creationId xmlns:a16="http://schemas.microsoft.com/office/drawing/2014/main" id="{8F1A01A9-7AD4-4CD7-8763-2C4B378A2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64999" y="2524473"/>
              <a:ext cx="2350037" cy="17625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6079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" grpId="0"/>
      <p:bldP spid="33" grpId="0"/>
      <p:bldP spid="34" grpId="0" animBg="1"/>
      <p:bldP spid="34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5787350" y="4113011"/>
            <a:ext cx="3033921" cy="2250263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40825931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What about when X and Y are causally related?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C17AA91-8923-4B27-89BE-19616D652B7F}"/>
              </a:ext>
            </a:extLst>
          </p:cNvPr>
          <p:cNvGrpSpPr/>
          <p:nvPr/>
        </p:nvGrpSpPr>
        <p:grpSpPr>
          <a:xfrm>
            <a:off x="6111121" y="1249078"/>
            <a:ext cx="5401529" cy="2179922"/>
            <a:chOff x="4583340" y="936808"/>
            <a:chExt cx="4051146" cy="1634942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33D5ADB5-26AA-4694-A265-AB6699E9C924}"/>
                </a:ext>
              </a:extLst>
            </p:cNvPr>
            <p:cNvGrpSpPr/>
            <p:nvPr/>
          </p:nvGrpSpPr>
          <p:grpSpPr>
            <a:xfrm>
              <a:off x="5014011" y="1732359"/>
              <a:ext cx="824498" cy="395282"/>
              <a:chOff x="3070851" y="1490876"/>
              <a:chExt cx="824498" cy="395282"/>
            </a:xfrm>
          </p:grpSpPr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ABACE36E-E2BC-432B-8F08-5257847F880A}"/>
                  </a:ext>
                </a:extLst>
              </p:cNvPr>
              <p:cNvCxnSpPr>
                <a:cxnSpLocks/>
                <a:stCxn id="30" idx="7"/>
                <a:endCxn id="32" idx="3"/>
              </p:cNvCxnSpPr>
              <p:nvPr/>
            </p:nvCxnSpPr>
            <p:spPr>
              <a:xfrm flipV="1">
                <a:off x="3070851" y="1490876"/>
                <a:ext cx="262376" cy="39528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93B1BA68-32C4-479B-B337-B127445D9898}"/>
                  </a:ext>
                </a:extLst>
              </p:cNvPr>
              <p:cNvCxnSpPr>
                <a:cxnSpLocks/>
                <a:stCxn id="32" idx="5"/>
                <a:endCxn id="28" idx="1"/>
              </p:cNvCxnSpPr>
              <p:nvPr/>
            </p:nvCxnSpPr>
            <p:spPr>
              <a:xfrm>
                <a:off x="3640536" y="1490876"/>
                <a:ext cx="254813" cy="39528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4ED35CE-CBC5-4774-B420-90B416246C46}"/>
                </a:ext>
              </a:extLst>
            </p:cNvPr>
            <p:cNvGrpSpPr/>
            <p:nvPr/>
          </p:nvGrpSpPr>
          <p:grpSpPr>
            <a:xfrm>
              <a:off x="4583340" y="936808"/>
              <a:ext cx="4051146" cy="1634942"/>
              <a:chOff x="4583340" y="936808"/>
              <a:chExt cx="4051146" cy="163494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02734EE7-593B-457F-B85D-6A3173407B47}"/>
                  </a:ext>
                </a:extLst>
              </p:cNvPr>
              <p:cNvGrpSpPr/>
              <p:nvPr/>
            </p:nvGrpSpPr>
            <p:grpSpPr>
              <a:xfrm>
                <a:off x="4583340" y="936808"/>
                <a:ext cx="4051146" cy="1634942"/>
                <a:chOff x="4583340" y="936808"/>
                <a:chExt cx="4051146" cy="1634942"/>
              </a:xfrm>
            </p:grpSpPr>
            <p:grpSp>
              <p:nvGrpSpPr>
                <p:cNvPr id="95" name="Group 94">
                  <a:extLst>
                    <a:ext uri="{FF2B5EF4-FFF2-40B4-BE49-F238E27FC236}">
                      <a16:creationId xmlns:a16="http://schemas.microsoft.com/office/drawing/2014/main" id="{14BD0FBE-1901-44C1-B2BF-04A0F26F2F78}"/>
                    </a:ext>
                  </a:extLst>
                </p:cNvPr>
                <p:cNvGrpSpPr/>
                <p:nvPr/>
              </p:nvGrpSpPr>
              <p:grpSpPr>
                <a:xfrm>
                  <a:off x="4643055" y="998554"/>
                  <a:ext cx="1566409" cy="1473342"/>
                  <a:chOff x="5476773" y="951489"/>
                  <a:chExt cx="1566409" cy="1473342"/>
                </a:xfrm>
              </p:grpSpPr>
              <p:grpSp>
                <p:nvGrpSpPr>
                  <p:cNvPr id="74" name="Group 73">
                    <a:extLst>
                      <a:ext uri="{FF2B5EF4-FFF2-40B4-BE49-F238E27FC236}">
                        <a16:creationId xmlns:a16="http://schemas.microsoft.com/office/drawing/2014/main" id="{E6A70E16-FEC9-4152-B419-97B35E22CD42}"/>
                      </a:ext>
                    </a:extLst>
                  </p:cNvPr>
                  <p:cNvGrpSpPr/>
                  <p:nvPr/>
                </p:nvGrpSpPr>
                <p:grpSpPr>
                  <a:xfrm>
                    <a:off x="5476773" y="1341040"/>
                    <a:ext cx="1566409" cy="1083791"/>
                    <a:chOff x="6155850" y="1341040"/>
                    <a:chExt cx="1566409" cy="1083791"/>
                  </a:xfrm>
                </p:grpSpPr>
                <p:sp>
                  <p:nvSpPr>
                    <p:cNvPr id="28" name="Oval 27">
                      <a:extLst>
                        <a:ext uri="{FF2B5EF4-FFF2-40B4-BE49-F238E27FC236}">
                          <a16:creationId xmlns:a16="http://schemas.microsoft.com/office/drawing/2014/main" id="{533F65E5-54E3-4F6D-8E50-D41D0D93A9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87658" y="2021511"/>
                      <a:ext cx="434601" cy="403320"/>
                    </a:xfrm>
                    <a:prstGeom prst="ellipse">
                      <a:avLst/>
                    </a:prstGeom>
                    <a:solidFill>
                      <a:srgbClr val="434343"/>
                    </a:solidFill>
                    <a:ln w="38100">
                      <a:solidFill>
                        <a:srgbClr val="FFC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Y</a:t>
                      </a:r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39613A30-CEA7-43EB-9DD4-31A2596A35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55850" y="2021511"/>
                      <a:ext cx="434602" cy="403319"/>
                    </a:xfrm>
                    <a:prstGeom prst="ellipse">
                      <a:avLst/>
                    </a:prstGeom>
                    <a:solidFill>
                      <a:schemeClr val="accent5">
                        <a:lumMod val="50000"/>
                      </a:schemeClr>
                    </a:solidFill>
                    <a:ln w="381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X</a:t>
                      </a:r>
                    </a:p>
                  </p:txBody>
                </p: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B801E74-A95D-44EA-B4DF-54DAACC4A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25536" y="1341040"/>
                      <a:ext cx="434601" cy="403319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 w="38100">
                      <a:solidFill>
                        <a:srgbClr val="00B05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Z</a:t>
                      </a:r>
                    </a:p>
                  </p:txBody>
                </p:sp>
                <p:cxnSp>
                  <p:nvCxnSpPr>
                    <p:cNvPr id="34" name="Straight Arrow Connector 33">
                      <a:extLst>
                        <a:ext uri="{FF2B5EF4-FFF2-40B4-BE49-F238E27FC236}">
                          <a16:creationId xmlns:a16="http://schemas.microsoft.com/office/drawing/2014/main" id="{A41A44C1-653D-4DC3-8B5B-5B648C14E08A}"/>
                        </a:ext>
                      </a:extLst>
                    </p:cNvPr>
                    <p:cNvCxnSpPr>
                      <a:cxnSpLocks/>
                      <a:stCxn id="32" idx="5"/>
                      <a:endCxn id="28" idx="1"/>
                    </p:cNvCxnSpPr>
                    <p:nvPr/>
                  </p:nvCxnSpPr>
                  <p:spPr>
                    <a:xfrm>
                      <a:off x="7096491" y="1685294"/>
                      <a:ext cx="254813" cy="395282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6AE978E5-F091-4821-96C6-B724F076F9B2}"/>
                        </a:ext>
                      </a:extLst>
                    </p:cNvPr>
                    <p:cNvCxnSpPr>
                      <a:cxnSpLocks/>
                      <a:stCxn id="30" idx="7"/>
                      <a:endCxn id="32" idx="3"/>
                    </p:cNvCxnSpPr>
                    <p:nvPr/>
                  </p:nvCxnSpPr>
                  <p:spPr>
                    <a:xfrm flipV="1">
                      <a:off x="6526806" y="1685294"/>
                      <a:ext cx="262376" cy="395282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E9C42D1A-BCCF-453E-9579-4AFC9AB8A212}"/>
                      </a:ext>
                    </a:extLst>
                  </p:cNvPr>
                  <p:cNvSpPr txBox="1"/>
                  <p:nvPr/>
                </p:nvSpPr>
                <p:spPr>
                  <a:xfrm>
                    <a:off x="5991887" y="951489"/>
                    <a:ext cx="589345" cy="34624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sz="2400" dirty="0"/>
                      <a:t>Pipe</a:t>
                    </a:r>
                  </a:p>
                </p:txBody>
              </p:sp>
            </p:grp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8E0288BF-B8A3-4D88-B7F6-2063B12BE30F}"/>
                    </a:ext>
                  </a:extLst>
                </p:cNvPr>
                <p:cNvSpPr/>
                <p:nvPr/>
              </p:nvSpPr>
              <p:spPr>
                <a:xfrm>
                  <a:off x="4583340" y="936808"/>
                  <a:ext cx="1693399" cy="1634942"/>
                </a:xfrm>
                <a:prstGeom prst="round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46B77CBF-608E-4A97-9567-0191F4E402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61776" y="1277225"/>
                      <a:ext cx="2172710" cy="9925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accent2"/>
                      </a:solidFill>
                    </a:ln>
                  </p:spPr>
                  <p:txBody>
                    <a:bodyPr wrap="none" rtlCol="0">
                      <a:spAutoFit/>
                    </a:bodyPr>
                    <a:lstStyle/>
                    <a:p>
                      <a:pPr algn="ctr"/>
                      <a:r>
                        <a:rPr lang="en-GB" sz="2000" dirty="0"/>
                        <a:t>Excluding Z </a:t>
                      </a:r>
                      <a:r>
                        <a:rPr lang="en-GB" sz="2000" b="1" u="sng" dirty="0"/>
                        <a:t>opens</a:t>
                      </a:r>
                      <a:r>
                        <a:rPr lang="en-GB" sz="2000" dirty="0"/>
                        <a:t> path:</a:t>
                      </a: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20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GB" sz="2000" i="1"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r>
                              <a:rPr lang="en-GB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en-GB" sz="2000" dirty="0"/>
                    </a:p>
                    <a:p>
                      <a:pPr algn="ctr"/>
                      <a:r>
                        <a:rPr lang="en-GB" sz="2000" dirty="0"/>
                        <a:t>You </a:t>
                      </a:r>
                      <a:r>
                        <a:rPr lang="en-GB" sz="2000" b="1" u="sng" dirty="0"/>
                        <a:t>almost</a:t>
                      </a:r>
                      <a:r>
                        <a:rPr lang="en-GB" sz="2000" dirty="0"/>
                        <a:t> always </a:t>
                      </a:r>
                      <a:br>
                        <a:rPr lang="en-GB" sz="2000" dirty="0"/>
                      </a:br>
                      <a:r>
                        <a:rPr lang="en-GB" sz="2000" dirty="0"/>
                        <a:t>want the path </a:t>
                      </a:r>
                      <a:r>
                        <a:rPr lang="en-GB" sz="2000" b="1" dirty="0"/>
                        <a:t>open</a:t>
                      </a:r>
                    </a:p>
                  </p:txBody>
                </p:sp>
              </mc:Choice>
              <mc:Fallback xmlns="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46B77CBF-608E-4A97-9567-0191F4E402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61776" y="1277225"/>
                      <a:ext cx="2172710" cy="9925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674" t="-1826" r="-1464" b="-6849"/>
                      </a:stretch>
                    </a:blipFill>
                    <a:ln>
                      <a:solidFill>
                        <a:schemeClr val="accent2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FA43C025-9EEB-44B2-BC08-80E48D841D26}"/>
                    </a:ext>
                  </a:extLst>
                </p:cNvPr>
                <p:cNvCxnSpPr>
                  <a:stCxn id="79" idx="1"/>
                  <a:endCxn id="62" idx="3"/>
                </p:cNvCxnSpPr>
                <p:nvPr/>
              </p:nvCxnSpPr>
              <p:spPr>
                <a:xfrm flipH="1" flipV="1">
                  <a:off x="6276739" y="1754279"/>
                  <a:ext cx="185037" cy="19236"/>
                </a:xfrm>
                <a:prstGeom prst="line">
                  <a:avLst/>
                </a:prstGeom>
                <a:ln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959ED0F3-E817-4D52-838F-052BA2286551}"/>
                  </a:ext>
                </a:extLst>
              </p:cNvPr>
              <p:cNvCxnSpPr>
                <a:stCxn id="30" idx="6"/>
                <a:endCxn id="28" idx="2"/>
              </p:cNvCxnSpPr>
              <p:nvPr/>
            </p:nvCxnSpPr>
            <p:spPr>
              <a:xfrm>
                <a:off x="5077657" y="2270236"/>
                <a:ext cx="69720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B0D91DD-0464-43F9-887B-7327830CEBA3}"/>
              </a:ext>
            </a:extLst>
          </p:cNvPr>
          <p:cNvGrpSpPr/>
          <p:nvPr/>
        </p:nvGrpSpPr>
        <p:grpSpPr>
          <a:xfrm>
            <a:off x="544655" y="1702967"/>
            <a:ext cx="2960543" cy="1323439"/>
            <a:chOff x="408491" y="1277225"/>
            <a:chExt cx="2220407" cy="9925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3F5C1C6-FC5F-4489-B06D-70F9822F633A}"/>
                    </a:ext>
                  </a:extLst>
                </p:cNvPr>
                <p:cNvSpPr txBox="1"/>
                <p:nvPr/>
              </p:nvSpPr>
              <p:spPr>
                <a:xfrm>
                  <a:off x="408491" y="1277225"/>
                  <a:ext cx="2018822" cy="9925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2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sz="2000" dirty="0"/>
                    <a:t>Adding Z </a:t>
                  </a:r>
                  <a:r>
                    <a:rPr lang="en-GB" sz="2000" b="1" u="sng" dirty="0"/>
                    <a:t>closes</a:t>
                  </a:r>
                  <a:r>
                    <a:rPr lang="en-GB" sz="2000" dirty="0"/>
                    <a:t> path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GB" sz="2000" dirty="0"/>
                </a:p>
                <a:p>
                  <a:pPr algn="ctr"/>
                  <a:r>
                    <a:rPr lang="en-GB" sz="2000" dirty="0"/>
                    <a:t>You always want </a:t>
                  </a:r>
                  <a:br>
                    <a:rPr lang="en-GB" sz="2000" dirty="0"/>
                  </a:br>
                  <a:r>
                    <a:rPr lang="en-GB" sz="2000" dirty="0"/>
                    <a:t>the path </a:t>
                  </a:r>
                  <a:r>
                    <a:rPr lang="en-GB" sz="2000" b="1" dirty="0"/>
                    <a:t>closed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3F5C1C6-FC5F-4489-B06D-70F9822F63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491" y="1277225"/>
                  <a:ext cx="2018822" cy="992579"/>
                </a:xfrm>
                <a:prstGeom prst="rect">
                  <a:avLst/>
                </a:prstGeom>
                <a:blipFill>
                  <a:blip r:embed="rId4"/>
                  <a:stretch>
                    <a:fillRect l="-1802" t="-1826" r="-1577" b="-6849"/>
                  </a:stretch>
                </a:blipFill>
                <a:ln>
                  <a:solidFill>
                    <a:schemeClr val="accent2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65E1F02-D585-4A86-AAB1-5C19E64D16E2}"/>
                </a:ext>
              </a:extLst>
            </p:cNvPr>
            <p:cNvCxnSpPr>
              <a:stCxn id="5" idx="3"/>
              <a:endCxn id="3" idx="1"/>
            </p:cNvCxnSpPr>
            <p:nvPr/>
          </p:nvCxnSpPr>
          <p:spPr>
            <a:xfrm flipV="1">
              <a:off x="2427313" y="1754279"/>
              <a:ext cx="201585" cy="1923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6459D-DA6A-4801-BE1F-93DF7579BD6D}"/>
              </a:ext>
            </a:extLst>
          </p:cNvPr>
          <p:cNvGrpSpPr/>
          <p:nvPr/>
        </p:nvGrpSpPr>
        <p:grpSpPr>
          <a:xfrm>
            <a:off x="3505198" y="1249077"/>
            <a:ext cx="2257865" cy="2179923"/>
            <a:chOff x="2628898" y="936808"/>
            <a:chExt cx="1693399" cy="1634942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C1C8C61-28A1-456D-8229-413BC8C6D1A4}"/>
                </a:ext>
              </a:extLst>
            </p:cNvPr>
            <p:cNvGrpSpPr/>
            <p:nvPr/>
          </p:nvGrpSpPr>
          <p:grpSpPr>
            <a:xfrm>
              <a:off x="3063195" y="1748047"/>
              <a:ext cx="824498" cy="395282"/>
              <a:chOff x="3063195" y="1748047"/>
              <a:chExt cx="824498" cy="395282"/>
            </a:xfrm>
          </p:grpSpPr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4DD06B5D-65FE-4A5A-913E-92370A5B78FF}"/>
                  </a:ext>
                </a:extLst>
              </p:cNvPr>
              <p:cNvCxnSpPr>
                <a:stCxn id="19" idx="7"/>
                <a:endCxn id="20" idx="3"/>
              </p:cNvCxnSpPr>
              <p:nvPr/>
            </p:nvCxnSpPr>
            <p:spPr>
              <a:xfrm flipV="1">
                <a:off x="3063195" y="1748047"/>
                <a:ext cx="262376" cy="39528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AAC64E9F-6209-4152-AE29-18D6340CA0D3}"/>
                  </a:ext>
                </a:extLst>
              </p:cNvPr>
              <p:cNvCxnSpPr>
                <a:cxnSpLocks/>
                <a:stCxn id="20" idx="5"/>
                <a:endCxn id="18" idx="1"/>
              </p:cNvCxnSpPr>
              <p:nvPr/>
            </p:nvCxnSpPr>
            <p:spPr>
              <a:xfrm>
                <a:off x="3632880" y="1748047"/>
                <a:ext cx="254813" cy="39528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273FF2C-FB91-4725-89E4-CF85993D09AB}"/>
                </a:ext>
              </a:extLst>
            </p:cNvPr>
            <p:cNvGrpSpPr/>
            <p:nvPr/>
          </p:nvGrpSpPr>
          <p:grpSpPr>
            <a:xfrm>
              <a:off x="2628898" y="936808"/>
              <a:ext cx="1693399" cy="1634942"/>
              <a:chOff x="2628898" y="936808"/>
              <a:chExt cx="1693399" cy="1634942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354C2958-F320-4C48-A8CA-5C868A94C0AF}"/>
                  </a:ext>
                </a:extLst>
              </p:cNvPr>
              <p:cNvGrpSpPr/>
              <p:nvPr/>
            </p:nvGrpSpPr>
            <p:grpSpPr>
              <a:xfrm>
                <a:off x="2692239" y="991775"/>
                <a:ext cx="1566409" cy="1495809"/>
                <a:chOff x="3525957" y="944710"/>
                <a:chExt cx="1566409" cy="1495809"/>
              </a:xfrm>
            </p:grpSpPr>
            <p:grpSp>
              <p:nvGrpSpPr>
                <p:cNvPr id="73" name="Group 72">
                  <a:extLst>
                    <a:ext uri="{FF2B5EF4-FFF2-40B4-BE49-F238E27FC236}">
                      <a16:creationId xmlns:a16="http://schemas.microsoft.com/office/drawing/2014/main" id="{ADABC815-811B-49C9-992B-C158E810C735}"/>
                    </a:ext>
                  </a:extLst>
                </p:cNvPr>
                <p:cNvGrpSpPr/>
                <p:nvPr/>
              </p:nvGrpSpPr>
              <p:grpSpPr>
                <a:xfrm>
                  <a:off x="3525957" y="1356728"/>
                  <a:ext cx="1566409" cy="1083791"/>
                  <a:chOff x="4205034" y="1356728"/>
                  <a:chExt cx="1566409" cy="1083791"/>
                </a:xfrm>
              </p:grpSpPr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75C522C8-ABFA-4058-9BAE-C456C9C05CF4}"/>
                      </a:ext>
                    </a:extLst>
                  </p:cNvPr>
                  <p:cNvSpPr/>
                  <p:nvPr/>
                </p:nvSpPr>
                <p:spPr>
                  <a:xfrm>
                    <a:off x="5336842" y="2037199"/>
                    <a:ext cx="434601" cy="403320"/>
                  </a:xfrm>
                  <a:prstGeom prst="ellipse">
                    <a:avLst/>
                  </a:prstGeom>
                  <a:solidFill>
                    <a:srgbClr val="434343"/>
                  </a:solidFill>
                  <a:ln w="38100">
                    <a:solidFill>
                      <a:srgbClr val="FFC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Y</a:t>
                    </a:r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AD059DA1-CEFB-4BBD-A284-532D2AC070BD}"/>
                      </a:ext>
                    </a:extLst>
                  </p:cNvPr>
                  <p:cNvSpPr/>
                  <p:nvPr/>
                </p:nvSpPr>
                <p:spPr>
                  <a:xfrm>
                    <a:off x="4205034" y="2037199"/>
                    <a:ext cx="434602" cy="403319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X</a:t>
                    </a:r>
                  </a:p>
                </p:txBody>
              </p:sp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4A4066AC-A54A-467D-88E0-DF35BA925149}"/>
                      </a:ext>
                    </a:extLst>
                  </p:cNvPr>
                  <p:cNvSpPr/>
                  <p:nvPr/>
                </p:nvSpPr>
                <p:spPr>
                  <a:xfrm>
                    <a:off x="4774720" y="1356728"/>
                    <a:ext cx="434601" cy="403319"/>
                  </a:xfrm>
                  <a:prstGeom prst="ellipse">
                    <a:avLst/>
                  </a:prstGeom>
                  <a:solidFill>
                    <a:srgbClr val="434343"/>
                  </a:solidFill>
                  <a:ln w="38100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Z</a:t>
                    </a:r>
                  </a:p>
                </p:txBody>
              </p:sp>
              <p:cxnSp>
                <p:nvCxnSpPr>
                  <p:cNvPr id="8" name="Straight Arrow Connector 7">
                    <a:extLst>
                      <a:ext uri="{FF2B5EF4-FFF2-40B4-BE49-F238E27FC236}">
                        <a16:creationId xmlns:a16="http://schemas.microsoft.com/office/drawing/2014/main" id="{A75A2A15-38D9-4ED3-93A0-ADB28A204398}"/>
                      </a:ext>
                    </a:extLst>
                  </p:cNvPr>
                  <p:cNvCxnSpPr>
                    <a:cxnSpLocks/>
                    <a:stCxn id="20" idx="3"/>
                    <a:endCxn id="19" idx="7"/>
                  </p:cNvCxnSpPr>
                  <p:nvPr/>
                </p:nvCxnSpPr>
                <p:spPr>
                  <a:xfrm flipH="1">
                    <a:off x="4575990" y="1700982"/>
                    <a:ext cx="262376" cy="39528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" name="Straight Arrow Connector 11">
                    <a:extLst>
                      <a:ext uri="{FF2B5EF4-FFF2-40B4-BE49-F238E27FC236}">
                        <a16:creationId xmlns:a16="http://schemas.microsoft.com/office/drawing/2014/main" id="{28B291C2-904F-4007-89AA-0095EB52F029}"/>
                      </a:ext>
                    </a:extLst>
                  </p:cNvPr>
                  <p:cNvCxnSpPr>
                    <a:cxnSpLocks/>
                    <a:stCxn id="20" idx="5"/>
                    <a:endCxn id="18" idx="1"/>
                  </p:cNvCxnSpPr>
                  <p:nvPr/>
                </p:nvCxnSpPr>
                <p:spPr>
                  <a:xfrm>
                    <a:off x="5145675" y="1700982"/>
                    <a:ext cx="254813" cy="39528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4B113D6-8AAE-4097-851A-4EC467169931}"/>
                    </a:ext>
                  </a:extLst>
                </p:cNvPr>
                <p:cNvSpPr txBox="1"/>
                <p:nvPr/>
              </p:nvSpPr>
              <p:spPr>
                <a:xfrm>
                  <a:off x="4041874" y="944710"/>
                  <a:ext cx="614591" cy="3462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2400" dirty="0"/>
                    <a:t>Fork</a:t>
                  </a:r>
                </a:p>
              </p:txBody>
            </p:sp>
          </p:grp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2020C7CF-4FDE-4574-A4F3-C07BBF76A95E}"/>
                  </a:ext>
                </a:extLst>
              </p:cNvPr>
              <p:cNvSpPr/>
              <p:nvPr/>
            </p:nvSpPr>
            <p:spPr>
              <a:xfrm>
                <a:off x="2628898" y="936808"/>
                <a:ext cx="1693399" cy="1634942"/>
              </a:xfrm>
              <a:prstGeom prst="round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BFA9F76-290D-46CB-B259-BCEF2CEDB053}"/>
                  </a:ext>
                </a:extLst>
              </p:cNvPr>
              <p:cNvCxnSpPr>
                <a:stCxn id="19" idx="6"/>
                <a:endCxn id="18" idx="2"/>
              </p:cNvCxnSpPr>
              <p:nvPr/>
            </p:nvCxnSpPr>
            <p:spPr>
              <a:xfrm>
                <a:off x="3126841" y="2285924"/>
                <a:ext cx="69720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A3ED89D-8418-45B2-8FF9-10958B7BCC44}"/>
              </a:ext>
            </a:extLst>
          </p:cNvPr>
          <p:cNvGrpSpPr/>
          <p:nvPr/>
        </p:nvGrpSpPr>
        <p:grpSpPr>
          <a:xfrm>
            <a:off x="6034932" y="4272930"/>
            <a:ext cx="5976722" cy="2290872"/>
            <a:chOff x="4372190" y="3149116"/>
            <a:chExt cx="4482542" cy="171815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6F60619-16E4-42F6-978E-CD8973BF5F3F}"/>
                </a:ext>
              </a:extLst>
            </p:cNvPr>
            <p:cNvGrpSpPr/>
            <p:nvPr/>
          </p:nvGrpSpPr>
          <p:grpSpPr>
            <a:xfrm>
              <a:off x="4372190" y="3149116"/>
              <a:ext cx="4482542" cy="1718155"/>
              <a:chOff x="4372190" y="3149116"/>
              <a:chExt cx="4482542" cy="1718155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F9B8E94E-931F-4959-8839-F3CD81C64B46}"/>
                  </a:ext>
                </a:extLst>
              </p:cNvPr>
              <p:cNvGrpSpPr/>
              <p:nvPr/>
            </p:nvGrpSpPr>
            <p:grpSpPr>
              <a:xfrm>
                <a:off x="4425754" y="3149116"/>
                <a:ext cx="2165272" cy="1576192"/>
                <a:chOff x="5259472" y="3102051"/>
                <a:chExt cx="2165272" cy="1576192"/>
              </a:xfrm>
            </p:grpSpPr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1572508C-6C04-477C-BEE0-69897BE62DF7}"/>
                    </a:ext>
                  </a:extLst>
                </p:cNvPr>
                <p:cNvGrpSpPr/>
                <p:nvPr/>
              </p:nvGrpSpPr>
              <p:grpSpPr>
                <a:xfrm>
                  <a:off x="5259472" y="3482857"/>
                  <a:ext cx="2165272" cy="1195386"/>
                  <a:chOff x="5938549" y="3482857"/>
                  <a:chExt cx="2165272" cy="1195386"/>
                </a:xfrm>
              </p:grpSpPr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6674F3F0-220D-4F18-B188-AAF77B01E2A1}"/>
                      </a:ext>
                    </a:extLst>
                  </p:cNvPr>
                  <p:cNvSpPr/>
                  <p:nvPr/>
                </p:nvSpPr>
                <p:spPr>
                  <a:xfrm>
                    <a:off x="7669220" y="3482857"/>
                    <a:ext cx="434601" cy="403320"/>
                  </a:xfrm>
                  <a:prstGeom prst="ellipse">
                    <a:avLst/>
                  </a:prstGeom>
                  <a:solidFill>
                    <a:srgbClr val="434343"/>
                  </a:solidFill>
                  <a:ln w="38100">
                    <a:solidFill>
                      <a:srgbClr val="FFC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Y</a:t>
                    </a:r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2D53BDBE-54FC-442D-8CDE-41E6E793354A}"/>
                      </a:ext>
                    </a:extLst>
                  </p:cNvPr>
                  <p:cNvSpPr/>
                  <p:nvPr/>
                </p:nvSpPr>
                <p:spPr>
                  <a:xfrm>
                    <a:off x="5938549" y="3482858"/>
                    <a:ext cx="434602" cy="403319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X</a:t>
                    </a:r>
                  </a:p>
                </p:txBody>
              </p:sp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480A74BE-D5F4-4C32-9151-8EC13A98740A}"/>
                      </a:ext>
                    </a:extLst>
                  </p:cNvPr>
                  <p:cNvSpPr/>
                  <p:nvPr/>
                </p:nvSpPr>
                <p:spPr>
                  <a:xfrm>
                    <a:off x="6803885" y="3482859"/>
                    <a:ext cx="434601" cy="403319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 w="38100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Z</a:t>
                    </a:r>
                  </a:p>
                </p:txBody>
              </p:sp>
              <p:cxnSp>
                <p:nvCxnSpPr>
                  <p:cNvPr id="45" name="Straight Arrow Connector 44">
                    <a:extLst>
                      <a:ext uri="{FF2B5EF4-FFF2-40B4-BE49-F238E27FC236}">
                        <a16:creationId xmlns:a16="http://schemas.microsoft.com/office/drawing/2014/main" id="{40013FDE-CAFD-45FF-82A7-CFFF72045FA6}"/>
                      </a:ext>
                    </a:extLst>
                  </p:cNvPr>
                  <p:cNvCxnSpPr>
                    <a:cxnSpLocks/>
                    <a:stCxn id="43" idx="6"/>
                    <a:endCxn id="44" idx="2"/>
                  </p:cNvCxnSpPr>
                  <p:nvPr/>
                </p:nvCxnSpPr>
                <p:spPr>
                  <a:xfrm>
                    <a:off x="6373151" y="3684518"/>
                    <a:ext cx="430734" cy="1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Straight Arrow Connector 51">
                    <a:extLst>
                      <a:ext uri="{FF2B5EF4-FFF2-40B4-BE49-F238E27FC236}">
                        <a16:creationId xmlns:a16="http://schemas.microsoft.com/office/drawing/2014/main" id="{08C0A6E7-AF67-4C21-A2BF-5BBAE5D7F026}"/>
                      </a:ext>
                    </a:extLst>
                  </p:cNvPr>
                  <p:cNvCxnSpPr>
                    <a:stCxn id="44" idx="6"/>
                    <a:endCxn id="42" idx="2"/>
                  </p:cNvCxnSpPr>
                  <p:nvPr/>
                </p:nvCxnSpPr>
                <p:spPr>
                  <a:xfrm flipV="1">
                    <a:off x="7238486" y="3684517"/>
                    <a:ext cx="430734" cy="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Oval 52">
                    <a:extLst>
                      <a:ext uri="{FF2B5EF4-FFF2-40B4-BE49-F238E27FC236}">
                        <a16:creationId xmlns:a16="http://schemas.microsoft.com/office/drawing/2014/main" id="{0D74FCBD-9648-48D3-B3A4-8FB638E75F1C}"/>
                      </a:ext>
                    </a:extLst>
                  </p:cNvPr>
                  <p:cNvSpPr/>
                  <p:nvPr/>
                </p:nvSpPr>
                <p:spPr>
                  <a:xfrm>
                    <a:off x="6809961" y="4274924"/>
                    <a:ext cx="434601" cy="403319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 w="38100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V</a:t>
                    </a:r>
                  </a:p>
                </p:txBody>
              </p:sp>
              <p:cxnSp>
                <p:nvCxnSpPr>
                  <p:cNvPr id="55" name="Straight Arrow Connector 54">
                    <a:extLst>
                      <a:ext uri="{FF2B5EF4-FFF2-40B4-BE49-F238E27FC236}">
                        <a16:creationId xmlns:a16="http://schemas.microsoft.com/office/drawing/2014/main" id="{3517A162-BFD9-4153-959B-667DA7DA9D65}"/>
                      </a:ext>
                    </a:extLst>
                  </p:cNvPr>
                  <p:cNvCxnSpPr>
                    <a:stCxn id="44" idx="4"/>
                    <a:endCxn id="53" idx="0"/>
                  </p:cNvCxnSpPr>
                  <p:nvPr/>
                </p:nvCxnSpPr>
                <p:spPr>
                  <a:xfrm>
                    <a:off x="7021186" y="3886178"/>
                    <a:ext cx="6076" cy="38874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ACA1F83-E692-469A-A7E6-FE1A4F1BA5C1}"/>
                    </a:ext>
                  </a:extLst>
                </p:cNvPr>
                <p:cNvSpPr txBox="1"/>
                <p:nvPr/>
              </p:nvSpPr>
              <p:spPr>
                <a:xfrm>
                  <a:off x="5772080" y="3102051"/>
                  <a:ext cx="1353977" cy="3462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2400" dirty="0"/>
                    <a:t>Descendant</a:t>
                  </a:r>
                </a:p>
              </p:txBody>
            </p:sp>
          </p:grpSp>
          <p:sp>
            <p:nvSpPr>
              <p:cNvPr id="77" name="Rectangle: Rounded Corners 76">
                <a:extLst>
                  <a:ext uri="{FF2B5EF4-FFF2-40B4-BE49-F238E27FC236}">
                    <a16:creationId xmlns:a16="http://schemas.microsoft.com/office/drawing/2014/main" id="{0B8383F1-54A7-4248-A322-0CEF1EECCFAB}"/>
                  </a:ext>
                </a:extLst>
              </p:cNvPr>
              <p:cNvSpPr/>
              <p:nvPr/>
            </p:nvSpPr>
            <p:spPr>
              <a:xfrm>
                <a:off x="4372190" y="3232329"/>
                <a:ext cx="2270656" cy="1634942"/>
              </a:xfrm>
              <a:prstGeom prst="round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A5F21C1C-4456-4877-B69F-FB85301644B4}"/>
                  </a:ext>
                </a:extLst>
              </p:cNvPr>
              <p:cNvSpPr txBox="1"/>
              <p:nvPr/>
            </p:nvSpPr>
            <p:spPr>
              <a:xfrm>
                <a:off x="6919459" y="3438093"/>
                <a:ext cx="1935273" cy="122341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000" dirty="0"/>
                  <a:t>Treat V as another version of Z. Look at the triplet structure of X, Z, Y and proceed.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D319EE5-1E72-4D14-9DA2-4DBDF353FC33}"/>
                  </a:ext>
                </a:extLst>
              </p:cNvPr>
              <p:cNvCxnSpPr>
                <a:stCxn id="82" idx="1"/>
                <a:endCxn id="77" idx="3"/>
              </p:cNvCxnSpPr>
              <p:nvPr/>
            </p:nvCxnSpPr>
            <p:spPr>
              <a:xfrm flipH="1">
                <a:off x="6642846" y="4049799"/>
                <a:ext cx="276613" cy="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71E7D5C-B68F-49D1-BFB1-CD04C0720ECB}"/>
                </a:ext>
              </a:extLst>
            </p:cNvPr>
            <p:cNvSpPr/>
            <p:nvPr/>
          </p:nvSpPr>
          <p:spPr>
            <a:xfrm>
              <a:off x="4794191" y="3426775"/>
              <a:ext cx="1418602" cy="145367"/>
            </a:xfrm>
            <a:custGeom>
              <a:avLst/>
              <a:gdLst>
                <a:gd name="connsiteX0" fmla="*/ 0 w 1418602"/>
                <a:gd name="connsiteY0" fmla="*/ 145367 h 145367"/>
                <a:gd name="connsiteX1" fmla="*/ 726392 w 1418602"/>
                <a:gd name="connsiteY1" fmla="*/ 89 h 145367"/>
                <a:gd name="connsiteX2" fmla="*/ 1418602 w 1418602"/>
                <a:gd name="connsiteY2" fmla="*/ 128275 h 145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8602" h="145367">
                  <a:moveTo>
                    <a:pt x="0" y="145367"/>
                  </a:moveTo>
                  <a:cubicBezTo>
                    <a:pt x="244979" y="74152"/>
                    <a:pt x="489958" y="2938"/>
                    <a:pt x="726392" y="89"/>
                  </a:cubicBezTo>
                  <a:cubicBezTo>
                    <a:pt x="962826" y="-2760"/>
                    <a:pt x="1190714" y="62757"/>
                    <a:pt x="1418602" y="12827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0B07E0D-876A-446E-A7D2-799D33B51E7D}"/>
              </a:ext>
            </a:extLst>
          </p:cNvPr>
          <p:cNvGrpSpPr/>
          <p:nvPr/>
        </p:nvGrpSpPr>
        <p:grpSpPr>
          <a:xfrm>
            <a:off x="733232" y="4185121"/>
            <a:ext cx="5018088" cy="2179922"/>
            <a:chOff x="549924" y="3138842"/>
            <a:chExt cx="3763566" cy="163494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7F13620F-1359-4E8D-94E6-D4744E43FE37}"/>
                </a:ext>
              </a:extLst>
            </p:cNvPr>
            <p:cNvGrpSpPr/>
            <p:nvPr/>
          </p:nvGrpSpPr>
          <p:grpSpPr>
            <a:xfrm>
              <a:off x="3063195" y="3963037"/>
              <a:ext cx="824498" cy="395282"/>
              <a:chOff x="3029558" y="1677340"/>
              <a:chExt cx="824498" cy="395282"/>
            </a:xfrm>
          </p:grpSpPr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B7098018-B78E-46DC-82E0-FC31A1DAD6F1}"/>
                  </a:ext>
                </a:extLst>
              </p:cNvPr>
              <p:cNvCxnSpPr>
                <a:cxnSpLocks/>
                <a:stCxn id="24" idx="7"/>
                <a:endCxn id="25" idx="3"/>
              </p:cNvCxnSpPr>
              <p:nvPr/>
            </p:nvCxnSpPr>
            <p:spPr>
              <a:xfrm flipV="1">
                <a:off x="3029558" y="1677340"/>
                <a:ext cx="262376" cy="39528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DB7F6194-903C-434B-9C98-48BB1D822854}"/>
                  </a:ext>
                </a:extLst>
              </p:cNvPr>
              <p:cNvCxnSpPr>
                <a:cxnSpLocks/>
                <a:stCxn id="25" idx="5"/>
                <a:endCxn id="23" idx="1"/>
              </p:cNvCxnSpPr>
              <p:nvPr/>
            </p:nvCxnSpPr>
            <p:spPr>
              <a:xfrm>
                <a:off x="3599243" y="1677340"/>
                <a:ext cx="254813" cy="39528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D92DED8-DA29-48CC-BA41-D6AA35A3E1C9}"/>
                </a:ext>
              </a:extLst>
            </p:cNvPr>
            <p:cNvGrpSpPr/>
            <p:nvPr/>
          </p:nvGrpSpPr>
          <p:grpSpPr>
            <a:xfrm>
              <a:off x="549924" y="3138842"/>
              <a:ext cx="3763566" cy="1634942"/>
              <a:chOff x="549924" y="3138842"/>
              <a:chExt cx="3763566" cy="1634942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4B54826-E877-439A-A65D-67881C034B63}"/>
                  </a:ext>
                </a:extLst>
              </p:cNvPr>
              <p:cNvGrpSpPr/>
              <p:nvPr/>
            </p:nvGrpSpPr>
            <p:grpSpPr>
              <a:xfrm>
                <a:off x="549924" y="3138842"/>
                <a:ext cx="3763566" cy="1634942"/>
                <a:chOff x="549924" y="3138842"/>
                <a:chExt cx="3763566" cy="1634942"/>
              </a:xfrm>
            </p:grpSpPr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78ED9010-4665-484F-8E6C-DA3A0A970AC1}"/>
                    </a:ext>
                  </a:extLst>
                </p:cNvPr>
                <p:cNvGrpSpPr/>
                <p:nvPr/>
              </p:nvGrpSpPr>
              <p:grpSpPr>
                <a:xfrm>
                  <a:off x="2692239" y="3210979"/>
                  <a:ext cx="1566409" cy="1491595"/>
                  <a:chOff x="3525957" y="3163914"/>
                  <a:chExt cx="1566409" cy="1491595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80F3DDA8-C395-407E-9906-32803A28160A}"/>
                      </a:ext>
                    </a:extLst>
                  </p:cNvPr>
                  <p:cNvGrpSpPr/>
                  <p:nvPr/>
                </p:nvGrpSpPr>
                <p:grpSpPr>
                  <a:xfrm>
                    <a:off x="3525957" y="3571718"/>
                    <a:ext cx="1566409" cy="1083791"/>
                    <a:chOff x="4205034" y="3383452"/>
                    <a:chExt cx="1566409" cy="1083791"/>
                  </a:xfrm>
                </p:grpSpPr>
                <p:sp>
                  <p:nvSpPr>
                    <p:cNvPr id="23" name="Oval 22">
                      <a:extLst>
                        <a:ext uri="{FF2B5EF4-FFF2-40B4-BE49-F238E27FC236}">
                          <a16:creationId xmlns:a16="http://schemas.microsoft.com/office/drawing/2014/main" id="{2E45509B-490B-4D1A-9F28-C9A5842BB2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36842" y="4063923"/>
                      <a:ext cx="434601" cy="403320"/>
                    </a:xfrm>
                    <a:prstGeom prst="ellipse">
                      <a:avLst/>
                    </a:prstGeom>
                    <a:solidFill>
                      <a:srgbClr val="434343"/>
                    </a:solidFill>
                    <a:ln w="38100">
                      <a:solidFill>
                        <a:srgbClr val="FFC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Y</a:t>
                      </a:r>
                    </a:p>
                  </p:txBody>
                </p:sp>
                <p:sp>
                  <p:nvSpPr>
                    <p:cNvPr id="24" name="Oval 23">
                      <a:extLst>
                        <a:ext uri="{FF2B5EF4-FFF2-40B4-BE49-F238E27FC236}">
                          <a16:creationId xmlns:a16="http://schemas.microsoft.com/office/drawing/2014/main" id="{36BE5D0A-4C42-4390-AE7C-F0ED680197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05034" y="4063923"/>
                      <a:ext cx="434602" cy="403319"/>
                    </a:xfrm>
                    <a:prstGeom prst="ellipse">
                      <a:avLst/>
                    </a:prstGeom>
                    <a:solidFill>
                      <a:schemeClr val="accent5">
                        <a:lumMod val="50000"/>
                      </a:schemeClr>
                    </a:solidFill>
                    <a:ln w="381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X</a:t>
                      </a:r>
                    </a:p>
                  </p:txBody>
                </p:sp>
                <p:sp>
                  <p:nvSpPr>
                    <p:cNvPr id="25" name="Oval 24">
                      <a:extLst>
                        <a:ext uri="{FF2B5EF4-FFF2-40B4-BE49-F238E27FC236}">
                          <a16:creationId xmlns:a16="http://schemas.microsoft.com/office/drawing/2014/main" id="{1F01C355-0AE3-4E43-B31E-6F67F82CCD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4720" y="3383452"/>
                      <a:ext cx="434601" cy="403319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 w="38100">
                      <a:solidFill>
                        <a:srgbClr val="00B05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Z</a:t>
                      </a:r>
                    </a:p>
                  </p:txBody>
                </p:sp>
                <p:cxnSp>
                  <p:nvCxnSpPr>
                    <p:cNvPr id="36" name="Straight Arrow Connector 35">
                      <a:extLst>
                        <a:ext uri="{FF2B5EF4-FFF2-40B4-BE49-F238E27FC236}">
                          <a16:creationId xmlns:a16="http://schemas.microsoft.com/office/drawing/2014/main" id="{ADC4F697-437D-4542-850E-E5CD624387BF}"/>
                        </a:ext>
                      </a:extLst>
                    </p:cNvPr>
                    <p:cNvCxnSpPr>
                      <a:stCxn id="24" idx="7"/>
                      <a:endCxn id="25" idx="3"/>
                    </p:cNvCxnSpPr>
                    <p:nvPr/>
                  </p:nvCxnSpPr>
                  <p:spPr>
                    <a:xfrm flipV="1">
                      <a:off x="4575990" y="3727706"/>
                      <a:ext cx="262376" cy="395282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" name="Straight Arrow Connector 37">
                      <a:extLst>
                        <a:ext uri="{FF2B5EF4-FFF2-40B4-BE49-F238E27FC236}">
                          <a16:creationId xmlns:a16="http://schemas.microsoft.com/office/drawing/2014/main" id="{D75AC29F-F300-4106-B39B-5A6067C1B02E}"/>
                        </a:ext>
                      </a:extLst>
                    </p:cNvPr>
                    <p:cNvCxnSpPr>
                      <a:stCxn id="23" idx="1"/>
                      <a:endCxn id="25" idx="5"/>
                    </p:cNvCxnSpPr>
                    <p:nvPr/>
                  </p:nvCxnSpPr>
                  <p:spPr>
                    <a:xfrm flipH="1" flipV="1">
                      <a:off x="5145675" y="3727706"/>
                      <a:ext cx="254813" cy="395282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55EC461-1B4D-48D9-9BB9-A14CB9D35624}"/>
                      </a:ext>
                    </a:extLst>
                  </p:cNvPr>
                  <p:cNvSpPr txBox="1"/>
                  <p:nvPr/>
                </p:nvSpPr>
                <p:spPr>
                  <a:xfrm>
                    <a:off x="3916253" y="3163914"/>
                    <a:ext cx="947615" cy="34624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sz="2400" dirty="0"/>
                      <a:t>Collider</a:t>
                    </a:r>
                  </a:p>
                </p:txBody>
              </p:sp>
            </p:grpSp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8C8B189A-FBFE-4A44-B4CF-FF892E062731}"/>
                    </a:ext>
                  </a:extLst>
                </p:cNvPr>
                <p:cNvSpPr/>
                <p:nvPr/>
              </p:nvSpPr>
              <p:spPr>
                <a:xfrm>
                  <a:off x="2620091" y="3138842"/>
                  <a:ext cx="1693399" cy="1634942"/>
                </a:xfrm>
                <a:prstGeom prst="round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0EB32892-CEBB-4A45-A017-1CAFC1F4B5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924" y="3330865"/>
                      <a:ext cx="1623281" cy="1223412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accent2"/>
                      </a:solidFill>
                    </a:ln>
                  </p:spPr>
                  <p:txBody>
                    <a:bodyPr wrap="none" rtlCol="0">
                      <a:spAutoFit/>
                    </a:bodyPr>
                    <a:lstStyle/>
                    <a:p>
                      <a:pPr algn="ctr"/>
                      <a:r>
                        <a:rPr lang="en-GB" sz="2000" dirty="0"/>
                        <a:t>Excluding Z</a:t>
                      </a:r>
                      <a:br>
                        <a:rPr lang="en-GB" sz="2000" dirty="0"/>
                      </a:br>
                      <a:r>
                        <a:rPr lang="en-GB" sz="2000" b="1" u="sng" dirty="0"/>
                        <a:t>closes</a:t>
                      </a:r>
                      <a:r>
                        <a:rPr lang="en-GB" sz="2000" dirty="0"/>
                        <a:t> path: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20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GB" sz="2000" i="1"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r>
                              <a:rPr lang="en-GB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en-GB" sz="2000" dirty="0"/>
                    </a:p>
                    <a:p>
                      <a:pPr algn="ctr"/>
                      <a:r>
                        <a:rPr lang="en-GB" sz="2000" dirty="0"/>
                        <a:t>You always want </a:t>
                      </a:r>
                      <a:br>
                        <a:rPr lang="en-GB" sz="2000" dirty="0"/>
                      </a:br>
                      <a:r>
                        <a:rPr lang="en-GB" sz="2000" dirty="0"/>
                        <a:t>the path </a:t>
                      </a:r>
                      <a:r>
                        <a:rPr lang="en-GB" sz="2000" b="1" dirty="0"/>
                        <a:t>closed</a:t>
                      </a:r>
                    </a:p>
                  </p:txBody>
                </p:sp>
              </mc:Choice>
              <mc:Fallback xmlns="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0EB32892-CEBB-4A45-A017-1CAFC1F4B5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9924" y="3330865"/>
                      <a:ext cx="1623281" cy="122341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241" t="-1859" r="-2241" b="-5576"/>
                      </a:stretch>
                    </a:blipFill>
                    <a:ln>
                      <a:solidFill>
                        <a:schemeClr val="accent2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1414042-D244-4E88-BFA5-DC2612A9D1C7}"/>
                    </a:ext>
                  </a:extLst>
                </p:cNvPr>
                <p:cNvCxnSpPr>
                  <a:stCxn id="78" idx="3"/>
                  <a:endCxn id="66" idx="1"/>
                </p:cNvCxnSpPr>
                <p:nvPr/>
              </p:nvCxnSpPr>
              <p:spPr>
                <a:xfrm>
                  <a:off x="2173205" y="3942571"/>
                  <a:ext cx="446886" cy="13742"/>
                </a:xfrm>
                <a:prstGeom prst="line">
                  <a:avLst/>
                </a:prstGeom>
                <a:ln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13DE256-81A1-46CA-8E60-6968E94F0F87}"/>
                  </a:ext>
                </a:extLst>
              </p:cNvPr>
              <p:cNvCxnSpPr>
                <a:stCxn id="24" idx="6"/>
                <a:endCxn id="23" idx="2"/>
              </p:cNvCxnSpPr>
              <p:nvPr/>
            </p:nvCxnSpPr>
            <p:spPr>
              <a:xfrm>
                <a:off x="3126841" y="4500914"/>
                <a:ext cx="69720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B9AC884-5962-4BE5-A15C-E650B678B5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4877" y="4132342"/>
            <a:ext cx="2285081" cy="2285081"/>
          </a:xfrm>
          <a:prstGeom prst="roundRect">
            <a:avLst/>
          </a:prstGeom>
          <a:ln>
            <a:solidFill>
              <a:schemeClr val="tx1"/>
            </a:solidFill>
          </a:ln>
        </p:spPr>
      </p:pic>
      <p:pic>
        <p:nvPicPr>
          <p:cNvPr id="61" name="Picture 60" descr="A picture containing ground, vegetable&#10;&#10;Description automatically generated">
            <a:extLst>
              <a:ext uri="{FF2B5EF4-FFF2-40B4-BE49-F238E27FC236}">
                <a16:creationId xmlns:a16="http://schemas.microsoft.com/office/drawing/2014/main" id="{BE7DB953-45D5-4D1F-81A4-D5AE2371788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36904"/>
          <a:stretch/>
        </p:blipFill>
        <p:spPr>
          <a:xfrm>
            <a:off x="6096001" y="1217659"/>
            <a:ext cx="2317508" cy="2230652"/>
          </a:xfrm>
          <a:prstGeom prst="roundRect">
            <a:avLst/>
          </a:prstGeom>
          <a:ln>
            <a:solidFill>
              <a:schemeClr val="tx1"/>
            </a:solidFill>
          </a:ln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AA64EECB-0915-4328-BAC7-EA0FA21DE71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32850"/>
          <a:stretch/>
        </p:blipFill>
        <p:spPr>
          <a:xfrm>
            <a:off x="3473511" y="1222606"/>
            <a:ext cx="2308376" cy="2261788"/>
          </a:xfrm>
          <a:prstGeom prst="roundRect">
            <a:avLst/>
          </a:prstGeom>
          <a:ln>
            <a:solidFill>
              <a:schemeClr val="tx1"/>
            </a:solidFill>
          </a:ln>
        </p:spPr>
      </p:pic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0F382A6A-5FE7-427F-A079-19CE48C82C6B}"/>
              </a:ext>
            </a:extLst>
          </p:cNvPr>
          <p:cNvSpPr/>
          <p:nvPr/>
        </p:nvSpPr>
        <p:spPr>
          <a:xfrm>
            <a:off x="382138" y="833750"/>
            <a:ext cx="5543629" cy="580816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Close the path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6F57740E-EB08-4493-8E90-572A18701A04}"/>
              </a:ext>
            </a:extLst>
          </p:cNvPr>
          <p:cNvSpPr/>
          <p:nvPr/>
        </p:nvSpPr>
        <p:spPr>
          <a:xfrm>
            <a:off x="6010221" y="982639"/>
            <a:ext cx="5627292" cy="30734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endParaRPr lang="en-GB" sz="2400" dirty="0">
              <a:solidFill>
                <a:schemeClr val="tx1"/>
              </a:solidFill>
            </a:endParaRP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Open the path</a:t>
            </a:r>
          </a:p>
        </p:txBody>
      </p:sp>
    </p:spTree>
    <p:extLst>
      <p:ext uri="{BB962C8B-B14F-4D97-AF65-F5344CB8AC3E}">
        <p14:creationId xmlns:p14="http://schemas.microsoft.com/office/powerpoint/2010/main" val="32935164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7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6553-A0FC-CD24-55EF-582858573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power of 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24838556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E27F0-9042-E0BB-45C0-D7CF9A45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Getting rid of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1148E-CF2A-8E3E-F5E3-953753AB2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Everyone knows Randomised Control Trials or Experiments are good</a:t>
            </a:r>
          </a:p>
          <a:p>
            <a:r>
              <a:rPr lang="en-GB" dirty="0"/>
              <a:t>But why?</a:t>
            </a:r>
          </a:p>
          <a:p>
            <a:r>
              <a:rPr lang="en-GB" dirty="0"/>
              <a:t>Why does randomisation do anything?</a:t>
            </a:r>
          </a:p>
          <a:p>
            <a:r>
              <a:rPr lang="en-GB" dirty="0"/>
              <a:t>Why use experimental designs?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1F021E4-C9F9-B95A-7E95-7268CC75B9D8}"/>
              </a:ext>
            </a:extLst>
          </p:cNvPr>
          <p:cNvGrpSpPr/>
          <p:nvPr/>
        </p:nvGrpSpPr>
        <p:grpSpPr>
          <a:xfrm>
            <a:off x="8041059" y="2165150"/>
            <a:ext cx="3074645" cy="2878671"/>
            <a:chOff x="6612057" y="2033913"/>
            <a:chExt cx="2305984" cy="215900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25469F8-DA63-227C-A819-463DB6ACB4E3}"/>
                </a:ext>
              </a:extLst>
            </p:cNvPr>
            <p:cNvGrpSpPr/>
            <p:nvPr/>
          </p:nvGrpSpPr>
          <p:grpSpPr>
            <a:xfrm>
              <a:off x="6612057" y="2033913"/>
              <a:ext cx="2305984" cy="2159003"/>
              <a:chOff x="4420186" y="2659201"/>
              <a:chExt cx="2305984" cy="215900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1113C0D0-7343-1711-5030-3AA4CBEA81B0}"/>
                  </a:ext>
                </a:extLst>
              </p:cNvPr>
              <p:cNvGrpSpPr/>
              <p:nvPr/>
            </p:nvGrpSpPr>
            <p:grpSpPr>
              <a:xfrm>
                <a:off x="4637487" y="2659201"/>
                <a:ext cx="780262" cy="897515"/>
                <a:chOff x="4637487" y="2659201"/>
                <a:chExt cx="780262" cy="897515"/>
              </a:xfrm>
            </p:grpSpPr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7919634-72D0-BDAE-F164-B6DF6841FCC4}"/>
                    </a:ext>
                  </a:extLst>
                </p:cNvPr>
                <p:cNvSpPr/>
                <p:nvPr/>
              </p:nvSpPr>
              <p:spPr>
                <a:xfrm>
                  <a:off x="4983148" y="2659201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D</a:t>
                  </a:r>
                </a:p>
              </p:txBody>
            </p: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8AAF7305-1731-5194-F791-A86E303D85B5}"/>
                    </a:ext>
                  </a:extLst>
                </p:cNvPr>
                <p:cNvCxnSpPr>
                  <a:cxnSpLocks/>
                  <a:stCxn id="20" idx="3"/>
                  <a:endCxn id="16" idx="0"/>
                </p:cNvCxnSpPr>
                <p:nvPr/>
              </p:nvCxnSpPr>
              <p:spPr>
                <a:xfrm flipH="1">
                  <a:off x="4637487" y="3003455"/>
                  <a:ext cx="409307" cy="55326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062C910-7E95-7CAD-CD5E-7227E9766B3C}"/>
                  </a:ext>
                </a:extLst>
              </p:cNvPr>
              <p:cNvGrpSpPr/>
              <p:nvPr/>
            </p:nvGrpSpPr>
            <p:grpSpPr>
              <a:xfrm>
                <a:off x="4983147" y="3900971"/>
                <a:ext cx="773687" cy="917233"/>
                <a:chOff x="4983147" y="3900971"/>
                <a:chExt cx="773687" cy="917233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3A14876-9E30-F09A-C730-06DDC81FE56D}"/>
                    </a:ext>
                  </a:extLst>
                </p:cNvPr>
                <p:cNvCxnSpPr>
                  <a:cxnSpLocks/>
                  <a:stCxn id="15" idx="3"/>
                  <a:endCxn id="19" idx="7"/>
                </p:cNvCxnSpPr>
                <p:nvPr/>
              </p:nvCxnSpPr>
              <p:spPr>
                <a:xfrm flipH="1">
                  <a:off x="5354102" y="3900971"/>
                  <a:ext cx="402732" cy="572979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5A9A9671-0ABE-794A-6A96-4C436AE7E560}"/>
                    </a:ext>
                  </a:extLst>
                </p:cNvPr>
                <p:cNvSpPr/>
                <p:nvPr/>
              </p:nvSpPr>
              <p:spPr>
                <a:xfrm>
                  <a:off x="4983147" y="44148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G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D713E0E-9A87-B9F1-C23A-B308C02E9E20}"/>
                  </a:ext>
                </a:extLst>
              </p:cNvPr>
              <p:cNvGrpSpPr/>
              <p:nvPr/>
            </p:nvGrpSpPr>
            <p:grpSpPr>
              <a:xfrm>
                <a:off x="4420186" y="3556716"/>
                <a:ext cx="1707603" cy="403320"/>
                <a:chOff x="4420186" y="3556716"/>
                <a:chExt cx="1707603" cy="403320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3DC33CF8-11FC-5D6A-DB76-E831BBEA5159}"/>
                    </a:ext>
                  </a:extLst>
                </p:cNvPr>
                <p:cNvSpPr/>
                <p:nvPr/>
              </p:nvSpPr>
              <p:spPr>
                <a:xfrm>
                  <a:off x="5693188" y="3556716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2C0AC06-B479-D2D5-926E-074C4A994B43}"/>
                    </a:ext>
                  </a:extLst>
                </p:cNvPr>
                <p:cNvSpPr/>
                <p:nvPr/>
              </p:nvSpPr>
              <p:spPr>
                <a:xfrm>
                  <a:off x="4420186" y="3556716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7894E6CE-D016-EB2C-7780-41806610CF8B}"/>
                    </a:ext>
                  </a:extLst>
                </p:cNvPr>
                <p:cNvCxnSpPr>
                  <a:cxnSpLocks/>
                  <a:stCxn id="16" idx="6"/>
                  <a:endCxn id="15" idx="2"/>
                </p:cNvCxnSpPr>
                <p:nvPr/>
              </p:nvCxnSpPr>
              <p:spPr>
                <a:xfrm>
                  <a:off x="4854788" y="3758376"/>
                  <a:ext cx="8384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F9D72972-3CB2-BF0E-1126-AE1F6F277D69}"/>
                  </a:ext>
                </a:extLst>
              </p:cNvPr>
              <p:cNvGrpSpPr/>
              <p:nvPr/>
            </p:nvGrpSpPr>
            <p:grpSpPr>
              <a:xfrm>
                <a:off x="5417749" y="2669285"/>
                <a:ext cx="1308421" cy="946496"/>
                <a:chOff x="5417749" y="2669285"/>
                <a:chExt cx="1308421" cy="946496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B778A0C-BEDA-87EF-D4A6-7F93EB8AC93A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I</a:t>
                  </a:r>
                </a:p>
              </p:txBody>
            </p: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1D9BA1EB-EC31-B119-8AD4-57EE170CABAC}"/>
                    </a:ext>
                  </a:extLst>
                </p:cNvPr>
                <p:cNvCxnSpPr>
                  <a:cxnSpLocks/>
                  <a:stCxn id="12" idx="4"/>
                  <a:endCxn id="15" idx="7"/>
                </p:cNvCxnSpPr>
                <p:nvPr/>
              </p:nvCxnSpPr>
              <p:spPr>
                <a:xfrm flipH="1">
                  <a:off x="6064143" y="3072604"/>
                  <a:ext cx="444727" cy="54317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24F6351-0828-9B41-04BE-FBF03785B4C6}"/>
                    </a:ext>
                  </a:extLst>
                </p:cNvPr>
                <p:cNvCxnSpPr>
                  <a:stCxn id="20" idx="6"/>
                  <a:endCxn id="12" idx="2"/>
                </p:cNvCxnSpPr>
                <p:nvPr/>
              </p:nvCxnSpPr>
              <p:spPr>
                <a:xfrm>
                  <a:off x="5417749" y="2860861"/>
                  <a:ext cx="873820" cy="1008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79D05D-1EF5-50AF-D711-A8DC080A4C13}"/>
                </a:ext>
              </a:extLst>
            </p:cNvPr>
            <p:cNvCxnSpPr>
              <a:cxnSpLocks/>
              <a:stCxn id="16" idx="4"/>
              <a:endCxn id="19" idx="1"/>
            </p:cNvCxnSpPr>
            <p:nvPr/>
          </p:nvCxnSpPr>
          <p:spPr>
            <a:xfrm>
              <a:off x="6829358" y="3334747"/>
              <a:ext cx="409306" cy="513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93903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6AA1C-767F-5DE3-5E3F-10CFAB20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Randomisation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7BC231-47D9-400F-ED73-5021C3B1C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When we randomise, we break causal relationships</a:t>
                </a:r>
              </a:p>
              <a:p>
                <a:r>
                  <a:rPr lang="en-GB" dirty="0"/>
                  <a:t>If done well, it breaks the </a:t>
                </a:r>
                <a:r>
                  <a:rPr lang="en-GB" i="1" dirty="0"/>
                  <a:t>confounded</a:t>
                </a:r>
                <a:r>
                  <a:rPr lang="en-GB" dirty="0"/>
                  <a:t> causal relationships</a:t>
                </a:r>
              </a:p>
              <a:p>
                <a:r>
                  <a:rPr lang="en-GB" dirty="0"/>
                  <a:t>Leaving us with just the pure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dirty="0"/>
                  <a:t> relationship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7BC231-47D9-400F-ED73-5021C3B1C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264C23D7-0947-39E9-3797-E25FF7438F9F}"/>
              </a:ext>
            </a:extLst>
          </p:cNvPr>
          <p:cNvGrpSpPr/>
          <p:nvPr/>
        </p:nvGrpSpPr>
        <p:grpSpPr>
          <a:xfrm>
            <a:off x="8041059" y="2165150"/>
            <a:ext cx="3074645" cy="2878671"/>
            <a:chOff x="4420186" y="2659201"/>
            <a:chExt cx="2305984" cy="215900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FD7A74C-F12A-0FCF-B7A4-791EA3A82D30}"/>
                </a:ext>
              </a:extLst>
            </p:cNvPr>
            <p:cNvSpPr/>
            <p:nvPr/>
          </p:nvSpPr>
          <p:spPr>
            <a:xfrm>
              <a:off x="4983148" y="2659201"/>
              <a:ext cx="434601" cy="40331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D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EA274DA-B3BA-CCC0-E907-5F76A3AA68BA}"/>
                </a:ext>
              </a:extLst>
            </p:cNvPr>
            <p:cNvGrpSpPr/>
            <p:nvPr/>
          </p:nvGrpSpPr>
          <p:grpSpPr>
            <a:xfrm>
              <a:off x="4983147" y="3900971"/>
              <a:ext cx="773687" cy="917233"/>
              <a:chOff x="4983147" y="3900971"/>
              <a:chExt cx="773687" cy="917233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6F44438-F7B2-F656-3BBC-7F3E6C289D4D}"/>
                  </a:ext>
                </a:extLst>
              </p:cNvPr>
              <p:cNvCxnSpPr>
                <a:cxnSpLocks/>
                <a:stCxn id="15" idx="3"/>
                <a:endCxn id="19" idx="7"/>
              </p:cNvCxnSpPr>
              <p:nvPr/>
            </p:nvCxnSpPr>
            <p:spPr>
              <a:xfrm flipH="1">
                <a:off x="5354102" y="3900971"/>
                <a:ext cx="402732" cy="57297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43F9F23-02CF-CF0F-0C93-42AB8608DEFF}"/>
                  </a:ext>
                </a:extLst>
              </p:cNvPr>
              <p:cNvSpPr/>
              <p:nvPr/>
            </p:nvSpPr>
            <p:spPr>
              <a:xfrm>
                <a:off x="4983147" y="4414885"/>
                <a:ext cx="434601" cy="403319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G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798E0B0-83CB-8C13-CEFA-E66C0721F60C}"/>
                </a:ext>
              </a:extLst>
            </p:cNvPr>
            <p:cNvGrpSpPr/>
            <p:nvPr/>
          </p:nvGrpSpPr>
          <p:grpSpPr>
            <a:xfrm>
              <a:off x="4420186" y="3556716"/>
              <a:ext cx="1707603" cy="403320"/>
              <a:chOff x="4420186" y="3556716"/>
              <a:chExt cx="1707603" cy="40332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9D0D605-C3CF-BCBC-0388-866F40847AC8}"/>
                  </a:ext>
                </a:extLst>
              </p:cNvPr>
              <p:cNvSpPr/>
              <p:nvPr/>
            </p:nvSpPr>
            <p:spPr>
              <a:xfrm>
                <a:off x="5693188" y="3556716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09A8B1B-B577-68A1-62D0-6EB21FA929EE}"/>
                  </a:ext>
                </a:extLst>
              </p:cNvPr>
              <p:cNvSpPr/>
              <p:nvPr/>
            </p:nvSpPr>
            <p:spPr>
              <a:xfrm>
                <a:off x="4420186" y="3556716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48A71E87-AC05-9871-E271-1F6283937C08}"/>
                  </a:ext>
                </a:extLst>
              </p:cNvPr>
              <p:cNvCxnSpPr>
                <a:cxnSpLocks/>
                <a:stCxn id="16" idx="6"/>
                <a:endCxn id="15" idx="2"/>
              </p:cNvCxnSpPr>
              <p:nvPr/>
            </p:nvCxnSpPr>
            <p:spPr>
              <a:xfrm>
                <a:off x="4854788" y="3758376"/>
                <a:ext cx="838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556C09B-D85F-BE79-24F1-4314B808F016}"/>
                </a:ext>
              </a:extLst>
            </p:cNvPr>
            <p:cNvGrpSpPr/>
            <p:nvPr/>
          </p:nvGrpSpPr>
          <p:grpSpPr>
            <a:xfrm>
              <a:off x="5417749" y="2669285"/>
              <a:ext cx="1308421" cy="403319"/>
              <a:chOff x="5417749" y="2669285"/>
              <a:chExt cx="1308421" cy="403319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453F0F3-6CFA-6964-DE43-42877567DEC2}"/>
                  </a:ext>
                </a:extLst>
              </p:cNvPr>
              <p:cNvSpPr/>
              <p:nvPr/>
            </p:nvSpPr>
            <p:spPr>
              <a:xfrm>
                <a:off x="6291569" y="2669285"/>
                <a:ext cx="434601" cy="403319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I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8D3D991-7224-CA5E-8548-A413D69FC6CC}"/>
                  </a:ext>
                </a:extLst>
              </p:cNvPr>
              <p:cNvCxnSpPr>
                <a:stCxn id="20" idx="6"/>
                <a:endCxn id="12" idx="2"/>
              </p:cNvCxnSpPr>
              <p:nvPr/>
            </p:nvCxnSpPr>
            <p:spPr>
              <a:xfrm>
                <a:off x="5417749" y="2860861"/>
                <a:ext cx="873820" cy="1008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BAB2984-083D-B70F-EB37-93610474DF31}"/>
              </a:ext>
            </a:extLst>
          </p:cNvPr>
          <p:cNvGrpSpPr/>
          <p:nvPr/>
        </p:nvGrpSpPr>
        <p:grpSpPr>
          <a:xfrm>
            <a:off x="8330794" y="2624156"/>
            <a:ext cx="2495176" cy="1960659"/>
            <a:chOff x="8330794" y="2624156"/>
            <a:chExt cx="2495176" cy="1960659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150E919-32E1-86B9-00EC-09C91B799351}"/>
                </a:ext>
              </a:extLst>
            </p:cNvPr>
            <p:cNvCxnSpPr>
              <a:cxnSpLocks/>
              <a:stCxn id="20" idx="3"/>
              <a:endCxn id="16" idx="0"/>
            </p:cNvCxnSpPr>
            <p:nvPr/>
          </p:nvCxnSpPr>
          <p:spPr>
            <a:xfrm flipH="1">
              <a:off x="8330794" y="2624156"/>
              <a:ext cx="545742" cy="7376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570773D-B49D-8112-FC1D-6BACAEE4D3DA}"/>
                </a:ext>
              </a:extLst>
            </p:cNvPr>
            <p:cNvCxnSpPr>
              <a:cxnSpLocks/>
              <a:stCxn id="16" idx="4"/>
              <a:endCxn id="19" idx="1"/>
            </p:cNvCxnSpPr>
            <p:nvPr/>
          </p:nvCxnSpPr>
          <p:spPr>
            <a:xfrm>
              <a:off x="8330794" y="3899596"/>
              <a:ext cx="545741" cy="6852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68D3990-633E-3B34-C804-FE05F2BF1F58}"/>
                </a:ext>
              </a:extLst>
            </p:cNvPr>
            <p:cNvCxnSpPr>
              <a:cxnSpLocks/>
              <a:stCxn id="12" idx="4"/>
              <a:endCxn id="15" idx="7"/>
            </p:cNvCxnSpPr>
            <p:nvPr/>
          </p:nvCxnSpPr>
          <p:spPr>
            <a:xfrm flipH="1">
              <a:off x="10233002" y="2716354"/>
              <a:ext cx="592968" cy="7242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90126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E71C-8444-02AC-6277-EF18E634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about observation data?</a:t>
            </a:r>
          </a:p>
        </p:txBody>
      </p:sp>
    </p:spTree>
    <p:extLst>
      <p:ext uri="{BB962C8B-B14F-4D97-AF65-F5344CB8AC3E}">
        <p14:creationId xmlns:p14="http://schemas.microsoft.com/office/powerpoint/2010/main" val="20553255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DF436-7BC4-AEFC-6B6D-CC57AA646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Backdoor Criterion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ECFCF-1FC6-B8FB-30E7-176470649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There are a number of options available to attempt to deal with confounding in observation data</a:t>
            </a:r>
          </a:p>
          <a:p>
            <a:r>
              <a:rPr lang="en-GB" dirty="0"/>
              <a:t>The simplest is the backdoor criterion</a:t>
            </a:r>
          </a:p>
          <a:p>
            <a:r>
              <a:rPr lang="en-GB" dirty="0"/>
              <a:t>But requires that we make a (big) set of assumptions</a:t>
            </a:r>
          </a:p>
          <a:p>
            <a:pPr lvl="1"/>
            <a:r>
              <a:rPr lang="en-GB" dirty="0"/>
              <a:t>I.e. Our diagram (DAG) is “True”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B1B9993-6E7E-4A6B-6BC6-6D6BF23AB5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26150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13D6BCE1-0CA5-4333-9A3B-B052EDB8A066}"/>
              </a:ext>
            </a:extLst>
          </p:cNvPr>
          <p:cNvGrpSpPr/>
          <p:nvPr/>
        </p:nvGrpSpPr>
        <p:grpSpPr>
          <a:xfrm>
            <a:off x="7953460" y="2011918"/>
            <a:ext cx="3074645" cy="3631612"/>
            <a:chOff x="5883312" y="1083989"/>
            <a:chExt cx="2305984" cy="2723709"/>
          </a:xfrm>
        </p:grpSpPr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A1C00692-A709-43E3-B86A-89ACF2C13A6F}"/>
                </a:ext>
              </a:extLst>
            </p:cNvPr>
            <p:cNvCxnSpPr>
              <a:cxnSpLocks/>
              <a:stCxn id="75" idx="7"/>
              <a:endCxn id="69" idx="3"/>
            </p:cNvCxnSpPr>
            <p:nvPr/>
          </p:nvCxnSpPr>
          <p:spPr>
            <a:xfrm flipV="1">
              <a:off x="6817229" y="2890465"/>
              <a:ext cx="402731" cy="57297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FDFC3D3-3CA1-4B3D-B9D4-681BB7E852E5}"/>
                </a:ext>
              </a:extLst>
            </p:cNvPr>
            <p:cNvCxnSpPr>
              <a:cxnSpLocks/>
              <a:stCxn id="71" idx="4"/>
              <a:endCxn id="75" idx="1"/>
            </p:cNvCxnSpPr>
            <p:nvPr/>
          </p:nvCxnSpPr>
          <p:spPr>
            <a:xfrm>
              <a:off x="6100613" y="2949529"/>
              <a:ext cx="409306" cy="513914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53DD0D12-A9A1-4FFD-901F-AD99740BAB62}"/>
                </a:ext>
              </a:extLst>
            </p:cNvPr>
            <p:cNvGrpSpPr/>
            <p:nvPr/>
          </p:nvGrpSpPr>
          <p:grpSpPr>
            <a:xfrm>
              <a:off x="5883312" y="1648695"/>
              <a:ext cx="2305984" cy="2159003"/>
              <a:chOff x="6612057" y="2033913"/>
              <a:chExt cx="2305984" cy="2159003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F61588D-C1BF-43BE-AF4F-2CF6CD2E964C}"/>
                  </a:ext>
                </a:extLst>
              </p:cNvPr>
              <p:cNvGrpSpPr/>
              <p:nvPr/>
            </p:nvGrpSpPr>
            <p:grpSpPr>
              <a:xfrm>
                <a:off x="6612057" y="2033913"/>
                <a:ext cx="2305984" cy="2159003"/>
                <a:chOff x="4420186" y="2659201"/>
                <a:chExt cx="2305984" cy="2159003"/>
              </a:xfrm>
            </p:grpSpPr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63C6432C-6CFB-44B7-99C8-56734F0CCFE8}"/>
                    </a:ext>
                  </a:extLst>
                </p:cNvPr>
                <p:cNvGrpSpPr/>
                <p:nvPr/>
              </p:nvGrpSpPr>
              <p:grpSpPr>
                <a:xfrm>
                  <a:off x="4637487" y="2659201"/>
                  <a:ext cx="780262" cy="897515"/>
                  <a:chOff x="4637487" y="2659201"/>
                  <a:chExt cx="780262" cy="897515"/>
                </a:xfrm>
              </p:grpSpPr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EF210C55-DAE2-4565-8EB1-475577EAC179}"/>
                      </a:ext>
                    </a:extLst>
                  </p:cNvPr>
                  <p:cNvSpPr/>
                  <p:nvPr/>
                </p:nvSpPr>
                <p:spPr>
                  <a:xfrm>
                    <a:off x="4983148" y="2659201"/>
                    <a:ext cx="434601" cy="403319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D</a:t>
                    </a:r>
                  </a:p>
                </p:txBody>
              </p:sp>
              <p:cxnSp>
                <p:nvCxnSpPr>
                  <p:cNvPr id="77" name="Straight Arrow Connector 76">
                    <a:extLst>
                      <a:ext uri="{FF2B5EF4-FFF2-40B4-BE49-F238E27FC236}">
                        <a16:creationId xmlns:a16="http://schemas.microsoft.com/office/drawing/2014/main" id="{523B8059-87D8-4EF1-80C6-0EAD3AF4111C}"/>
                      </a:ext>
                    </a:extLst>
                  </p:cNvPr>
                  <p:cNvCxnSpPr>
                    <a:cxnSpLocks/>
                    <a:stCxn id="76" idx="3"/>
                    <a:endCxn id="71" idx="0"/>
                  </p:cNvCxnSpPr>
                  <p:nvPr/>
                </p:nvCxnSpPr>
                <p:spPr>
                  <a:xfrm flipH="1">
                    <a:off x="4637487" y="3003455"/>
                    <a:ext cx="409307" cy="553261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A13E705F-7665-47D9-BD6D-02793091BC44}"/>
                    </a:ext>
                  </a:extLst>
                </p:cNvPr>
                <p:cNvGrpSpPr/>
                <p:nvPr/>
              </p:nvGrpSpPr>
              <p:grpSpPr>
                <a:xfrm>
                  <a:off x="4983147" y="3900971"/>
                  <a:ext cx="773687" cy="917233"/>
                  <a:chOff x="4983147" y="3900971"/>
                  <a:chExt cx="773687" cy="917233"/>
                </a:xfrm>
              </p:grpSpPr>
              <p:cxnSp>
                <p:nvCxnSpPr>
                  <p:cNvPr id="74" name="Straight Arrow Connector 73">
                    <a:extLst>
                      <a:ext uri="{FF2B5EF4-FFF2-40B4-BE49-F238E27FC236}">
                        <a16:creationId xmlns:a16="http://schemas.microsoft.com/office/drawing/2014/main" id="{C786B2C5-4B09-43C9-826A-11F3884C0904}"/>
                      </a:ext>
                    </a:extLst>
                  </p:cNvPr>
                  <p:cNvCxnSpPr>
                    <a:cxnSpLocks/>
                    <a:stCxn id="69" idx="3"/>
                    <a:endCxn id="75" idx="7"/>
                  </p:cNvCxnSpPr>
                  <p:nvPr/>
                </p:nvCxnSpPr>
                <p:spPr>
                  <a:xfrm flipH="1">
                    <a:off x="5354102" y="3900971"/>
                    <a:ext cx="402732" cy="57297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5" name="Oval 74">
                    <a:extLst>
                      <a:ext uri="{FF2B5EF4-FFF2-40B4-BE49-F238E27FC236}">
                        <a16:creationId xmlns:a16="http://schemas.microsoft.com/office/drawing/2014/main" id="{50B510CE-116E-4671-97D7-C73B9BE13F02}"/>
                      </a:ext>
                    </a:extLst>
                  </p:cNvPr>
                  <p:cNvSpPr/>
                  <p:nvPr/>
                </p:nvSpPr>
                <p:spPr>
                  <a:xfrm>
                    <a:off x="4983147" y="4414885"/>
                    <a:ext cx="434601" cy="403319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G</a:t>
                    </a:r>
                  </a:p>
                </p:txBody>
              </p:sp>
            </p:grpSp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4E71EF4C-2C2E-4241-BC7D-44024E9E16F4}"/>
                    </a:ext>
                  </a:extLst>
                </p:cNvPr>
                <p:cNvGrpSpPr/>
                <p:nvPr/>
              </p:nvGrpSpPr>
              <p:grpSpPr>
                <a:xfrm>
                  <a:off x="4420186" y="3556716"/>
                  <a:ext cx="1707603" cy="403320"/>
                  <a:chOff x="4420186" y="3556716"/>
                  <a:chExt cx="1707603" cy="403320"/>
                </a:xfrm>
              </p:grpSpPr>
              <p:sp>
                <p:nvSpPr>
                  <p:cNvPr id="69" name="Oval 68">
                    <a:extLst>
                      <a:ext uri="{FF2B5EF4-FFF2-40B4-BE49-F238E27FC236}">
                        <a16:creationId xmlns:a16="http://schemas.microsoft.com/office/drawing/2014/main" id="{6409C8EB-9008-41A0-A89B-747941BAD95A}"/>
                      </a:ext>
                    </a:extLst>
                  </p:cNvPr>
                  <p:cNvSpPr/>
                  <p:nvPr/>
                </p:nvSpPr>
                <p:spPr>
                  <a:xfrm>
                    <a:off x="5693188" y="3556716"/>
                    <a:ext cx="434601" cy="403320"/>
                  </a:xfrm>
                  <a:prstGeom prst="ellipse">
                    <a:avLst/>
                  </a:prstGeom>
                  <a:solidFill>
                    <a:srgbClr val="434343"/>
                  </a:solidFill>
                  <a:ln w="38100">
                    <a:solidFill>
                      <a:srgbClr val="FFC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Y</a:t>
                    </a:r>
                  </a:p>
                </p:txBody>
              </p:sp>
              <p:sp>
                <p:nvSpPr>
                  <p:cNvPr id="71" name="Oval 70">
                    <a:extLst>
                      <a:ext uri="{FF2B5EF4-FFF2-40B4-BE49-F238E27FC236}">
                        <a16:creationId xmlns:a16="http://schemas.microsoft.com/office/drawing/2014/main" id="{9DE77788-7607-48B2-96A3-C2E88E00BE41}"/>
                      </a:ext>
                    </a:extLst>
                  </p:cNvPr>
                  <p:cNvSpPr/>
                  <p:nvPr/>
                </p:nvSpPr>
                <p:spPr>
                  <a:xfrm>
                    <a:off x="4420186" y="3556716"/>
                    <a:ext cx="434602" cy="403319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X</a:t>
                    </a:r>
                  </a:p>
                </p:txBody>
              </p:sp>
              <p:cxnSp>
                <p:nvCxnSpPr>
                  <p:cNvPr id="73" name="Straight Arrow Connector 72">
                    <a:extLst>
                      <a:ext uri="{FF2B5EF4-FFF2-40B4-BE49-F238E27FC236}">
                        <a16:creationId xmlns:a16="http://schemas.microsoft.com/office/drawing/2014/main" id="{063B9CD1-E718-4FFD-957D-4AA37ED3F014}"/>
                      </a:ext>
                    </a:extLst>
                  </p:cNvPr>
                  <p:cNvCxnSpPr>
                    <a:stCxn id="71" idx="6"/>
                    <a:endCxn id="69" idx="2"/>
                  </p:cNvCxnSpPr>
                  <p:nvPr/>
                </p:nvCxnSpPr>
                <p:spPr>
                  <a:xfrm>
                    <a:off x="4854788" y="3758376"/>
                    <a:ext cx="8384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9FC2CF24-4525-4663-A8E2-3A8505D57F01}"/>
                    </a:ext>
                  </a:extLst>
                </p:cNvPr>
                <p:cNvGrpSpPr/>
                <p:nvPr/>
              </p:nvGrpSpPr>
              <p:grpSpPr>
                <a:xfrm>
                  <a:off x="5417749" y="2669285"/>
                  <a:ext cx="1308421" cy="946496"/>
                  <a:chOff x="5417749" y="2669285"/>
                  <a:chExt cx="1308421" cy="946496"/>
                </a:xfrm>
              </p:grpSpPr>
              <p:sp>
                <p:nvSpPr>
                  <p:cNvPr id="66" name="Oval 65">
                    <a:extLst>
                      <a:ext uri="{FF2B5EF4-FFF2-40B4-BE49-F238E27FC236}">
                        <a16:creationId xmlns:a16="http://schemas.microsoft.com/office/drawing/2014/main" id="{F044CF28-2405-4B7C-9F6D-EBDB230C6C87}"/>
                      </a:ext>
                    </a:extLst>
                  </p:cNvPr>
                  <p:cNvSpPr/>
                  <p:nvPr/>
                </p:nvSpPr>
                <p:spPr>
                  <a:xfrm>
                    <a:off x="6291569" y="2669285"/>
                    <a:ext cx="434601" cy="403319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I</a:t>
                    </a:r>
                  </a:p>
                </p:txBody>
              </p:sp>
              <p:cxnSp>
                <p:nvCxnSpPr>
                  <p:cNvPr id="67" name="Straight Arrow Connector 66">
                    <a:extLst>
                      <a:ext uri="{FF2B5EF4-FFF2-40B4-BE49-F238E27FC236}">
                        <a16:creationId xmlns:a16="http://schemas.microsoft.com/office/drawing/2014/main" id="{62449477-DEE3-4593-AEAA-3DC917146FB2}"/>
                      </a:ext>
                    </a:extLst>
                  </p:cNvPr>
                  <p:cNvCxnSpPr>
                    <a:cxnSpLocks/>
                    <a:stCxn id="66" idx="4"/>
                    <a:endCxn id="69" idx="7"/>
                  </p:cNvCxnSpPr>
                  <p:nvPr/>
                </p:nvCxnSpPr>
                <p:spPr>
                  <a:xfrm flipH="1">
                    <a:off x="6064143" y="3072604"/>
                    <a:ext cx="444727" cy="54317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Arrow Connector 67">
                    <a:extLst>
                      <a:ext uri="{FF2B5EF4-FFF2-40B4-BE49-F238E27FC236}">
                        <a16:creationId xmlns:a16="http://schemas.microsoft.com/office/drawing/2014/main" id="{A09E6FA3-A0E5-4C01-8834-238075DD8943}"/>
                      </a:ext>
                    </a:extLst>
                  </p:cNvPr>
                  <p:cNvCxnSpPr>
                    <a:stCxn id="76" idx="6"/>
                    <a:endCxn id="66" idx="2"/>
                  </p:cNvCxnSpPr>
                  <p:nvPr/>
                </p:nvCxnSpPr>
                <p:spPr>
                  <a:xfrm>
                    <a:off x="5417749" y="2860861"/>
                    <a:ext cx="873820" cy="10084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1" name="Straight Arrow Connector 60">
                <a:extLst>
                  <a:ext uri="{FF2B5EF4-FFF2-40B4-BE49-F238E27FC236}">
                    <a16:creationId xmlns:a16="http://schemas.microsoft.com/office/drawing/2014/main" id="{27A2BBC5-7E3B-4355-9DFE-08F5303E234E}"/>
                  </a:ext>
                </a:extLst>
              </p:cNvPr>
              <p:cNvCxnSpPr>
                <a:cxnSpLocks/>
                <a:stCxn id="71" idx="4"/>
                <a:endCxn id="75" idx="1"/>
              </p:cNvCxnSpPr>
              <p:nvPr/>
            </p:nvCxnSpPr>
            <p:spPr>
              <a:xfrm>
                <a:off x="6829358" y="3334747"/>
                <a:ext cx="409306" cy="51391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E12DF21-B5B3-4213-A769-2EBA48397B1F}"/>
                </a:ext>
              </a:extLst>
            </p:cNvPr>
            <p:cNvSpPr txBox="1"/>
            <p:nvPr/>
          </p:nvSpPr>
          <p:spPr>
            <a:xfrm>
              <a:off x="6966567" y="1083989"/>
              <a:ext cx="794930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Path 3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B3F66CC-E269-4BB0-BC95-80B79623999F}"/>
              </a:ext>
            </a:extLst>
          </p:cNvPr>
          <p:cNvGrpSpPr/>
          <p:nvPr/>
        </p:nvGrpSpPr>
        <p:grpSpPr>
          <a:xfrm>
            <a:off x="4599195" y="2030350"/>
            <a:ext cx="3074645" cy="3613180"/>
            <a:chOff x="3139611" y="1078141"/>
            <a:chExt cx="2305984" cy="27098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F164D6-B4C0-49AE-9C4F-65637968F68C}"/>
                </a:ext>
              </a:extLst>
            </p:cNvPr>
            <p:cNvGrpSpPr/>
            <p:nvPr/>
          </p:nvGrpSpPr>
          <p:grpSpPr>
            <a:xfrm>
              <a:off x="3139611" y="1629023"/>
              <a:ext cx="2305984" cy="2159003"/>
              <a:chOff x="617791" y="1492248"/>
              <a:chExt cx="2305984" cy="2159003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E916BCF-396E-46E1-8174-F755386757CA}"/>
                  </a:ext>
                </a:extLst>
              </p:cNvPr>
              <p:cNvCxnSpPr>
                <a:cxnSpLocks/>
                <a:stCxn id="15" idx="6"/>
                <a:endCxn id="58" idx="2"/>
              </p:cNvCxnSpPr>
              <p:nvPr/>
            </p:nvCxnSpPr>
            <p:spPr>
              <a:xfrm>
                <a:off x="1615354" y="1693908"/>
                <a:ext cx="873820" cy="10084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068BDF3F-7D7C-411F-9F59-D6CA9F8DE2F7}"/>
                  </a:ext>
                </a:extLst>
              </p:cNvPr>
              <p:cNvCxnSpPr>
                <a:cxnSpLocks/>
                <a:stCxn id="58" idx="4"/>
                <a:endCxn id="7" idx="7"/>
              </p:cNvCxnSpPr>
              <p:nvPr/>
            </p:nvCxnSpPr>
            <p:spPr>
              <a:xfrm flipH="1">
                <a:off x="2261748" y="1905651"/>
                <a:ext cx="444727" cy="543177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F6CB8497-E5CA-46A3-82EC-94053E4259C2}"/>
                  </a:ext>
                </a:extLst>
              </p:cNvPr>
              <p:cNvCxnSpPr>
                <a:cxnSpLocks/>
                <a:stCxn id="8" idx="0"/>
                <a:endCxn id="15" idx="3"/>
              </p:cNvCxnSpPr>
              <p:nvPr/>
            </p:nvCxnSpPr>
            <p:spPr>
              <a:xfrm flipV="1">
                <a:off x="835092" y="1836502"/>
                <a:ext cx="409307" cy="55326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57F8FDA0-1D31-4579-93CE-5265A2AAD56E}"/>
                  </a:ext>
                </a:extLst>
              </p:cNvPr>
              <p:cNvGrpSpPr/>
              <p:nvPr/>
            </p:nvGrpSpPr>
            <p:grpSpPr>
              <a:xfrm>
                <a:off x="617791" y="1492248"/>
                <a:ext cx="2305984" cy="2159003"/>
                <a:chOff x="6612057" y="2033913"/>
                <a:chExt cx="2305984" cy="2159003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43A09443-7A64-4EAE-8E2C-36AD7E6DEB0F}"/>
                    </a:ext>
                  </a:extLst>
                </p:cNvPr>
                <p:cNvGrpSpPr/>
                <p:nvPr/>
              </p:nvGrpSpPr>
              <p:grpSpPr>
                <a:xfrm>
                  <a:off x="6612057" y="2033913"/>
                  <a:ext cx="2305984" cy="2159003"/>
                  <a:chOff x="4420186" y="2659201"/>
                  <a:chExt cx="2305984" cy="2159003"/>
                </a:xfrm>
              </p:grpSpPr>
              <p:grpSp>
                <p:nvGrpSpPr>
                  <p:cNvPr id="52" name="Group 51">
                    <a:extLst>
                      <a:ext uri="{FF2B5EF4-FFF2-40B4-BE49-F238E27FC236}">
                        <a16:creationId xmlns:a16="http://schemas.microsoft.com/office/drawing/2014/main" id="{CA87F539-B7A4-4B13-BBAC-5F534768D878}"/>
                      </a:ext>
                    </a:extLst>
                  </p:cNvPr>
                  <p:cNvGrpSpPr/>
                  <p:nvPr/>
                </p:nvGrpSpPr>
                <p:grpSpPr>
                  <a:xfrm>
                    <a:off x="4637487" y="2659201"/>
                    <a:ext cx="780262" cy="897515"/>
                    <a:chOff x="4637487" y="2659201"/>
                    <a:chExt cx="780262" cy="897515"/>
                  </a:xfrm>
                </p:grpSpPr>
                <p:cxnSp>
                  <p:nvCxnSpPr>
                    <p:cNvPr id="25" name="Straight Arrow Connector 24">
                      <a:extLst>
                        <a:ext uri="{FF2B5EF4-FFF2-40B4-BE49-F238E27FC236}">
                          <a16:creationId xmlns:a16="http://schemas.microsoft.com/office/drawing/2014/main" id="{0E3544E3-B814-4FBB-B3F7-6E7B604F9FC7}"/>
                        </a:ext>
                      </a:extLst>
                    </p:cNvPr>
                    <p:cNvCxnSpPr>
                      <a:cxnSpLocks/>
                      <a:stCxn id="15" idx="3"/>
                      <a:endCxn id="8" idx="0"/>
                    </p:cNvCxnSpPr>
                    <p:nvPr/>
                  </p:nvCxnSpPr>
                  <p:spPr>
                    <a:xfrm flipH="1">
                      <a:off x="4637487" y="3003455"/>
                      <a:ext cx="409307" cy="553261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6C277CBE-A73F-48D0-BE0B-FE8F397E49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3148" y="2659201"/>
                      <a:ext cx="434601" cy="403319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D</a:t>
                      </a:r>
                    </a:p>
                  </p:txBody>
                </p:sp>
              </p:grpSp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BFB9AF36-54EE-44C1-9BDB-46F84ADD68FC}"/>
                      </a:ext>
                    </a:extLst>
                  </p:cNvPr>
                  <p:cNvGrpSpPr/>
                  <p:nvPr/>
                </p:nvGrpSpPr>
                <p:grpSpPr>
                  <a:xfrm>
                    <a:off x="4983147" y="3900971"/>
                    <a:ext cx="773687" cy="917233"/>
                    <a:chOff x="4983147" y="3900971"/>
                    <a:chExt cx="773687" cy="917233"/>
                  </a:xfrm>
                </p:grpSpPr>
                <p:cxnSp>
                  <p:nvCxnSpPr>
                    <p:cNvPr id="39" name="Straight Arrow Connector 38">
                      <a:extLst>
                        <a:ext uri="{FF2B5EF4-FFF2-40B4-BE49-F238E27FC236}">
                          <a16:creationId xmlns:a16="http://schemas.microsoft.com/office/drawing/2014/main" id="{6D089515-184D-4657-89EE-661B6437A78B}"/>
                        </a:ext>
                      </a:extLst>
                    </p:cNvPr>
                    <p:cNvCxnSpPr>
                      <a:cxnSpLocks/>
                      <a:stCxn id="7" idx="3"/>
                      <a:endCxn id="9" idx="7"/>
                    </p:cNvCxnSpPr>
                    <p:nvPr/>
                  </p:nvCxnSpPr>
                  <p:spPr>
                    <a:xfrm flipH="1">
                      <a:off x="5354102" y="3900971"/>
                      <a:ext cx="402732" cy="572979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" name="Oval 8">
                      <a:extLst>
                        <a:ext uri="{FF2B5EF4-FFF2-40B4-BE49-F238E27FC236}">
                          <a16:creationId xmlns:a16="http://schemas.microsoft.com/office/drawing/2014/main" id="{916BED35-4399-459D-9EC3-656B5CD910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3147" y="4414885"/>
                      <a:ext cx="434601" cy="403319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G</a:t>
                      </a:r>
                    </a:p>
                  </p:txBody>
                </p:sp>
              </p:grpSp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4218D727-F9EC-49E2-8BFB-585EAF729EE2}"/>
                      </a:ext>
                    </a:extLst>
                  </p:cNvPr>
                  <p:cNvGrpSpPr/>
                  <p:nvPr/>
                </p:nvGrpSpPr>
                <p:grpSpPr>
                  <a:xfrm>
                    <a:off x="4420186" y="3556716"/>
                    <a:ext cx="1707603" cy="403320"/>
                    <a:chOff x="4420186" y="3556716"/>
                    <a:chExt cx="1707603" cy="403320"/>
                  </a:xfrm>
                </p:grpSpPr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1A1E3508-52C1-4434-92AB-2EAAAD3D92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93188" y="3556716"/>
                      <a:ext cx="434601" cy="403320"/>
                    </a:xfrm>
                    <a:prstGeom prst="ellipse">
                      <a:avLst/>
                    </a:prstGeom>
                    <a:solidFill>
                      <a:srgbClr val="434343"/>
                    </a:solidFill>
                    <a:ln w="38100">
                      <a:solidFill>
                        <a:srgbClr val="FFC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Y</a:t>
                      </a:r>
                    </a:p>
                  </p:txBody>
                </p:sp>
                <p:sp>
                  <p:nvSpPr>
                    <p:cNvPr id="8" name="Oval 7">
                      <a:extLst>
                        <a:ext uri="{FF2B5EF4-FFF2-40B4-BE49-F238E27FC236}">
                          <a16:creationId xmlns:a16="http://schemas.microsoft.com/office/drawing/2014/main" id="{B271D1D0-EAB0-42B9-9462-FB90040DD5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20186" y="3556716"/>
                      <a:ext cx="434602" cy="403319"/>
                    </a:xfrm>
                    <a:prstGeom prst="ellipse">
                      <a:avLst/>
                    </a:prstGeom>
                    <a:solidFill>
                      <a:schemeClr val="accent5">
                        <a:lumMod val="50000"/>
                      </a:schemeClr>
                    </a:solidFill>
                    <a:ln w="381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X</a:t>
                      </a:r>
                    </a:p>
                  </p:txBody>
                </p:sp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FB529943-B243-454F-842A-82054AE45BEA}"/>
                        </a:ext>
                      </a:extLst>
                    </p:cNvPr>
                    <p:cNvCxnSpPr>
                      <a:stCxn id="8" idx="6"/>
                      <a:endCxn id="7" idx="2"/>
                    </p:cNvCxnSpPr>
                    <p:nvPr/>
                  </p:nvCxnSpPr>
                  <p:spPr>
                    <a:xfrm>
                      <a:off x="4854788" y="3758376"/>
                      <a:ext cx="8384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5" name="Group 94">
                    <a:extLst>
                      <a:ext uri="{FF2B5EF4-FFF2-40B4-BE49-F238E27FC236}">
                        <a16:creationId xmlns:a16="http://schemas.microsoft.com/office/drawing/2014/main" id="{5426D79D-626A-4A1E-A92A-F6BEAA2CA97B}"/>
                      </a:ext>
                    </a:extLst>
                  </p:cNvPr>
                  <p:cNvGrpSpPr/>
                  <p:nvPr/>
                </p:nvGrpSpPr>
                <p:grpSpPr>
                  <a:xfrm>
                    <a:off x="5417749" y="2669285"/>
                    <a:ext cx="1308421" cy="946496"/>
                    <a:chOff x="5417749" y="2669285"/>
                    <a:chExt cx="1308421" cy="946496"/>
                  </a:xfrm>
                </p:grpSpPr>
                <p:sp>
                  <p:nvSpPr>
                    <p:cNvPr id="58" name="Oval 57">
                      <a:extLst>
                        <a:ext uri="{FF2B5EF4-FFF2-40B4-BE49-F238E27FC236}">
                          <a16:creationId xmlns:a16="http://schemas.microsoft.com/office/drawing/2014/main" id="{3C8ABD49-3FCA-487A-BA3F-A055EB39AA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91569" y="2669285"/>
                      <a:ext cx="434601" cy="403319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GB" sz="2400" dirty="0"/>
                        <a:t>I</a:t>
                      </a:r>
                    </a:p>
                  </p:txBody>
                </p:sp>
                <p:cxnSp>
                  <p:nvCxnSpPr>
                    <p:cNvPr id="70" name="Straight Arrow Connector 69">
                      <a:extLst>
                        <a:ext uri="{FF2B5EF4-FFF2-40B4-BE49-F238E27FC236}">
                          <a16:creationId xmlns:a16="http://schemas.microsoft.com/office/drawing/2014/main" id="{A6A46A88-0C5F-4EAF-BFC8-280A0E8E6233}"/>
                        </a:ext>
                      </a:extLst>
                    </p:cNvPr>
                    <p:cNvCxnSpPr>
                      <a:cxnSpLocks/>
                      <a:stCxn id="58" idx="4"/>
                      <a:endCxn id="7" idx="7"/>
                    </p:cNvCxnSpPr>
                    <p:nvPr/>
                  </p:nvCxnSpPr>
                  <p:spPr>
                    <a:xfrm flipH="1">
                      <a:off x="6064143" y="3072604"/>
                      <a:ext cx="444726" cy="543177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Arrow Connector 71">
                      <a:extLst>
                        <a:ext uri="{FF2B5EF4-FFF2-40B4-BE49-F238E27FC236}">
                          <a16:creationId xmlns:a16="http://schemas.microsoft.com/office/drawing/2014/main" id="{9E33A4A0-66E4-4E30-8EF9-A4AA0C0DD201}"/>
                        </a:ext>
                      </a:extLst>
                    </p:cNvPr>
                    <p:cNvCxnSpPr>
                      <a:cxnSpLocks/>
                      <a:stCxn id="15" idx="6"/>
                      <a:endCxn id="58" idx="2"/>
                    </p:cNvCxnSpPr>
                    <p:nvPr/>
                  </p:nvCxnSpPr>
                  <p:spPr>
                    <a:xfrm>
                      <a:off x="5417749" y="2860861"/>
                      <a:ext cx="873820" cy="10084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6" name="Straight Arrow Connector 5">
                  <a:extLst>
                    <a:ext uri="{FF2B5EF4-FFF2-40B4-BE49-F238E27FC236}">
                      <a16:creationId xmlns:a16="http://schemas.microsoft.com/office/drawing/2014/main" id="{33B8EF31-3011-472D-AD87-437CEA8A2CFF}"/>
                    </a:ext>
                  </a:extLst>
                </p:cNvPr>
                <p:cNvCxnSpPr>
                  <a:cxnSpLocks/>
                  <a:stCxn id="8" idx="4"/>
                  <a:endCxn id="9" idx="1"/>
                </p:cNvCxnSpPr>
                <p:nvPr/>
              </p:nvCxnSpPr>
              <p:spPr>
                <a:xfrm>
                  <a:off x="6829358" y="3334747"/>
                  <a:ext cx="409306" cy="51391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34A559-CAAB-4B1F-97BF-70D3F92E3590}"/>
                </a:ext>
              </a:extLst>
            </p:cNvPr>
            <p:cNvSpPr txBox="1"/>
            <p:nvPr/>
          </p:nvSpPr>
          <p:spPr>
            <a:xfrm>
              <a:off x="4125041" y="1078141"/>
              <a:ext cx="791323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Path 2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95E55AF-D013-4C2D-9247-73DD7B73F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131"/>
            <a:ext cx="12192000" cy="1340136"/>
          </a:xfrm>
        </p:spPr>
        <p:txBody>
          <a:bodyPr/>
          <a:lstStyle/>
          <a:p>
            <a:pPr algn="ctr"/>
            <a:r>
              <a:rPr lang="en-GB" dirty="0"/>
              <a:t>Confounding occurs when a variable causes X </a:t>
            </a:r>
            <a:r>
              <a:rPr lang="en-GB" i="1" dirty="0"/>
              <a:t>and is related to another variable</a:t>
            </a:r>
            <a:r>
              <a:rPr lang="en-GB" dirty="0"/>
              <a:t> in the DAG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1D42120-A27D-492D-AC32-637A87A548BA}"/>
              </a:ext>
            </a:extLst>
          </p:cNvPr>
          <p:cNvGrpSpPr/>
          <p:nvPr/>
        </p:nvGrpSpPr>
        <p:grpSpPr>
          <a:xfrm>
            <a:off x="1700440" y="2030350"/>
            <a:ext cx="1281314" cy="2198677"/>
            <a:chOff x="1275329" y="1522762"/>
            <a:chExt cx="960985" cy="1649008"/>
          </a:xfrm>
        </p:grpSpPr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27CDB116-AF2F-4CC2-8256-637F0750D5B9}"/>
                </a:ext>
              </a:extLst>
            </p:cNvPr>
            <p:cNvCxnSpPr>
              <a:cxnSpLocks/>
              <a:stCxn id="47" idx="6"/>
              <a:endCxn id="43" idx="2"/>
            </p:cNvCxnSpPr>
            <p:nvPr/>
          </p:nvCxnSpPr>
          <p:spPr>
            <a:xfrm>
              <a:off x="1275329" y="3171770"/>
              <a:ext cx="8384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A91DBA-B61C-4ED4-8C41-61F4B92F66B2}"/>
                </a:ext>
              </a:extLst>
            </p:cNvPr>
            <p:cNvSpPr txBox="1"/>
            <p:nvPr/>
          </p:nvSpPr>
          <p:spPr>
            <a:xfrm>
              <a:off x="1487071" y="1522762"/>
              <a:ext cx="749243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Path 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148112C-241B-CD1B-D6D1-02426ED0B9DD}"/>
              </a:ext>
            </a:extLst>
          </p:cNvPr>
          <p:cNvSpPr txBox="1"/>
          <p:nvPr/>
        </p:nvSpPr>
        <p:spPr>
          <a:xfrm>
            <a:off x="3033600" y="5834497"/>
            <a:ext cx="63802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If not dealt with, Path 2 creates confounding, </a:t>
            </a:r>
            <a:br>
              <a:rPr lang="en-GB" sz="2400" dirty="0"/>
            </a:br>
            <a:r>
              <a:rPr lang="en-GB" sz="2400" dirty="0"/>
              <a:t>because D causes X.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A95E94-D98B-43AB-9993-2BF396CBC808}"/>
              </a:ext>
            </a:extLst>
          </p:cNvPr>
          <p:cNvGrpSpPr/>
          <p:nvPr/>
        </p:nvGrpSpPr>
        <p:grpSpPr>
          <a:xfrm>
            <a:off x="1120970" y="2763461"/>
            <a:ext cx="3074645" cy="2878671"/>
            <a:chOff x="6612057" y="2033913"/>
            <a:chExt cx="2305984" cy="2159003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BD24DCE-C2C7-476C-BA94-70E005A55B6A}"/>
                </a:ext>
              </a:extLst>
            </p:cNvPr>
            <p:cNvGrpSpPr/>
            <p:nvPr/>
          </p:nvGrpSpPr>
          <p:grpSpPr>
            <a:xfrm>
              <a:off x="6612057" y="2033913"/>
              <a:ext cx="2305984" cy="2159003"/>
              <a:chOff x="4420186" y="2659201"/>
              <a:chExt cx="2305984" cy="215900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25267862-48DD-4351-8AFF-864307F0CB1D}"/>
                  </a:ext>
                </a:extLst>
              </p:cNvPr>
              <p:cNvGrpSpPr/>
              <p:nvPr/>
            </p:nvGrpSpPr>
            <p:grpSpPr>
              <a:xfrm>
                <a:off x="4637487" y="2659201"/>
                <a:ext cx="780262" cy="897515"/>
                <a:chOff x="4637487" y="2659201"/>
                <a:chExt cx="780262" cy="897515"/>
              </a:xfrm>
            </p:grpSpPr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73167BD-56F6-4354-A92C-1CD84AA61FF3}"/>
                    </a:ext>
                  </a:extLst>
                </p:cNvPr>
                <p:cNvSpPr/>
                <p:nvPr/>
              </p:nvSpPr>
              <p:spPr>
                <a:xfrm>
                  <a:off x="4983148" y="2659201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D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5F0C3F9A-123F-4852-94F1-FE8026E42278}"/>
                    </a:ext>
                  </a:extLst>
                </p:cNvPr>
                <p:cNvCxnSpPr>
                  <a:cxnSpLocks/>
                  <a:stCxn id="54" idx="3"/>
                  <a:endCxn id="47" idx="0"/>
                </p:cNvCxnSpPr>
                <p:nvPr/>
              </p:nvCxnSpPr>
              <p:spPr>
                <a:xfrm flipH="1">
                  <a:off x="4637487" y="3003455"/>
                  <a:ext cx="409307" cy="55326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C76CB33-747D-4634-8FCE-6EA757BA2956}"/>
                  </a:ext>
                </a:extLst>
              </p:cNvPr>
              <p:cNvGrpSpPr/>
              <p:nvPr/>
            </p:nvGrpSpPr>
            <p:grpSpPr>
              <a:xfrm>
                <a:off x="4983147" y="3900971"/>
                <a:ext cx="773687" cy="917233"/>
                <a:chOff x="4983147" y="3900971"/>
                <a:chExt cx="773687" cy="917233"/>
              </a:xfrm>
            </p:grpSpPr>
            <p:cxnSp>
              <p:nvCxnSpPr>
                <p:cNvPr id="51" name="Straight Arrow Connector 50">
                  <a:extLst>
                    <a:ext uri="{FF2B5EF4-FFF2-40B4-BE49-F238E27FC236}">
                      <a16:creationId xmlns:a16="http://schemas.microsoft.com/office/drawing/2014/main" id="{EDD15B46-FAD9-4414-A58B-E678958058A3}"/>
                    </a:ext>
                  </a:extLst>
                </p:cNvPr>
                <p:cNvCxnSpPr>
                  <a:cxnSpLocks/>
                  <a:stCxn id="43" idx="3"/>
                  <a:endCxn id="53" idx="7"/>
                </p:cNvCxnSpPr>
                <p:nvPr/>
              </p:nvCxnSpPr>
              <p:spPr>
                <a:xfrm flipH="1">
                  <a:off x="5354102" y="3900971"/>
                  <a:ext cx="402732" cy="572979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D68B0005-96C0-469E-A25F-949319D24CE3}"/>
                    </a:ext>
                  </a:extLst>
                </p:cNvPr>
                <p:cNvSpPr/>
                <p:nvPr/>
              </p:nvSpPr>
              <p:spPr>
                <a:xfrm>
                  <a:off x="4983147" y="44148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G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31682145-4A23-4175-B05D-2BFFD538AEFE}"/>
                  </a:ext>
                </a:extLst>
              </p:cNvPr>
              <p:cNvGrpSpPr/>
              <p:nvPr/>
            </p:nvGrpSpPr>
            <p:grpSpPr>
              <a:xfrm>
                <a:off x="4420186" y="3556716"/>
                <a:ext cx="1707603" cy="403320"/>
                <a:chOff x="4420186" y="3556716"/>
                <a:chExt cx="1707603" cy="403320"/>
              </a:xfrm>
            </p:grpSpPr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DB40925C-7A52-4549-B156-295E49CFBC49}"/>
                    </a:ext>
                  </a:extLst>
                </p:cNvPr>
                <p:cNvSpPr/>
                <p:nvPr/>
              </p:nvSpPr>
              <p:spPr>
                <a:xfrm>
                  <a:off x="5693188" y="3556716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DBDC3324-0CF3-4893-82DA-A1413072835A}"/>
                    </a:ext>
                  </a:extLst>
                </p:cNvPr>
                <p:cNvSpPr/>
                <p:nvPr/>
              </p:nvSpPr>
              <p:spPr>
                <a:xfrm>
                  <a:off x="4420186" y="3556716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50" name="Straight Arrow Connector 49">
                  <a:extLst>
                    <a:ext uri="{FF2B5EF4-FFF2-40B4-BE49-F238E27FC236}">
                      <a16:creationId xmlns:a16="http://schemas.microsoft.com/office/drawing/2014/main" id="{A1E161F6-CE18-439D-893C-7462CA791B1D}"/>
                    </a:ext>
                  </a:extLst>
                </p:cNvPr>
                <p:cNvCxnSpPr>
                  <a:cxnSpLocks/>
                  <a:stCxn id="47" idx="6"/>
                  <a:endCxn id="43" idx="2"/>
                </p:cNvCxnSpPr>
                <p:nvPr/>
              </p:nvCxnSpPr>
              <p:spPr>
                <a:xfrm>
                  <a:off x="4854788" y="3758376"/>
                  <a:ext cx="8384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B1601428-3A6B-4A78-B590-BF1026D84940}"/>
                  </a:ext>
                </a:extLst>
              </p:cNvPr>
              <p:cNvGrpSpPr/>
              <p:nvPr/>
            </p:nvGrpSpPr>
            <p:grpSpPr>
              <a:xfrm>
                <a:off x="5417749" y="2669285"/>
                <a:ext cx="1308421" cy="946496"/>
                <a:chOff x="5417749" y="2669285"/>
                <a:chExt cx="1308421" cy="946496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0B6B33FB-6212-47F4-9F55-EF0F2C10EA1E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I</a:t>
                  </a: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A8E452BA-0252-4802-AADB-5D3EBFB57ED5}"/>
                    </a:ext>
                  </a:extLst>
                </p:cNvPr>
                <p:cNvCxnSpPr>
                  <a:cxnSpLocks/>
                  <a:stCxn id="40" idx="4"/>
                  <a:endCxn id="43" idx="7"/>
                </p:cNvCxnSpPr>
                <p:nvPr/>
              </p:nvCxnSpPr>
              <p:spPr>
                <a:xfrm flipH="1">
                  <a:off x="6064143" y="3072604"/>
                  <a:ext cx="444727" cy="54317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80E7FD5A-7622-48EF-89E9-8FA5607A9429}"/>
                    </a:ext>
                  </a:extLst>
                </p:cNvPr>
                <p:cNvCxnSpPr>
                  <a:stCxn id="54" idx="6"/>
                  <a:endCxn id="40" idx="2"/>
                </p:cNvCxnSpPr>
                <p:nvPr/>
              </p:nvCxnSpPr>
              <p:spPr>
                <a:xfrm>
                  <a:off x="5417749" y="2860861"/>
                  <a:ext cx="873820" cy="1008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BB33893-A126-4C72-9767-4493A4694705}"/>
                </a:ext>
              </a:extLst>
            </p:cNvPr>
            <p:cNvCxnSpPr>
              <a:cxnSpLocks/>
              <a:stCxn id="47" idx="4"/>
              <a:endCxn id="53" idx="1"/>
            </p:cNvCxnSpPr>
            <p:nvPr/>
          </p:nvCxnSpPr>
          <p:spPr>
            <a:xfrm>
              <a:off x="6829358" y="3334747"/>
              <a:ext cx="409306" cy="513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02127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FEC9991-D2C0-4AC0-BCCB-8FEB0A359F96}"/>
              </a:ext>
            </a:extLst>
          </p:cNvPr>
          <p:cNvGrpSpPr/>
          <p:nvPr/>
        </p:nvGrpSpPr>
        <p:grpSpPr>
          <a:xfrm>
            <a:off x="9002397" y="3166307"/>
            <a:ext cx="1492463" cy="763972"/>
            <a:chOff x="6751797" y="2374730"/>
            <a:chExt cx="1119347" cy="572979"/>
          </a:xfrm>
          <a:solidFill>
            <a:schemeClr val="bg1"/>
          </a:solidFill>
        </p:grpSpPr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2EE106C-79AD-4B38-A0D8-2B8FA5CF170F}"/>
                </a:ext>
              </a:extLst>
            </p:cNvPr>
            <p:cNvCxnSpPr>
              <a:cxnSpLocks/>
              <a:stCxn id="8" idx="4"/>
              <a:endCxn id="9" idx="1"/>
            </p:cNvCxnSpPr>
            <p:nvPr/>
          </p:nvCxnSpPr>
          <p:spPr>
            <a:xfrm>
              <a:off x="6751797" y="2433794"/>
              <a:ext cx="409306" cy="513915"/>
            </a:xfrm>
            <a:prstGeom prst="straightConnector1">
              <a:avLst/>
            </a:prstGeom>
            <a:grpFill/>
            <a:ln w="57150">
              <a:solidFill>
                <a:schemeClr val="bg2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CC7F70CD-C338-429D-8A82-0ABC2FCA4736}"/>
                </a:ext>
              </a:extLst>
            </p:cNvPr>
            <p:cNvCxnSpPr>
              <a:cxnSpLocks/>
              <a:stCxn id="9" idx="7"/>
              <a:endCxn id="7" idx="3"/>
            </p:cNvCxnSpPr>
            <p:nvPr/>
          </p:nvCxnSpPr>
          <p:spPr>
            <a:xfrm flipV="1">
              <a:off x="7468412" y="2374730"/>
              <a:ext cx="402732" cy="572979"/>
            </a:xfrm>
            <a:prstGeom prst="straightConnector1">
              <a:avLst/>
            </a:prstGeom>
            <a:grpFill/>
            <a:ln w="57150">
              <a:solidFill>
                <a:schemeClr val="bg2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26EED4-38F2-441D-90FB-DC2A8E7E50AF}"/>
              </a:ext>
            </a:extLst>
          </p:cNvPr>
          <p:cNvCxnSpPr>
            <a:cxnSpLocks/>
            <a:stCxn id="8" idx="6"/>
            <a:endCxn id="7" idx="2"/>
          </p:cNvCxnSpPr>
          <p:nvPr/>
        </p:nvCxnSpPr>
        <p:spPr>
          <a:xfrm>
            <a:off x="9292131" y="2976180"/>
            <a:ext cx="1117867" cy="0"/>
          </a:xfrm>
          <a:prstGeom prst="straightConnector1">
            <a:avLst/>
          </a:prstGeom>
          <a:ln w="57150">
            <a:solidFill>
              <a:schemeClr val="bg2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9F67A47-70C2-4EEC-B8C0-BD586A77B06C}"/>
              </a:ext>
            </a:extLst>
          </p:cNvPr>
          <p:cNvGrpSpPr/>
          <p:nvPr/>
        </p:nvGrpSpPr>
        <p:grpSpPr>
          <a:xfrm>
            <a:off x="9002397" y="1779493"/>
            <a:ext cx="2495177" cy="1006560"/>
            <a:chOff x="6751797" y="1334620"/>
            <a:chExt cx="1871383" cy="754920"/>
          </a:xfrm>
          <a:solidFill>
            <a:schemeClr val="bg1"/>
          </a:solidFill>
        </p:grpSpPr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7613F305-F345-4B0E-94AD-699017954B09}"/>
                </a:ext>
              </a:extLst>
            </p:cNvPr>
            <p:cNvCxnSpPr>
              <a:cxnSpLocks/>
              <a:stCxn id="8" idx="0"/>
              <a:endCxn id="15" idx="3"/>
            </p:cNvCxnSpPr>
            <p:nvPr/>
          </p:nvCxnSpPr>
          <p:spPr>
            <a:xfrm flipV="1">
              <a:off x="6751797" y="1477214"/>
              <a:ext cx="409307" cy="553261"/>
            </a:xfrm>
            <a:prstGeom prst="straightConnector1">
              <a:avLst/>
            </a:prstGeom>
            <a:grpFill/>
            <a:ln w="57150">
              <a:solidFill>
                <a:schemeClr val="bg2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0670DC05-F397-4A6E-B066-1A68365F1837}"/>
                </a:ext>
              </a:extLst>
            </p:cNvPr>
            <p:cNvCxnSpPr>
              <a:cxnSpLocks/>
              <a:stCxn id="15" idx="6"/>
              <a:endCxn id="58" idx="2"/>
            </p:cNvCxnSpPr>
            <p:nvPr/>
          </p:nvCxnSpPr>
          <p:spPr>
            <a:xfrm>
              <a:off x="7532059" y="1334620"/>
              <a:ext cx="873820" cy="10084"/>
            </a:xfrm>
            <a:prstGeom prst="straightConnector1">
              <a:avLst/>
            </a:prstGeom>
            <a:grpFill/>
            <a:ln w="57150">
              <a:solidFill>
                <a:schemeClr val="bg2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AA9E3554-2CEB-4178-94B2-B6C973E7E68A}"/>
                </a:ext>
              </a:extLst>
            </p:cNvPr>
            <p:cNvCxnSpPr>
              <a:cxnSpLocks/>
              <a:stCxn id="58" idx="4"/>
              <a:endCxn id="7" idx="7"/>
            </p:cNvCxnSpPr>
            <p:nvPr/>
          </p:nvCxnSpPr>
          <p:spPr>
            <a:xfrm flipH="1">
              <a:off x="8178453" y="1546363"/>
              <a:ext cx="444727" cy="543177"/>
            </a:xfrm>
            <a:prstGeom prst="straightConnector1">
              <a:avLst/>
            </a:prstGeom>
            <a:grpFill/>
            <a:ln w="57150">
              <a:solidFill>
                <a:schemeClr val="bg2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F8FDA0-1D31-4579-93CE-5265A2AAD56E}"/>
              </a:ext>
            </a:extLst>
          </p:cNvPr>
          <p:cNvGrpSpPr/>
          <p:nvPr/>
        </p:nvGrpSpPr>
        <p:grpSpPr>
          <a:xfrm>
            <a:off x="8712662" y="1510614"/>
            <a:ext cx="3074645" cy="2878671"/>
            <a:chOff x="6612057" y="2033913"/>
            <a:chExt cx="2305984" cy="2159003"/>
          </a:xfrm>
          <a:solidFill>
            <a:schemeClr val="bg1"/>
          </a:solidFill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3A09443-7A64-4EAE-8E2C-36AD7E6DEB0F}"/>
                </a:ext>
              </a:extLst>
            </p:cNvPr>
            <p:cNvGrpSpPr/>
            <p:nvPr/>
          </p:nvGrpSpPr>
          <p:grpSpPr>
            <a:xfrm>
              <a:off x="6612057" y="2033913"/>
              <a:ext cx="2305984" cy="2159003"/>
              <a:chOff x="4420186" y="2659201"/>
              <a:chExt cx="2305984" cy="2159003"/>
            </a:xfrm>
            <a:grpFill/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CA87F539-B7A4-4B13-BBAC-5F534768D878}"/>
                  </a:ext>
                </a:extLst>
              </p:cNvPr>
              <p:cNvGrpSpPr/>
              <p:nvPr/>
            </p:nvGrpSpPr>
            <p:grpSpPr>
              <a:xfrm>
                <a:off x="4637487" y="2659201"/>
                <a:ext cx="780262" cy="897515"/>
                <a:chOff x="4637487" y="2659201"/>
                <a:chExt cx="780262" cy="897515"/>
              </a:xfrm>
              <a:grpFill/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6C277CBE-A73F-48D0-BE0B-FE8F397E495B}"/>
                    </a:ext>
                  </a:extLst>
                </p:cNvPr>
                <p:cNvSpPr/>
                <p:nvPr/>
              </p:nvSpPr>
              <p:spPr>
                <a:xfrm>
                  <a:off x="4983148" y="2659201"/>
                  <a:ext cx="434601" cy="403319"/>
                </a:xfrm>
                <a:prstGeom prst="ellips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D</a:t>
                  </a:r>
                </a:p>
              </p:txBody>
            </p: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0E3544E3-B814-4FBB-B3F7-6E7B604F9FC7}"/>
                    </a:ext>
                  </a:extLst>
                </p:cNvPr>
                <p:cNvCxnSpPr>
                  <a:cxnSpLocks/>
                  <a:stCxn id="15" idx="3"/>
                  <a:endCxn id="8" idx="0"/>
                </p:cNvCxnSpPr>
                <p:nvPr/>
              </p:nvCxnSpPr>
              <p:spPr>
                <a:xfrm flipH="1">
                  <a:off x="4637487" y="3003455"/>
                  <a:ext cx="409307" cy="553261"/>
                </a:xfrm>
                <a:prstGeom prst="straightConnector1">
                  <a:avLst/>
                </a:prstGeom>
                <a:grpFill/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FB9AF36-54EE-44C1-9BDB-46F84ADD68FC}"/>
                  </a:ext>
                </a:extLst>
              </p:cNvPr>
              <p:cNvGrpSpPr/>
              <p:nvPr/>
            </p:nvGrpSpPr>
            <p:grpSpPr>
              <a:xfrm>
                <a:off x="4983147" y="3900971"/>
                <a:ext cx="773687" cy="917233"/>
                <a:chOff x="4983147" y="3900971"/>
                <a:chExt cx="773687" cy="917233"/>
              </a:xfrm>
              <a:grpFill/>
            </p:grpSpPr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6D089515-184D-4657-89EE-661B6437A78B}"/>
                    </a:ext>
                  </a:extLst>
                </p:cNvPr>
                <p:cNvCxnSpPr>
                  <a:cxnSpLocks/>
                  <a:stCxn id="7" idx="3"/>
                  <a:endCxn id="9" idx="7"/>
                </p:cNvCxnSpPr>
                <p:nvPr/>
              </p:nvCxnSpPr>
              <p:spPr>
                <a:xfrm flipH="1">
                  <a:off x="5354102" y="3900971"/>
                  <a:ext cx="402732" cy="572979"/>
                </a:xfrm>
                <a:prstGeom prst="straightConnector1">
                  <a:avLst/>
                </a:prstGeom>
                <a:grpFill/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16BED35-4399-459D-9EC3-656B5CD910CB}"/>
                    </a:ext>
                  </a:extLst>
                </p:cNvPr>
                <p:cNvSpPr/>
                <p:nvPr/>
              </p:nvSpPr>
              <p:spPr>
                <a:xfrm>
                  <a:off x="4983147" y="4414885"/>
                  <a:ext cx="434601" cy="403319"/>
                </a:xfrm>
                <a:prstGeom prst="ellips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G</a:t>
                  </a:r>
                </a:p>
              </p:txBody>
            </p: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4218D727-F9EC-49E2-8BFB-585EAF729EE2}"/>
                  </a:ext>
                </a:extLst>
              </p:cNvPr>
              <p:cNvGrpSpPr/>
              <p:nvPr/>
            </p:nvGrpSpPr>
            <p:grpSpPr>
              <a:xfrm>
                <a:off x="4420186" y="3556716"/>
                <a:ext cx="1707603" cy="403320"/>
                <a:chOff x="4420186" y="3556716"/>
                <a:chExt cx="1707603" cy="403320"/>
              </a:xfrm>
              <a:grpFill/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1A1E3508-52C1-4434-92AB-2EAAAD3D9289}"/>
                    </a:ext>
                  </a:extLst>
                </p:cNvPr>
                <p:cNvSpPr/>
                <p:nvPr/>
              </p:nvSpPr>
              <p:spPr>
                <a:xfrm>
                  <a:off x="5693188" y="3556716"/>
                  <a:ext cx="434601" cy="403320"/>
                </a:xfrm>
                <a:prstGeom prst="ellips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B271D1D0-EAB0-42B9-9462-FB90040DD52E}"/>
                    </a:ext>
                  </a:extLst>
                </p:cNvPr>
                <p:cNvSpPr/>
                <p:nvPr/>
              </p:nvSpPr>
              <p:spPr>
                <a:xfrm>
                  <a:off x="4420186" y="3556716"/>
                  <a:ext cx="434602" cy="403319"/>
                </a:xfrm>
                <a:prstGeom prst="ellips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FB529943-B243-454F-842A-82054AE45BEA}"/>
                    </a:ext>
                  </a:extLst>
                </p:cNvPr>
                <p:cNvCxnSpPr>
                  <a:cxnSpLocks/>
                  <a:stCxn id="8" idx="6"/>
                  <a:endCxn id="7" idx="2"/>
                </p:cNvCxnSpPr>
                <p:nvPr/>
              </p:nvCxnSpPr>
              <p:spPr>
                <a:xfrm>
                  <a:off x="4854788" y="3758376"/>
                  <a:ext cx="838400" cy="0"/>
                </a:xfrm>
                <a:prstGeom prst="straightConnector1">
                  <a:avLst/>
                </a:prstGeom>
                <a:grpFill/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5426D79D-626A-4A1E-A92A-F6BEAA2CA97B}"/>
                  </a:ext>
                </a:extLst>
              </p:cNvPr>
              <p:cNvGrpSpPr/>
              <p:nvPr/>
            </p:nvGrpSpPr>
            <p:grpSpPr>
              <a:xfrm>
                <a:off x="5417749" y="2669285"/>
                <a:ext cx="1308421" cy="946496"/>
                <a:chOff x="5417749" y="2669285"/>
                <a:chExt cx="1308421" cy="946496"/>
              </a:xfrm>
              <a:grpFill/>
            </p:grpSpPr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3C8ABD49-3FCA-487A-BA3F-A055EB39AABB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I</a:t>
                  </a:r>
                </a:p>
              </p:txBody>
            </p: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A6A46A88-0C5F-4EAF-BFC8-280A0E8E6233}"/>
                    </a:ext>
                  </a:extLst>
                </p:cNvPr>
                <p:cNvCxnSpPr>
                  <a:cxnSpLocks/>
                  <a:stCxn id="58" idx="4"/>
                  <a:endCxn id="7" idx="7"/>
                </p:cNvCxnSpPr>
                <p:nvPr/>
              </p:nvCxnSpPr>
              <p:spPr>
                <a:xfrm flipH="1">
                  <a:off x="6064143" y="3072604"/>
                  <a:ext cx="444727" cy="543177"/>
                </a:xfrm>
                <a:prstGeom prst="straightConnector1">
                  <a:avLst/>
                </a:prstGeom>
                <a:grpFill/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9E33A4A0-66E4-4E30-8EF9-A4AA0C0DD201}"/>
                    </a:ext>
                  </a:extLst>
                </p:cNvPr>
                <p:cNvCxnSpPr>
                  <a:cxnSpLocks/>
                  <a:stCxn id="15" idx="6"/>
                  <a:endCxn id="58" idx="2"/>
                </p:cNvCxnSpPr>
                <p:nvPr/>
              </p:nvCxnSpPr>
              <p:spPr>
                <a:xfrm>
                  <a:off x="5417749" y="2860861"/>
                  <a:ext cx="873820" cy="10084"/>
                </a:xfrm>
                <a:prstGeom prst="straightConnector1">
                  <a:avLst/>
                </a:prstGeom>
                <a:grpFill/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3B8EF31-3011-472D-AD87-437CEA8A2CFF}"/>
                </a:ext>
              </a:extLst>
            </p:cNvPr>
            <p:cNvCxnSpPr>
              <a:cxnSpLocks/>
              <a:stCxn id="8" idx="4"/>
              <a:endCxn id="9" idx="1"/>
            </p:cNvCxnSpPr>
            <p:nvPr/>
          </p:nvCxnSpPr>
          <p:spPr>
            <a:xfrm>
              <a:off x="6829358" y="3334747"/>
              <a:ext cx="409306" cy="513915"/>
            </a:xfrm>
            <a:prstGeom prst="straightConnector1">
              <a:avLst/>
            </a:prstGeom>
            <a:grpFill/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95E55AF-D013-4C2D-9247-73DD7B73F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131"/>
            <a:ext cx="12192000" cy="1340136"/>
          </a:xfrm>
        </p:spPr>
        <p:txBody>
          <a:bodyPr/>
          <a:lstStyle/>
          <a:p>
            <a:pPr algn="ctr"/>
            <a:r>
              <a:rPr lang="en-GB" dirty="0"/>
              <a:t>Close all backdoor paths of information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1A2B5C8-F4F4-407E-A5E3-78D07490110E}"/>
                  </a:ext>
                </a:extLst>
              </p:cNvPr>
              <p:cNvSpPr txBox="1"/>
              <p:nvPr/>
            </p:nvSpPr>
            <p:spPr>
              <a:xfrm>
                <a:off x="93023" y="1161239"/>
                <a:ext cx="8214947" cy="5344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133" b="1" dirty="0">
                    <a:solidFill>
                      <a:schemeClr val="tx1"/>
                    </a:solidFill>
                  </a:rPr>
                  <a:t>Path 1:</a:t>
                </a:r>
                <a14:m>
                  <m:oMath xmlns:m="http://schemas.openxmlformats.org/officeDocument/2006/math"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GB" sz="2133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sz="2133" dirty="0">
                    <a:solidFill>
                      <a:schemeClr val="tx1"/>
                    </a:solidFill>
                  </a:rPr>
                  <a:t>We want the information to “flow”, so we include X and Y in the model.</a:t>
                </a:r>
              </a:p>
              <a:p>
                <a:endParaRPr lang="en-GB" sz="2133" dirty="0">
                  <a:solidFill>
                    <a:schemeClr val="tx1"/>
                  </a:solidFill>
                </a:endParaRPr>
              </a:p>
              <a:p>
                <a:r>
                  <a:rPr lang="en-GB" sz="2133" b="1" dirty="0">
                    <a:solidFill>
                      <a:schemeClr val="tx1"/>
                    </a:solidFill>
                  </a:rPr>
                  <a:t>Path 2:</a:t>
                </a:r>
                <a14:m>
                  <m:oMath xmlns:m="http://schemas.openxmlformats.org/officeDocument/2006/math"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GB" sz="2133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sz="2133" dirty="0">
                    <a:solidFill>
                      <a:schemeClr val="tx1"/>
                    </a:solidFill>
                  </a:rPr>
                  <a:t>We do not want the information to “flow” on this path, so we need to make sure it is closed.</a:t>
                </a:r>
              </a:p>
              <a:p>
                <a14:m>
                  <m:oMath xmlns:m="http://schemas.openxmlformats.org/officeDocument/2006/math"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sz="2133" dirty="0">
                    <a:solidFill>
                      <a:schemeClr val="tx1"/>
                    </a:solidFill>
                  </a:rPr>
                  <a:t> is a forked confound, and </a:t>
                </a:r>
                <a14:m>
                  <m:oMath xmlns:m="http://schemas.openxmlformats.org/officeDocument/2006/math">
                    <m:r>
                      <a:rPr lang="en-GB" sz="2133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sz="2133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133" i="1" dirty="0">
                    <a:solidFill>
                      <a:schemeClr val="tx1"/>
                    </a:solidFill>
                  </a:rPr>
                  <a:t> </a:t>
                </a:r>
                <a:r>
                  <a:rPr lang="en-GB" sz="2133" dirty="0">
                    <a:solidFill>
                      <a:schemeClr val="tx1"/>
                    </a:solidFill>
                  </a:rPr>
                  <a:t>is a piped confound, so path is currently open. To close this path (and focus on </a:t>
                </a:r>
                <a14:m>
                  <m:oMath xmlns:m="http://schemas.openxmlformats.org/officeDocument/2006/math">
                    <m:r>
                      <a:rPr lang="en-GB" sz="2133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GB" sz="2133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133" dirty="0">
                    <a:solidFill>
                      <a:schemeClr val="tx1"/>
                    </a:solidFill>
                  </a:rPr>
                  <a:t>), we need to include either </a:t>
                </a:r>
                <a14:m>
                  <m:oMath xmlns:m="http://schemas.openxmlformats.org/officeDocument/2006/math">
                    <m:r>
                      <a:rPr lang="en-GB" sz="2133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sz="2133" dirty="0">
                    <a:solidFill>
                      <a:schemeClr val="tx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GB" sz="2133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sz="2133" dirty="0">
                    <a:solidFill>
                      <a:schemeClr val="tx1"/>
                    </a:solidFill>
                  </a:rPr>
                  <a:t> in the model.</a:t>
                </a:r>
              </a:p>
              <a:p>
                <a:endParaRPr lang="en-GB" sz="2133" dirty="0">
                  <a:solidFill>
                    <a:schemeClr val="tx1"/>
                  </a:solidFill>
                </a:endParaRPr>
              </a:p>
              <a:p>
                <a:r>
                  <a:rPr lang="en-GB" sz="2133" b="1" dirty="0">
                    <a:solidFill>
                      <a:schemeClr val="tx1"/>
                    </a:solidFill>
                  </a:rPr>
                  <a:t>Path 3:</a:t>
                </a:r>
                <a14:m>
                  <m:oMath xmlns:m="http://schemas.openxmlformats.org/officeDocument/2006/math"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GB" sz="2133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sz="2133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GB" sz="2133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133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GB" sz="2133" dirty="0">
                    <a:solidFill>
                      <a:schemeClr val="tx1"/>
                    </a:solidFill>
                  </a:rPr>
                  <a:t>is a collider confound, so it is closed unless we added G to the model. To keep it closed, we need to exclude G from the model.</a:t>
                </a:r>
                <a:endParaRPr lang="en-GB" sz="2133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en-GB" sz="2133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1A2B5C8-F4F4-407E-A5E3-78D074901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23" y="1161239"/>
                <a:ext cx="8214947" cy="5344027"/>
              </a:xfrm>
              <a:prstGeom prst="rect">
                <a:avLst/>
              </a:prstGeom>
              <a:blipFill>
                <a:blip r:embed="rId3"/>
                <a:stretch>
                  <a:fillRect l="-890" t="-7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1932378-2EF9-4379-B749-BE1CF212E322}"/>
                  </a:ext>
                </a:extLst>
              </p:cNvPr>
              <p:cNvSpPr txBox="1"/>
              <p:nvPr/>
            </p:nvSpPr>
            <p:spPr>
              <a:xfrm>
                <a:off x="8333544" y="4805623"/>
                <a:ext cx="373211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The model we should run: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 ~ 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dirty="0"/>
                  <a:t>Or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 ~ 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1932378-2EF9-4379-B749-BE1CF212E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3544" y="4805623"/>
                <a:ext cx="3732112" cy="1569660"/>
              </a:xfrm>
              <a:prstGeom prst="rect">
                <a:avLst/>
              </a:prstGeom>
              <a:blipFill>
                <a:blip r:embed="rId4"/>
                <a:stretch>
                  <a:fillRect l="-2451" t="-3101" r="-16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78936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F46FD-F306-62C2-1A33-C2BAA1C10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804968" cy="1325563"/>
          </a:xfrm>
        </p:spPr>
        <p:txBody>
          <a:bodyPr/>
          <a:lstStyle/>
          <a:p>
            <a:r>
              <a:rPr lang="en-GB" dirty="0"/>
              <a:t>R to the rescue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5803A-FFF4-673C-F7C6-BD37DD7A0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7414788" cy="5240194"/>
          </a:xfrm>
        </p:spPr>
        <p:txBody>
          <a:bodyPr/>
          <a:lstStyle/>
          <a:p>
            <a:r>
              <a:rPr lang="en-GB" dirty="0"/>
              <a:t>Often a real pain to identify all backdoor paths and how best to close them</a:t>
            </a:r>
          </a:p>
          <a:p>
            <a:r>
              <a:rPr lang="en-GB" dirty="0"/>
              <a:t>Thankfully, there are great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GB" dirty="0"/>
              <a:t> packages that do the fiddly work for you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library(performance)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AE11770-ED56-F61B-243F-1C4DDB58B05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-228" r="52265"/>
          <a:stretch/>
        </p:blipFill>
        <p:spPr>
          <a:xfrm>
            <a:off x="7804968" y="0"/>
            <a:ext cx="43870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35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18A19-7A78-FE14-47EE-08F8621CC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about our trophic cascade?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E6C0B-2B1A-3B59-C129-F6E55CB5D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426613"/>
            <a:ext cx="7170345" cy="5240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library(performance)</a:t>
            </a:r>
          </a:p>
          <a:p>
            <a:pPr marL="0" indent="0">
              <a:buNone/>
            </a:pP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troph_dag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check_dag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Wolf ~ Park,  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Beaver ~ Park + Survival + Repro,  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outcome = "Beaver",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exposure = "Wolf")</a:t>
            </a:r>
          </a:p>
          <a:p>
            <a:pPr marL="0" indent="0">
              <a:buNone/>
            </a:pP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troph_dag</a:t>
            </a:r>
            <a:endParaRPr lang="en-GB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F8B33E-61EC-4B8E-DC72-2BB8FF8F4589}"/>
              </a:ext>
            </a:extLst>
          </p:cNvPr>
          <p:cNvGrpSpPr/>
          <p:nvPr/>
        </p:nvGrpSpPr>
        <p:grpSpPr>
          <a:xfrm>
            <a:off x="6923511" y="1340610"/>
            <a:ext cx="4428979" cy="4344401"/>
            <a:chOff x="7428336" y="1447636"/>
            <a:chExt cx="4428979" cy="434440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19B9B67-1613-EBE0-950F-53275655A597}"/>
                </a:ext>
              </a:extLst>
            </p:cNvPr>
            <p:cNvGrpSpPr/>
            <p:nvPr/>
          </p:nvGrpSpPr>
          <p:grpSpPr>
            <a:xfrm>
              <a:off x="7428336" y="1447636"/>
              <a:ext cx="3997828" cy="2693488"/>
              <a:chOff x="6923511" y="1333336"/>
              <a:chExt cx="3997828" cy="269348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465722-1616-D3F2-4574-B1C7D6A78AF2}"/>
                  </a:ext>
                </a:extLst>
              </p:cNvPr>
              <p:cNvSpPr txBox="1"/>
              <p:nvPr/>
            </p:nvSpPr>
            <p:spPr>
              <a:xfrm>
                <a:off x="9543617" y="3117960"/>
                <a:ext cx="13777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Beaver </a:t>
                </a:r>
                <a:br>
                  <a:rPr lang="en-GB" dirty="0"/>
                </a:br>
                <a:r>
                  <a:rPr lang="en-GB" dirty="0"/>
                  <a:t>density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06A8CAE-1E17-7C8D-F727-00887AFC8ACC}"/>
                      </a:ext>
                    </a:extLst>
                  </p:cNvPr>
                  <p:cNvSpPr txBox="1"/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GB" dirty="0"/>
                      <a:t>olf </a:t>
                    </a:r>
                    <a:br>
                      <a:rPr lang="en-GB" dirty="0"/>
                    </a:br>
                    <a:r>
                      <a:rPr lang="en-GB" dirty="0"/>
                      <a:t>presence</a:t>
                    </a: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0DB4058-2CA5-24F9-68EC-DDBA153A74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DDC51A0-B0D8-ED3E-3ED0-F037AE9F7E73}"/>
                </a:ext>
              </a:extLst>
            </p:cNvPr>
            <p:cNvGrpSpPr/>
            <p:nvPr/>
          </p:nvGrpSpPr>
          <p:grpSpPr>
            <a:xfrm>
              <a:off x="7476763" y="3232260"/>
              <a:ext cx="2571679" cy="908864"/>
              <a:chOff x="7334096" y="4088731"/>
              <a:chExt cx="2571679" cy="9088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44C3D881-9284-7463-FE7E-B5F57618CC90}"/>
                      </a:ext>
                    </a:extLst>
                  </p:cNvPr>
                  <p:cNvSpPr txBox="1"/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a14:m>
                    <a:r>
                      <a:rPr lang="en-GB" dirty="0"/>
                      <a:t>urvival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7D1BCBB-794D-43FB-3C7C-05EF04E15F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6148F293-EA8A-041D-9663-877F752714E0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>
                <a:off x="8786205" y="4543163"/>
                <a:ext cx="111957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49292BA-EDFD-9485-296C-9CC7CF3BFC05}"/>
                </a:ext>
              </a:extLst>
            </p:cNvPr>
            <p:cNvGrpSpPr/>
            <p:nvPr/>
          </p:nvGrpSpPr>
          <p:grpSpPr>
            <a:xfrm>
              <a:off x="9617291" y="4141124"/>
              <a:ext cx="2240024" cy="1650913"/>
              <a:chOff x="4655054" y="901858"/>
              <a:chExt cx="2240024" cy="16509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4A16998F-6BEC-769C-FA11-D347AF3330CB}"/>
                      </a:ext>
                    </a:extLst>
                  </p:cNvPr>
                  <p:cNvSpPr txBox="1"/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oMath>
                    </a14:m>
                    <a:r>
                      <a:rPr lang="en-GB" dirty="0"/>
                      <a:t>eproduction</a:t>
                    </a: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D14FF42-E3F0-DA45-E49B-4C887CFE7C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20858C3-DB63-B39C-C292-F699F71F70B7}"/>
                  </a:ext>
                </a:extLst>
              </p:cNvPr>
              <p:cNvCxnSpPr>
                <a:cxnSpLocks/>
                <a:stCxn id="13" idx="0"/>
                <a:endCxn id="17" idx="4"/>
              </p:cNvCxnSpPr>
              <p:nvPr/>
            </p:nvCxnSpPr>
            <p:spPr>
              <a:xfrm flipV="1">
                <a:off x="5775066" y="901858"/>
                <a:ext cx="0" cy="74204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7EC8E9C-AA31-13BB-BED2-73AFD75F1F9C}"/>
                </a:ext>
              </a:extLst>
            </p:cNvPr>
            <p:cNvGrpSpPr/>
            <p:nvPr/>
          </p:nvGrpSpPr>
          <p:grpSpPr>
            <a:xfrm>
              <a:off x="9870365" y="1447636"/>
              <a:ext cx="1733875" cy="1784624"/>
              <a:chOff x="9365540" y="1333336"/>
              <a:chExt cx="1733875" cy="1784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CAA47E9-AE14-C1E2-D4D0-0D59A498934B}"/>
                      </a:ext>
                    </a:extLst>
                  </p:cNvPr>
                  <p:cNvSpPr txBox="1"/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a14:m>
                    <a:r>
                      <a:rPr lang="en-GB" dirty="0"/>
                      <a:t>ark</a:t>
                    </a:r>
                    <a:br>
                      <a:rPr lang="en-GB" dirty="0"/>
                    </a:br>
                    <a:r>
                      <a:rPr lang="en-GB" dirty="0"/>
                      <a:t>protection</a:t>
                    </a: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A4F8AB6F-4AE9-30E0-EA78-F48B998B21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ECFC461B-3229-04A2-06DE-0502B7ADFA5B}"/>
                  </a:ext>
                </a:extLst>
              </p:cNvPr>
              <p:cNvCxnSpPr>
                <a:cxnSpLocks/>
                <a:stCxn id="11" idx="4"/>
                <a:endCxn id="17" idx="0"/>
              </p:cNvCxnSpPr>
              <p:nvPr/>
            </p:nvCxnSpPr>
            <p:spPr>
              <a:xfrm>
                <a:off x="10232478" y="2242200"/>
                <a:ext cx="0" cy="87576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D647CDC-42F9-9ECB-09CF-E29106F39C63}"/>
                </a:ext>
              </a:extLst>
            </p:cNvPr>
            <p:cNvCxnSpPr>
              <a:cxnSpLocks/>
              <a:stCxn id="11" idx="2"/>
              <a:endCxn id="18" idx="6"/>
            </p:cNvCxnSpPr>
            <p:nvPr/>
          </p:nvCxnSpPr>
          <p:spPr>
            <a:xfrm flipH="1">
              <a:off x="9055209" y="1902068"/>
              <a:ext cx="81515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6D9B1DE-494B-17F6-497E-898D9AA3C747}"/>
              </a:ext>
            </a:extLst>
          </p:cNvPr>
          <p:cNvSpPr txBox="1"/>
          <p:nvPr/>
        </p:nvSpPr>
        <p:spPr>
          <a:xfrm>
            <a:off x="6201295" y="187040"/>
            <a:ext cx="597471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Check for correct adjustment sets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 Outcome: Beaver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 Exposure: Wolf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Identification of direct and total effects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Incorrectly adjusted!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To estimate the direct and total effect,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 least adjust for `Park`.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Currently, the model does not adjust for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 variables.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52C1B0-F9CD-A282-74EF-9F74BC83A74D}"/>
              </a:ext>
            </a:extLst>
          </p:cNvPr>
          <p:cNvSpPr/>
          <p:nvPr/>
        </p:nvSpPr>
        <p:spPr>
          <a:xfrm>
            <a:off x="6201296" y="2124075"/>
            <a:ext cx="5562080" cy="5798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51C52E-EEDF-8EC8-D185-8349339EC44E}"/>
              </a:ext>
            </a:extLst>
          </p:cNvPr>
          <p:cNvSpPr txBox="1"/>
          <p:nvPr/>
        </p:nvSpPr>
        <p:spPr>
          <a:xfrm>
            <a:off x="0" y="5021812"/>
            <a:ext cx="739378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(beaver ~ wolf + park,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	 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GB" sz="2400" dirty="0"/>
          </a:p>
        </p:txBody>
      </p:sp>
      <p:pic>
        <p:nvPicPr>
          <p:cNvPr id="25" name="Picture 24" descr="A screenshot of a cell phone screen&#10;&#10;Description automatically generated">
            <a:extLst>
              <a:ext uri="{FF2B5EF4-FFF2-40B4-BE49-F238E27FC236}">
                <a16:creationId xmlns:a16="http://schemas.microsoft.com/office/drawing/2014/main" id="{608ED2A6-909C-67C2-A74D-8A82D197280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4233" y="872855"/>
            <a:ext cx="4709144" cy="561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7438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22" grpId="0" animBg="1"/>
      <p:bldP spid="22" grpId="1" animBg="1"/>
      <p:bldP spid="2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4A1C87-7A53-4561-AED4-0C88C19F8829}"/>
              </a:ext>
            </a:extLst>
          </p:cNvPr>
          <p:cNvCxnSpPr>
            <a:stCxn id="8" idx="5"/>
            <a:endCxn id="7" idx="1"/>
          </p:cNvCxnSpPr>
          <p:nvPr/>
        </p:nvCxnSpPr>
        <p:spPr>
          <a:xfrm>
            <a:off x="5181073" y="1901784"/>
            <a:ext cx="802095" cy="95538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C3810D1-641D-4B86-A1CA-D74F51C5B256}"/>
              </a:ext>
            </a:extLst>
          </p:cNvPr>
          <p:cNvCxnSpPr>
            <a:stCxn id="8" idx="6"/>
            <a:endCxn id="58" idx="2"/>
          </p:cNvCxnSpPr>
          <p:nvPr/>
        </p:nvCxnSpPr>
        <p:spPr>
          <a:xfrm>
            <a:off x="5265934" y="1711659"/>
            <a:ext cx="632372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994AE3C-4182-4FBB-B647-5459F7C8478D}"/>
              </a:ext>
            </a:extLst>
          </p:cNvPr>
          <p:cNvCxnSpPr>
            <a:stCxn id="58" idx="4"/>
            <a:endCxn id="7" idx="0"/>
          </p:cNvCxnSpPr>
          <p:nvPr/>
        </p:nvCxnSpPr>
        <p:spPr>
          <a:xfrm>
            <a:off x="6188040" y="1980537"/>
            <a:ext cx="0" cy="79788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C8CFEE0-0421-43DC-B7B9-00B9BC8F0732}"/>
              </a:ext>
            </a:extLst>
          </p:cNvPr>
          <p:cNvCxnSpPr>
            <a:stCxn id="58" idx="5"/>
            <a:endCxn id="9" idx="1"/>
          </p:cNvCxnSpPr>
          <p:nvPr/>
        </p:nvCxnSpPr>
        <p:spPr>
          <a:xfrm>
            <a:off x="6392913" y="1901784"/>
            <a:ext cx="618015" cy="28756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1C4BFEB-A166-4D91-8BBA-1E72E55B7C20}"/>
              </a:ext>
            </a:extLst>
          </p:cNvPr>
          <p:cNvCxnSpPr>
            <a:cxnSpLocks/>
            <a:stCxn id="9" idx="3"/>
            <a:endCxn id="7" idx="7"/>
          </p:cNvCxnSpPr>
          <p:nvPr/>
        </p:nvCxnSpPr>
        <p:spPr>
          <a:xfrm flipH="1">
            <a:off x="6392913" y="2569605"/>
            <a:ext cx="618015" cy="2875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95E55AF-D013-4C2D-9247-73DD7B73F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131"/>
            <a:ext cx="12192000" cy="1340136"/>
          </a:xfrm>
        </p:spPr>
        <p:txBody>
          <a:bodyPr/>
          <a:lstStyle/>
          <a:p>
            <a:pPr algn="ctr"/>
            <a:r>
              <a:rPr lang="en-GB" dirty="0"/>
              <a:t>Can we study the direct effect of X on Y here?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F8FDA0-1D31-4579-93CE-5265A2AAD56E}"/>
              </a:ext>
            </a:extLst>
          </p:cNvPr>
          <p:cNvGrpSpPr/>
          <p:nvPr/>
        </p:nvGrpSpPr>
        <p:grpSpPr>
          <a:xfrm>
            <a:off x="4686464" y="1442780"/>
            <a:ext cx="2819069" cy="1873401"/>
            <a:chOff x="7574559" y="2043997"/>
            <a:chExt cx="2114302" cy="1405051"/>
          </a:xfrm>
          <a:solidFill>
            <a:schemeClr val="bg1"/>
          </a:solidFill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3A09443-7A64-4EAE-8E2C-36AD7E6DEB0F}"/>
                </a:ext>
              </a:extLst>
            </p:cNvPr>
            <p:cNvGrpSpPr/>
            <p:nvPr/>
          </p:nvGrpSpPr>
          <p:grpSpPr>
            <a:xfrm>
              <a:off x="7574559" y="2043997"/>
              <a:ext cx="2114302" cy="1405051"/>
              <a:chOff x="5382688" y="2669285"/>
              <a:chExt cx="2114302" cy="1405051"/>
            </a:xfrm>
            <a:grpFill/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0E3544E3-B814-4FBB-B3F7-6E7B604F9FC7}"/>
                  </a:ext>
                </a:extLst>
              </p:cNvPr>
              <p:cNvCxnSpPr>
                <a:cxnSpLocks/>
                <a:stCxn id="8" idx="6"/>
                <a:endCxn id="58" idx="2"/>
              </p:cNvCxnSpPr>
              <p:nvPr/>
            </p:nvCxnSpPr>
            <p:spPr>
              <a:xfrm>
                <a:off x="5817290" y="2870945"/>
                <a:ext cx="474279" cy="0"/>
              </a:xfrm>
              <a:prstGeom prst="straightConnector1">
                <a:avLst/>
              </a:prstGeom>
              <a:grpFill/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FB9AF36-54EE-44C1-9BDB-46F84ADD68FC}"/>
                  </a:ext>
                </a:extLst>
              </p:cNvPr>
              <p:cNvGrpSpPr/>
              <p:nvPr/>
            </p:nvGrpSpPr>
            <p:grpSpPr>
              <a:xfrm>
                <a:off x="6662524" y="3170150"/>
                <a:ext cx="834466" cy="559931"/>
                <a:chOff x="6662524" y="3170150"/>
                <a:chExt cx="834466" cy="559931"/>
              </a:xfrm>
              <a:grpFill/>
            </p:grpSpPr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6D089515-184D-4657-89EE-661B6437A78B}"/>
                    </a:ext>
                  </a:extLst>
                </p:cNvPr>
                <p:cNvCxnSpPr>
                  <a:cxnSpLocks/>
                  <a:stCxn id="9" idx="3"/>
                  <a:endCxn id="7" idx="7"/>
                </p:cNvCxnSpPr>
                <p:nvPr/>
              </p:nvCxnSpPr>
              <p:spPr>
                <a:xfrm flipH="1">
                  <a:off x="6662524" y="3514404"/>
                  <a:ext cx="463511" cy="215677"/>
                </a:xfrm>
                <a:prstGeom prst="straightConnector1">
                  <a:avLst/>
                </a:prstGeom>
                <a:grpFill/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16BED35-4399-459D-9EC3-656B5CD910CB}"/>
                    </a:ext>
                  </a:extLst>
                </p:cNvPr>
                <p:cNvSpPr/>
                <p:nvPr/>
              </p:nvSpPr>
              <p:spPr>
                <a:xfrm>
                  <a:off x="7062389" y="3170150"/>
                  <a:ext cx="434601" cy="403319"/>
                </a:xfrm>
                <a:prstGeom prst="ellipse">
                  <a:avLst/>
                </a:prstGeom>
                <a:grp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B</a:t>
                  </a:r>
                </a:p>
              </p:txBody>
            </p: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4218D727-F9EC-49E2-8BFB-585EAF729EE2}"/>
                  </a:ext>
                </a:extLst>
              </p:cNvPr>
              <p:cNvGrpSpPr/>
              <p:nvPr/>
            </p:nvGrpSpPr>
            <p:grpSpPr>
              <a:xfrm>
                <a:off x="5382688" y="2669285"/>
                <a:ext cx="1343482" cy="1405051"/>
                <a:chOff x="5382688" y="2669285"/>
                <a:chExt cx="1343482" cy="1405051"/>
              </a:xfrm>
              <a:grpFill/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1A1E3508-52C1-4434-92AB-2EAAAD3D9289}"/>
                    </a:ext>
                  </a:extLst>
                </p:cNvPr>
                <p:cNvSpPr/>
                <p:nvPr/>
              </p:nvSpPr>
              <p:spPr>
                <a:xfrm>
                  <a:off x="6291569" y="3671016"/>
                  <a:ext cx="434601" cy="403320"/>
                </a:xfrm>
                <a:prstGeom prst="ellipse">
                  <a:avLst/>
                </a:prstGeom>
                <a:grp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B271D1D0-EAB0-42B9-9462-FB90040DD52E}"/>
                    </a:ext>
                  </a:extLst>
                </p:cNvPr>
                <p:cNvSpPr/>
                <p:nvPr/>
              </p:nvSpPr>
              <p:spPr>
                <a:xfrm>
                  <a:off x="5382688" y="2669285"/>
                  <a:ext cx="434602" cy="403319"/>
                </a:xfrm>
                <a:prstGeom prst="ellipse">
                  <a:avLst/>
                </a:prstGeom>
                <a:grp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FB529943-B243-454F-842A-82054AE45BEA}"/>
                    </a:ext>
                  </a:extLst>
                </p:cNvPr>
                <p:cNvCxnSpPr>
                  <a:cxnSpLocks/>
                  <a:stCxn id="8" idx="5"/>
                  <a:endCxn id="7" idx="1"/>
                </p:cNvCxnSpPr>
                <p:nvPr/>
              </p:nvCxnSpPr>
              <p:spPr>
                <a:xfrm>
                  <a:off x="5753644" y="3013539"/>
                  <a:ext cx="601571" cy="716542"/>
                </a:xfrm>
                <a:prstGeom prst="straightConnector1">
                  <a:avLst/>
                </a:prstGeom>
                <a:grpFill/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5426D79D-626A-4A1E-A92A-F6BEAA2CA97B}"/>
                  </a:ext>
                </a:extLst>
              </p:cNvPr>
              <p:cNvGrpSpPr/>
              <p:nvPr/>
            </p:nvGrpSpPr>
            <p:grpSpPr>
              <a:xfrm>
                <a:off x="6291569" y="2669285"/>
                <a:ext cx="434601" cy="1001731"/>
                <a:chOff x="6291569" y="2669285"/>
                <a:chExt cx="434601" cy="1001731"/>
              </a:xfrm>
              <a:grpFill/>
            </p:grpSpPr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3C8ABD49-3FCA-487A-BA3F-A055EB39AABB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grp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A</a:t>
                  </a:r>
                </a:p>
              </p:txBody>
            </p: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A6A46A88-0C5F-4EAF-BFC8-280A0E8E6233}"/>
                    </a:ext>
                  </a:extLst>
                </p:cNvPr>
                <p:cNvCxnSpPr>
                  <a:cxnSpLocks/>
                  <a:stCxn id="58" idx="4"/>
                  <a:endCxn id="7" idx="0"/>
                </p:cNvCxnSpPr>
                <p:nvPr/>
              </p:nvCxnSpPr>
              <p:spPr>
                <a:xfrm>
                  <a:off x="6508870" y="3072604"/>
                  <a:ext cx="0" cy="598412"/>
                </a:xfrm>
                <a:prstGeom prst="straightConnector1">
                  <a:avLst/>
                </a:prstGeom>
                <a:grpFill/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3B8EF31-3011-472D-AD87-437CEA8A2CFF}"/>
                </a:ext>
              </a:extLst>
            </p:cNvPr>
            <p:cNvCxnSpPr>
              <a:cxnSpLocks/>
              <a:stCxn id="9" idx="1"/>
              <a:endCxn id="58" idx="5"/>
            </p:cNvCxnSpPr>
            <p:nvPr/>
          </p:nvCxnSpPr>
          <p:spPr>
            <a:xfrm flipH="1" flipV="1">
              <a:off x="8854395" y="2388251"/>
              <a:ext cx="463511" cy="215676"/>
            </a:xfrm>
            <a:prstGeom prst="straightConnector1">
              <a:avLst/>
            </a:prstGeom>
            <a:grpFill/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96DB1EE5-4AE6-4944-A5BF-99E4C977A329}"/>
                  </a:ext>
                </a:extLst>
              </p:cNvPr>
              <p:cNvSpPr txBox="1"/>
              <p:nvPr/>
            </p:nvSpPr>
            <p:spPr>
              <a:xfrm>
                <a:off x="0" y="3884533"/>
                <a:ext cx="2469394" cy="6667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733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733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3733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733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96DB1EE5-4AE6-4944-A5BF-99E4C977A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884533"/>
                <a:ext cx="2469394" cy="6667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AEFDC5B-797B-4956-9AAA-3295E953ADEB}"/>
                  </a:ext>
                </a:extLst>
              </p:cNvPr>
              <p:cNvSpPr txBox="1"/>
              <p:nvPr/>
            </p:nvSpPr>
            <p:spPr>
              <a:xfrm>
                <a:off x="1" y="4828381"/>
                <a:ext cx="3443891" cy="6667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733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733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GB" sz="3733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733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AEFDC5B-797B-4956-9AAA-3295E953A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4828381"/>
                <a:ext cx="3443891" cy="6667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EFEECF-79A7-4F74-88CB-407FE3A5795A}"/>
                  </a:ext>
                </a:extLst>
              </p:cNvPr>
              <p:cNvSpPr txBox="1"/>
              <p:nvPr/>
            </p:nvSpPr>
            <p:spPr>
              <a:xfrm>
                <a:off x="0" y="5772231"/>
                <a:ext cx="4437818" cy="6667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733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733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GB" sz="3733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GB" sz="3733" i="1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733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EFEECF-79A7-4F74-88CB-407FE3A57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772231"/>
                <a:ext cx="4437818" cy="6667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45A40F68-4A1D-42E0-8AC4-6BCAD5208A62}"/>
                  </a:ext>
                </a:extLst>
              </p:cNvPr>
              <p:cNvSpPr txBox="1"/>
              <p:nvPr/>
            </p:nvSpPr>
            <p:spPr>
              <a:xfrm>
                <a:off x="4505593" y="4955741"/>
                <a:ext cx="62415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sz="2400" dirty="0"/>
                  <a:t> is a pipe, so if we want to close: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sz="2400" i="1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45A40F68-4A1D-42E0-8AC4-6BCAD5208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5593" y="4955741"/>
                <a:ext cx="6241580" cy="461665"/>
              </a:xfrm>
              <a:prstGeom prst="rect">
                <a:avLst/>
              </a:prstGeom>
              <a:blipFill>
                <a:blip r:embed="rId5"/>
                <a:stretch>
                  <a:fillRect l="-195" t="-11842" b="-27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AAE21DA5-6B57-4F39-A666-978520A48E01}"/>
                  </a:ext>
                </a:extLst>
              </p:cNvPr>
              <p:cNvSpPr txBox="1"/>
              <p:nvPr/>
            </p:nvSpPr>
            <p:spPr>
              <a:xfrm>
                <a:off x="4505594" y="4007645"/>
                <a:ext cx="62045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This is the relationship of interest, so: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AAE21DA5-6B57-4F39-A666-978520A48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5594" y="4007645"/>
                <a:ext cx="6204519" cy="461665"/>
              </a:xfrm>
              <a:prstGeom prst="rect">
                <a:avLst/>
              </a:prstGeom>
              <a:blipFill>
                <a:blip r:embed="rId6"/>
                <a:stretch>
                  <a:fillRect l="-1473" t="-11842" b="-27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D888C467-5F7C-482E-B8FE-D45ABE7D92E2}"/>
                  </a:ext>
                </a:extLst>
              </p:cNvPr>
              <p:cNvSpPr txBox="1"/>
              <p:nvPr/>
            </p:nvSpPr>
            <p:spPr>
              <a:xfrm>
                <a:off x="4505594" y="5879690"/>
                <a:ext cx="673793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sz="2400" dirty="0"/>
                  <a:t> is a collider, so to close path remove </a:t>
                </a:r>
                <a14:m>
                  <m:oMath xmlns:m="http://schemas.openxmlformats.org/officeDocument/2006/math">
                    <m:r>
                      <a:rPr lang="en-GB" sz="24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sz="2400" dirty="0"/>
                  <a:t>: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D888C467-5F7C-482E-B8FE-D45ABE7D9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5594" y="5879690"/>
                <a:ext cx="6737935" cy="461665"/>
              </a:xfrm>
              <a:prstGeom prst="rect">
                <a:avLst/>
              </a:prstGeom>
              <a:blipFill>
                <a:blip r:embed="rId7"/>
                <a:stretch>
                  <a:fillRect l="-181" t="-12000" b="-29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TextBox 88">
            <a:extLst>
              <a:ext uri="{FF2B5EF4-FFF2-40B4-BE49-F238E27FC236}">
                <a16:creationId xmlns:a16="http://schemas.microsoft.com/office/drawing/2014/main" id="{EE49123F-61F8-4A17-B10D-90F8BB19B173}"/>
              </a:ext>
            </a:extLst>
          </p:cNvPr>
          <p:cNvSpPr txBox="1"/>
          <p:nvPr/>
        </p:nvSpPr>
        <p:spPr>
          <a:xfrm>
            <a:off x="8382078" y="984257"/>
            <a:ext cx="33764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The direct causal relationship between X and Y cannot be analysed without being confounded by either the pipe, or the collider.</a:t>
            </a:r>
          </a:p>
        </p:txBody>
      </p:sp>
    </p:spTree>
    <p:extLst>
      <p:ext uri="{BB962C8B-B14F-4D97-AF65-F5344CB8AC3E}">
        <p14:creationId xmlns:p14="http://schemas.microsoft.com/office/powerpoint/2010/main" val="1185572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0" grpId="0"/>
      <p:bldP spid="91" grpId="0"/>
      <p:bldP spid="88" grpId="0"/>
      <p:bldP spid="93" grpId="0"/>
      <p:bldP spid="94" grpId="0"/>
      <p:bldP spid="89" grpId="0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121</TotalTime>
  <Words>1436</Words>
  <Application>Microsoft Office PowerPoint</Application>
  <PresentationFormat>Widescreen</PresentationFormat>
  <Paragraphs>350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Arial</vt:lpstr>
      <vt:lpstr>Bahnschrift Light</vt:lpstr>
      <vt:lpstr>Cambria Math</vt:lpstr>
      <vt:lpstr>Courier New</vt:lpstr>
      <vt:lpstr>sbs_template</vt:lpstr>
      <vt:lpstr>Confounding</vt:lpstr>
      <vt:lpstr>How do we understand causation?</vt:lpstr>
      <vt:lpstr>Sceptical?</vt:lpstr>
      <vt:lpstr>Could we think of a causal mechanism?</vt:lpstr>
      <vt:lpstr>Do models describe causation?</vt:lpstr>
      <vt:lpstr>Why do we find an association between ice cream and shark attacks?</vt:lpstr>
      <vt:lpstr>Shark and ice cream connection</vt:lpstr>
      <vt:lpstr>A family of confusion</vt:lpstr>
      <vt:lpstr>Spurious correlations</vt:lpstr>
      <vt:lpstr>The confounds</vt:lpstr>
      <vt:lpstr>Forking confounds</vt:lpstr>
      <vt:lpstr>Forking confound quiz</vt:lpstr>
      <vt:lpstr>The confounds</vt:lpstr>
      <vt:lpstr>Piped confound</vt:lpstr>
      <vt:lpstr>Piped confound quiz</vt:lpstr>
      <vt:lpstr>The confounds</vt:lpstr>
      <vt:lpstr>Colliding confound</vt:lpstr>
      <vt:lpstr>Colliding confound quiz</vt:lpstr>
      <vt:lpstr>The confounds</vt:lpstr>
      <vt:lpstr>What about when X and Y are causally related?</vt:lpstr>
      <vt:lpstr>The power of experimental design</vt:lpstr>
      <vt:lpstr>Getting rid of confounding</vt:lpstr>
      <vt:lpstr>Randomisation</vt:lpstr>
      <vt:lpstr>What about observation data?</vt:lpstr>
      <vt:lpstr>The Backdoor Criterion</vt:lpstr>
      <vt:lpstr>Confounding occurs when a variable causes X and is related to another variable in the DAG</vt:lpstr>
      <vt:lpstr>Close all backdoor paths of information flow</vt:lpstr>
      <vt:lpstr>R to the rescue</vt:lpstr>
      <vt:lpstr>What about our trophic cascade?</vt:lpstr>
      <vt:lpstr>Can we study the direct effect of X on Y here?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5</cp:revision>
  <dcterms:created xsi:type="dcterms:W3CDTF">2024-07-29T10:08:40Z</dcterms:created>
  <dcterms:modified xsi:type="dcterms:W3CDTF">2024-09-06T16:01:15Z</dcterms:modified>
</cp:coreProperties>
</file>