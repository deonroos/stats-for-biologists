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82" r:id="rId3"/>
    <p:sldId id="283" r:id="rId4"/>
    <p:sldId id="286" r:id="rId5"/>
    <p:sldId id="287" r:id="rId6"/>
    <p:sldId id="303" r:id="rId7"/>
    <p:sldId id="284" r:id="rId8"/>
    <p:sldId id="288" r:id="rId9"/>
    <p:sldId id="304" r:id="rId10"/>
    <p:sldId id="289" r:id="rId11"/>
    <p:sldId id="306" r:id="rId12"/>
    <p:sldId id="293" r:id="rId13"/>
    <p:sldId id="305" r:id="rId14"/>
    <p:sldId id="296" r:id="rId15"/>
    <p:sldId id="297" r:id="rId16"/>
    <p:sldId id="295" r:id="rId17"/>
    <p:sldId id="298" r:id="rId18"/>
    <p:sldId id="299" r:id="rId19"/>
    <p:sldId id="300" r:id="rId20"/>
    <p:sldId id="307" r:id="rId21"/>
    <p:sldId id="302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EF085-90BA-6B79-A198-AE27F69DC1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567" y="565410"/>
            <a:ext cx="6096000" cy="2863589"/>
          </a:xfrm>
        </p:spPr>
        <p:txBody>
          <a:bodyPr anchor="ctr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960FB6-F389-7EDD-D9DB-A406B89F35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4567" y="3552161"/>
            <a:ext cx="6096000" cy="2607569"/>
          </a:xfrm>
        </p:spPr>
        <p:txBody>
          <a:bodyPr anchor="ctr"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001CD27-4DF4-05EC-92B4-C7555C3D018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50677" y="0"/>
            <a:ext cx="5741324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5E048B3-2145-631D-3138-1DF0AD6D38F2}"/>
              </a:ext>
            </a:extLst>
          </p:cNvPr>
          <p:cNvCxnSpPr/>
          <p:nvPr/>
        </p:nvCxnSpPr>
        <p:spPr>
          <a:xfrm>
            <a:off x="1313411" y="3491345"/>
            <a:ext cx="375735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2374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30639-2CA7-2272-840E-F8F595ABC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201295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D59DF2-E981-9079-7762-2C88651F5B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26613"/>
            <a:ext cx="6201295" cy="524019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EC5A3C4-A2EA-7545-B99B-E8F489810FE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359525" y="0"/>
            <a:ext cx="5832475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28690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B9374-2DD6-FA11-BF6F-AE419E0A6B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1426614"/>
            <a:ext cx="5893724" cy="516220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FA4DDC-5EE8-4D0D-208A-D5A4CC40A5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1295" y="0"/>
            <a:ext cx="5990705" cy="5162204"/>
          </a:xfrm>
        </p:spPr>
        <p:txBody>
          <a:bodyPr anchor="ctr"/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96FFCEF-D528-27F4-CF96-A8F674BCA08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620129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E6B47C7-8888-2E6B-0D7C-CF46BFD9A30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01295" y="5162204"/>
            <a:ext cx="5990705" cy="16957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004936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FFACB-206F-5777-5BAD-5BF8E9669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104015"/>
            <a:ext cx="10515600" cy="175398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945372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958E7-8733-1588-CE76-0710036CC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043C91-73BF-C49E-46BA-834638FC0B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FDC1F7-08BE-633D-0E8D-18F30CEE5A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4D961F-706F-451E-ABF3-F672C1F454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36AEAE-47C4-6C9C-5B4C-F6E31977E8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72731F-9715-FADD-FEBD-65D90CABA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44561-F434-46E9-9D5F-467389065464}" type="datetimeFigureOut">
              <a:rPr lang="en-GB" smtClean="0"/>
              <a:t>06/09/2024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E7A07B-AF32-2EA1-F513-0D1F38BAB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B01B04-63C5-991E-FD0F-2ED9257DC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C556A-F7E4-44BF-81F2-54EE2A478FB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76242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13767-1669-64A9-2C16-1A1F6165D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1F01AD-E823-7B4D-D421-EF7BE290C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44561-F434-46E9-9D5F-467389065464}" type="datetimeFigureOut">
              <a:rPr lang="en-GB" smtClean="0"/>
              <a:t>06/09/2024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13AC7F-2C26-3190-A705-5FC5DD18B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DF203F-F57C-7145-B743-4A084B3A5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C556A-F7E4-44BF-81F2-54EE2A478FB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68607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E02D19-147D-AD60-6ACC-2F7283CEE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44561-F434-46E9-9D5F-467389065464}" type="datetimeFigureOut">
              <a:rPr lang="en-GB" smtClean="0"/>
              <a:t>06/09/2024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CF569D-7098-9B6D-B851-1B18E6DB6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18D08F-69F0-C410-CAC9-DF16A0BF9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C556A-F7E4-44BF-81F2-54EE2A478FB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59747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C2567-4A48-3F47-EF88-E32A67EDD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F90797-1FEC-B310-9CA0-6642F4FE7D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BDC1EB-E335-7190-8BFD-48E25C309A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154E58-0B6A-491E-7CE0-88114C141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44561-F434-46E9-9D5F-467389065464}" type="datetimeFigureOut">
              <a:rPr lang="en-GB" smtClean="0"/>
              <a:t>06/09/2024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198572-7396-BEBC-0D56-24BE2A95E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2279F2-BB85-6763-45F1-D73C041BD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C556A-F7E4-44BF-81F2-54EE2A478FB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3576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83E09-8249-AC15-7FC0-A0BAD598E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C329DF-266D-F8F8-A195-53A7576BBF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CFA6F2-3F6B-26F9-74E6-E4E35007E9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14BCDB-42E3-AB80-31A3-907D1B597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44561-F434-46E9-9D5F-467389065464}" type="datetimeFigureOut">
              <a:rPr lang="en-GB" smtClean="0"/>
              <a:t>06/09/2024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6EC699-83D3-6581-966B-8882D2158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550ABE-17BA-CEDA-390B-2BA6E004B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C556A-F7E4-44BF-81F2-54EE2A478FB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1917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1BF0F-4D20-22A7-227D-78B4DDCA7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010818-F611-B1A2-8A19-C3130A329F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543987-925F-B621-E68B-A3BED9350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44561-F434-46E9-9D5F-467389065464}" type="datetimeFigureOut">
              <a:rPr lang="en-GB" smtClean="0"/>
              <a:t>06/09/2024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52031D-ADF7-744B-5905-8C84ADA49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7D02BB-73AF-8339-0B3A-B736F5E38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C556A-F7E4-44BF-81F2-54EE2A478FB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90641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A4840D-0D28-B8EB-88E1-65CDAE3316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3A8637-D9F6-1719-1804-4B3705C901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A50F13-C53E-CA05-E313-C1579E84E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44561-F434-46E9-9D5F-467389065464}" type="datetimeFigureOut">
              <a:rPr lang="en-GB" smtClean="0"/>
              <a:t>06/09/2024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909B7E-626E-8018-4CBE-414FB0F1D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0D0C27-06BF-1AD4-3587-FD26F1D7B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C556A-F7E4-44BF-81F2-54EE2A478FB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44359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CF0DD-65FF-72E9-E04F-9DE0F4CC2A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766999-0343-422D-D688-74CCBE2D3C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485337-863F-9BE8-EB80-98CA0CAC7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44561-F434-46E9-9D5F-467389065464}" type="datetimeFigureOut">
              <a:rPr lang="en-GB" smtClean="0"/>
              <a:t>06/09/2024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CA44AC-190E-14C8-46C9-0569541C9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FB0A2F-E8CB-C3B8-E4C1-D8371DE56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C556A-F7E4-44BF-81F2-54EE2A478FB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54620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246E56-8908-0E6A-4E62-88CF6D359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D1896B-C040-3D2C-A619-0B877E3383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B1AC1E-960F-82DB-0E5A-2F328EAC2C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644561-F434-46E9-9D5F-467389065464}" type="datetimeFigureOut">
              <a:rPr lang="en-GB" smtClean="0"/>
              <a:t>06/09/2024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CFF5B2-21B1-9528-920D-DD4BF8C0BD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D16DDC-4E03-310B-1091-75EB5EDC36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AC556A-F7E4-44BF-81F2-54EE2A478FB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80058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8FF73-172F-E494-30C4-2C9EE13700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Linear models in 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677C44-EE3B-E77E-39A0-7B72EB6676B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With categorical explanatory variables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730874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aph with lines and numbers&#10;&#10;Description automatically generated">
            <a:extLst>
              <a:ext uri="{FF2B5EF4-FFF2-40B4-BE49-F238E27FC236}">
                <a16:creationId xmlns:a16="http://schemas.microsoft.com/office/drawing/2014/main" id="{D4E562DF-E19D-AA27-A97B-CE1EA3A779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67" y="2502580"/>
            <a:ext cx="3048387" cy="304838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6440908-F271-D9D2-C6A6-9C32BE5CE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r>
              <a:rPr lang="en-GB" dirty="0"/>
              <a:t>From theory to implementation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B55CAB6-8D98-94FE-A8CB-E3CF882C57D8}"/>
              </a:ext>
            </a:extLst>
          </p:cNvPr>
          <p:cNvCxnSpPr>
            <a:cxnSpLocks/>
          </p:cNvCxnSpPr>
          <p:nvPr/>
        </p:nvCxnSpPr>
        <p:spPr>
          <a:xfrm>
            <a:off x="3107154" y="4031236"/>
            <a:ext cx="1326623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Logo, icon&#10;&#10;Description automatically generated">
            <a:extLst>
              <a:ext uri="{FF2B5EF4-FFF2-40B4-BE49-F238E27FC236}">
                <a16:creationId xmlns:a16="http://schemas.microsoft.com/office/drawing/2014/main" id="{277CF8BA-7D4E-243E-743E-C4E23895036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-1939" r="71" b="-1154"/>
          <a:stretch/>
        </p:blipFill>
        <p:spPr>
          <a:xfrm>
            <a:off x="4433777" y="2946363"/>
            <a:ext cx="2713742" cy="2169745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73B64ED-7BF1-A16B-91BF-112C45F539B8}"/>
              </a:ext>
            </a:extLst>
          </p:cNvPr>
          <p:cNvCxnSpPr>
            <a:cxnSpLocks/>
          </p:cNvCxnSpPr>
          <p:nvPr/>
        </p:nvCxnSpPr>
        <p:spPr>
          <a:xfrm>
            <a:off x="7147519" y="3886971"/>
            <a:ext cx="1326623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A screen shot of a graph&#10;&#10;Description automatically generated">
            <a:extLst>
              <a:ext uri="{FF2B5EF4-FFF2-40B4-BE49-F238E27FC236}">
                <a16:creationId xmlns:a16="http://schemas.microsoft.com/office/drawing/2014/main" id="{7C63EFB6-915E-5B6A-EC50-261350DE775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4142" y="2243240"/>
            <a:ext cx="2991732" cy="3567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74162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F48D56-C588-6D75-D596-2198F460B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r>
              <a:rPr lang="en-GB" dirty="0"/>
              <a:t>The core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D55ED3-393D-9153-D3A9-E48DDBC000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26613"/>
            <a:ext cx="12192000" cy="5240194"/>
          </a:xfrm>
        </p:spPr>
        <p:txBody>
          <a:bodyPr/>
          <a:lstStyle/>
          <a:p>
            <a:r>
              <a:rPr lang="en-GB" dirty="0"/>
              <a:t>We continue using the same function from last week</a:t>
            </a:r>
          </a:p>
          <a:p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lm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GB" dirty="0">
                <a:cs typeface="Courier New" panose="02070309020205020404" pitchFamily="49" charset="0"/>
              </a:rPr>
              <a:t>We need to give the function specific information</a:t>
            </a:r>
          </a:p>
          <a:p>
            <a:pPr lvl="1"/>
            <a:r>
              <a:rPr lang="en-GB" dirty="0">
                <a:cs typeface="Courier New" panose="02070309020205020404" pitchFamily="49" charset="0"/>
              </a:rPr>
              <a:t>The dataset</a:t>
            </a:r>
          </a:p>
          <a:p>
            <a:pPr lvl="1"/>
            <a:r>
              <a:rPr lang="en-GB" dirty="0">
                <a:cs typeface="Courier New" panose="02070309020205020404" pitchFamily="49" charset="0"/>
              </a:rPr>
              <a:t>The model formula</a:t>
            </a:r>
          </a:p>
        </p:txBody>
      </p:sp>
    </p:spTree>
    <p:extLst>
      <p:ext uri="{BB962C8B-B14F-4D97-AF65-F5344CB8AC3E}">
        <p14:creationId xmlns:p14="http://schemas.microsoft.com/office/powerpoint/2010/main" val="10559298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2A708-887B-978E-586B-BD31D9463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Step 1: The data</a:t>
            </a:r>
          </a:p>
        </p:txBody>
      </p:sp>
    </p:spTree>
    <p:extLst>
      <p:ext uri="{BB962C8B-B14F-4D97-AF65-F5344CB8AC3E}">
        <p14:creationId xmlns:p14="http://schemas.microsoft.com/office/powerpoint/2010/main" val="13254864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75A36-5856-345F-A93E-E7FB9CF1F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Make sure your data is ready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2ADB15-81CB-A31D-5B02-4EB89751E7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We want the data in “tabular” form</a:t>
            </a:r>
          </a:p>
          <a:p>
            <a:r>
              <a:rPr lang="en-GB" dirty="0"/>
              <a:t>Where:</a:t>
            </a:r>
          </a:p>
          <a:p>
            <a:pPr lvl="1"/>
            <a:r>
              <a:rPr lang="en-GB" dirty="0"/>
              <a:t>each row is an observation</a:t>
            </a:r>
          </a:p>
          <a:p>
            <a:pPr lvl="1"/>
            <a:r>
              <a:rPr lang="en-GB" dirty="0"/>
              <a:t>each column is a variable</a:t>
            </a:r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16FAE826-2C0F-26A6-AE57-631ECE8DED9C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1399" b="1399"/>
          <a:stretch>
            <a:fillRect/>
          </a:stretch>
        </p:blipFill>
        <p:spPr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39107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2A708-887B-978E-586B-BD31D9463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Step 2: The formula</a:t>
            </a:r>
          </a:p>
        </p:txBody>
      </p:sp>
    </p:spTree>
    <p:extLst>
      <p:ext uri="{BB962C8B-B14F-4D97-AF65-F5344CB8AC3E}">
        <p14:creationId xmlns:p14="http://schemas.microsoft.com/office/powerpoint/2010/main" val="5964201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A733E-2252-9A81-00BA-121711970E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Model formula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8FBC78-C7ED-C5BE-6EEE-4994418561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We want to understand if average horn length is different in the two regions</a:t>
            </a:r>
          </a:p>
          <a:p>
            <a:pPr lvl="1"/>
            <a:r>
              <a:rPr lang="en-GB" dirty="0"/>
              <a:t>Response variable = horn length</a:t>
            </a:r>
          </a:p>
          <a:p>
            <a:pPr lvl="1"/>
            <a:r>
              <a:rPr lang="en-GB" dirty="0"/>
              <a:t>Explanatory variable = region</a:t>
            </a:r>
          </a:p>
          <a:p>
            <a:r>
              <a:rPr lang="en-GB" dirty="0"/>
              <a:t>To convey this to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lm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GB" dirty="0"/>
              <a:t>:</a:t>
            </a:r>
          </a:p>
          <a:p>
            <a:pPr lvl="1"/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horn ~ region</a:t>
            </a:r>
          </a:p>
          <a:p>
            <a:pPr lvl="1"/>
            <a:r>
              <a:rPr lang="en-GB" dirty="0"/>
              <a:t>In English: “Horn length as a function of region”</a:t>
            </a:r>
          </a:p>
          <a:p>
            <a:pPr lvl="1"/>
            <a:r>
              <a:rPr lang="en-GB" dirty="0"/>
              <a:t>In actual English: “Horn length is different in the two regions”</a:t>
            </a:r>
          </a:p>
        </p:txBody>
      </p:sp>
      <p:pic>
        <p:nvPicPr>
          <p:cNvPr id="12" name="Picture Placeholder 11" descr="A person with a ram lying in the snow&#10;&#10;Description automatically generated">
            <a:extLst>
              <a:ext uri="{FF2B5EF4-FFF2-40B4-BE49-F238E27FC236}">
                <a16:creationId xmlns:a16="http://schemas.microsoft.com/office/drawing/2014/main" id="{C04E6F11-BD2B-9699-76E4-9708802DD89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131" r="3173"/>
          <a:stretch/>
        </p:blipFill>
        <p:spPr>
          <a:xfrm>
            <a:off x="6359525" y="0"/>
            <a:ext cx="5832475" cy="6858000"/>
          </a:xfrm>
        </p:spPr>
      </p:pic>
    </p:spTree>
    <p:extLst>
      <p:ext uri="{BB962C8B-B14F-4D97-AF65-F5344CB8AC3E}">
        <p14:creationId xmlns:p14="http://schemas.microsoft.com/office/powerpoint/2010/main" val="38544061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EF204-3D87-6068-E5F5-29F97B450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Running the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4D3BB6-5A91-E7D4-D799-6B659D7ACEB7}"/>
              </a:ext>
            </a:extLst>
          </p:cNvPr>
          <p:cNvSpPr txBox="1">
            <a:spLocks/>
          </p:cNvSpPr>
          <p:nvPr/>
        </p:nvSpPr>
        <p:spPr>
          <a:xfrm>
            <a:off x="2934585" y="3115339"/>
            <a:ext cx="7783033" cy="355146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shp_model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lm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(horn ~ region,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data =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shp_data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FB47B95E-C2B3-6D0D-E8B7-D63494B659E3}"/>
              </a:ext>
            </a:extLst>
          </p:cNvPr>
          <p:cNvGrpSpPr/>
          <p:nvPr/>
        </p:nvGrpSpPr>
        <p:grpSpPr>
          <a:xfrm>
            <a:off x="435564" y="2972728"/>
            <a:ext cx="4517436" cy="715089"/>
            <a:chOff x="435564" y="2972728"/>
            <a:chExt cx="4517436" cy="71508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3F45767-DE66-6481-4951-0EC8DDC5087E}"/>
                </a:ext>
              </a:extLst>
            </p:cNvPr>
            <p:cNvSpPr/>
            <p:nvPr/>
          </p:nvSpPr>
          <p:spPr>
            <a:xfrm>
              <a:off x="3000375" y="3135965"/>
              <a:ext cx="1952625" cy="400191"/>
            </a:xfrm>
            <a:prstGeom prst="rect">
              <a:avLst/>
            </a:prstGeom>
            <a:noFill/>
            <a:ln w="28575"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8DB8977-4C5D-F6AC-1DC2-54A62A7169D8}"/>
                </a:ext>
              </a:extLst>
            </p:cNvPr>
            <p:cNvSpPr txBox="1"/>
            <p:nvPr/>
          </p:nvSpPr>
          <p:spPr>
            <a:xfrm>
              <a:off x="435564" y="2972728"/>
              <a:ext cx="2355833" cy="715089"/>
            </a:xfrm>
            <a:prstGeom prst="roundRect">
              <a:avLst/>
            </a:prstGeom>
            <a:noFill/>
            <a:ln w="28575">
              <a:solidFill>
                <a:srgbClr val="FFFF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dirty="0"/>
                <a:t>Call the stored </a:t>
              </a:r>
              <a:br>
                <a:rPr lang="en-GB" dirty="0"/>
              </a:br>
              <a:r>
                <a:rPr lang="en-GB" dirty="0"/>
                <a:t>output “</a:t>
              </a:r>
              <a:r>
                <a:rPr lang="en-GB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shp_model</a:t>
              </a:r>
              <a:r>
                <a:rPr lang="en-GB" dirty="0"/>
                <a:t>”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9613530B-DBB5-25A4-E218-C712E740F571}"/>
                </a:ext>
              </a:extLst>
            </p:cNvPr>
            <p:cNvCxnSpPr>
              <a:stCxn id="15" idx="3"/>
              <a:endCxn id="4" idx="1"/>
            </p:cNvCxnSpPr>
            <p:nvPr/>
          </p:nvCxnSpPr>
          <p:spPr>
            <a:xfrm>
              <a:off x="2791397" y="3330273"/>
              <a:ext cx="208978" cy="5788"/>
            </a:xfrm>
            <a:prstGeom prst="straightConnector1">
              <a:avLst/>
            </a:prstGeom>
            <a:ln w="28575"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EA8BC786-871A-F58F-6E36-8A30D2B81E4E}"/>
              </a:ext>
            </a:extLst>
          </p:cNvPr>
          <p:cNvGrpSpPr/>
          <p:nvPr/>
        </p:nvGrpSpPr>
        <p:grpSpPr>
          <a:xfrm>
            <a:off x="4383057" y="3139151"/>
            <a:ext cx="1970942" cy="1374458"/>
            <a:chOff x="4383057" y="3139151"/>
            <a:chExt cx="1970942" cy="1374458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773E8CB-EEE8-1306-D134-25328B2307D7}"/>
                </a:ext>
              </a:extLst>
            </p:cNvPr>
            <p:cNvSpPr/>
            <p:nvPr/>
          </p:nvSpPr>
          <p:spPr>
            <a:xfrm>
              <a:off x="5126831" y="3139151"/>
              <a:ext cx="483394" cy="397668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934D671-A696-1A25-ABA6-B66D94514F72}"/>
                </a:ext>
              </a:extLst>
            </p:cNvPr>
            <p:cNvSpPr txBox="1"/>
            <p:nvPr/>
          </p:nvSpPr>
          <p:spPr>
            <a:xfrm>
              <a:off x="4383057" y="4104986"/>
              <a:ext cx="1970942" cy="408623"/>
            </a:xfrm>
            <a:prstGeom prst="roundRect">
              <a:avLst/>
            </a:prstGeom>
            <a:noFill/>
            <a:ln w="28575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dirty="0"/>
                <a:t>Store the results</a:t>
              </a: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1F0B7280-55AB-2488-DE6B-01B0336EF992}"/>
                </a:ext>
              </a:extLst>
            </p:cNvPr>
            <p:cNvCxnSpPr>
              <a:cxnSpLocks/>
              <a:stCxn id="14" idx="0"/>
              <a:endCxn id="10" idx="2"/>
            </p:cNvCxnSpPr>
            <p:nvPr/>
          </p:nvCxnSpPr>
          <p:spPr>
            <a:xfrm flipV="1">
              <a:off x="5368528" y="3536819"/>
              <a:ext cx="0" cy="56816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B7622B27-78BF-B480-8F10-80E0A892A560}"/>
              </a:ext>
            </a:extLst>
          </p:cNvPr>
          <p:cNvGrpSpPr/>
          <p:nvPr/>
        </p:nvGrpSpPr>
        <p:grpSpPr>
          <a:xfrm>
            <a:off x="4958285" y="2058995"/>
            <a:ext cx="4807221" cy="2026490"/>
            <a:chOff x="4958285" y="2058995"/>
            <a:chExt cx="4807221" cy="202649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42A3B13-9C91-54B8-94D5-0ACBA29AF8A0}"/>
                </a:ext>
              </a:extLst>
            </p:cNvPr>
            <p:cNvSpPr/>
            <p:nvPr/>
          </p:nvSpPr>
          <p:spPr>
            <a:xfrm>
              <a:off x="5684706" y="3138489"/>
              <a:ext cx="706570" cy="397668"/>
            </a:xfrm>
            <a:prstGeom prst="rect">
              <a:avLst/>
            </a:prstGeom>
            <a:noFill/>
            <a:ln w="28575"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CDBA0A6-5790-F897-8009-3001E1634041}"/>
                </a:ext>
              </a:extLst>
            </p:cNvPr>
            <p:cNvSpPr/>
            <p:nvPr/>
          </p:nvSpPr>
          <p:spPr>
            <a:xfrm>
              <a:off x="9639299" y="3687817"/>
              <a:ext cx="126207" cy="397668"/>
            </a:xfrm>
            <a:prstGeom prst="rect">
              <a:avLst/>
            </a:prstGeom>
            <a:noFill/>
            <a:ln w="28575"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77AD1CE-3F3F-24E3-FCF2-EC442B870D25}"/>
                </a:ext>
              </a:extLst>
            </p:cNvPr>
            <p:cNvSpPr txBox="1"/>
            <p:nvPr/>
          </p:nvSpPr>
          <p:spPr>
            <a:xfrm>
              <a:off x="4958285" y="2058995"/>
              <a:ext cx="2159411" cy="408623"/>
            </a:xfrm>
            <a:prstGeom prst="roundRect">
              <a:avLst/>
            </a:prstGeom>
            <a:noFill/>
            <a:ln w="28575">
              <a:solidFill>
                <a:srgbClr val="00B0F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dirty="0"/>
                <a:t>Run a linear model</a:t>
              </a:r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C12FB7C7-981D-88F0-7855-C93DE4B669F7}"/>
                </a:ext>
              </a:extLst>
            </p:cNvPr>
            <p:cNvCxnSpPr>
              <a:cxnSpLocks/>
              <a:stCxn id="11" idx="2"/>
              <a:endCxn id="5" idx="0"/>
            </p:cNvCxnSpPr>
            <p:nvPr/>
          </p:nvCxnSpPr>
          <p:spPr>
            <a:xfrm>
              <a:off x="6037991" y="2467618"/>
              <a:ext cx="0" cy="670871"/>
            </a:xfrm>
            <a:prstGeom prst="straightConnector1">
              <a:avLst/>
            </a:prstGeom>
            <a:ln w="28575">
              <a:solidFill>
                <a:srgbClr val="00B0F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DB78C766-CAAD-17D3-B2CB-13655975AD0A}"/>
              </a:ext>
            </a:extLst>
          </p:cNvPr>
          <p:cNvGrpSpPr/>
          <p:nvPr/>
        </p:nvGrpSpPr>
        <p:grpSpPr>
          <a:xfrm>
            <a:off x="6424614" y="1445920"/>
            <a:ext cx="5443691" cy="2090236"/>
            <a:chOff x="6424614" y="1445920"/>
            <a:chExt cx="5443691" cy="2090236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C2A2DCA-487B-06A6-2A29-C308F423F4FA}"/>
                </a:ext>
              </a:extLst>
            </p:cNvPr>
            <p:cNvSpPr/>
            <p:nvPr/>
          </p:nvSpPr>
          <p:spPr>
            <a:xfrm>
              <a:off x="6424614" y="3138488"/>
              <a:ext cx="2767010" cy="397668"/>
            </a:xfrm>
            <a:prstGeom prst="rect">
              <a:avLst/>
            </a:prstGeom>
            <a:noFill/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9B3F493-B338-4121-4DF2-1498D7EFC6B3}"/>
                </a:ext>
              </a:extLst>
            </p:cNvPr>
            <p:cNvSpPr txBox="1"/>
            <p:nvPr/>
          </p:nvSpPr>
          <p:spPr>
            <a:xfrm>
              <a:off x="8430392" y="1445920"/>
              <a:ext cx="3437913" cy="1021556"/>
            </a:xfrm>
            <a:prstGeom prst="roundRect">
              <a:avLst/>
            </a:prstGeom>
            <a:noFill/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dirty="0"/>
                <a:t>We ask the model to find the </a:t>
              </a:r>
              <a:br>
                <a:rPr lang="en-GB" dirty="0"/>
              </a:br>
              <a:r>
                <a:rPr lang="en-GB" dirty="0"/>
                <a:t>average horn length in the two</a:t>
              </a:r>
              <a:br>
                <a:rPr lang="en-GB" dirty="0"/>
              </a:br>
              <a:r>
                <a:rPr lang="en-GB" dirty="0"/>
                <a:t>regions</a:t>
              </a:r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F977033C-B73C-C5C8-2911-B3A7EF163213}"/>
                </a:ext>
              </a:extLst>
            </p:cNvPr>
            <p:cNvCxnSpPr>
              <a:cxnSpLocks/>
              <a:stCxn id="12" idx="1"/>
              <a:endCxn id="7" idx="0"/>
            </p:cNvCxnSpPr>
            <p:nvPr/>
          </p:nvCxnSpPr>
          <p:spPr>
            <a:xfrm flipH="1">
              <a:off x="7808119" y="1956698"/>
              <a:ext cx="622273" cy="1181790"/>
            </a:xfrm>
            <a:prstGeom prst="straightConnector1">
              <a:avLst/>
            </a:prstGeom>
            <a:ln w="28575">
              <a:solidFill>
                <a:schemeClr val="accent6">
                  <a:lumMod val="60000"/>
                  <a:lumOff val="4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CC715CFE-F8DB-DD62-BAA2-4BA8527F8FAF}"/>
              </a:ext>
            </a:extLst>
          </p:cNvPr>
          <p:cNvGrpSpPr/>
          <p:nvPr/>
        </p:nvGrpSpPr>
        <p:grpSpPr>
          <a:xfrm>
            <a:off x="6424613" y="3687958"/>
            <a:ext cx="4293005" cy="1343099"/>
            <a:chOff x="6424613" y="3687958"/>
            <a:chExt cx="4293005" cy="134309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726EDB8-9B77-D55D-0600-02BE84636E1B}"/>
                </a:ext>
              </a:extLst>
            </p:cNvPr>
            <p:cNvSpPr/>
            <p:nvPr/>
          </p:nvSpPr>
          <p:spPr>
            <a:xfrm>
              <a:off x="6424613" y="3687958"/>
              <a:ext cx="3183143" cy="397668"/>
            </a:xfrm>
            <a:prstGeom prst="rect">
              <a:avLst/>
            </a:prstGeom>
            <a:noFill/>
            <a:ln w="28575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AEBADD3-9200-5577-9959-66590EBCF412}"/>
                </a:ext>
              </a:extLst>
            </p:cNvPr>
            <p:cNvSpPr txBox="1"/>
            <p:nvPr/>
          </p:nvSpPr>
          <p:spPr>
            <a:xfrm>
              <a:off x="7577392" y="4622434"/>
              <a:ext cx="3140226" cy="408623"/>
            </a:xfrm>
            <a:prstGeom prst="roundRect">
              <a:avLst/>
            </a:prstGeom>
            <a:noFill/>
            <a:ln w="28575">
              <a:solidFill>
                <a:schemeClr val="accent5">
                  <a:lumMod val="60000"/>
                  <a:lumOff val="40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dirty="0"/>
                <a:t>Use the “</a:t>
              </a:r>
              <a:r>
                <a:rPr lang="en-GB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shp_data</a:t>
              </a:r>
              <a:r>
                <a:rPr lang="en-GB" dirty="0"/>
                <a:t>” dataset</a:t>
              </a:r>
            </a:p>
          </p:txBody>
        </p: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92F18FA8-4D1C-1DA5-D8F5-8E6734745AB7}"/>
                </a:ext>
              </a:extLst>
            </p:cNvPr>
            <p:cNvCxnSpPr>
              <a:cxnSpLocks/>
              <a:stCxn id="13" idx="0"/>
              <a:endCxn id="8" idx="2"/>
            </p:cNvCxnSpPr>
            <p:nvPr/>
          </p:nvCxnSpPr>
          <p:spPr>
            <a:xfrm flipH="1" flipV="1">
              <a:off x="8016185" y="4085626"/>
              <a:ext cx="1131320" cy="536808"/>
            </a:xfrm>
            <a:prstGeom prst="straightConnector1">
              <a:avLst/>
            </a:prstGeom>
            <a:ln w="28575">
              <a:solidFill>
                <a:schemeClr val="accent5">
                  <a:lumMod val="60000"/>
                  <a:lumOff val="4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3843B668-28DC-C523-AF01-E897BDD376B7}"/>
              </a:ext>
            </a:extLst>
          </p:cNvPr>
          <p:cNvGrpSpPr/>
          <p:nvPr/>
        </p:nvGrpSpPr>
        <p:grpSpPr>
          <a:xfrm>
            <a:off x="9220292" y="2986685"/>
            <a:ext cx="2844943" cy="715089"/>
            <a:chOff x="9220292" y="2986685"/>
            <a:chExt cx="2844943" cy="715089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68F1E3F-B265-4AC5-F108-9F328C783D5C}"/>
                </a:ext>
              </a:extLst>
            </p:cNvPr>
            <p:cNvSpPr/>
            <p:nvPr/>
          </p:nvSpPr>
          <p:spPr>
            <a:xfrm>
              <a:off x="9220292" y="3135965"/>
              <a:ext cx="128587" cy="400191"/>
            </a:xfrm>
            <a:prstGeom prst="rect">
              <a:avLst/>
            </a:prstGeom>
            <a:noFill/>
            <a:ln w="2857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1F4EC050-2162-5D68-3DF6-F269278E3351}"/>
                </a:ext>
              </a:extLst>
            </p:cNvPr>
            <p:cNvSpPr txBox="1"/>
            <p:nvPr/>
          </p:nvSpPr>
          <p:spPr>
            <a:xfrm>
              <a:off x="10323296" y="2986685"/>
              <a:ext cx="1741939" cy="715089"/>
            </a:xfrm>
            <a:prstGeom prst="roundRect">
              <a:avLst/>
            </a:prstGeom>
            <a:noFill/>
            <a:ln w="28575">
              <a:solidFill>
                <a:schemeClr val="accent2">
                  <a:lumMod val="60000"/>
                  <a:lumOff val="40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dirty="0"/>
                <a:t>There is more </a:t>
              </a:r>
              <a:br>
                <a:rPr lang="en-GB" dirty="0"/>
              </a:br>
              <a:r>
                <a:rPr lang="en-GB" dirty="0"/>
                <a:t>information</a:t>
              </a:r>
            </a:p>
          </p:txBody>
        </p: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FC695008-1229-B66E-CA38-1ED1DCA555D8}"/>
                </a:ext>
              </a:extLst>
            </p:cNvPr>
            <p:cNvCxnSpPr>
              <a:cxnSpLocks/>
              <a:stCxn id="35" idx="1"/>
              <a:endCxn id="9" idx="3"/>
            </p:cNvCxnSpPr>
            <p:nvPr/>
          </p:nvCxnSpPr>
          <p:spPr>
            <a:xfrm flipH="1" flipV="1">
              <a:off x="9348879" y="3336061"/>
              <a:ext cx="974417" cy="8169"/>
            </a:xfrm>
            <a:prstGeom prst="straightConnector1">
              <a:avLst/>
            </a:prstGeom>
            <a:ln w="28575">
              <a:solidFill>
                <a:schemeClr val="accent2">
                  <a:lumMod val="60000"/>
                  <a:lumOff val="4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594238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2A708-887B-978E-586B-BD31D9463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Step 3: Interpret results</a:t>
            </a:r>
          </a:p>
        </p:txBody>
      </p:sp>
    </p:spTree>
    <p:extLst>
      <p:ext uri="{BB962C8B-B14F-4D97-AF65-F5344CB8AC3E}">
        <p14:creationId xmlns:p14="http://schemas.microsoft.com/office/powerpoint/2010/main" val="34879430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DB6EF-C833-EAE2-3F20-7F9E27BB0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Now what?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A30A3A0-A633-94C4-09EF-7008FD3E5FB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We don’t do stats for the sake of it</a:t>
                </a:r>
              </a:p>
              <a:p>
                <a:r>
                  <a:rPr lang="en-GB" dirty="0"/>
                  <a:t>We’re trying to learn</a:t>
                </a:r>
              </a:p>
              <a:p>
                <a:r>
                  <a:rPr lang="en-GB" dirty="0"/>
                  <a:t>Our current model has two parameters we want to learn</a:t>
                </a:r>
              </a:p>
              <a:p>
                <a:pPr lvl="1"/>
                <a:r>
                  <a:rPr lang="en-GB" dirty="0"/>
                  <a:t>Intercept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dirty="0"/>
                  <a:t>)</a:t>
                </a:r>
              </a:p>
              <a:p>
                <a:pPr lvl="1"/>
                <a:r>
                  <a:rPr lang="en-GB" dirty="0"/>
                  <a:t>Difference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dirty="0"/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dirty="0"/>
                  <a:t>)</a:t>
                </a:r>
              </a:p>
              <a:p>
                <a:r>
                  <a:rPr lang="en-GB" dirty="0"/>
                  <a:t>How do we get that information?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A30A3A0-A633-94C4-09EF-7008FD3E5F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Placeholder 11" descr="A person with a ram lying in the snow&#10;&#10;Description automatically generated">
            <a:extLst>
              <a:ext uri="{FF2B5EF4-FFF2-40B4-BE49-F238E27FC236}">
                <a16:creationId xmlns:a16="http://schemas.microsoft.com/office/drawing/2014/main" id="{CDC5D5A6-648E-B76E-4449-BD29DDD1902C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82" r="9623"/>
          <a:stretch/>
        </p:blipFill>
        <p:spPr>
          <a:xfrm>
            <a:off x="6359525" y="0"/>
            <a:ext cx="5832475" cy="6858000"/>
          </a:xfrm>
        </p:spPr>
      </p:pic>
    </p:spTree>
    <p:extLst>
      <p:ext uri="{BB962C8B-B14F-4D97-AF65-F5344CB8AC3E}">
        <p14:creationId xmlns:p14="http://schemas.microsoft.com/office/powerpoint/2010/main" val="37743602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FB58F9-03AC-76F4-8850-FAC9D33CBFD4}"/>
              </a:ext>
            </a:extLst>
          </p:cNvPr>
          <p:cNvSpPr txBox="1">
            <a:spLocks/>
          </p:cNvSpPr>
          <p:nvPr/>
        </p:nvSpPr>
        <p:spPr>
          <a:xfrm>
            <a:off x="0" y="1690688"/>
            <a:ext cx="9718158" cy="448713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Call: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lm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(formula = horn ~ region, data = </a:t>
            </a:r>
            <a:r>
              <a:rPr lang="en-GB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None/>
            </a:pPr>
            <a:endParaRPr lang="en-GB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Residuals: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Min     1Q Median     3Q    Max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-46.09 -10.69  -2.81  11.82  44.28 </a:t>
            </a:r>
          </a:p>
          <a:p>
            <a:pPr marL="0" indent="0">
              <a:spcBef>
                <a:spcPts val="0"/>
              </a:spcBef>
              <a:buNone/>
            </a:pPr>
            <a:endParaRPr lang="en-GB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Coefficients: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Estimate Std. Error t value </a:t>
            </a:r>
            <a:r>
              <a:rPr lang="en-GB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(&gt;|t|)   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(Intercept)   322.462      3.383  95.326   &lt;2e-16 ***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regionSkeena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8.933      4.784   1.867   0.0671 . 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---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Signif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. codes:  0 ‘***’ 0.001 ‘**’ 0.01 ‘*’ 0.05 ‘.’ 0.1 ‘ ’ 1</a:t>
            </a:r>
          </a:p>
          <a:p>
            <a:pPr marL="0" indent="0">
              <a:spcBef>
                <a:spcPts val="0"/>
              </a:spcBef>
              <a:buNone/>
            </a:pPr>
            <a:endParaRPr lang="en-GB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Residual standard error: 18.22 on 56 degrees of freedom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Multiple R-squared:  0.05862,	Adjusted R-squared:  0.04181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F-statistic: 3.487 on 1 and 56 DF,  p-value: 0.06709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EFE92F1-2DDA-BB4B-D155-F89866C97477}"/>
              </a:ext>
            </a:extLst>
          </p:cNvPr>
          <p:cNvSpPr/>
          <p:nvPr/>
        </p:nvSpPr>
        <p:spPr>
          <a:xfrm>
            <a:off x="63793" y="3385056"/>
            <a:ext cx="4453123" cy="1142146"/>
          </a:xfrm>
          <a:prstGeom prst="rect">
            <a:avLst/>
          </a:prstGeom>
          <a:solidFill>
            <a:srgbClr val="000000">
              <a:alpha val="5607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B64A3B-757B-79EB-284A-42ED736B5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summary(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shp_model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GB" dirty="0"/>
              <a:t>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B3F2EA63-4357-CF65-69D1-DB9AD2260DA1}"/>
              </a:ext>
            </a:extLst>
          </p:cNvPr>
          <p:cNvGrpSpPr/>
          <p:nvPr/>
        </p:nvGrpSpPr>
        <p:grpSpPr>
          <a:xfrm>
            <a:off x="85060" y="1690688"/>
            <a:ext cx="8763471" cy="585787"/>
            <a:chOff x="85060" y="1690688"/>
            <a:chExt cx="8763471" cy="585787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443C4C1-378E-CC60-997B-4C89FE8F567E}"/>
                </a:ext>
              </a:extLst>
            </p:cNvPr>
            <p:cNvSpPr/>
            <p:nvPr/>
          </p:nvSpPr>
          <p:spPr>
            <a:xfrm>
              <a:off x="85060" y="1690688"/>
              <a:ext cx="6230680" cy="585787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E8A51F5-E2D8-4561-72C5-7FC28BB8DE42}"/>
                </a:ext>
              </a:extLst>
            </p:cNvPr>
            <p:cNvSpPr txBox="1"/>
            <p:nvPr/>
          </p:nvSpPr>
          <p:spPr>
            <a:xfrm>
              <a:off x="6632473" y="1810613"/>
              <a:ext cx="2216058" cy="408623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dirty="0"/>
                <a:t>Which model this is</a:t>
              </a:r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3301DE62-6AE4-FE13-EDCC-A35629387A49}"/>
                </a:ext>
              </a:extLst>
            </p:cNvPr>
            <p:cNvCxnSpPr>
              <a:endCxn id="6" idx="1"/>
            </p:cNvCxnSpPr>
            <p:nvPr/>
          </p:nvCxnSpPr>
          <p:spPr>
            <a:xfrm>
              <a:off x="6337005" y="2014924"/>
              <a:ext cx="295468" cy="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A68807D1-3EF3-403E-6853-9222F45624F3}"/>
              </a:ext>
            </a:extLst>
          </p:cNvPr>
          <p:cNvGrpSpPr/>
          <p:nvPr/>
        </p:nvGrpSpPr>
        <p:grpSpPr>
          <a:xfrm>
            <a:off x="85060" y="2480786"/>
            <a:ext cx="9978970" cy="772777"/>
            <a:chOff x="85060" y="1690688"/>
            <a:chExt cx="9978970" cy="772777"/>
          </a:xfrm>
          <a:solidFill>
            <a:srgbClr val="000000">
              <a:alpha val="56078"/>
            </a:srgbClr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7A5335F-4E2A-21EE-02E1-90A2AF5182DC}"/>
                </a:ext>
              </a:extLst>
            </p:cNvPr>
            <p:cNvSpPr/>
            <p:nvPr/>
          </p:nvSpPr>
          <p:spPr>
            <a:xfrm>
              <a:off x="85060" y="1690688"/>
              <a:ext cx="6230680" cy="772777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C69914A-0B9D-6FB0-3072-47DF60470833}"/>
                </a:ext>
              </a:extLst>
            </p:cNvPr>
            <p:cNvSpPr txBox="1"/>
            <p:nvPr/>
          </p:nvSpPr>
          <p:spPr>
            <a:xfrm>
              <a:off x="6632473" y="1885044"/>
              <a:ext cx="3431557" cy="408623"/>
            </a:xfrm>
            <a:prstGeom prst="roundRect">
              <a:avLst/>
            </a:prstGeom>
            <a:grp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dirty="0"/>
                <a:t>Simple description of residuals</a:t>
              </a: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4A282903-36C9-4505-42C0-16BF734A2305}"/>
                </a:ext>
              </a:extLst>
            </p:cNvPr>
            <p:cNvCxnSpPr>
              <a:cxnSpLocks/>
              <a:endCxn id="12" idx="1"/>
            </p:cNvCxnSpPr>
            <p:nvPr/>
          </p:nvCxnSpPr>
          <p:spPr>
            <a:xfrm>
              <a:off x="6337005" y="2089355"/>
              <a:ext cx="295468" cy="1"/>
            </a:xfrm>
            <a:prstGeom prst="lin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F0A48A2-91C0-852C-FDBB-8D7381BF5CCD}"/>
              </a:ext>
            </a:extLst>
          </p:cNvPr>
          <p:cNvGrpSpPr/>
          <p:nvPr/>
        </p:nvGrpSpPr>
        <p:grpSpPr>
          <a:xfrm>
            <a:off x="42530" y="3709469"/>
            <a:ext cx="8729330" cy="2361722"/>
            <a:chOff x="42530" y="3709469"/>
            <a:chExt cx="8729330" cy="2361722"/>
          </a:xfrm>
          <a:solidFill>
            <a:srgbClr val="000000">
              <a:alpha val="56078"/>
            </a:srgbClr>
          </a:solidFill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009D76C-1153-F7D7-209D-0EDC7612E0C4}"/>
                </a:ext>
              </a:extLst>
            </p:cNvPr>
            <p:cNvSpPr/>
            <p:nvPr/>
          </p:nvSpPr>
          <p:spPr>
            <a:xfrm>
              <a:off x="4549886" y="3709469"/>
              <a:ext cx="2892056" cy="86965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6A754680-3831-C6A6-BA95-241F5C05BC6C}"/>
                </a:ext>
              </a:extLst>
            </p:cNvPr>
            <p:cNvSpPr/>
            <p:nvPr/>
          </p:nvSpPr>
          <p:spPr>
            <a:xfrm>
              <a:off x="42530" y="4527202"/>
              <a:ext cx="8729330" cy="154398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E34AD86F-B29D-330F-FB41-AD470FB0954A}"/>
              </a:ext>
            </a:extLst>
          </p:cNvPr>
          <p:cNvSpPr/>
          <p:nvPr/>
        </p:nvSpPr>
        <p:spPr>
          <a:xfrm>
            <a:off x="-35357" y="2412043"/>
            <a:ext cx="6436157" cy="1031302"/>
          </a:xfrm>
          <a:prstGeom prst="rect">
            <a:avLst/>
          </a:prstGeom>
          <a:solidFill>
            <a:srgbClr val="000000">
              <a:alpha val="5607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497D50A-BC4D-0D9C-85A0-DC6933BF299E}"/>
              </a:ext>
            </a:extLst>
          </p:cNvPr>
          <p:cNvGrpSpPr/>
          <p:nvPr/>
        </p:nvGrpSpPr>
        <p:grpSpPr>
          <a:xfrm>
            <a:off x="85060" y="3415216"/>
            <a:ext cx="11621238" cy="1057976"/>
            <a:chOff x="85060" y="1690689"/>
            <a:chExt cx="11621238" cy="1057976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715CFE5-0DA9-3ABE-0078-E4A03A03EEF2}"/>
                </a:ext>
              </a:extLst>
            </p:cNvPr>
            <p:cNvSpPr/>
            <p:nvPr/>
          </p:nvSpPr>
          <p:spPr>
            <a:xfrm>
              <a:off x="85060" y="1690689"/>
              <a:ext cx="4431856" cy="1057976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26A3AF4-0E40-B85A-D7DB-34891D8363ED}"/>
                </a:ext>
              </a:extLst>
            </p:cNvPr>
            <p:cNvSpPr txBox="1"/>
            <p:nvPr/>
          </p:nvSpPr>
          <p:spPr>
            <a:xfrm>
              <a:off x="6632473" y="1704287"/>
              <a:ext cx="5073825" cy="408623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dirty="0"/>
                <a:t>The biologically important parameter estimates</a:t>
              </a:r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D47E9AC0-E545-DE77-13C1-A700DD2CA187}"/>
                </a:ext>
              </a:extLst>
            </p:cNvPr>
            <p:cNvCxnSpPr>
              <a:cxnSpLocks/>
              <a:endCxn id="17" idx="1"/>
            </p:cNvCxnSpPr>
            <p:nvPr/>
          </p:nvCxnSpPr>
          <p:spPr>
            <a:xfrm>
              <a:off x="4516916" y="1908599"/>
              <a:ext cx="211555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335363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 animBg="1"/>
      <p:bldP spid="7" grpId="1" animBg="1"/>
      <p:bldP spid="4" grpId="0" animBg="1"/>
      <p:bldP spid="4" grpId="1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2F6CF-09DA-FC41-19CD-BC863B3A2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Done?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17DC91-1B72-1C74-1747-B82E4DA63492}"/>
              </a:ext>
            </a:extLst>
          </p:cNvPr>
          <p:cNvSpPr txBox="1">
            <a:spLocks/>
          </p:cNvSpPr>
          <p:nvPr/>
        </p:nvSpPr>
        <p:spPr>
          <a:xfrm>
            <a:off x="1327213" y="2719891"/>
            <a:ext cx="10623361" cy="448713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s-ES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 				</a:t>
            </a:r>
            <a:r>
              <a:rPr lang="es-ES" sz="3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Estimate</a:t>
            </a:r>
            <a:r>
              <a:rPr lang="es-ES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sz="3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s-ES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. Error</a:t>
            </a:r>
          </a:p>
          <a:p>
            <a:pPr marL="0" indent="0">
              <a:spcBef>
                <a:spcPts val="0"/>
              </a:spcBef>
              <a:buNone/>
            </a:pPr>
            <a:r>
              <a:rPr lang="es-ES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ES" sz="3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Intercept</a:t>
            </a:r>
            <a:r>
              <a:rPr lang="es-ES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)   322.462      3.383</a:t>
            </a:r>
          </a:p>
          <a:p>
            <a:pPr marL="0" indent="0">
              <a:spcBef>
                <a:spcPts val="0"/>
              </a:spcBef>
              <a:buNone/>
            </a:pPr>
            <a:r>
              <a:rPr lang="es-ES" sz="3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regionSkeena</a:t>
            </a:r>
            <a:r>
              <a:rPr lang="es-ES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    8.933      4.784</a:t>
            </a:r>
            <a:endParaRPr lang="en-GB" sz="3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2710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2A708-887B-978E-586B-BD31D9463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Step 4: Plot results</a:t>
            </a:r>
          </a:p>
        </p:txBody>
      </p:sp>
    </p:spTree>
    <p:extLst>
      <p:ext uri="{BB962C8B-B14F-4D97-AF65-F5344CB8AC3E}">
        <p14:creationId xmlns:p14="http://schemas.microsoft.com/office/powerpoint/2010/main" val="28516098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1976C-3370-2671-E7A1-A01DFA2A6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Our objective to make the figure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119D797-74F1-F896-7FB2-48D2E4C13655}"/>
                  </a:ext>
                </a:extLst>
              </p:cNvPr>
              <p:cNvSpPr txBox="1"/>
              <p:nvPr/>
            </p:nvSpPr>
            <p:spPr>
              <a:xfrm>
                <a:off x="2472538" y="2546476"/>
                <a:ext cx="7705725" cy="10156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6000" b="0" i="1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GB" sz="6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6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60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6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sz="6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6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60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6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6000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sz="6000" b="0" i="1" smtClean="0">
                          <a:latin typeface="Cambria Math" panose="02040503050406030204" pitchFamily="18" charset="0"/>
                        </a:rPr>
                        <m:t>𝑆𝑘𝑒𝑒𝑛𝑎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119D797-74F1-F896-7FB2-48D2E4C136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2538" y="2546476"/>
                <a:ext cx="7705725" cy="1015663"/>
              </a:xfrm>
              <a:prstGeom prst="rect">
                <a:avLst/>
              </a:prstGeom>
              <a:blipFill>
                <a:blip r:embed="rId2"/>
                <a:stretch>
                  <a:fillRect t="-19880" r="-5301" b="-391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Group 16">
            <a:extLst>
              <a:ext uri="{FF2B5EF4-FFF2-40B4-BE49-F238E27FC236}">
                <a16:creationId xmlns:a16="http://schemas.microsoft.com/office/drawing/2014/main" id="{1C346456-7489-72E7-4B3E-7F9AD082BAE7}"/>
              </a:ext>
            </a:extLst>
          </p:cNvPr>
          <p:cNvGrpSpPr/>
          <p:nvPr/>
        </p:nvGrpSpPr>
        <p:grpSpPr>
          <a:xfrm>
            <a:off x="4129910" y="2773033"/>
            <a:ext cx="2410619" cy="746700"/>
            <a:chOff x="4374356" y="3406775"/>
            <a:chExt cx="2410619" cy="7467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19A9F06-4997-900C-06E9-78C0237EC4E7}"/>
                </a:ext>
              </a:extLst>
            </p:cNvPr>
            <p:cNvSpPr/>
            <p:nvPr/>
          </p:nvSpPr>
          <p:spPr>
            <a:xfrm>
              <a:off x="4374356" y="3406775"/>
              <a:ext cx="746919" cy="746700"/>
            </a:xfrm>
            <a:prstGeom prst="rect">
              <a:avLst/>
            </a:prstGeom>
            <a:noFill/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1258B0A-D19B-A7F2-FD72-3BCBCE76D032}"/>
                </a:ext>
              </a:extLst>
            </p:cNvPr>
            <p:cNvSpPr/>
            <p:nvPr/>
          </p:nvSpPr>
          <p:spPr>
            <a:xfrm>
              <a:off x="6038056" y="3406775"/>
              <a:ext cx="746919" cy="746700"/>
            </a:xfrm>
            <a:prstGeom prst="rect">
              <a:avLst/>
            </a:prstGeom>
            <a:noFill/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C766DCB-6155-AB8F-375A-51B1228D3F6D}"/>
              </a:ext>
            </a:extLst>
          </p:cNvPr>
          <p:cNvGrpSpPr/>
          <p:nvPr/>
        </p:nvGrpSpPr>
        <p:grpSpPr>
          <a:xfrm>
            <a:off x="3161700" y="3519733"/>
            <a:ext cx="3826689" cy="1641905"/>
            <a:chOff x="3451411" y="3672133"/>
            <a:chExt cx="3826689" cy="1641905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13DF176-2855-150C-397B-9F6340DE813D}"/>
                </a:ext>
              </a:extLst>
            </p:cNvPr>
            <p:cNvSpPr txBox="1"/>
            <p:nvPr/>
          </p:nvSpPr>
          <p:spPr>
            <a:xfrm>
              <a:off x="3451411" y="4483041"/>
              <a:ext cx="3826689" cy="830997"/>
            </a:xfrm>
            <a:prstGeom prst="rect">
              <a:avLst/>
            </a:prstGeom>
            <a:noFill/>
            <a:ln w="28575">
              <a:solidFill>
                <a:srgbClr val="00B0F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sz="2400" dirty="0"/>
                <a:t>We can get these by doing:</a:t>
              </a:r>
              <a:br>
                <a:rPr lang="en-GB" sz="2400" dirty="0"/>
              </a:br>
              <a:r>
                <a:rPr lang="en-GB" sz="2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summary(</a:t>
              </a:r>
              <a:r>
                <a:rPr lang="en-GB" sz="24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shp_model</a:t>
              </a:r>
              <a:r>
                <a:rPr lang="en-GB" sz="2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)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4887E948-0102-D0AA-B757-EEED6CCB26A5}"/>
                </a:ext>
              </a:extLst>
            </p:cNvPr>
            <p:cNvCxnSpPr>
              <a:cxnSpLocks/>
              <a:stCxn id="8" idx="0"/>
            </p:cNvCxnSpPr>
            <p:nvPr/>
          </p:nvCxnSpPr>
          <p:spPr>
            <a:xfrm flipH="1" flipV="1">
              <a:off x="4719636" y="3693336"/>
              <a:ext cx="645120" cy="789705"/>
            </a:xfrm>
            <a:prstGeom prst="straightConnector1">
              <a:avLst/>
            </a:prstGeom>
            <a:ln w="28575">
              <a:solidFill>
                <a:srgbClr val="00B0F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15B2CEF1-76E6-AE33-63FA-8EEFCD99F786}"/>
                </a:ext>
              </a:extLst>
            </p:cNvPr>
            <p:cNvCxnSpPr>
              <a:cxnSpLocks/>
              <a:stCxn id="8" idx="0"/>
              <a:endCxn id="7" idx="2"/>
            </p:cNvCxnSpPr>
            <p:nvPr/>
          </p:nvCxnSpPr>
          <p:spPr>
            <a:xfrm flipV="1">
              <a:off x="5364756" y="3672133"/>
              <a:ext cx="1092025" cy="810908"/>
            </a:xfrm>
            <a:prstGeom prst="straightConnector1">
              <a:avLst/>
            </a:prstGeom>
            <a:ln w="28575">
              <a:solidFill>
                <a:srgbClr val="00B0F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90A242C2-B7FF-48FF-DFA7-04F698ECCE2A}"/>
              </a:ext>
            </a:extLst>
          </p:cNvPr>
          <p:cNvSpPr/>
          <p:nvPr/>
        </p:nvSpPr>
        <p:spPr>
          <a:xfrm>
            <a:off x="7418396" y="2773033"/>
            <a:ext cx="2568248" cy="746700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ontent Placeholder 2">
                <a:extLst>
                  <a:ext uri="{FF2B5EF4-FFF2-40B4-BE49-F238E27FC236}">
                    <a16:creationId xmlns:a16="http://schemas.microsoft.com/office/drawing/2014/main" id="{CB52485A-F13E-F636-755B-EC73DA27F3B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61701" y="5204044"/>
                <a:ext cx="3826689" cy="910837"/>
              </a:xfrm>
              <a:prstGeom prst="rect">
                <a:avLst/>
              </a:prstGeom>
              <a:ln w="28575">
                <a:solidFill>
                  <a:srgbClr val="00B0F0"/>
                </a:solidFill>
              </a:ln>
            </p:spPr>
            <p:txBody>
              <a:bodyPr/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spcBef>
                    <a:spcPts val="0"/>
                  </a:spcBef>
                  <a:buNone/>
                </a:pPr>
                <a:r>
                  <a:rPr lang="en-GB" sz="18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           Estimate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es-ES" sz="18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(</a:t>
                </a:r>
                <a:r>
                  <a:rPr lang="es-ES" sz="18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Intercept</a:t>
                </a:r>
                <a:r>
                  <a:rPr lang="es-ES" sz="18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)   322.462</a:t>
                </a:r>
                <a:r>
                  <a:rPr lang="en-GB" sz="1800" dirty="0">
                    <a:solidFill>
                      <a:srgbClr val="00B0F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8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</m:ctrlPr>
                      </m:sSubPr>
                      <m:e>
                        <m:r>
                          <a:rPr lang="en-GB" sz="18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𝛽</m:t>
                        </m:r>
                      </m:e>
                      <m:sub>
                        <m:r>
                          <a:rPr lang="en-GB" sz="18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sz="1800" dirty="0">
                    <a:solidFill>
                      <a:srgbClr val="00B0F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)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es-ES" sz="18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regionSkeena</a:t>
                </a:r>
                <a:r>
                  <a:rPr lang="es-ES" sz="18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   8.933</a:t>
                </a:r>
                <a:r>
                  <a:rPr lang="en-GB" sz="1800" dirty="0">
                    <a:solidFill>
                      <a:srgbClr val="00B0F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8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</m:ctrlPr>
                      </m:sSubPr>
                      <m:e>
                        <m:r>
                          <a:rPr lang="en-GB" sz="18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𝛽</m:t>
                        </m:r>
                      </m:e>
                      <m:sub>
                        <m:r>
                          <a:rPr lang="en-GB" sz="18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sz="1800" dirty="0">
                    <a:solidFill>
                      <a:srgbClr val="00B0F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)</a:t>
                </a:r>
                <a:endParaRPr lang="en-GB" sz="180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mc:Choice>
        <mc:Fallback xmlns="">
          <p:sp>
            <p:nvSpPr>
              <p:cNvPr id="20" name="Content Placeholder 2">
                <a:extLst>
                  <a:ext uri="{FF2B5EF4-FFF2-40B4-BE49-F238E27FC236}">
                    <a16:creationId xmlns:a16="http://schemas.microsoft.com/office/drawing/2014/main" id="{CB52485A-F13E-F636-755B-EC73DA27F3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1701" y="5204044"/>
                <a:ext cx="3826689" cy="910837"/>
              </a:xfrm>
              <a:prstGeom prst="rect">
                <a:avLst/>
              </a:prstGeom>
              <a:blipFill>
                <a:blip r:embed="rId3"/>
                <a:stretch>
                  <a:fillRect l="-1108" t="-4545" b="-1299"/>
                </a:stretch>
              </a:blipFill>
              <a:ln w="28575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647264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2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1976C-3370-2671-E7A1-A01DFA2A6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Our objective to make the figure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119D797-74F1-F896-7FB2-48D2E4C13655}"/>
                  </a:ext>
                </a:extLst>
              </p:cNvPr>
              <p:cNvSpPr txBox="1"/>
              <p:nvPr/>
            </p:nvSpPr>
            <p:spPr>
              <a:xfrm>
                <a:off x="1186477" y="3262769"/>
                <a:ext cx="8767148" cy="10156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6000" b="0" i="1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GB" sz="6000" b="0" i="1" smtClean="0">
                          <a:latin typeface="Cambria Math" panose="02040503050406030204" pitchFamily="18" charset="0"/>
                        </a:rPr>
                        <m:t>=322.5+8.9×</m:t>
                      </m:r>
                      <m:r>
                        <a:rPr lang="en-GB" sz="6000" b="0" i="1" smtClean="0">
                          <a:latin typeface="Cambria Math" panose="02040503050406030204" pitchFamily="18" charset="0"/>
                        </a:rPr>
                        <m:t>𝑆𝑘𝑒𝑒𝑛𝑎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119D797-74F1-F896-7FB2-48D2E4C136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6477" y="3262769"/>
                <a:ext cx="8767148" cy="1015663"/>
              </a:xfrm>
              <a:prstGeom prst="rect">
                <a:avLst/>
              </a:prstGeom>
              <a:blipFill>
                <a:blip r:embed="rId2"/>
                <a:stretch>
                  <a:fillRect t="-19162" r="-6259" b="-3832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>
            <a:extLst>
              <a:ext uri="{FF2B5EF4-FFF2-40B4-BE49-F238E27FC236}">
                <a16:creationId xmlns:a16="http://schemas.microsoft.com/office/drawing/2014/main" id="{90A242C2-B7FF-48FF-DFA7-04F698ECCE2A}"/>
              </a:ext>
            </a:extLst>
          </p:cNvPr>
          <p:cNvSpPr/>
          <p:nvPr/>
        </p:nvSpPr>
        <p:spPr>
          <a:xfrm>
            <a:off x="7250907" y="3406775"/>
            <a:ext cx="2568248" cy="746700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C470D94-6A2A-7D2A-1A7F-48C1BE12A71F}"/>
              </a:ext>
            </a:extLst>
          </p:cNvPr>
          <p:cNvGrpSpPr/>
          <p:nvPr/>
        </p:nvGrpSpPr>
        <p:grpSpPr>
          <a:xfrm>
            <a:off x="7028047" y="1877611"/>
            <a:ext cx="3013967" cy="1529164"/>
            <a:chOff x="6523222" y="1877611"/>
            <a:chExt cx="3013967" cy="1529164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732BA6F-45BF-1760-7154-89E6D61328C4}"/>
                </a:ext>
              </a:extLst>
            </p:cNvPr>
            <p:cNvSpPr txBox="1"/>
            <p:nvPr/>
          </p:nvSpPr>
          <p:spPr>
            <a:xfrm>
              <a:off x="6523222" y="1877611"/>
              <a:ext cx="3013967" cy="830997"/>
            </a:xfrm>
            <a:prstGeom prst="rect">
              <a:avLst/>
            </a:prstGeom>
            <a:noFill/>
            <a:ln w="28575">
              <a:solidFill>
                <a:srgbClr val="FFFF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sz="2400" dirty="0"/>
                <a:t>We just need values </a:t>
              </a:r>
              <a:br>
                <a:rPr lang="en-GB" sz="2400" dirty="0"/>
              </a:br>
              <a:r>
                <a:rPr lang="en-GB" sz="2400" dirty="0"/>
                <a:t>to plug in here</a:t>
              </a:r>
              <a:endParaRPr lang="en-GB" sz="24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C731F947-13A5-1E8F-8C7F-ECACC6B462BE}"/>
                </a:ext>
              </a:extLst>
            </p:cNvPr>
            <p:cNvCxnSpPr>
              <a:stCxn id="14" idx="2"/>
              <a:endCxn id="13" idx="0"/>
            </p:cNvCxnSpPr>
            <p:nvPr/>
          </p:nvCxnSpPr>
          <p:spPr>
            <a:xfrm flipH="1">
              <a:off x="8020681" y="2708608"/>
              <a:ext cx="9525" cy="698167"/>
            </a:xfrm>
            <a:prstGeom prst="straightConnector1">
              <a:avLst/>
            </a:prstGeom>
            <a:ln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039690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C8066-0FFC-10B1-F716-608CE4BB58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Making up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38C2ED-2699-4FB6-5005-513ABF0746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1426613"/>
            <a:ext cx="4953000" cy="5240194"/>
          </a:xfrm>
        </p:spPr>
        <p:txBody>
          <a:bodyPr/>
          <a:lstStyle/>
          <a:p>
            <a:r>
              <a:rPr lang="en-GB" dirty="0"/>
              <a:t>We want a simple list of all values of region</a:t>
            </a:r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R</a:t>
            </a:r>
            <a:r>
              <a:rPr lang="en-GB" dirty="0"/>
              <a:t> is excellent at doing this</a:t>
            </a:r>
          </a:p>
          <a:p>
            <a:r>
              <a:rPr lang="en-GB" dirty="0"/>
              <a:t>We can use the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c() </a:t>
            </a:r>
            <a:r>
              <a:rPr lang="en-GB" dirty="0"/>
              <a:t>function</a:t>
            </a:r>
          </a:p>
          <a:p>
            <a:pPr lvl="1"/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c() </a:t>
            </a:r>
            <a:r>
              <a:rPr lang="en-GB" dirty="0"/>
              <a:t>for “combine”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F80B601-3623-DA8D-983C-7D0256BAB56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232400" y="2685987"/>
            <a:ext cx="6959600" cy="3746500"/>
          </a:xfrm>
        </p:spPr>
        <p:txBody>
          <a:bodyPr/>
          <a:lstStyle/>
          <a:p>
            <a:pPr marL="0" indent="0">
              <a:buNone/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region &lt;- c(“Skeena”, “Peace”)</a:t>
            </a:r>
          </a:p>
          <a:p>
            <a:pPr marL="0" indent="0">
              <a:buNone/>
            </a:pPr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GB" dirty="0">
                <a:cs typeface="Courier New" panose="02070309020205020404" pitchFamily="49" charset="0"/>
              </a:rPr>
              <a:t>Creates a variable with just two values, Peace and Skeena.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FC44814-3088-607D-3224-752023C3FC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6837" y="4678518"/>
            <a:ext cx="4338944" cy="844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27055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1976C-3370-2671-E7A1-A01DFA2A6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Our objective to make the figure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119D797-74F1-F896-7FB2-48D2E4C13655}"/>
                  </a:ext>
                </a:extLst>
              </p:cNvPr>
              <p:cNvSpPr txBox="1"/>
              <p:nvPr/>
            </p:nvSpPr>
            <p:spPr>
              <a:xfrm>
                <a:off x="1282574" y="1913803"/>
                <a:ext cx="8724900" cy="10156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6000" i="1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GB" sz="6000" i="1">
                          <a:latin typeface="Cambria Math" panose="02040503050406030204" pitchFamily="18" charset="0"/>
                        </a:rPr>
                        <m:t>=322.5+8.9×</m:t>
                      </m:r>
                      <m:r>
                        <a:rPr lang="en-GB" sz="6000" i="1">
                          <a:latin typeface="Cambria Math" panose="02040503050406030204" pitchFamily="18" charset="0"/>
                        </a:rPr>
                        <m:t>𝑆𝑘𝑒𝑒𝑛𝑎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119D797-74F1-F896-7FB2-48D2E4C136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2574" y="1913803"/>
                <a:ext cx="8724900" cy="1015663"/>
              </a:xfrm>
              <a:prstGeom prst="rect">
                <a:avLst/>
              </a:prstGeom>
              <a:blipFill>
                <a:blip r:embed="rId2"/>
                <a:stretch>
                  <a:fillRect t="-19760" r="-6494" b="-3832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id="{05EF19FC-A138-67B0-B4FD-35A977254EAF}"/>
              </a:ext>
            </a:extLst>
          </p:cNvPr>
          <p:cNvGrpSpPr/>
          <p:nvPr/>
        </p:nvGrpSpPr>
        <p:grpSpPr>
          <a:xfrm>
            <a:off x="6556539" y="2057809"/>
            <a:ext cx="4338944" cy="1948995"/>
            <a:chOff x="6312104" y="3406775"/>
            <a:chExt cx="4338944" cy="1948995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300E1E91-F845-0A32-8426-ACF3CDD3DDBA}"/>
                </a:ext>
              </a:extLst>
            </p:cNvPr>
            <p:cNvGrpSpPr/>
            <p:nvPr/>
          </p:nvGrpSpPr>
          <p:grpSpPr>
            <a:xfrm>
              <a:off x="7127082" y="3406775"/>
              <a:ext cx="2568248" cy="1104900"/>
              <a:chOff x="7127082" y="3406775"/>
              <a:chExt cx="2568248" cy="1104900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90A242C2-B7FF-48FF-DFA7-04F698ECCE2A}"/>
                  </a:ext>
                </a:extLst>
              </p:cNvPr>
              <p:cNvSpPr/>
              <p:nvPr/>
            </p:nvSpPr>
            <p:spPr>
              <a:xfrm>
                <a:off x="7127082" y="3406775"/>
                <a:ext cx="2568248" cy="746700"/>
              </a:xfrm>
              <a:prstGeom prst="rect">
                <a:avLst/>
              </a:prstGeom>
              <a:noFill/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cxnSp>
            <p:nvCxnSpPr>
              <p:cNvPr id="6" name="Straight Arrow Connector 5">
                <a:extLst>
                  <a:ext uri="{FF2B5EF4-FFF2-40B4-BE49-F238E27FC236}">
                    <a16:creationId xmlns:a16="http://schemas.microsoft.com/office/drawing/2014/main" id="{18C31F92-4A47-A20F-C028-C09E3A173B86}"/>
                  </a:ext>
                </a:extLst>
              </p:cNvPr>
              <p:cNvCxnSpPr>
                <a:cxnSpLocks/>
                <a:endCxn id="13" idx="2"/>
              </p:cNvCxnSpPr>
              <p:nvPr/>
            </p:nvCxnSpPr>
            <p:spPr>
              <a:xfrm flipV="1">
                <a:off x="8411206" y="4153475"/>
                <a:ext cx="0" cy="358200"/>
              </a:xfrm>
              <a:prstGeom prst="straightConnector1">
                <a:avLst/>
              </a:prstGeom>
              <a:ln w="28575">
                <a:solidFill>
                  <a:srgbClr val="FFFF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6C55D999-646A-5ABE-03B0-03522917986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12104" y="4511675"/>
              <a:ext cx="4338944" cy="844095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5A61DDA0-F427-6277-5E52-F84A3617760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-58258" y="4780230"/>
                <a:ext cx="12250257" cy="1399125"/>
              </a:xfrm>
              <a:prstGeom prst="rect">
                <a:avLst/>
              </a:prstGeom>
            </p:spPr>
            <p:txBody>
              <a:bodyPr>
                <a:normAutofit fontScale="850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GB" dirty="0">
                    <a:latin typeface="Bahnschrift Light" panose="020B0502040204020203" pitchFamily="34" charset="0"/>
                  </a:rPr>
                  <a:t>But we’re back to multiplying 8.9 by “Skeena”. Why?</a:t>
                </a:r>
              </a:p>
              <a:p>
                <a:r>
                  <a:rPr lang="en-GB" dirty="0">
                    <a:latin typeface="Bahnschrift Light" panose="020B0502040204020203" pitchFamily="34" charset="0"/>
                  </a:rPr>
                  <a:t>Because we want to avoid having to do this by hand: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latin typeface="Cambria Math" panose="02040503050406030204" pitchFamily="18" charset="0"/>
                        </a:rPr>
                        <m:t>𝐿𝑜𝑤𝑒𝑟</m:t>
                      </m:r>
                      <m:r>
                        <a:rPr lang="en-GB" i="1" smtClean="0">
                          <a:latin typeface="Cambria Math" panose="02040503050406030204" pitchFamily="18" charset="0"/>
                        </a:rPr>
                        <m:t> 95% </m:t>
                      </m:r>
                      <m:r>
                        <a:rPr lang="en-GB" i="1" smtClean="0">
                          <a:latin typeface="Cambria Math" panose="02040503050406030204" pitchFamily="18" charset="0"/>
                        </a:rPr>
                        <m:t>𝐶𝐼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𝑆𝐸</m:t>
                      </m:r>
                      <m:r>
                        <a:rPr lang="en-GB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×1.96)+(</m:t>
                      </m:r>
                      <m:sSub>
                        <m:sSub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i="1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𝑆𝐸</m:t>
                      </m:r>
                      <m:r>
                        <a:rPr lang="en-GB" i="1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×1.96) ×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𝑆𝑘𝑒𝑒𝑛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dirty="0">
                  <a:latin typeface="Bahnschrift Light" panose="020B0502040204020203" pitchFamily="34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latin typeface="Cambria Math" panose="02040503050406030204" pitchFamily="18" charset="0"/>
                        </a:rPr>
                        <m:t>𝑈𝑝𝑝𝑒𝑟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 95%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𝐶𝐼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GB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𝑆𝐸</m:t>
                          </m:r>
                          <m:r>
                            <a:rPr lang="en-GB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×1.96</m:t>
                          </m:r>
                        </m:e>
                      </m:d>
                      <m:r>
                        <a:rPr lang="en-GB" i="1" smtClean="0">
                          <a:latin typeface="Cambria Math" panose="02040503050406030204" pitchFamily="18" charset="0"/>
                        </a:rPr>
                        <m:t>+(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i="1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𝑆𝐸</m:t>
                      </m:r>
                      <m:r>
                        <a:rPr lang="en-GB" i="1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×1.96) ×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𝑆𝑘𝑒𝑒𝑛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dirty="0">
                  <a:latin typeface="Bahnschrift Light" panose="020B0502040204020203" pitchFamily="34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dirty="0">
                  <a:latin typeface="Bahnschrift Light" panose="020B0502040204020203" pitchFamily="34" charset="0"/>
                </a:endParaRPr>
              </a:p>
            </p:txBody>
          </p:sp>
        </mc:Choice>
        <mc:Fallback xmlns="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5A61DDA0-F427-6277-5E52-F84A361776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8258" y="4780230"/>
                <a:ext cx="12250257" cy="1399125"/>
              </a:xfrm>
              <a:prstGeom prst="rect">
                <a:avLst/>
              </a:prstGeom>
              <a:blipFill>
                <a:blip r:embed="rId4"/>
                <a:stretch>
                  <a:fillRect l="-647" t="-11304" b="-608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40633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1976C-3370-2671-E7A1-A01DFA2A6A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914400"/>
          </a:xfrm>
        </p:spPr>
        <p:txBody>
          <a:bodyPr/>
          <a:lstStyle/>
          <a:p>
            <a:pPr algn="ctr"/>
            <a:r>
              <a:rPr lang="en-GB" dirty="0"/>
              <a:t>The code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0C365E-323F-A581-1C6A-8F0E7B48D60C}"/>
              </a:ext>
            </a:extLst>
          </p:cNvPr>
          <p:cNvSpPr txBox="1"/>
          <p:nvPr/>
        </p:nvSpPr>
        <p:spPr>
          <a:xfrm>
            <a:off x="0" y="1021382"/>
            <a:ext cx="121920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solidFill>
                  <a:schemeClr val="tx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Create fake data (and put in data frame)</a:t>
            </a:r>
          </a:p>
          <a:p>
            <a:r>
              <a:rPr lang="en-GB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nu_data</a:t>
            </a:r>
            <a:r>
              <a:rPr lang="en-GB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GB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data.frame</a:t>
            </a:r>
            <a:r>
              <a:rPr lang="en-GB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(region = c("Skeena", "Peace"))</a:t>
            </a:r>
          </a:p>
          <a:p>
            <a:r>
              <a:rPr lang="en-GB" sz="2800" dirty="0">
                <a:solidFill>
                  <a:schemeClr val="tx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Use predict function to apply equation</a:t>
            </a:r>
          </a:p>
          <a:p>
            <a:r>
              <a:rPr lang="en-GB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prds</a:t>
            </a:r>
            <a:r>
              <a:rPr lang="en-GB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&lt;- predict(m1, </a:t>
            </a:r>
            <a:r>
              <a:rPr lang="en-GB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nu_data</a:t>
            </a:r>
            <a:r>
              <a:rPr lang="en-GB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GB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se.fit</a:t>
            </a:r>
            <a:r>
              <a:rPr lang="en-GB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= TRUE)</a:t>
            </a:r>
          </a:p>
          <a:p>
            <a:r>
              <a:rPr lang="en-GB" sz="2800" dirty="0">
                <a:solidFill>
                  <a:schemeClr val="tx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Extract the average fit for each region</a:t>
            </a:r>
          </a:p>
          <a:p>
            <a:r>
              <a:rPr lang="en-GB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nu_data$fit</a:t>
            </a:r>
            <a:r>
              <a:rPr lang="en-GB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GB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prds$fit</a:t>
            </a:r>
            <a:endParaRPr lang="en-GB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2800" dirty="0">
                <a:solidFill>
                  <a:schemeClr val="tx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Get upper and lower 95% confidence intervals</a:t>
            </a:r>
          </a:p>
          <a:p>
            <a:r>
              <a:rPr lang="en-GB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nu_data$low</a:t>
            </a:r>
            <a:r>
              <a:rPr lang="en-GB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GB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prds$fit</a:t>
            </a:r>
            <a:r>
              <a:rPr lang="en-GB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- </a:t>
            </a:r>
            <a:r>
              <a:rPr lang="en-GB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prds$se.fit</a:t>
            </a:r>
            <a:r>
              <a:rPr lang="en-GB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* 1.96</a:t>
            </a:r>
          </a:p>
          <a:p>
            <a:r>
              <a:rPr lang="en-GB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nu_data$upp</a:t>
            </a:r>
            <a:r>
              <a:rPr lang="en-GB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GB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prds$fit</a:t>
            </a:r>
            <a:r>
              <a:rPr lang="en-GB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+ </a:t>
            </a:r>
            <a:r>
              <a:rPr lang="en-GB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prds$se.fit</a:t>
            </a:r>
            <a:r>
              <a:rPr lang="en-GB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* 1.96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635CB8-1338-271C-E697-0483BC32B87C}"/>
              </a:ext>
            </a:extLst>
          </p:cNvPr>
          <p:cNvSpPr txBox="1"/>
          <p:nvPr/>
        </p:nvSpPr>
        <p:spPr>
          <a:xfrm>
            <a:off x="2057400" y="5098682"/>
            <a:ext cx="100584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solidFill>
                  <a:schemeClr val="tx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Results in a dataset called </a:t>
            </a:r>
            <a:r>
              <a:rPr lang="en-GB" sz="2800" dirty="0" err="1">
                <a:solidFill>
                  <a:schemeClr val="tx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nu_data</a:t>
            </a:r>
            <a:r>
              <a:rPr lang="en-GB" sz="2800" dirty="0">
                <a:solidFill>
                  <a:schemeClr val="tx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br>
              <a:rPr lang="en-GB" sz="2800" dirty="0">
                <a:solidFill>
                  <a:schemeClr val="tx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800" dirty="0">
                <a:solidFill>
                  <a:schemeClr val="tx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region      fit      low      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upp</a:t>
            </a:r>
            <a:endParaRPr lang="en-US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1 Skeena 331.3949 324.7648 338.0251</a:t>
            </a:r>
          </a:p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2  Peace 322.4617 315.8315 329.0918</a:t>
            </a:r>
            <a:endParaRPr lang="en-GB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388F34D-FA29-CCCC-E92E-92D79A6C3A2E}"/>
              </a:ext>
            </a:extLst>
          </p:cNvPr>
          <p:cNvSpPr/>
          <p:nvPr/>
        </p:nvSpPr>
        <p:spPr>
          <a:xfrm>
            <a:off x="0" y="1021382"/>
            <a:ext cx="12192000" cy="3970318"/>
          </a:xfrm>
          <a:prstGeom prst="rect">
            <a:avLst/>
          </a:prstGeom>
          <a:solidFill>
            <a:srgbClr val="000000">
              <a:alpha val="83137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19888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BD177-784D-4849-170A-B03032D57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ggplot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127F81-7ADE-4211-1034-365AEBA95B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ggplot(</a:t>
            </a:r>
            <a:r>
              <a:rPr lang="en-GB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nu_data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 +</a:t>
            </a:r>
          </a:p>
          <a:p>
            <a:pPr marL="0" indent="0">
              <a:buNone/>
            </a:pP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GB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geom_point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aes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(x = region,</a:t>
            </a:r>
          </a:p>
          <a:p>
            <a:pPr marL="0" indent="0">
              <a:buNone/>
            </a:pP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y = </a:t>
            </a:r>
            <a:r>
              <a:rPr lang="en-GB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pred_fit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</p:txBody>
      </p:sp>
      <p:pic>
        <p:nvPicPr>
          <p:cNvPr id="8" name="Picture Placeholder 7" descr="A graph with numbers and a point&#10;&#10;Description automatically generated with medium confidence">
            <a:extLst>
              <a:ext uri="{FF2B5EF4-FFF2-40B4-BE49-F238E27FC236}">
                <a16:creationId xmlns:a16="http://schemas.microsoft.com/office/drawing/2014/main" id="{36CC1682-1E0A-0573-E656-2ED2788D0C0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1598396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BD177-784D-4849-170A-B03032D57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ggplot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127F81-7ADE-4211-1034-365AEBA95B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ggplot(</a:t>
            </a:r>
            <a:r>
              <a:rPr lang="en-GB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nu_data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 +</a:t>
            </a:r>
          </a:p>
          <a:p>
            <a:pPr marL="0" indent="0">
              <a:buNone/>
            </a:pP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GB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geom_point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aes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(x = region,</a:t>
            </a:r>
          </a:p>
          <a:p>
            <a:pPr marL="0" indent="0">
              <a:buNone/>
            </a:pP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y = </a:t>
            </a:r>
            <a:r>
              <a:rPr lang="en-GB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pred_fit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)) +</a:t>
            </a:r>
          </a:p>
          <a:p>
            <a:pPr marL="0" indent="0">
              <a:buNone/>
            </a:pP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GB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geom_errorbar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aes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(x = region,</a:t>
            </a:r>
          </a:p>
          <a:p>
            <a:pPr marL="0" indent="0">
              <a:buNone/>
            </a:pP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			</a:t>
            </a:r>
            <a:r>
              <a:rPr lang="en-GB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ymin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 low,</a:t>
            </a:r>
          </a:p>
          <a:p>
            <a:pPr marL="0" indent="0">
              <a:buNone/>
            </a:pP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			</a:t>
            </a:r>
            <a:r>
              <a:rPr lang="en-GB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ymax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GB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upp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</p:txBody>
      </p:sp>
      <p:pic>
        <p:nvPicPr>
          <p:cNvPr id="12" name="Picture Placeholder 11" descr="A graph with lines and dots&#10;&#10;Description automatically generated">
            <a:extLst>
              <a:ext uri="{FF2B5EF4-FFF2-40B4-BE49-F238E27FC236}">
                <a16:creationId xmlns:a16="http://schemas.microsoft.com/office/drawing/2014/main" id="{129AF0A3-EB1B-5D6B-4090-659008CEB37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2691942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CB778-27FE-F11F-3899-530F9B253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 err="1"/>
              <a:t>tl;dr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2D8CE4-617E-577E-05F7-6375C1C2B259}"/>
              </a:ext>
            </a:extLst>
          </p:cNvPr>
          <p:cNvSpPr txBox="1">
            <a:spLocks/>
          </p:cNvSpPr>
          <p:nvPr/>
        </p:nvSpPr>
        <p:spPr>
          <a:xfrm>
            <a:off x="0" y="1943099"/>
            <a:ext cx="10868025" cy="472370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Fitting models in R is easy</a:t>
            </a:r>
          </a:p>
          <a:p>
            <a:pPr lvl="1"/>
            <a:r>
              <a:rPr lang="en-GB" dirty="0"/>
              <a:t>Ensure data is in tabular form</a:t>
            </a:r>
          </a:p>
          <a:p>
            <a:pPr lvl="1"/>
            <a:r>
              <a:rPr lang="en-GB" dirty="0"/>
              <a:t>Get the formula that captures your question</a:t>
            </a:r>
          </a:p>
          <a:p>
            <a:r>
              <a:rPr lang="en-GB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lm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GB" dirty="0">
                <a:cs typeface="Courier New" panose="02070309020205020404" pitchFamily="49" charset="0"/>
              </a:rPr>
              <a:t>handles all of the theory</a:t>
            </a:r>
          </a:p>
          <a:p>
            <a:r>
              <a:rPr lang="en-GB" dirty="0">
                <a:cs typeface="Courier New" panose="02070309020205020404" pitchFamily="49" charset="0"/>
              </a:rPr>
              <a:t>Use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summary()</a:t>
            </a:r>
            <a:r>
              <a:rPr lang="en-GB" dirty="0">
                <a:cs typeface="Courier New" panose="02070309020205020404" pitchFamily="49" charset="0"/>
              </a:rPr>
              <a:t> to extract the parameter estimates</a:t>
            </a:r>
          </a:p>
          <a:p>
            <a:r>
              <a:rPr lang="en-GB" dirty="0">
                <a:cs typeface="Courier New" panose="02070309020205020404" pitchFamily="49" charset="0"/>
              </a:rPr>
              <a:t>Report the estimates!</a:t>
            </a:r>
          </a:p>
          <a:p>
            <a:r>
              <a:rPr lang="en-GB" dirty="0">
                <a:cs typeface="Courier New" panose="02070309020205020404" pitchFamily="49" charset="0"/>
              </a:rPr>
              <a:t>Create a simple version of your explanatory variable</a:t>
            </a:r>
          </a:p>
          <a:p>
            <a:pPr lvl="1"/>
            <a:r>
              <a:rPr lang="en-GB" dirty="0">
                <a:cs typeface="Courier New" panose="02070309020205020404" pitchFamily="49" charset="0"/>
              </a:rPr>
              <a:t>Use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predict()</a:t>
            </a:r>
            <a:r>
              <a:rPr lang="en-GB" dirty="0">
                <a:cs typeface="Courier New" panose="02070309020205020404" pitchFamily="49" charset="0"/>
              </a:rPr>
              <a:t> to generate fitted values &amp; standard errors of fit</a:t>
            </a:r>
          </a:p>
          <a:p>
            <a:pPr lvl="1"/>
            <a:r>
              <a:rPr lang="en-GB" dirty="0">
                <a:cs typeface="Courier New" panose="02070309020205020404" pitchFamily="49" charset="0"/>
              </a:rPr>
              <a:t>Convert standard errors to 95% CI</a:t>
            </a:r>
          </a:p>
          <a:p>
            <a:pPr lvl="1"/>
            <a:r>
              <a:rPr lang="en-GB" dirty="0">
                <a:cs typeface="Courier New" panose="02070309020205020404" pitchFamily="49" charset="0"/>
              </a:rPr>
              <a:t>Plot them</a:t>
            </a:r>
          </a:p>
          <a:p>
            <a:endParaRPr lang="en-GB" sz="2400" dirty="0"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14994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sbs_templat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Bahnschrift Light">
      <a:majorFont>
        <a:latin typeface="Bahnschrift Light"/>
        <a:ea typeface=""/>
        <a:cs typeface=""/>
      </a:majorFont>
      <a:minorFont>
        <a:latin typeface="Bahnschrif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bs_slide_template.potx" id="{ECECA26D-C7D9-428D-8AE3-0DEBE87A348A}" vid="{A052F16A-C2E7-4086-BA7D-A0C2C9C1F83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sbs_template</Template>
  <TotalTime>203</TotalTime>
  <Words>874</Words>
  <Application>Microsoft Office PowerPoint</Application>
  <PresentationFormat>Widescreen</PresentationFormat>
  <Paragraphs>125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Bahnschrift Light</vt:lpstr>
      <vt:lpstr>Cambria Math</vt:lpstr>
      <vt:lpstr>Courier New</vt:lpstr>
      <vt:lpstr>sbs_template</vt:lpstr>
      <vt:lpstr>Linear models in R</vt:lpstr>
      <vt:lpstr>From theory to implementation</vt:lpstr>
      <vt:lpstr>The core function</vt:lpstr>
      <vt:lpstr>Step 1: The data</vt:lpstr>
      <vt:lpstr>Make sure your data is ready</vt:lpstr>
      <vt:lpstr>Step 2: The formula</vt:lpstr>
      <vt:lpstr>Model formula</vt:lpstr>
      <vt:lpstr>Running the model</vt:lpstr>
      <vt:lpstr>Step 3: Interpret results</vt:lpstr>
      <vt:lpstr>Now what?</vt:lpstr>
      <vt:lpstr>summary(shp_model) </vt:lpstr>
      <vt:lpstr>Done?</vt:lpstr>
      <vt:lpstr>Step 4: Plot results</vt:lpstr>
      <vt:lpstr>Our objective to make the figure</vt:lpstr>
      <vt:lpstr>Our objective to make the figure</vt:lpstr>
      <vt:lpstr>Making up data</vt:lpstr>
      <vt:lpstr>Our objective to make the figure</vt:lpstr>
      <vt:lpstr>The code</vt:lpstr>
      <vt:lpstr>ggplot</vt:lpstr>
      <vt:lpstr>ggplot</vt:lpstr>
      <vt:lpstr>tl;dr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Roos, Deon</dc:creator>
  <cp:lastModifiedBy>Roos, Deon</cp:lastModifiedBy>
  <cp:revision>3</cp:revision>
  <dcterms:created xsi:type="dcterms:W3CDTF">2024-07-23T13:46:15Z</dcterms:created>
  <dcterms:modified xsi:type="dcterms:W3CDTF">2024-09-06T12:43:58Z</dcterms:modified>
</cp:coreProperties>
</file>