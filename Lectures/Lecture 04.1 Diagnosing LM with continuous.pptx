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5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7" r:id="rId10"/>
    <p:sldId id="266" r:id="rId11"/>
    <p:sldId id="265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9" r:id="rId29"/>
    <p:sldId id="285" r:id="rId30"/>
    <p:sldId id="286" r:id="rId31"/>
    <p:sldId id="288" r:id="rId32"/>
    <p:sldId id="290" r:id="rId33"/>
    <p:sldId id="291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83" autoAdjust="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6E548E-D555-4344-B6B9-D7F806C91177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30A332-0BE6-439C-A8A2-64CD2CA47D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884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F085-90BA-6B79-A198-AE27F69DC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67" y="565410"/>
            <a:ext cx="6096000" cy="2863589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60FB6-F389-7EDD-D9DB-A406B89F3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567" y="3552161"/>
            <a:ext cx="6096000" cy="2607569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001CD27-4DF4-05EC-92B4-C7555C3D01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50677" y="0"/>
            <a:ext cx="5741324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E048B3-2145-631D-3138-1DF0AD6D38F2}"/>
              </a:ext>
            </a:extLst>
          </p:cNvPr>
          <p:cNvCxnSpPr/>
          <p:nvPr/>
        </p:nvCxnSpPr>
        <p:spPr>
          <a:xfrm>
            <a:off x="1313411" y="3491345"/>
            <a:ext cx="3757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471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0639-2CA7-2272-840E-F8F595AB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201295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59DF2-E981-9079-7762-2C88651F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6201295" cy="524019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EC5A3C4-A2EA-7545-B99B-E8F489810F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59525" y="0"/>
            <a:ext cx="58324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0345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B9374-2DD6-FA11-BF6F-AE419E0A6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426614"/>
            <a:ext cx="5893724" cy="516220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A4DDC-5EE8-4D0D-208A-D5A4CC40A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1295" y="0"/>
            <a:ext cx="5990705" cy="5162204"/>
          </a:xfrm>
        </p:spPr>
        <p:txBody>
          <a:bodyPr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6FFCEF-D528-27F4-CF96-A8F674BCA08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2012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6B47C7-8888-2E6B-0D7C-CF46BFD9A3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1295" y="5162204"/>
            <a:ext cx="5990705" cy="16957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46247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FFACB-206F-5777-5BAD-5BF8E9669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04015"/>
            <a:ext cx="10515600" cy="17539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49213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958E7-8733-1588-CE76-0710036CC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43C91-73BF-C49E-46BA-834638FC0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DC1F7-08BE-633D-0E8D-18F30CEE5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4D961F-706F-451E-ABF3-F672C1F454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6AEAE-47C4-6C9C-5B4C-F6E31977E8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72731F-9715-FADD-FEBD-65D90CABA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EEA3B-9D96-4243-B678-E1FD52A9DFED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E7A07B-AF32-2EA1-F513-0D1F38BA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B01B04-63C5-991E-FD0F-2ED9257DC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ECB36-7867-4BF1-9EDE-F58DEA4DA3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9805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3767-1669-64A9-2C16-1A1F6165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F01AD-E823-7B4D-D421-EF7BE290C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EEA3B-9D96-4243-B678-E1FD52A9DFED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13AC7F-2C26-3190-A705-5FC5DD18B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F203F-F57C-7145-B743-4A084B3A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ECB36-7867-4BF1-9EDE-F58DEA4DA3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2298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D19-147D-AD60-6ACC-2F7283CEE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EEA3B-9D96-4243-B678-E1FD52A9DFED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CF569D-7098-9B6D-B851-1B18E6DB6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8D08F-69F0-C410-CAC9-DF16A0BF9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ECB36-7867-4BF1-9EDE-F58DEA4DA3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0387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C2567-4A48-3F47-EF88-E32A67EDD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90797-1FEC-B310-9CA0-6642F4FE7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DC1EB-E335-7190-8BFD-48E25C309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54E58-0B6A-491E-7CE0-88114C141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EEA3B-9D96-4243-B678-E1FD52A9DFED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98572-7396-BEBC-0D56-24BE2A95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279F2-BB85-6763-45F1-D73C041B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ECB36-7867-4BF1-9EDE-F58DEA4DA3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2546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3E09-8249-AC15-7FC0-A0BAD598E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329DF-266D-F8F8-A195-53A7576BB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FA6F2-3F6B-26F9-74E6-E4E35007E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4BCDB-42E3-AB80-31A3-907D1B597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EEA3B-9D96-4243-B678-E1FD52A9DFED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EC699-83D3-6581-966B-8882D215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50ABE-17BA-CEDA-390B-2BA6E004B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ECB36-7867-4BF1-9EDE-F58DEA4DA3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8134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1BF0F-4D20-22A7-227D-78B4DDCA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10818-F611-B1A2-8A19-C3130A329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43987-925F-B621-E68B-A3BED9350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EEA3B-9D96-4243-B678-E1FD52A9DFED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2031D-ADF7-744B-5905-8C84ADA49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D02BB-73AF-8339-0B3A-B736F5E38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ECB36-7867-4BF1-9EDE-F58DEA4DA3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9538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A4840D-0D28-B8EB-88E1-65CDAE331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A8637-D9F6-1719-1804-4B3705C90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50F13-C53E-CA05-E313-C1579E84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EEA3B-9D96-4243-B678-E1FD52A9DFED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09B7E-626E-8018-4CBE-414FB0F1D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D0C27-06BF-1AD4-3587-FD26F1D7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ECB36-7867-4BF1-9EDE-F58DEA4DA3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73906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4ABD4-50F8-5C2A-1A5F-F11E5BF707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AF7358-DF8E-CD3F-5CD1-E0D0AA4EA2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44857-5672-9DCE-0F0A-4BA8190BE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EEA3B-9D96-4243-B678-E1FD52A9DFED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69EAA-3D49-207E-94CE-1C2968073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84B3B-5553-95F5-5D8B-704E697D6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ECB36-7867-4BF1-9EDE-F58DEA4DA3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5192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46E56-8908-0E6A-4E62-88CF6D359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1896B-C040-3D2C-A619-0B877E338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1AC1E-960F-82DB-0E5A-2F328EAC2C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CEEA3B-9D96-4243-B678-E1FD52A9DFED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FF5B2-21B1-9528-920D-DD4BF8C0B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16DDC-4E03-310B-1091-75EB5EDC3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FECB36-7867-4BF1-9EDE-F58DEA4DA3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49227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10.png"/><Relationship Id="rId7" Type="http://schemas.openxmlformats.org/officeDocument/2006/relationships/image" Target="../media/image7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9CFB2-053D-8E30-78CA-C023B148A2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Model diagnostics for linear models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B3802A-D323-B4F6-EAE0-0FE7A1B05B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Beware the Monkey’s Paw</a:t>
            </a:r>
          </a:p>
        </p:txBody>
      </p:sp>
    </p:spTree>
    <p:extLst>
      <p:ext uri="{BB962C8B-B14F-4D97-AF65-F5344CB8AC3E}">
        <p14:creationId xmlns:p14="http://schemas.microsoft.com/office/powerpoint/2010/main" val="1985218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674D8-0455-BF62-BDDB-06C6DADE6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Monkey’s Paw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3C739-8C11-A123-7165-7A0A18D96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Models will (almost) always answer your question</a:t>
            </a:r>
          </a:p>
          <a:p>
            <a:r>
              <a:rPr lang="en-GB" dirty="0"/>
              <a:t>No guarantee that just because you got </a:t>
            </a:r>
            <a:r>
              <a:rPr lang="en-GB" i="1" dirty="0"/>
              <a:t>an </a:t>
            </a:r>
            <a:r>
              <a:rPr lang="en-GB" dirty="0"/>
              <a:t>answer, that it’s a “good” answer</a:t>
            </a:r>
          </a:p>
          <a:p>
            <a:r>
              <a:rPr lang="en-GB" dirty="0"/>
              <a:t>How do we protect ourselves from producing *scientifically peer-reviewed* misinformation?</a:t>
            </a:r>
          </a:p>
          <a:p>
            <a:r>
              <a:rPr lang="en-GB" dirty="0"/>
              <a:t>How do you make sure you don’t get fired?</a:t>
            </a:r>
          </a:p>
        </p:txBody>
      </p:sp>
      <p:pic>
        <p:nvPicPr>
          <p:cNvPr id="5" name="Google Shape;65;p14">
            <a:extLst>
              <a:ext uri="{FF2B5EF4-FFF2-40B4-BE49-F238E27FC236}">
                <a16:creationId xmlns:a16="http://schemas.microsoft.com/office/drawing/2014/main" id="{7B0A5D85-AF20-8D9F-B4A3-6830984ECDB4}"/>
              </a:ext>
            </a:extLst>
          </p:cNvPr>
          <p:cNvPicPr preferRelativeResize="0">
            <a:picLocks noGrp="1"/>
          </p:cNvPicPr>
          <p:nvPr>
            <p:ph type="pic" sz="quarter" idx="10"/>
          </p:nvPr>
        </p:nvPicPr>
        <p:blipFill>
          <a:blip r:embed="rId2">
            <a:alphaModFix/>
          </a:blip>
          <a:srcRect t="8649" b="8649"/>
          <a:stretch>
            <a:fillRect/>
          </a:stretch>
        </p:blipFill>
        <p:spPr>
          <a:xfrm>
            <a:off x="6359525" y="0"/>
            <a:ext cx="583247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8EB7DD0-D24F-8549-0B36-2E7EFAEE7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9306" y="0"/>
            <a:ext cx="59526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469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BFD6B-2E50-0B0D-75A4-3244080C5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82000" cy="1325563"/>
          </a:xfrm>
        </p:spPr>
        <p:txBody>
          <a:bodyPr/>
          <a:lstStyle/>
          <a:p>
            <a:r>
              <a:rPr lang="en-GB" dirty="0"/>
              <a:t>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2D6CE-7A63-2EAF-02F6-76B09FEA8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8140700" cy="5240194"/>
          </a:xfrm>
        </p:spPr>
        <p:txBody>
          <a:bodyPr/>
          <a:lstStyle/>
          <a:p>
            <a:r>
              <a:rPr lang="en-GB" dirty="0"/>
              <a:t>All models have assumptions</a:t>
            </a:r>
          </a:p>
          <a:p>
            <a:r>
              <a:rPr lang="en-GB" dirty="0"/>
              <a:t>Assumptions are </a:t>
            </a:r>
            <a:r>
              <a:rPr lang="en-GB" i="1" dirty="0"/>
              <a:t>things</a:t>
            </a:r>
            <a:r>
              <a:rPr lang="en-GB" dirty="0"/>
              <a:t> we hope are true, such that we can do the analysis we want to do and interpret them</a:t>
            </a:r>
          </a:p>
          <a:p>
            <a:r>
              <a:rPr lang="en-GB" dirty="0"/>
              <a:t>Some of these we can check</a:t>
            </a:r>
          </a:p>
          <a:p>
            <a:r>
              <a:rPr lang="en-GB" dirty="0"/>
              <a:t>Some we cannot</a:t>
            </a:r>
          </a:p>
          <a:p>
            <a:pPr lvl="1"/>
            <a:r>
              <a:rPr lang="en-GB"/>
              <a:t>“Assumption of validity” cannot be checked</a:t>
            </a:r>
          </a:p>
          <a:p>
            <a:pPr lvl="1"/>
            <a:r>
              <a:rPr lang="en-GB"/>
              <a:t>I.e. is my data even suitable for answering my question?</a:t>
            </a:r>
            <a:endParaRPr lang="en-GB" dirty="0"/>
          </a:p>
        </p:txBody>
      </p:sp>
      <p:pic>
        <p:nvPicPr>
          <p:cNvPr id="5" name="Picture Placeholder 4" descr="Application&#10;&#10;Description automatically generated">
            <a:extLst>
              <a:ext uri="{FF2B5EF4-FFF2-40B4-BE49-F238E27FC236}">
                <a16:creationId xmlns:a16="http://schemas.microsoft.com/office/drawing/2014/main" id="{472FF307-BE52-4EB7-B02F-06E5A0F17B6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/>
          <a:srcRect l="-29331" r="-23752"/>
          <a:stretch/>
        </p:blipFill>
        <p:spPr>
          <a:xfrm>
            <a:off x="7261225" y="0"/>
            <a:ext cx="5832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789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2F22234-C895-669A-318D-C34F6DC2D29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dirty="0"/>
                  <a:t>Assumption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𝑁𝑜𝑟𝑚𝑎𝑙𝑖𝑡𝑦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2F22234-C895-669A-318D-C34F6DC2D2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13825" b="-202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2">
                <a:extLst>
                  <a:ext uri="{FF2B5EF4-FFF2-40B4-BE49-F238E27FC236}">
                    <a16:creationId xmlns:a16="http://schemas.microsoft.com/office/drawing/2014/main" id="{0E425DCF-D916-040C-5326-97168F418BA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426613"/>
                <a:ext cx="6201295" cy="5240194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 dirty="0"/>
                  <a:t>Given we’ve fit a model that assumes a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𝑁𝑜𝑟𝑚𝑎𝑙</m:t>
                    </m:r>
                  </m:oMath>
                </a14:m>
                <a:r>
                  <a:rPr lang="en-GB" dirty="0"/>
                  <a:t> distribution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𝑁𝑜𝑟𝑚𝑎𝑙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𝑀𝑎𝑟𝑡𝑒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We assume our residuals should be normally distributed, 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b>
                        <m:r>
                          <a:rPr lang="en-GB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endParaRPr lang="en-GB" dirty="0"/>
              </a:p>
              <a:p>
                <a:r>
                  <a:rPr lang="en-GB" dirty="0"/>
                  <a:t>Meaning:</a:t>
                </a:r>
              </a:p>
              <a:p>
                <a:pPr lvl="1"/>
                <a:r>
                  <a:rPr lang="en-GB" dirty="0"/>
                  <a:t>Observations should lie within the estimate standard deviation (SD)</a:t>
                </a:r>
              </a:p>
              <a:p>
                <a:pPr lvl="1"/>
                <a:r>
                  <a:rPr lang="en-GB" dirty="0"/>
                  <a:t>Ca. 69% should be within </a:t>
                </a:r>
                <a:r>
                  <a:rPr lang="en-GB" dirty="0">
                    <a:solidFill>
                      <a:srgbClr val="FF0000"/>
                    </a:solidFill>
                  </a:rPr>
                  <a:t>1 SD</a:t>
                </a:r>
              </a:p>
              <a:p>
                <a:pPr lvl="1"/>
                <a:r>
                  <a:rPr lang="en-GB" dirty="0"/>
                  <a:t>Ca. 95% should be within </a:t>
                </a:r>
                <a:r>
                  <a:rPr lang="en-GB" dirty="0">
                    <a:solidFill>
                      <a:srgbClr val="FF0000"/>
                    </a:solidFill>
                  </a:rPr>
                  <a:t>2 SD</a:t>
                </a:r>
              </a:p>
              <a:p>
                <a:pPr lvl="1"/>
                <a:r>
                  <a:rPr lang="en-GB" dirty="0"/>
                  <a:t>Ca. 97.5% should be within </a:t>
                </a:r>
                <a:r>
                  <a:rPr lang="en-GB" dirty="0">
                    <a:solidFill>
                      <a:srgbClr val="FF0000"/>
                    </a:solidFill>
                  </a:rPr>
                  <a:t>3 SD</a:t>
                </a:r>
              </a:p>
            </p:txBody>
          </p:sp>
        </mc:Choice>
        <mc:Fallback xmlns="">
          <p:sp>
            <p:nvSpPr>
              <p:cNvPr id="23" name="Content Placeholder 2">
                <a:extLst>
                  <a:ext uri="{FF2B5EF4-FFF2-40B4-BE49-F238E27FC236}">
                    <a16:creationId xmlns:a16="http://schemas.microsoft.com/office/drawing/2014/main" id="{0E425DCF-D916-040C-5326-97168F418B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426613"/>
                <a:ext cx="6201295" cy="5240194"/>
              </a:xfrm>
              <a:prstGeom prst="rect">
                <a:avLst/>
              </a:prstGeom>
              <a:blipFill>
                <a:blip r:embed="rId3"/>
                <a:stretch>
                  <a:fillRect l="-1770" r="-167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Content Placeholder 26" descr="A graph with white dots&#10;&#10;Description automatically generated">
            <a:extLst>
              <a:ext uri="{FF2B5EF4-FFF2-40B4-BE49-F238E27FC236}">
                <a16:creationId xmlns:a16="http://schemas.microsoft.com/office/drawing/2014/main" id="{141693F3-1253-1D37-8407-2C7DB8967F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0"/>
            <a:ext cx="5751871" cy="6858000"/>
          </a:xfrm>
        </p:spPr>
      </p:pic>
      <p:pic>
        <p:nvPicPr>
          <p:cNvPr id="29" name="Picture 28" descr="A graph with a line and dots&#10;&#10;Description automatically generated with medium confidence">
            <a:extLst>
              <a:ext uri="{FF2B5EF4-FFF2-40B4-BE49-F238E27FC236}">
                <a16:creationId xmlns:a16="http://schemas.microsoft.com/office/drawing/2014/main" id="{24E948F5-C002-846E-E52C-78CD389D47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8" y="0"/>
            <a:ext cx="5751871" cy="6858000"/>
          </a:xfrm>
          <a:prstGeom prst="rect">
            <a:avLst/>
          </a:prstGeom>
        </p:spPr>
      </p:pic>
      <p:pic>
        <p:nvPicPr>
          <p:cNvPr id="31" name="Picture 30" descr="A graph with white dots and red lines&#10;&#10;Description automatically generated">
            <a:extLst>
              <a:ext uri="{FF2B5EF4-FFF2-40B4-BE49-F238E27FC236}">
                <a16:creationId xmlns:a16="http://schemas.microsoft.com/office/drawing/2014/main" id="{BB8432A0-24EC-C0C2-7A6D-E702DD9DE3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7" y="0"/>
            <a:ext cx="5751871" cy="6858000"/>
          </a:xfrm>
          <a:prstGeom prst="rect">
            <a:avLst/>
          </a:prstGeom>
        </p:spPr>
      </p:pic>
      <p:pic>
        <p:nvPicPr>
          <p:cNvPr id="33" name="Picture 32" descr="A graph with white dots and red lines&#10;&#10;Description automatically generated">
            <a:extLst>
              <a:ext uri="{FF2B5EF4-FFF2-40B4-BE49-F238E27FC236}">
                <a16:creationId xmlns:a16="http://schemas.microsoft.com/office/drawing/2014/main" id="{A942D58B-A08C-13AC-ECD0-2782DAAE46C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0"/>
            <a:ext cx="5751871" cy="6858000"/>
          </a:xfrm>
          <a:prstGeom prst="rect">
            <a:avLst/>
          </a:prstGeom>
        </p:spPr>
      </p:pic>
      <p:pic>
        <p:nvPicPr>
          <p:cNvPr id="35" name="Picture 34" descr="A graph with red and white dots&#10;&#10;Description automatically generated">
            <a:extLst>
              <a:ext uri="{FF2B5EF4-FFF2-40B4-BE49-F238E27FC236}">
                <a16:creationId xmlns:a16="http://schemas.microsoft.com/office/drawing/2014/main" id="{3A071CCF-6EC2-B082-08FE-B9442569FE5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6" y="0"/>
            <a:ext cx="5751871" cy="6858000"/>
          </a:xfrm>
          <a:prstGeom prst="rect">
            <a:avLst/>
          </a:prstGeom>
        </p:spPr>
      </p:pic>
      <p:pic>
        <p:nvPicPr>
          <p:cNvPr id="37" name="Picture 36" descr="A red and white graph&#10;&#10;Description automatically generated">
            <a:extLst>
              <a:ext uri="{FF2B5EF4-FFF2-40B4-BE49-F238E27FC236}">
                <a16:creationId xmlns:a16="http://schemas.microsoft.com/office/drawing/2014/main" id="{23FB6B37-D0A8-9761-488E-02AD3E8E22A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5" y="0"/>
            <a:ext cx="5751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457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87BE5-E478-6CC4-5899-E189A494E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Work smarter, </a:t>
            </a:r>
            <a:br>
              <a:rPr lang="en-GB" dirty="0"/>
            </a:br>
            <a:r>
              <a:rPr lang="en-GB" dirty="0"/>
              <a:t>not harder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A970C-7615-8183-F706-810328E22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Are our residuals normally distributed?</a:t>
            </a:r>
          </a:p>
          <a:p>
            <a:r>
              <a:rPr lang="en-GB" dirty="0"/>
              <a:t>Hard to say from this figure, and this is a pretty simple example</a:t>
            </a:r>
          </a:p>
          <a:p>
            <a:r>
              <a:rPr lang="en-GB" dirty="0"/>
              <a:t>Is there a better way to evaluate our assumption?</a:t>
            </a:r>
          </a:p>
        </p:txBody>
      </p:sp>
      <p:pic>
        <p:nvPicPr>
          <p:cNvPr id="6" name="Picture Placeholder 5" descr="A red and white graph&#10;&#10;Description automatically generated">
            <a:extLst>
              <a:ext uri="{FF2B5EF4-FFF2-40B4-BE49-F238E27FC236}">
                <a16:creationId xmlns:a16="http://schemas.microsoft.com/office/drawing/2014/main" id="{26EB5659-C2A8-3C6F-71B8-1A326296B3D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  <p:pic>
        <p:nvPicPr>
          <p:cNvPr id="14" name="Picture 13" descr="A graph of a frequency&#10;&#10;Description automatically generated with medium confidence">
            <a:extLst>
              <a:ext uri="{FF2B5EF4-FFF2-40B4-BE49-F238E27FC236}">
                <a16:creationId xmlns:a16="http://schemas.microsoft.com/office/drawing/2014/main" id="{1DA7553F-76CA-CB1A-9421-3D376848AB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751871" cy="6858000"/>
          </a:xfrm>
          <a:prstGeom prst="rect">
            <a:avLst/>
          </a:prstGeom>
        </p:spPr>
      </p:pic>
      <p:pic>
        <p:nvPicPr>
          <p:cNvPr id="16" name="Picture 15" descr="A graph with red lines&#10;&#10;Description automatically generated">
            <a:extLst>
              <a:ext uri="{FF2B5EF4-FFF2-40B4-BE49-F238E27FC236}">
                <a16:creationId xmlns:a16="http://schemas.microsoft.com/office/drawing/2014/main" id="{49B0677A-0642-5553-BE1F-464044801B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751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330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64A8B-E8A2-DBCD-1F89-80180DD9D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Make life easier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AA27A-C012-1EC5-7E9C-9BD4A615E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Making this figure is very fiddly</a:t>
            </a:r>
          </a:p>
          <a:p>
            <a:r>
              <a:rPr lang="en-GB" dirty="0"/>
              <a:t>R has existing methods to make this easier for you</a:t>
            </a:r>
          </a:p>
          <a:p>
            <a:r>
              <a:rPr lang="en-GB" dirty="0"/>
              <a:t>And also offer more ways to diagnose your model</a:t>
            </a:r>
          </a:p>
        </p:txBody>
      </p:sp>
      <p:pic>
        <p:nvPicPr>
          <p:cNvPr id="5" name="Picture Placeholder 4" descr="A graph with red lines&#10;&#10;Description automatically generated">
            <a:extLst>
              <a:ext uri="{FF2B5EF4-FFF2-40B4-BE49-F238E27FC236}">
                <a16:creationId xmlns:a16="http://schemas.microsoft.com/office/drawing/2014/main" id="{AE27DDEE-F1B4-130F-987B-2C3E73B2A3E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718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35E9-F84C-1AB6-2F20-C3851533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four horseman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79BC3-FB58-6CF4-D49A-5F092D68C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plot(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owl_model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GB" dirty="0"/>
              <a:t>Returns four conventional diagnostic plots to check how well your model 1) meets assumptions and 2) how well it “performs”</a:t>
            </a:r>
          </a:p>
          <a:p>
            <a:r>
              <a:rPr lang="en-GB" dirty="0"/>
              <a:t>These are pretty subjective and require experience to gauge</a:t>
            </a:r>
          </a:p>
          <a:p>
            <a:r>
              <a:rPr lang="en-GB" dirty="0"/>
              <a:t>We’ll go through them slowly</a:t>
            </a:r>
          </a:p>
        </p:txBody>
      </p:sp>
      <p:pic>
        <p:nvPicPr>
          <p:cNvPr id="6" name="Picture Placeholder 5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4FE9D985-8AC3-9C3B-CEEF-DB0BB83E8B5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444271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342D2-ECE6-BD85-E861-F0FF57953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Residuals vs Fitted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2E718-2256-893A-EA88-4924F86B0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Orientation:</a:t>
            </a:r>
          </a:p>
          <a:p>
            <a:pPr lvl="1"/>
            <a:r>
              <a:rPr lang="en-GB" dirty="0"/>
              <a:t>Y-axis: Residuals (difference between actual observation and the predicted value)</a:t>
            </a:r>
          </a:p>
          <a:p>
            <a:pPr lvl="2"/>
            <a:r>
              <a:rPr lang="en-GB" dirty="0"/>
              <a:t>For this model, actual number of tawny owls minus the number of tawny owls the models thinks there should be</a:t>
            </a:r>
          </a:p>
          <a:p>
            <a:pPr lvl="1"/>
            <a:r>
              <a:rPr lang="en-GB" dirty="0"/>
              <a:t>X-axis: Predicted (“Fitted”) values</a:t>
            </a:r>
          </a:p>
          <a:p>
            <a:pPr lvl="1"/>
            <a:r>
              <a:rPr lang="en-GB" dirty="0"/>
              <a:t>Dashed line at 0 residual is when our model perfectly predicts an observation</a:t>
            </a:r>
          </a:p>
          <a:p>
            <a:pPr lvl="1"/>
            <a:r>
              <a:rPr lang="en-GB" dirty="0"/>
              <a:t>Red line is a moving average</a:t>
            </a:r>
          </a:p>
        </p:txBody>
      </p:sp>
      <p:pic>
        <p:nvPicPr>
          <p:cNvPr id="6" name="Picture Placeholder 5" descr="A screen shot of a graph&#10;&#10;Description automatically generated">
            <a:extLst>
              <a:ext uri="{FF2B5EF4-FFF2-40B4-BE49-F238E27FC236}">
                <a16:creationId xmlns:a16="http://schemas.microsoft.com/office/drawing/2014/main" id="{15CA9B0A-DE65-9844-FA6A-D952D784D99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B472EE2F-714A-3519-BA9F-9240E0788B79}"/>
              </a:ext>
            </a:extLst>
          </p:cNvPr>
          <p:cNvGrpSpPr/>
          <p:nvPr/>
        </p:nvGrpSpPr>
        <p:grpSpPr>
          <a:xfrm>
            <a:off x="7139042" y="4330700"/>
            <a:ext cx="2251433" cy="1612106"/>
            <a:chOff x="7139042" y="4330700"/>
            <a:chExt cx="2251433" cy="161210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D47EC84-3B4A-10CC-BCC1-A75D4D8B94C1}"/>
                </a:ext>
              </a:extLst>
            </p:cNvPr>
            <p:cNvSpPr txBox="1"/>
            <p:nvPr/>
          </p:nvSpPr>
          <p:spPr>
            <a:xfrm>
              <a:off x="7139042" y="4921250"/>
              <a:ext cx="2251433" cy="1021556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27.0 predicted owls</a:t>
              </a:r>
            </a:p>
            <a:p>
              <a:r>
                <a:rPr lang="en-GB" dirty="0"/>
                <a:t>19.5 actual owls</a:t>
              </a:r>
            </a:p>
            <a:p>
              <a:r>
                <a:rPr lang="en-GB" dirty="0"/>
                <a:t>-7.5 residual error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DD132AF-0B08-271C-315D-54E48FDD659A}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 flipV="1">
              <a:off x="8264759" y="4330700"/>
              <a:ext cx="0" cy="59055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08225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342D2-ECE6-BD85-E861-F0FF57953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Residuals vs Fitted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2E718-2256-893A-EA88-4924F86B0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we want to see:</a:t>
            </a:r>
          </a:p>
          <a:p>
            <a:r>
              <a:rPr lang="en-GB" dirty="0"/>
              <a:t>No clear pattern in residuals</a:t>
            </a:r>
          </a:p>
          <a:p>
            <a:pPr lvl="1"/>
            <a:r>
              <a:rPr lang="en-GB" dirty="0"/>
              <a:t>As we move left to right, points are evenly spread on y-axis</a:t>
            </a:r>
          </a:p>
          <a:p>
            <a:r>
              <a:rPr lang="en-GB" dirty="0"/>
              <a:t>Red line roughly on 0 residual</a:t>
            </a:r>
          </a:p>
          <a:p>
            <a:pPr lvl="1"/>
            <a:r>
              <a:rPr lang="en-GB" dirty="0"/>
              <a:t>But don’t take too seriously</a:t>
            </a:r>
          </a:p>
        </p:txBody>
      </p:sp>
      <p:pic>
        <p:nvPicPr>
          <p:cNvPr id="6" name="Picture Placeholder 5" descr="A screen shot of a graph&#10;&#10;Description automatically generated">
            <a:extLst>
              <a:ext uri="{FF2B5EF4-FFF2-40B4-BE49-F238E27FC236}">
                <a16:creationId xmlns:a16="http://schemas.microsoft.com/office/drawing/2014/main" id="{15CA9B0A-DE65-9844-FA6A-D952D784D99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264707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76675-21FC-946E-F4BF-01D85D652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Residuals vs Fitted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0AE75-4D37-FDAF-2EF4-B6E876234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Allows us to check 2 assumptions:</a:t>
            </a:r>
          </a:p>
          <a:p>
            <a:r>
              <a:rPr lang="en-GB" dirty="0"/>
              <a:t>Heteroscedasticity</a:t>
            </a:r>
          </a:p>
          <a:p>
            <a:pPr lvl="1"/>
            <a:r>
              <a:rPr lang="en-GB" dirty="0"/>
              <a:t>Stupid word meaning:</a:t>
            </a:r>
          </a:p>
          <a:p>
            <a:pPr lvl="1"/>
            <a:r>
              <a:rPr lang="en-GB" dirty="0"/>
              <a:t>“Unequal variation across predicted values” </a:t>
            </a:r>
          </a:p>
          <a:p>
            <a:r>
              <a:rPr lang="en-GB" dirty="0"/>
              <a:t>Linearity</a:t>
            </a:r>
          </a:p>
          <a:p>
            <a:pPr lvl="1"/>
            <a:r>
              <a:rPr lang="en-GB" dirty="0"/>
              <a:t>We assume the relationship is linear</a:t>
            </a:r>
          </a:p>
          <a:p>
            <a:r>
              <a:rPr lang="en-GB" dirty="0"/>
              <a:t>If broken:</a:t>
            </a:r>
          </a:p>
          <a:p>
            <a:pPr lvl="1"/>
            <a:r>
              <a:rPr lang="en-GB" dirty="0"/>
              <a:t>Can cause issues with uncertainty (SE)</a:t>
            </a:r>
          </a:p>
          <a:p>
            <a:pPr lvl="1"/>
            <a:r>
              <a:rPr lang="en-GB" dirty="0"/>
              <a:t>Can bias parameter estimates</a:t>
            </a:r>
          </a:p>
          <a:p>
            <a:r>
              <a:rPr lang="en-GB" dirty="0"/>
              <a:t>Causes:</a:t>
            </a:r>
          </a:p>
          <a:p>
            <a:pPr lvl="1"/>
            <a:r>
              <a:rPr lang="en-GB" dirty="0"/>
              <a:t>Relationship is not linear</a:t>
            </a:r>
          </a:p>
          <a:p>
            <a:pPr lvl="1"/>
            <a:r>
              <a:rPr lang="en-GB" dirty="0"/>
              <a:t>More/less variation as predicted values get higher or lower</a:t>
            </a:r>
          </a:p>
        </p:txBody>
      </p:sp>
      <p:pic>
        <p:nvPicPr>
          <p:cNvPr id="5" name="Picture Placeholder 5" descr="A screen shot of a graph&#10;&#10;Description automatically generated">
            <a:extLst>
              <a:ext uri="{FF2B5EF4-FFF2-40B4-BE49-F238E27FC236}">
                <a16:creationId xmlns:a16="http://schemas.microsoft.com/office/drawing/2014/main" id="{49D6734F-CE9F-2DC8-1515-B420E3CBC32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>
          <a:xfrm>
            <a:off x="6359525" y="0"/>
            <a:ext cx="5832475" cy="6858000"/>
          </a:xfrm>
        </p:spPr>
      </p:pic>
      <p:pic>
        <p:nvPicPr>
          <p:cNvPr id="7" name="Picture 6" descr="A screen shot of a graph&#10;&#10;Description automatically generated">
            <a:extLst>
              <a:ext uri="{FF2B5EF4-FFF2-40B4-BE49-F238E27FC236}">
                <a16:creationId xmlns:a16="http://schemas.microsoft.com/office/drawing/2014/main" id="{1E021F44-75DF-4B05-2F8C-A75083CC57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0"/>
            <a:ext cx="5751871" cy="6858000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FBD96AD6-5823-9016-60A6-7B20A3A531B0}"/>
              </a:ext>
            </a:extLst>
          </p:cNvPr>
          <p:cNvGrpSpPr/>
          <p:nvPr/>
        </p:nvGrpSpPr>
        <p:grpSpPr>
          <a:xfrm>
            <a:off x="7334250" y="2505075"/>
            <a:ext cx="4248150" cy="2447925"/>
            <a:chOff x="7334250" y="2505075"/>
            <a:chExt cx="4248150" cy="244792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D11787A-1243-AD9A-6D46-F9DF8149E0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34250" y="3000375"/>
              <a:ext cx="1524000" cy="53340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DD28E66-8817-E9D3-AA03-36DBE127206F}"/>
                </a:ext>
              </a:extLst>
            </p:cNvPr>
            <p:cNvCxnSpPr>
              <a:cxnSpLocks/>
            </p:cNvCxnSpPr>
            <p:nvPr/>
          </p:nvCxnSpPr>
          <p:spPr>
            <a:xfrm>
              <a:off x="8858250" y="3000375"/>
              <a:ext cx="676275" cy="53340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B587A2B-5350-CD17-DB6B-463C850F1E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34525" y="2505075"/>
              <a:ext cx="1247775" cy="102870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A0BDBC8-322E-7475-AFE9-BA4851617D22}"/>
                </a:ext>
              </a:extLst>
            </p:cNvPr>
            <p:cNvCxnSpPr>
              <a:cxnSpLocks/>
            </p:cNvCxnSpPr>
            <p:nvPr/>
          </p:nvCxnSpPr>
          <p:spPr>
            <a:xfrm>
              <a:off x="10782300" y="2505075"/>
              <a:ext cx="800100" cy="2447925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4" name="Picture 23" descr="A screen shot of a graph&#10;&#10;Description automatically generated">
            <a:extLst>
              <a:ext uri="{FF2B5EF4-FFF2-40B4-BE49-F238E27FC236}">
                <a16:creationId xmlns:a16="http://schemas.microsoft.com/office/drawing/2014/main" id="{5C850016-F51D-328E-BBA2-CBF03FB2F1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9826" y="0"/>
            <a:ext cx="5751871" cy="6858000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78A2754C-0265-FF20-D49A-A7C100925DF8}"/>
              </a:ext>
            </a:extLst>
          </p:cNvPr>
          <p:cNvGrpSpPr/>
          <p:nvPr/>
        </p:nvGrpSpPr>
        <p:grpSpPr>
          <a:xfrm>
            <a:off x="7324725" y="923925"/>
            <a:ext cx="4305300" cy="5067300"/>
            <a:chOff x="7324725" y="923925"/>
            <a:chExt cx="4305300" cy="5067300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5B929F9-C69E-651E-048C-1C3821BA94E5}"/>
                </a:ext>
              </a:extLst>
            </p:cNvPr>
            <p:cNvSpPr/>
            <p:nvPr/>
          </p:nvSpPr>
          <p:spPr>
            <a:xfrm>
              <a:off x="7419975" y="923925"/>
              <a:ext cx="4171950" cy="2552700"/>
            </a:xfrm>
            <a:custGeom>
              <a:avLst/>
              <a:gdLst>
                <a:gd name="connsiteX0" fmla="*/ 0 w 4171950"/>
                <a:gd name="connsiteY0" fmla="*/ 0 h 2552700"/>
                <a:gd name="connsiteX1" fmla="*/ 1609725 w 4171950"/>
                <a:gd name="connsiteY1" fmla="*/ 1657350 h 2552700"/>
                <a:gd name="connsiteX2" fmla="*/ 4171950 w 4171950"/>
                <a:gd name="connsiteY2" fmla="*/ 2552700 h 255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71950" h="2552700">
                  <a:moveTo>
                    <a:pt x="0" y="0"/>
                  </a:moveTo>
                  <a:cubicBezTo>
                    <a:pt x="457200" y="615950"/>
                    <a:pt x="914400" y="1231900"/>
                    <a:pt x="1609725" y="1657350"/>
                  </a:cubicBezTo>
                  <a:cubicBezTo>
                    <a:pt x="2305050" y="2082800"/>
                    <a:pt x="3238500" y="2317750"/>
                    <a:pt x="4171950" y="255270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073E319-11EF-C85D-EF6B-6E4BBF83EBBF}"/>
                </a:ext>
              </a:extLst>
            </p:cNvPr>
            <p:cNvSpPr/>
            <p:nvPr/>
          </p:nvSpPr>
          <p:spPr>
            <a:xfrm>
              <a:off x="7324725" y="4333875"/>
              <a:ext cx="4305300" cy="1657350"/>
            </a:xfrm>
            <a:custGeom>
              <a:avLst/>
              <a:gdLst>
                <a:gd name="connsiteX0" fmla="*/ 0 w 4305300"/>
                <a:gd name="connsiteY0" fmla="*/ 1657350 h 1657350"/>
                <a:gd name="connsiteX1" fmla="*/ 1724025 w 4305300"/>
                <a:gd name="connsiteY1" fmla="*/ 438150 h 1657350"/>
                <a:gd name="connsiteX2" fmla="*/ 4305300 w 4305300"/>
                <a:gd name="connsiteY2" fmla="*/ 0 h 165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05300" h="1657350">
                  <a:moveTo>
                    <a:pt x="0" y="1657350"/>
                  </a:moveTo>
                  <a:cubicBezTo>
                    <a:pt x="503237" y="1185862"/>
                    <a:pt x="1006475" y="714375"/>
                    <a:pt x="1724025" y="438150"/>
                  </a:cubicBezTo>
                  <a:cubicBezTo>
                    <a:pt x="2441575" y="161925"/>
                    <a:pt x="3373437" y="80962"/>
                    <a:pt x="4305300" y="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792947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342D2-ECE6-BD85-E861-F0FF57953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Residuals vs Fitted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2E718-2256-893A-EA88-4924F86B0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seem to have a funnel pattern</a:t>
            </a:r>
          </a:p>
          <a:p>
            <a:pPr lvl="1"/>
            <a:r>
              <a:rPr lang="en-GB" dirty="0"/>
              <a:t>Should we be worried?</a:t>
            </a:r>
          </a:p>
          <a:p>
            <a:pPr lvl="1"/>
            <a:r>
              <a:rPr lang="en-GB" dirty="0"/>
              <a:t>We don’t have lots of data with low tawny owl density, so hard to get even spread</a:t>
            </a:r>
          </a:p>
        </p:txBody>
      </p:sp>
      <p:pic>
        <p:nvPicPr>
          <p:cNvPr id="6" name="Picture Placeholder 5" descr="A screen shot of a graph&#10;&#10;Description automatically generated">
            <a:extLst>
              <a:ext uri="{FF2B5EF4-FFF2-40B4-BE49-F238E27FC236}">
                <a16:creationId xmlns:a16="http://schemas.microsoft.com/office/drawing/2014/main" id="{15CA9B0A-DE65-9844-FA6A-D952D784D99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80ADB436-0A4C-8DFC-9872-E4E5A0D3192E}"/>
              </a:ext>
            </a:extLst>
          </p:cNvPr>
          <p:cNvGrpSpPr/>
          <p:nvPr/>
        </p:nvGrpSpPr>
        <p:grpSpPr>
          <a:xfrm>
            <a:off x="7061200" y="762000"/>
            <a:ext cx="4775200" cy="4902200"/>
            <a:chOff x="7061200" y="762000"/>
            <a:chExt cx="4775200" cy="490220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907552C-0162-C734-362E-44BBE53EFE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61200" y="762000"/>
              <a:ext cx="4737100" cy="20066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D7A600F-04CA-597F-CBBE-FCF0949C83E9}"/>
                </a:ext>
              </a:extLst>
            </p:cNvPr>
            <p:cNvCxnSpPr>
              <a:cxnSpLocks/>
            </p:cNvCxnSpPr>
            <p:nvPr/>
          </p:nvCxnSpPr>
          <p:spPr>
            <a:xfrm>
              <a:off x="7086600" y="3683000"/>
              <a:ext cx="4749800" cy="19812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" name="Picture Placeholder 5" descr="A red and white graph&#10;&#10;Description automatically generated">
            <a:extLst>
              <a:ext uri="{FF2B5EF4-FFF2-40B4-BE49-F238E27FC236}">
                <a16:creationId xmlns:a16="http://schemas.microsoft.com/office/drawing/2014/main" id="{3014C985-299F-BDF3-4173-31ACE9F665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>
          <a:xfrm>
            <a:off x="104776" y="0"/>
            <a:ext cx="5832475" cy="6858000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A387C6DD-C323-4F3E-8EEE-3CE3C97CB7CA}"/>
              </a:ext>
            </a:extLst>
          </p:cNvPr>
          <p:cNvGrpSpPr/>
          <p:nvPr/>
        </p:nvGrpSpPr>
        <p:grpSpPr>
          <a:xfrm>
            <a:off x="2303722" y="4800603"/>
            <a:ext cx="3837312" cy="1374375"/>
            <a:chOff x="2303722" y="4800603"/>
            <a:chExt cx="3837312" cy="1374375"/>
          </a:xfrm>
        </p:grpSpPr>
        <p:sp>
          <p:nvSpPr>
            <p:cNvPr id="24" name="Right Brace 23">
              <a:extLst>
                <a:ext uri="{FF2B5EF4-FFF2-40B4-BE49-F238E27FC236}">
                  <a16:creationId xmlns:a16="http://schemas.microsoft.com/office/drawing/2014/main" id="{8CEA7397-A917-3DF8-5980-BCAE06814D81}"/>
                </a:ext>
              </a:extLst>
            </p:cNvPr>
            <p:cNvSpPr/>
            <p:nvPr/>
          </p:nvSpPr>
          <p:spPr>
            <a:xfrm rot="5400000">
              <a:off x="3862244" y="3242081"/>
              <a:ext cx="341861" cy="3458906"/>
            </a:xfrm>
            <a:prstGeom prst="rightBrac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EB32F31-D1C4-8CF0-457F-49E690B3FE0A}"/>
                </a:ext>
              </a:extLst>
            </p:cNvPr>
            <p:cNvSpPr txBox="1"/>
            <p:nvPr/>
          </p:nvSpPr>
          <p:spPr>
            <a:xfrm>
              <a:off x="2362878" y="5153422"/>
              <a:ext cx="3778156" cy="1021556"/>
            </a:xfrm>
            <a:prstGeom prst="round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Limited data in this range, so </a:t>
              </a:r>
              <a:br>
                <a:rPr lang="en-GB" dirty="0"/>
              </a:br>
              <a:r>
                <a:rPr lang="en-GB" dirty="0"/>
                <a:t>hard to say if funnel shape is real </a:t>
              </a:r>
              <a:br>
                <a:rPr lang="en-GB" dirty="0"/>
              </a:br>
              <a:r>
                <a:rPr lang="en-GB" dirty="0"/>
                <a:t>or consequence of limited data.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4AB09F9-0CA5-2D61-8E48-058806FFB26D}"/>
              </a:ext>
            </a:extLst>
          </p:cNvPr>
          <p:cNvGrpSpPr/>
          <p:nvPr/>
        </p:nvGrpSpPr>
        <p:grpSpPr>
          <a:xfrm>
            <a:off x="6664326" y="4600580"/>
            <a:ext cx="3778156" cy="1374373"/>
            <a:chOff x="2362878" y="4800605"/>
            <a:chExt cx="3778156" cy="1374373"/>
          </a:xfrm>
        </p:grpSpPr>
        <p:sp>
          <p:nvSpPr>
            <p:cNvPr id="28" name="Right Brace 27">
              <a:extLst>
                <a:ext uri="{FF2B5EF4-FFF2-40B4-BE49-F238E27FC236}">
                  <a16:creationId xmlns:a16="http://schemas.microsoft.com/office/drawing/2014/main" id="{48D87400-F54A-FA20-7E13-FAC5F0941EEF}"/>
                </a:ext>
              </a:extLst>
            </p:cNvPr>
            <p:cNvSpPr/>
            <p:nvPr/>
          </p:nvSpPr>
          <p:spPr>
            <a:xfrm rot="5400000">
              <a:off x="3901254" y="3823773"/>
              <a:ext cx="341861" cy="2295525"/>
            </a:xfrm>
            <a:prstGeom prst="rightBrac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5C061F7-ACB8-F0EA-1658-6D9226385D3A}"/>
                </a:ext>
              </a:extLst>
            </p:cNvPr>
            <p:cNvSpPr txBox="1"/>
            <p:nvPr/>
          </p:nvSpPr>
          <p:spPr>
            <a:xfrm>
              <a:off x="2362878" y="5153422"/>
              <a:ext cx="3778156" cy="1021556"/>
            </a:xfrm>
            <a:prstGeom prst="round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Limited data in this range, so </a:t>
              </a:r>
              <a:br>
                <a:rPr lang="en-GB" dirty="0"/>
              </a:br>
              <a:r>
                <a:rPr lang="en-GB" dirty="0"/>
                <a:t>hard to say if funnel shape is real </a:t>
              </a:r>
              <a:br>
                <a:rPr lang="en-GB" dirty="0"/>
              </a:br>
              <a:r>
                <a:rPr lang="en-GB" dirty="0"/>
                <a:t>or consequence of limited data.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48013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6DA21-BC98-13E6-E3B7-1D682FC76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The four horseman</a:t>
            </a:r>
          </a:p>
        </p:txBody>
      </p:sp>
      <p:pic>
        <p:nvPicPr>
          <p:cNvPr id="4" name="Picture 3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F56E599E-979A-FD41-8892-E0E4EE5176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97429"/>
            <a:ext cx="12192000" cy="56605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021C71-0E6F-15D1-0847-3A557D1F896A}"/>
              </a:ext>
            </a:extLst>
          </p:cNvPr>
          <p:cNvSpPr txBox="1"/>
          <p:nvPr/>
        </p:nvSpPr>
        <p:spPr>
          <a:xfrm>
            <a:off x="1114425" y="2267603"/>
            <a:ext cx="4401041" cy="510778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Possibly ok but not conclusive</a:t>
            </a:r>
          </a:p>
        </p:txBody>
      </p:sp>
    </p:spTree>
    <p:extLst>
      <p:ext uri="{BB962C8B-B14F-4D97-AF65-F5344CB8AC3E}">
        <p14:creationId xmlns:p14="http://schemas.microsoft.com/office/powerpoint/2010/main" val="2722483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77205-240C-42A4-A315-2B5B7C5BA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Scale-Location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17EA51-5CD4-71F0-F27D-F4807D4702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Residuals (y-axis) are now:</a:t>
                </a:r>
              </a:p>
              <a:p>
                <a:pPr lvl="1"/>
                <a:r>
                  <a:rPr lang="en-GB" dirty="0"/>
                  <a:t>Standardised (divide by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GB" dirty="0"/>
                  <a:t>)</a:t>
                </a:r>
              </a:p>
              <a:p>
                <a:pPr lvl="1"/>
                <a:r>
                  <a:rPr lang="en-GB" dirty="0"/>
                  <a:t>Square rooted (all values are positive)</a:t>
                </a:r>
              </a:p>
              <a:p>
                <a:r>
                  <a:rPr lang="en-GB" dirty="0"/>
                  <a:t>We want to see two things here:</a:t>
                </a:r>
              </a:p>
              <a:p>
                <a:pPr lvl="1"/>
                <a:r>
                  <a:rPr lang="en-GB" dirty="0"/>
                  <a:t>Ca. 95% of Std. Residuals are &lt; 2</a:t>
                </a:r>
              </a:p>
              <a:p>
                <a:pPr lvl="1"/>
                <a:r>
                  <a:rPr lang="en-GB" dirty="0"/>
                  <a:t>No clear patterns</a:t>
                </a:r>
              </a:p>
              <a:p>
                <a:r>
                  <a:rPr lang="en-GB" dirty="0"/>
                  <a:t>Offers another chance to check heteroscedasticity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17EA51-5CD4-71F0-F27D-F4807D4702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 r="-10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screen shot of a graph&#10;&#10;Description automatically generated">
            <a:extLst>
              <a:ext uri="{FF2B5EF4-FFF2-40B4-BE49-F238E27FC236}">
                <a16:creationId xmlns:a16="http://schemas.microsoft.com/office/drawing/2014/main" id="{D51D3095-4E88-49BF-AF22-9D93124BAA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0"/>
            <a:ext cx="5751871" cy="685800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E030254A-603D-7BDA-40D1-D72ADDE8E54A}"/>
              </a:ext>
            </a:extLst>
          </p:cNvPr>
          <p:cNvGrpSpPr/>
          <p:nvPr/>
        </p:nvGrpSpPr>
        <p:grpSpPr>
          <a:xfrm>
            <a:off x="7429500" y="885825"/>
            <a:ext cx="4295775" cy="4981575"/>
            <a:chOff x="7429500" y="885825"/>
            <a:chExt cx="4295775" cy="4981575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DFE1A31-7B8C-77E0-E878-532370328DAC}"/>
                </a:ext>
              </a:extLst>
            </p:cNvPr>
            <p:cNvSpPr/>
            <p:nvPr/>
          </p:nvSpPr>
          <p:spPr>
            <a:xfrm>
              <a:off x="7553325" y="885825"/>
              <a:ext cx="4143375" cy="3162300"/>
            </a:xfrm>
            <a:custGeom>
              <a:avLst/>
              <a:gdLst>
                <a:gd name="connsiteX0" fmla="*/ 0 w 4143375"/>
                <a:gd name="connsiteY0" fmla="*/ 0 h 3162300"/>
                <a:gd name="connsiteX1" fmla="*/ 2209800 w 4143375"/>
                <a:gd name="connsiteY1" fmla="*/ 2095500 h 3162300"/>
                <a:gd name="connsiteX2" fmla="*/ 4143375 w 4143375"/>
                <a:gd name="connsiteY2" fmla="*/ 3162300 h 3162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3375" h="3162300">
                  <a:moveTo>
                    <a:pt x="0" y="0"/>
                  </a:moveTo>
                  <a:cubicBezTo>
                    <a:pt x="759619" y="784225"/>
                    <a:pt x="1519238" y="1568450"/>
                    <a:pt x="2209800" y="2095500"/>
                  </a:cubicBezTo>
                  <a:cubicBezTo>
                    <a:pt x="2900362" y="2622550"/>
                    <a:pt x="3521868" y="2892425"/>
                    <a:pt x="4143375" y="316230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DEB5704-3D54-7312-E133-C84D5CC2F041}"/>
                </a:ext>
              </a:extLst>
            </p:cNvPr>
            <p:cNvSpPr/>
            <p:nvPr/>
          </p:nvSpPr>
          <p:spPr>
            <a:xfrm>
              <a:off x="7429500" y="5272864"/>
              <a:ext cx="4295775" cy="594536"/>
            </a:xfrm>
            <a:custGeom>
              <a:avLst/>
              <a:gdLst>
                <a:gd name="connsiteX0" fmla="*/ 0 w 4295775"/>
                <a:gd name="connsiteY0" fmla="*/ 594536 h 594536"/>
                <a:gd name="connsiteX1" fmla="*/ 2990850 w 4295775"/>
                <a:gd name="connsiteY1" fmla="*/ 42086 h 594536"/>
                <a:gd name="connsiteX2" fmla="*/ 4295775 w 4295775"/>
                <a:gd name="connsiteY2" fmla="*/ 80186 h 594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95775" h="594536">
                  <a:moveTo>
                    <a:pt x="0" y="594536"/>
                  </a:moveTo>
                  <a:cubicBezTo>
                    <a:pt x="1137444" y="361173"/>
                    <a:pt x="2274888" y="127811"/>
                    <a:pt x="2990850" y="42086"/>
                  </a:cubicBezTo>
                  <a:cubicBezTo>
                    <a:pt x="3706812" y="-43639"/>
                    <a:pt x="4001293" y="18273"/>
                    <a:pt x="4295775" y="8018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6" name="Picture Placeholder 5" descr="A screen shot of a graph&#10;&#10;Description automatically generated">
            <a:extLst>
              <a:ext uri="{FF2B5EF4-FFF2-40B4-BE49-F238E27FC236}">
                <a16:creationId xmlns:a16="http://schemas.microsoft.com/office/drawing/2014/main" id="{3CB8DD37-4813-F9B2-B724-4FD1DCB7EA8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9A893352-5A76-352D-665E-8EC8E4EA6755}"/>
              </a:ext>
            </a:extLst>
          </p:cNvPr>
          <p:cNvGrpSpPr/>
          <p:nvPr/>
        </p:nvGrpSpPr>
        <p:grpSpPr>
          <a:xfrm>
            <a:off x="7190666" y="790575"/>
            <a:ext cx="4382209" cy="5076825"/>
            <a:chOff x="7190666" y="790575"/>
            <a:chExt cx="4382209" cy="5076825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8A8E6E8-B26F-9AA4-B2DD-22DAB5F5D8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48525" y="790575"/>
              <a:ext cx="3733800" cy="16764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9C7256A-689E-3010-A014-6341ECCD427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90666" y="5570132"/>
              <a:ext cx="4382209" cy="297268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44615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6DA21-BC98-13E6-E3B7-1D682FC76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The four horseman</a:t>
            </a:r>
          </a:p>
        </p:txBody>
      </p:sp>
      <p:pic>
        <p:nvPicPr>
          <p:cNvPr id="4" name="Picture 3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F56E599E-979A-FD41-8892-E0E4EE5176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97429"/>
            <a:ext cx="12192000" cy="56605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021C71-0E6F-15D1-0847-3A557D1F896A}"/>
              </a:ext>
            </a:extLst>
          </p:cNvPr>
          <p:cNvSpPr txBox="1"/>
          <p:nvPr/>
        </p:nvSpPr>
        <p:spPr>
          <a:xfrm>
            <a:off x="1114425" y="2267603"/>
            <a:ext cx="4378382" cy="510778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Possibly ok but not conclusive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95D8C8-BE83-F3C2-E535-BDEF8AE4B38E}"/>
              </a:ext>
            </a:extLst>
          </p:cNvPr>
          <p:cNvSpPr txBox="1"/>
          <p:nvPr/>
        </p:nvSpPr>
        <p:spPr>
          <a:xfrm>
            <a:off x="1614543" y="5149793"/>
            <a:ext cx="3276180" cy="510778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Probably good enough</a:t>
            </a:r>
          </a:p>
        </p:txBody>
      </p:sp>
    </p:spTree>
    <p:extLst>
      <p:ext uri="{BB962C8B-B14F-4D97-AF65-F5344CB8AC3E}">
        <p14:creationId xmlns:p14="http://schemas.microsoft.com/office/powerpoint/2010/main" val="3772822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B7EA0-F7F1-1A3D-346A-8A8DECF48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Q-Q Residuals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20225B-D6D1-A2D4-995B-83F7D9A20B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We assume our residuals are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𝑁𝑜𝑟𝑚𝑎𝑙𝑙𝑦</m:t>
                    </m:r>
                  </m:oMath>
                </a14:m>
                <a:r>
                  <a:rPr lang="en-GB" dirty="0"/>
                  <a:t> distributed</a:t>
                </a:r>
              </a:p>
              <a:p>
                <a:r>
                  <a:rPr lang="en-GB" dirty="0"/>
                  <a:t>The Q-Q (Quantile-Quantile) Residuals plot allows us to check</a:t>
                </a:r>
              </a:p>
              <a:p>
                <a:r>
                  <a:rPr lang="en-GB" dirty="0"/>
                  <a:t>Y-axis are standardised residuals</a:t>
                </a:r>
              </a:p>
              <a:p>
                <a:pPr lvl="1"/>
                <a:r>
                  <a:rPr lang="en-GB" dirty="0"/>
                  <a:t>To 1 standard deviation</a:t>
                </a:r>
              </a:p>
              <a:p>
                <a:r>
                  <a:rPr lang="en-GB" dirty="0"/>
                  <a:t>X-axis are what we would assume, given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𝑁𝑜𝑟𝑚𝑎𝑙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(0, 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:r>
                  <a:rPr lang="en-GB" dirty="0"/>
                  <a:t>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𝑁𝑜𝑟𝑚𝑎𝑙𝑙𝑦</m:t>
                    </m:r>
                  </m:oMath>
                </a14:m>
                <a:r>
                  <a:rPr lang="en-GB" dirty="0"/>
                  <a:t> distributed, then points should mostly lie on the dashed line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20225B-D6D1-A2D4-995B-83F7D9A20B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 r="-236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Placeholder 5" descr="A graph on a black background&#10;&#10;Description automatically generated">
            <a:extLst>
              <a:ext uri="{FF2B5EF4-FFF2-40B4-BE49-F238E27FC236}">
                <a16:creationId xmlns:a16="http://schemas.microsoft.com/office/drawing/2014/main" id="{097CEC98-21A4-D725-2BED-DC09746B851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p:pic>
        <p:nvPicPr>
          <p:cNvPr id="7" name="Picture Placeholder 4" descr="A graph with red lines&#10;&#10;Description automatically generated">
            <a:extLst>
              <a:ext uri="{FF2B5EF4-FFF2-40B4-BE49-F238E27FC236}">
                <a16:creationId xmlns:a16="http://schemas.microsoft.com/office/drawing/2014/main" id="{9ECFEAEA-C749-0017-E079-0AD8127D9B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>
          <a:xfrm>
            <a:off x="184409" y="0"/>
            <a:ext cx="5832475" cy="685800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A92F39A3-5B9B-B869-74CF-1DC03656FAC4}"/>
              </a:ext>
            </a:extLst>
          </p:cNvPr>
          <p:cNvGrpSpPr/>
          <p:nvPr/>
        </p:nvGrpSpPr>
        <p:grpSpPr>
          <a:xfrm>
            <a:off x="3838575" y="826797"/>
            <a:ext cx="7581900" cy="408623"/>
            <a:chOff x="3838575" y="826797"/>
            <a:chExt cx="7581900" cy="40862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DAE3500-9591-579E-5C3A-2F11CF42F056}"/>
                    </a:ext>
                  </a:extLst>
                </p:cNvPr>
                <p:cNvSpPr txBox="1"/>
                <p:nvPr/>
              </p:nvSpPr>
              <p:spPr>
                <a:xfrm>
                  <a:off x="5298673" y="826797"/>
                  <a:ext cx="3278704" cy="408623"/>
                </a:xfrm>
                <a:prstGeom prst="roundRect">
                  <a:avLst/>
                </a:prstGeom>
                <a:solidFill>
                  <a:schemeClr val="bg1">
                    <a:lumMod val="85000"/>
                    <a:lumOff val="15000"/>
                  </a:schemeClr>
                </a:solidFill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GB" dirty="0"/>
                    <a:t>Assumed </a:t>
                  </a:r>
                  <a14:m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𝑁𝑜𝑟𝑚𝑎𝑙</m:t>
                      </m:r>
                    </m:oMath>
                  </a14:m>
                  <a:r>
                    <a:rPr lang="en-GB" dirty="0"/>
                    <a:t> distribution</a:t>
                  </a: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DAE3500-9591-579E-5C3A-2F11CF42F0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8673" y="826797"/>
                  <a:ext cx="3278704" cy="408623"/>
                </a:xfrm>
                <a:prstGeom prst="roundRect">
                  <a:avLst/>
                </a:prstGeom>
                <a:blipFill>
                  <a:blip r:embed="rId5"/>
                  <a:stretch>
                    <a:fillRect l="-741" t="-4348" r="-2407" b="-14493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C8A4949C-94DE-7211-2BC2-BBBB138D37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38575" y="1031108"/>
              <a:ext cx="1460098" cy="7379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E77C8C7-49A3-DEF0-F72F-3280D87A2093}"/>
                </a:ext>
              </a:extLst>
            </p:cNvPr>
            <p:cNvCxnSpPr>
              <a:cxnSpLocks/>
              <a:stCxn id="8" idx="3"/>
            </p:cNvCxnSpPr>
            <p:nvPr/>
          </p:nvCxnSpPr>
          <p:spPr>
            <a:xfrm flipV="1">
              <a:off x="8577377" y="1031108"/>
              <a:ext cx="2843098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7023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6DA21-BC98-13E6-E3B7-1D682FC76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The four horseman</a:t>
            </a:r>
          </a:p>
        </p:txBody>
      </p:sp>
      <p:pic>
        <p:nvPicPr>
          <p:cNvPr id="4" name="Picture 3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F56E599E-979A-FD41-8892-E0E4EE5176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97429"/>
            <a:ext cx="12192000" cy="56605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021C71-0E6F-15D1-0847-3A557D1F896A}"/>
              </a:ext>
            </a:extLst>
          </p:cNvPr>
          <p:cNvSpPr txBox="1"/>
          <p:nvPr/>
        </p:nvSpPr>
        <p:spPr>
          <a:xfrm>
            <a:off x="1114425" y="2267603"/>
            <a:ext cx="4378382" cy="510778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Possibly ok but not conclusive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95D8C8-BE83-F3C2-E535-BDEF8AE4B38E}"/>
              </a:ext>
            </a:extLst>
          </p:cNvPr>
          <p:cNvSpPr txBox="1"/>
          <p:nvPr/>
        </p:nvSpPr>
        <p:spPr>
          <a:xfrm>
            <a:off x="1614543" y="5149793"/>
            <a:ext cx="3276180" cy="510778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Probably good enough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30F089-5FDC-F829-D363-8CB0B25AA8EF}"/>
              </a:ext>
            </a:extLst>
          </p:cNvPr>
          <p:cNvSpPr txBox="1"/>
          <p:nvPr/>
        </p:nvSpPr>
        <p:spPr>
          <a:xfrm>
            <a:off x="8591970" y="2267603"/>
            <a:ext cx="1501386" cy="510778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Excellent</a:t>
            </a:r>
          </a:p>
        </p:txBody>
      </p:sp>
    </p:spTree>
    <p:extLst>
      <p:ext uri="{BB962C8B-B14F-4D97-AF65-F5344CB8AC3E}">
        <p14:creationId xmlns:p14="http://schemas.microsoft.com/office/powerpoint/2010/main" val="1756335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8F9D0-BCA8-A228-E187-6E4FFF827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Residuals vs Leverage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E79886-4A2A-8658-5FC8-52540C946F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Y-axis is standardised residuals</a:t>
                </a:r>
              </a:p>
              <a:p>
                <a:r>
                  <a:rPr lang="en-GB" dirty="0"/>
                  <a:t>X-axis is “Leverage”</a:t>
                </a:r>
              </a:p>
              <a:p>
                <a:pPr lvl="1"/>
                <a:r>
                  <a:rPr lang="en-GB" dirty="0"/>
                  <a:t>Leverage identifies observations “far” from the rest of the explanatory variable</a:t>
                </a:r>
              </a:p>
              <a:p>
                <a:r>
                  <a:rPr lang="en-GB" dirty="0"/>
                  <a:t>The Leverage plot helps identify if you have highly influential observations</a:t>
                </a:r>
              </a:p>
              <a:p>
                <a:r>
                  <a:rPr lang="en-GB" dirty="0"/>
                  <a:t>But high Leverage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GB" dirty="0"/>
                  <a:t> Influential</a:t>
                </a:r>
              </a:p>
              <a:p>
                <a:r>
                  <a:rPr lang="en-GB" dirty="0"/>
                  <a:t>High Cook’s Distance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dirty="0"/>
                  <a:t> Influential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E79886-4A2A-8658-5FC8-52540C946F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Placeholder 5" descr="A screen shot of a graph&#10;&#10;Description automatically generated">
            <a:extLst>
              <a:ext uri="{FF2B5EF4-FFF2-40B4-BE49-F238E27FC236}">
                <a16:creationId xmlns:a16="http://schemas.microsoft.com/office/drawing/2014/main" id="{300AA684-4B19-F468-5F2C-EE0EFB242CA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p:pic>
        <p:nvPicPr>
          <p:cNvPr id="8" name="Picture 7" descr="A graph with a line in the middle&#10;&#10;Description automatically generated">
            <a:extLst>
              <a:ext uri="{FF2B5EF4-FFF2-40B4-BE49-F238E27FC236}">
                <a16:creationId xmlns:a16="http://schemas.microsoft.com/office/drawing/2014/main" id="{D2E1C7D3-1595-5C58-7E1A-CB6301D19F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525" y="0"/>
            <a:ext cx="5751871" cy="6858000"/>
          </a:xfrm>
          <a:prstGeom prst="rect">
            <a:avLst/>
          </a:prstGeom>
        </p:spPr>
      </p:pic>
      <p:pic>
        <p:nvPicPr>
          <p:cNvPr id="12" name="Picture 11" descr="A graph with a line in the middle&#10;&#10;Description automatically generated">
            <a:extLst>
              <a:ext uri="{FF2B5EF4-FFF2-40B4-BE49-F238E27FC236}">
                <a16:creationId xmlns:a16="http://schemas.microsoft.com/office/drawing/2014/main" id="{46ABBD24-CEEE-FA2E-0CB6-C821655069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524" y="0"/>
            <a:ext cx="5751871" cy="685800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08365FB5-7F5C-A850-99E0-2ACA1C88C134}"/>
              </a:ext>
            </a:extLst>
          </p:cNvPr>
          <p:cNvGrpSpPr/>
          <p:nvPr/>
        </p:nvGrpSpPr>
        <p:grpSpPr>
          <a:xfrm>
            <a:off x="10020300" y="990600"/>
            <a:ext cx="1943100" cy="2240756"/>
            <a:chOff x="10020300" y="990600"/>
            <a:chExt cx="1943100" cy="2240756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89A8A4C-2E7C-7704-1F8D-05EA1D00628A}"/>
                </a:ext>
              </a:extLst>
            </p:cNvPr>
            <p:cNvSpPr txBox="1"/>
            <p:nvPr/>
          </p:nvSpPr>
          <p:spPr>
            <a:xfrm>
              <a:off x="10020300" y="2209800"/>
              <a:ext cx="1943100" cy="1021556"/>
            </a:xfrm>
            <a:prstGeom prst="round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/>
                <a:t>New data point “far” away from other values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B732DCD2-DC95-7EE1-41B5-D237A26CD81E}"/>
                </a:ext>
              </a:extLst>
            </p:cNvPr>
            <p:cNvCxnSpPr>
              <a:cxnSpLocks/>
              <a:stCxn id="13" idx="0"/>
            </p:cNvCxnSpPr>
            <p:nvPr/>
          </p:nvCxnSpPr>
          <p:spPr>
            <a:xfrm flipV="1">
              <a:off x="10991850" y="990600"/>
              <a:ext cx="771525" cy="12192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" name="Picture 20" descr="A graph with white dots&#10;&#10;Description automatically generated">
            <a:extLst>
              <a:ext uri="{FF2B5EF4-FFF2-40B4-BE49-F238E27FC236}">
                <a16:creationId xmlns:a16="http://schemas.microsoft.com/office/drawing/2014/main" id="{07F138FE-CDCB-D891-34A0-59DE5753B6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524" y="-19050"/>
            <a:ext cx="5751871" cy="6858000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9C27720D-7119-9F84-D01A-931C9D9B7D1D}"/>
              </a:ext>
            </a:extLst>
          </p:cNvPr>
          <p:cNvGrpSpPr/>
          <p:nvPr/>
        </p:nvGrpSpPr>
        <p:grpSpPr>
          <a:xfrm>
            <a:off x="8943975" y="4414837"/>
            <a:ext cx="2831306" cy="1021556"/>
            <a:chOff x="10106025" y="2155031"/>
            <a:chExt cx="2831306" cy="1021556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01B0414-B757-4A53-8D24-0CF627738C87}"/>
                </a:ext>
              </a:extLst>
            </p:cNvPr>
            <p:cNvSpPr txBox="1"/>
            <p:nvPr/>
          </p:nvSpPr>
          <p:spPr>
            <a:xfrm>
              <a:off x="10106025" y="2155031"/>
              <a:ext cx="1943100" cy="1021556"/>
            </a:xfrm>
            <a:prstGeom prst="round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/>
                <a:t>New data point “far” away from other values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62B905FA-6CC6-A2BE-0E09-5BC5F446DA5D}"/>
                </a:ext>
              </a:extLst>
            </p:cNvPr>
            <p:cNvCxnSpPr>
              <a:cxnSpLocks/>
              <a:stCxn id="23" idx="3"/>
            </p:cNvCxnSpPr>
            <p:nvPr/>
          </p:nvCxnSpPr>
          <p:spPr>
            <a:xfrm>
              <a:off x="12049125" y="2665809"/>
              <a:ext cx="88820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9" name="Picture 28" descr="A graph with a line and dots&#10;&#10;Description automatically generated">
            <a:extLst>
              <a:ext uri="{FF2B5EF4-FFF2-40B4-BE49-F238E27FC236}">
                <a16:creationId xmlns:a16="http://schemas.microsoft.com/office/drawing/2014/main" id="{50D41C2A-8B17-7318-9AA2-46C0643FB6F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524" y="-17860"/>
            <a:ext cx="5751871" cy="6858000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8FFE19C6-8BED-31A4-89F6-01A1D495B2AB}"/>
              </a:ext>
            </a:extLst>
          </p:cNvPr>
          <p:cNvGrpSpPr/>
          <p:nvPr/>
        </p:nvGrpSpPr>
        <p:grpSpPr>
          <a:xfrm>
            <a:off x="7548919" y="3786544"/>
            <a:ext cx="3257550" cy="1328023"/>
            <a:chOff x="9652387" y="2234446"/>
            <a:chExt cx="3245474" cy="1328023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8E9ACC6-7813-9FC8-467E-3639309B4277}"/>
                </a:ext>
              </a:extLst>
            </p:cNvPr>
            <p:cNvSpPr txBox="1"/>
            <p:nvPr/>
          </p:nvSpPr>
          <p:spPr>
            <a:xfrm>
              <a:off x="9652387" y="2234446"/>
              <a:ext cx="2534694" cy="1328023"/>
            </a:xfrm>
            <a:prstGeom prst="round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/>
                <a:t>Entire relationship changes to accommodate one observation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3EBAB6C0-E912-669D-CC62-8E6C0A08CC92}"/>
                </a:ext>
              </a:extLst>
            </p:cNvPr>
            <p:cNvCxnSpPr>
              <a:cxnSpLocks/>
              <a:stCxn id="31" idx="3"/>
            </p:cNvCxnSpPr>
            <p:nvPr/>
          </p:nvCxnSpPr>
          <p:spPr>
            <a:xfrm flipV="1">
              <a:off x="12187080" y="2234446"/>
              <a:ext cx="710781" cy="66401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0" name="Picture 39" descr="A graph with white dots&#10;&#10;Description automatically generated">
            <a:extLst>
              <a:ext uri="{FF2B5EF4-FFF2-40B4-BE49-F238E27FC236}">
                <a16:creationId xmlns:a16="http://schemas.microsoft.com/office/drawing/2014/main" id="{6770B812-D9C9-349C-C172-A324AEEA3D0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524" y="0"/>
            <a:ext cx="5751871" cy="6858000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36CB0D80-B5A7-1C09-40E6-F54D9FCF0C68}"/>
              </a:ext>
            </a:extLst>
          </p:cNvPr>
          <p:cNvGrpSpPr/>
          <p:nvPr/>
        </p:nvGrpSpPr>
        <p:grpSpPr>
          <a:xfrm>
            <a:off x="9307912" y="4585930"/>
            <a:ext cx="2397082" cy="715089"/>
            <a:chOff x="10410422" y="2234446"/>
            <a:chExt cx="2388196" cy="715089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D9C8686-A364-D098-AF0D-CE4DD24708A2}"/>
                </a:ext>
              </a:extLst>
            </p:cNvPr>
            <p:cNvSpPr txBox="1"/>
            <p:nvPr/>
          </p:nvSpPr>
          <p:spPr>
            <a:xfrm>
              <a:off x="10410422" y="2234446"/>
              <a:ext cx="1776658" cy="715089"/>
            </a:xfrm>
            <a:prstGeom prst="round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/>
                <a:t>High Leverage</a:t>
              </a:r>
            </a:p>
            <a:p>
              <a:r>
                <a:rPr lang="en-GB" dirty="0"/>
                <a:t>High Influence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0CE5255C-EF92-9B86-DF8D-70054F1BA343}"/>
                </a:ext>
              </a:extLst>
            </p:cNvPr>
            <p:cNvCxnSpPr>
              <a:cxnSpLocks/>
              <a:stCxn id="37" idx="3"/>
            </p:cNvCxnSpPr>
            <p:nvPr/>
          </p:nvCxnSpPr>
          <p:spPr>
            <a:xfrm>
              <a:off x="12187080" y="2591991"/>
              <a:ext cx="6115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0E03826-7AC2-2F84-EE86-88AC8DFEEBB9}"/>
              </a:ext>
            </a:extLst>
          </p:cNvPr>
          <p:cNvGrpSpPr/>
          <p:nvPr/>
        </p:nvGrpSpPr>
        <p:grpSpPr>
          <a:xfrm>
            <a:off x="9251215" y="547509"/>
            <a:ext cx="2397082" cy="715089"/>
            <a:chOff x="10410422" y="2234446"/>
            <a:chExt cx="2388196" cy="715089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5055EC5-5642-DFAA-6BBC-A68584FA23A5}"/>
                </a:ext>
              </a:extLst>
            </p:cNvPr>
            <p:cNvSpPr txBox="1"/>
            <p:nvPr/>
          </p:nvSpPr>
          <p:spPr>
            <a:xfrm>
              <a:off x="10410422" y="2234446"/>
              <a:ext cx="1776658" cy="715089"/>
            </a:xfrm>
            <a:prstGeom prst="round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/>
                <a:t>High Leverage</a:t>
              </a:r>
            </a:p>
            <a:p>
              <a:r>
                <a:rPr lang="en-GB" dirty="0"/>
                <a:t>Low Influence</a:t>
              </a: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BA508F33-8B52-0BCA-7E57-24DF0F09058E}"/>
                </a:ext>
              </a:extLst>
            </p:cNvPr>
            <p:cNvCxnSpPr>
              <a:cxnSpLocks/>
              <a:stCxn id="44" idx="3"/>
            </p:cNvCxnSpPr>
            <p:nvPr/>
          </p:nvCxnSpPr>
          <p:spPr>
            <a:xfrm>
              <a:off x="12187080" y="2591991"/>
              <a:ext cx="6115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9" name="Picture 48" descr="A screen shot of a graph&#10;&#10;Description automatically generated">
            <a:extLst>
              <a:ext uri="{FF2B5EF4-FFF2-40B4-BE49-F238E27FC236}">
                <a16:creationId xmlns:a16="http://schemas.microsoft.com/office/drawing/2014/main" id="{1B333005-14DD-5E92-5899-90923D3FE55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9826" y="0"/>
            <a:ext cx="5751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777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6DA21-BC98-13E6-E3B7-1D682FC76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The four horseman</a:t>
            </a:r>
          </a:p>
        </p:txBody>
      </p:sp>
      <p:pic>
        <p:nvPicPr>
          <p:cNvPr id="4" name="Picture 3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F56E599E-979A-FD41-8892-E0E4EE5176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97429"/>
            <a:ext cx="12192000" cy="56605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021C71-0E6F-15D1-0847-3A557D1F896A}"/>
              </a:ext>
            </a:extLst>
          </p:cNvPr>
          <p:cNvSpPr txBox="1"/>
          <p:nvPr/>
        </p:nvSpPr>
        <p:spPr>
          <a:xfrm>
            <a:off x="1114425" y="2267603"/>
            <a:ext cx="4378382" cy="510778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Possibly ok but not conclusive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95D8C8-BE83-F3C2-E535-BDEF8AE4B38E}"/>
              </a:ext>
            </a:extLst>
          </p:cNvPr>
          <p:cNvSpPr txBox="1"/>
          <p:nvPr/>
        </p:nvSpPr>
        <p:spPr>
          <a:xfrm>
            <a:off x="1614543" y="5149793"/>
            <a:ext cx="3276180" cy="510778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Probably good enough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30F089-5FDC-F829-D363-8CB0B25AA8EF}"/>
              </a:ext>
            </a:extLst>
          </p:cNvPr>
          <p:cNvSpPr txBox="1"/>
          <p:nvPr/>
        </p:nvSpPr>
        <p:spPr>
          <a:xfrm>
            <a:off x="8591970" y="2267603"/>
            <a:ext cx="1501386" cy="510778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Excellent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467024-9BA9-2C00-F79F-CE31ADFB589A}"/>
              </a:ext>
            </a:extLst>
          </p:cNvPr>
          <p:cNvSpPr txBox="1"/>
          <p:nvPr/>
        </p:nvSpPr>
        <p:spPr>
          <a:xfrm>
            <a:off x="8591970" y="5149793"/>
            <a:ext cx="1501386" cy="510778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Excellent</a:t>
            </a:r>
          </a:p>
        </p:txBody>
      </p:sp>
    </p:spTree>
    <p:extLst>
      <p:ext uri="{BB962C8B-B14F-4D97-AF65-F5344CB8AC3E}">
        <p14:creationId xmlns:p14="http://schemas.microsoft.com/office/powerpoint/2010/main" val="3053246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ABCE1-81F0-F0B0-BF6A-028A1958B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Satisfied?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7A9D1-4322-EB7B-B588-F63811483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426613"/>
            <a:ext cx="5964964" cy="5240194"/>
          </a:xfrm>
        </p:spPr>
        <p:txBody>
          <a:bodyPr/>
          <a:lstStyle/>
          <a:p>
            <a:r>
              <a:rPr lang="en-GB" dirty="0"/>
              <a:t>We’ve checked our model, and there’s nothing that suggests we’ve broken any of our assumptions (that we can check)</a:t>
            </a:r>
          </a:p>
          <a:p>
            <a:r>
              <a:rPr lang="en-GB" dirty="0"/>
              <a:t>So can we interpret our model with complete confidence?</a:t>
            </a:r>
          </a:p>
        </p:txBody>
      </p:sp>
      <p:pic>
        <p:nvPicPr>
          <p:cNvPr id="5" name="Picture Placeholder 5" descr="A graph of a line&#10;&#10;Description automatically generated">
            <a:extLst>
              <a:ext uri="{FF2B5EF4-FFF2-40B4-BE49-F238E27FC236}">
                <a16:creationId xmlns:a16="http://schemas.microsoft.com/office/drawing/2014/main" id="{E4290431-5B25-0DE8-8B89-C5EB9862CEA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>
          <a:xfrm>
            <a:off x="6359525" y="0"/>
            <a:ext cx="5832475" cy="6858000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6AC961-A666-7418-2A12-6F72A4136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9525" y="1998"/>
            <a:ext cx="5832475" cy="685600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0259E11-0CFD-337D-74D3-60FB1CFB21EB}"/>
              </a:ext>
            </a:extLst>
          </p:cNvPr>
          <p:cNvSpPr/>
          <p:nvPr/>
        </p:nvSpPr>
        <p:spPr>
          <a:xfrm>
            <a:off x="2466975" y="3981450"/>
            <a:ext cx="3105150" cy="4381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3273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768E6-6291-6B16-05AA-0DFA604EA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Hidden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55958-637F-38C3-0FBF-F07E5F0DE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data we used were densities of two species</a:t>
            </a:r>
          </a:p>
          <a:p>
            <a:pPr lvl="1"/>
            <a:r>
              <a:rPr lang="en-GB" dirty="0"/>
              <a:t>Counting animals is difficult</a:t>
            </a:r>
          </a:p>
          <a:p>
            <a:pPr lvl="1"/>
            <a:r>
              <a:rPr lang="en-GB" dirty="0"/>
              <a:t>Estimating density is really difficult</a:t>
            </a:r>
          </a:p>
          <a:p>
            <a:pPr lvl="1"/>
            <a:r>
              <a:rPr lang="en-GB" dirty="0"/>
              <a:t>Doing this for two species is really, </a:t>
            </a:r>
            <a:r>
              <a:rPr lang="en-GB" i="1" dirty="0"/>
              <a:t>really </a:t>
            </a:r>
            <a:r>
              <a:rPr lang="en-GB" dirty="0"/>
              <a:t>difficult</a:t>
            </a:r>
          </a:p>
          <a:p>
            <a:r>
              <a:rPr lang="en-GB" dirty="0"/>
              <a:t>Lots of reasons why densities of both animals will be underestimated, in different ways!</a:t>
            </a:r>
          </a:p>
          <a:p>
            <a:pPr lvl="1"/>
            <a:r>
              <a:rPr lang="en-GB" dirty="0"/>
              <a:t>In truth, we don’t know how many animals there are in these sites, we have guesses</a:t>
            </a: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B0394C54-65EC-F73E-6CB9-4ECFE66AB73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6081" r="26081"/>
          <a:stretch>
            <a:fillRect/>
          </a:stretch>
        </p:blipFill>
        <p:spPr>
          <a:xfrm>
            <a:off x="6359525" y="0"/>
            <a:ext cx="5832475" cy="6858000"/>
          </a:xfrm>
        </p:spPr>
      </p:pic>
    </p:spTree>
    <p:extLst>
      <p:ext uri="{BB962C8B-B14F-4D97-AF65-F5344CB8AC3E}">
        <p14:creationId xmlns:p14="http://schemas.microsoft.com/office/powerpoint/2010/main" val="1669081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ABCE1-81F0-F0B0-BF6A-028A1958B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Satisfied?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7A9D1-4322-EB7B-B588-F63811483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 can we interpret our model with complete confidence?</a:t>
            </a:r>
          </a:p>
          <a:p>
            <a:r>
              <a:rPr lang="en-GB" dirty="0"/>
              <a:t>To answer this, you have to think exceptionally carefully about </a:t>
            </a:r>
            <a:r>
              <a:rPr lang="en-GB" i="1" dirty="0"/>
              <a:t>the data, </a:t>
            </a:r>
            <a:r>
              <a:rPr lang="en-GB" dirty="0"/>
              <a:t>as well as</a:t>
            </a:r>
            <a:r>
              <a:rPr lang="en-GB" i="1" dirty="0"/>
              <a:t> </a:t>
            </a:r>
            <a:r>
              <a:rPr lang="en-GB" dirty="0"/>
              <a:t>the stats</a:t>
            </a:r>
          </a:p>
        </p:txBody>
      </p:sp>
      <p:pic>
        <p:nvPicPr>
          <p:cNvPr id="5" name="Picture Placeholder 5" descr="A graph of a line&#10;&#10;Description automatically generated">
            <a:extLst>
              <a:ext uri="{FF2B5EF4-FFF2-40B4-BE49-F238E27FC236}">
                <a16:creationId xmlns:a16="http://schemas.microsoft.com/office/drawing/2014/main" id="{E4290431-5B25-0DE8-8B89-C5EB9862CEA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>
          <a:xfrm>
            <a:off x="6359525" y="0"/>
            <a:ext cx="5832475" cy="6858000"/>
          </a:xfrm>
        </p:spPr>
      </p:pic>
    </p:spTree>
    <p:extLst>
      <p:ext uri="{BB962C8B-B14F-4D97-AF65-F5344CB8AC3E}">
        <p14:creationId xmlns:p14="http://schemas.microsoft.com/office/powerpoint/2010/main" val="4070573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BCC69-E5F5-2D98-3C63-8A9540303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Linear models with continuous variable: Full workflow example</a:t>
            </a:r>
          </a:p>
        </p:txBody>
      </p:sp>
    </p:spTree>
    <p:extLst>
      <p:ext uri="{BB962C8B-B14F-4D97-AF65-F5344CB8AC3E}">
        <p14:creationId xmlns:p14="http://schemas.microsoft.com/office/powerpoint/2010/main" val="3684041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F17F1-8622-E2E2-C93C-0F82FA825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Climate change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68B16-900F-3D03-D7CF-1242FB6B8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Is climate change a scam?</a:t>
            </a:r>
          </a:p>
          <a:p>
            <a:r>
              <a:rPr lang="en-GB" dirty="0"/>
              <a:t>Let’s find out:</a:t>
            </a:r>
          </a:p>
          <a:p>
            <a:pPr lvl="1"/>
            <a:r>
              <a:rPr lang="en-GB" dirty="0"/>
              <a:t>Sea surface temperature (response)</a:t>
            </a:r>
          </a:p>
          <a:p>
            <a:pPr lvl="1"/>
            <a:r>
              <a:rPr lang="en-GB" dirty="0"/>
              <a:t>CO2 emissions (explanatory)</a:t>
            </a:r>
          </a:p>
        </p:txBody>
      </p:sp>
      <p:pic>
        <p:nvPicPr>
          <p:cNvPr id="6" name="Picture Placeholder 5" descr="A sign board with a sign on it&#10;&#10;Description automatically generated">
            <a:extLst>
              <a:ext uri="{FF2B5EF4-FFF2-40B4-BE49-F238E27FC236}">
                <a16:creationId xmlns:a16="http://schemas.microsoft.com/office/drawing/2014/main" id="{850FC245-958E-BA90-358F-CAC056187C9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350"/>
          <a:stretch/>
        </p:blipFill>
        <p:spPr>
          <a:xfrm>
            <a:off x="6359525" y="0"/>
            <a:ext cx="5832475" cy="6858000"/>
          </a:xfrm>
        </p:spPr>
      </p:pic>
    </p:spTree>
    <p:extLst>
      <p:ext uri="{BB962C8B-B14F-4D97-AF65-F5344CB8AC3E}">
        <p14:creationId xmlns:p14="http://schemas.microsoft.com/office/powerpoint/2010/main" val="2587014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5A7CB-468A-8934-00AE-D1B288E10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1: Get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8C783E-4056-97C0-7FE9-B2B447D6FE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426613"/>
                <a:ext cx="6359525" cy="5240194"/>
              </a:xfrm>
            </p:spPr>
            <p:txBody>
              <a:bodyPr>
                <a:normAutofit/>
              </a:bodyPr>
              <a:lstStyle/>
              <a:p>
                <a:r>
                  <a:rPr lang="en-GB" dirty="0"/>
                  <a:t>Ensure data is in tabular form</a:t>
                </a:r>
              </a:p>
              <a:p>
                <a:r>
                  <a:rPr lang="en-GB" dirty="0"/>
                  <a:t>Each row represents a data collected from a given year (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)</a:t>
                </a:r>
              </a:p>
              <a:p>
                <a:pPr lvl="1"/>
                <a:r>
                  <a:rPr lang="en-GB" b="0" dirty="0"/>
                  <a:t>The “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th</m:t>
                        </m:r>
                      </m:sup>
                    </m:sSup>
                  </m:oMath>
                </a14:m>
                <a:r>
                  <a:rPr lang="en-GB" dirty="0"/>
                  <a:t> year”</a:t>
                </a:r>
              </a:p>
              <a:p>
                <a:r>
                  <a:rPr lang="en-GB" dirty="0"/>
                  <a:t>Each year, we have a measure of:</a:t>
                </a:r>
              </a:p>
              <a:p>
                <a:pPr lvl="1"/>
                <a:r>
                  <a:rPr lang="en-GB" dirty="0"/>
                  <a:t>Average sea surface temperature</a:t>
                </a:r>
              </a:p>
              <a:p>
                <a:pPr lvl="1"/>
                <a:r>
                  <a:rPr lang="en-GB" dirty="0"/>
                  <a:t>CO2 emissions (</a:t>
                </a:r>
                <a:r>
                  <a:rPr lang="en-GB" i="1" dirty="0"/>
                  <a:t>millions</a:t>
                </a:r>
                <a:r>
                  <a:rPr lang="en-GB" dirty="0"/>
                  <a:t> of tonnes)</a:t>
                </a:r>
              </a:p>
              <a:p>
                <a:pPr marL="0" indent="0">
                  <a:buNone/>
                </a:pPr>
                <a:endParaRPr lang="en-GB" sz="24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GB" sz="24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cc_dat</a:t>
                </a:r>
                <a:r>
                  <a:rPr lang="en-GB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&lt;- read.csv(“</a:t>
                </a:r>
                <a:r>
                  <a:rPr lang="en-GB" sz="24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file_path</a:t>
                </a:r>
                <a:r>
                  <a:rPr lang="en-GB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”,</a:t>
                </a:r>
                <a:br>
                  <a:rPr lang="en-GB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</a:br>
                <a:r>
                  <a:rPr lang="en-GB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              header = TRUE)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8C783E-4056-97C0-7FE9-B2B447D6FE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426613"/>
                <a:ext cx="6359525" cy="5240194"/>
              </a:xfrm>
              <a:blipFill>
                <a:blip r:embed="rId2"/>
                <a:stretch>
                  <a:fillRect l="-1726" r="-34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D0159C7A-0F8D-26B4-B97B-6346FBE0E5D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 t="-2169" b="-2167"/>
          <a:stretch/>
        </p:blipFill>
        <p:spPr>
          <a:xfrm>
            <a:off x="6359525" y="0"/>
            <a:ext cx="5832475" cy="685800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559CA97-DFF2-B2AF-7B73-B799284FB0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9525" y="1426612"/>
            <a:ext cx="5832475" cy="4520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50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21807-0483-8BA4-1538-8771D5B7C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2: Explore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1E992-4CCE-CA04-4BEF-A423870FA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Explore the data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summary(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cc_dat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cc_dat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) +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	  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geom_point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		  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(x = co2,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		       y =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sst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GB" dirty="0"/>
              <a:t>What should we think about?</a:t>
            </a:r>
          </a:p>
          <a:p>
            <a:pPr lvl="1"/>
            <a:r>
              <a:rPr lang="en-GB" dirty="0"/>
              <a:t>How reliable is the sampling?</a:t>
            </a:r>
          </a:p>
          <a:p>
            <a:pPr lvl="1"/>
            <a:r>
              <a:rPr lang="en-GB" dirty="0"/>
              <a:t>How much of the relationship do we see?</a:t>
            </a:r>
          </a:p>
          <a:p>
            <a:pPr lvl="1"/>
            <a:r>
              <a:rPr lang="en-GB" dirty="0"/>
              <a:t>Foresee any issues for the analysis?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56E1D526-EE66-CE24-5536-6739D7BD145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/>
          <a:srcRect l="320" t="-129497" r="-249" b="-128938"/>
          <a:stretch/>
        </p:blipFill>
        <p:spPr>
          <a:xfrm>
            <a:off x="6359525" y="0"/>
            <a:ext cx="5832475" cy="6858000"/>
          </a:xfrm>
        </p:spPr>
      </p:pic>
      <p:pic>
        <p:nvPicPr>
          <p:cNvPr id="10" name="Picture 9" descr="A screen shot of a graph&#10;&#10;Description automatically generated">
            <a:extLst>
              <a:ext uri="{FF2B5EF4-FFF2-40B4-BE49-F238E27FC236}">
                <a16:creationId xmlns:a16="http://schemas.microsoft.com/office/drawing/2014/main" id="{09393645-B4DE-5A7A-5528-89727CF28F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0"/>
            <a:ext cx="5751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045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A58F7-80BB-5D30-9648-B75CB88B4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3: Fit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4686A-7776-C2AF-F61D-9F07A7EFC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Unless we see any issues, we can proceed to fitting a linear model</a:t>
            </a:r>
          </a:p>
          <a:p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cc_mod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sst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~ co2,</a:t>
            </a:r>
            <a:b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    data = 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cc_dat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GB" dirty="0"/>
              <a:t>Easiest step to do</a:t>
            </a:r>
          </a:p>
          <a:p>
            <a:r>
              <a:rPr lang="en-GB" dirty="0"/>
              <a:t>But appreciate what’s going on under the hood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61B34D70-8FCD-3E65-B539-6F276F762F5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5981" r="15981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380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5EB3B-F52C-1B6A-79FB-F39DD1DF8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4: Diagnose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D8CA2-16CF-C394-6C13-2CFE76286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With model run, we need to check for the Monkey’s Paw</a:t>
            </a:r>
          </a:p>
          <a:p>
            <a:r>
              <a:rPr lang="en-GB" dirty="0"/>
              <a:t>Check diagnostics</a:t>
            </a:r>
          </a:p>
          <a:p>
            <a:r>
              <a:rPr lang="en-GB" dirty="0"/>
              <a:t>Any issues?</a:t>
            </a:r>
          </a:p>
          <a:p>
            <a:pPr lvl="1"/>
            <a:r>
              <a:rPr lang="en-GB" dirty="0"/>
              <a:t>Some clear non-linearity</a:t>
            </a:r>
          </a:p>
          <a:p>
            <a:pPr lvl="1"/>
            <a:r>
              <a:rPr lang="en-GB" dirty="0"/>
              <a:t>What do we learn from the relationship being non-linear?</a:t>
            </a:r>
          </a:p>
          <a:p>
            <a:pPr lvl="1"/>
            <a:r>
              <a:rPr lang="en-GB" dirty="0"/>
              <a:t>Can we still proceed?</a:t>
            </a:r>
          </a:p>
        </p:txBody>
      </p:sp>
      <p:pic>
        <p:nvPicPr>
          <p:cNvPr id="6" name="Picture Placeholder 5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A813F911-1B0F-E23C-E2D9-A74AFDFC956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786794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5EB3B-F52C-1B6A-79FB-F39DD1DF8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5: Summarise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DD8CA2-16CF-C394-6C13-2CFE76286A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The model has two parameters to estimate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GB" dirty="0"/>
              </a:p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summary(</a:t>
                </a:r>
                <a:r>
                  <a:rPr lang="en-GB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cc_mod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=−0.3913</m:t>
                    </m:r>
                  </m:oMath>
                </a14:m>
                <a:r>
                  <a:rPr lang="en-GB" dirty="0"/>
                  <a:t> (SST with zero CO2)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=0.000004</m:t>
                    </m:r>
                  </m:oMath>
                </a14:m>
                <a:r>
                  <a:rPr lang="en-GB" dirty="0"/>
                  <a:t> (Celsius per mill tonne)</a:t>
                </a:r>
              </a:p>
              <a:p>
                <a:r>
                  <a:rPr lang="en-GB" dirty="0"/>
                  <a:t>Any caveats?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DD8CA2-16CF-C394-6C13-2CFE76286A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1823482-A2F5-FAA3-1E6B-ABCA7CA830D2}"/>
              </a:ext>
            </a:extLst>
          </p:cNvPr>
          <p:cNvSpPr txBox="1">
            <a:spLocks/>
          </p:cNvSpPr>
          <p:nvPr/>
        </p:nvSpPr>
        <p:spPr>
          <a:xfrm>
            <a:off x="6201295" y="1325563"/>
            <a:ext cx="6201295" cy="52401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 summary(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cc_mod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Call:</a:t>
            </a:r>
          </a:p>
          <a:p>
            <a:pPr marL="0" indent="0">
              <a:buNone/>
            </a:pP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(formula =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sst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~ co2, data =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Residuals:</a:t>
            </a:r>
          </a:p>
          <a:p>
            <a:pPr marL="0" indent="0">
              <a:buNone/>
            </a:pP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Min        1Q    Median        3Q       Max </a:t>
            </a:r>
          </a:p>
          <a:p>
            <a:pPr marL="0" indent="0">
              <a:buNone/>
            </a:pP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-0.300407 -0.083491 -0.006237  0.077314  0.275486 </a:t>
            </a:r>
          </a:p>
          <a:p>
            <a:pPr marL="0" indent="0">
              <a:buNone/>
            </a:pP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Coefficients:</a:t>
            </a:r>
          </a:p>
          <a:p>
            <a:pPr marL="0" indent="0">
              <a:buNone/>
            </a:pP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Estimate Std. Error t value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(&gt;|t|)    </a:t>
            </a:r>
          </a:p>
          <a:p>
            <a:pPr marL="0" indent="0">
              <a:buNone/>
            </a:pP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(Intercept) -3.913e-01  3.845e-02  -10.18 2.67e-15 ***</a:t>
            </a:r>
          </a:p>
          <a:p>
            <a:pPr marL="0" indent="0">
              <a:buNone/>
            </a:pP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co2          4.115e-06  2.548e-07   16.15  &lt; 2e-16 ***</a:t>
            </a:r>
          </a:p>
          <a:p>
            <a:pPr marL="0" indent="0">
              <a:buNone/>
            </a:pP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pPr marL="0" indent="0">
              <a:buNone/>
            </a:pP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Signif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  <a:p>
            <a:pPr marL="0" indent="0">
              <a:buNone/>
            </a:pP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Residual standard error: 0.1227 on 68 degrees of freedom</a:t>
            </a:r>
          </a:p>
          <a:p>
            <a:pPr marL="0" indent="0">
              <a:buNone/>
            </a:pP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Multiple R-squared:  0.7932,	Adjusted R-squared:  0.7902 </a:t>
            </a:r>
          </a:p>
          <a:p>
            <a:pPr marL="0" indent="0">
              <a:buNone/>
            </a:pP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F-statistic: 260.9 on 1 and 68 DF,  p-value: &lt; 2.2e-16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C95F61-D332-DD03-59CB-B1A472066EB9}"/>
              </a:ext>
            </a:extLst>
          </p:cNvPr>
          <p:cNvSpPr/>
          <p:nvPr/>
        </p:nvSpPr>
        <p:spPr>
          <a:xfrm>
            <a:off x="1460665" y="4310747"/>
            <a:ext cx="1187532" cy="3325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002970-0D5E-E164-012C-5A5D4243142A}"/>
              </a:ext>
            </a:extLst>
          </p:cNvPr>
          <p:cNvSpPr/>
          <p:nvPr/>
        </p:nvSpPr>
        <p:spPr>
          <a:xfrm>
            <a:off x="2648196" y="4310746"/>
            <a:ext cx="2802577" cy="3325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0F2404-B3F9-F84E-F700-1286DAEB1610}"/>
              </a:ext>
            </a:extLst>
          </p:cNvPr>
          <p:cNvSpPr/>
          <p:nvPr/>
        </p:nvSpPr>
        <p:spPr>
          <a:xfrm>
            <a:off x="1460663" y="4706992"/>
            <a:ext cx="1294411" cy="3325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3B2736-C16E-CD21-E58A-50E3986BD9BC}"/>
              </a:ext>
            </a:extLst>
          </p:cNvPr>
          <p:cNvSpPr/>
          <p:nvPr/>
        </p:nvSpPr>
        <p:spPr>
          <a:xfrm>
            <a:off x="2755073" y="4706992"/>
            <a:ext cx="3340927" cy="3325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401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8" grpId="0" animBg="1"/>
      <p:bldP spid="10" grpId="0" animBg="1"/>
      <p:bldP spid="11" grpId="0" animBg="1"/>
      <p:bldP spid="1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E926D-8AF2-836A-D358-5F9D25949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6: Plot predictions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D9840-1B7F-4094-F2AB-01EC6C4C7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With model fit, we can now show the full predicted relationship</a:t>
            </a:r>
          </a:p>
          <a:p>
            <a:r>
              <a:rPr lang="en-GB" dirty="0"/>
              <a:t>Generate fake values of explanatory variable</a:t>
            </a:r>
          </a:p>
          <a:p>
            <a:r>
              <a:rPr lang="en-GB" dirty="0"/>
              <a:t>Apply our equation to get predicted </a:t>
            </a:r>
            <a:r>
              <a:rPr lang="en-GB" dirty="0" err="1"/>
              <a:t>sst</a:t>
            </a:r>
            <a:endParaRPr lang="en-GB" dirty="0"/>
          </a:p>
          <a:p>
            <a:r>
              <a:rPr lang="en-GB" dirty="0"/>
              <a:t>Plot</a:t>
            </a:r>
          </a:p>
          <a:p>
            <a:r>
              <a:rPr lang="en-GB" dirty="0"/>
              <a:t>(We’ll cover 95% CI in next week’s lecture)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7E3F776-5F7A-2A4B-4961-102BC248BC5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2558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E926D-8AF2-836A-D358-5F9D25949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6: Plot predictions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D9840-1B7F-4094-F2AB-01EC6C4C7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6359525" cy="5240194"/>
          </a:xfrm>
        </p:spPr>
        <p:txBody>
          <a:bodyPr/>
          <a:lstStyle/>
          <a:p>
            <a:r>
              <a:rPr lang="en-GB" dirty="0"/>
              <a:t>With model fit, we can now show the full predicted relationship</a:t>
            </a:r>
          </a:p>
          <a:p>
            <a:r>
              <a:rPr lang="en-GB" dirty="0"/>
              <a:t>Generate fake values of explanatory variable</a:t>
            </a:r>
          </a:p>
          <a:p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fake &lt;-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data.frame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b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co2 =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(from = min(cc_dat$co2),</a:t>
            </a:r>
            <a:b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    to = max(cc_dat$co2),</a:t>
            </a:r>
            <a:b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		   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length.out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25))</a:t>
            </a:r>
          </a:p>
          <a:p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fake$fit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&lt;- predict(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cc_mod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        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newdata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fake)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CEABB977-9AF6-158C-E93F-D846260F5A0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/>
          <a:srcRect l="-38314" r="-32755"/>
          <a:stretch/>
        </p:blipFill>
        <p:spPr>
          <a:xfrm>
            <a:off x="6359525" y="0"/>
            <a:ext cx="5832475" cy="6858000"/>
          </a:xfr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6AB1757-8656-86CA-2B1E-B91317C0719E}"/>
              </a:ext>
            </a:extLst>
          </p:cNvPr>
          <p:cNvSpPr/>
          <p:nvPr/>
        </p:nvSpPr>
        <p:spPr>
          <a:xfrm>
            <a:off x="9429008" y="0"/>
            <a:ext cx="1674421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4795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E926D-8AF2-836A-D358-5F9D25949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6: Plot predictions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D9840-1B7F-4094-F2AB-01EC6C4C7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With model fit, we can now show the full predicted relationship</a:t>
            </a:r>
          </a:p>
          <a:p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(fake) +</a:t>
            </a:r>
            <a:b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geom_line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b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	x = co2,</a:t>
            </a:r>
            <a:b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	y = fit))</a:t>
            </a:r>
          </a:p>
          <a:p>
            <a:r>
              <a:rPr lang="en-GB" dirty="0"/>
              <a:t>Add the actual data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… + 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geom_point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(data =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cc_dat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(x = co2,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		    y =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sst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endParaRPr lang="en-GB" dirty="0"/>
          </a:p>
        </p:txBody>
      </p:sp>
      <p:pic>
        <p:nvPicPr>
          <p:cNvPr id="6" name="Picture Placeholder 5" descr="A graph on a black background&#10;&#10;Description automatically generated">
            <a:extLst>
              <a:ext uri="{FF2B5EF4-FFF2-40B4-BE49-F238E27FC236}">
                <a16:creationId xmlns:a16="http://schemas.microsoft.com/office/drawing/2014/main" id="{38838664-29A1-8CFC-DD5C-B17B6BBE592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p:pic>
        <p:nvPicPr>
          <p:cNvPr id="8" name="Picture 7" descr="A graph with white dots&#10;&#10;Description automatically generated">
            <a:extLst>
              <a:ext uri="{FF2B5EF4-FFF2-40B4-BE49-F238E27FC236}">
                <a16:creationId xmlns:a16="http://schemas.microsoft.com/office/drawing/2014/main" id="{06532282-12C8-FA9B-06A2-1BD62CD834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9826" y="0"/>
            <a:ext cx="5751871" cy="6858000"/>
          </a:xfrm>
          <a:prstGeom prst="rect">
            <a:avLst/>
          </a:prstGeom>
        </p:spPr>
      </p:pic>
      <p:pic>
        <p:nvPicPr>
          <p:cNvPr id="12" name="Picture 11" descr="A graph with a line and dots&#10;&#10;Description automatically generated with medium confidence">
            <a:extLst>
              <a:ext uri="{FF2B5EF4-FFF2-40B4-BE49-F238E27FC236}">
                <a16:creationId xmlns:a16="http://schemas.microsoft.com/office/drawing/2014/main" id="{F09EAB32-4B60-C7E8-C9A6-71FD9ED46B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9825" y="0"/>
            <a:ext cx="5751871" cy="6858000"/>
          </a:xfrm>
          <a:prstGeom prst="rect">
            <a:avLst/>
          </a:prstGeom>
        </p:spPr>
      </p:pic>
      <p:pic>
        <p:nvPicPr>
          <p:cNvPr id="14" name="Picture 13" descr="A graph on a black background&#10;&#10;Description automatically generated">
            <a:extLst>
              <a:ext uri="{FF2B5EF4-FFF2-40B4-BE49-F238E27FC236}">
                <a16:creationId xmlns:a16="http://schemas.microsoft.com/office/drawing/2014/main" id="{D6DB337A-0B83-2C07-72AD-DAC7A4ACE9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9824" y="0"/>
            <a:ext cx="5751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287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926A4-5728-77C8-7061-E97F66716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7: Discuss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3F94A-4F01-BFFE-CF9B-34149B100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Is climate change a scam?</a:t>
            </a:r>
          </a:p>
          <a:p>
            <a:r>
              <a:rPr lang="en-GB" dirty="0"/>
              <a:t>How conclusive is our evidence?</a:t>
            </a:r>
          </a:p>
          <a:p>
            <a:pPr lvl="1"/>
            <a:r>
              <a:rPr lang="en-GB" dirty="0"/>
              <a:t>Are there any alternative ways to interpret the results?</a:t>
            </a:r>
          </a:p>
          <a:p>
            <a:r>
              <a:rPr lang="en-GB" dirty="0"/>
              <a:t>What additional assumptions do we make if we believe CC is real?</a:t>
            </a:r>
          </a:p>
          <a:p>
            <a:pPr lvl="1"/>
            <a:r>
              <a:rPr lang="en-GB" dirty="0"/>
              <a:t>Is the data suitable for answering our question?</a:t>
            </a:r>
          </a:p>
          <a:p>
            <a:r>
              <a:rPr lang="en-GB" dirty="0"/>
              <a:t>Are those assumptions fair?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954072B4-DAC7-703C-E701-2FFABB1EFD5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2" r="12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279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62A75-D96B-11A8-1F25-1A629FC1B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200211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 err="1"/>
              <a:t>tl;dr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/>
              <a:t>Complete analysis in 26 lines of code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5A3AE7-8C35-5EEA-C8C4-662C396B5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928" y="1200211"/>
            <a:ext cx="11090144" cy="5521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463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sbs_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hnschrift Light">
      <a:majorFont>
        <a:latin typeface="Bahnschrift Light"/>
        <a:ea typeface=""/>
        <a:cs typeface=""/>
      </a:majorFont>
      <a:minorFont>
        <a:latin typeface="Bahnschrif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bs_slide_template.potx" id="{ECECA26D-C7D9-428D-8AE3-0DEBE87A348A}" vid="{A052F16A-C2E7-4086-BA7D-A0C2C9C1F8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sbs_template</Template>
  <TotalTime>2086</TotalTime>
  <Words>1622</Words>
  <Application>Microsoft Office PowerPoint</Application>
  <PresentationFormat>Widescreen</PresentationFormat>
  <Paragraphs>210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Aptos</vt:lpstr>
      <vt:lpstr>Arial</vt:lpstr>
      <vt:lpstr>Bahnschrift Light</vt:lpstr>
      <vt:lpstr>Cambria Math</vt:lpstr>
      <vt:lpstr>Courier New</vt:lpstr>
      <vt:lpstr>sbs_template</vt:lpstr>
      <vt:lpstr>Model diagnostics for linear models </vt:lpstr>
      <vt:lpstr>The Monkey’s Paw</vt:lpstr>
      <vt:lpstr>Assumptions</vt:lpstr>
      <vt:lpstr>Assumption of Normality</vt:lpstr>
      <vt:lpstr>Work smarter,  not harder</vt:lpstr>
      <vt:lpstr>Make life easier</vt:lpstr>
      <vt:lpstr>The four horseman</vt:lpstr>
      <vt:lpstr>Residuals vs Fitted</vt:lpstr>
      <vt:lpstr>Residuals vs Fitted</vt:lpstr>
      <vt:lpstr>Residuals vs Fitted</vt:lpstr>
      <vt:lpstr>Residuals vs Fitted</vt:lpstr>
      <vt:lpstr>The four horseman</vt:lpstr>
      <vt:lpstr>Scale-Location</vt:lpstr>
      <vt:lpstr>The four horseman</vt:lpstr>
      <vt:lpstr>Q-Q Residuals</vt:lpstr>
      <vt:lpstr>The four horseman</vt:lpstr>
      <vt:lpstr>Residuals vs Leverage</vt:lpstr>
      <vt:lpstr>The four horseman</vt:lpstr>
      <vt:lpstr>Satisfied?</vt:lpstr>
      <vt:lpstr>Hidden assumptions</vt:lpstr>
      <vt:lpstr>Satisfied?</vt:lpstr>
      <vt:lpstr>Linear models with continuous variable: Full workflow example</vt:lpstr>
      <vt:lpstr>Climate change</vt:lpstr>
      <vt:lpstr>Step 1: Get data</vt:lpstr>
      <vt:lpstr>Step 2: Explore data</vt:lpstr>
      <vt:lpstr>Step 3: Fit model</vt:lpstr>
      <vt:lpstr>Step 4: Diagnose</vt:lpstr>
      <vt:lpstr>Step 5: Summarise</vt:lpstr>
      <vt:lpstr>Step 6: Plot predictions</vt:lpstr>
      <vt:lpstr>Step 6: Plot predictions</vt:lpstr>
      <vt:lpstr>Step 6: Plot predictions</vt:lpstr>
      <vt:lpstr>Step 7: Discuss</vt:lpstr>
      <vt:lpstr>tl;dr  Complete analysis in 26 lines of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Roos, Deon</dc:creator>
  <cp:lastModifiedBy>Roos, Deon</cp:lastModifiedBy>
  <cp:revision>9</cp:revision>
  <dcterms:created xsi:type="dcterms:W3CDTF">2024-07-10T10:11:43Z</dcterms:created>
  <dcterms:modified xsi:type="dcterms:W3CDTF">2024-09-05T14:17:58Z</dcterms:modified>
</cp:coreProperties>
</file>