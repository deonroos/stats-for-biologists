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1" r:id="rId6"/>
    <p:sldId id="279" r:id="rId7"/>
    <p:sldId id="318" r:id="rId8"/>
    <p:sldId id="319" r:id="rId9"/>
    <p:sldId id="280" r:id="rId10"/>
    <p:sldId id="262" r:id="rId11"/>
    <p:sldId id="265" r:id="rId12"/>
    <p:sldId id="266" r:id="rId13"/>
    <p:sldId id="273" r:id="rId14"/>
    <p:sldId id="287" r:id="rId15"/>
    <p:sldId id="288" r:id="rId16"/>
    <p:sldId id="320" r:id="rId17"/>
    <p:sldId id="30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392" y="7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7081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0169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4190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89571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4360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308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4300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220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4008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411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43585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D84ED-9E58-9305-CB3A-4F4B158F3C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1580E1-1396-1801-4D68-CDA90894AC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F27A1-86DF-0C01-07B6-A24FBD47A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D5DEA-D49C-A08F-7EC5-1C1A09D05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1ED67-E660-B6E8-2CD2-AEA6ECF4C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2147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66AAF-4858-49E9-B86B-FBFED3DD34F6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FD51F-43B6-4DFB-8451-ED4C954B70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9300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E9FA64-2165-4ED8-BB13-AC16E72ED8FC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5010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gif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CD2FE-D408-02B0-484B-B0AFD9D3A7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modelling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314DCB-1384-C7ED-C3DC-6865FE5310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With categorical explanatory variables</a:t>
            </a:r>
          </a:p>
        </p:txBody>
      </p:sp>
    </p:spTree>
    <p:extLst>
      <p:ext uri="{BB962C8B-B14F-4D97-AF65-F5344CB8AC3E}">
        <p14:creationId xmlns:p14="http://schemas.microsoft.com/office/powerpoint/2010/main" val="13783124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951A6-7F4A-884C-A450-BB7AE86A9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</p:spTree>
    <p:extLst>
      <p:ext uri="{BB962C8B-B14F-4D97-AF65-F5344CB8AC3E}">
        <p14:creationId xmlns:p14="http://schemas.microsoft.com/office/powerpoint/2010/main" val="3858565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1BB08-C428-8B0B-8C2A-960C0FCEC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Stone sheep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4734FE-52C7-2CF0-B2D8-57B8513F17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Wild sheep from Canada</a:t>
            </a:r>
          </a:p>
          <a:p>
            <a:r>
              <a:rPr lang="en-GB" dirty="0"/>
              <a:t>Sexual selection for large horns</a:t>
            </a:r>
          </a:p>
          <a:p>
            <a:r>
              <a:rPr lang="en-GB" dirty="0"/>
              <a:t>Hunters target males with long horns</a:t>
            </a:r>
          </a:p>
          <a:p>
            <a:r>
              <a:rPr lang="en-GB" dirty="0"/>
              <a:t>Hunting *records* started in 1972</a:t>
            </a:r>
          </a:p>
          <a:p>
            <a:endParaRPr lang="en-GB" dirty="0"/>
          </a:p>
          <a:p>
            <a:r>
              <a:rPr lang="en-GB" dirty="0"/>
              <a:t>Does hunting males with large horns lead to selection pressure?</a:t>
            </a:r>
          </a:p>
        </p:txBody>
      </p:sp>
      <p:pic>
        <p:nvPicPr>
          <p:cNvPr id="13" name="Picture Placeholder 12" descr="A ram with horns on its head&#10;&#10;Description automatically generated">
            <a:extLst>
              <a:ext uri="{FF2B5EF4-FFF2-40B4-BE49-F238E27FC236}">
                <a16:creationId xmlns:a16="http://schemas.microsoft.com/office/drawing/2014/main" id="{1ED46EC2-D3E0-74B1-EFF6-D5B25A8DA06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" t="-34710" b="-32143"/>
          <a:stretch/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908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2F3BA-924D-749A-4144-BA031EE43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response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707EAE-1713-0F71-C42C-F260545726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All hunted sheep are inspected</a:t>
                </a:r>
              </a:p>
              <a:p>
                <a:r>
                  <a:rPr lang="en-GB" dirty="0"/>
                  <a:t>Various information collected</a:t>
                </a:r>
              </a:p>
              <a:p>
                <a:pPr lvl="1"/>
                <a:r>
                  <a:rPr lang="en-GB" dirty="0"/>
                  <a:t>Of most interest is horn length (mm)</a:t>
                </a:r>
              </a:p>
              <a:p>
                <a:r>
                  <a:rPr lang="en-GB" dirty="0"/>
                  <a:t>Horn length is averaged by cohort, year and region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(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horn</a:t>
                </a:r>
                <a:r>
                  <a:rPr lang="en-GB" dirty="0"/>
                  <a:t>) represents the average horn length for a given year, in a given region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represents year and region</a:t>
                </a:r>
              </a:p>
              <a:p>
                <a:r>
                  <a:rPr lang="en-GB" dirty="0"/>
                  <a:t>Any issues?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707EAE-1713-0F71-C42C-F260545726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A1BBEDCB-6B55-9DC1-108E-AE1B6C35782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b="27856"/>
          <a:stretch/>
        </p:blipFill>
        <p:spPr>
          <a:xfrm>
            <a:off x="6521537" y="-1"/>
            <a:ext cx="5670463" cy="6858001"/>
          </a:xfrm>
        </p:spPr>
      </p:pic>
    </p:spTree>
    <p:extLst>
      <p:ext uri="{BB962C8B-B14F-4D97-AF65-F5344CB8AC3E}">
        <p14:creationId xmlns:p14="http://schemas.microsoft.com/office/powerpoint/2010/main" val="68093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2F3BA-924D-749A-4144-BA031EE43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explanatory variable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07EAE-1713-0F71-C42C-F26054572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Hunting pressure ideally measured as number hunted given total population size</a:t>
            </a:r>
          </a:p>
          <a:p>
            <a:pPr lvl="1"/>
            <a:r>
              <a:rPr lang="en-GB" dirty="0"/>
              <a:t>But population density is insanely difficult to estimate</a:t>
            </a:r>
          </a:p>
          <a:p>
            <a:r>
              <a:rPr lang="en-GB" dirty="0"/>
              <a:t>Instead, we can use region as a simplified version of hunting pressure</a:t>
            </a:r>
          </a:p>
          <a:p>
            <a:pPr lvl="1"/>
            <a:r>
              <a:rPr lang="en-GB" dirty="0"/>
              <a:t>Skeena region has high hunting pressure</a:t>
            </a:r>
          </a:p>
          <a:p>
            <a:pPr lvl="1"/>
            <a:r>
              <a:rPr lang="en-GB" dirty="0"/>
              <a:t>Peace has lower hunting pressure</a:t>
            </a:r>
          </a:p>
        </p:txBody>
      </p:sp>
      <p:pic>
        <p:nvPicPr>
          <p:cNvPr id="7" name="Picture Placeholder 7">
            <a:extLst>
              <a:ext uri="{FF2B5EF4-FFF2-40B4-BE49-F238E27FC236}">
                <a16:creationId xmlns:a16="http://schemas.microsoft.com/office/drawing/2014/main" id="{62C6E2CD-E2D8-FC8E-9F8D-60E963FCA7A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2055" b="2055"/>
          <a:stretch/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4241134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93029-6D74-DE34-D70E-20838E348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 to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55343-B2B5-2352-38B4-187CA307BA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We want to understand how horn length differs in the two regions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is horn length</a:t>
                </a:r>
              </a:p>
              <a:p>
                <a:r>
                  <a:rPr lang="en-GB" dirty="0"/>
                  <a:t>But how do we include region?</a:t>
                </a:r>
              </a:p>
              <a:p>
                <a:r>
                  <a:rPr lang="en-GB" dirty="0"/>
                  <a:t>Our current toolkit: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/>
                  <a:t>How do we 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dirty="0"/>
                  <a:t> Skeena?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55343-B2B5-2352-38B4-187CA307BA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9C262E74-540A-D442-7504-74FB59BC670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205906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4C66BE6-BE14-B0F3-70B7-CB806F2958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2901758"/>
              </p:ext>
            </p:extLst>
          </p:nvPr>
        </p:nvGraphicFramePr>
        <p:xfrm>
          <a:off x="3513455" y="2421759"/>
          <a:ext cx="5588248" cy="29765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2030">
                  <a:extLst>
                    <a:ext uri="{9D8B030D-6E8A-4147-A177-3AD203B41FA5}">
                      <a16:colId xmlns:a16="http://schemas.microsoft.com/office/drawing/2014/main" val="1631074993"/>
                    </a:ext>
                  </a:extLst>
                </a:gridCol>
                <a:gridCol w="1525822">
                  <a:extLst>
                    <a:ext uri="{9D8B030D-6E8A-4147-A177-3AD203B41FA5}">
                      <a16:colId xmlns:a16="http://schemas.microsoft.com/office/drawing/2014/main" val="329483513"/>
                    </a:ext>
                  </a:extLst>
                </a:gridCol>
                <a:gridCol w="1512266">
                  <a:extLst>
                    <a:ext uri="{9D8B030D-6E8A-4147-A177-3AD203B41FA5}">
                      <a16:colId xmlns:a16="http://schemas.microsoft.com/office/drawing/2014/main" val="2121409823"/>
                    </a:ext>
                  </a:extLst>
                </a:gridCol>
                <a:gridCol w="1548130">
                  <a:extLst>
                    <a:ext uri="{9D8B030D-6E8A-4147-A177-3AD203B41FA5}">
                      <a16:colId xmlns:a16="http://schemas.microsoft.com/office/drawing/2014/main" val="1439391126"/>
                    </a:ext>
                  </a:extLst>
                </a:gridCol>
              </a:tblGrid>
              <a:tr h="38144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horn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region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skeena</a:t>
                      </a:r>
                      <a:endParaRPr lang="en-GB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1381722"/>
                  </a:ext>
                </a:extLst>
              </a:tr>
              <a:tr h="377371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324.74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6005041"/>
                  </a:ext>
                </a:extLst>
              </a:tr>
              <a:tr h="34834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323.68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skeena</a:t>
                      </a:r>
                      <a:endParaRPr lang="en-GB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740005"/>
                  </a:ext>
                </a:extLst>
              </a:tr>
              <a:tr h="38898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304.97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2000577"/>
                  </a:ext>
                </a:extLst>
              </a:tr>
              <a:tr h="362857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332.48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skeena</a:t>
                      </a:r>
                      <a:endParaRPr lang="en-GB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478642"/>
                  </a:ext>
                </a:extLst>
              </a:tr>
              <a:tr h="35995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364.21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skeena</a:t>
                      </a:r>
                      <a:endParaRPr lang="en-GB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0825967"/>
                  </a:ext>
                </a:extLst>
              </a:tr>
              <a:tr h="357051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328.74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908784"/>
                  </a:ext>
                </a:extLst>
              </a:tr>
              <a:tr h="32592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392.45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873268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A20709E8-31FA-0FD6-4ED0-1E962DAC5DFF}"/>
              </a:ext>
            </a:extLst>
          </p:cNvPr>
          <p:cNvSpPr/>
          <p:nvPr/>
        </p:nvSpPr>
        <p:spPr>
          <a:xfrm>
            <a:off x="6054726" y="3192861"/>
            <a:ext cx="1494172" cy="22098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803D7C-DAF8-A641-B668-CE229C7F1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Categories in linear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623B92-C92C-A926-DBDF-304E58B21F39}"/>
                  </a:ext>
                </a:extLst>
              </p:cNvPr>
              <p:cNvSpPr txBox="1"/>
              <p:nvPr/>
            </p:nvSpPr>
            <p:spPr>
              <a:xfrm>
                <a:off x="0" y="1435873"/>
                <a:ext cx="12192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𝑆𝑘𝑒𝑒𝑛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623B92-C92C-A926-DBDF-304E58B21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35873"/>
                <a:ext cx="12192000" cy="523220"/>
              </a:xfrm>
              <a:prstGeom prst="rect">
                <a:avLst/>
              </a:prstGeom>
              <a:blipFill>
                <a:blip r:embed="rId2"/>
                <a:stretch>
                  <a:fillRect t="-15294" b="-30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67A0CD7C-3E90-40E6-F396-9073B84A63E2}"/>
              </a:ext>
            </a:extLst>
          </p:cNvPr>
          <p:cNvSpPr/>
          <p:nvPr/>
        </p:nvSpPr>
        <p:spPr>
          <a:xfrm>
            <a:off x="6054726" y="2414201"/>
            <a:ext cx="1494172" cy="7691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CFBA6F-FFE0-43B0-753F-6E3B955C35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557185" y="2625835"/>
                <a:ext cx="8174315" cy="4546145"/>
              </a:xfrm>
            </p:spPr>
            <p:txBody>
              <a:bodyPr>
                <a:normAutofit/>
              </a:bodyPr>
              <a:lstStyle/>
              <a:p>
                <a:r>
                  <a:rPr lang="en-GB" dirty="0">
                    <a:latin typeface="Bahnschrift Light" panose="020B0502040204020203" pitchFamily="34" charset="0"/>
                  </a:rPr>
                  <a:t>We want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region</a:t>
                </a:r>
                <a:r>
                  <a:rPr lang="en-GB" dirty="0">
                    <a:latin typeface="Bahnschrift Light" panose="020B0502040204020203" pitchFamily="34" charset="0"/>
                  </a:rPr>
                  <a:t> in the model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But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region</a:t>
                </a:r>
                <a:r>
                  <a:rPr lang="en-GB" dirty="0">
                    <a:latin typeface="Bahnschrift Light" panose="020B0502040204020203" pitchFamily="34" charset="0"/>
                  </a:rPr>
                  <a:t> contains strings (i.e. words)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How do you do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4.6×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𝑃𝑒𝑎𝑐𝑒</m:t>
                    </m:r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?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You don’t! Behind the scenes R converts your factor in to a series of columns: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CFBA6F-FFE0-43B0-753F-6E3B955C35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57185" y="2625835"/>
                <a:ext cx="8174315" cy="4546145"/>
              </a:xfrm>
              <a:blipFill>
                <a:blip r:embed="rId3"/>
                <a:stretch>
                  <a:fillRect l="-1342" t="-308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FA3F16-781A-C6BD-13DE-4071E57A1F69}"/>
                  </a:ext>
                </a:extLst>
              </p:cNvPr>
              <p:cNvSpPr txBox="1"/>
              <p:nvPr/>
            </p:nvSpPr>
            <p:spPr>
              <a:xfrm>
                <a:off x="3604293" y="5748752"/>
                <a:ext cx="540657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sz="2800" dirty="0"/>
                  <a:t> (if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800" dirty="0"/>
                  <a:t>is Skeena)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FA3F16-781A-C6BD-13DE-4071E57A1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4293" y="5748752"/>
                <a:ext cx="5406571" cy="523220"/>
              </a:xfrm>
              <a:prstGeom prst="rect">
                <a:avLst/>
              </a:prstGeom>
              <a:blipFill>
                <a:blip r:embed="rId4"/>
                <a:stretch>
                  <a:fillRect t="-13953" b="-290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65CFF4B8-4784-89DC-44C7-17441072FAC3}"/>
              </a:ext>
            </a:extLst>
          </p:cNvPr>
          <p:cNvSpPr/>
          <p:nvPr/>
        </p:nvSpPr>
        <p:spPr>
          <a:xfrm>
            <a:off x="7570356" y="2367563"/>
            <a:ext cx="1612331" cy="3054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758E417-AC9B-60E9-F758-BDCAE81E9222}"/>
                  </a:ext>
                </a:extLst>
              </p:cNvPr>
              <p:cNvSpPr txBox="1"/>
              <p:nvPr/>
            </p:nvSpPr>
            <p:spPr>
              <a:xfrm>
                <a:off x="3604293" y="5750553"/>
                <a:ext cx="540657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sz="2800" dirty="0"/>
                  <a:t> (if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800" dirty="0"/>
                  <a:t>is Peace)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758E417-AC9B-60E9-F758-BDCAE81E9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4293" y="5750553"/>
                <a:ext cx="5406571" cy="523220"/>
              </a:xfrm>
              <a:prstGeom prst="rect">
                <a:avLst/>
              </a:prstGeom>
              <a:blipFill>
                <a:blip r:embed="rId5"/>
                <a:stretch>
                  <a:fillRect t="-13953" b="-290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7177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/>
      <p:bldP spid="5" grpId="0" animBg="1"/>
      <p:bldP spid="3" grpId="0" uiExpand="1" build="p"/>
      <p:bldP spid="3" grpId="1" uiExpand="1" build="p"/>
      <p:bldP spid="10" grpId="0"/>
      <p:bldP spid="9" grpId="0" animBg="1"/>
      <p:bldP spid="15" grpId="0"/>
      <p:bldP spid="15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4C66BE6-BE14-B0F3-70B7-CB806F2958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5408760"/>
              </p:ext>
            </p:extLst>
          </p:nvPr>
        </p:nvGraphicFramePr>
        <p:xfrm>
          <a:off x="7619241" y="2650359"/>
          <a:ext cx="4040118" cy="29765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2030">
                  <a:extLst>
                    <a:ext uri="{9D8B030D-6E8A-4147-A177-3AD203B41FA5}">
                      <a16:colId xmlns:a16="http://schemas.microsoft.com/office/drawing/2014/main" val="1631074993"/>
                    </a:ext>
                  </a:extLst>
                </a:gridCol>
                <a:gridCol w="1525822">
                  <a:extLst>
                    <a:ext uri="{9D8B030D-6E8A-4147-A177-3AD203B41FA5}">
                      <a16:colId xmlns:a16="http://schemas.microsoft.com/office/drawing/2014/main" val="329483513"/>
                    </a:ext>
                  </a:extLst>
                </a:gridCol>
                <a:gridCol w="1512266">
                  <a:extLst>
                    <a:ext uri="{9D8B030D-6E8A-4147-A177-3AD203B41FA5}">
                      <a16:colId xmlns:a16="http://schemas.microsoft.com/office/drawing/2014/main" val="2121409823"/>
                    </a:ext>
                  </a:extLst>
                </a:gridCol>
              </a:tblGrid>
              <a:tr h="38144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horn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region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skeena</a:t>
                      </a:r>
                      <a:endParaRPr lang="en-GB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1381722"/>
                  </a:ext>
                </a:extLst>
              </a:tr>
              <a:tr h="377371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324.74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6005041"/>
                  </a:ext>
                </a:extLst>
              </a:tr>
              <a:tr h="34834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323.68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skeena</a:t>
                      </a:r>
                      <a:endParaRPr lang="en-GB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740005"/>
                  </a:ext>
                </a:extLst>
              </a:tr>
              <a:tr h="38898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304.97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2000577"/>
                  </a:ext>
                </a:extLst>
              </a:tr>
              <a:tr h="362857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332.48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skeena</a:t>
                      </a:r>
                      <a:endParaRPr lang="en-GB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478642"/>
                  </a:ext>
                </a:extLst>
              </a:tr>
              <a:tr h="35995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364.21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skeena</a:t>
                      </a:r>
                      <a:endParaRPr lang="en-GB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0825967"/>
                  </a:ext>
                </a:extLst>
              </a:tr>
              <a:tr h="357051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328.74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908784"/>
                  </a:ext>
                </a:extLst>
              </a:tr>
              <a:tr h="32592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392.45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8732683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88803D7C-DAF8-A641-B668-CE229C7F1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Categories in linear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623B92-C92C-A926-DBDF-304E58B21F39}"/>
                  </a:ext>
                </a:extLst>
              </p:cNvPr>
              <p:cNvSpPr txBox="1"/>
              <p:nvPr/>
            </p:nvSpPr>
            <p:spPr>
              <a:xfrm>
                <a:off x="7619240" y="1880373"/>
                <a:ext cx="404011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𝑆𝑘𝑒𝑒𝑛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623B92-C92C-A926-DBDF-304E58B21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9240" y="1880373"/>
                <a:ext cx="4040119" cy="523220"/>
              </a:xfrm>
              <a:prstGeom prst="rect">
                <a:avLst/>
              </a:prstGeom>
              <a:blipFill>
                <a:blip r:embed="rId2"/>
                <a:stretch>
                  <a:fillRect t="-13953" r="-1961" b="-290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040BE09-F2A5-F58A-3640-A8C9A3F738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-58256" y="1633210"/>
                <a:ext cx="7094056" cy="4546145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GB" dirty="0">
                    <a:latin typeface="Bahnschrift Light" panose="020B0502040204020203" pitchFamily="34" charset="0"/>
                  </a:rPr>
                  <a:t>We take all but one category and convert to 0 (not part of this group) or 1 (part of this group)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Multiplying by 0 “turns off”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Multiplying by 1 “turns on”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 is therefore the difference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 and Skeena</a:t>
                </a:r>
              </a:p>
              <a:p>
                <a:pPr lvl="1"/>
                <a:r>
                  <a:rPr lang="en-GB" dirty="0">
                    <a:latin typeface="Bahnschrift Light" panose="020B0502040204020203" pitchFamily="34" charset="0"/>
                  </a:rPr>
                  <a:t>I.e. the increase, decrease or no difference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What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?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 defaults to the category without a parameter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 is the horn length in Peace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 is the difference between Skeena and Peace</a:t>
                </a:r>
              </a:p>
            </p:txBody>
          </p:sp>
        </mc:Choice>
        <mc:Fallback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040BE09-F2A5-F58A-3640-A8C9A3F738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-58256" y="1633210"/>
                <a:ext cx="7094056" cy="4546145"/>
              </a:xfrm>
              <a:blipFill>
                <a:blip r:embed="rId3"/>
                <a:stretch>
                  <a:fillRect l="-1289" t="-3887" r="-249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012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BC54-9A7C-9FB4-FC45-F2B8FD1C6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Get to know your data</a:t>
            </a:r>
          </a:p>
        </p:txBody>
      </p:sp>
    </p:spTree>
    <p:extLst>
      <p:ext uri="{BB962C8B-B14F-4D97-AF65-F5344CB8AC3E}">
        <p14:creationId xmlns:p14="http://schemas.microsoft.com/office/powerpoint/2010/main" val="3655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FE9F9-3320-524D-5BCA-870450520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3B30DF-BD50-7D1C-8476-0DB951389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FF53972-E18B-5FB1-EC6C-578BC35F5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6534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9C1CF-1707-78F8-1BAB-9F5A6FA4D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 we take away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7B79F-630E-A235-6D8F-063C3F997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76D5DC1-DA83-D27C-C9C2-2BFD3794730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3888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BA3C8-EE17-6E99-E3EF-EDF17B71C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 need two pieces of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D516CB-DD61-AB6A-1AFC-8EC197FC18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To answer our questions, we need two pieces of information</a:t>
                </a:r>
              </a:p>
              <a:p>
                <a:pPr lvl="1"/>
                <a:r>
                  <a:rPr lang="en-GB" dirty="0"/>
                  <a:t>What is the intercept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)?</a:t>
                </a:r>
              </a:p>
              <a:p>
                <a:pPr lvl="1"/>
                <a:r>
                  <a:rPr lang="en-GB" dirty="0"/>
                  <a:t>What is the slope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)?</a:t>
                </a:r>
              </a:p>
              <a:p>
                <a:r>
                  <a:rPr lang="en-GB" dirty="0"/>
                  <a:t>An infinite number of possible combinations</a:t>
                </a:r>
              </a:p>
              <a:p>
                <a:r>
                  <a:rPr lang="en-GB" dirty="0"/>
                  <a:t>How do we figure out which one is best?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D516CB-DD61-AB6A-1AFC-8EC197FC18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Placeholder 13" descr="A graph with white dots and red line&#10;&#10;Description automatically generated">
            <a:extLst>
              <a:ext uri="{FF2B5EF4-FFF2-40B4-BE49-F238E27FC236}">
                <a16:creationId xmlns:a16="http://schemas.microsoft.com/office/drawing/2014/main" id="{3FF64AEF-7FB0-8AD3-20AA-2CC3F60FAEB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" t="-9125" r="-306" b="-8835"/>
          <a:stretch/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127425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50B0D-3F0C-33D4-500E-9AD133293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5069B-4931-5234-28CB-C023D3797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can use residual error as a metric for evaluating each parameter combination</a:t>
            </a:r>
          </a:p>
          <a:p>
            <a:r>
              <a:rPr lang="en-GB" dirty="0"/>
              <a:t>For each parameter combination the model tries, there is residual error for each observation</a:t>
            </a:r>
          </a:p>
          <a:p>
            <a:r>
              <a:rPr lang="en-GB" dirty="0"/>
              <a:t>How would you use these residuals to figure out which parameters work best?</a:t>
            </a:r>
          </a:p>
        </p:txBody>
      </p:sp>
      <p:pic>
        <p:nvPicPr>
          <p:cNvPr id="6" name="Picture Placeholder 5" descr="A graph of a graph with lines and dots&#10;&#10;Description automatically generated">
            <a:extLst>
              <a:ext uri="{FF2B5EF4-FFF2-40B4-BE49-F238E27FC236}">
                <a16:creationId xmlns:a16="http://schemas.microsoft.com/office/drawing/2014/main" id="{CD6AEB72-E346-7535-C057-5F8EEA9C68E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" t="-8268" r="466" b="-8558"/>
          <a:stretch/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128396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9DC50-FA71-1C24-466B-A9CCBA7EF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 we learn biologically?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DD85E9-5CC1-0787-1F41-E9FEE5F819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GB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=40−3.5×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/>
                  <a:t>How many owls would we expect if pine marten density reaches 10 pine marten per 10 km</a:t>
                </a:r>
                <a:r>
                  <a:rPr lang="en-GB" baseline="30000" dirty="0"/>
                  <a:t>2</a:t>
                </a:r>
                <a:r>
                  <a:rPr lang="en-GB" dirty="0"/>
                  <a:t>?</a:t>
                </a:r>
              </a:p>
              <a:p>
                <a:pPr lvl="1"/>
                <a:r>
                  <a:rPr lang="en-GB" dirty="0"/>
                  <a:t>5 tawny owls</a:t>
                </a:r>
              </a:p>
              <a:p>
                <a:r>
                  <a:rPr lang="en-GB" dirty="0"/>
                  <a:t>How would we show the relationship as a whole?</a:t>
                </a:r>
              </a:p>
              <a:p>
                <a:pPr lvl="1"/>
                <a:r>
                  <a:rPr lang="en-GB" dirty="0"/>
                  <a:t>Next lecture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DD85E9-5CC1-0787-1F41-E9FEE5F819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216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Placeholder 5" descr="A person holding a small owl&#10;&#10;Description automatically generated">
            <a:extLst>
              <a:ext uri="{FF2B5EF4-FFF2-40B4-BE49-F238E27FC236}">
                <a16:creationId xmlns:a16="http://schemas.microsoft.com/office/drawing/2014/main" id="{01CFED87-0BE7-5A3D-2DE6-6531231A5F6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98" b="10798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pic>
        <p:nvPicPr>
          <p:cNvPr id="6" name="Picture 5" descr="A graph with lines in it&#10;&#10;Description automatically generated">
            <a:extLst>
              <a:ext uri="{FF2B5EF4-FFF2-40B4-BE49-F238E27FC236}">
                <a16:creationId xmlns:a16="http://schemas.microsoft.com/office/drawing/2014/main" id="{5875069C-6B92-4CD3-5CB5-C4D77369F9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5" y="662781"/>
            <a:ext cx="5847657" cy="584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140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257BF-315C-4A32-0704-0C6DE3E11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Answering our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184A3-1733-1DDA-EBD7-874A7C6AE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Will pine martens returning cause the systems (with tawny owls) to collapse?</a:t>
            </a:r>
          </a:p>
          <a:p>
            <a:r>
              <a:rPr lang="en-GB" dirty="0"/>
              <a:t>Based on this model: “Yes”</a:t>
            </a:r>
          </a:p>
          <a:p>
            <a:r>
              <a:rPr lang="en-GB" dirty="0"/>
              <a:t>But any caveats?</a:t>
            </a:r>
          </a:p>
          <a:p>
            <a:pPr lvl="1"/>
            <a:r>
              <a:rPr lang="en-GB" dirty="0"/>
              <a:t>Do you really know if it’s pine marten </a:t>
            </a:r>
            <a:r>
              <a:rPr lang="en-GB" b="1" dirty="0">
                <a:solidFill>
                  <a:srgbClr val="FFFF00"/>
                </a:solidFill>
              </a:rPr>
              <a:t>causing</a:t>
            </a:r>
            <a:r>
              <a:rPr lang="en-GB" dirty="0"/>
              <a:t> this decline?</a:t>
            </a:r>
          </a:p>
          <a:p>
            <a:pPr lvl="1"/>
            <a:r>
              <a:rPr lang="en-GB" dirty="0"/>
              <a:t>Is the data suitable for answering the question?</a:t>
            </a:r>
          </a:p>
          <a:p>
            <a:pPr lvl="1"/>
            <a:r>
              <a:rPr lang="en-GB" dirty="0"/>
              <a:t>What hidden assumptions are there?</a:t>
            </a:r>
          </a:p>
          <a:p>
            <a:r>
              <a:rPr lang="en-GB" dirty="0"/>
              <a:t>Based on this model, being appropriately cautious: “Maybe”</a:t>
            </a:r>
          </a:p>
        </p:txBody>
      </p:sp>
      <p:pic>
        <p:nvPicPr>
          <p:cNvPr id="6" name="Picture Placeholder 5" descr="A graph on a black background&#10;&#10;Description automatically generated">
            <a:extLst>
              <a:ext uri="{FF2B5EF4-FFF2-40B4-BE49-F238E27FC236}">
                <a16:creationId xmlns:a16="http://schemas.microsoft.com/office/drawing/2014/main" id="{B8A3CFE3-52DB-B397-2BBB-7A87FFABFC4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801988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0F3FD-0765-2ADD-B2BC-F5F405D78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Dichotomania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58289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CB778-27FE-F11F-3899-530F9B253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err="1"/>
              <a:t>tl;dr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2D8CE4-617E-577E-05F7-6375C1C2B25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943099"/>
                <a:ext cx="10868025" cy="4723707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GB" dirty="0"/>
                  <a:t>We always start with a question</a:t>
                </a:r>
              </a:p>
              <a:p>
                <a:r>
                  <a:rPr lang="en-GB" dirty="0"/>
                  <a:t>Statistics is merely how we answer the question</a:t>
                </a:r>
                <a:endParaRPr lang="en-GB" sz="2400" dirty="0">
                  <a:cs typeface="Courier New" panose="02070309020205020404" pitchFamily="49" charset="0"/>
                </a:endParaRPr>
              </a:p>
              <a:p>
                <a:r>
                  <a:rPr lang="en-GB" dirty="0"/>
                  <a:t>Start by plotting your data – get a feel for what’s going on</a:t>
                </a:r>
              </a:p>
              <a:p>
                <a:r>
                  <a:rPr lang="en-GB" dirty="0"/>
                  <a:t>For linear models with continuous variables, we estimate an intercept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) and a slope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)</a:t>
                </a:r>
              </a:p>
              <a:p>
                <a:r>
                  <a:rPr lang="en-GB" dirty="0"/>
                  <a:t>We use algorithms to estimate those values</a:t>
                </a:r>
              </a:p>
              <a:p>
                <a:r>
                  <a:rPr lang="en-GB" dirty="0"/>
                  <a:t>We can then interpret what those parameter values mean biologically</a:t>
                </a:r>
              </a:p>
              <a:p>
                <a:pPr lvl="1"/>
                <a:r>
                  <a:rPr lang="en-GB" dirty="0"/>
                  <a:t>Are they “big”? Should we be concerned? Happy?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2D8CE4-617E-577E-05F7-6375C1C2B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943099"/>
                <a:ext cx="10868025" cy="4723707"/>
              </a:xfrm>
              <a:prstGeom prst="rect">
                <a:avLst/>
              </a:prstGeom>
              <a:blipFill>
                <a:blip r:embed="rId2"/>
                <a:stretch>
                  <a:fillRect l="-1010" t="-24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1499478"/>
      </p:ext>
    </p:extLst>
  </p:cSld>
  <p:clrMapOvr>
    <a:masterClrMapping/>
  </p:clrMapOvr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120</TotalTime>
  <Words>737</Words>
  <Application>Microsoft Office PowerPoint</Application>
  <PresentationFormat>Widescreen</PresentationFormat>
  <Paragraphs>144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Bahnschrift Light</vt:lpstr>
      <vt:lpstr>Cambria Math</vt:lpstr>
      <vt:lpstr>Courier New</vt:lpstr>
      <vt:lpstr>sbs_template</vt:lpstr>
      <vt:lpstr>Linear modelling theory</vt:lpstr>
      <vt:lpstr>The question</vt:lpstr>
      <vt:lpstr>Stone sheep</vt:lpstr>
      <vt:lpstr>Our response variable</vt:lpstr>
      <vt:lpstr>Our explanatory variable</vt:lpstr>
      <vt:lpstr>Question to model</vt:lpstr>
      <vt:lpstr>Categories in linear models</vt:lpstr>
      <vt:lpstr>Categories in linear models</vt:lpstr>
      <vt:lpstr>Get to know your data</vt:lpstr>
      <vt:lpstr>PowerPoint Presentation</vt:lpstr>
      <vt:lpstr>What do we take away</vt:lpstr>
      <vt:lpstr>We need two pieces of information</vt:lpstr>
      <vt:lpstr>Residual error</vt:lpstr>
      <vt:lpstr>What do we learn biologically?</vt:lpstr>
      <vt:lpstr>Answering our question</vt:lpstr>
      <vt:lpstr>Dichotomania</vt:lpstr>
      <vt:lpstr>tl;dr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1</cp:revision>
  <dcterms:created xsi:type="dcterms:W3CDTF">2024-07-16T09:02:29Z</dcterms:created>
  <dcterms:modified xsi:type="dcterms:W3CDTF">2024-07-16T11:03:29Z</dcterms:modified>
</cp:coreProperties>
</file>