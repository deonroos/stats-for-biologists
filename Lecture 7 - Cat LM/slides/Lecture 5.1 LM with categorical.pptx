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7" r:id="rId2"/>
    <p:sldId id="321" r:id="rId3"/>
    <p:sldId id="322" r:id="rId4"/>
    <p:sldId id="258" r:id="rId5"/>
    <p:sldId id="259" r:id="rId6"/>
    <p:sldId id="260" r:id="rId7"/>
    <p:sldId id="261" r:id="rId8"/>
    <p:sldId id="280" r:id="rId9"/>
    <p:sldId id="324" r:id="rId10"/>
    <p:sldId id="279" r:id="rId11"/>
    <p:sldId id="318" r:id="rId12"/>
    <p:sldId id="319" r:id="rId13"/>
    <p:sldId id="325" r:id="rId14"/>
    <p:sldId id="326" r:id="rId15"/>
    <p:sldId id="281" r:id="rId16"/>
    <p:sldId id="323" r:id="rId17"/>
    <p:sldId id="287" r:id="rId18"/>
    <p:sldId id="288" r:id="rId19"/>
    <p:sldId id="327" r:id="rId20"/>
    <p:sldId id="329" r:id="rId21"/>
    <p:sldId id="331" r:id="rId22"/>
    <p:sldId id="333" r:id="rId23"/>
    <p:sldId id="334" r:id="rId24"/>
    <p:sldId id="335" r:id="rId25"/>
    <p:sldId id="332" r:id="rId26"/>
    <p:sldId id="320" r:id="rId27"/>
    <p:sldId id="330" r:id="rId28"/>
    <p:sldId id="30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06761-C467-451A-B631-B83A8FB7E2AD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A05D5-BE59-48F1-821C-F6C56F891E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27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05D5-BE59-48F1-821C-F6C56F891EAA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778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05D5-BE59-48F1-821C-F6C56F891EAA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685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081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16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419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95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3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30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30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22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00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41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58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84ED-9E58-9305-CB3A-4F4B158F3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580E1-1396-1801-4D68-CDA90894A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27A1-86DF-0C01-07B6-A24FBD47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D5DEA-D49C-A08F-7EC5-1C1A09D0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1ED67-E660-B6E8-2CD2-AEA6ECF4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147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30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9FA64-2165-4ED8-BB13-AC16E72ED8FC}" type="datetimeFigureOut">
              <a:rPr lang="en-GB" smtClean="0"/>
              <a:t>29/07/2024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7EDE6-6D2F-458D-BBD0-56182CA81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501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2FE-D408-02B0-484B-B0AFD9D3A7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modelling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14DCB-1384-C7ED-C3DC-6865FE531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categorical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137831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D8A1FA-5737-B5F9-815A-3A556ECB32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/>
              <a:lstStyle/>
              <a:p>
                <a:pPr algn="ctr"/>
                <a:r>
                  <a:rPr lang="en-GB" dirty="0"/>
                  <a:t>Last week we used straight lines</a:t>
                </a: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D8A1FA-5737-B5F9-815A-3A556ECB3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2"/>
                <a:stretch>
                  <a:fillRect t="-13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FE80A6FA-5985-6FE5-9168-C27777F000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574675" y="1325563"/>
            <a:ext cx="4994276" cy="5872420"/>
          </a:xfrm>
          <a:prstGeom prst="rect">
            <a:avLst/>
          </a:prstGeom>
        </p:spPr>
      </p:pic>
      <p:pic>
        <p:nvPicPr>
          <p:cNvPr id="4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7A3E6159-DF52-AC1C-06CF-6D08B93D03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-8972" r="-190" b="-8483"/>
          <a:stretch/>
        </p:blipFill>
        <p:spPr>
          <a:xfrm>
            <a:off x="6096000" y="980569"/>
            <a:ext cx="5222875" cy="61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6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02E1C-A8AC-521C-B842-30D73B73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 straight line?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29BA1-895F-A969-3337-1E4062885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4311"/>
            <a:ext cx="6201295" cy="5052496"/>
          </a:xfrm>
        </p:spPr>
        <p:txBody>
          <a:bodyPr/>
          <a:lstStyle/>
          <a:p>
            <a:r>
              <a:rPr lang="en-GB" dirty="0"/>
              <a:t>What do we do if we don’t have a continuous variable?</a:t>
            </a:r>
          </a:p>
          <a:p>
            <a:r>
              <a:rPr lang="en-GB" dirty="0"/>
              <a:t>What if we have groups?</a:t>
            </a:r>
          </a:p>
          <a:p>
            <a:r>
              <a:rPr lang="en-GB" dirty="0"/>
              <a:t>Can we draw a line between Control and Treatment?</a:t>
            </a:r>
          </a:p>
          <a:p>
            <a:r>
              <a:rPr lang="en-GB" dirty="0"/>
              <a:t>Is there such a thing as “half a control” or “a third of a treatment”?</a:t>
            </a:r>
          </a:p>
          <a:p>
            <a:r>
              <a:rPr lang="en-GB" dirty="0"/>
              <a:t>Clearly not, but how do we deal with this?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Picture Placeholder 5" descr="A screen shot of a cell phone screen&#10;&#10;Description automatically generated">
            <a:extLst>
              <a:ext uri="{FF2B5EF4-FFF2-40B4-BE49-F238E27FC236}">
                <a16:creationId xmlns:a16="http://schemas.microsoft.com/office/drawing/2014/main" id="{28583A9D-7BED-80C8-8B04-C7FA93A99A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B3C0B-61CD-47E0-297A-62E7BFD30DDC}"/>
              </a:ext>
            </a:extLst>
          </p:cNvPr>
          <p:cNvCxnSpPr/>
          <p:nvPr/>
        </p:nvCxnSpPr>
        <p:spPr>
          <a:xfrm flipV="1">
            <a:off x="6829778" y="1761067"/>
            <a:ext cx="5260622" cy="2991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98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51A6-7F4A-884C-A450-BB7AE86A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385856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BB08-C428-8B0B-8C2A-960C0FCE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Stone sheep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34FE-52C7-2CF0-B2D8-57B8513F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Wild sheep from Canada</a:t>
            </a:r>
          </a:p>
          <a:p>
            <a:r>
              <a:rPr lang="en-GB" dirty="0"/>
              <a:t>Sexual selection for large horns</a:t>
            </a:r>
          </a:p>
          <a:p>
            <a:r>
              <a:rPr lang="en-GB" dirty="0"/>
              <a:t>Hunters target males with long horns</a:t>
            </a:r>
          </a:p>
          <a:p>
            <a:r>
              <a:rPr lang="en-GB" dirty="0"/>
              <a:t>Hunting *records* started in 1972</a:t>
            </a:r>
          </a:p>
          <a:p>
            <a:endParaRPr lang="en-GB" dirty="0"/>
          </a:p>
          <a:p>
            <a:r>
              <a:rPr lang="en-GB" dirty="0"/>
              <a:t>Does hunting males with large horns lead to selection pressure?</a:t>
            </a:r>
          </a:p>
        </p:txBody>
      </p:sp>
      <p:pic>
        <p:nvPicPr>
          <p:cNvPr id="13" name="Picture Placeholder 12" descr="A ram with horns on its head&#10;&#10;Description automatically generated">
            <a:extLst>
              <a:ext uri="{FF2B5EF4-FFF2-40B4-BE49-F238E27FC236}">
                <a16:creationId xmlns:a16="http://schemas.microsoft.com/office/drawing/2014/main" id="{1ED46EC2-D3E0-74B1-EFF6-D5B25A8DA0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t="-34710" b="-32143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0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All hunted sheep are inspected</a:t>
                </a:r>
              </a:p>
              <a:p>
                <a:r>
                  <a:rPr lang="en-GB" dirty="0"/>
                  <a:t>Various information collected</a:t>
                </a:r>
              </a:p>
              <a:p>
                <a:pPr lvl="1"/>
                <a:r>
                  <a:rPr lang="en-GB" dirty="0"/>
                  <a:t>Of most interest is horn length (mm)</a:t>
                </a:r>
              </a:p>
              <a:p>
                <a:pPr lvl="1"/>
                <a:r>
                  <a:rPr lang="en-GB" dirty="0"/>
                  <a:t>Horn length is our response</a:t>
                </a:r>
              </a:p>
              <a:p>
                <a:r>
                  <a:rPr lang="en-GB" dirty="0"/>
                  <a:t>Horn length is averaged by cohort, year and region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horn</a:t>
                </a:r>
                <a:r>
                  <a:rPr lang="en-GB" dirty="0"/>
                  <a:t>) represents the average horn length for a given year, in a given region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represents year and region</a:t>
                </a:r>
              </a:p>
              <a:p>
                <a:r>
                  <a:rPr lang="en-GB" dirty="0"/>
                  <a:t>Any issues?</a:t>
                </a:r>
              </a:p>
              <a:p>
                <a:pPr lvl="1"/>
                <a:r>
                  <a:rPr lang="en-GB" dirty="0"/>
                  <a:t>(Averaging values rarely a good idea)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07EAE-1713-0F71-C42C-F26054572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770" b="-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A1BBEDCB-6B55-9DC1-108E-AE1B6C3578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b="27856"/>
          <a:stretch/>
        </p:blipFill>
        <p:spPr>
          <a:xfrm>
            <a:off x="6521537" y="-1"/>
            <a:ext cx="5670463" cy="6858001"/>
          </a:xfrm>
        </p:spPr>
      </p:pic>
    </p:spTree>
    <p:extLst>
      <p:ext uri="{BB962C8B-B14F-4D97-AF65-F5344CB8AC3E}">
        <p14:creationId xmlns:p14="http://schemas.microsoft.com/office/powerpoint/2010/main" val="680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F3BA-924D-749A-4144-BA031EE4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explanatory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07EAE-1713-0F71-C42C-F26054572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Hunting pressure ideally measured as number hunted given total population size</a:t>
            </a:r>
          </a:p>
          <a:p>
            <a:pPr lvl="1"/>
            <a:r>
              <a:rPr lang="en-GB" dirty="0"/>
              <a:t>But population size is insanely difficult to estimate</a:t>
            </a:r>
          </a:p>
          <a:p>
            <a:r>
              <a:rPr lang="en-GB" dirty="0"/>
              <a:t>Instead, we can use region as a simplified version of hunting pressure</a:t>
            </a:r>
          </a:p>
          <a:p>
            <a:pPr lvl="1"/>
            <a:r>
              <a:rPr lang="en-GB" dirty="0"/>
              <a:t>Skeena region has </a:t>
            </a:r>
            <a:r>
              <a:rPr lang="en-GB" b="1" dirty="0">
                <a:solidFill>
                  <a:srgbClr val="FFFF00"/>
                </a:solidFill>
              </a:rPr>
              <a:t>low</a:t>
            </a:r>
            <a:r>
              <a:rPr lang="en-GB" dirty="0"/>
              <a:t> hunting pressure</a:t>
            </a:r>
          </a:p>
          <a:p>
            <a:pPr lvl="1"/>
            <a:r>
              <a:rPr lang="en-GB" dirty="0"/>
              <a:t>Peace has </a:t>
            </a:r>
            <a:r>
              <a:rPr lang="en-GB" b="1" dirty="0">
                <a:solidFill>
                  <a:srgbClr val="FFFF00"/>
                </a:solidFill>
              </a:rPr>
              <a:t>high</a:t>
            </a:r>
            <a:r>
              <a:rPr lang="en-GB" dirty="0"/>
              <a:t> hunting pressure</a:t>
            </a:r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62C6E2CD-E2D8-FC8E-9F8D-60E963FCA7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055" b="2055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424113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BC54-9A7C-9FB4-FC45-F2B8FD1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 to know your data</a:t>
            </a:r>
          </a:p>
        </p:txBody>
      </p:sp>
    </p:spTree>
    <p:extLst>
      <p:ext uri="{BB962C8B-B14F-4D97-AF65-F5344CB8AC3E}">
        <p14:creationId xmlns:p14="http://schemas.microsoft.com/office/powerpoint/2010/main" val="3655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59F6-D0D9-FAFB-A57C-80F8CABA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visualisation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02F7-9C78-86F3-1FF9-526445D3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Any noticeable trend in cohorts?</a:t>
            </a:r>
          </a:p>
          <a:p>
            <a:r>
              <a:rPr lang="en-GB" dirty="0"/>
              <a:t>Any noticeable trend in region?</a:t>
            </a:r>
          </a:p>
          <a:p>
            <a:r>
              <a:rPr lang="en-GB" dirty="0"/>
              <a:t>Arguably, nothing obvious jumping out</a:t>
            </a:r>
          </a:p>
          <a:p>
            <a:r>
              <a:rPr lang="en-GB" dirty="0"/>
              <a:t>Should we stop here?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504936CC-3B2F-642F-9F20-5DA123255B9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283A32DD-897F-E341-0DB2-9416AFCD7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05CA44C2-841C-7752-266A-EC8A1704E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3029-6D74-DE34-D70E-20838E34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to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want to understand how horn length differs in the two regions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is horn length</a:t>
                </a:r>
              </a:p>
              <a:p>
                <a:r>
                  <a:rPr lang="en-GB" dirty="0"/>
                  <a:t>But how do we include the region category?</a:t>
                </a:r>
              </a:p>
              <a:p>
                <a:r>
                  <a:rPr lang="en-GB" dirty="0"/>
                  <a:t>Our toolkit: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How do we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Region?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55343-B2B5-2352-38B4-187CA307B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6" descr="A screen shot of a graph&#10;&#10;Description automatically generated">
            <a:extLst>
              <a:ext uri="{FF2B5EF4-FFF2-40B4-BE49-F238E27FC236}">
                <a16:creationId xmlns:a16="http://schemas.microsoft.com/office/drawing/2014/main" id="{0BAA62CA-2599-B08C-6DCA-0841E456320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C66BE6-BE14-B0F3-70B7-CB806F29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01758"/>
              </p:ext>
            </p:extLst>
          </p:nvPr>
        </p:nvGraphicFramePr>
        <p:xfrm>
          <a:off x="3513455" y="2421759"/>
          <a:ext cx="5588248" cy="2976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1631074993"/>
                    </a:ext>
                  </a:extLst>
                </a:gridCol>
                <a:gridCol w="1525822">
                  <a:extLst>
                    <a:ext uri="{9D8B030D-6E8A-4147-A177-3AD203B41FA5}">
                      <a16:colId xmlns:a16="http://schemas.microsoft.com/office/drawing/2014/main" val="329483513"/>
                    </a:ext>
                  </a:extLst>
                </a:gridCol>
                <a:gridCol w="1512266">
                  <a:extLst>
                    <a:ext uri="{9D8B030D-6E8A-4147-A177-3AD203B41FA5}">
                      <a16:colId xmlns:a16="http://schemas.microsoft.com/office/drawing/2014/main" val="2121409823"/>
                    </a:ext>
                  </a:extLst>
                </a:gridCol>
                <a:gridCol w="1548130">
                  <a:extLst>
                    <a:ext uri="{9D8B030D-6E8A-4147-A177-3AD203B41FA5}">
                      <a16:colId xmlns:a16="http://schemas.microsoft.com/office/drawing/2014/main" val="1439391126"/>
                    </a:ext>
                  </a:extLst>
                </a:gridCol>
              </a:tblGrid>
              <a:tr h="3814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horn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region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381722"/>
                  </a:ext>
                </a:extLst>
              </a:tr>
              <a:tr h="37737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324.74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0504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323.68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740005"/>
                  </a:ext>
                </a:extLst>
              </a:tr>
              <a:tr h="38898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304.97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000577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332.48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478642"/>
                  </a:ext>
                </a:extLst>
              </a:tr>
              <a:tr h="35995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364.21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825967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328.74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08784"/>
                  </a:ext>
                </a:extLst>
              </a:tr>
              <a:tr h="32592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392.45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73268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20709E8-31FA-0FD6-4ED0-1E962DAC5DFF}"/>
              </a:ext>
            </a:extLst>
          </p:cNvPr>
          <p:cNvSpPr/>
          <p:nvPr/>
        </p:nvSpPr>
        <p:spPr>
          <a:xfrm>
            <a:off x="6054726" y="3192861"/>
            <a:ext cx="1494172" cy="2209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Categories in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/>
              <p:nvPr/>
            </p:nvSpPr>
            <p:spPr>
              <a:xfrm>
                <a:off x="0" y="1435873"/>
                <a:ext cx="1219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35873"/>
                <a:ext cx="12192000" cy="523220"/>
              </a:xfrm>
              <a:prstGeom prst="rect">
                <a:avLst/>
              </a:prstGeom>
              <a:blipFill>
                <a:blip r:embed="rId2"/>
                <a:stretch>
                  <a:fillRect t="-15294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7A0CD7C-3E90-40E6-F396-9073B84A63E2}"/>
              </a:ext>
            </a:extLst>
          </p:cNvPr>
          <p:cNvSpPr/>
          <p:nvPr/>
        </p:nvSpPr>
        <p:spPr>
          <a:xfrm>
            <a:off x="6054726" y="2414201"/>
            <a:ext cx="1494172" cy="769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FA3F16-781A-C6BD-13DE-4071E57A1F69}"/>
                  </a:ext>
                </a:extLst>
              </p:cNvPr>
              <p:cNvSpPr txBox="1"/>
              <p:nvPr/>
            </p:nvSpPr>
            <p:spPr>
              <a:xfrm>
                <a:off x="4219929" y="1432790"/>
                <a:ext cx="54065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GB" sz="2800" dirty="0"/>
                  <a:t> (if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Skeena)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FA3F16-781A-C6BD-13DE-4071E57A1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929" y="1432790"/>
                <a:ext cx="5406571" cy="523220"/>
              </a:xfrm>
              <a:prstGeom prst="rect">
                <a:avLst/>
              </a:prstGeom>
              <a:blipFill>
                <a:blip r:embed="rId3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5CFF4B8-4784-89DC-44C7-17441072FAC3}"/>
              </a:ext>
            </a:extLst>
          </p:cNvPr>
          <p:cNvSpPr/>
          <p:nvPr/>
        </p:nvSpPr>
        <p:spPr>
          <a:xfrm>
            <a:off x="7570356" y="2367563"/>
            <a:ext cx="1612331" cy="3054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58E417-AC9B-60E9-F758-BDCAE81E9222}"/>
                  </a:ext>
                </a:extLst>
              </p:cNvPr>
              <p:cNvSpPr txBox="1"/>
              <p:nvPr/>
            </p:nvSpPr>
            <p:spPr>
              <a:xfrm>
                <a:off x="4219929" y="1434591"/>
                <a:ext cx="54065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×0</m:t>
                    </m:r>
                  </m:oMath>
                </a14:m>
                <a:r>
                  <a:rPr lang="en-GB" sz="2800" dirty="0"/>
                  <a:t> (if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Peace)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58E417-AC9B-60E9-F758-BDCAE81E9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929" y="1434591"/>
                <a:ext cx="5406571" cy="523220"/>
              </a:xfrm>
              <a:prstGeom prst="rect">
                <a:avLst/>
              </a:prstGeom>
              <a:blipFill>
                <a:blip r:embed="rId4"/>
                <a:stretch>
                  <a:fillRect t="-1395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9D3DB4-7B63-3E22-5C2A-FE7A033F7951}"/>
                  </a:ext>
                </a:extLst>
              </p:cNvPr>
              <p:cNvSpPr txBox="1"/>
              <p:nvPr/>
            </p:nvSpPr>
            <p:spPr>
              <a:xfrm>
                <a:off x="9182687" y="3059668"/>
                <a:ext cx="295709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We don’t need a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peace</a:t>
                </a:r>
                <a:r>
                  <a:rPr lang="en-GB" dirty="0"/>
                  <a:t> </a:t>
                </a:r>
                <a:br>
                  <a:rPr lang="en-GB" dirty="0"/>
                </a:br>
                <a:r>
                  <a:rPr lang="en-GB" dirty="0"/>
                  <a:t>column because if it’s not </a:t>
                </a:r>
                <a:br>
                  <a:rPr lang="en-GB" dirty="0"/>
                </a:b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skeena</a:t>
                </a:r>
                <a:r>
                  <a:rPr lang="en-GB" dirty="0"/>
                  <a:t> (i.e.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𝑠𝑘𝑒𝑒𝑛𝑎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GB" dirty="0"/>
                  <a:t>), </a:t>
                </a:r>
                <a:br>
                  <a:rPr lang="en-GB" dirty="0"/>
                </a:br>
                <a:r>
                  <a:rPr lang="en-GB" dirty="0"/>
                  <a:t>then it must be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peace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9D3DB4-7B63-3E22-5C2A-FE7A033F7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687" y="3059668"/>
                <a:ext cx="2957092" cy="1200329"/>
              </a:xfrm>
              <a:prstGeom prst="rect">
                <a:avLst/>
              </a:prstGeom>
              <a:blipFill>
                <a:blip r:embed="rId6"/>
                <a:stretch>
                  <a:fillRect l="-1649" t="-4569" r="-1031" b="-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57185" y="2625835"/>
                <a:ext cx="8174315" cy="4546145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want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</a:t>
                </a:r>
                <a:r>
                  <a:rPr lang="en-GB" dirty="0">
                    <a:latin typeface="Bahnschrift Light" panose="020B0502040204020203" pitchFamily="34" charset="0"/>
                  </a:rPr>
                  <a:t> in the model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</a:t>
                </a:r>
                <a:r>
                  <a:rPr lang="en-GB" dirty="0">
                    <a:latin typeface="Bahnschrift Light" panose="020B0502040204020203" pitchFamily="34" charset="0"/>
                  </a:rPr>
                  <a:t> contains strings (i.e. words)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How do you do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4.6×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𝑅𝑒𝑔𝑖𝑜𝑛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You don’t! Behind the scenes R converts your factor in to a series of columns: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57185" y="2625835"/>
                <a:ext cx="8174315" cy="4546145"/>
              </a:xfrm>
              <a:blipFill>
                <a:blip r:embed="rId7"/>
                <a:stretch>
                  <a:fillRect l="-1342" t="-3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4DFCAEA-3D69-10D3-3367-05D5C65BB311}"/>
              </a:ext>
            </a:extLst>
          </p:cNvPr>
          <p:cNvSpPr txBox="1"/>
          <p:nvPr/>
        </p:nvSpPr>
        <p:spPr>
          <a:xfrm>
            <a:off x="2622132" y="5794756"/>
            <a:ext cx="694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new </a:t>
            </a:r>
            <a:r>
              <a:rPr lang="en-GB" dirty="0" err="1"/>
              <a:t>skeena</a:t>
            </a:r>
            <a:r>
              <a:rPr lang="en-GB" dirty="0"/>
              <a:t> column is 1 if the region was </a:t>
            </a:r>
            <a:r>
              <a:rPr lang="en-GB" dirty="0" err="1"/>
              <a:t>skeena</a:t>
            </a:r>
            <a:r>
              <a:rPr lang="en-GB" dirty="0"/>
              <a:t>, and 0 if not</a:t>
            </a:r>
          </a:p>
        </p:txBody>
      </p:sp>
    </p:spTree>
    <p:extLst>
      <p:ext uri="{BB962C8B-B14F-4D97-AF65-F5344CB8AC3E}">
        <p14:creationId xmlns:p14="http://schemas.microsoft.com/office/powerpoint/2010/main" val="333717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8" grpId="1"/>
      <p:bldP spid="5" grpId="0" animBg="1"/>
      <p:bldP spid="10" grpId="0"/>
      <p:bldP spid="9" grpId="0" animBg="1"/>
      <p:bldP spid="15" grpId="0"/>
      <p:bldP spid="15" grpId="1"/>
      <p:bldP spid="7" grpId="0"/>
      <p:bldP spid="3" grpId="0" uiExpand="1" build="p"/>
      <p:bldP spid="3" grpId="1" uiExpand="1" build="p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C66BE6-BE14-B0F3-70B7-CB806F29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408760"/>
              </p:ext>
            </p:extLst>
          </p:nvPr>
        </p:nvGraphicFramePr>
        <p:xfrm>
          <a:off x="7619241" y="2650359"/>
          <a:ext cx="4040118" cy="2976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1631074993"/>
                    </a:ext>
                  </a:extLst>
                </a:gridCol>
                <a:gridCol w="1525822">
                  <a:extLst>
                    <a:ext uri="{9D8B030D-6E8A-4147-A177-3AD203B41FA5}">
                      <a16:colId xmlns:a16="http://schemas.microsoft.com/office/drawing/2014/main" val="329483513"/>
                    </a:ext>
                  </a:extLst>
                </a:gridCol>
                <a:gridCol w="1512266">
                  <a:extLst>
                    <a:ext uri="{9D8B030D-6E8A-4147-A177-3AD203B41FA5}">
                      <a16:colId xmlns:a16="http://schemas.microsoft.com/office/drawing/2014/main" val="2121409823"/>
                    </a:ext>
                  </a:extLst>
                </a:gridCol>
              </a:tblGrid>
              <a:tr h="3814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horn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region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381722"/>
                  </a:ext>
                </a:extLst>
              </a:tr>
              <a:tr h="37737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324.74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05041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323.68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skeena</a:t>
                      </a:r>
                      <a:endParaRPr lang="en-GB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740005"/>
                  </a:ext>
                </a:extLst>
              </a:tr>
              <a:tr h="38898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304.97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000577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332.48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478642"/>
                  </a:ext>
                </a:extLst>
              </a:tr>
              <a:tr h="35995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364.21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skeena</a:t>
                      </a:r>
                      <a:endParaRPr lang="en-GB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825967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328.74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08784"/>
                  </a:ext>
                </a:extLst>
              </a:tr>
              <a:tr h="32592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392.45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peace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73268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Categories in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/>
              <p:nvPr/>
            </p:nvSpPr>
            <p:spPr>
              <a:xfrm>
                <a:off x="7619240" y="1880373"/>
                <a:ext cx="40401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623B92-C92C-A926-DBDF-304E58B21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240" y="1880373"/>
                <a:ext cx="4040119" cy="523220"/>
              </a:xfrm>
              <a:prstGeom prst="rect">
                <a:avLst/>
              </a:prstGeom>
              <a:blipFill>
                <a:blip r:embed="rId2"/>
                <a:stretch>
                  <a:fillRect t="-13953" r="-1961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58256" y="1633210"/>
                <a:ext cx="7094056" cy="454614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take all but one category and convert to 0 (not part of this group) or 1 (part of this group)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Multiplying by 0 “turns off”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Multiplying by 1 “turns on”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category without a parameter</a:t>
                </a:r>
              </a:p>
              <a:p>
                <a:r>
                  <a:rPr lang="en-GB" b="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 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difference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horn length in Peace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difference between Skeena and Peace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8256" y="1633210"/>
                <a:ext cx="7094056" cy="4546145"/>
              </a:xfrm>
              <a:blipFill>
                <a:blip r:embed="rId3"/>
                <a:stretch>
                  <a:fillRect l="-1289" t="-3887" r="-24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12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AB57-BCEE-4F6F-B65B-E3A8ABBE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3F2F75-6ADF-7E10-D261-8859052B1C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(the “intercept”) is how long horns are in the first group</a:t>
                </a:r>
              </a:p>
              <a:p>
                <a:pPr lvl="1"/>
                <a:r>
                  <a:rPr lang="en-GB" dirty="0"/>
                  <a:t>Here in the Peace region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(the “contrast”) is the difference between the first group and the second group</a:t>
                </a:r>
              </a:p>
              <a:p>
                <a:r>
                  <a:rPr lang="en-GB" dirty="0"/>
                  <a:t>No limit to the number of groups you can have</a:t>
                </a:r>
              </a:p>
              <a:p>
                <a:r>
                  <a:rPr lang="en-GB" dirty="0"/>
                  <a:t>Each parameter is always the </a:t>
                </a:r>
                <a:r>
                  <a:rPr lang="en-GB" i="1" dirty="0"/>
                  <a:t>difference</a:t>
                </a:r>
                <a:r>
                  <a:rPr lang="en-GB" dirty="0"/>
                  <a:t> to the intercept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3F2F75-6ADF-7E10-D261-8859052B1C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C9C796B-5ECB-C5C7-1E13-3D58D7AA74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A7C5C3F-528D-4FAB-9C16-1AE20DF12C11}"/>
              </a:ext>
            </a:extLst>
          </p:cNvPr>
          <p:cNvGrpSpPr/>
          <p:nvPr/>
        </p:nvGrpSpPr>
        <p:grpSpPr>
          <a:xfrm>
            <a:off x="7120568" y="4231569"/>
            <a:ext cx="1250849" cy="1873956"/>
            <a:chOff x="7120568" y="4231569"/>
            <a:chExt cx="1250849" cy="18739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27216C3-D531-B709-B622-30C2B735E9AD}"/>
                    </a:ext>
                  </a:extLst>
                </p:cNvPr>
                <p:cNvSpPr txBox="1"/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27216C3-D531-B709-B622-30C2B735E9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59622DD-23D1-CCB2-7850-E238CD0BB3FC}"/>
                </a:ext>
              </a:extLst>
            </p:cNvPr>
            <p:cNvCxnSpPr/>
            <p:nvPr/>
          </p:nvCxnSpPr>
          <p:spPr>
            <a:xfrm>
              <a:off x="8371417" y="4231569"/>
              <a:ext cx="0" cy="187395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22CCE1-8754-F5B7-F65A-9C6615273BB8}"/>
              </a:ext>
            </a:extLst>
          </p:cNvPr>
          <p:cNvGrpSpPr/>
          <p:nvPr/>
        </p:nvGrpSpPr>
        <p:grpSpPr>
          <a:xfrm>
            <a:off x="9399098" y="355248"/>
            <a:ext cx="1318291" cy="3816702"/>
            <a:chOff x="9399098" y="355248"/>
            <a:chExt cx="1318291" cy="3816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5938BEC-1F95-E201-FCA7-B7516121E6A8}"/>
                    </a:ext>
                  </a:extLst>
                </p:cNvPr>
                <p:cNvSpPr txBox="1"/>
                <p:nvPr/>
              </p:nvSpPr>
              <p:spPr>
                <a:xfrm>
                  <a:off x="9399098" y="2200079"/>
                  <a:ext cx="11600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5938BEC-1F95-E201-FCA7-B7516121E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9098" y="2200079"/>
                  <a:ext cx="116006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FF6E22C-3DA4-EF3B-846A-55DF76A46BC9}"/>
                </a:ext>
              </a:extLst>
            </p:cNvPr>
            <p:cNvCxnSpPr>
              <a:cxnSpLocks/>
            </p:cNvCxnSpPr>
            <p:nvPr/>
          </p:nvCxnSpPr>
          <p:spPr>
            <a:xfrm>
              <a:off x="10717389" y="355248"/>
              <a:ext cx="0" cy="3816702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 descr="A screen shot of a graph&#10;&#10;Description automatically generated">
            <a:extLst>
              <a:ext uri="{FF2B5EF4-FFF2-40B4-BE49-F238E27FC236}">
                <a16:creationId xmlns:a16="http://schemas.microsoft.com/office/drawing/2014/main" id="{892B22E0-1836-BDE3-1D5A-3071237B51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F9601C1-E6CF-107E-71DB-A39EC2892EFB}"/>
              </a:ext>
            </a:extLst>
          </p:cNvPr>
          <p:cNvGrpSpPr/>
          <p:nvPr/>
        </p:nvGrpSpPr>
        <p:grpSpPr>
          <a:xfrm>
            <a:off x="6378577" y="4207755"/>
            <a:ext cx="1250849" cy="1873956"/>
            <a:chOff x="7120568" y="4231569"/>
            <a:chExt cx="1250849" cy="18739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F2CCADB-82B7-80EB-48EB-6412FB05281D}"/>
                    </a:ext>
                  </a:extLst>
                </p:cNvPr>
                <p:cNvSpPr txBox="1"/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F2CCADB-82B7-80EB-48EB-6412FB052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568" y="4974356"/>
                  <a:ext cx="116538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2E767C0-97A7-4EBC-89B2-D23A656454FA}"/>
                </a:ext>
              </a:extLst>
            </p:cNvPr>
            <p:cNvCxnSpPr/>
            <p:nvPr/>
          </p:nvCxnSpPr>
          <p:spPr>
            <a:xfrm>
              <a:off x="8371417" y="4231569"/>
              <a:ext cx="0" cy="187395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EA9380B-9DC4-4D96-316B-E6E0FFF25E41}"/>
              </a:ext>
            </a:extLst>
          </p:cNvPr>
          <p:cNvGrpSpPr/>
          <p:nvPr/>
        </p:nvGrpSpPr>
        <p:grpSpPr>
          <a:xfrm>
            <a:off x="7367347" y="399169"/>
            <a:ext cx="1244499" cy="3808586"/>
            <a:chOff x="7126918" y="4231569"/>
            <a:chExt cx="1244499" cy="38085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992AC03-CD57-83DE-40D6-20A9BF966FA1}"/>
                    </a:ext>
                  </a:extLst>
                </p:cNvPr>
                <p:cNvSpPr txBox="1"/>
                <p:nvPr/>
              </p:nvSpPr>
              <p:spPr>
                <a:xfrm>
                  <a:off x="7126918" y="5775183"/>
                  <a:ext cx="11600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992AC03-CD57-83DE-40D6-20A9BF966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918" y="5775183"/>
                  <a:ext cx="116006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B1B27BE-D56F-5921-399C-B77B8BBB3E78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231569"/>
              <a:ext cx="0" cy="380858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EF51F97-7D0F-40C7-D5E3-6BEDE244EE1F}"/>
              </a:ext>
            </a:extLst>
          </p:cNvPr>
          <p:cNvGrpSpPr/>
          <p:nvPr/>
        </p:nvGrpSpPr>
        <p:grpSpPr>
          <a:xfrm>
            <a:off x="8611846" y="3276600"/>
            <a:ext cx="1037143" cy="931155"/>
            <a:chOff x="7394508" y="7109000"/>
            <a:chExt cx="1037143" cy="931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BD93347-C7D0-63F9-F642-D4DF6F3E98F8}"/>
                    </a:ext>
                  </a:extLst>
                </p:cNvPr>
                <p:cNvSpPr txBox="1"/>
                <p:nvPr/>
              </p:nvSpPr>
              <p:spPr>
                <a:xfrm>
                  <a:off x="7394508" y="7357601"/>
                  <a:ext cx="10371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=50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BD93347-C7D0-63F9-F642-D4DF6F3E9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508" y="7357601"/>
                  <a:ext cx="103714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CCC7430-83F6-EF8B-9617-A969711990BE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7109000"/>
              <a:ext cx="0" cy="931155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994A658-49E5-B0E1-46A9-98E0D46E4D7F}"/>
              </a:ext>
            </a:extLst>
          </p:cNvPr>
          <p:cNvGrpSpPr/>
          <p:nvPr/>
        </p:nvGrpSpPr>
        <p:grpSpPr>
          <a:xfrm>
            <a:off x="9316064" y="399169"/>
            <a:ext cx="1244499" cy="3808586"/>
            <a:chOff x="7126918" y="4231569"/>
            <a:chExt cx="1244499" cy="38085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CB4D595-7865-34A0-1F9F-9FDFF716B0FF}"/>
                    </a:ext>
                  </a:extLst>
                </p:cNvPr>
                <p:cNvSpPr txBox="1"/>
                <p:nvPr/>
              </p:nvSpPr>
              <p:spPr>
                <a:xfrm>
                  <a:off x="7126918" y="5775183"/>
                  <a:ext cx="11653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CB4D595-7865-34A0-1F9F-9FDFF716B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918" y="5775183"/>
                  <a:ext cx="1165383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BE59D86-80AB-CA54-6CE6-ED7F81BA57F3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231569"/>
              <a:ext cx="0" cy="380858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92ADFBC-78B7-DBC2-939A-8E4EFBC08BC3}"/>
              </a:ext>
            </a:extLst>
          </p:cNvPr>
          <p:cNvGrpSpPr/>
          <p:nvPr/>
        </p:nvGrpSpPr>
        <p:grpSpPr>
          <a:xfrm>
            <a:off x="10470082" y="787400"/>
            <a:ext cx="1157496" cy="3444169"/>
            <a:chOff x="7335860" y="4595986"/>
            <a:chExt cx="1157496" cy="34441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B6D03AB-7086-57F2-169E-B9EC8583BF5A}"/>
                    </a:ext>
                  </a:extLst>
                </p:cNvPr>
                <p:cNvSpPr txBox="1"/>
                <p:nvPr/>
              </p:nvSpPr>
              <p:spPr>
                <a:xfrm>
                  <a:off x="7335860" y="6033768"/>
                  <a:ext cx="11574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=180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B6D03AB-7086-57F2-169E-B9EC8583B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5860" y="6033768"/>
                  <a:ext cx="1157496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C7FFDB0-B1C2-F595-8E2E-5E6048A6E9EF}"/>
                </a:ext>
              </a:extLst>
            </p:cNvPr>
            <p:cNvCxnSpPr>
              <a:cxnSpLocks/>
            </p:cNvCxnSpPr>
            <p:nvPr/>
          </p:nvCxnSpPr>
          <p:spPr>
            <a:xfrm>
              <a:off x="8409517" y="4595986"/>
              <a:ext cx="0" cy="3444169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126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2099-8E69-E31F-3157-05FF2F09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Fitting the model</a:t>
            </a:r>
          </a:p>
        </p:txBody>
      </p:sp>
    </p:spTree>
    <p:extLst>
      <p:ext uri="{BB962C8B-B14F-4D97-AF65-F5344CB8AC3E}">
        <p14:creationId xmlns:p14="http://schemas.microsoft.com/office/powerpoint/2010/main" val="3067815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A1FA-5737-B5F9-815A-3A556ECB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Last week: straight line</a:t>
            </a:r>
          </a:p>
        </p:txBody>
      </p:sp>
      <p:pic>
        <p:nvPicPr>
          <p:cNvPr id="3" name="Picture Placeholder 5" descr="A graph of a graph with lines and dots&#10;&#10;Description automatically generated">
            <a:extLst>
              <a:ext uri="{FF2B5EF4-FFF2-40B4-BE49-F238E27FC236}">
                <a16:creationId xmlns:a16="http://schemas.microsoft.com/office/drawing/2014/main" id="{FE80A6FA-5985-6FE5-9168-C27777F00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" t="-8268" r="466" b="-8558"/>
          <a:stretch/>
        </p:blipFill>
        <p:spPr>
          <a:xfrm>
            <a:off x="1459089" y="1657702"/>
            <a:ext cx="4074632" cy="4791075"/>
          </a:xfrm>
          <a:prstGeom prst="rect">
            <a:avLst/>
          </a:prstGeom>
        </p:spPr>
      </p:pic>
      <p:pic>
        <p:nvPicPr>
          <p:cNvPr id="4" name="Picture Placeholder 5" descr="A graph with a line&#10;&#10;Description automatically generated">
            <a:extLst>
              <a:ext uri="{FF2B5EF4-FFF2-40B4-BE49-F238E27FC236}">
                <a16:creationId xmlns:a16="http://schemas.microsoft.com/office/drawing/2014/main" id="{7A3E6159-DF52-AC1C-06CF-6D08B93D0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-8972" r="-190" b="-8483"/>
          <a:stretch/>
        </p:blipFill>
        <p:spPr>
          <a:xfrm>
            <a:off x="6336947" y="1467202"/>
            <a:ext cx="423664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9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A1FA-5737-B5F9-815A-3A556ECB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This week: Multiple averages</a:t>
            </a:r>
          </a:p>
        </p:txBody>
      </p:sp>
      <p:pic>
        <p:nvPicPr>
          <p:cNvPr id="14" name="Picture 1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37C41FCE-FDF7-57E2-B613-6E037AE6C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133" y="1413933"/>
            <a:ext cx="4572000" cy="4572000"/>
          </a:xfrm>
          <a:prstGeom prst="rect">
            <a:avLst/>
          </a:prstGeom>
        </p:spPr>
      </p:pic>
      <p:pic>
        <p:nvPicPr>
          <p:cNvPr id="16" name="Picture 15" descr="A graph of the weather&#10;&#10;Description automatically generated with medium confidence">
            <a:extLst>
              <a:ext uri="{FF2B5EF4-FFF2-40B4-BE49-F238E27FC236}">
                <a16:creationId xmlns:a16="http://schemas.microsoft.com/office/drawing/2014/main" id="{11C49E68-36B7-CF2F-124D-C162F1F7C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12" y="1413933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6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DC50-FA71-1C24-466B-A9CCBA7E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 biologically?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=322+9×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𝑆𝑘𝑒𝑒𝑛𝑎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How long are horns in Peace?</a:t>
                </a:r>
              </a:p>
              <a:p>
                <a:pPr lvl="1"/>
                <a:r>
                  <a:rPr lang="en-GB" dirty="0"/>
                  <a:t>322 mm on average</a:t>
                </a:r>
              </a:p>
              <a:p>
                <a:r>
                  <a:rPr lang="en-GB" dirty="0"/>
                  <a:t>Are horns in Skeena longer or shorter?</a:t>
                </a:r>
              </a:p>
              <a:p>
                <a:pPr lvl="1"/>
                <a:r>
                  <a:rPr lang="en-GB" dirty="0"/>
                  <a:t>9 mm longer</a:t>
                </a:r>
              </a:p>
              <a:p>
                <a:r>
                  <a:rPr lang="en-GB" dirty="0"/>
                  <a:t>By how much?</a:t>
                </a:r>
              </a:p>
              <a:p>
                <a:r>
                  <a:rPr lang="en-GB" dirty="0"/>
                  <a:t>Does hunting have a selective pressure on horn length?</a:t>
                </a:r>
              </a:p>
              <a:p>
                <a:pPr lvl="1"/>
                <a:r>
                  <a:rPr lang="en-GB" dirty="0"/>
                  <a:t>Skeena is low hunting, Peace is high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D85E9-5CC1-0787-1F41-E9FEE5F81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b="-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616B52B8-03C1-4C61-BB29-418C129E74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014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Answering our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Does greater hunting pressure lead to reduced horn size?</a:t>
            </a:r>
          </a:p>
          <a:p>
            <a:r>
              <a:rPr lang="en-GB" dirty="0"/>
              <a:t>Based on this model: “Yes”</a:t>
            </a:r>
          </a:p>
          <a:p>
            <a:r>
              <a:rPr lang="en-GB" dirty="0"/>
              <a:t>But any caveats?</a:t>
            </a:r>
          </a:p>
          <a:p>
            <a:pPr lvl="1"/>
            <a:r>
              <a:rPr lang="en-GB" dirty="0"/>
              <a:t>Do you really know if it’s hunting that’s </a:t>
            </a:r>
            <a:r>
              <a:rPr lang="en-GB" b="1" dirty="0">
                <a:solidFill>
                  <a:srgbClr val="FFFF00"/>
                </a:solidFill>
              </a:rPr>
              <a:t>causing</a:t>
            </a:r>
            <a:r>
              <a:rPr lang="en-GB" dirty="0"/>
              <a:t> this decline?</a:t>
            </a:r>
          </a:p>
          <a:p>
            <a:pPr lvl="1"/>
            <a:r>
              <a:rPr lang="en-GB" dirty="0"/>
              <a:t>Is the data suitable for answering the question?</a:t>
            </a:r>
          </a:p>
          <a:p>
            <a:pPr lvl="1"/>
            <a:r>
              <a:rPr lang="en-GB" dirty="0"/>
              <a:t>What hidden assumptions are there?</a:t>
            </a:r>
          </a:p>
          <a:p>
            <a:pPr lvl="2"/>
            <a:r>
              <a:rPr lang="en-GB" dirty="0"/>
              <a:t>Assumes these sites are identical in every way other than hunting pressure</a:t>
            </a:r>
          </a:p>
          <a:p>
            <a:r>
              <a:rPr lang="en-GB" dirty="0"/>
              <a:t>Based on this model, being appropriately cautious: “Maybe”</a:t>
            </a:r>
          </a:p>
        </p:txBody>
      </p:sp>
      <p:pic>
        <p:nvPicPr>
          <p:cNvPr id="8" name="Picture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4028A641-E759-5F22-0849-E6C3790972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198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Are you sure there’s a difference?</a:t>
            </a:r>
          </a:p>
          <a:p>
            <a:r>
              <a:rPr lang="en-GB" dirty="0"/>
              <a:t>What if horn length is super variable?</a:t>
            </a:r>
          </a:p>
          <a:p>
            <a:r>
              <a:rPr lang="en-GB" dirty="0"/>
              <a:t>For example, assume you have a medical condition:</a:t>
            </a:r>
          </a:p>
          <a:p>
            <a:pPr lvl="1"/>
            <a:r>
              <a:rPr lang="en-GB" dirty="0"/>
              <a:t>I offer you two medical drugs</a:t>
            </a:r>
          </a:p>
          <a:p>
            <a:pPr lvl="1"/>
            <a:r>
              <a:rPr lang="en-GB" dirty="0"/>
              <a:t>Both have side effect of death</a:t>
            </a:r>
          </a:p>
          <a:p>
            <a:pPr lvl="1"/>
            <a:r>
              <a:rPr lang="en-GB" dirty="0"/>
              <a:t>Which drug do you take?</a:t>
            </a:r>
          </a:p>
          <a:p>
            <a:pPr lvl="1"/>
            <a:r>
              <a:rPr lang="en-GB" dirty="0"/>
              <a:t>Given uncertainty, which drug do you take?</a:t>
            </a:r>
          </a:p>
          <a:p>
            <a:r>
              <a:rPr lang="en-GB" dirty="0"/>
              <a:t>How do we calculate uncertainty?</a:t>
            </a:r>
          </a:p>
        </p:txBody>
      </p:sp>
      <p:pic>
        <p:nvPicPr>
          <p:cNvPr id="8" name="Picture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4028A641-E759-5F22-0849-E6C3790972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6944D16A-37C0-8E58-65CE-67E4BD9F7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42012E3D-5286-4200-1413-99AB9C444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1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F5F6-B0C6-7777-B994-012D222C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with a green line&#10;&#10;Description automatically generated">
            <a:extLst>
              <a:ext uri="{FF2B5EF4-FFF2-40B4-BE49-F238E27FC236}">
                <a16:creationId xmlns:a16="http://schemas.microsoft.com/office/drawing/2014/main" id="{0A646F76-1410-775F-9FC8-86D0C70C9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608" y="1181100"/>
            <a:ext cx="6082392" cy="5676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19CB5B-F858-E0AE-B925-82F56B9E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Confidence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74F4A-C7CC-2196-0834-BC5CAD8D8A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900" y="1619249"/>
                <a:ext cx="5893708" cy="4962525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So far, we haven’t included any uncertainty in our figures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Assume a simpler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We have the point estimate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 also, the standard error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To go from SE to 95% CI: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95%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×1.96</m:t>
                    </m:r>
                  </m:oMath>
                </a14:m>
                <a:endParaRPr lang="en-GB" b="0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chemeClr val="bg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1.96</m:t>
                    </m:r>
                  </m:oMath>
                </a14:m>
                <a:r>
                  <a:rPr lang="en-GB" sz="2000" dirty="0">
                    <a:solidFill>
                      <a:schemeClr val="bg1">
                        <a:lumMod val="65000"/>
                        <a:lumOff val="35000"/>
                      </a:schemeClr>
                    </a:solidFill>
                    <a:latin typeface="Bahnschrift Light" panose="020B0502040204020203" pitchFamily="34" charset="0"/>
                  </a:rPr>
                  <a:t> is based on the assumption that a parameter estimate will be 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bg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sz="2000" dirty="0">
                    <a:solidFill>
                      <a:schemeClr val="bg1">
                        <a:lumMod val="65000"/>
                        <a:lumOff val="35000"/>
                      </a:schemeClr>
                    </a:solidFill>
                    <a:latin typeface="Bahnschrift Light" panose="020B0502040204020203" pitchFamily="34" charset="0"/>
                  </a:rPr>
                  <a:t> distributed, hence </a:t>
                </a:r>
                <a14:m>
                  <m:oMath xmlns:m="http://schemas.openxmlformats.org/officeDocument/2006/math">
                    <m:r>
                      <a:rPr lang="en-GB" sz="2000" i="1" dirty="0">
                        <a:solidFill>
                          <a:schemeClr val="bg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1.96×</m:t>
                    </m:r>
                    <m:r>
                      <a:rPr lang="en-GB" sz="2000" i="1" dirty="0">
                        <a:solidFill>
                          <a:schemeClr val="bg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𝑆𝐸</m:t>
                    </m:r>
                  </m:oMath>
                </a14:m>
                <a:r>
                  <a:rPr lang="en-GB" sz="2000" dirty="0">
                    <a:solidFill>
                      <a:schemeClr val="bg1">
                        <a:lumMod val="65000"/>
                        <a:lumOff val="35000"/>
                      </a:schemeClr>
                    </a:solidFill>
                    <a:latin typeface="Bahnschrift Light" panose="020B0502040204020203" pitchFamily="34" charset="0"/>
                  </a:rPr>
                  <a:t> will contain 95% of values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74F4A-C7CC-2196-0834-BC5CAD8D8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900" y="1619249"/>
                <a:ext cx="5893708" cy="4962525"/>
              </a:xfrm>
              <a:blipFill>
                <a:blip r:embed="rId3"/>
                <a:stretch>
                  <a:fillRect l="-1861" t="-2334" r="-517" b="-12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CDC6B6B-04A8-581B-E5BD-9C0DC619BE9E}"/>
              </a:ext>
            </a:extLst>
          </p:cNvPr>
          <p:cNvGrpSpPr/>
          <p:nvPr/>
        </p:nvGrpSpPr>
        <p:grpSpPr>
          <a:xfrm>
            <a:off x="8901112" y="4848225"/>
            <a:ext cx="1952625" cy="600075"/>
            <a:chOff x="8901112" y="4848225"/>
            <a:chExt cx="1952625" cy="6000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2C31565-3A41-AC76-77B3-0DD00B03C5D9}"/>
                    </a:ext>
                  </a:extLst>
                </p:cNvPr>
                <p:cNvSpPr txBox="1"/>
                <p:nvPr/>
              </p:nvSpPr>
              <p:spPr>
                <a:xfrm>
                  <a:off x="8901112" y="4848225"/>
                  <a:ext cx="1952625" cy="408623"/>
                </a:xfrm>
                <a:prstGeom prst="roundRect">
                  <a:avLst/>
                </a:prstGeom>
                <a:solidFill>
                  <a:schemeClr val="bg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×1.96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2C31565-3A41-AC76-77B3-0DD00B03C5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112" y="4848225"/>
                  <a:ext cx="1952625" cy="408623"/>
                </a:xfrm>
                <a:prstGeom prst="roundRect">
                  <a:avLst/>
                </a:prstGeom>
                <a:blipFill>
                  <a:blip r:embed="rId4"/>
                  <a:stretch>
                    <a:fillRect b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F511B86-FC63-A86A-7073-4ECD2D1B6A51}"/>
                </a:ext>
              </a:extLst>
            </p:cNvPr>
            <p:cNvCxnSpPr/>
            <p:nvPr/>
          </p:nvCxnSpPr>
          <p:spPr>
            <a:xfrm>
              <a:off x="9401175" y="5448300"/>
              <a:ext cx="9525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F70151D-CE40-11FC-FB15-8CBD5C61DF6A}"/>
              </a:ext>
            </a:extLst>
          </p:cNvPr>
          <p:cNvGrpSpPr/>
          <p:nvPr/>
        </p:nvGrpSpPr>
        <p:grpSpPr>
          <a:xfrm>
            <a:off x="8043862" y="5448300"/>
            <a:ext cx="1952625" cy="642462"/>
            <a:chOff x="8043862" y="5448300"/>
            <a:chExt cx="1952625" cy="6424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A698395-04CD-B282-38F9-DBD07D870A82}"/>
                    </a:ext>
                  </a:extLst>
                </p:cNvPr>
                <p:cNvSpPr txBox="1"/>
                <p:nvPr/>
              </p:nvSpPr>
              <p:spPr>
                <a:xfrm>
                  <a:off x="8043862" y="5682139"/>
                  <a:ext cx="1952625" cy="408623"/>
                </a:xfrm>
                <a:prstGeom prst="roundRect">
                  <a:avLst/>
                </a:prstGeom>
                <a:solidFill>
                  <a:schemeClr val="bg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×1.96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A698395-04CD-B282-38F9-DBD07D870A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3862" y="5682139"/>
                  <a:ext cx="1952625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DA6B6EB-FA16-F1DD-662F-BD108C5AEBFD}"/>
                </a:ext>
              </a:extLst>
            </p:cNvPr>
            <p:cNvCxnSpPr/>
            <p:nvPr/>
          </p:nvCxnSpPr>
          <p:spPr>
            <a:xfrm flipH="1">
              <a:off x="8439150" y="5448300"/>
              <a:ext cx="9620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272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95% CI in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58258" y="1633210"/>
                <a:ext cx="12250257" cy="454614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To get uncertainty, we modify our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×1.96)+(</m:t>
                      </m:r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×1.96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Subtracting the parameter standard error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1.96 gives lower 95% CI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Adding the parameter standard error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1.96 gives upper 95% CI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We don’t want to do this by hand (it’s a real pain)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In the next lecture, you’ll see how to get R to do the heavy lifting for you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040BE09-F2A5-F58A-3640-A8C9A3F73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58258" y="1633210"/>
                <a:ext cx="12250257" cy="4546145"/>
              </a:xfrm>
              <a:blipFill>
                <a:blip r:embed="rId2"/>
                <a:stretch>
                  <a:fillRect l="-896" t="-3485" b="-10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37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EE6A-F45C-53E3-719E-F362797E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confidence intervals?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A654-9E5C-B520-07C5-B4D372EE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Ring toss game</a:t>
            </a:r>
          </a:p>
          <a:p>
            <a:pPr lvl="1"/>
            <a:r>
              <a:rPr lang="en-GB" dirty="0"/>
              <a:t>You’ve practiced your whole life, such that you have a 95% chance of getting the hoop on the post</a:t>
            </a:r>
          </a:p>
          <a:p>
            <a:pPr lvl="1"/>
            <a:r>
              <a:rPr lang="en-GB" dirty="0"/>
              <a:t>However, once the hoop has landed, it either overlaps the post or not</a:t>
            </a:r>
          </a:p>
          <a:p>
            <a:r>
              <a:rPr lang="en-GB" dirty="0"/>
              <a:t>This is the same as a 95% CI</a:t>
            </a:r>
          </a:p>
          <a:p>
            <a:pPr lvl="1"/>
            <a:r>
              <a:rPr lang="en-GB" dirty="0"/>
              <a:t>Before you run the model, you have a 95% chance of overlapping the true parameter value</a:t>
            </a:r>
          </a:p>
          <a:p>
            <a:pPr lvl="1"/>
            <a:r>
              <a:rPr lang="en-GB" dirty="0"/>
              <a:t>However, once you’ve run the model, the 95% CI either contains the true value or not</a:t>
            </a:r>
          </a:p>
          <a:p>
            <a:r>
              <a:rPr lang="en-GB" dirty="0"/>
              <a:t>If we could rewind time and rerun the data collection and analysis 100 times, we’d be able to figure out the most likely range of the true value</a:t>
            </a:r>
          </a:p>
          <a:p>
            <a:pPr lvl="1"/>
            <a:r>
              <a:rPr lang="en-GB" dirty="0"/>
              <a:t>But if we only throw it once, we can’t</a:t>
            </a:r>
          </a:p>
        </p:txBody>
      </p:sp>
      <p:pic>
        <p:nvPicPr>
          <p:cNvPr id="6" name="Picture Placeholder 5" descr="A hand holding a ring&#10;&#10;Description automatically generated">
            <a:extLst>
              <a:ext uri="{FF2B5EF4-FFF2-40B4-BE49-F238E27FC236}">
                <a16:creationId xmlns:a16="http://schemas.microsoft.com/office/drawing/2014/main" id="{80D7A350-8BF0-B43E-4A83-32CA4C9827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" t="-32794" r="-404" b="-24858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65728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EE6A-F45C-53E3-719E-F362797E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confidence intervals?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A654-9E5C-B520-07C5-B4D372EE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we could rewind time and rerun the data collection and analysis multiple times, we’d be able to figure out the most likely range of the true value</a:t>
            </a:r>
          </a:p>
          <a:p>
            <a:r>
              <a:rPr lang="en-GB" dirty="0"/>
              <a:t>But if we only throw it once, we don’t know if the interval overlaps the true value</a:t>
            </a:r>
          </a:p>
          <a:p>
            <a:r>
              <a:rPr lang="en-GB" dirty="0"/>
              <a:t>Does the interval overlap the true parameter?</a:t>
            </a:r>
          </a:p>
        </p:txBody>
      </p:sp>
      <p:pic>
        <p:nvPicPr>
          <p:cNvPr id="6" name="Picture Placeholder 5" descr="A hand holding a ring&#10;&#10;Description automatically generated">
            <a:extLst>
              <a:ext uri="{FF2B5EF4-FFF2-40B4-BE49-F238E27FC236}">
                <a16:creationId xmlns:a16="http://schemas.microsoft.com/office/drawing/2014/main" id="{80D7A350-8BF0-B43E-4A83-32CA4C9827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" t="-32794" r="-404" b="-24858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5" name="Picture 4" descr="A graph with a point on it&#10;&#10;Description automatically generated">
            <a:extLst>
              <a:ext uri="{FF2B5EF4-FFF2-40B4-BE49-F238E27FC236}">
                <a16:creationId xmlns:a16="http://schemas.microsoft.com/office/drawing/2014/main" id="{9A7E3BFD-BFA8-4E99-E3C1-894DA9502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225" y="662780"/>
            <a:ext cx="5884775" cy="5884775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0E203741-DA5F-8841-7987-8801CE798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0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EE6A-F45C-53E3-719E-F362797E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confidence intervals?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A654-9E5C-B520-07C5-B4D372EE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95% Confidence Interval does not have a 95% chance of containing the true parameter value</a:t>
            </a:r>
          </a:p>
          <a:p>
            <a:r>
              <a:rPr lang="en-GB" dirty="0"/>
              <a:t>It either does, or it doesn’t</a:t>
            </a:r>
          </a:p>
          <a:p>
            <a:pPr lvl="1"/>
            <a:r>
              <a:rPr lang="en-GB" dirty="0"/>
              <a:t>Just like the ring is either over the post or not</a:t>
            </a:r>
          </a:p>
          <a:p>
            <a:r>
              <a:rPr lang="en-GB" dirty="0"/>
              <a:t>But, for convenience, we can think of a 95% CI as having a 95% chance of overlapping the true value</a:t>
            </a:r>
          </a:p>
          <a:p>
            <a:pPr lvl="1"/>
            <a:r>
              <a:rPr lang="en-GB" dirty="0"/>
              <a:t>It’s not technically correct, so don’t say that to any statisticians</a:t>
            </a:r>
          </a:p>
        </p:txBody>
      </p:sp>
      <p:pic>
        <p:nvPicPr>
          <p:cNvPr id="9" name="Picture Placeholder 8" descr="A graph with a point on it&#10;&#10;Description automatically generated">
            <a:extLst>
              <a:ext uri="{FF2B5EF4-FFF2-40B4-BE49-F238E27FC236}">
                <a16:creationId xmlns:a16="http://schemas.microsoft.com/office/drawing/2014/main" id="{9A7E3BFD-BFA8-4E99-E3C1-894DA95025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7" t="-9128" r="357" b="-8432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4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7BF-315C-4A32-0704-0C6DE3E1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Answering our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4A3-1733-1DDA-EBD7-874A7C6A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Does greater hunting pressure lead to reduced horn size?</a:t>
            </a:r>
          </a:p>
          <a:p>
            <a:pPr lvl="1"/>
            <a:r>
              <a:rPr lang="en-GB" i="1" dirty="0">
                <a:solidFill>
                  <a:srgbClr val="FFFF00"/>
                </a:solidFill>
                <a:latin typeface="Amasis MT Pro Medium" panose="02040604050005020304" pitchFamily="18" charset="0"/>
              </a:rPr>
              <a:t>Now with uncertainty!</a:t>
            </a:r>
          </a:p>
          <a:p>
            <a:r>
              <a:rPr lang="en-GB" dirty="0"/>
              <a:t>Probably, but it’s not impossible they have the same average horn length.</a:t>
            </a:r>
          </a:p>
        </p:txBody>
      </p:sp>
      <p:pic>
        <p:nvPicPr>
          <p:cNvPr id="8" name="Picture Placeholder 7" descr="A screenshot of a graph&#10;&#10;Description automatically generated">
            <a:extLst>
              <a:ext uri="{FF2B5EF4-FFF2-40B4-BE49-F238E27FC236}">
                <a16:creationId xmlns:a16="http://schemas.microsoft.com/office/drawing/2014/main" id="{4028A641-E759-5F22-0849-E6C3790972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BD84095A-5825-75F1-46CD-C9D9220092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3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F3FD-0765-2ADD-B2BC-F5F405D7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Dichotomania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828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A graph on a black background&#10;&#10;Description automatically generated">
            <a:extLst>
              <a:ext uri="{FF2B5EF4-FFF2-40B4-BE49-F238E27FC236}">
                <a16:creationId xmlns:a16="http://schemas.microsoft.com/office/drawing/2014/main" id="{F8D658B8-F99F-EEF4-140A-F5138E22B7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6FC881-B6C0-4841-68DF-374D3EA9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Dichotomania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4370-2AC4-B36C-C3E0-D9D73F79B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Humans love to dichotomise things</a:t>
            </a:r>
          </a:p>
          <a:p>
            <a:pPr lvl="1"/>
            <a:r>
              <a:rPr lang="en-GB" dirty="0"/>
              <a:t>Taking continuous variables and turning them into categories</a:t>
            </a:r>
          </a:p>
          <a:p>
            <a:pPr lvl="1"/>
            <a:r>
              <a:rPr lang="en-GB" dirty="0"/>
              <a:t>Leads to belief that groups are “True”</a:t>
            </a:r>
          </a:p>
          <a:p>
            <a:r>
              <a:rPr lang="en-GB" dirty="0"/>
              <a:t>Rarely the case in the real world</a:t>
            </a:r>
          </a:p>
          <a:p>
            <a:r>
              <a:rPr lang="en-GB" dirty="0"/>
              <a:t>Categories often used when:</a:t>
            </a:r>
          </a:p>
          <a:p>
            <a:pPr lvl="1"/>
            <a:r>
              <a:rPr lang="en-GB" dirty="0"/>
              <a:t>Measuring continuous values difficult</a:t>
            </a:r>
          </a:p>
          <a:p>
            <a:pPr lvl="1"/>
            <a:r>
              <a:rPr lang="en-GB" dirty="0"/>
              <a:t>Groups are easily available</a:t>
            </a:r>
          </a:p>
          <a:p>
            <a:pPr lvl="1"/>
            <a:r>
              <a:rPr lang="en-GB" dirty="0"/>
              <a:t>Following precedent</a:t>
            </a:r>
          </a:p>
        </p:txBody>
      </p:sp>
      <p:pic>
        <p:nvPicPr>
          <p:cNvPr id="17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BD297421-3764-74B3-7068-BB8841110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184409" y="0"/>
            <a:ext cx="5832475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B858AE-CD05-D3C0-1B6A-32A413A8DDB1}"/>
              </a:ext>
            </a:extLst>
          </p:cNvPr>
          <p:cNvSpPr txBox="1"/>
          <p:nvPr/>
        </p:nvSpPr>
        <p:spPr>
          <a:xfrm>
            <a:off x="7234326" y="2628152"/>
            <a:ext cx="4082871" cy="1328023"/>
          </a:xfrm>
          <a:prstGeom prst="roundRect">
            <a:avLst/>
          </a:prstGeom>
          <a:solidFill>
            <a:srgbClr val="0D0D0D">
              <a:alpha val="87059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Continuous variables:</a:t>
            </a:r>
          </a:p>
          <a:p>
            <a:pPr marL="285750" indent="-285750">
              <a:buFontTx/>
              <a:buChar char="-"/>
            </a:pPr>
            <a:r>
              <a:rPr lang="en-GB" dirty="0"/>
              <a:t>More efficient (fewer parameters)</a:t>
            </a:r>
          </a:p>
          <a:p>
            <a:pPr marL="285750" indent="-285750">
              <a:buFontTx/>
              <a:buChar char="-"/>
            </a:pPr>
            <a:r>
              <a:rPr lang="en-GB" dirty="0"/>
              <a:t>More accurate inference</a:t>
            </a:r>
          </a:p>
          <a:p>
            <a:pPr marL="285750" indent="-285750">
              <a:buFontTx/>
              <a:buChar char="-"/>
            </a:pPr>
            <a:r>
              <a:rPr lang="en-GB" dirty="0"/>
              <a:t>Better representation of reality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A5D4BE-CECC-FC8E-E1B9-A10F044359B9}"/>
              </a:ext>
            </a:extLst>
          </p:cNvPr>
          <p:cNvSpPr txBox="1"/>
          <p:nvPr/>
        </p:nvSpPr>
        <p:spPr>
          <a:xfrm>
            <a:off x="1300039" y="2628152"/>
            <a:ext cx="3601214" cy="1328023"/>
          </a:xfrm>
          <a:prstGeom prst="roundRect">
            <a:avLst/>
          </a:prstGeom>
          <a:solidFill>
            <a:srgbClr val="0D0D0D">
              <a:alpha val="87059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Categorical variables:</a:t>
            </a:r>
          </a:p>
          <a:p>
            <a:pPr marL="285750" indent="-285750">
              <a:buFontTx/>
              <a:buChar char="-"/>
            </a:pPr>
            <a:r>
              <a:rPr lang="en-GB" dirty="0"/>
              <a:t>Can help with non-linearity</a:t>
            </a:r>
          </a:p>
          <a:p>
            <a:pPr marL="285750" indent="-285750">
              <a:buFontTx/>
              <a:buChar char="-"/>
            </a:pPr>
            <a:r>
              <a:rPr lang="en-GB" dirty="0"/>
              <a:t>Sometimes more appropriate</a:t>
            </a:r>
          </a:p>
          <a:p>
            <a:pPr marL="285750" indent="-285750">
              <a:buFontTx/>
              <a:buChar char="-"/>
            </a:pPr>
            <a:r>
              <a:rPr lang="en-GB" dirty="0"/>
              <a:t>Easier to collect</a:t>
            </a:r>
          </a:p>
        </p:txBody>
      </p:sp>
    </p:spTree>
    <p:extLst>
      <p:ext uri="{BB962C8B-B14F-4D97-AF65-F5344CB8AC3E}">
        <p14:creationId xmlns:p14="http://schemas.microsoft.com/office/powerpoint/2010/main" val="200566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We always start with a question</a:t>
                </a:r>
              </a:p>
              <a:p>
                <a:r>
                  <a:rPr lang="en-GB" dirty="0"/>
                  <a:t>Statistics is merely how we answer the question</a:t>
                </a:r>
                <a:endParaRPr lang="en-GB" sz="2400" dirty="0">
                  <a:cs typeface="Courier New" panose="02070309020205020404" pitchFamily="49" charset="0"/>
                </a:endParaRPr>
              </a:p>
              <a:p>
                <a:r>
                  <a:rPr lang="en-GB" dirty="0"/>
                  <a:t>Start by plotting your data – get a feel for what’s going on</a:t>
                </a:r>
              </a:p>
              <a:p>
                <a:r>
                  <a:rPr lang="en-GB" dirty="0"/>
                  <a:t>For linear models with continuous variables, we estimate an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 and a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We use algorithms to estimate those values</a:t>
                </a:r>
              </a:p>
              <a:p>
                <a:r>
                  <a:rPr lang="en-GB" dirty="0"/>
                  <a:t>We can then interpret what those parameter values mean biologically</a:t>
                </a:r>
              </a:p>
              <a:p>
                <a:pPr lvl="1"/>
                <a:r>
                  <a:rPr lang="en-GB" dirty="0"/>
                  <a:t>Are they “big”? Should we be concerned? Happy?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D8CE4-617E-577E-05F7-6375C1C2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43099"/>
                <a:ext cx="10868025" cy="4723707"/>
              </a:xfrm>
              <a:prstGeom prst="rect">
                <a:avLst/>
              </a:prstGeom>
              <a:blipFill>
                <a:blip r:embed="rId2"/>
                <a:stretch>
                  <a:fillRect l="-1010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875</TotalTime>
  <Words>1529</Words>
  <Application>Microsoft Office PowerPoint</Application>
  <PresentationFormat>Widescreen</PresentationFormat>
  <Paragraphs>242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Amasis MT Pro Medium</vt:lpstr>
      <vt:lpstr>Aptos</vt:lpstr>
      <vt:lpstr>Arial</vt:lpstr>
      <vt:lpstr>Bahnschrift Light</vt:lpstr>
      <vt:lpstr>Cambria Math</vt:lpstr>
      <vt:lpstr>Courier New</vt:lpstr>
      <vt:lpstr>sbs_template</vt:lpstr>
      <vt:lpstr>Linear modelling theory</vt:lpstr>
      <vt:lpstr>Last week we used straight lines μ_i=β_0+β_1×X_i</vt:lpstr>
      <vt:lpstr>No straight line?</vt:lpstr>
      <vt:lpstr>The question</vt:lpstr>
      <vt:lpstr>Stone sheep</vt:lpstr>
      <vt:lpstr>Our data</vt:lpstr>
      <vt:lpstr>Our explanatory variable</vt:lpstr>
      <vt:lpstr>Get to know your data</vt:lpstr>
      <vt:lpstr>Data visualisation</vt:lpstr>
      <vt:lpstr>Question to model</vt:lpstr>
      <vt:lpstr>Categories in linear models</vt:lpstr>
      <vt:lpstr>Categories in linear models</vt:lpstr>
      <vt:lpstr>Visually</vt:lpstr>
      <vt:lpstr>Fitting the model</vt:lpstr>
      <vt:lpstr>Last week: straight line</vt:lpstr>
      <vt:lpstr>This week: Multiple averages</vt:lpstr>
      <vt:lpstr>What do we learn biologically?</vt:lpstr>
      <vt:lpstr>Answering our question</vt:lpstr>
      <vt:lpstr>Uncertainty</vt:lpstr>
      <vt:lpstr>Confidence intervals</vt:lpstr>
      <vt:lpstr>95% CI in linear models</vt:lpstr>
      <vt:lpstr>What are confidence intervals?</vt:lpstr>
      <vt:lpstr>What are confidence intervals?</vt:lpstr>
      <vt:lpstr>What are confidence intervals?</vt:lpstr>
      <vt:lpstr>Answering our question</vt:lpstr>
      <vt:lpstr>Dichotomania</vt:lpstr>
      <vt:lpstr>Dichotomania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5</cp:revision>
  <dcterms:created xsi:type="dcterms:W3CDTF">2024-07-16T09:02:29Z</dcterms:created>
  <dcterms:modified xsi:type="dcterms:W3CDTF">2024-07-29T10:07:41Z</dcterms:modified>
</cp:coreProperties>
</file>