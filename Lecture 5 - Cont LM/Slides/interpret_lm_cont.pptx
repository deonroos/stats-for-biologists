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2" r:id="rId3"/>
    <p:sldId id="286" r:id="rId4"/>
    <p:sldId id="283" r:id="rId5"/>
    <p:sldId id="287" r:id="rId6"/>
    <p:sldId id="284" r:id="rId7"/>
    <p:sldId id="291" r:id="rId8"/>
    <p:sldId id="288" r:id="rId9"/>
    <p:sldId id="289" r:id="rId10"/>
    <p:sldId id="290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82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87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00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39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8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32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3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04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2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135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23E0-ED12-2519-B2D9-5B33C38D6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44F07-B3F4-15C4-AFCE-04078E3CC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37E0C-C606-054E-C5F8-A9092586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63AA6-CCE6-741C-6C54-21C17CDA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6410A-F586-E7BC-9A8A-18533B54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43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0148B-943F-48A9-ADE6-600D1AF7D392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5957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FF73-172F-E494-30C4-2C9EE137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77C44-EE3B-E77E-39A0-7B72EB667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continuous explanatory variables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087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From theory to implementation</a:t>
            </a:r>
          </a:p>
        </p:txBody>
      </p:sp>
      <p:pic>
        <p:nvPicPr>
          <p:cNvPr id="6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603FCCAB-D6AB-946D-C461-13BA013788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>
          <a:xfrm>
            <a:off x="192891" y="2317897"/>
            <a:ext cx="2914263" cy="3426678"/>
          </a:xfrm>
        </p:spPr>
      </p:pic>
      <p:pic>
        <p:nvPicPr>
          <p:cNvPr id="7" name="Picture 6" descr="A graph with lines in it&#10;&#10;Description automatically generated">
            <a:extLst>
              <a:ext uri="{FF2B5EF4-FFF2-40B4-BE49-F238E27FC236}">
                <a16:creationId xmlns:a16="http://schemas.microsoft.com/office/drawing/2014/main" id="{EE04B552-923F-6883-4FAA-592C0F247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42" y="2222976"/>
            <a:ext cx="3327991" cy="332799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55CAB6-8D98-94FE-A8CB-E3CF882C57D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107154" y="4031236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277CF8BA-7D4E-243E-743E-C4E2389503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4433777" y="2946363"/>
            <a:ext cx="2713742" cy="21697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B64ED-7BF1-A16B-91BF-112C45F539B8}"/>
              </a:ext>
            </a:extLst>
          </p:cNvPr>
          <p:cNvCxnSpPr>
            <a:cxnSpLocks/>
          </p:cNvCxnSpPr>
          <p:nvPr/>
        </p:nvCxnSpPr>
        <p:spPr>
          <a:xfrm>
            <a:off x="7147519" y="3886971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The data</a:t>
            </a:r>
          </a:p>
        </p:txBody>
      </p:sp>
    </p:spTree>
    <p:extLst>
      <p:ext uri="{BB962C8B-B14F-4D97-AF65-F5344CB8AC3E}">
        <p14:creationId xmlns:p14="http://schemas.microsoft.com/office/powerpoint/2010/main" val="132548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8D56-C588-6D75-D596-2198F460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5ED3-393D-9153-D3A9-E48DDBC0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entire previous lecture is summarised into a single</a:t>
            </a:r>
            <a:br>
              <a:rPr lang="en-GB" dirty="0"/>
            </a:br>
            <a:r>
              <a:rPr lang="en-GB" i="1" dirty="0"/>
              <a:t>function </a:t>
            </a:r>
            <a:r>
              <a:rPr lang="en-GB" dirty="0"/>
              <a:t>in R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cs typeface="Courier New" panose="02070309020205020404" pitchFamily="49" charset="0"/>
              </a:rPr>
              <a:t>We need to give the function specific information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dataset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model formula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267FEE-DB67-389D-F177-D4FA0660DF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29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5A36-5856-345F-A93E-E7FB9CF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sure your data is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DB15-81CB-A31D-5B02-4EB89751E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the data in “tabular” form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each row is an observation</a:t>
            </a:r>
          </a:p>
          <a:p>
            <a:pPr lvl="1"/>
            <a:r>
              <a:rPr lang="en-GB" dirty="0"/>
              <a:t>each column is a variable</a:t>
            </a:r>
          </a:p>
          <a:p>
            <a:r>
              <a:rPr lang="en-GB" dirty="0"/>
              <a:t>Easiest when data is entered this way from the start</a:t>
            </a:r>
          </a:p>
          <a:p>
            <a:pPr lvl="1"/>
            <a:r>
              <a:rPr lang="en-GB" dirty="0"/>
              <a:t>Otherwise you need to do lots of data processing (with potential mistakes)</a:t>
            </a:r>
          </a:p>
          <a:p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AB2830-39F9-6C74-72EB-1D8E06A80E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910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733E-2252-9A81-00BA-12171197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BC78-C7ED-C5BE-6EEE-49944185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to understand how owl density changes with pine marten density</a:t>
            </a:r>
          </a:p>
          <a:p>
            <a:pPr lvl="1"/>
            <a:r>
              <a:rPr lang="en-GB" dirty="0"/>
              <a:t>Response variable = owl density</a:t>
            </a:r>
          </a:p>
          <a:p>
            <a:pPr lvl="1"/>
            <a:r>
              <a:rPr lang="en-GB" dirty="0"/>
              <a:t>Explanatory variable = marten density</a:t>
            </a:r>
          </a:p>
          <a:p>
            <a:r>
              <a:rPr lang="en-GB" dirty="0"/>
              <a:t>To convey this to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owl ~ marten</a:t>
            </a:r>
          </a:p>
          <a:p>
            <a:pPr lvl="1"/>
            <a:r>
              <a:rPr lang="en-GB" dirty="0"/>
              <a:t>In English: “owl as a function of marten”</a:t>
            </a:r>
          </a:p>
          <a:p>
            <a:pPr lvl="1"/>
            <a:r>
              <a:rPr lang="en-GB" dirty="0"/>
              <a:t>In actual English: “Owl density changes with marten density”</a:t>
            </a:r>
          </a:p>
        </p:txBody>
      </p:sp>
    </p:spTree>
    <p:extLst>
      <p:ext uri="{BB962C8B-B14F-4D97-AF65-F5344CB8AC3E}">
        <p14:creationId xmlns:p14="http://schemas.microsoft.com/office/powerpoint/2010/main" val="3854406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F074-D2E8-B396-406E-9F0FC056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Store your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7072-F3EA-0FC4-24FA-AED68A58F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run the model each time you want to do something with it</a:t>
            </a:r>
          </a:p>
          <a:p>
            <a:pPr lvl="1"/>
            <a:r>
              <a:rPr lang="en-GB" dirty="0"/>
              <a:t>E.g. remind yourself what the parameter estimates were</a:t>
            </a:r>
          </a:p>
          <a:p>
            <a:r>
              <a:rPr lang="en-GB" dirty="0"/>
              <a:t>But tedious and annoying</a:t>
            </a:r>
          </a:p>
          <a:p>
            <a:r>
              <a:rPr lang="en-GB" dirty="0"/>
              <a:t>Easiest if you save your model output as an object</a:t>
            </a:r>
          </a:p>
          <a:p>
            <a:pPr lvl="1"/>
            <a:r>
              <a:rPr lang="en-GB" dirty="0"/>
              <a:t>Remember that “&lt;-” stores (or “assigns”) output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9F8F54-C06E-773B-7F2A-E8FB73DB89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840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204-3D87-6068-E5F5-29F97B45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Running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3BB6-5A91-E7D4-D799-6B659D7ACEB7}"/>
              </a:ext>
            </a:extLst>
          </p:cNvPr>
          <p:cNvSpPr txBox="1">
            <a:spLocks/>
          </p:cNvSpPr>
          <p:nvPr/>
        </p:nvSpPr>
        <p:spPr>
          <a:xfrm>
            <a:off x="2934585" y="3115339"/>
            <a:ext cx="7783033" cy="3551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(tawny ~ marten,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data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47B95E-C2B3-6D0D-E8B7-D63494B659E3}"/>
              </a:ext>
            </a:extLst>
          </p:cNvPr>
          <p:cNvGrpSpPr/>
          <p:nvPr/>
        </p:nvGrpSpPr>
        <p:grpSpPr>
          <a:xfrm>
            <a:off x="435564" y="2972728"/>
            <a:ext cx="4517436" cy="715089"/>
            <a:chOff x="435564" y="2972728"/>
            <a:chExt cx="4517436" cy="715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F45767-DE66-6481-4951-0EC8DDC5087E}"/>
                </a:ext>
              </a:extLst>
            </p:cNvPr>
            <p:cNvSpPr/>
            <p:nvPr/>
          </p:nvSpPr>
          <p:spPr>
            <a:xfrm>
              <a:off x="3000375" y="3135965"/>
              <a:ext cx="1952625" cy="40019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DB8977-4C5D-F6AC-1DC2-54A62A7169D8}"/>
                </a:ext>
              </a:extLst>
            </p:cNvPr>
            <p:cNvSpPr txBox="1"/>
            <p:nvPr/>
          </p:nvSpPr>
          <p:spPr>
            <a:xfrm>
              <a:off x="435564" y="2972728"/>
              <a:ext cx="2359132" cy="715089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Call the stored </a:t>
              </a:r>
              <a:br>
                <a:rPr lang="en-GB" dirty="0"/>
              </a:br>
              <a:r>
                <a:rPr lang="en-GB" dirty="0"/>
                <a:t>output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owl_model</a:t>
              </a:r>
              <a:r>
                <a:rPr lang="en-GB" dirty="0"/>
                <a:t>”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613530B-DBB5-25A4-E218-C712E740F571}"/>
                </a:ext>
              </a:extLst>
            </p:cNvPr>
            <p:cNvCxnSpPr>
              <a:stCxn id="15" idx="3"/>
              <a:endCxn id="4" idx="1"/>
            </p:cNvCxnSpPr>
            <p:nvPr/>
          </p:nvCxnSpPr>
          <p:spPr>
            <a:xfrm>
              <a:off x="2794696" y="3330273"/>
              <a:ext cx="205679" cy="5788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8BC786-871A-F58F-6E36-8A30D2B81E4E}"/>
              </a:ext>
            </a:extLst>
          </p:cNvPr>
          <p:cNvGrpSpPr/>
          <p:nvPr/>
        </p:nvGrpSpPr>
        <p:grpSpPr>
          <a:xfrm>
            <a:off x="4383057" y="3139151"/>
            <a:ext cx="1970942" cy="1374458"/>
            <a:chOff x="4383057" y="3139151"/>
            <a:chExt cx="1970942" cy="13744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73E8CB-EEE8-1306-D134-25328B2307D7}"/>
                </a:ext>
              </a:extLst>
            </p:cNvPr>
            <p:cNvSpPr/>
            <p:nvPr/>
          </p:nvSpPr>
          <p:spPr>
            <a:xfrm>
              <a:off x="5126831" y="3139151"/>
              <a:ext cx="483394" cy="3976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34D671-A696-1A25-ABA6-B66D94514F72}"/>
                </a:ext>
              </a:extLst>
            </p:cNvPr>
            <p:cNvSpPr txBox="1"/>
            <p:nvPr/>
          </p:nvSpPr>
          <p:spPr>
            <a:xfrm>
              <a:off x="4383057" y="4104986"/>
              <a:ext cx="1970942" cy="4086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Store the results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0B7280-55AB-2488-DE6B-01B0336EF992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5368528" y="3536819"/>
              <a:ext cx="0" cy="5681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622B27-78BF-B480-8F10-80E0A892A560}"/>
              </a:ext>
            </a:extLst>
          </p:cNvPr>
          <p:cNvGrpSpPr/>
          <p:nvPr/>
        </p:nvGrpSpPr>
        <p:grpSpPr>
          <a:xfrm>
            <a:off x="4958285" y="2058995"/>
            <a:ext cx="4807221" cy="2026490"/>
            <a:chOff x="4958285" y="2058995"/>
            <a:chExt cx="4807221" cy="20264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2A3B13-9C91-54B8-94D5-0ACBA29AF8A0}"/>
                </a:ext>
              </a:extLst>
            </p:cNvPr>
            <p:cNvSpPr/>
            <p:nvPr/>
          </p:nvSpPr>
          <p:spPr>
            <a:xfrm>
              <a:off x="5684706" y="3138489"/>
              <a:ext cx="706570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DBA0A6-5790-F897-8009-3001E1634041}"/>
                </a:ext>
              </a:extLst>
            </p:cNvPr>
            <p:cNvSpPr/>
            <p:nvPr/>
          </p:nvSpPr>
          <p:spPr>
            <a:xfrm>
              <a:off x="9639299" y="3687817"/>
              <a:ext cx="126207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7AD1CE-3F3F-24E3-FCF2-EC442B870D25}"/>
                </a:ext>
              </a:extLst>
            </p:cNvPr>
            <p:cNvSpPr txBox="1"/>
            <p:nvPr/>
          </p:nvSpPr>
          <p:spPr>
            <a:xfrm>
              <a:off x="4958285" y="2058995"/>
              <a:ext cx="2159411" cy="408623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Run a linear model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12FB7C7-981D-88F0-7855-C93DE4B669F7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>
            <a:xfrm>
              <a:off x="6037991" y="2467618"/>
              <a:ext cx="0" cy="670871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78C766-CAAD-17D3-B2CB-13655975AD0A}"/>
              </a:ext>
            </a:extLst>
          </p:cNvPr>
          <p:cNvGrpSpPr/>
          <p:nvPr/>
        </p:nvGrpSpPr>
        <p:grpSpPr>
          <a:xfrm>
            <a:off x="6424613" y="1445920"/>
            <a:ext cx="5587199" cy="2090236"/>
            <a:chOff x="6424613" y="1445920"/>
            <a:chExt cx="5587199" cy="20902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2A2DCA-487B-06A6-2A29-C308F423F4FA}"/>
                </a:ext>
              </a:extLst>
            </p:cNvPr>
            <p:cNvSpPr/>
            <p:nvPr/>
          </p:nvSpPr>
          <p:spPr>
            <a:xfrm>
              <a:off x="6424613" y="3138488"/>
              <a:ext cx="2978943" cy="397668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B3F493-B338-4121-4DF2-1498D7EFC6B3}"/>
                </a:ext>
              </a:extLst>
            </p:cNvPr>
            <p:cNvSpPr txBox="1"/>
            <p:nvPr/>
          </p:nvSpPr>
          <p:spPr>
            <a:xfrm>
              <a:off x="8430392" y="1445920"/>
              <a:ext cx="3581420" cy="1328023"/>
            </a:xfrm>
            <a:prstGeom prst="round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We ask the model to see if </a:t>
              </a:r>
              <a:br>
                <a:rPr lang="en-GB" dirty="0"/>
              </a:br>
              <a:r>
                <a:rPr lang="en-GB" dirty="0"/>
                <a:t>there is any linear relationship </a:t>
              </a:r>
              <a:br>
                <a:rPr lang="en-GB" dirty="0"/>
              </a:br>
              <a:r>
                <a:rPr lang="en-GB" dirty="0"/>
                <a:t>between tawny owl density and </a:t>
              </a:r>
              <a:br>
                <a:rPr lang="en-GB" dirty="0"/>
              </a:br>
              <a:r>
                <a:rPr lang="en-GB" dirty="0"/>
                <a:t>pine marten density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977033C-B73C-C5C8-2911-B3A7EF163213}"/>
                </a:ext>
              </a:extLst>
            </p:cNvPr>
            <p:cNvCxnSpPr>
              <a:cxnSpLocks/>
              <a:stCxn id="12" idx="1"/>
              <a:endCxn id="7" idx="0"/>
            </p:cNvCxnSpPr>
            <p:nvPr/>
          </p:nvCxnSpPr>
          <p:spPr>
            <a:xfrm flipH="1">
              <a:off x="7914085" y="2109932"/>
              <a:ext cx="516307" cy="1028556"/>
            </a:xfrm>
            <a:prstGeom prst="straightConnector1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715CFE-F8DB-DD62-BAA2-4BA8527F8FAF}"/>
              </a:ext>
            </a:extLst>
          </p:cNvPr>
          <p:cNvGrpSpPr/>
          <p:nvPr/>
        </p:nvGrpSpPr>
        <p:grpSpPr>
          <a:xfrm>
            <a:off x="6424613" y="3687958"/>
            <a:ext cx="4293005" cy="1343099"/>
            <a:chOff x="6424613" y="3687958"/>
            <a:chExt cx="4293005" cy="13430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26EDB8-9B77-D55D-0600-02BE84636E1B}"/>
                </a:ext>
              </a:extLst>
            </p:cNvPr>
            <p:cNvSpPr/>
            <p:nvPr/>
          </p:nvSpPr>
          <p:spPr>
            <a:xfrm>
              <a:off x="6424613" y="3687958"/>
              <a:ext cx="3183143" cy="397668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EBADD3-9200-5577-9959-66590EBCF412}"/>
                </a:ext>
              </a:extLst>
            </p:cNvPr>
            <p:cNvSpPr txBox="1"/>
            <p:nvPr/>
          </p:nvSpPr>
          <p:spPr>
            <a:xfrm>
              <a:off x="7577392" y="4622434"/>
              <a:ext cx="3140226" cy="408623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Use the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owl_data</a:t>
              </a:r>
              <a:r>
                <a:rPr lang="en-GB" dirty="0"/>
                <a:t>” dataset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2F18FA8-4D1C-1DA5-D8F5-8E6734745AB7}"/>
                </a:ext>
              </a:extLst>
            </p:cNvPr>
            <p:cNvCxnSpPr>
              <a:cxnSpLocks/>
              <a:stCxn id="13" idx="0"/>
              <a:endCxn id="8" idx="2"/>
            </p:cNvCxnSpPr>
            <p:nvPr/>
          </p:nvCxnSpPr>
          <p:spPr>
            <a:xfrm flipH="1" flipV="1">
              <a:off x="8016185" y="4085626"/>
              <a:ext cx="1131320" cy="536808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43B668-28DC-C523-AF01-E897BDD376B7}"/>
              </a:ext>
            </a:extLst>
          </p:cNvPr>
          <p:cNvGrpSpPr/>
          <p:nvPr/>
        </p:nvGrpSpPr>
        <p:grpSpPr>
          <a:xfrm>
            <a:off x="9436894" y="2986685"/>
            <a:ext cx="2628341" cy="715089"/>
            <a:chOff x="9436894" y="2986685"/>
            <a:chExt cx="2628341" cy="7150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8F1E3F-B265-4AC5-F108-9F328C783D5C}"/>
                </a:ext>
              </a:extLst>
            </p:cNvPr>
            <p:cNvSpPr/>
            <p:nvPr/>
          </p:nvSpPr>
          <p:spPr>
            <a:xfrm>
              <a:off x="9436894" y="3135965"/>
              <a:ext cx="128587" cy="400191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4EC050-2162-5D68-3DF6-F269278E3351}"/>
                </a:ext>
              </a:extLst>
            </p:cNvPr>
            <p:cNvSpPr txBox="1"/>
            <p:nvPr/>
          </p:nvSpPr>
          <p:spPr>
            <a:xfrm>
              <a:off x="10323296" y="2986685"/>
              <a:ext cx="1741939" cy="715089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There is more </a:t>
              </a:r>
              <a:br>
                <a:rPr lang="en-GB" dirty="0"/>
              </a:br>
              <a:r>
                <a:rPr lang="en-GB" dirty="0"/>
                <a:t>information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695008-1229-B66E-CA38-1ED1DCA555D8}"/>
                </a:ext>
              </a:extLst>
            </p:cNvPr>
            <p:cNvCxnSpPr>
              <a:cxnSpLocks/>
              <a:stCxn id="35" idx="1"/>
              <a:endCxn id="9" idx="3"/>
            </p:cNvCxnSpPr>
            <p:nvPr/>
          </p:nvCxnSpPr>
          <p:spPr>
            <a:xfrm flipH="1" flipV="1">
              <a:off x="9565481" y="3336061"/>
              <a:ext cx="757815" cy="8169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942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B6EF-C833-EAE2-3F20-7F9E27BB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what?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Keep in mind, we’re not doing stats for the sake of it</a:t>
                </a:r>
              </a:p>
              <a:p>
                <a:r>
                  <a:rPr lang="en-GB" dirty="0"/>
                  <a:t>We’re doing it to learn something about the world</a:t>
                </a:r>
              </a:p>
              <a:p>
                <a:r>
                  <a:rPr lang="en-GB" dirty="0"/>
                  <a:t>Our current model has two parameters we want to learn</a:t>
                </a:r>
              </a:p>
              <a:p>
                <a:pPr lvl="1"/>
                <a:r>
                  <a:rPr lang="en-GB" dirty="0"/>
                  <a:t>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get that information?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neMartenandTawny">
            <a:hlinkClick r:id="" action="ppaction://media"/>
            <a:extLst>
              <a:ext uri="{FF2B5EF4-FFF2-40B4-BE49-F238E27FC236}">
                <a16:creationId xmlns:a16="http://schemas.microsoft.com/office/drawing/2014/main" id="{ADE56324-4345-C5A8-D369-5DF60B947FE4}"/>
              </a:ext>
            </a:extLst>
          </p:cNvPr>
          <p:cNvPicPr>
            <a:picLocks noGrp="1" noChangeAspect="1"/>
          </p:cNvPicPr>
          <p:nvPr>
            <p:ph type="pic"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15690" r="36472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60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8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58F9-03AC-76F4-8850-FAC9D33CBFD4}"/>
              </a:ext>
            </a:extLst>
          </p:cNvPr>
          <p:cNvSpPr txBox="1">
            <a:spLocks/>
          </p:cNvSpPr>
          <p:nvPr/>
        </p:nvSpPr>
        <p:spPr>
          <a:xfrm>
            <a:off x="0" y="1690688"/>
            <a:ext cx="9718158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tawny ~ marten, data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owl_data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Min       1Q   Median       3Q  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-15.7312  -3.4267   0.0008   3.4721  14.1214 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 Std. Error t value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39.4934     0.4239   93.16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marten       -3.0465     0.2780  -10.96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5.015 on 1033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0.1042,	Adjusted R-squared:  0.1033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120.1 on 1 and 1033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64A3B-757B-79EB-284A-42ED736B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F2EA63-4357-CF65-69D1-DB9AD2260DA1}"/>
              </a:ext>
            </a:extLst>
          </p:cNvPr>
          <p:cNvGrpSpPr/>
          <p:nvPr/>
        </p:nvGrpSpPr>
        <p:grpSpPr>
          <a:xfrm>
            <a:off x="85060" y="1690688"/>
            <a:ext cx="8763471" cy="585787"/>
            <a:chOff x="85060" y="1690688"/>
            <a:chExt cx="8763471" cy="5857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43C4C1-378E-CC60-997B-4C89FE8F567E}"/>
                </a:ext>
              </a:extLst>
            </p:cNvPr>
            <p:cNvSpPr/>
            <p:nvPr/>
          </p:nvSpPr>
          <p:spPr>
            <a:xfrm>
              <a:off x="85060" y="1690688"/>
              <a:ext cx="6230680" cy="5857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8A51F5-E2D8-4561-72C5-7FC28BB8DE42}"/>
                </a:ext>
              </a:extLst>
            </p:cNvPr>
            <p:cNvSpPr txBox="1"/>
            <p:nvPr/>
          </p:nvSpPr>
          <p:spPr>
            <a:xfrm>
              <a:off x="6632473" y="1810613"/>
              <a:ext cx="2216058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Which model this is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01DE62-6AE4-FE13-EDCC-A35629387A49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6337005" y="2014924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8807D1-3EF3-403E-6853-9222F45624F3}"/>
              </a:ext>
            </a:extLst>
          </p:cNvPr>
          <p:cNvGrpSpPr/>
          <p:nvPr/>
        </p:nvGrpSpPr>
        <p:grpSpPr>
          <a:xfrm>
            <a:off x="85060" y="2480786"/>
            <a:ext cx="9978970" cy="772777"/>
            <a:chOff x="85060" y="1690688"/>
            <a:chExt cx="9978970" cy="7727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5335F-4E2A-21EE-02E1-90A2AF5182DC}"/>
                </a:ext>
              </a:extLst>
            </p:cNvPr>
            <p:cNvSpPr/>
            <p:nvPr/>
          </p:nvSpPr>
          <p:spPr>
            <a:xfrm>
              <a:off x="85060" y="1690688"/>
              <a:ext cx="6230680" cy="77277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69914A-0B9D-6FB0-3072-47DF60470833}"/>
                </a:ext>
              </a:extLst>
            </p:cNvPr>
            <p:cNvSpPr txBox="1"/>
            <p:nvPr/>
          </p:nvSpPr>
          <p:spPr>
            <a:xfrm>
              <a:off x="6632473" y="1885044"/>
              <a:ext cx="3431557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Simple description of residuals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282903-36C9-4505-42C0-16BF734A2305}"/>
                </a:ext>
              </a:extLst>
            </p:cNvPr>
            <p:cNvCxnSpPr>
              <a:endCxn id="12" idx="1"/>
            </p:cNvCxnSpPr>
            <p:nvPr/>
          </p:nvCxnSpPr>
          <p:spPr>
            <a:xfrm>
              <a:off x="6337005" y="2089355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0A48A2-91C0-852C-FDBB-8D7381BF5CCD}"/>
              </a:ext>
            </a:extLst>
          </p:cNvPr>
          <p:cNvGrpSpPr/>
          <p:nvPr/>
        </p:nvGrpSpPr>
        <p:grpSpPr>
          <a:xfrm>
            <a:off x="42530" y="3709469"/>
            <a:ext cx="8729330" cy="2361722"/>
            <a:chOff x="42530" y="3709469"/>
            <a:chExt cx="8729330" cy="23617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09D76C-1153-F7D7-209D-0EDC7612E0C4}"/>
                </a:ext>
              </a:extLst>
            </p:cNvPr>
            <p:cNvSpPr/>
            <p:nvPr/>
          </p:nvSpPr>
          <p:spPr>
            <a:xfrm>
              <a:off x="4423144" y="3709469"/>
              <a:ext cx="2892056" cy="869653"/>
            </a:xfrm>
            <a:prstGeom prst="rect">
              <a:avLst/>
            </a:prstGeom>
            <a:solidFill>
              <a:srgbClr val="0D0D0D">
                <a:alpha val="7411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54680-3831-C6A6-BA95-241F5C05BC6C}"/>
                </a:ext>
              </a:extLst>
            </p:cNvPr>
            <p:cNvSpPr/>
            <p:nvPr/>
          </p:nvSpPr>
          <p:spPr>
            <a:xfrm>
              <a:off x="42530" y="4527202"/>
              <a:ext cx="8729330" cy="1543989"/>
            </a:xfrm>
            <a:prstGeom prst="rect">
              <a:avLst/>
            </a:prstGeom>
            <a:solidFill>
              <a:srgbClr val="0D0D0D">
                <a:alpha val="7411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97D50A-BC4D-0D9C-85A0-DC6933BF299E}"/>
              </a:ext>
            </a:extLst>
          </p:cNvPr>
          <p:cNvGrpSpPr/>
          <p:nvPr/>
        </p:nvGrpSpPr>
        <p:grpSpPr>
          <a:xfrm>
            <a:off x="85060" y="3415216"/>
            <a:ext cx="11621238" cy="1057976"/>
            <a:chOff x="85060" y="1690689"/>
            <a:chExt cx="11621238" cy="10579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15CFE5-0DA9-3ABE-0078-E4A03A03EEF2}"/>
                </a:ext>
              </a:extLst>
            </p:cNvPr>
            <p:cNvSpPr/>
            <p:nvPr/>
          </p:nvSpPr>
          <p:spPr>
            <a:xfrm>
              <a:off x="85060" y="1690689"/>
              <a:ext cx="4338084" cy="105797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6A3AF4-0E40-B85A-D7DB-34891D8363ED}"/>
                </a:ext>
              </a:extLst>
            </p:cNvPr>
            <p:cNvSpPr txBox="1"/>
            <p:nvPr/>
          </p:nvSpPr>
          <p:spPr>
            <a:xfrm>
              <a:off x="6632473" y="1704287"/>
              <a:ext cx="5073825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biologically important parameter estimates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7E9AC0-E545-DE77-13C1-A700DD2CA187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423144" y="1908599"/>
              <a:ext cx="22093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34AD86F-B29D-330F-FB41-AD470FB0954A}"/>
              </a:ext>
            </a:extLst>
          </p:cNvPr>
          <p:cNvSpPr/>
          <p:nvPr/>
        </p:nvSpPr>
        <p:spPr>
          <a:xfrm>
            <a:off x="63794" y="2383910"/>
            <a:ext cx="6436157" cy="1031302"/>
          </a:xfrm>
          <a:prstGeom prst="rect">
            <a:avLst/>
          </a:prstGeom>
          <a:solidFill>
            <a:srgbClr val="0D0D0D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E92F1-2DDA-BB4B-D155-F89866C97477}"/>
              </a:ext>
            </a:extLst>
          </p:cNvPr>
          <p:cNvSpPr/>
          <p:nvPr/>
        </p:nvSpPr>
        <p:spPr>
          <a:xfrm>
            <a:off x="63793" y="3385056"/>
            <a:ext cx="4453123" cy="1142146"/>
          </a:xfrm>
          <a:prstGeom prst="rect">
            <a:avLst/>
          </a:prstGeom>
          <a:solidFill>
            <a:srgbClr val="0D0D0D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A79B7392-A978-4E16-3D3F-DA2113B290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2035079" y="3299507"/>
            <a:ext cx="3140734" cy="36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52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" grpId="1" animBg="1"/>
      <p:bldP spid="7" grpId="0" animBg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CEB0-0F4A-24A4-CF22-498F52E0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life easy for your audience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8795C0-17A0-6F99-33BB-DB0C5760C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Reporting the actual parameter estimates is important</a:t>
                </a:r>
              </a:p>
              <a:p>
                <a:pPr lvl="1"/>
                <a:r>
                  <a:rPr lang="en-GB" dirty="0"/>
                  <a:t>Transparency and precision</a:t>
                </a:r>
              </a:p>
              <a:p>
                <a:r>
                  <a:rPr lang="en-GB" dirty="0"/>
                  <a:t>But visualising the results is much more intuitive and helps non-technical readers to grasp the meaning</a:t>
                </a:r>
              </a:p>
              <a:p>
                <a:r>
                  <a:rPr lang="en-GB" dirty="0"/>
                  <a:t>For example, which is easier:</a:t>
                </a:r>
              </a:p>
              <a:p>
                <a:pPr lvl="1"/>
                <a:r>
                  <a:rPr lang="en-GB" dirty="0"/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was estimated at -99.32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was estimated at 1.89”</a:t>
                </a:r>
              </a:p>
              <a:p>
                <a:pPr lvl="1"/>
                <a:r>
                  <a:rPr lang="en-GB" dirty="0"/>
                  <a:t>Or a figure?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8795C0-17A0-6F99-33BB-DB0C5760C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25FF83A8-5057-E085-3171-CD520CB4D4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33142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1464</TotalTime>
  <Words>518</Words>
  <Application>Microsoft Office PowerPoint</Application>
  <PresentationFormat>Widescreen</PresentationFormat>
  <Paragraphs>75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Bahnschrift Light</vt:lpstr>
      <vt:lpstr>Cambria Math</vt:lpstr>
      <vt:lpstr>Courier New</vt:lpstr>
      <vt:lpstr>sbs_template</vt:lpstr>
      <vt:lpstr>Linear models in R</vt:lpstr>
      <vt:lpstr>From theory to implementation</vt:lpstr>
      <vt:lpstr>Step 1: The data</vt:lpstr>
      <vt:lpstr>The core function</vt:lpstr>
      <vt:lpstr>Make sure your data is ready</vt:lpstr>
      <vt:lpstr>Model formula</vt:lpstr>
      <vt:lpstr>Store your model</vt:lpstr>
      <vt:lpstr>Running the model</vt:lpstr>
      <vt:lpstr>Now what?</vt:lpstr>
      <vt:lpstr>summary(owl_model) </vt:lpstr>
      <vt:lpstr>Make life easy for your audience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models in R</dc:title>
  <dc:creator>Roos, Deon</dc:creator>
  <cp:lastModifiedBy>Deon Roos</cp:lastModifiedBy>
  <cp:revision>2</cp:revision>
  <dcterms:created xsi:type="dcterms:W3CDTF">2024-07-08T13:23:04Z</dcterms:created>
  <dcterms:modified xsi:type="dcterms:W3CDTF">2024-07-10T08:13:45Z</dcterms:modified>
</cp:coreProperties>
</file>