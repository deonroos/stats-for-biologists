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82" r:id="rId3"/>
    <p:sldId id="283" r:id="rId4"/>
    <p:sldId id="286" r:id="rId5"/>
    <p:sldId id="287" r:id="rId6"/>
    <p:sldId id="303" r:id="rId7"/>
    <p:sldId id="284" r:id="rId8"/>
    <p:sldId id="291" r:id="rId9"/>
    <p:sldId id="288" r:id="rId10"/>
    <p:sldId id="304" r:id="rId11"/>
    <p:sldId id="289" r:id="rId12"/>
    <p:sldId id="290" r:id="rId13"/>
    <p:sldId id="293" r:id="rId14"/>
    <p:sldId id="305" r:id="rId15"/>
    <p:sldId id="292" r:id="rId16"/>
    <p:sldId id="294" r:id="rId17"/>
    <p:sldId id="296" r:id="rId18"/>
    <p:sldId id="297" r:id="rId19"/>
    <p:sldId id="295" r:id="rId20"/>
    <p:sldId id="298" r:id="rId21"/>
    <p:sldId id="299" r:id="rId22"/>
    <p:sldId id="300" r:id="rId23"/>
    <p:sldId id="301" r:id="rId24"/>
    <p:sldId id="302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0D0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378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3236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8823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0874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72006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10/07/2024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2390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10/07/2024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9982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10/07/2024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9323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10/07/2024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431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10/07/2024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6047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10/07/2024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3223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10/07/2024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21357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023E0-ED12-2519-B2D9-5B33C38D61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D44F07-B3F4-15C4-AFCE-04078E3CCA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737E0C-C606-054E-C5F8-A90925860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0148B-943F-48A9-ADE6-600D1AF7D392}" type="datetimeFigureOut">
              <a:rPr lang="en-GB" smtClean="0"/>
              <a:t>10/07/2024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C63AA6-CCE6-741C-6C54-21C17CDAB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F6410A-F586-E7BC-9A8A-18533B544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4434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50148B-943F-48A9-ADE6-600D1AF7D392}" type="datetimeFigureOut">
              <a:rPr lang="en-GB" smtClean="0"/>
              <a:t>10/07/2024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EABFE8-C792-4DE0-994D-B709D38315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45957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5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8FF73-172F-E494-30C4-2C9EE13700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models in 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677C44-EE3B-E77E-39A0-7B72EB6676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With continuous explanatory variables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730874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40908-F271-D9D2-C6A6-9C32BE5CE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r>
              <a:rPr lang="en-GB" dirty="0"/>
              <a:t>From theory to implementation</a:t>
            </a:r>
          </a:p>
        </p:txBody>
      </p:sp>
      <p:pic>
        <p:nvPicPr>
          <p:cNvPr id="6" name="Picture Placeholder 5" descr="A graph with a line&#10;&#10;Description automatically generated">
            <a:extLst>
              <a:ext uri="{FF2B5EF4-FFF2-40B4-BE49-F238E27FC236}">
                <a16:creationId xmlns:a16="http://schemas.microsoft.com/office/drawing/2014/main" id="{603FCCAB-D6AB-946D-C461-13BA0137884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77" r="7477"/>
          <a:stretch>
            <a:fillRect/>
          </a:stretch>
        </p:blipFill>
        <p:spPr>
          <a:xfrm>
            <a:off x="192891" y="2317897"/>
            <a:ext cx="2914263" cy="3426678"/>
          </a:xfrm>
        </p:spPr>
      </p:pic>
      <p:pic>
        <p:nvPicPr>
          <p:cNvPr id="7" name="Picture 6" descr="A graph with lines in it&#10;&#10;Description automatically generated">
            <a:extLst>
              <a:ext uri="{FF2B5EF4-FFF2-40B4-BE49-F238E27FC236}">
                <a16:creationId xmlns:a16="http://schemas.microsoft.com/office/drawing/2014/main" id="{EE04B552-923F-6883-4FAA-592C0F2479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4142" y="2222976"/>
            <a:ext cx="3327991" cy="3327991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55CAB6-8D98-94FE-A8CB-E3CF882C57D8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3107154" y="4031236"/>
            <a:ext cx="1326623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Logo, icon&#10;&#10;Description automatically generated">
            <a:extLst>
              <a:ext uri="{FF2B5EF4-FFF2-40B4-BE49-F238E27FC236}">
                <a16:creationId xmlns:a16="http://schemas.microsoft.com/office/drawing/2014/main" id="{277CF8BA-7D4E-243E-743E-C4E23895036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-1939" r="71" b="-1154"/>
          <a:stretch/>
        </p:blipFill>
        <p:spPr>
          <a:xfrm>
            <a:off x="4433777" y="2946363"/>
            <a:ext cx="2713742" cy="216974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73B64ED-7BF1-A16B-91BF-112C45F539B8}"/>
              </a:ext>
            </a:extLst>
          </p:cNvPr>
          <p:cNvCxnSpPr>
            <a:cxnSpLocks/>
          </p:cNvCxnSpPr>
          <p:nvPr/>
        </p:nvCxnSpPr>
        <p:spPr>
          <a:xfrm>
            <a:off x="7147519" y="3886971"/>
            <a:ext cx="1326623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74162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48D56-C588-6D75-D596-2198F460B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core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55ED3-393D-9153-D3A9-E48DDBC00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entire previous lecture is summarised into a single</a:t>
            </a:r>
            <a:br>
              <a:rPr lang="en-GB" dirty="0"/>
            </a:br>
            <a:r>
              <a:rPr lang="en-GB" i="1" dirty="0"/>
              <a:t>function </a:t>
            </a:r>
            <a:r>
              <a:rPr lang="en-GB" dirty="0"/>
              <a:t>in R</a:t>
            </a:r>
          </a:p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GB" dirty="0">
                <a:cs typeface="Courier New" panose="02070309020205020404" pitchFamily="49" charset="0"/>
              </a:rPr>
              <a:t>We need to give the function specific information</a:t>
            </a:r>
          </a:p>
          <a:p>
            <a:pPr lvl="1"/>
            <a:r>
              <a:rPr lang="en-GB" dirty="0">
                <a:cs typeface="Courier New" panose="02070309020205020404" pitchFamily="49" charset="0"/>
              </a:rPr>
              <a:t>The dataset</a:t>
            </a:r>
          </a:p>
          <a:p>
            <a:pPr lvl="1"/>
            <a:r>
              <a:rPr lang="en-GB" dirty="0">
                <a:cs typeface="Courier New" panose="02070309020205020404" pitchFamily="49" charset="0"/>
              </a:rPr>
              <a:t>The model formula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1E11959-B2C5-52AB-DA39-4B5312CB5CB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59298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708-887B-978E-586B-BD31D9463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1: The data</a:t>
            </a:r>
          </a:p>
        </p:txBody>
      </p:sp>
    </p:spTree>
    <p:extLst>
      <p:ext uri="{BB962C8B-B14F-4D97-AF65-F5344CB8AC3E}">
        <p14:creationId xmlns:p14="http://schemas.microsoft.com/office/powerpoint/2010/main" val="13254864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75A36-5856-345F-A93E-E7FB9CF1F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Make sure your data is ready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ADB15-81CB-A31D-5B02-4EB89751E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want the data in “tabular” form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/>
              <a:t>each row is an observation</a:t>
            </a:r>
          </a:p>
          <a:p>
            <a:pPr lvl="1"/>
            <a:r>
              <a:rPr lang="en-GB" dirty="0"/>
              <a:t>each column is a variable</a:t>
            </a:r>
          </a:p>
          <a:p>
            <a:r>
              <a:rPr lang="en-GB" dirty="0"/>
              <a:t>Easiest when data is entered this way from the start</a:t>
            </a:r>
          </a:p>
          <a:p>
            <a:pPr lvl="1"/>
            <a:r>
              <a:rPr lang="en-GB" dirty="0"/>
              <a:t>Otherwise you need to do lots of data processing (with potential mistakes)</a:t>
            </a:r>
          </a:p>
          <a:p>
            <a:endParaRPr lang="en-GB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96E4FD-5CDF-7CE4-58A1-ABE39DED4FA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1362" t="1" r="-141" b="-1504"/>
          <a:stretch/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38839107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708-887B-978E-586B-BD31D9463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2: The formula</a:t>
            </a:r>
          </a:p>
        </p:txBody>
      </p:sp>
    </p:spTree>
    <p:extLst>
      <p:ext uri="{BB962C8B-B14F-4D97-AF65-F5344CB8AC3E}">
        <p14:creationId xmlns:p14="http://schemas.microsoft.com/office/powerpoint/2010/main" val="5964201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A733E-2252-9A81-00BA-12171197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Model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8FBC78-C7ED-C5BE-6EEE-4994418561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want to understand how owl density changes with pine marten density</a:t>
            </a:r>
          </a:p>
          <a:p>
            <a:pPr lvl="1"/>
            <a:r>
              <a:rPr lang="en-GB" dirty="0"/>
              <a:t>Response variable = owl density</a:t>
            </a:r>
          </a:p>
          <a:p>
            <a:pPr lvl="1"/>
            <a:r>
              <a:rPr lang="en-GB" dirty="0"/>
              <a:t>Explanatory variable = marten density</a:t>
            </a:r>
          </a:p>
          <a:p>
            <a:r>
              <a:rPr lang="en-GB" dirty="0"/>
              <a:t>To convey this to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GB" dirty="0"/>
              <a:t>:</a:t>
            </a:r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owl ~ marten</a:t>
            </a:r>
          </a:p>
          <a:p>
            <a:pPr lvl="1"/>
            <a:r>
              <a:rPr lang="en-GB" dirty="0"/>
              <a:t>In English: “owl as a function of marten”</a:t>
            </a:r>
          </a:p>
          <a:p>
            <a:pPr lvl="1"/>
            <a:r>
              <a:rPr lang="en-GB" dirty="0"/>
              <a:t>In actual English: “Owl density changes with marten density”</a:t>
            </a:r>
          </a:p>
        </p:txBody>
      </p:sp>
      <p:pic>
        <p:nvPicPr>
          <p:cNvPr id="4" name="PineMartenandTawny">
            <a:hlinkClick r:id="" action="ppaction://media"/>
            <a:extLst>
              <a:ext uri="{FF2B5EF4-FFF2-40B4-BE49-F238E27FC236}">
                <a16:creationId xmlns:a16="http://schemas.microsoft.com/office/drawing/2014/main" id="{0154B702-E41F-5149-7DF0-E2DB8CD44C5C}"/>
              </a:ext>
            </a:extLst>
          </p:cNvPr>
          <p:cNvPicPr>
            <a:picLocks noGrp="1" noChangeAspect="1"/>
          </p:cNvPicPr>
          <p:nvPr>
            <p:ph type="pic" sz="quarter" idx="10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4"/>
          <a:srcRect l="15690" r="36472"/>
          <a:stretch/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4061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33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5F074-D2E8-B396-406E-9F0FC056F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Store your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C7072-F3EA-0FC4-24FA-AED68A58F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You can run the model each time you want to do something with it</a:t>
            </a:r>
          </a:p>
          <a:p>
            <a:pPr lvl="1"/>
            <a:r>
              <a:rPr lang="en-GB" dirty="0"/>
              <a:t>E.g. remind yourself what the parameter estimates were</a:t>
            </a:r>
          </a:p>
          <a:p>
            <a:r>
              <a:rPr lang="en-GB" dirty="0"/>
              <a:t>But tedious and annoying</a:t>
            </a:r>
          </a:p>
          <a:p>
            <a:r>
              <a:rPr lang="en-GB" dirty="0"/>
              <a:t>Easiest if you save your model output as an object</a:t>
            </a:r>
          </a:p>
          <a:p>
            <a:pPr lvl="1"/>
            <a:r>
              <a:rPr lang="en-GB" dirty="0"/>
              <a:t>Remember that “&lt;-” stores (or “assigns”) output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69F8F54-C06E-773B-7F2A-E8FB73DB895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08402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EF204-3D87-6068-E5F5-29F97B450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Running the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D3BB6-5A91-E7D4-D799-6B659D7ACEB7}"/>
              </a:ext>
            </a:extLst>
          </p:cNvPr>
          <p:cNvSpPr txBox="1">
            <a:spLocks/>
          </p:cNvSpPr>
          <p:nvPr/>
        </p:nvSpPr>
        <p:spPr>
          <a:xfrm>
            <a:off x="2934585" y="3115339"/>
            <a:ext cx="7783033" cy="355146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owl_model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(tawny ~ marten,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data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owl_data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B47B95E-C2B3-6D0D-E8B7-D63494B659E3}"/>
              </a:ext>
            </a:extLst>
          </p:cNvPr>
          <p:cNvGrpSpPr/>
          <p:nvPr/>
        </p:nvGrpSpPr>
        <p:grpSpPr>
          <a:xfrm>
            <a:off x="435564" y="2972728"/>
            <a:ext cx="4517436" cy="715089"/>
            <a:chOff x="435564" y="2972728"/>
            <a:chExt cx="4517436" cy="71508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3F45767-DE66-6481-4951-0EC8DDC5087E}"/>
                </a:ext>
              </a:extLst>
            </p:cNvPr>
            <p:cNvSpPr/>
            <p:nvPr/>
          </p:nvSpPr>
          <p:spPr>
            <a:xfrm>
              <a:off x="3000375" y="3135965"/>
              <a:ext cx="1952625" cy="400191"/>
            </a:xfrm>
            <a:prstGeom prst="rect">
              <a:avLst/>
            </a:prstGeom>
            <a:noFill/>
            <a:ln w="285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8DB8977-4C5D-F6AC-1DC2-54A62A7169D8}"/>
                </a:ext>
              </a:extLst>
            </p:cNvPr>
            <p:cNvSpPr txBox="1"/>
            <p:nvPr/>
          </p:nvSpPr>
          <p:spPr>
            <a:xfrm>
              <a:off x="435564" y="2972728"/>
              <a:ext cx="2359132" cy="715089"/>
            </a:xfrm>
            <a:prstGeom prst="roundRect">
              <a:avLst/>
            </a:prstGeom>
            <a:noFill/>
            <a:ln w="28575">
              <a:solidFill>
                <a:srgbClr val="FFFF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Call the stored </a:t>
              </a:r>
              <a:br>
                <a:rPr lang="en-GB" dirty="0"/>
              </a:br>
              <a:r>
                <a:rPr lang="en-GB" dirty="0"/>
                <a:t>output “</a:t>
              </a:r>
              <a:r>
                <a:rPr lang="en-GB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owl_model</a:t>
              </a:r>
              <a:r>
                <a:rPr lang="en-GB" dirty="0"/>
                <a:t>”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9613530B-DBB5-25A4-E218-C712E740F571}"/>
                </a:ext>
              </a:extLst>
            </p:cNvPr>
            <p:cNvCxnSpPr>
              <a:stCxn id="15" idx="3"/>
              <a:endCxn id="4" idx="1"/>
            </p:cNvCxnSpPr>
            <p:nvPr/>
          </p:nvCxnSpPr>
          <p:spPr>
            <a:xfrm>
              <a:off x="2794696" y="3330273"/>
              <a:ext cx="205679" cy="5788"/>
            </a:xfrm>
            <a:prstGeom prst="straightConnector1">
              <a:avLst/>
            </a:prstGeom>
            <a:ln w="28575"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A8BC786-871A-F58F-6E36-8A30D2B81E4E}"/>
              </a:ext>
            </a:extLst>
          </p:cNvPr>
          <p:cNvGrpSpPr/>
          <p:nvPr/>
        </p:nvGrpSpPr>
        <p:grpSpPr>
          <a:xfrm>
            <a:off x="4383057" y="3139151"/>
            <a:ext cx="1970942" cy="1374458"/>
            <a:chOff x="4383057" y="3139151"/>
            <a:chExt cx="1970942" cy="1374458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773E8CB-EEE8-1306-D134-25328B2307D7}"/>
                </a:ext>
              </a:extLst>
            </p:cNvPr>
            <p:cNvSpPr/>
            <p:nvPr/>
          </p:nvSpPr>
          <p:spPr>
            <a:xfrm>
              <a:off x="5126831" y="3139151"/>
              <a:ext cx="483394" cy="397668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934D671-A696-1A25-ABA6-B66D94514F72}"/>
                </a:ext>
              </a:extLst>
            </p:cNvPr>
            <p:cNvSpPr txBox="1"/>
            <p:nvPr/>
          </p:nvSpPr>
          <p:spPr>
            <a:xfrm>
              <a:off x="4383057" y="4104986"/>
              <a:ext cx="1970942" cy="408623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Store the results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F0B7280-55AB-2488-DE6B-01B0336EF992}"/>
                </a:ext>
              </a:extLst>
            </p:cNvPr>
            <p:cNvCxnSpPr>
              <a:cxnSpLocks/>
              <a:stCxn id="14" idx="0"/>
              <a:endCxn id="10" idx="2"/>
            </p:cNvCxnSpPr>
            <p:nvPr/>
          </p:nvCxnSpPr>
          <p:spPr>
            <a:xfrm flipV="1">
              <a:off x="5368528" y="3536819"/>
              <a:ext cx="0" cy="56816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7622B27-78BF-B480-8F10-80E0A892A560}"/>
              </a:ext>
            </a:extLst>
          </p:cNvPr>
          <p:cNvGrpSpPr/>
          <p:nvPr/>
        </p:nvGrpSpPr>
        <p:grpSpPr>
          <a:xfrm>
            <a:off x="4958285" y="2058995"/>
            <a:ext cx="4807221" cy="2026490"/>
            <a:chOff x="4958285" y="2058995"/>
            <a:chExt cx="4807221" cy="202649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42A3B13-9C91-54B8-94D5-0ACBA29AF8A0}"/>
                </a:ext>
              </a:extLst>
            </p:cNvPr>
            <p:cNvSpPr/>
            <p:nvPr/>
          </p:nvSpPr>
          <p:spPr>
            <a:xfrm>
              <a:off x="5684706" y="3138489"/>
              <a:ext cx="706570" cy="397668"/>
            </a:xfrm>
            <a:prstGeom prst="rect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CDBA0A6-5790-F897-8009-3001E1634041}"/>
                </a:ext>
              </a:extLst>
            </p:cNvPr>
            <p:cNvSpPr/>
            <p:nvPr/>
          </p:nvSpPr>
          <p:spPr>
            <a:xfrm>
              <a:off x="9639299" y="3687817"/>
              <a:ext cx="126207" cy="397668"/>
            </a:xfrm>
            <a:prstGeom prst="rect">
              <a:avLst/>
            </a:prstGeom>
            <a:noFill/>
            <a:ln w="28575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77AD1CE-3F3F-24E3-FCF2-EC442B870D25}"/>
                </a:ext>
              </a:extLst>
            </p:cNvPr>
            <p:cNvSpPr txBox="1"/>
            <p:nvPr/>
          </p:nvSpPr>
          <p:spPr>
            <a:xfrm>
              <a:off x="4958285" y="2058995"/>
              <a:ext cx="2159411" cy="408623"/>
            </a:xfrm>
            <a:prstGeom prst="roundRect">
              <a:avLst/>
            </a:prstGeom>
            <a:noFill/>
            <a:ln w="28575">
              <a:solidFill>
                <a:srgbClr val="00B0F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Run a linear model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C12FB7C7-981D-88F0-7855-C93DE4B669F7}"/>
                </a:ext>
              </a:extLst>
            </p:cNvPr>
            <p:cNvCxnSpPr>
              <a:cxnSpLocks/>
              <a:stCxn id="11" idx="2"/>
              <a:endCxn id="5" idx="0"/>
            </p:cNvCxnSpPr>
            <p:nvPr/>
          </p:nvCxnSpPr>
          <p:spPr>
            <a:xfrm>
              <a:off x="6037991" y="2467618"/>
              <a:ext cx="0" cy="670871"/>
            </a:xfrm>
            <a:prstGeom prst="straightConnector1">
              <a:avLst/>
            </a:prstGeom>
            <a:ln w="28575">
              <a:solidFill>
                <a:srgbClr val="00B0F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B78C766-CAAD-17D3-B2CB-13655975AD0A}"/>
              </a:ext>
            </a:extLst>
          </p:cNvPr>
          <p:cNvGrpSpPr/>
          <p:nvPr/>
        </p:nvGrpSpPr>
        <p:grpSpPr>
          <a:xfrm>
            <a:off x="6424613" y="1445920"/>
            <a:ext cx="5587199" cy="2090236"/>
            <a:chOff x="6424613" y="1445920"/>
            <a:chExt cx="5587199" cy="209023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C2A2DCA-487B-06A6-2A29-C308F423F4FA}"/>
                </a:ext>
              </a:extLst>
            </p:cNvPr>
            <p:cNvSpPr/>
            <p:nvPr/>
          </p:nvSpPr>
          <p:spPr>
            <a:xfrm>
              <a:off x="6424613" y="3138488"/>
              <a:ext cx="2978943" cy="397668"/>
            </a:xfrm>
            <a:prstGeom prst="rect">
              <a:avLst/>
            </a:prstGeom>
            <a:noFill/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9B3F493-B338-4121-4DF2-1498D7EFC6B3}"/>
                </a:ext>
              </a:extLst>
            </p:cNvPr>
            <p:cNvSpPr txBox="1"/>
            <p:nvPr/>
          </p:nvSpPr>
          <p:spPr>
            <a:xfrm>
              <a:off x="8430392" y="1445920"/>
              <a:ext cx="3581420" cy="1328023"/>
            </a:xfrm>
            <a:prstGeom prst="roundRect">
              <a:avLst/>
            </a:prstGeom>
            <a:noFill/>
            <a:ln w="28575">
              <a:solidFill>
                <a:schemeClr val="accent6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We ask the model to see if </a:t>
              </a:r>
              <a:br>
                <a:rPr lang="en-GB" dirty="0"/>
              </a:br>
              <a:r>
                <a:rPr lang="en-GB" dirty="0"/>
                <a:t>there is any linear relationship </a:t>
              </a:r>
              <a:br>
                <a:rPr lang="en-GB" dirty="0"/>
              </a:br>
              <a:r>
                <a:rPr lang="en-GB" dirty="0"/>
                <a:t>between tawny owl density and </a:t>
              </a:r>
              <a:br>
                <a:rPr lang="en-GB" dirty="0"/>
              </a:br>
              <a:r>
                <a:rPr lang="en-GB" dirty="0"/>
                <a:t>pine marten density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F977033C-B73C-C5C8-2911-B3A7EF163213}"/>
                </a:ext>
              </a:extLst>
            </p:cNvPr>
            <p:cNvCxnSpPr>
              <a:cxnSpLocks/>
              <a:stCxn id="12" idx="1"/>
              <a:endCxn id="7" idx="0"/>
            </p:cNvCxnSpPr>
            <p:nvPr/>
          </p:nvCxnSpPr>
          <p:spPr>
            <a:xfrm flipH="1">
              <a:off x="7914085" y="2109932"/>
              <a:ext cx="516307" cy="1028556"/>
            </a:xfrm>
            <a:prstGeom prst="straightConnector1">
              <a:avLst/>
            </a:prstGeom>
            <a:ln w="28575">
              <a:solidFill>
                <a:schemeClr val="accent6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C715CFE-F8DB-DD62-BAA2-4BA8527F8FAF}"/>
              </a:ext>
            </a:extLst>
          </p:cNvPr>
          <p:cNvGrpSpPr/>
          <p:nvPr/>
        </p:nvGrpSpPr>
        <p:grpSpPr>
          <a:xfrm>
            <a:off x="6424613" y="3687958"/>
            <a:ext cx="4293005" cy="1343099"/>
            <a:chOff x="6424613" y="3687958"/>
            <a:chExt cx="4293005" cy="134309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726EDB8-9B77-D55D-0600-02BE84636E1B}"/>
                </a:ext>
              </a:extLst>
            </p:cNvPr>
            <p:cNvSpPr/>
            <p:nvPr/>
          </p:nvSpPr>
          <p:spPr>
            <a:xfrm>
              <a:off x="6424613" y="3687958"/>
              <a:ext cx="3183143" cy="397668"/>
            </a:xfrm>
            <a:prstGeom prst="rect">
              <a:avLst/>
            </a:prstGeom>
            <a:noFill/>
            <a:ln w="28575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AEBADD3-9200-5577-9959-66590EBCF412}"/>
                </a:ext>
              </a:extLst>
            </p:cNvPr>
            <p:cNvSpPr txBox="1"/>
            <p:nvPr/>
          </p:nvSpPr>
          <p:spPr>
            <a:xfrm>
              <a:off x="7577392" y="4622434"/>
              <a:ext cx="3140226" cy="408623"/>
            </a:xfrm>
            <a:prstGeom prst="roundRect">
              <a:avLst/>
            </a:prstGeom>
            <a:noFill/>
            <a:ln w="28575">
              <a:solidFill>
                <a:schemeClr val="accent5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Use the “</a:t>
              </a:r>
              <a:r>
                <a:rPr lang="en-GB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owl_data</a:t>
              </a:r>
              <a:r>
                <a:rPr lang="en-GB" dirty="0"/>
                <a:t>” dataset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92F18FA8-4D1C-1DA5-D8F5-8E6734745AB7}"/>
                </a:ext>
              </a:extLst>
            </p:cNvPr>
            <p:cNvCxnSpPr>
              <a:cxnSpLocks/>
              <a:stCxn id="13" idx="0"/>
              <a:endCxn id="8" idx="2"/>
            </p:cNvCxnSpPr>
            <p:nvPr/>
          </p:nvCxnSpPr>
          <p:spPr>
            <a:xfrm flipH="1" flipV="1">
              <a:off x="8016185" y="4085626"/>
              <a:ext cx="1131320" cy="536808"/>
            </a:xfrm>
            <a:prstGeom prst="straightConnector1">
              <a:avLst/>
            </a:prstGeom>
            <a:ln w="28575">
              <a:solidFill>
                <a:schemeClr val="accent5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843B668-28DC-C523-AF01-E897BDD376B7}"/>
              </a:ext>
            </a:extLst>
          </p:cNvPr>
          <p:cNvGrpSpPr/>
          <p:nvPr/>
        </p:nvGrpSpPr>
        <p:grpSpPr>
          <a:xfrm>
            <a:off x="9436894" y="2986685"/>
            <a:ext cx="2628341" cy="715089"/>
            <a:chOff x="9436894" y="2986685"/>
            <a:chExt cx="2628341" cy="71508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8F1E3F-B265-4AC5-F108-9F328C783D5C}"/>
                </a:ext>
              </a:extLst>
            </p:cNvPr>
            <p:cNvSpPr/>
            <p:nvPr/>
          </p:nvSpPr>
          <p:spPr>
            <a:xfrm>
              <a:off x="9436894" y="3135965"/>
              <a:ext cx="128587" cy="400191"/>
            </a:xfrm>
            <a:prstGeom prst="rect">
              <a:avLst/>
            </a:prstGeom>
            <a:noFill/>
            <a:ln w="28575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F4EC050-2162-5D68-3DF6-F269278E3351}"/>
                </a:ext>
              </a:extLst>
            </p:cNvPr>
            <p:cNvSpPr txBox="1"/>
            <p:nvPr/>
          </p:nvSpPr>
          <p:spPr>
            <a:xfrm>
              <a:off x="10323296" y="2986685"/>
              <a:ext cx="1741939" cy="715089"/>
            </a:xfrm>
            <a:prstGeom prst="roundRect">
              <a:avLst/>
            </a:prstGeom>
            <a:noFill/>
            <a:ln w="28575">
              <a:solidFill>
                <a:schemeClr val="accent2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There is more </a:t>
              </a:r>
              <a:br>
                <a:rPr lang="en-GB" dirty="0"/>
              </a:br>
              <a:r>
                <a:rPr lang="en-GB" dirty="0"/>
                <a:t>information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C695008-1229-B66E-CA38-1ED1DCA555D8}"/>
                </a:ext>
              </a:extLst>
            </p:cNvPr>
            <p:cNvCxnSpPr>
              <a:cxnSpLocks/>
              <a:stCxn id="35" idx="1"/>
              <a:endCxn id="9" idx="3"/>
            </p:cNvCxnSpPr>
            <p:nvPr/>
          </p:nvCxnSpPr>
          <p:spPr>
            <a:xfrm flipH="1" flipV="1">
              <a:off x="9565481" y="3336061"/>
              <a:ext cx="757815" cy="8169"/>
            </a:xfrm>
            <a:prstGeom prst="straightConnector1">
              <a:avLst/>
            </a:prstGeom>
            <a:ln w="28575">
              <a:solidFill>
                <a:schemeClr val="accent2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594238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708-887B-978E-586B-BD31D9463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3: Interpret results</a:t>
            </a:r>
          </a:p>
        </p:txBody>
      </p:sp>
    </p:spTree>
    <p:extLst>
      <p:ext uri="{BB962C8B-B14F-4D97-AF65-F5344CB8AC3E}">
        <p14:creationId xmlns:p14="http://schemas.microsoft.com/office/powerpoint/2010/main" val="34879430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DB6EF-C833-EAE2-3F20-7F9E27BB0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Now what?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30A3A0-A633-94C4-09EF-7008FD3E5F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Keep in mind, we’re not doing stats for the sake of it</a:t>
                </a:r>
              </a:p>
              <a:p>
                <a:r>
                  <a:rPr lang="en-GB" dirty="0"/>
                  <a:t>We’re doing it to learn something about the world</a:t>
                </a:r>
              </a:p>
              <a:p>
                <a:r>
                  <a:rPr lang="en-GB" dirty="0"/>
                  <a:t>Our current model has two parameters we want to learn</a:t>
                </a:r>
              </a:p>
              <a:p>
                <a:pPr lvl="1"/>
                <a:r>
                  <a:rPr lang="en-GB" dirty="0"/>
                  <a:t>Intercept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)</a:t>
                </a:r>
              </a:p>
              <a:p>
                <a:pPr lvl="1"/>
                <a:r>
                  <a:rPr lang="en-GB" dirty="0"/>
                  <a:t>Slope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)</a:t>
                </a:r>
              </a:p>
              <a:p>
                <a:r>
                  <a:rPr lang="en-GB" dirty="0"/>
                  <a:t>How do we get that information?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30A3A0-A633-94C4-09EF-7008FD3E5F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neMartenandTawny">
            <a:hlinkClick r:id="" action="ppaction://media"/>
            <a:extLst>
              <a:ext uri="{FF2B5EF4-FFF2-40B4-BE49-F238E27FC236}">
                <a16:creationId xmlns:a16="http://schemas.microsoft.com/office/drawing/2014/main" id="{ADE56324-4345-C5A8-D369-5DF60B947FE4}"/>
              </a:ext>
            </a:extLst>
          </p:cNvPr>
          <p:cNvPicPr>
            <a:picLocks noGrp="1" noChangeAspect="1"/>
          </p:cNvPicPr>
          <p:nvPr>
            <p:ph type="pic" sz="quarter" idx="10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5"/>
          <a:srcRect l="15690" r="36472"/>
          <a:stretch/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3602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85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5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>
              <p:cMediaNode vol="80000">
                <p:cTn id="36" repeatCount="indefinite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B58F9-03AC-76F4-8850-FAC9D33CBFD4}"/>
              </a:ext>
            </a:extLst>
          </p:cNvPr>
          <p:cNvSpPr txBox="1">
            <a:spLocks/>
          </p:cNvSpPr>
          <p:nvPr/>
        </p:nvSpPr>
        <p:spPr>
          <a:xfrm>
            <a:off x="0" y="1690688"/>
            <a:ext cx="9718158" cy="44871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tawny ~ marten, data =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owl_data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endParaRPr lang="en-GB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Residuals: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Min       1Q   Median       3Q      Max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-15.7312  -3.4267   0.0008   3.4721  14.1214 </a:t>
            </a:r>
          </a:p>
          <a:p>
            <a:pPr marL="0" indent="0">
              <a:spcBef>
                <a:spcPts val="0"/>
              </a:spcBef>
              <a:buNone/>
            </a:pPr>
            <a:endParaRPr lang="en-GB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Coefficients: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Estimate Std. Error t value </a:t>
            </a: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(&gt;|t|)  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39.4934     0.4239   93.16   &lt;2e-16 ***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marten       -3.0465     0.2780  -10.96   &lt;2e-16 ***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  <a:p>
            <a:pPr marL="0" indent="0">
              <a:spcBef>
                <a:spcPts val="0"/>
              </a:spcBef>
              <a:buNone/>
            </a:pPr>
            <a:endParaRPr lang="en-GB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Residual standard error: 5.015 on 1033 degrees of freedom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Multiple R-squared:  0.1042,	Adjusted R-squared:  0.1033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F-statistic: 120.1 on 1 and 1033 DF,  p-value: &lt; 2.2e-16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B64A3B-757B-79EB-284A-42ED736B5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summary(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owl_model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GB" dirty="0"/>
              <a:t>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3F2EA63-4357-CF65-69D1-DB9AD2260DA1}"/>
              </a:ext>
            </a:extLst>
          </p:cNvPr>
          <p:cNvGrpSpPr/>
          <p:nvPr/>
        </p:nvGrpSpPr>
        <p:grpSpPr>
          <a:xfrm>
            <a:off x="85060" y="1690688"/>
            <a:ext cx="8763471" cy="585787"/>
            <a:chOff x="85060" y="1690688"/>
            <a:chExt cx="8763471" cy="585787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443C4C1-378E-CC60-997B-4C89FE8F567E}"/>
                </a:ext>
              </a:extLst>
            </p:cNvPr>
            <p:cNvSpPr/>
            <p:nvPr/>
          </p:nvSpPr>
          <p:spPr>
            <a:xfrm>
              <a:off x="85060" y="1690688"/>
              <a:ext cx="6230680" cy="585787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E8A51F5-E2D8-4561-72C5-7FC28BB8DE42}"/>
                </a:ext>
              </a:extLst>
            </p:cNvPr>
            <p:cNvSpPr txBox="1"/>
            <p:nvPr/>
          </p:nvSpPr>
          <p:spPr>
            <a:xfrm>
              <a:off x="6632473" y="1810613"/>
              <a:ext cx="2216058" cy="408623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Which model this is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301DE62-6AE4-FE13-EDCC-A35629387A49}"/>
                </a:ext>
              </a:extLst>
            </p:cNvPr>
            <p:cNvCxnSpPr>
              <a:endCxn id="6" idx="1"/>
            </p:cNvCxnSpPr>
            <p:nvPr/>
          </p:nvCxnSpPr>
          <p:spPr>
            <a:xfrm>
              <a:off x="6337005" y="2014924"/>
              <a:ext cx="295468" cy="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68807D1-3EF3-403E-6853-9222F45624F3}"/>
              </a:ext>
            </a:extLst>
          </p:cNvPr>
          <p:cNvGrpSpPr/>
          <p:nvPr/>
        </p:nvGrpSpPr>
        <p:grpSpPr>
          <a:xfrm>
            <a:off x="85060" y="2480786"/>
            <a:ext cx="9978970" cy="772777"/>
            <a:chOff x="85060" y="1690688"/>
            <a:chExt cx="9978970" cy="772777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7A5335F-4E2A-21EE-02E1-90A2AF5182DC}"/>
                </a:ext>
              </a:extLst>
            </p:cNvPr>
            <p:cNvSpPr/>
            <p:nvPr/>
          </p:nvSpPr>
          <p:spPr>
            <a:xfrm>
              <a:off x="85060" y="1690688"/>
              <a:ext cx="6230680" cy="772777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C69914A-0B9D-6FB0-3072-47DF60470833}"/>
                </a:ext>
              </a:extLst>
            </p:cNvPr>
            <p:cNvSpPr txBox="1"/>
            <p:nvPr/>
          </p:nvSpPr>
          <p:spPr>
            <a:xfrm>
              <a:off x="6632473" y="1885044"/>
              <a:ext cx="3431557" cy="408623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Simple description of residuals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A282903-36C9-4505-42C0-16BF734A2305}"/>
                </a:ext>
              </a:extLst>
            </p:cNvPr>
            <p:cNvCxnSpPr>
              <a:endCxn id="12" idx="1"/>
            </p:cNvCxnSpPr>
            <p:nvPr/>
          </p:nvCxnSpPr>
          <p:spPr>
            <a:xfrm>
              <a:off x="6337005" y="2089355"/>
              <a:ext cx="295468" cy="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F0A48A2-91C0-852C-FDBB-8D7381BF5CCD}"/>
              </a:ext>
            </a:extLst>
          </p:cNvPr>
          <p:cNvGrpSpPr/>
          <p:nvPr/>
        </p:nvGrpSpPr>
        <p:grpSpPr>
          <a:xfrm>
            <a:off x="42530" y="3709469"/>
            <a:ext cx="8729330" cy="2361722"/>
            <a:chOff x="42530" y="3709469"/>
            <a:chExt cx="8729330" cy="2361722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009D76C-1153-F7D7-209D-0EDC7612E0C4}"/>
                </a:ext>
              </a:extLst>
            </p:cNvPr>
            <p:cNvSpPr/>
            <p:nvPr/>
          </p:nvSpPr>
          <p:spPr>
            <a:xfrm>
              <a:off x="4423144" y="3709469"/>
              <a:ext cx="2892056" cy="869653"/>
            </a:xfrm>
            <a:prstGeom prst="rect">
              <a:avLst/>
            </a:prstGeom>
            <a:solidFill>
              <a:srgbClr val="0D0D0D">
                <a:alpha val="74118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A754680-3831-C6A6-BA95-241F5C05BC6C}"/>
                </a:ext>
              </a:extLst>
            </p:cNvPr>
            <p:cNvSpPr/>
            <p:nvPr/>
          </p:nvSpPr>
          <p:spPr>
            <a:xfrm>
              <a:off x="42530" y="4527202"/>
              <a:ext cx="8729330" cy="1543989"/>
            </a:xfrm>
            <a:prstGeom prst="rect">
              <a:avLst/>
            </a:prstGeom>
            <a:solidFill>
              <a:srgbClr val="0D0D0D">
                <a:alpha val="74118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497D50A-BC4D-0D9C-85A0-DC6933BF299E}"/>
              </a:ext>
            </a:extLst>
          </p:cNvPr>
          <p:cNvGrpSpPr/>
          <p:nvPr/>
        </p:nvGrpSpPr>
        <p:grpSpPr>
          <a:xfrm>
            <a:off x="85060" y="3415216"/>
            <a:ext cx="11621238" cy="1057976"/>
            <a:chOff x="85060" y="1690689"/>
            <a:chExt cx="11621238" cy="1057976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715CFE5-0DA9-3ABE-0078-E4A03A03EEF2}"/>
                </a:ext>
              </a:extLst>
            </p:cNvPr>
            <p:cNvSpPr/>
            <p:nvPr/>
          </p:nvSpPr>
          <p:spPr>
            <a:xfrm>
              <a:off x="85060" y="1690689"/>
              <a:ext cx="4338084" cy="105797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26A3AF4-0E40-B85A-D7DB-34891D8363ED}"/>
                </a:ext>
              </a:extLst>
            </p:cNvPr>
            <p:cNvSpPr txBox="1"/>
            <p:nvPr/>
          </p:nvSpPr>
          <p:spPr>
            <a:xfrm>
              <a:off x="6632473" y="1704287"/>
              <a:ext cx="5073825" cy="408623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/>
                <a:t>The biologically important parameter estimates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47E9AC0-E545-DE77-13C1-A700DD2CA187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4423144" y="1908599"/>
              <a:ext cx="220932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E34AD86F-B29D-330F-FB41-AD470FB0954A}"/>
              </a:ext>
            </a:extLst>
          </p:cNvPr>
          <p:cNvSpPr/>
          <p:nvPr/>
        </p:nvSpPr>
        <p:spPr>
          <a:xfrm>
            <a:off x="63794" y="2383910"/>
            <a:ext cx="6436157" cy="1031302"/>
          </a:xfrm>
          <a:prstGeom prst="rect">
            <a:avLst/>
          </a:prstGeom>
          <a:solidFill>
            <a:srgbClr val="0D0D0D">
              <a:alpha val="7411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FE92F1-2DDA-BB4B-D155-F89866C97477}"/>
              </a:ext>
            </a:extLst>
          </p:cNvPr>
          <p:cNvSpPr/>
          <p:nvPr/>
        </p:nvSpPr>
        <p:spPr>
          <a:xfrm>
            <a:off x="63793" y="3385056"/>
            <a:ext cx="4453123" cy="1142146"/>
          </a:xfrm>
          <a:prstGeom prst="rect">
            <a:avLst/>
          </a:prstGeom>
          <a:solidFill>
            <a:srgbClr val="0D0D0D">
              <a:alpha val="7411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3" name="Picture 22" descr="A graph with white dots and red line&#10;&#10;Description automatically generated">
            <a:extLst>
              <a:ext uri="{FF2B5EF4-FFF2-40B4-BE49-F238E27FC236}">
                <a16:creationId xmlns:a16="http://schemas.microsoft.com/office/drawing/2014/main" id="{B3FD84F8-8A77-1A5F-36E1-2EAB6BDEAD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03" y="3428814"/>
            <a:ext cx="2545328" cy="3034814"/>
          </a:xfrm>
          <a:prstGeom prst="rect">
            <a:avLst/>
          </a:prstGeom>
        </p:spPr>
      </p:pic>
      <p:pic>
        <p:nvPicPr>
          <p:cNvPr id="25" name="Picture 24" descr="A graph of a mountain&#10;&#10;Description automatically generated">
            <a:extLst>
              <a:ext uri="{FF2B5EF4-FFF2-40B4-BE49-F238E27FC236}">
                <a16:creationId xmlns:a16="http://schemas.microsoft.com/office/drawing/2014/main" id="{AE250D10-F989-54DF-6C91-13750BBD29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5472" y="3428814"/>
            <a:ext cx="2640703" cy="3148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2522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animBg="1"/>
      <p:bldP spid="4" grpId="1" animBg="1"/>
      <p:bldP spid="7" grpId="0" animBg="1"/>
      <p:bldP spid="7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2F6CF-09DA-FC41-19CD-BC863B3A2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Done?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7DC91-1B72-1C74-1747-B82E4DA63492}"/>
              </a:ext>
            </a:extLst>
          </p:cNvPr>
          <p:cNvSpPr txBox="1">
            <a:spLocks/>
          </p:cNvSpPr>
          <p:nvPr/>
        </p:nvSpPr>
        <p:spPr>
          <a:xfrm>
            <a:off x="2730500" y="2973388"/>
            <a:ext cx="9718158" cy="448713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GB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Estimate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39.4934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GB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marten       -3.0465</a:t>
            </a:r>
          </a:p>
        </p:txBody>
      </p:sp>
    </p:spTree>
    <p:extLst>
      <p:ext uri="{BB962C8B-B14F-4D97-AF65-F5344CB8AC3E}">
        <p14:creationId xmlns:p14="http://schemas.microsoft.com/office/powerpoint/2010/main" val="3572710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708-887B-978E-586B-BD31D9463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Step 4: Plot results</a:t>
            </a:r>
          </a:p>
        </p:txBody>
      </p:sp>
    </p:spTree>
    <p:extLst>
      <p:ext uri="{BB962C8B-B14F-4D97-AF65-F5344CB8AC3E}">
        <p14:creationId xmlns:p14="http://schemas.microsoft.com/office/powerpoint/2010/main" val="28516098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1CEB0-0F4A-24A4-CF22-498F52E0A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Make life easy for your audience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8795C0-17A0-6F99-33BB-DB0C5760CF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Reporting the actual parameter estimates is important</a:t>
                </a:r>
              </a:p>
              <a:p>
                <a:pPr lvl="1"/>
                <a:r>
                  <a:rPr lang="en-GB" dirty="0"/>
                  <a:t>Transparency and precision</a:t>
                </a:r>
              </a:p>
              <a:p>
                <a:r>
                  <a:rPr lang="en-GB" dirty="0"/>
                  <a:t>But visualising the results is much more intuitive and helps non-technical readers to grasp the meaning</a:t>
                </a:r>
              </a:p>
              <a:p>
                <a:r>
                  <a:rPr lang="en-GB" dirty="0"/>
                  <a:t>For example, which is easier:</a:t>
                </a:r>
              </a:p>
              <a:p>
                <a:pPr lvl="1"/>
                <a:r>
                  <a:rPr lang="en-GB" dirty="0"/>
                  <a:t>“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 was estimated at -99.32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was estimated at 1.89”</a:t>
                </a:r>
              </a:p>
              <a:p>
                <a:pPr lvl="1"/>
                <a:r>
                  <a:rPr lang="en-GB" dirty="0"/>
                  <a:t>Or a figure?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8795C0-17A0-6F99-33BB-DB0C5760CF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Placeholder 5" descr="A graph on a black background&#10;&#10;Description automatically generated">
            <a:extLst>
              <a:ext uri="{FF2B5EF4-FFF2-40B4-BE49-F238E27FC236}">
                <a16:creationId xmlns:a16="http://schemas.microsoft.com/office/drawing/2014/main" id="{25FF83A8-5057-E085-3171-CD520CB4D49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3331428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3074E-F3E1-49DF-DA85-A68EF609E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Drawing a line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28356C-D405-F3A0-9DF2-AAC11EE081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To draw a line, we need a straight line equation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𝑀𝑎𝑟𝑡𝑒𝑛</m:t>
                      </m:r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Now that we’ve fit the model, we know what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are</a:t>
                </a:r>
              </a:p>
              <a:p>
                <a:r>
                  <a:rPr lang="en-GB" dirty="0"/>
                  <a:t>We just need values for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𝑀𝑎𝑟𝑡𝑖𝑛</m:t>
                    </m:r>
                  </m:oMath>
                </a14:m>
                <a:endParaRPr lang="en-GB" dirty="0"/>
              </a:p>
              <a:p>
                <a:r>
                  <a:rPr lang="en-GB" dirty="0"/>
                  <a:t>We could just use the actual values from our dataset</a:t>
                </a:r>
              </a:p>
              <a:p>
                <a:pPr lvl="1"/>
                <a:r>
                  <a:rPr lang="en-GB" dirty="0"/>
                  <a:t>But this can cause difficulties later on</a:t>
                </a:r>
              </a:p>
              <a:p>
                <a:r>
                  <a:rPr lang="en-GB" dirty="0"/>
                  <a:t>Or we can just make up values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28356C-D405-F3A0-9DF2-AAC11EE081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39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D439A9E-C0F8-E894-7908-491CC1E6E99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3327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1976C-3370-2671-E7A1-A01DFA2A6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Our objective to make the figure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19D797-74F1-F896-7FB2-48D2E4C13655}"/>
                  </a:ext>
                </a:extLst>
              </p:cNvPr>
              <p:cNvSpPr txBox="1"/>
              <p:nvPr/>
            </p:nvSpPr>
            <p:spPr>
              <a:xfrm>
                <a:off x="2762249" y="3180218"/>
                <a:ext cx="7705725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6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6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6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𝑀𝑎𝑟𝑡𝑒𝑛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19D797-74F1-F896-7FB2-48D2E4C13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2249" y="3180218"/>
                <a:ext cx="7705725" cy="1015663"/>
              </a:xfrm>
              <a:prstGeom prst="rect">
                <a:avLst/>
              </a:prstGeom>
              <a:blipFill>
                <a:blip r:embed="rId2"/>
                <a:stretch>
                  <a:fillRect t="-19880" r="-6092" b="-3915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1C346456-7489-72E7-4B3E-7F9AD082BAE7}"/>
              </a:ext>
            </a:extLst>
          </p:cNvPr>
          <p:cNvGrpSpPr/>
          <p:nvPr/>
        </p:nvGrpSpPr>
        <p:grpSpPr>
          <a:xfrm>
            <a:off x="4374356" y="3406775"/>
            <a:ext cx="2410619" cy="746700"/>
            <a:chOff x="4374356" y="3406775"/>
            <a:chExt cx="2410619" cy="7467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19A9F06-4997-900C-06E9-78C0237EC4E7}"/>
                </a:ext>
              </a:extLst>
            </p:cNvPr>
            <p:cNvSpPr/>
            <p:nvPr/>
          </p:nvSpPr>
          <p:spPr>
            <a:xfrm>
              <a:off x="4374356" y="3406775"/>
              <a:ext cx="746919" cy="746700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1258B0A-D19B-A7F2-FD72-3BCBCE76D032}"/>
                </a:ext>
              </a:extLst>
            </p:cNvPr>
            <p:cNvSpPr/>
            <p:nvPr/>
          </p:nvSpPr>
          <p:spPr>
            <a:xfrm>
              <a:off x="6038056" y="3406775"/>
              <a:ext cx="746919" cy="746700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C766DCB-6155-AB8F-375A-51B1228D3F6D}"/>
              </a:ext>
            </a:extLst>
          </p:cNvPr>
          <p:cNvGrpSpPr/>
          <p:nvPr/>
        </p:nvGrpSpPr>
        <p:grpSpPr>
          <a:xfrm>
            <a:off x="3451413" y="4153475"/>
            <a:ext cx="3826689" cy="1608111"/>
            <a:chOff x="3451413" y="4305875"/>
            <a:chExt cx="3826689" cy="160811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13DF176-2855-150C-397B-9F6340DE813D}"/>
                </a:ext>
              </a:extLst>
            </p:cNvPr>
            <p:cNvSpPr txBox="1"/>
            <p:nvPr/>
          </p:nvSpPr>
          <p:spPr>
            <a:xfrm>
              <a:off x="3451413" y="5082989"/>
              <a:ext cx="3826689" cy="830997"/>
            </a:xfrm>
            <a:prstGeom prst="rect">
              <a:avLst/>
            </a:prstGeom>
            <a:noFill/>
            <a:ln w="28575">
              <a:solidFill>
                <a:srgbClr val="00B0F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We can get these by doing:</a:t>
              </a:r>
              <a:br>
                <a:rPr lang="en-GB" sz="2400" dirty="0"/>
              </a:br>
              <a:r>
                <a:rPr lang="en-GB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summary(</a:t>
              </a:r>
              <a:r>
                <a:rPr lang="en-GB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owl_model</a:t>
              </a:r>
              <a:r>
                <a:rPr lang="en-GB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4887E948-0102-D0AA-B757-EEED6CCB26A5}"/>
                </a:ext>
              </a:extLst>
            </p:cNvPr>
            <p:cNvCxnSpPr>
              <a:cxnSpLocks/>
              <a:stCxn id="8" idx="0"/>
              <a:endCxn id="5" idx="2"/>
            </p:cNvCxnSpPr>
            <p:nvPr/>
          </p:nvCxnSpPr>
          <p:spPr>
            <a:xfrm flipH="1" flipV="1">
              <a:off x="4747816" y="4305875"/>
              <a:ext cx="616942" cy="777114"/>
            </a:xfrm>
            <a:prstGeom prst="straightConnector1">
              <a:avLst/>
            </a:prstGeom>
            <a:ln w="28575">
              <a:solidFill>
                <a:srgbClr val="00B0F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5B2CEF1-76E6-AE33-63FA-8EEFCD99F786}"/>
                </a:ext>
              </a:extLst>
            </p:cNvPr>
            <p:cNvCxnSpPr>
              <a:cxnSpLocks/>
              <a:stCxn id="8" idx="0"/>
              <a:endCxn id="7" idx="2"/>
            </p:cNvCxnSpPr>
            <p:nvPr/>
          </p:nvCxnSpPr>
          <p:spPr>
            <a:xfrm flipV="1">
              <a:off x="5364758" y="4305875"/>
              <a:ext cx="1046758" cy="777114"/>
            </a:xfrm>
            <a:prstGeom prst="straightConnector1">
              <a:avLst/>
            </a:prstGeom>
            <a:ln w="28575">
              <a:solidFill>
                <a:srgbClr val="00B0F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90A242C2-B7FF-48FF-DFA7-04F698ECCE2A}"/>
              </a:ext>
            </a:extLst>
          </p:cNvPr>
          <p:cNvSpPr/>
          <p:nvPr/>
        </p:nvSpPr>
        <p:spPr>
          <a:xfrm>
            <a:off x="7708107" y="3406775"/>
            <a:ext cx="2568248" cy="746700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CB52485A-F13E-F636-755B-EC73DA27F3B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451412" y="5837786"/>
                <a:ext cx="3826689" cy="910837"/>
              </a:xfrm>
              <a:prstGeom prst="rect">
                <a:avLst/>
              </a:prstGeom>
              <a:ln w="28575">
                <a:solidFill>
                  <a:srgbClr val="00B0F0"/>
                </a:solidFill>
              </a:ln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18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           Estimate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18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(Intercept)  39.4934 </a:t>
                </a:r>
                <a:r>
                  <a:rPr lang="en-GB" sz="1800" dirty="0">
                    <a:solidFill>
                      <a:srgbClr val="00B0F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𝛽</m:t>
                        </m:r>
                      </m:e>
                      <m:sub>
                        <m:r>
                          <a:rPr lang="en-GB" sz="18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GB" sz="1800" dirty="0">
                    <a:solidFill>
                      <a:srgbClr val="00B0F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:r>
                  <a:rPr lang="en-GB" sz="18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marten       -3.0465 </a:t>
                </a:r>
                <a:r>
                  <a:rPr lang="en-GB" sz="1800" dirty="0">
                    <a:solidFill>
                      <a:srgbClr val="00B0F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8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a:rPr lang="en-GB" sz="18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𝛽</m:t>
                        </m:r>
                      </m:e>
                      <m:sub>
                        <m:r>
                          <a:rPr lang="en-GB" sz="18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1800" dirty="0">
                    <a:solidFill>
                      <a:srgbClr val="00B0F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)</a:t>
                </a:r>
                <a:endParaRPr lang="en-GB" sz="18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CB52485A-F13E-F636-755B-EC73DA27F3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1412" y="5837786"/>
                <a:ext cx="3826689" cy="910837"/>
              </a:xfrm>
              <a:prstGeom prst="rect">
                <a:avLst/>
              </a:prstGeom>
              <a:blipFill>
                <a:blip r:embed="rId3"/>
                <a:stretch>
                  <a:fillRect l="-948" t="-4545" b="-1299"/>
                </a:stretch>
              </a:blipFill>
              <a:ln w="28575">
                <a:solidFill>
                  <a:srgbClr val="00B0F0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47264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1976C-3370-2671-E7A1-A01DFA2A6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Our objective to make the figure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19D797-74F1-F896-7FB2-48D2E4C13655}"/>
                  </a:ext>
                </a:extLst>
              </p:cNvPr>
              <p:cNvSpPr txBox="1"/>
              <p:nvPr/>
            </p:nvSpPr>
            <p:spPr>
              <a:xfrm>
                <a:off x="1457327" y="3262769"/>
                <a:ext cx="8496297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=39.5−3.1×</m:t>
                      </m:r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𝑀𝑎𝑟𝑡𝑒𝑛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19D797-74F1-F896-7FB2-48D2E4C13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7327" y="3262769"/>
                <a:ext cx="8496297" cy="1015663"/>
              </a:xfrm>
              <a:prstGeom prst="rect">
                <a:avLst/>
              </a:prstGeom>
              <a:blipFill>
                <a:blip r:embed="rId2"/>
                <a:stretch>
                  <a:fillRect t="-19162" r="-6169" b="-3832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90A242C2-B7FF-48FF-DFA7-04F698ECCE2A}"/>
              </a:ext>
            </a:extLst>
          </p:cNvPr>
          <p:cNvSpPr/>
          <p:nvPr/>
        </p:nvSpPr>
        <p:spPr>
          <a:xfrm>
            <a:off x="7250907" y="3406775"/>
            <a:ext cx="2568248" cy="746700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C470D94-6A2A-7D2A-1A7F-48C1BE12A71F}"/>
              </a:ext>
            </a:extLst>
          </p:cNvPr>
          <p:cNvGrpSpPr/>
          <p:nvPr/>
        </p:nvGrpSpPr>
        <p:grpSpPr>
          <a:xfrm>
            <a:off x="7028047" y="1877611"/>
            <a:ext cx="3013967" cy="1529164"/>
            <a:chOff x="6523222" y="1877611"/>
            <a:chExt cx="3013967" cy="152916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732BA6F-45BF-1760-7154-89E6D61328C4}"/>
                </a:ext>
              </a:extLst>
            </p:cNvPr>
            <p:cNvSpPr txBox="1"/>
            <p:nvPr/>
          </p:nvSpPr>
          <p:spPr>
            <a:xfrm>
              <a:off x="6523222" y="1877611"/>
              <a:ext cx="3013967" cy="830997"/>
            </a:xfrm>
            <a:prstGeom prst="rect">
              <a:avLst/>
            </a:prstGeom>
            <a:noFill/>
            <a:ln w="28575">
              <a:solidFill>
                <a:srgbClr val="FFFF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sz="2400" dirty="0"/>
                <a:t>We just need values </a:t>
              </a:r>
              <a:br>
                <a:rPr lang="en-GB" sz="2400" dirty="0"/>
              </a:br>
              <a:r>
                <a:rPr lang="en-GB" sz="2400" dirty="0"/>
                <a:t>to plug in here</a:t>
              </a:r>
              <a:endParaRPr lang="en-GB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731F947-13A5-1E8F-8C7F-ECACC6B462BE}"/>
                </a:ext>
              </a:extLst>
            </p:cNvPr>
            <p:cNvCxnSpPr>
              <a:stCxn id="14" idx="2"/>
              <a:endCxn id="13" idx="0"/>
            </p:cNvCxnSpPr>
            <p:nvPr/>
          </p:nvCxnSpPr>
          <p:spPr>
            <a:xfrm flipH="1">
              <a:off x="8020681" y="2708608"/>
              <a:ext cx="9525" cy="698167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039690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C8066-0FFC-10B1-F716-608CE4BB5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Making up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38C2ED-2699-4FB6-5005-513ABF0746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" y="1426613"/>
                <a:ext cx="4953000" cy="5240194"/>
              </a:xfrm>
            </p:spPr>
            <p:txBody>
              <a:bodyPr/>
              <a:lstStyle/>
              <a:p>
                <a:r>
                  <a:rPr lang="en-GB" dirty="0"/>
                  <a:t>We want a simple list of sequential values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𝑀𝑎𝑟𝑡𝑒𝑛</m:t>
                    </m:r>
                  </m:oMath>
                </a14:m>
                <a:endParaRPr lang="en-GB" dirty="0"/>
              </a:p>
              <a:p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R</a:t>
                </a:r>
                <a:r>
                  <a:rPr lang="en-GB" dirty="0"/>
                  <a:t> is excellent at doing this</a:t>
                </a:r>
              </a:p>
              <a:p>
                <a:r>
                  <a:rPr lang="en-GB" dirty="0"/>
                  <a:t>We can use the </a:t>
                </a:r>
                <a:r>
                  <a:rPr lang="en-GB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seq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 </a:t>
                </a:r>
                <a:r>
                  <a:rPr lang="en-GB" dirty="0"/>
                  <a:t>function</a:t>
                </a:r>
              </a:p>
              <a:p>
                <a:pPr lvl="1"/>
                <a:r>
                  <a:rPr lang="en-GB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seq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 </a:t>
                </a:r>
                <a:r>
                  <a:rPr lang="en-GB" dirty="0"/>
                  <a:t>for “sequence”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38C2ED-2699-4FB6-5005-513ABF0746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" y="1426613"/>
                <a:ext cx="4953000" cy="5240194"/>
              </a:xfrm>
              <a:blipFill>
                <a:blip r:embed="rId2"/>
                <a:stretch>
                  <a:fillRect l="-2214" r="-33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F80B601-3623-DA8D-983C-7D0256BAB56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232401" y="3111500"/>
            <a:ext cx="6959600" cy="3746500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marten &lt;-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(from = 0,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	     to = 10,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length.out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= 25)</a:t>
            </a:r>
          </a:p>
          <a:p>
            <a:pPr marL="0" indent="0">
              <a:buNone/>
            </a:pP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dirty="0">
                <a:cs typeface="Courier New" panose="02070309020205020404" pitchFamily="49" charset="0"/>
              </a:rPr>
              <a:t>Creates a sequence of 25 numbers from 0 marten to 10 marten, and stores it as “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marten</a:t>
            </a:r>
            <a:r>
              <a:rPr lang="en-GB" dirty="0">
                <a:cs typeface="Courier New" panose="02070309020205020404" pitchFamily="49" charset="0"/>
              </a:rPr>
              <a:t>”.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9E27B6-46D7-BB81-254E-714469316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75" y="3054350"/>
            <a:ext cx="4343400" cy="227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7055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1976C-3370-2671-E7A1-A01DFA2A6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Our objective to make the figure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19D797-74F1-F896-7FB2-48D2E4C13655}"/>
                  </a:ext>
                </a:extLst>
              </p:cNvPr>
              <p:cNvSpPr txBox="1"/>
              <p:nvPr/>
            </p:nvSpPr>
            <p:spPr>
              <a:xfrm>
                <a:off x="1219200" y="3262769"/>
                <a:ext cx="8724900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=39.5−3.1×</m:t>
                      </m:r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𝑀𝑎𝑟𝑡𝑒𝑛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19D797-74F1-F896-7FB2-48D2E4C13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200" y="3262769"/>
                <a:ext cx="8724900" cy="1015663"/>
              </a:xfrm>
              <a:prstGeom prst="rect">
                <a:avLst/>
              </a:prstGeom>
              <a:blipFill>
                <a:blip r:embed="rId2"/>
                <a:stretch>
                  <a:fillRect t="-19162" r="-4612" b="-3832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90A242C2-B7FF-48FF-DFA7-04F698ECCE2A}"/>
              </a:ext>
            </a:extLst>
          </p:cNvPr>
          <p:cNvSpPr/>
          <p:nvPr/>
        </p:nvSpPr>
        <p:spPr>
          <a:xfrm>
            <a:off x="7127082" y="3406775"/>
            <a:ext cx="2568248" cy="746700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5FB2FF7-352A-7294-641D-F7513448876D}"/>
              </a:ext>
            </a:extLst>
          </p:cNvPr>
          <p:cNvGrpSpPr/>
          <p:nvPr/>
        </p:nvGrpSpPr>
        <p:grpSpPr>
          <a:xfrm>
            <a:off x="6717511" y="4153475"/>
            <a:ext cx="4343400" cy="2634675"/>
            <a:chOff x="6717511" y="4153475"/>
            <a:chExt cx="4343400" cy="263467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41FC0CC-A0CE-5210-6B9D-A6C8B3C2C4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17511" y="4511675"/>
              <a:ext cx="4343400" cy="2276475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18C31F92-4A47-A20F-C028-C09E3A173B86}"/>
                </a:ext>
              </a:extLst>
            </p:cNvPr>
            <p:cNvCxnSpPr>
              <a:cxnSpLocks/>
              <a:endCxn id="13" idx="2"/>
            </p:cNvCxnSpPr>
            <p:nvPr/>
          </p:nvCxnSpPr>
          <p:spPr>
            <a:xfrm flipV="1">
              <a:off x="8411206" y="4153475"/>
              <a:ext cx="0" cy="358200"/>
            </a:xfrm>
            <a:prstGeom prst="straightConnector1">
              <a:avLst/>
            </a:prstGeom>
            <a:ln w="28575"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40633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1976C-3370-2671-E7A1-A01DFA2A6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Our objective to make the figure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19D797-74F1-F896-7FB2-48D2E4C13655}"/>
                  </a:ext>
                </a:extLst>
              </p:cNvPr>
              <p:cNvSpPr txBox="1"/>
              <p:nvPr/>
            </p:nvSpPr>
            <p:spPr>
              <a:xfrm>
                <a:off x="1819274" y="2413337"/>
                <a:ext cx="8553451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=39.5−3.1×</m:t>
                      </m:r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𝑀𝑎𝑟𝑡𝑒𝑛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119D797-74F1-F896-7FB2-48D2E4C13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9274" y="2413337"/>
                <a:ext cx="8553451" cy="1015663"/>
              </a:xfrm>
              <a:prstGeom prst="rect">
                <a:avLst/>
              </a:prstGeom>
              <a:blipFill>
                <a:blip r:embed="rId2"/>
                <a:stretch>
                  <a:fillRect t="-19760" r="-5698" b="-3832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A0C365E-323F-A581-1C6A-8F0E7B48D60C}"/>
              </a:ext>
            </a:extLst>
          </p:cNvPr>
          <p:cNvSpPr txBox="1"/>
          <p:nvPr/>
        </p:nvSpPr>
        <p:spPr>
          <a:xfrm>
            <a:off x="0" y="3756362"/>
            <a:ext cx="12192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GB" sz="4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pred_tawny</a:t>
            </a:r>
            <a:r>
              <a:rPr lang="en-GB" sz="4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&lt;- 39.5 – 3.1 * marten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E330E6E-A959-D7DF-1713-A105BF2D3F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4930775"/>
            <a:ext cx="8629650" cy="156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9888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BD177-784D-4849-170A-B03032D57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127F81-7ADE-4211-1034-365AEBA95B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learned how to plot data using ggplot in the first week</a:t>
            </a:r>
          </a:p>
          <a:p>
            <a:r>
              <a:rPr lang="en-GB" dirty="0"/>
              <a:t>We’ll use those skills again here</a:t>
            </a:r>
          </a:p>
          <a:p>
            <a:r>
              <a:rPr lang="en-GB" dirty="0"/>
              <a:t>Specifically, we want to use the </a:t>
            </a:r>
            <a:r>
              <a:rPr lang="en-GB" dirty="0" err="1"/>
              <a:t>geom_line</a:t>
            </a:r>
            <a:r>
              <a:rPr lang="en-GB" dirty="0"/>
              <a:t> geometry to plot a </a:t>
            </a:r>
            <a:r>
              <a:rPr lang="en-GB" i="1" dirty="0"/>
              <a:t>line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ggplot() +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(x = marten,</a:t>
            </a:r>
          </a:p>
          <a:p>
            <a:pPr marL="0" indent="0">
              <a:buNone/>
            </a:pP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y =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pred_tawny</a:t>
            </a:r>
            <a:r>
              <a:rPr lang="en-GB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</p:txBody>
      </p:sp>
      <p:pic>
        <p:nvPicPr>
          <p:cNvPr id="6" name="Picture Placeholder 5" descr="A graph of a line&#10;&#10;Description automatically generated">
            <a:extLst>
              <a:ext uri="{FF2B5EF4-FFF2-40B4-BE49-F238E27FC236}">
                <a16:creationId xmlns:a16="http://schemas.microsoft.com/office/drawing/2014/main" id="{82987FD7-E50F-5F26-EAD9-154781EC262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1598396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52C5D-861F-5E8B-6FB5-956709DB4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 easier alternative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ABEF7F-1178-E55F-CF48-916ED4FFCB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There are various R packages that make plotting model fits easy</a:t>
            </a:r>
          </a:p>
          <a:p>
            <a:r>
              <a:rPr lang="en-GB" dirty="0"/>
              <a:t>But they do come with the cost of limiting your choices</a:t>
            </a:r>
          </a:p>
          <a:p>
            <a:pPr lvl="1"/>
            <a:r>
              <a:rPr lang="en-GB" dirty="0"/>
              <a:t>Useful when learning</a:t>
            </a:r>
          </a:p>
          <a:p>
            <a:pPr lvl="1"/>
            <a:r>
              <a:rPr lang="en-GB" dirty="0"/>
              <a:t>But annoying when you want to make those choices</a:t>
            </a:r>
          </a:p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ggeffects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GB" dirty="0"/>
              <a:t> package is a nice option</a:t>
            </a:r>
          </a:p>
          <a:p>
            <a:pPr lvl="1"/>
            <a:r>
              <a:rPr lang="en-GB" dirty="0"/>
              <a:t>But not the only one</a:t>
            </a:r>
          </a:p>
          <a:p>
            <a:pPr marL="0" indent="0">
              <a:buNone/>
            </a:pP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library(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ggeffects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plot(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ggpredict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owl_model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</p:txBody>
      </p:sp>
      <p:pic>
        <p:nvPicPr>
          <p:cNvPr id="12" name="Picture Placeholder 11" descr="A graph with a line&#10;&#10;Description automatically generated">
            <a:extLst>
              <a:ext uri="{FF2B5EF4-FFF2-40B4-BE49-F238E27FC236}">
                <a16:creationId xmlns:a16="http://schemas.microsoft.com/office/drawing/2014/main" id="{9CA782DE-3DF5-AABB-5315-86E6AB4F3C8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8674533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CB778-27FE-F11F-3899-530F9B253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err="1"/>
              <a:t>tl;dr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8CE4-617E-577E-05F7-6375C1C2B259}"/>
              </a:ext>
            </a:extLst>
          </p:cNvPr>
          <p:cNvSpPr txBox="1">
            <a:spLocks/>
          </p:cNvSpPr>
          <p:nvPr/>
        </p:nvSpPr>
        <p:spPr>
          <a:xfrm>
            <a:off x="0" y="1943099"/>
            <a:ext cx="10868025" cy="472370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Actually fitting models in R is easy</a:t>
            </a:r>
          </a:p>
          <a:p>
            <a:pPr lvl="1"/>
            <a:r>
              <a:rPr lang="en-GB" dirty="0"/>
              <a:t>Ensure data is in tabular form</a:t>
            </a:r>
          </a:p>
          <a:p>
            <a:pPr lvl="1"/>
            <a:r>
              <a:rPr lang="en-GB" dirty="0"/>
              <a:t>Get the formula that captures your question</a:t>
            </a:r>
          </a:p>
          <a:p>
            <a:r>
              <a:rPr lang="en-GB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GB" dirty="0">
                <a:cs typeface="Courier New" panose="02070309020205020404" pitchFamily="49" charset="0"/>
              </a:rPr>
              <a:t>handles all of the theory</a:t>
            </a:r>
          </a:p>
          <a:p>
            <a:r>
              <a:rPr lang="en-GB" dirty="0">
                <a:cs typeface="Courier New" panose="02070309020205020404" pitchFamily="49" charset="0"/>
              </a:rPr>
              <a:t>Use summary() to extract the parameter estimates</a:t>
            </a:r>
          </a:p>
          <a:p>
            <a:r>
              <a:rPr lang="en-GB" dirty="0">
                <a:cs typeface="Courier New" panose="02070309020205020404" pitchFamily="49" charset="0"/>
              </a:rPr>
              <a:t>Report the estimates!</a:t>
            </a:r>
          </a:p>
          <a:p>
            <a:r>
              <a:rPr lang="en-GB" dirty="0">
                <a:cs typeface="Courier New" panose="02070309020205020404" pitchFamily="49" charset="0"/>
              </a:rPr>
              <a:t>Create a simple version of your explanatory variable</a:t>
            </a:r>
          </a:p>
          <a:p>
            <a:pPr lvl="1"/>
            <a:r>
              <a:rPr lang="en-GB" dirty="0">
                <a:cs typeface="Courier New" panose="02070309020205020404" pitchFamily="49" charset="0"/>
              </a:rPr>
              <a:t>Use your equation to generate fitted values</a:t>
            </a:r>
          </a:p>
          <a:p>
            <a:pPr lvl="1"/>
            <a:r>
              <a:rPr lang="en-GB" dirty="0">
                <a:cs typeface="Courier New" panose="02070309020205020404" pitchFamily="49" charset="0"/>
              </a:rPr>
              <a:t>Plot them using your software of preference</a:t>
            </a:r>
          </a:p>
          <a:p>
            <a:endParaRPr lang="en-GB" sz="2400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499478"/>
      </p:ext>
    </p:extLst>
  </p:cSld>
  <p:clrMapOvr>
    <a:masterClrMapping/>
  </p:clrMapOvr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1570</TotalTime>
  <Words>963</Words>
  <Application>Microsoft Office PowerPoint</Application>
  <PresentationFormat>Widescreen</PresentationFormat>
  <Paragraphs>139</Paragraphs>
  <Slides>24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Bahnschrift Light</vt:lpstr>
      <vt:lpstr>Cambria Math</vt:lpstr>
      <vt:lpstr>Courier New</vt:lpstr>
      <vt:lpstr>sbs_template</vt:lpstr>
      <vt:lpstr>Linear models in R</vt:lpstr>
      <vt:lpstr>From theory to implementation</vt:lpstr>
      <vt:lpstr>The core function</vt:lpstr>
      <vt:lpstr>Step 1: The data</vt:lpstr>
      <vt:lpstr>Make sure your data is ready</vt:lpstr>
      <vt:lpstr>Step 2: The formula</vt:lpstr>
      <vt:lpstr>Model formula</vt:lpstr>
      <vt:lpstr>Store your model</vt:lpstr>
      <vt:lpstr>Running the model</vt:lpstr>
      <vt:lpstr>Step 3: Interpret results</vt:lpstr>
      <vt:lpstr>Now what?</vt:lpstr>
      <vt:lpstr>summary(owl_model) </vt:lpstr>
      <vt:lpstr>Done?</vt:lpstr>
      <vt:lpstr>Step 4: Plot results</vt:lpstr>
      <vt:lpstr>Make life easy for your audience</vt:lpstr>
      <vt:lpstr>Drawing a line</vt:lpstr>
      <vt:lpstr>Our objective to make the figure</vt:lpstr>
      <vt:lpstr>Our objective to make the figure</vt:lpstr>
      <vt:lpstr>Making up numbers</vt:lpstr>
      <vt:lpstr>Our objective to make the figure</vt:lpstr>
      <vt:lpstr>Our objective to make the figure</vt:lpstr>
      <vt:lpstr>ggplot</vt:lpstr>
      <vt:lpstr>An easier alternative</vt:lpstr>
      <vt:lpstr>tl;dr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models in R</dc:title>
  <dc:creator>Roos, Deon</dc:creator>
  <cp:lastModifiedBy>Roos, Deon</cp:lastModifiedBy>
  <cp:revision>4</cp:revision>
  <dcterms:created xsi:type="dcterms:W3CDTF">2024-07-08T13:23:04Z</dcterms:created>
  <dcterms:modified xsi:type="dcterms:W3CDTF">2024-07-10T10:08:57Z</dcterms:modified>
</cp:coreProperties>
</file>