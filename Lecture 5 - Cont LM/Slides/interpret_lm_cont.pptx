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82" r:id="rId3"/>
    <p:sldId id="286" r:id="rId4"/>
    <p:sldId id="283" r:id="rId5"/>
    <p:sldId id="287" r:id="rId6"/>
    <p:sldId id="284" r:id="rId7"/>
    <p:sldId id="288" r:id="rId8"/>
    <p:sldId id="289" r:id="rId9"/>
    <p:sldId id="29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0D0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120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3236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8823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0874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72006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08/07/2024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2390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08/07/2024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9982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08/07/2024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9323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08/07/2024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431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08/07/2024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6047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08/07/2024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3223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08/07/2024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21357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023E0-ED12-2519-B2D9-5B33C38D61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D44F07-B3F4-15C4-AFCE-04078E3CCA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737E0C-C606-054E-C5F8-A90925860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08/07/2024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C63AA6-CCE6-741C-6C54-21C17CDAB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F6410A-F586-E7BC-9A8A-18533B544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4434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50148B-943F-48A9-ADE6-600D1AF7D392}" type="datetimeFigureOut">
              <a:rPr lang="en-GB" smtClean="0"/>
              <a:t>08/07/2024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45957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8FF73-172F-E494-30C4-2C9EE13700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models in 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677C44-EE3B-E77E-39A0-7B72EB6676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With continuous explanatory variables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73087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40908-F271-D9D2-C6A6-9C32BE5CE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r>
              <a:rPr lang="en-GB" dirty="0"/>
              <a:t>From theory to implementation</a:t>
            </a:r>
          </a:p>
        </p:txBody>
      </p:sp>
      <p:pic>
        <p:nvPicPr>
          <p:cNvPr id="6" name="Picture Placeholder 5" descr="A graph with a line&#10;&#10;Description automatically generated">
            <a:extLst>
              <a:ext uri="{FF2B5EF4-FFF2-40B4-BE49-F238E27FC236}">
                <a16:creationId xmlns:a16="http://schemas.microsoft.com/office/drawing/2014/main" id="{603FCCAB-D6AB-946D-C461-13BA0137884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77" r="7477"/>
          <a:stretch>
            <a:fillRect/>
          </a:stretch>
        </p:blipFill>
        <p:spPr>
          <a:xfrm>
            <a:off x="908637" y="1713391"/>
            <a:ext cx="4133696" cy="4860524"/>
          </a:xfrm>
        </p:spPr>
      </p:pic>
      <p:pic>
        <p:nvPicPr>
          <p:cNvPr id="7" name="Picture 6" descr="A graph with lines in it&#10;&#10;Description automatically generated">
            <a:extLst>
              <a:ext uri="{FF2B5EF4-FFF2-40B4-BE49-F238E27FC236}">
                <a16:creationId xmlns:a16="http://schemas.microsoft.com/office/drawing/2014/main" id="{EE04B552-923F-6883-4FAA-592C0F2479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3180" y="1864977"/>
            <a:ext cx="4557351" cy="4557351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55CAB6-8D98-94FE-A8CB-E3CF882C57D8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5042333" y="4143653"/>
            <a:ext cx="1740847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74162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708-887B-978E-586B-BD31D9463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1: The data</a:t>
            </a:r>
          </a:p>
        </p:txBody>
      </p:sp>
    </p:spTree>
    <p:extLst>
      <p:ext uri="{BB962C8B-B14F-4D97-AF65-F5344CB8AC3E}">
        <p14:creationId xmlns:p14="http://schemas.microsoft.com/office/powerpoint/2010/main" val="1325486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48D56-C588-6D75-D596-2198F460B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core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55ED3-393D-9153-D3A9-E48DDBC00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entire previous lecture is summarised into a single</a:t>
            </a:r>
            <a:br>
              <a:rPr lang="en-GB" dirty="0"/>
            </a:br>
            <a:r>
              <a:rPr lang="en-GB" i="1" dirty="0"/>
              <a:t>function </a:t>
            </a:r>
            <a:r>
              <a:rPr lang="en-GB" dirty="0"/>
              <a:t>in R</a:t>
            </a:r>
          </a:p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GB" dirty="0">
                <a:cs typeface="Courier New" panose="02070309020205020404" pitchFamily="49" charset="0"/>
              </a:rPr>
              <a:t>We need to give the information to fit the model in specific forms</a:t>
            </a:r>
          </a:p>
          <a:p>
            <a:pPr lvl="1"/>
            <a:r>
              <a:rPr lang="en-GB" dirty="0">
                <a:cs typeface="Courier New" panose="02070309020205020404" pitchFamily="49" charset="0"/>
              </a:rPr>
              <a:t>The dataset</a:t>
            </a:r>
          </a:p>
          <a:p>
            <a:pPr lvl="1"/>
            <a:r>
              <a:rPr lang="en-GB" dirty="0">
                <a:cs typeface="Courier New" panose="02070309020205020404" pitchFamily="49" charset="0"/>
              </a:rPr>
              <a:t>The model formula</a:t>
            </a:r>
          </a:p>
          <a:p>
            <a:r>
              <a:rPr lang="en-GB" dirty="0">
                <a:cs typeface="Courier New" panose="02070309020205020404" pitchFamily="49" charset="0"/>
              </a:rPr>
              <a:t>Store the model output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F267FEE-DB67-389D-F177-D4FA0660DF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5929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75A36-5856-345F-A93E-E7FB9CF1F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Make sure your data is ready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ADB15-81CB-A31D-5B02-4EB89751E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want the data in “tabular” form</a:t>
            </a:r>
          </a:p>
          <a:p>
            <a:r>
              <a:rPr lang="en-GB" dirty="0"/>
              <a:t>Each row is an observation</a:t>
            </a:r>
          </a:p>
          <a:p>
            <a:r>
              <a:rPr lang="en-GB" dirty="0"/>
              <a:t>Each column is a variable</a:t>
            </a:r>
          </a:p>
          <a:p>
            <a:r>
              <a:rPr lang="en-GB" dirty="0"/>
              <a:t>Easiest when data is entered this way from the start</a:t>
            </a:r>
          </a:p>
          <a:p>
            <a:pPr lvl="1"/>
            <a:r>
              <a:rPr lang="en-GB" dirty="0"/>
              <a:t>Otherwise you need to do lots of data processing (with potential mistakes)</a:t>
            </a:r>
          </a:p>
          <a:p>
            <a:endParaRPr lang="en-GB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AB2830-39F9-6C74-72EB-1D8E06A80E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3910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A733E-2252-9A81-00BA-12171197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8FBC78-C7ED-C5BE-6EEE-4994418561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want to understand how owl density changes with pine marten density</a:t>
            </a:r>
          </a:p>
          <a:p>
            <a:pPr lvl="1"/>
            <a:r>
              <a:rPr lang="en-GB" dirty="0"/>
              <a:t>Response variable = owl density</a:t>
            </a:r>
          </a:p>
          <a:p>
            <a:pPr lvl="1"/>
            <a:r>
              <a:rPr lang="en-GB" dirty="0"/>
              <a:t>Explanatory variable = marten density</a:t>
            </a:r>
          </a:p>
          <a:p>
            <a:r>
              <a:rPr lang="en-GB" dirty="0"/>
              <a:t>To convey this to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GB" dirty="0"/>
              <a:t>: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owl ~ marten</a:t>
            </a:r>
          </a:p>
          <a:p>
            <a:pPr lvl="1"/>
            <a:r>
              <a:rPr lang="en-GB" dirty="0"/>
              <a:t>In English: “owl as a function of marten”</a:t>
            </a:r>
          </a:p>
          <a:p>
            <a:pPr lvl="1"/>
            <a:r>
              <a:rPr lang="en-GB" dirty="0"/>
              <a:t>In actual English: “Owl density changes with marten density”</a:t>
            </a:r>
          </a:p>
        </p:txBody>
      </p:sp>
    </p:spTree>
    <p:extLst>
      <p:ext uri="{BB962C8B-B14F-4D97-AF65-F5344CB8AC3E}">
        <p14:creationId xmlns:p14="http://schemas.microsoft.com/office/powerpoint/2010/main" val="3854406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EF204-3D87-6068-E5F5-29F97B450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Running the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D3BB6-5A91-E7D4-D799-6B659D7ACEB7}"/>
              </a:ext>
            </a:extLst>
          </p:cNvPr>
          <p:cNvSpPr txBox="1">
            <a:spLocks/>
          </p:cNvSpPr>
          <p:nvPr/>
        </p:nvSpPr>
        <p:spPr>
          <a:xfrm>
            <a:off x="2934585" y="3115339"/>
            <a:ext cx="7783033" cy="355146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owl_model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(tawny ~ marten,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data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owl_data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59423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DB6EF-C833-EAE2-3F20-7F9E27BB0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Now what?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30A3A0-A633-94C4-09EF-7008FD3E5F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Keep in mind, we’re not doing stats for the sake of it</a:t>
                </a:r>
              </a:p>
              <a:p>
                <a:r>
                  <a:rPr lang="en-GB" dirty="0"/>
                  <a:t>We’re doing it to learn something about the world</a:t>
                </a:r>
              </a:p>
              <a:p>
                <a:r>
                  <a:rPr lang="en-GB" dirty="0"/>
                  <a:t>Our current model has two parameters we want to learn</a:t>
                </a:r>
              </a:p>
              <a:p>
                <a:pPr lvl="1"/>
                <a:r>
                  <a:rPr lang="en-GB" dirty="0"/>
                  <a:t>Intercept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)</a:t>
                </a:r>
              </a:p>
              <a:p>
                <a:pPr lvl="1"/>
                <a:r>
                  <a:rPr lang="en-GB" dirty="0"/>
                  <a:t>Slope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)</a:t>
                </a:r>
              </a:p>
              <a:p>
                <a:r>
                  <a:rPr lang="en-GB" dirty="0"/>
                  <a:t>How do we get that information?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30A3A0-A633-94C4-09EF-7008FD3E5F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neMartenandTawny">
            <a:hlinkClick r:id="" action="ppaction://media"/>
            <a:extLst>
              <a:ext uri="{FF2B5EF4-FFF2-40B4-BE49-F238E27FC236}">
                <a16:creationId xmlns:a16="http://schemas.microsoft.com/office/drawing/2014/main" id="{ADE56324-4345-C5A8-D369-5DF60B947FE4}"/>
              </a:ext>
            </a:extLst>
          </p:cNvPr>
          <p:cNvPicPr>
            <a:picLocks noGrp="1" noChangeAspect="1"/>
          </p:cNvPicPr>
          <p:nvPr>
            <p:ph type="pic" sz="quarter" idx="10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5"/>
          <a:srcRect l="15690" r="36472"/>
          <a:stretch/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360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85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5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>
              <p:cMediaNode vol="80000">
                <p:cTn id="36" repeatCount="indefinite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B58F9-03AC-76F4-8850-FAC9D33CBFD4}"/>
              </a:ext>
            </a:extLst>
          </p:cNvPr>
          <p:cNvSpPr txBox="1">
            <a:spLocks/>
          </p:cNvSpPr>
          <p:nvPr/>
        </p:nvSpPr>
        <p:spPr>
          <a:xfrm>
            <a:off x="0" y="1690688"/>
            <a:ext cx="9718158" cy="44871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tawny ~ marten, data =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owl_data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endParaRPr lang="en-GB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Residuals: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Min       1Q   Median       3Q      Max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-15.7312  -3.4267   0.0008   3.4721  14.1214 </a:t>
            </a:r>
          </a:p>
          <a:p>
            <a:pPr marL="0" indent="0">
              <a:spcBef>
                <a:spcPts val="0"/>
              </a:spcBef>
              <a:buNone/>
            </a:pPr>
            <a:endParaRPr lang="en-GB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Coefficients: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Estimate Std. Error t value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(&gt;|t|)  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39.4934     0.4239   93.16   &lt;2e-16 ***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marten       -3.0465     0.2780  -10.96   &lt;2e-16 ***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  <a:p>
            <a:pPr marL="0" indent="0">
              <a:spcBef>
                <a:spcPts val="0"/>
              </a:spcBef>
              <a:buNone/>
            </a:pPr>
            <a:endParaRPr lang="en-GB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Residual standard error: 5.015 on 1033 degrees of freedom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Multiple R-squared:  0.1042,	Adjusted R-squared:  0.1033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F-statistic: 120.1 on 1 and 1033 DF,  p-value: &lt; 2.2e-16</a:t>
            </a:r>
          </a:p>
        </p:txBody>
      </p:sp>
      <p:pic>
        <p:nvPicPr>
          <p:cNvPr id="14" name="Picture Placeholder 5" descr="A graph of a graph with lines and dots&#10;&#10;Description automatically generated">
            <a:extLst>
              <a:ext uri="{FF2B5EF4-FFF2-40B4-BE49-F238E27FC236}">
                <a16:creationId xmlns:a16="http://schemas.microsoft.com/office/drawing/2014/main" id="{A79B7392-A978-4E16-3D3F-DA2113B2904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" t="-8268" r="466" b="-8558"/>
          <a:stretch/>
        </p:blipFill>
        <p:spPr>
          <a:xfrm>
            <a:off x="9613355" y="-192982"/>
            <a:ext cx="2493585" cy="29320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B64A3B-757B-79EB-284A-42ED736B5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summary(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owl_model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GB" dirty="0"/>
              <a:t>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3F2EA63-4357-CF65-69D1-DB9AD2260DA1}"/>
              </a:ext>
            </a:extLst>
          </p:cNvPr>
          <p:cNvGrpSpPr/>
          <p:nvPr/>
        </p:nvGrpSpPr>
        <p:grpSpPr>
          <a:xfrm>
            <a:off x="85060" y="1690688"/>
            <a:ext cx="8763471" cy="585787"/>
            <a:chOff x="85060" y="1690688"/>
            <a:chExt cx="8763471" cy="58578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443C4C1-378E-CC60-997B-4C89FE8F567E}"/>
                </a:ext>
              </a:extLst>
            </p:cNvPr>
            <p:cNvSpPr/>
            <p:nvPr/>
          </p:nvSpPr>
          <p:spPr>
            <a:xfrm>
              <a:off x="85060" y="1690688"/>
              <a:ext cx="6230680" cy="585787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E8A51F5-E2D8-4561-72C5-7FC28BB8DE42}"/>
                </a:ext>
              </a:extLst>
            </p:cNvPr>
            <p:cNvSpPr txBox="1"/>
            <p:nvPr/>
          </p:nvSpPr>
          <p:spPr>
            <a:xfrm>
              <a:off x="6632473" y="1810613"/>
              <a:ext cx="2216058" cy="408623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Which model this is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301DE62-6AE4-FE13-EDCC-A35629387A49}"/>
                </a:ext>
              </a:extLst>
            </p:cNvPr>
            <p:cNvCxnSpPr>
              <a:endCxn id="6" idx="1"/>
            </p:cNvCxnSpPr>
            <p:nvPr/>
          </p:nvCxnSpPr>
          <p:spPr>
            <a:xfrm>
              <a:off x="6337005" y="2014924"/>
              <a:ext cx="295468" cy="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68807D1-3EF3-403E-6853-9222F45624F3}"/>
              </a:ext>
            </a:extLst>
          </p:cNvPr>
          <p:cNvGrpSpPr/>
          <p:nvPr/>
        </p:nvGrpSpPr>
        <p:grpSpPr>
          <a:xfrm>
            <a:off x="85060" y="2480786"/>
            <a:ext cx="9978970" cy="772777"/>
            <a:chOff x="85060" y="1690688"/>
            <a:chExt cx="9978970" cy="772777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7A5335F-4E2A-21EE-02E1-90A2AF5182DC}"/>
                </a:ext>
              </a:extLst>
            </p:cNvPr>
            <p:cNvSpPr/>
            <p:nvPr/>
          </p:nvSpPr>
          <p:spPr>
            <a:xfrm>
              <a:off x="85060" y="1690688"/>
              <a:ext cx="6230680" cy="772777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C69914A-0B9D-6FB0-3072-47DF60470833}"/>
                </a:ext>
              </a:extLst>
            </p:cNvPr>
            <p:cNvSpPr txBox="1"/>
            <p:nvPr/>
          </p:nvSpPr>
          <p:spPr>
            <a:xfrm>
              <a:off x="6632473" y="1885044"/>
              <a:ext cx="3431557" cy="408623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Simple description of residuals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A282903-36C9-4505-42C0-16BF734A2305}"/>
                </a:ext>
              </a:extLst>
            </p:cNvPr>
            <p:cNvCxnSpPr>
              <a:endCxn id="12" idx="1"/>
            </p:cNvCxnSpPr>
            <p:nvPr/>
          </p:nvCxnSpPr>
          <p:spPr>
            <a:xfrm>
              <a:off x="6337005" y="2089355"/>
              <a:ext cx="295468" cy="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F0A48A2-91C0-852C-FDBB-8D7381BF5CCD}"/>
              </a:ext>
            </a:extLst>
          </p:cNvPr>
          <p:cNvGrpSpPr/>
          <p:nvPr/>
        </p:nvGrpSpPr>
        <p:grpSpPr>
          <a:xfrm>
            <a:off x="42530" y="3709469"/>
            <a:ext cx="8729330" cy="2361722"/>
            <a:chOff x="42530" y="3709469"/>
            <a:chExt cx="8729330" cy="2361722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009D76C-1153-F7D7-209D-0EDC7612E0C4}"/>
                </a:ext>
              </a:extLst>
            </p:cNvPr>
            <p:cNvSpPr/>
            <p:nvPr/>
          </p:nvSpPr>
          <p:spPr>
            <a:xfrm>
              <a:off x="4423144" y="3709469"/>
              <a:ext cx="2892056" cy="869653"/>
            </a:xfrm>
            <a:prstGeom prst="rect">
              <a:avLst/>
            </a:prstGeom>
            <a:solidFill>
              <a:srgbClr val="0D0D0D">
                <a:alpha val="74118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A754680-3831-C6A6-BA95-241F5C05BC6C}"/>
                </a:ext>
              </a:extLst>
            </p:cNvPr>
            <p:cNvSpPr/>
            <p:nvPr/>
          </p:nvSpPr>
          <p:spPr>
            <a:xfrm>
              <a:off x="42530" y="4527202"/>
              <a:ext cx="8729330" cy="1543989"/>
            </a:xfrm>
            <a:prstGeom prst="rect">
              <a:avLst/>
            </a:prstGeom>
            <a:solidFill>
              <a:srgbClr val="0D0D0D">
                <a:alpha val="74118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497D50A-BC4D-0D9C-85A0-DC6933BF299E}"/>
              </a:ext>
            </a:extLst>
          </p:cNvPr>
          <p:cNvGrpSpPr/>
          <p:nvPr/>
        </p:nvGrpSpPr>
        <p:grpSpPr>
          <a:xfrm>
            <a:off x="85060" y="3415216"/>
            <a:ext cx="11621238" cy="1057976"/>
            <a:chOff x="85060" y="1690689"/>
            <a:chExt cx="11621238" cy="1057976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715CFE5-0DA9-3ABE-0078-E4A03A03EEF2}"/>
                </a:ext>
              </a:extLst>
            </p:cNvPr>
            <p:cNvSpPr/>
            <p:nvPr/>
          </p:nvSpPr>
          <p:spPr>
            <a:xfrm>
              <a:off x="85060" y="1690689"/>
              <a:ext cx="4338084" cy="105797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26A3AF4-0E40-B85A-D7DB-34891D8363ED}"/>
                </a:ext>
              </a:extLst>
            </p:cNvPr>
            <p:cNvSpPr txBox="1"/>
            <p:nvPr/>
          </p:nvSpPr>
          <p:spPr>
            <a:xfrm>
              <a:off x="6632473" y="1704287"/>
              <a:ext cx="5073825" cy="408623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The biologically important parameter estimates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47E9AC0-E545-DE77-13C1-A700DD2CA187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4423144" y="1908599"/>
              <a:ext cx="220932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9252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134</TotalTime>
  <Words>363</Words>
  <Application>Microsoft Office PowerPoint</Application>
  <PresentationFormat>Widescreen</PresentationFormat>
  <Paragraphs>56</Paragraphs>
  <Slides>9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Bahnschrift Light</vt:lpstr>
      <vt:lpstr>Cambria Math</vt:lpstr>
      <vt:lpstr>Courier New</vt:lpstr>
      <vt:lpstr>sbs_template</vt:lpstr>
      <vt:lpstr>Linear models in R</vt:lpstr>
      <vt:lpstr>From theory to implementation</vt:lpstr>
      <vt:lpstr>Step 1: The data</vt:lpstr>
      <vt:lpstr>The core function</vt:lpstr>
      <vt:lpstr>Make sure your data is ready</vt:lpstr>
      <vt:lpstr>Model formula</vt:lpstr>
      <vt:lpstr>Running the model</vt:lpstr>
      <vt:lpstr>Now what?</vt:lpstr>
      <vt:lpstr>summary(owl_model)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models in R</dc:title>
  <dc:creator>Roos, Deon</dc:creator>
  <cp:lastModifiedBy>Roos, Deon</cp:lastModifiedBy>
  <cp:revision>1</cp:revision>
  <dcterms:created xsi:type="dcterms:W3CDTF">2024-07-08T13:23:04Z</dcterms:created>
  <dcterms:modified xsi:type="dcterms:W3CDTF">2024-07-08T15:37:46Z</dcterms:modified>
</cp:coreProperties>
</file>