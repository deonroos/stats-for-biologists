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5" r:id="rId19"/>
    <p:sldId id="276" r:id="rId20"/>
    <p:sldId id="278" r:id="rId21"/>
    <p:sldId id="277" r:id="rId22"/>
    <p:sldId id="27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86" autoAdjust="0"/>
    <p:restoredTop sz="94660"/>
  </p:normalViewPr>
  <p:slideViewPr>
    <p:cSldViewPr snapToGrid="0">
      <p:cViewPr varScale="1">
        <p:scale>
          <a:sx n="85" d="100"/>
          <a:sy n="85" d="100"/>
        </p:scale>
        <p:origin x="7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735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66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139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5313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050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792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2437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190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8719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7725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0742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4F82-1800-4F77-D104-3B50CA0DD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839EC5-C784-6F3F-A877-94A77494E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34B09-7E73-B99D-9CCB-5A2B25144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B0316-A157-2CF4-4A8F-1C46780C2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F8C718-5FCE-2241-8B80-5AA8EA945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476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2C5A1-16B6-4222-AA63-3055D0E769E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F226FA-2DB1-4EB9-B606-131300BF9A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97723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CD2FE-D408-02B0-484B-B0AFD9D3A7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14DCB-1384-C7ED-C3DC-6865FE5310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continuous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13783124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951A6-7F4A-884C-A450-BB7AE86A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38585658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1BB08-C428-8B0B-8C2A-960C0FCE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Predated predators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734FE-52C7-2CF0-B2D8-57B8513F1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Pine martens are expanding their range south in UK</a:t>
            </a:r>
          </a:p>
          <a:p>
            <a:r>
              <a:rPr lang="en-GB" dirty="0"/>
              <a:t>Recolonising predators that can disrupt balance that has built up since their local extinction</a:t>
            </a:r>
          </a:p>
          <a:p>
            <a:r>
              <a:rPr lang="en-GB" dirty="0"/>
              <a:t>Many species already struggling</a:t>
            </a:r>
          </a:p>
          <a:p>
            <a:r>
              <a:rPr lang="en-GB" dirty="0"/>
              <a:t>Will pine martens returning cause </a:t>
            </a:r>
            <a:r>
              <a:rPr lang="en-GB" dirty="0" err="1"/>
              <a:t>cause</a:t>
            </a:r>
            <a:r>
              <a:rPr lang="en-GB" dirty="0"/>
              <a:t> the systems to collapse?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85892A7-C8B1-0C5E-3A0F-366E59A1D2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908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response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7EAE-1713-0F71-C42C-F26054572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Local raptor workers can catch breeding pairs to figure out how many there are</a:t>
            </a:r>
          </a:p>
          <a:p>
            <a:r>
              <a:rPr lang="en-GB" dirty="0"/>
              <a:t>Our response variable is then the density of tawny owls present in Kielder forest</a:t>
            </a:r>
          </a:p>
          <a:p>
            <a:r>
              <a:rPr lang="en-GB" dirty="0"/>
              <a:t>Data collected every year since 1979</a:t>
            </a:r>
          </a:p>
          <a:p>
            <a:r>
              <a:rPr lang="en-GB" dirty="0"/>
              <a:t>Within the area, 23 sites are monitored</a:t>
            </a:r>
          </a:p>
        </p:txBody>
      </p:sp>
      <p:pic>
        <p:nvPicPr>
          <p:cNvPr id="5" name="Picture Placeholder 4" descr="A person holding a small white bird&#10;&#10;Description automatically generated">
            <a:extLst>
              <a:ext uri="{FF2B5EF4-FFF2-40B4-BE49-F238E27FC236}">
                <a16:creationId xmlns:a16="http://schemas.microsoft.com/office/drawing/2014/main" id="{1170F778-BD59-A9B6-5575-00BD3D67B31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7" r="21657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937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explanatory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7EAE-1713-0F71-C42C-F26054572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Using feeding stations and genetics, the probability that pine marten are present</a:t>
            </a:r>
          </a:p>
          <a:p>
            <a:r>
              <a:rPr lang="en-GB" dirty="0"/>
              <a:t>Data collected since pine marten colonised area ca. 15 years ago.</a:t>
            </a:r>
          </a:p>
          <a:p>
            <a:r>
              <a:rPr lang="en-GB" dirty="0"/>
              <a:t>Within the area, 23 sites are monitored</a:t>
            </a:r>
          </a:p>
        </p:txBody>
      </p:sp>
      <p:pic>
        <p:nvPicPr>
          <p:cNvPr id="5" name="Picture Placeholder 4" descr="A cat climbing a tree&#10;&#10;Description automatically generated">
            <a:extLst>
              <a:ext uri="{FF2B5EF4-FFF2-40B4-BE49-F238E27FC236}">
                <a16:creationId xmlns:a16="http://schemas.microsoft.com/office/drawing/2014/main" id="{7562A389-A120-886B-7943-A9FD88C6606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714" r="15448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1340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BC54-9A7C-9FB4-FC45-F2B8FD1C6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visualisations</a:t>
            </a:r>
          </a:p>
        </p:txBody>
      </p:sp>
    </p:spTree>
    <p:extLst>
      <p:ext uri="{BB962C8B-B14F-4D97-AF65-F5344CB8AC3E}">
        <p14:creationId xmlns:p14="http://schemas.microsoft.com/office/powerpoint/2010/main" val="365599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FE9F9-3320-524D-5BCA-87045052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Pine marten 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B30DF-BD50-7D1C-8476-0DB951389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Very low densities for first ca. 30 years</a:t>
            </a:r>
          </a:p>
          <a:p>
            <a:r>
              <a:rPr lang="en-GB" dirty="0"/>
              <a:t>Now up to ca. 3 pine martens per ha</a:t>
            </a:r>
          </a:p>
          <a:p>
            <a:r>
              <a:rPr lang="en-GB" dirty="0"/>
              <a:t>Do you learn anything about the system from this figure?</a:t>
            </a:r>
          </a:p>
          <a:p>
            <a:r>
              <a:rPr lang="en-GB" dirty="0"/>
              <a:t>Do you envisage any problems when we come to analyse this data?</a:t>
            </a:r>
          </a:p>
        </p:txBody>
      </p:sp>
      <p:pic>
        <p:nvPicPr>
          <p:cNvPr id="6" name="Picture Placeholder 5" descr="A graph of a graph showing a line of dots&#10;&#10;Description automatically generated with medium confidence">
            <a:extLst>
              <a:ext uri="{FF2B5EF4-FFF2-40B4-BE49-F238E27FC236}">
                <a16:creationId xmlns:a16="http://schemas.microsoft.com/office/drawing/2014/main" id="{47A0B96F-88A2-6FD4-D6C8-8C4E84DA07E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6065342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34EE1-5D50-2FF6-9E68-BE5641C9F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Tawny owl 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88AC6-A858-469C-5E83-E49E1FDC6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Tawny owls look somewhat stable</a:t>
            </a:r>
          </a:p>
          <a:p>
            <a:r>
              <a:rPr lang="en-GB" dirty="0"/>
              <a:t>So should we stop here and say pine martens are not predating tawny owls?</a:t>
            </a:r>
          </a:p>
          <a:p>
            <a:r>
              <a:rPr lang="en-GB" dirty="0"/>
              <a:t>What would a better visualisation be?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68857627-4FC5-2C6C-89FC-B54019FC41E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91317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1CF-1707-78F8-1BAB-9F5A6FA4D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Tawny versus pine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B79F-630E-A235-6D8F-063C3F9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Relationship seems clearer now</a:t>
            </a:r>
          </a:p>
          <a:p>
            <a:r>
              <a:rPr lang="en-GB" dirty="0"/>
              <a:t>Why the big bulk of observations towards the left of the figure?</a:t>
            </a:r>
          </a:p>
          <a:p>
            <a:r>
              <a:rPr lang="en-GB" dirty="0"/>
              <a:t>Should we be concerned?</a:t>
            </a:r>
          </a:p>
        </p:txBody>
      </p:sp>
      <p:pic>
        <p:nvPicPr>
          <p:cNvPr id="6" name="Picture Placeholder 5" descr="A graph showing a number of white dots&#10;&#10;Description automatically generated">
            <a:extLst>
              <a:ext uri="{FF2B5EF4-FFF2-40B4-BE49-F238E27FC236}">
                <a16:creationId xmlns:a16="http://schemas.microsoft.com/office/drawing/2014/main" id="{D40EB33E-9525-F616-BA20-4DE0027395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795595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1CF-1707-78F8-1BAB-9F5A6FA4D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take 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B79F-630E-A235-6D8F-063C3F9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there is a relationship, is it positive or negative?</a:t>
            </a:r>
          </a:p>
          <a:p>
            <a:r>
              <a:rPr lang="en-GB" dirty="0"/>
              <a:t>How strong is that relationship?</a:t>
            </a:r>
          </a:p>
          <a:p>
            <a:r>
              <a:rPr lang="en-GB" dirty="0"/>
              <a:t>How many tawny owls do we gain or lose for each additional pine marten?</a:t>
            </a:r>
          </a:p>
          <a:p>
            <a:r>
              <a:rPr lang="en-GB" dirty="0"/>
              <a:t>If pine marten densities increase to 5 per ha, are tawny owls going to go extinct?</a:t>
            </a:r>
          </a:p>
          <a:p>
            <a:r>
              <a:rPr lang="en-GB" dirty="0"/>
              <a:t>Should we intervene?</a:t>
            </a:r>
          </a:p>
        </p:txBody>
      </p:sp>
      <p:pic>
        <p:nvPicPr>
          <p:cNvPr id="6" name="Picture Placeholder 5" descr="A graph showing a number of white dots&#10;&#10;Description automatically generated">
            <a:extLst>
              <a:ext uri="{FF2B5EF4-FFF2-40B4-BE49-F238E27FC236}">
                <a16:creationId xmlns:a16="http://schemas.microsoft.com/office/drawing/2014/main" id="{D40EB33E-9525-F616-BA20-4DE0027395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938883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A3C8-EE17-6E99-E3EF-EDF17B71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 need two pieces of information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D516CB-DD61-AB6A-1AFC-8EC197FC18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To answer our questions, we need two pieces of information</a:t>
                </a:r>
              </a:p>
              <a:p>
                <a:pPr lvl="1"/>
                <a:r>
                  <a:rPr lang="en-GB" dirty="0"/>
                  <a:t>What is the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)?</a:t>
                </a:r>
              </a:p>
              <a:p>
                <a:pPr lvl="1"/>
                <a:r>
                  <a:rPr lang="en-GB" dirty="0"/>
                  <a:t>What is the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)?</a:t>
                </a:r>
              </a:p>
              <a:p>
                <a:r>
                  <a:rPr lang="en-GB" dirty="0"/>
                  <a:t>An infinite number of possible combinations</a:t>
                </a:r>
              </a:p>
              <a:p>
                <a:r>
                  <a:rPr lang="en-GB" dirty="0"/>
                  <a:t>How do we figure out which one is best?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D516CB-DD61-AB6A-1AFC-8EC197FC18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Placeholder 13" descr="A graph with white dots and red line&#10;&#10;Description automatically generated">
            <a:extLst>
              <a:ext uri="{FF2B5EF4-FFF2-40B4-BE49-F238E27FC236}">
                <a16:creationId xmlns:a16="http://schemas.microsoft.com/office/drawing/2014/main" id="{3FF64AEF-7FB0-8AD3-20AA-2CC3F60FAEB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" t="-9125" r="-306" b="-8835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274257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screen shot of a graph&#10;&#10;Description automatically generated">
            <a:extLst>
              <a:ext uri="{FF2B5EF4-FFF2-40B4-BE49-F238E27FC236}">
                <a16:creationId xmlns:a16="http://schemas.microsoft.com/office/drawing/2014/main" id="{56B0C8BE-E055-9A63-28D0-5A37AA596A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44B190-90DF-6296-CF6E-0ABAE5341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Which do you prefer?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DDB596-E1D2-39A2-D7A4-D8D48CB65EF0}"/>
                  </a:ext>
                </a:extLst>
              </p:cNvPr>
              <p:cNvSpPr txBox="1"/>
              <p:nvPr/>
            </p:nvSpPr>
            <p:spPr>
              <a:xfrm>
                <a:off x="1524001" y="1580444"/>
                <a:ext cx="1814534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=30,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DDB596-E1D2-39A2-D7A4-D8D48CB65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1" y="1580444"/>
                <a:ext cx="1814534" cy="408623"/>
              </a:xfrm>
              <a:prstGeom prst="roundRect">
                <a:avLst/>
              </a:prstGeom>
              <a:blipFill>
                <a:blip r:embed="rId3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A9C026-2FC7-6C61-D379-626A8FA63723}"/>
                  </a:ext>
                </a:extLst>
              </p:cNvPr>
              <p:cNvSpPr txBox="1"/>
              <p:nvPr/>
            </p:nvSpPr>
            <p:spPr>
              <a:xfrm>
                <a:off x="5401734" y="1580443"/>
                <a:ext cx="1814534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=19,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A9C026-2FC7-6C61-D379-626A8FA637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1734" y="1580443"/>
                <a:ext cx="1814534" cy="408623"/>
              </a:xfrm>
              <a:prstGeom prst="roundRect">
                <a:avLst/>
              </a:prstGeom>
              <a:blipFill>
                <a:blip r:embed="rId4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600667-AE38-5234-9C7B-9F86C1751A34}"/>
                  </a:ext>
                </a:extLst>
              </p:cNvPr>
              <p:cNvSpPr txBox="1"/>
              <p:nvPr/>
            </p:nvSpPr>
            <p:spPr>
              <a:xfrm>
                <a:off x="9279467" y="1580443"/>
                <a:ext cx="2150153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=47,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=−0.5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600667-AE38-5234-9C7B-9F86C1751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9467" y="1580443"/>
                <a:ext cx="2150153" cy="408623"/>
              </a:xfrm>
              <a:prstGeom prst="roundRect">
                <a:avLst/>
              </a:prstGeom>
              <a:blipFill>
                <a:blip r:embed="rId5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49A539-6999-4720-ED04-AA833B2A7277}"/>
                  </a:ext>
                </a:extLst>
              </p:cNvPr>
              <p:cNvSpPr txBox="1"/>
              <p:nvPr/>
            </p:nvSpPr>
            <p:spPr>
              <a:xfrm>
                <a:off x="1524001" y="4295703"/>
                <a:ext cx="1991007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=39,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49A539-6999-4720-ED04-AA833B2A7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1" y="4295703"/>
                <a:ext cx="1991007" cy="408623"/>
              </a:xfrm>
              <a:prstGeom prst="roundRect">
                <a:avLst/>
              </a:prstGeom>
              <a:blipFill>
                <a:blip r:embed="rId6"/>
                <a:stretch>
                  <a:fillRect b="-72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8BDF92-03AC-1040-9E02-7BB1B147ABE2}"/>
                  </a:ext>
                </a:extLst>
              </p:cNvPr>
              <p:cNvSpPr txBox="1"/>
              <p:nvPr/>
            </p:nvSpPr>
            <p:spPr>
              <a:xfrm>
                <a:off x="5401734" y="4299126"/>
                <a:ext cx="2150153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=30,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=−0.3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8BDF92-03AC-1040-9E02-7BB1B147A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1734" y="4299126"/>
                <a:ext cx="2150153" cy="408623"/>
              </a:xfrm>
              <a:prstGeom prst="roundRect">
                <a:avLst/>
              </a:prstGeom>
              <a:blipFill>
                <a:blip r:embed="rId7"/>
                <a:stretch>
                  <a:fillRect b="-869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A99622-8C10-3D7A-A778-FB902128CA11}"/>
                  </a:ext>
                </a:extLst>
              </p:cNvPr>
              <p:cNvSpPr txBox="1"/>
              <p:nvPr/>
            </p:nvSpPr>
            <p:spPr>
              <a:xfrm>
                <a:off x="9279467" y="4295702"/>
                <a:ext cx="1991007" cy="408623"/>
              </a:xfrm>
              <a:prstGeom prst="roundRect">
                <a:avLst/>
              </a:prstGeom>
              <a:solidFill>
                <a:schemeClr val="bg1">
                  <a:lumMod val="75000"/>
                  <a:lumOff val="2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=45,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A99622-8C10-3D7A-A778-FB902128C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9467" y="4295702"/>
                <a:ext cx="1991007" cy="408623"/>
              </a:xfrm>
              <a:prstGeom prst="roundRect">
                <a:avLst/>
              </a:prstGeom>
              <a:blipFill>
                <a:blip r:embed="rId8"/>
                <a:stretch>
                  <a:fillRect b="-72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50106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4B190-90DF-6296-CF6E-0ABAE5341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Which do you prefer?</a:t>
            </a:r>
          </a:p>
        </p:txBody>
      </p:sp>
      <p:pic>
        <p:nvPicPr>
          <p:cNvPr id="16" name="Picture 15" descr="A screen shot of a graph&#10;&#10;Description automatically generated">
            <a:extLst>
              <a:ext uri="{FF2B5EF4-FFF2-40B4-BE49-F238E27FC236}">
                <a16:creationId xmlns:a16="http://schemas.microsoft.com/office/drawing/2014/main" id="{6C0A3812-9AA4-FFC4-2D06-40BC87BAA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768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1A103-72C8-2297-38EB-41234BA6E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 of best fit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F5120-F5FB-0DF2-FF77-408848435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doing this by eye, we’re trying to fit a line that’s “balanced”</a:t>
            </a:r>
          </a:p>
          <a:p>
            <a:pPr lvl="1"/>
            <a:r>
              <a:rPr lang="en-GB" dirty="0"/>
              <a:t>As many points above as below the line</a:t>
            </a:r>
          </a:p>
          <a:p>
            <a:r>
              <a:rPr lang="en-GB" dirty="0"/>
              <a:t>The difference between the line and each point is called the </a:t>
            </a:r>
            <a:r>
              <a:rPr lang="en-GB" i="1" dirty="0"/>
              <a:t>residual error</a:t>
            </a:r>
            <a:endParaRPr lang="en-GB" dirty="0"/>
          </a:p>
          <a:p>
            <a:pPr lvl="1"/>
            <a:r>
              <a:rPr lang="en-GB" dirty="0"/>
              <a:t>Residual = remaining</a:t>
            </a:r>
          </a:p>
        </p:txBody>
      </p:sp>
      <p:pic>
        <p:nvPicPr>
          <p:cNvPr id="6" name="Picture Placeholder 5" descr="A graph with a red line and white dots&#10;&#10;Description automatically generated">
            <a:extLst>
              <a:ext uri="{FF2B5EF4-FFF2-40B4-BE49-F238E27FC236}">
                <a16:creationId xmlns:a16="http://schemas.microsoft.com/office/drawing/2014/main" id="{2D7EF57A-6023-186F-764B-1F7DAF1FF20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916147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1A103-72C8-2297-38EB-41234BA6E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F5120-F5FB-0DF2-FF77-408848435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did this line ourselves but we’re subjective</a:t>
            </a:r>
          </a:p>
          <a:p>
            <a:r>
              <a:rPr lang="en-GB" dirty="0"/>
              <a:t>And we don’t want to gather a thousand people to vote every time we want to fit a model</a:t>
            </a:r>
          </a:p>
          <a:p>
            <a:r>
              <a:rPr lang="en-GB" dirty="0"/>
              <a:t>And we want to consider more than 6 different combinations for each parameter</a:t>
            </a:r>
          </a:p>
          <a:p>
            <a:r>
              <a:rPr lang="en-GB" dirty="0"/>
              <a:t>How do we do that?</a:t>
            </a:r>
          </a:p>
        </p:txBody>
      </p:sp>
      <p:pic>
        <p:nvPicPr>
          <p:cNvPr id="6" name="Picture Placeholder 5" descr="A graph with a red line and white dots&#10;&#10;Description automatically generated">
            <a:extLst>
              <a:ext uri="{FF2B5EF4-FFF2-40B4-BE49-F238E27FC236}">
                <a16:creationId xmlns:a16="http://schemas.microsoft.com/office/drawing/2014/main" id="{2D7EF57A-6023-186F-764B-1F7DAF1FF20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12304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B6A1-35A2-EA7D-0AD9-C3E320E9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MaCHiNe</a:t>
            </a:r>
            <a:r>
              <a:rPr lang="en-GB" dirty="0"/>
              <a:t> </a:t>
            </a:r>
            <a:r>
              <a:rPr lang="en-GB" dirty="0" err="1"/>
              <a:t>LEarNiNg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7899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50B0D-3F0C-33D4-500E-9AD133293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5069B-4931-5234-28CB-C023D3797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can use residual error as a metric for evaluating each parameter combination</a:t>
            </a:r>
          </a:p>
          <a:p>
            <a:r>
              <a:rPr lang="en-GB" dirty="0"/>
              <a:t>We’ll have a residual error for each observation</a:t>
            </a:r>
          </a:p>
          <a:p>
            <a:r>
              <a:rPr lang="en-GB" dirty="0"/>
              <a:t>How do we go from that, to figuring out which parameters work best?</a:t>
            </a:r>
          </a:p>
        </p:txBody>
      </p:sp>
      <p:pic>
        <p:nvPicPr>
          <p:cNvPr id="6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CD6AEB72-E346-7535-C057-5F8EEA9C68E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28396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EEAEB-A09D-D1BF-4E1A-69BFC43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41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How does it work?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41EE92-F148-511B-4886-6A82C26982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001866"/>
              </p:ext>
            </p:extLst>
          </p:nvPr>
        </p:nvGraphicFramePr>
        <p:xfrm>
          <a:off x="7440112" y="4192530"/>
          <a:ext cx="4305699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921">
                  <a:extLst>
                    <a:ext uri="{9D8B030D-6E8A-4147-A177-3AD203B41FA5}">
                      <a16:colId xmlns:a16="http://schemas.microsoft.com/office/drawing/2014/main" val="370628781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478467599"/>
                    </a:ext>
                  </a:extLst>
                </a:gridCol>
                <a:gridCol w="1207912">
                  <a:extLst>
                    <a:ext uri="{9D8B030D-6E8A-4147-A177-3AD203B41FA5}">
                      <a16:colId xmlns:a16="http://schemas.microsoft.com/office/drawing/2014/main" val="3845174866"/>
                    </a:ext>
                  </a:extLst>
                </a:gridCol>
                <a:gridCol w="1151466">
                  <a:extLst>
                    <a:ext uri="{9D8B030D-6E8A-4147-A177-3AD203B41FA5}">
                      <a16:colId xmlns:a16="http://schemas.microsoft.com/office/drawing/2014/main" val="1009241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Pine marten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Tawny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Expected Tawny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Residual error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967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37.2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6.6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30.6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552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1.8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33.7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8.6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25.1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82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2.9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29.9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10.8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19.1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03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3.7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27.1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14.6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38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25.3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13.4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11.9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59469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163E89-93F3-EA1E-D2D3-4D0E760AA7E4}"/>
                  </a:ext>
                </a:extLst>
              </p:cNvPr>
              <p:cNvSpPr txBox="1"/>
              <p:nvPr/>
            </p:nvSpPr>
            <p:spPr>
              <a:xfrm>
                <a:off x="7164533" y="988233"/>
                <a:ext cx="5027467" cy="3108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/>
                  <a:t>Let’s guess. We’ll say that if there are no pine marten, then there should be 5 owls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2800" dirty="0"/>
                  <a:t>), and for each additional marten, we expect 2 extra owls:</a:t>
                </a:r>
                <a:br>
                  <a:rPr lang="en-GB" sz="28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Tawny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5+2×</m:t>
                      </m:r>
                      <m:r>
                        <m:rPr>
                          <m:sty m:val="p"/>
                        </m:rPr>
                        <a:rPr lang="en-GB" sz="2800" b="0" i="0" dirty="0" smtClean="0">
                          <a:latin typeface="Cambria Math" panose="02040503050406030204" pitchFamily="18" charset="0"/>
                        </a:rPr>
                        <m:t>PineMarte</m:t>
                      </m:r>
                      <m:sSub>
                        <m:sSubPr>
                          <m:ctrlPr>
                            <a:rPr lang="en-GB" sz="2800" b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163E89-93F3-EA1E-D2D3-4D0E760AA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533" y="988233"/>
                <a:ext cx="5027467" cy="3108543"/>
              </a:xfrm>
              <a:prstGeom prst="rect">
                <a:avLst/>
              </a:prstGeom>
              <a:blipFill>
                <a:blip r:embed="rId2"/>
                <a:stretch>
                  <a:fillRect l="-2424" t="-19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F66C401-EC01-8CF5-AD58-81AEB09949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3102" y="1285729"/>
                <a:ext cx="6201295" cy="524019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We want residual error as small as possible.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We square the residuals </a:t>
                </a:r>
              </a:p>
              <a:p>
                <a:pPr marL="800100" lvl="1" indent="-342900"/>
                <a:r>
                  <a:rPr lang="en-GB" dirty="0"/>
                  <a:t>The model predicting there are 10 extra tawny owls is just as bad as predicting there are 10 fewer.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And we make it negative, so that we can try and minimise the error.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=−∑(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2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2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−</m:t>
                      </m:r>
                      <m:d>
                        <m:d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p>
                                <m:sSup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30.6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25.1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19.1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14.6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11.9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lang="en-GB" sz="2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=6,496,159,278,500</m:t>
                      </m:r>
                    </m:oMath>
                  </m:oMathPara>
                </a14:m>
                <a:endParaRPr lang="en-GB" sz="2800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F66C401-EC01-8CF5-AD58-81AEB0994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02" y="1285729"/>
                <a:ext cx="6201295" cy="5240194"/>
              </a:xfrm>
              <a:prstGeom prst="rect">
                <a:avLst/>
              </a:prstGeom>
              <a:blipFill>
                <a:blip r:embed="rId3"/>
                <a:stretch>
                  <a:fillRect l="-1770" t="-2093" r="-2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42385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EEAEB-A09D-D1BF-4E1A-69BFC43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41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How does it work?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A0F40B-63E1-D407-CFA0-49A2B0F64DD1}"/>
                  </a:ext>
                </a:extLst>
              </p:cNvPr>
              <p:cNvSpPr txBox="1"/>
              <p:nvPr/>
            </p:nvSpPr>
            <p:spPr>
              <a:xfrm>
                <a:off x="6682211" y="2188991"/>
                <a:ext cx="5226239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/>
                  <a:t>Assume:</a:t>
                </a:r>
                <a:br>
                  <a:rPr lang="en-GB" sz="28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Tawny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40−2×</m:t>
                      </m:r>
                      <m:r>
                        <m:rPr>
                          <m:sty m:val="p"/>
                        </m:rPr>
                        <a:rPr lang="en-GB" sz="2800" b="0" i="0" dirty="0" smtClean="0">
                          <a:latin typeface="Cambria Math" panose="02040503050406030204" pitchFamily="18" charset="0"/>
                        </a:rPr>
                        <m:t>PineMarte</m:t>
                      </m:r>
                      <m:sSub>
                        <m:sSubPr>
                          <m:ctrlPr>
                            <a:rPr lang="en-GB" sz="2800" b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5A0F40B-63E1-D407-CFA0-49A2B0F64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2211" y="2188991"/>
                <a:ext cx="5226239" cy="954107"/>
              </a:xfrm>
              <a:prstGeom prst="rect">
                <a:avLst/>
              </a:prstGeom>
              <a:blipFill>
                <a:blip r:embed="rId2"/>
                <a:stretch>
                  <a:fillRect l="-2334" t="-63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90391A-9B70-7E6C-1C9D-BDC8F7FC63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414693"/>
              </p:ext>
            </p:extLst>
          </p:nvPr>
        </p:nvGraphicFramePr>
        <p:xfrm>
          <a:off x="6803816" y="3247617"/>
          <a:ext cx="4305699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921">
                  <a:extLst>
                    <a:ext uri="{9D8B030D-6E8A-4147-A177-3AD203B41FA5}">
                      <a16:colId xmlns:a16="http://schemas.microsoft.com/office/drawing/2014/main" val="370628781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478467599"/>
                    </a:ext>
                  </a:extLst>
                </a:gridCol>
                <a:gridCol w="1207912">
                  <a:extLst>
                    <a:ext uri="{9D8B030D-6E8A-4147-A177-3AD203B41FA5}">
                      <a16:colId xmlns:a16="http://schemas.microsoft.com/office/drawing/2014/main" val="3845174866"/>
                    </a:ext>
                  </a:extLst>
                </a:gridCol>
                <a:gridCol w="1151466">
                  <a:extLst>
                    <a:ext uri="{9D8B030D-6E8A-4147-A177-3AD203B41FA5}">
                      <a16:colId xmlns:a16="http://schemas.microsoft.com/office/drawing/2014/main" val="1009241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Pine marten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Tawny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Expected Tawny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Residual</a:t>
                      </a:r>
                    </a:p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error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967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37.2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30.6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-1.2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552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1.8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33.7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25.1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-2.7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82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2.9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29.9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19.1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-4.3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03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3.7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27.1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14.6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-5.6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38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25.3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11.9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rgbClr val="FFFF00"/>
                          </a:solidFill>
                        </a:rPr>
                        <a:t>-6.3</a:t>
                      </a:r>
                    </a:p>
                  </a:txBody>
                  <a:tcPr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59469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27A5A8-D0A0-DF80-CB58-632762AD7377}"/>
                  </a:ext>
                </a:extLst>
              </p:cNvPr>
              <p:cNvSpPr txBox="1"/>
              <p:nvPr/>
            </p:nvSpPr>
            <p:spPr>
              <a:xfrm>
                <a:off x="283550" y="1930283"/>
                <a:ext cx="6097508" cy="4353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800" dirty="0"/>
                  <a:t>But we want to try different parameter values</a:t>
                </a:r>
              </a:p>
              <a:p>
                <a:endParaRPr lang="en-GB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=−∑(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2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sz="2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800" dirty="0"/>
              </a:p>
              <a:p>
                <a:pPr/>
                <a:endParaRPr lang="en-GB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8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i="1">
                          <a:latin typeface="Cambria Math" panose="02040503050406030204" pitchFamily="18" charset="0"/>
                        </a:rPr>
                        <m:t>=−</m:t>
                      </m:r>
                      <m:d>
                        <m:dPr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p>
                                <m:sSup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−1.2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−2.7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−4.3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−5.6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800" i="1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800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−6.3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br>
                  <a:rPr lang="en-GB" sz="2800" i="1" dirty="0">
                    <a:latin typeface="Cambria Math" panose="02040503050406030204" pitchFamily="18" charset="0"/>
                  </a:rPr>
                </a:br>
                <a:endParaRPr lang="en-GB" sz="2800" i="1" dirty="0">
                  <a:latin typeface="Cambria Math" panose="02040503050406030204" pitchFamily="18" charset="0"/>
                </a:endParaRPr>
              </a:p>
              <a:p>
                <a:pPr/>
                <a:endParaRPr lang="en-GB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241,593</m:t>
                      </m:r>
                    </m:oMath>
                  </m:oMathPara>
                </a14:m>
                <a:endParaRPr lang="en-GB" sz="2800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27A5A8-D0A0-DF80-CB58-632762AD7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550" y="1930283"/>
                <a:ext cx="6097508" cy="4353692"/>
              </a:xfrm>
              <a:prstGeom prst="rect">
                <a:avLst/>
              </a:prstGeom>
              <a:blipFill>
                <a:blip r:embed="rId3"/>
                <a:stretch>
                  <a:fillRect l="-1800" t="-15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8367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B1B7-791F-C869-25C1-36EA0D62F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job, made easy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7FC61-5957-A605-1A06-3649E23F4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Instead of relying on guessing, or getting people to vote on their favourite, we can now use these likelihood values</a:t>
            </a:r>
          </a:p>
          <a:p>
            <a:r>
              <a:rPr lang="en-GB" dirty="0"/>
              <a:t>To choose the better parameter pairs, our question is simply:</a:t>
            </a:r>
          </a:p>
          <a:p>
            <a:r>
              <a:rPr lang="en-GB" dirty="0"/>
              <a:t>“Which parameter combination has the lowest Likelihood value?”</a:t>
            </a:r>
          </a:p>
        </p:txBody>
      </p:sp>
      <p:pic>
        <p:nvPicPr>
          <p:cNvPr id="10" name="Picture Placeholder 9" descr="A screenshot of a black screen&#10;&#10;Description automatically generated">
            <a:extLst>
              <a:ext uri="{FF2B5EF4-FFF2-40B4-BE49-F238E27FC236}">
                <a16:creationId xmlns:a16="http://schemas.microsoft.com/office/drawing/2014/main" id="{654FC2CF-522F-02B7-1595-111AA3221E0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663775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651E-0A0B-A5D5-29AA-E20DD3C6A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85A5C-C983-7CFE-A287-F85B98E2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sda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12C960F-C656-97E9-3C28-4FCD99FB4E8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948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B9EEB-8AE4-F3D2-2B20-F84A15B92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BE049-73CA-8C50-9DBC-C36A40721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asdasd</a:t>
            </a:r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C620402-FBCF-E339-C3C1-DF811FD4D4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7554772"/>
              </p:ext>
            </p:extLst>
          </p:nvPr>
        </p:nvGraphicFramePr>
        <p:xfrm>
          <a:off x="6565500" y="934720"/>
          <a:ext cx="5420524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4451">
                  <a:extLst>
                    <a:ext uri="{9D8B030D-6E8A-4147-A177-3AD203B41FA5}">
                      <a16:colId xmlns:a16="http://schemas.microsoft.com/office/drawing/2014/main" val="3706287816"/>
                    </a:ext>
                  </a:extLst>
                </a:gridCol>
                <a:gridCol w="1468921">
                  <a:extLst>
                    <a:ext uri="{9D8B030D-6E8A-4147-A177-3AD203B41FA5}">
                      <a16:colId xmlns:a16="http://schemas.microsoft.com/office/drawing/2014/main" val="3478467599"/>
                    </a:ext>
                  </a:extLst>
                </a:gridCol>
                <a:gridCol w="1458576">
                  <a:extLst>
                    <a:ext uri="{9D8B030D-6E8A-4147-A177-3AD203B41FA5}">
                      <a16:colId xmlns:a16="http://schemas.microsoft.com/office/drawing/2014/main" val="3845174866"/>
                    </a:ext>
                  </a:extLst>
                </a:gridCol>
                <a:gridCol w="1458576">
                  <a:extLst>
                    <a:ext uri="{9D8B030D-6E8A-4147-A177-3AD203B41FA5}">
                      <a16:colId xmlns:a16="http://schemas.microsoft.com/office/drawing/2014/main" val="1009241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Pine marten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Tawny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Residual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9967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52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82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03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38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59469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5488D30-BD17-6526-7312-5F81907DF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021546"/>
              </p:ext>
            </p:extLst>
          </p:nvPr>
        </p:nvGraphicFramePr>
        <p:xfrm>
          <a:off x="6565500" y="4046710"/>
          <a:ext cx="5420524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4451">
                  <a:extLst>
                    <a:ext uri="{9D8B030D-6E8A-4147-A177-3AD203B41FA5}">
                      <a16:colId xmlns:a16="http://schemas.microsoft.com/office/drawing/2014/main" val="3706287816"/>
                    </a:ext>
                  </a:extLst>
                </a:gridCol>
                <a:gridCol w="1468921">
                  <a:extLst>
                    <a:ext uri="{9D8B030D-6E8A-4147-A177-3AD203B41FA5}">
                      <a16:colId xmlns:a16="http://schemas.microsoft.com/office/drawing/2014/main" val="3478467599"/>
                    </a:ext>
                  </a:extLst>
                </a:gridCol>
                <a:gridCol w="1458576">
                  <a:extLst>
                    <a:ext uri="{9D8B030D-6E8A-4147-A177-3AD203B41FA5}">
                      <a16:colId xmlns:a16="http://schemas.microsoft.com/office/drawing/2014/main" val="3845174866"/>
                    </a:ext>
                  </a:extLst>
                </a:gridCol>
                <a:gridCol w="1458576">
                  <a:extLst>
                    <a:ext uri="{9D8B030D-6E8A-4147-A177-3AD203B41FA5}">
                      <a16:colId xmlns:a16="http://schemas.microsoft.com/office/drawing/2014/main" val="1009241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Pine marten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Tawny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Residual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9967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52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827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03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386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59469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5CBC4E0-33EE-C556-FB99-385EB3FA18B2}"/>
              </a:ext>
            </a:extLst>
          </p:cNvPr>
          <p:cNvSpPr txBox="1"/>
          <p:nvPr/>
        </p:nvSpPr>
        <p:spPr>
          <a:xfrm>
            <a:off x="7292622" y="417689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Assume </a:t>
            </a:r>
          </a:p>
        </p:txBody>
      </p:sp>
    </p:spTree>
    <p:extLst>
      <p:ext uri="{BB962C8B-B14F-4D97-AF65-F5344CB8AC3E}">
        <p14:creationId xmlns:p14="http://schemas.microsoft.com/office/powerpoint/2010/main" val="744874276"/>
      </p:ext>
    </p:extLst>
  </p:cSld>
  <p:clrMapOvr>
    <a:masterClrMapping/>
  </p:clrMapOvr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294</TotalTime>
  <Words>822</Words>
  <Application>Microsoft Office PowerPoint</Application>
  <PresentationFormat>Widescreen</PresentationFormat>
  <Paragraphs>168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Bahnschrift Light</vt:lpstr>
      <vt:lpstr>Cambria Math</vt:lpstr>
      <vt:lpstr>sbs_template</vt:lpstr>
      <vt:lpstr>Linear models</vt:lpstr>
      <vt:lpstr>The question</vt:lpstr>
      <vt:lpstr>Predated predators</vt:lpstr>
      <vt:lpstr>Our response variable</vt:lpstr>
      <vt:lpstr>Our explanatory variable</vt:lpstr>
      <vt:lpstr>Data visualisations</vt:lpstr>
      <vt:lpstr>Pine marten time series</vt:lpstr>
      <vt:lpstr>Tawny owl time series</vt:lpstr>
      <vt:lpstr>Tawny versus pine</vt:lpstr>
      <vt:lpstr>What do we take away</vt:lpstr>
      <vt:lpstr>We need two pieces of information</vt:lpstr>
      <vt:lpstr>Which do you prefer?</vt:lpstr>
      <vt:lpstr>Which do you prefer?</vt:lpstr>
      <vt:lpstr>Line of best fit</vt:lpstr>
      <vt:lpstr>Model fitting</vt:lpstr>
      <vt:lpstr>MaCHiNe LEarNiNg</vt:lpstr>
      <vt:lpstr>Residual error</vt:lpstr>
      <vt:lpstr>How does it work?</vt:lpstr>
      <vt:lpstr>How does it work?</vt:lpstr>
      <vt:lpstr>Our job, made easy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models</dc:title>
  <dc:creator>Roos, Deon</dc:creator>
  <cp:lastModifiedBy>Deon Roos</cp:lastModifiedBy>
  <cp:revision>1</cp:revision>
  <dcterms:created xsi:type="dcterms:W3CDTF">2024-07-05T09:59:56Z</dcterms:created>
  <dcterms:modified xsi:type="dcterms:W3CDTF">2024-07-05T14:54:52Z</dcterms:modified>
</cp:coreProperties>
</file>