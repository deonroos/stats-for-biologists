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9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3" r:id="rId18"/>
    <p:sldId id="272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30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73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966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139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313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05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92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43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190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719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725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074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D4F82-1800-4F77-D104-3B50CA0DD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39EC5-C784-6F3F-A877-94A77494E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34B09-7E73-B99D-9CCB-5A2B25144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B0316-A157-2CF4-4A8F-1C46780C2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8C718-5FCE-2241-8B80-5AA8EA94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476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82C5A1-16B6-4222-AA63-3055D0E769E8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772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gi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D2FE-D408-02B0-484B-B0AFD9D3A7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modelling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14DCB-1384-C7ED-C3DC-6865FE5310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continuous explanatory variables</a:t>
            </a:r>
          </a:p>
        </p:txBody>
      </p:sp>
    </p:spTree>
    <p:extLst>
      <p:ext uri="{BB962C8B-B14F-4D97-AF65-F5344CB8AC3E}">
        <p14:creationId xmlns:p14="http://schemas.microsoft.com/office/powerpoint/2010/main" val="137831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951A6-7F4A-884C-A450-BB7AE86A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</p:spTree>
    <p:extLst>
      <p:ext uri="{BB962C8B-B14F-4D97-AF65-F5344CB8AC3E}">
        <p14:creationId xmlns:p14="http://schemas.microsoft.com/office/powerpoint/2010/main" val="385856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1BB08-C428-8B0B-8C2A-960C0FCE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Predated predators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734FE-52C7-2CF0-B2D8-57B8513F1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Pine martens are expanding their range south in UK</a:t>
            </a:r>
          </a:p>
          <a:p>
            <a:r>
              <a:rPr lang="en-GB" dirty="0"/>
              <a:t>Recolonising predators that can disrupt balance that has built up since their local extinction</a:t>
            </a:r>
          </a:p>
          <a:p>
            <a:r>
              <a:rPr lang="en-GB" dirty="0"/>
              <a:t>Many species already struggling</a:t>
            </a:r>
          </a:p>
          <a:p>
            <a:r>
              <a:rPr lang="en-GB" dirty="0"/>
              <a:t>Will pine martens returning cause the systems to collapse?</a:t>
            </a:r>
          </a:p>
        </p:txBody>
      </p:sp>
      <p:pic>
        <p:nvPicPr>
          <p:cNvPr id="5" name="PineMartenandTawny">
            <a:hlinkClick r:id="" action="ppaction://media"/>
            <a:extLst>
              <a:ext uri="{FF2B5EF4-FFF2-40B4-BE49-F238E27FC236}">
                <a16:creationId xmlns:a16="http://schemas.microsoft.com/office/drawing/2014/main" id="{7E747A65-CA49-998F-A06E-37A0F9690391}"/>
              </a:ext>
            </a:extLst>
          </p:cNvPr>
          <p:cNvPicPr>
            <a:picLocks noGrp="1" noChangeAspect="1"/>
          </p:cNvPicPr>
          <p:nvPr>
            <p:ph type="pic" sz="quarter" idx="10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26081" r="2608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0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85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3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F3BA-924D-749A-4144-BA031EE43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response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07EAE-1713-0F71-C42C-F26054572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Local raptor workers catch breeding pairs of tawny owls in nests </a:t>
                </a:r>
              </a:p>
              <a:p>
                <a:r>
                  <a:rPr lang="en-GB" dirty="0"/>
                  <a:t>Data collected every year since 1979</a:t>
                </a:r>
              </a:p>
              <a:p>
                <a:r>
                  <a:rPr lang="en-GB" dirty="0"/>
                  <a:t>Within the area, 23 sites are monitored</a:t>
                </a:r>
              </a:p>
              <a:p>
                <a:r>
                  <a:rPr lang="en-GB" dirty="0"/>
                  <a:t>Our response variable is then the density of breeding tawny owl pairs in each site, in each year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= density of owls per site per year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07EAE-1713-0F71-C42C-F26054572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18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4" descr="A person holding a small white bird&#10;&#10;Description automatically generated">
            <a:extLst>
              <a:ext uri="{FF2B5EF4-FFF2-40B4-BE49-F238E27FC236}">
                <a16:creationId xmlns:a16="http://schemas.microsoft.com/office/drawing/2014/main" id="{1170F778-BD59-A9B6-5575-00BD3D67B31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7" r="21657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F3BA-924D-749A-4144-BA031EE43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explanatory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07EAE-1713-0F71-C42C-F26054572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Using camera trapping, researchers can the number of pine marten at a site</a:t>
                </a:r>
              </a:p>
              <a:p>
                <a:r>
                  <a:rPr lang="en-GB" dirty="0"/>
                  <a:t>Within the area, 23 sites are monitored each year</a:t>
                </a:r>
              </a:p>
              <a:p>
                <a:r>
                  <a:rPr lang="en-GB" dirty="0"/>
                  <a:t>Our explanatory variable is then the number of pine marten present in each site in each year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= pine marten probability per site per year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07EAE-1713-0F71-C42C-F26054572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29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4" descr="A cat climbing a tree&#10;&#10;Description automatically generated">
            <a:extLst>
              <a:ext uri="{FF2B5EF4-FFF2-40B4-BE49-F238E27FC236}">
                <a16:creationId xmlns:a16="http://schemas.microsoft.com/office/drawing/2014/main" id="{7562A389-A120-886B-7943-A9FD88C6606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4" r="15448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3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3029-6D74-DE34-D70E-20838E34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to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55343-B2B5-2352-38B4-187CA307BA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want to understand how owl density respond to pine marten occupancy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owl density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pine marten occupancy</a:t>
                </a:r>
              </a:p>
              <a:p>
                <a:r>
                  <a:rPr lang="en-GB" dirty="0"/>
                  <a:t>Our current toolkit: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Merging these together: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55343-B2B5-2352-38B4-187CA307BA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C729DFF-20DD-7087-982A-9D19B8CBCE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90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BC54-9A7C-9FB4-FC45-F2B8FD1C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 to know your data</a:t>
            </a:r>
          </a:p>
        </p:txBody>
      </p:sp>
    </p:spTree>
    <p:extLst>
      <p:ext uri="{BB962C8B-B14F-4D97-AF65-F5344CB8AC3E}">
        <p14:creationId xmlns:p14="http://schemas.microsoft.com/office/powerpoint/2010/main" val="3655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FE9F9-3320-524D-5BCA-870450520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Pine marten 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B30DF-BD50-7D1C-8476-0DB951389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Very low densities for first ca. 30 years</a:t>
            </a:r>
          </a:p>
          <a:p>
            <a:r>
              <a:rPr lang="en-GB" dirty="0"/>
              <a:t>Now up to ca. 3 pine martens per ha</a:t>
            </a:r>
          </a:p>
          <a:p>
            <a:r>
              <a:rPr lang="en-GB" dirty="0"/>
              <a:t>Do you learn anything about the system from this figure?</a:t>
            </a:r>
          </a:p>
          <a:p>
            <a:r>
              <a:rPr lang="en-GB" dirty="0"/>
              <a:t>Do you envisage any problems when we come to analyse this data?</a:t>
            </a:r>
          </a:p>
        </p:txBody>
      </p:sp>
      <p:pic>
        <p:nvPicPr>
          <p:cNvPr id="6" name="Picture Placeholder 5" descr="A graph of a graph showing a line of dots&#10;&#10;Description automatically generated with medium confidence">
            <a:extLst>
              <a:ext uri="{FF2B5EF4-FFF2-40B4-BE49-F238E27FC236}">
                <a16:creationId xmlns:a16="http://schemas.microsoft.com/office/drawing/2014/main" id="{47A0B96F-88A2-6FD4-D6C8-8C4E84DA07E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0653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4EE1-5D50-2FF6-9E68-BE5641C9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Tawny owl 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88AC6-A858-469C-5E83-E49E1FDC6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Tawny owls look somewhat stable</a:t>
            </a:r>
          </a:p>
          <a:p>
            <a:r>
              <a:rPr lang="en-GB" dirty="0"/>
              <a:t>Should we stop here and say pine martens are not predating tawny owls?</a:t>
            </a:r>
          </a:p>
          <a:p>
            <a:r>
              <a:rPr lang="en-GB" dirty="0"/>
              <a:t>What would a better visualisation be?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8857627-4FC5-2C6C-89FC-B54019FC41E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913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C1CF-1707-78F8-1BAB-9F5A6FA4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Tawny versus pine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B79F-630E-A235-6D8F-063C3F99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Relationship a little clearer now</a:t>
            </a:r>
          </a:p>
          <a:p>
            <a:pPr lvl="1"/>
            <a:r>
              <a:rPr lang="en-GB" dirty="0"/>
              <a:t>But definitive?</a:t>
            </a:r>
          </a:p>
          <a:p>
            <a:r>
              <a:rPr lang="en-GB" dirty="0"/>
              <a:t>Why the big bulk of observations towards the left of the figure?</a:t>
            </a:r>
          </a:p>
          <a:p>
            <a:r>
              <a:rPr lang="en-GB" dirty="0"/>
              <a:t>Should we be concerned?</a:t>
            </a:r>
          </a:p>
        </p:txBody>
      </p:sp>
      <p:pic>
        <p:nvPicPr>
          <p:cNvPr id="6" name="Picture Placeholder 5" descr="A graph showing a number of white dots&#10;&#10;Description automatically generated">
            <a:extLst>
              <a:ext uri="{FF2B5EF4-FFF2-40B4-BE49-F238E27FC236}">
                <a16:creationId xmlns:a16="http://schemas.microsoft.com/office/drawing/2014/main" id="{D40EB33E-9525-F616-BA20-4DE0027395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79559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C1CF-1707-78F8-1BAB-9F5A6FA4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take 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B79F-630E-A235-6D8F-063C3F99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there is a relationship, is it positive or negative?</a:t>
            </a:r>
          </a:p>
          <a:p>
            <a:r>
              <a:rPr lang="en-GB" dirty="0"/>
              <a:t>How strong is that relationship?</a:t>
            </a:r>
          </a:p>
          <a:p>
            <a:r>
              <a:rPr lang="en-GB" dirty="0"/>
              <a:t>How many tawny owls do we gain or lose for each additional pine marten?</a:t>
            </a:r>
          </a:p>
          <a:p>
            <a:r>
              <a:rPr lang="en-GB" dirty="0"/>
              <a:t>If pine marten densities increase to 5 per ha, are tawny owls going to go extinct?</a:t>
            </a:r>
          </a:p>
          <a:p>
            <a:r>
              <a:rPr lang="en-GB" dirty="0"/>
              <a:t>Should we intervene?</a:t>
            </a:r>
          </a:p>
        </p:txBody>
      </p:sp>
      <p:pic>
        <p:nvPicPr>
          <p:cNvPr id="6" name="Picture Placeholder 5" descr="A graph showing a number of white dots&#10;&#10;Description automatically generated">
            <a:extLst>
              <a:ext uri="{FF2B5EF4-FFF2-40B4-BE49-F238E27FC236}">
                <a16:creationId xmlns:a16="http://schemas.microsoft.com/office/drawing/2014/main" id="{D40EB33E-9525-F616-BA20-4DE0027395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9388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A3C8-EE17-6E99-E3EF-EDF17B71C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need two pieces of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D516CB-DD61-AB6A-1AFC-8EC197FC18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To answer our questions, we need two pieces of information</a:t>
                </a:r>
              </a:p>
              <a:p>
                <a:pPr lvl="1"/>
                <a:r>
                  <a:rPr lang="en-GB" dirty="0"/>
                  <a:t>What is the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)?</a:t>
                </a:r>
              </a:p>
              <a:p>
                <a:pPr lvl="1"/>
                <a:r>
                  <a:rPr lang="en-GB" dirty="0"/>
                  <a:t>What is the 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)?</a:t>
                </a:r>
              </a:p>
              <a:p>
                <a:r>
                  <a:rPr lang="en-GB" dirty="0"/>
                  <a:t>An infinite number of possible combinations</a:t>
                </a:r>
              </a:p>
              <a:p>
                <a:r>
                  <a:rPr lang="en-GB" dirty="0"/>
                  <a:t>How do we figure out which one is best?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D516CB-DD61-AB6A-1AFC-8EC197FC18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Placeholder 13" descr="A graph with white dots and red line&#10;&#10;Description automatically generated">
            <a:extLst>
              <a:ext uri="{FF2B5EF4-FFF2-40B4-BE49-F238E27FC236}">
                <a16:creationId xmlns:a16="http://schemas.microsoft.com/office/drawing/2014/main" id="{3FF64AEF-7FB0-8AD3-20AA-2CC3F60FAE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" t="-9125" r="-306" b="-8835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127425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screen shot of a graph&#10;&#10;Description automatically generated">
            <a:extLst>
              <a:ext uri="{FF2B5EF4-FFF2-40B4-BE49-F238E27FC236}">
                <a16:creationId xmlns:a16="http://schemas.microsoft.com/office/drawing/2014/main" id="{56B0C8BE-E055-9A63-28D0-5A37AA596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7429"/>
            <a:ext cx="12192000" cy="56605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44B190-90DF-6296-CF6E-0ABAE5341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Which do you prefer?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DDB596-E1D2-39A2-D7A4-D8D48CB65EF0}"/>
                  </a:ext>
                </a:extLst>
              </p:cNvPr>
              <p:cNvSpPr txBox="1"/>
              <p:nvPr/>
            </p:nvSpPr>
            <p:spPr>
              <a:xfrm>
                <a:off x="1524001" y="1580444"/>
                <a:ext cx="1814534" cy="408623"/>
              </a:xfrm>
              <a:prstGeom prst="round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=30,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DDB596-E1D2-39A2-D7A4-D8D48CB65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1" y="1580444"/>
                <a:ext cx="1814534" cy="408623"/>
              </a:xfrm>
              <a:prstGeom prst="roundRect">
                <a:avLst/>
              </a:prstGeom>
              <a:blipFill>
                <a:blip r:embed="rId3"/>
                <a:stretch>
                  <a:fillRect b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A9C026-2FC7-6C61-D379-626A8FA63723}"/>
                  </a:ext>
                </a:extLst>
              </p:cNvPr>
              <p:cNvSpPr txBox="1"/>
              <p:nvPr/>
            </p:nvSpPr>
            <p:spPr>
              <a:xfrm>
                <a:off x="5401734" y="1580443"/>
                <a:ext cx="1814534" cy="408623"/>
              </a:xfrm>
              <a:prstGeom prst="round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=19,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A9C026-2FC7-6C61-D379-626A8FA63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734" y="1580443"/>
                <a:ext cx="1814534" cy="408623"/>
              </a:xfrm>
              <a:prstGeom prst="roundRect">
                <a:avLst/>
              </a:prstGeom>
              <a:blipFill>
                <a:blip r:embed="rId4"/>
                <a:stretch>
                  <a:fillRect b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600667-AE38-5234-9C7B-9F86C1751A34}"/>
                  </a:ext>
                </a:extLst>
              </p:cNvPr>
              <p:cNvSpPr txBox="1"/>
              <p:nvPr/>
            </p:nvSpPr>
            <p:spPr>
              <a:xfrm>
                <a:off x="9279467" y="1580443"/>
                <a:ext cx="2150153" cy="408623"/>
              </a:xfrm>
              <a:prstGeom prst="round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=47,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=−0.5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600667-AE38-5234-9C7B-9F86C1751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9467" y="1580443"/>
                <a:ext cx="2150153" cy="408623"/>
              </a:xfrm>
              <a:prstGeom prst="roundRect">
                <a:avLst/>
              </a:prstGeom>
              <a:blipFill>
                <a:blip r:embed="rId5"/>
                <a:stretch>
                  <a:fillRect b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49A539-6999-4720-ED04-AA833B2A7277}"/>
                  </a:ext>
                </a:extLst>
              </p:cNvPr>
              <p:cNvSpPr txBox="1"/>
              <p:nvPr/>
            </p:nvSpPr>
            <p:spPr>
              <a:xfrm>
                <a:off x="1524001" y="4295703"/>
                <a:ext cx="1991007" cy="408623"/>
              </a:xfrm>
              <a:prstGeom prst="round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=39,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49A539-6999-4720-ED04-AA833B2A7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1" y="4295703"/>
                <a:ext cx="1991007" cy="408623"/>
              </a:xfrm>
              <a:prstGeom prst="roundRect">
                <a:avLst/>
              </a:prstGeom>
              <a:blipFill>
                <a:blip r:embed="rId6"/>
                <a:stretch>
                  <a:fillRect b="-72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8BDF92-03AC-1040-9E02-7BB1B147ABE2}"/>
                  </a:ext>
                </a:extLst>
              </p:cNvPr>
              <p:cNvSpPr txBox="1"/>
              <p:nvPr/>
            </p:nvSpPr>
            <p:spPr>
              <a:xfrm>
                <a:off x="5401734" y="4299126"/>
                <a:ext cx="2150153" cy="408623"/>
              </a:xfrm>
              <a:prstGeom prst="round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=30,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=−0.3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8BDF92-03AC-1040-9E02-7BB1B147A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734" y="4299126"/>
                <a:ext cx="2150153" cy="408623"/>
              </a:xfrm>
              <a:prstGeom prst="roundRect">
                <a:avLst/>
              </a:prstGeom>
              <a:blipFill>
                <a:blip r:embed="rId7"/>
                <a:stretch>
                  <a:fillRect b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A99622-8C10-3D7A-A778-FB902128CA11}"/>
                  </a:ext>
                </a:extLst>
              </p:cNvPr>
              <p:cNvSpPr txBox="1"/>
              <p:nvPr/>
            </p:nvSpPr>
            <p:spPr>
              <a:xfrm>
                <a:off x="9279467" y="4295702"/>
                <a:ext cx="1991007" cy="408623"/>
              </a:xfrm>
              <a:prstGeom prst="round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=45,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A99622-8C10-3D7A-A778-FB902128C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9467" y="4295702"/>
                <a:ext cx="1991007" cy="408623"/>
              </a:xfrm>
              <a:prstGeom prst="roundRect">
                <a:avLst/>
              </a:prstGeom>
              <a:blipFill>
                <a:blip r:embed="rId8"/>
                <a:stretch>
                  <a:fillRect b="-72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501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4B190-90DF-6296-CF6E-0ABAE5341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Which do you prefer?</a:t>
            </a:r>
          </a:p>
        </p:txBody>
      </p:sp>
      <p:pic>
        <p:nvPicPr>
          <p:cNvPr id="4" name="Picture 3" descr="A screen shot of a graph&#10;&#10;Description automatically generated">
            <a:extLst>
              <a:ext uri="{FF2B5EF4-FFF2-40B4-BE49-F238E27FC236}">
                <a16:creationId xmlns:a16="http://schemas.microsoft.com/office/drawing/2014/main" id="{1E37CEB3-6EB2-9DD2-59DE-0078F0B02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7429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76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1A103-72C8-2297-38EB-41234BA6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 of best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F5120-F5FB-0DF2-FF77-408848435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doing this by eye, we’re trying to fit a line that’s “balanced”</a:t>
            </a:r>
          </a:p>
          <a:p>
            <a:pPr lvl="1"/>
            <a:r>
              <a:rPr lang="en-GB" dirty="0"/>
              <a:t>As many points above as below the line</a:t>
            </a:r>
          </a:p>
          <a:p>
            <a:r>
              <a:rPr lang="en-GB" dirty="0"/>
              <a:t>The difference between the line and each point is called the </a:t>
            </a:r>
            <a:r>
              <a:rPr lang="en-GB" i="1" dirty="0"/>
              <a:t>residual error</a:t>
            </a:r>
            <a:endParaRPr lang="en-GB" dirty="0"/>
          </a:p>
          <a:p>
            <a:pPr lvl="1"/>
            <a:r>
              <a:rPr lang="en-GB" dirty="0"/>
              <a:t>Residual = “remaining” or “left behind”</a:t>
            </a:r>
          </a:p>
        </p:txBody>
      </p:sp>
      <p:pic>
        <p:nvPicPr>
          <p:cNvPr id="6" name="Picture Placeholder 5" descr="A graph with a red line and white dots&#10;&#10;Description automatically generated">
            <a:extLst>
              <a:ext uri="{FF2B5EF4-FFF2-40B4-BE49-F238E27FC236}">
                <a16:creationId xmlns:a16="http://schemas.microsoft.com/office/drawing/2014/main" id="{2D7EF57A-6023-186F-764B-1F7DAF1FF2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91614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1A103-72C8-2297-38EB-41234BA6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F5120-F5FB-0DF2-FF77-408848435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did this line ourselves but we’re subjective</a:t>
            </a:r>
          </a:p>
          <a:p>
            <a:r>
              <a:rPr lang="en-GB" dirty="0"/>
              <a:t>And we don’t want to gather a thousand people to vote every time we want to fit a model</a:t>
            </a:r>
          </a:p>
          <a:p>
            <a:r>
              <a:rPr lang="en-GB" dirty="0"/>
              <a:t>And we want to consider more than 6 different combinations for each parameter</a:t>
            </a:r>
          </a:p>
          <a:p>
            <a:r>
              <a:rPr lang="en-GB" dirty="0"/>
              <a:t>How do we do that?</a:t>
            </a:r>
          </a:p>
        </p:txBody>
      </p:sp>
      <p:pic>
        <p:nvPicPr>
          <p:cNvPr id="6" name="Picture Placeholder 5" descr="A graph with a red line and white dots&#10;&#10;Description automatically generated">
            <a:extLst>
              <a:ext uri="{FF2B5EF4-FFF2-40B4-BE49-F238E27FC236}">
                <a16:creationId xmlns:a16="http://schemas.microsoft.com/office/drawing/2014/main" id="{2D7EF57A-6023-186F-764B-1F7DAF1FF2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230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50B0D-3F0C-33D4-500E-9AD133293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5069B-4931-5234-28CB-C023D3797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can use residual error as a metric for evaluating each parameter combination</a:t>
            </a:r>
          </a:p>
          <a:p>
            <a:r>
              <a:rPr lang="en-GB" dirty="0"/>
              <a:t>For each parameter combination the model tries, there is residual error for each observation</a:t>
            </a:r>
          </a:p>
          <a:p>
            <a:r>
              <a:rPr lang="en-GB" dirty="0"/>
              <a:t>How would you use these residuals to figure out which parameters work best?</a:t>
            </a:r>
          </a:p>
        </p:txBody>
      </p:sp>
      <p:pic>
        <p:nvPicPr>
          <p:cNvPr id="6" name="Picture Placeholder 5" descr="A graph of a graph with lines and dots&#10;&#10;Description automatically generated">
            <a:extLst>
              <a:ext uri="{FF2B5EF4-FFF2-40B4-BE49-F238E27FC236}">
                <a16:creationId xmlns:a16="http://schemas.microsoft.com/office/drawing/2014/main" id="{CD6AEB72-E346-7535-C057-5F8EEA9C68E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" t="-8268" r="466" b="-8558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12839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B6A1-35A2-EA7D-0AD9-C3E320E94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MaCHiNe</a:t>
            </a:r>
            <a:r>
              <a:rPr lang="en-GB" dirty="0"/>
              <a:t> </a:t>
            </a:r>
            <a:r>
              <a:rPr lang="en-GB" dirty="0" err="1"/>
              <a:t>LEarNiNg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789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A1FA-5737-B5F9-815A-3A556ECB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Using residuals we can find the parameter combination that gives best fit</a:t>
            </a:r>
          </a:p>
        </p:txBody>
      </p:sp>
      <p:pic>
        <p:nvPicPr>
          <p:cNvPr id="3" name="Picture Placeholder 5" descr="A graph of a graph with lines and dots&#10;&#10;Description automatically generated">
            <a:extLst>
              <a:ext uri="{FF2B5EF4-FFF2-40B4-BE49-F238E27FC236}">
                <a16:creationId xmlns:a16="http://schemas.microsoft.com/office/drawing/2014/main" id="{FE80A6FA-5985-6FE5-9168-C27777F000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" t="-8268" r="466" b="-8558"/>
          <a:stretch/>
        </p:blipFill>
        <p:spPr>
          <a:xfrm>
            <a:off x="838200" y="2143124"/>
            <a:ext cx="4074632" cy="4791075"/>
          </a:xfrm>
          <a:prstGeom prst="rect">
            <a:avLst/>
          </a:prstGeom>
        </p:spPr>
      </p:pic>
      <p:pic>
        <p:nvPicPr>
          <p:cNvPr id="4" name="Picture Placeholder 5" descr="A graph with a line&#10;&#10;Description automatically generated">
            <a:extLst>
              <a:ext uri="{FF2B5EF4-FFF2-40B4-BE49-F238E27FC236}">
                <a16:creationId xmlns:a16="http://schemas.microsoft.com/office/drawing/2014/main" id="{7A3E6159-DF52-AC1C-06CF-6D08B93D03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-8972" r="-190" b="-8483"/>
          <a:stretch/>
        </p:blipFill>
        <p:spPr>
          <a:xfrm>
            <a:off x="6359525" y="1876424"/>
            <a:ext cx="4236645" cy="49815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CCCDF4-7C2C-C267-8D24-7F164BC05157}"/>
              </a:ext>
            </a:extLst>
          </p:cNvPr>
          <p:cNvSpPr/>
          <p:nvPr/>
        </p:nvSpPr>
        <p:spPr>
          <a:xfrm>
            <a:off x="5857875" y="1714500"/>
            <a:ext cx="5581650" cy="5143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594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0908-F271-D9D2-C6A6-9C32BE5CE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BA7F3-B1F0-6F0C-8BDD-1BF9B277D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each parameter combination</a:t>
            </a:r>
          </a:p>
          <a:p>
            <a:r>
              <a:rPr lang="en-GB" dirty="0"/>
              <a:t>We get a likelihood value</a:t>
            </a:r>
          </a:p>
          <a:p>
            <a:r>
              <a:rPr lang="en-GB" dirty="0"/>
              <a:t>Likelihood expresses how “likely” parameters match the observed data</a:t>
            </a:r>
          </a:p>
          <a:p>
            <a:r>
              <a:rPr lang="en-GB" dirty="0"/>
              <a:t>We want to likelihood to be as high as possible</a:t>
            </a:r>
          </a:p>
          <a:p>
            <a:r>
              <a:rPr lang="en-GB" i="1" dirty="0"/>
              <a:t>Maximum Likelihood Estimate </a:t>
            </a:r>
            <a:r>
              <a:rPr lang="en-GB" dirty="0"/>
              <a:t>(MLE)</a:t>
            </a:r>
          </a:p>
          <a:p>
            <a:r>
              <a:rPr lang="en-GB" sz="2000" dirty="0"/>
              <a:t>But in practice, it is computationally easier to minimise</a:t>
            </a:r>
          </a:p>
        </p:txBody>
      </p:sp>
      <p:pic>
        <p:nvPicPr>
          <p:cNvPr id="6" name="Picture Placeholder 5" descr="A graph with a line&#10;&#10;Description automatically generated">
            <a:extLst>
              <a:ext uri="{FF2B5EF4-FFF2-40B4-BE49-F238E27FC236}">
                <a16:creationId xmlns:a16="http://schemas.microsoft.com/office/drawing/2014/main" id="{603FCCAB-D6AB-946D-C461-13BA013788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7" r="74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4741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CED1-F288-8275-0BF9-A1A3CCCC2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433B9-F2F0-8A83-EC10-0B4CBB183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 the computer must do is: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Try a couple of different parameter values for each parameter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Figure out which combination get the Likelihood as small as possible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Report to the user (us) what the best parameter combination was</a:t>
            </a:r>
          </a:p>
        </p:txBody>
      </p:sp>
      <p:pic>
        <p:nvPicPr>
          <p:cNvPr id="8" name="Picture Placeholder 7" descr="A screen shot of a graph&#10;&#10;Description automatically generated">
            <a:extLst>
              <a:ext uri="{FF2B5EF4-FFF2-40B4-BE49-F238E27FC236}">
                <a16:creationId xmlns:a16="http://schemas.microsoft.com/office/drawing/2014/main" id="{09E2B412-206A-456A-C8D2-528BB2CC40C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C95F415-F95A-7A51-5D59-D9E242C63860}"/>
              </a:ext>
            </a:extLst>
          </p:cNvPr>
          <p:cNvGrpSpPr/>
          <p:nvPr/>
        </p:nvGrpSpPr>
        <p:grpSpPr>
          <a:xfrm>
            <a:off x="8736828" y="295711"/>
            <a:ext cx="2865917" cy="715089"/>
            <a:chOff x="7234281" y="4657725"/>
            <a:chExt cx="2865917" cy="71508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5D6CCA1-E76E-1FC1-480E-B15DD35DE68E}"/>
                </a:ext>
              </a:extLst>
            </p:cNvPr>
            <p:cNvSpPr txBox="1"/>
            <p:nvPr/>
          </p:nvSpPr>
          <p:spPr>
            <a:xfrm>
              <a:off x="7234281" y="4657725"/>
              <a:ext cx="2505262" cy="715089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The worst parameter </a:t>
              </a:r>
              <a:br>
                <a:rPr lang="en-GB" dirty="0"/>
              </a:br>
              <a:r>
                <a:rPr lang="en-GB" dirty="0"/>
                <a:t>values (of those tried)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FAEFC0F-8E1F-7266-015A-D15542768A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39543" y="4657725"/>
              <a:ext cx="360655" cy="3575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E4D753-556B-034F-26FF-6FFEB67E426A}"/>
              </a:ext>
            </a:extLst>
          </p:cNvPr>
          <p:cNvGrpSpPr/>
          <p:nvPr/>
        </p:nvGrpSpPr>
        <p:grpSpPr>
          <a:xfrm>
            <a:off x="7212965" y="4648200"/>
            <a:ext cx="2757444" cy="715089"/>
            <a:chOff x="7234281" y="4657725"/>
            <a:chExt cx="2757444" cy="71508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CF2FEC-EE85-8916-F09B-357866D3663E}"/>
                </a:ext>
              </a:extLst>
            </p:cNvPr>
            <p:cNvSpPr txBox="1"/>
            <p:nvPr/>
          </p:nvSpPr>
          <p:spPr>
            <a:xfrm>
              <a:off x="7234281" y="4657725"/>
              <a:ext cx="2505262" cy="715089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The best parameter </a:t>
              </a:r>
              <a:br>
                <a:rPr lang="en-GB" dirty="0"/>
              </a:br>
              <a:r>
                <a:rPr lang="en-GB" dirty="0"/>
                <a:t>values (of those tried)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2AD2972-5FB6-07B0-48E1-5C3149C7E213}"/>
                </a:ext>
              </a:extLst>
            </p:cNvPr>
            <p:cNvCxnSpPr>
              <a:cxnSpLocks/>
            </p:cNvCxnSpPr>
            <p:nvPr/>
          </p:nvCxnSpPr>
          <p:spPr>
            <a:xfrm>
              <a:off x="9739543" y="5015269"/>
              <a:ext cx="252182" cy="2234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000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C2D5-3F28-8F83-8A95-293E67E6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learn biologically?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A7671-B076-899B-A083-E3694A67E9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Of the (very) crude approach we took to figure out which parameter values work best with the data, we learn: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=−3.5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What do these numbers mean?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A7671-B076-899B-A083-E3694A67E9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person holding a small owl&#10;&#10;Description automatically generated">
            <a:extLst>
              <a:ext uri="{FF2B5EF4-FFF2-40B4-BE49-F238E27FC236}">
                <a16:creationId xmlns:a16="http://schemas.microsoft.com/office/drawing/2014/main" id="{5ECE84DA-7CDC-5F02-74CC-2FFED941C4F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8" b="10798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72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DC50-FA71-1C24-466B-A9CCBA7E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learn biologically?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If there are no pine marten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), then: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+0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  <a:p>
                <a:r>
                  <a:rPr lang="en-GB" dirty="0"/>
                  <a:t>and we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+0=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is the intercept,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  <a:p>
                <a:r>
                  <a:rPr lang="en-GB" dirty="0"/>
                  <a:t>Our model suggests that when there are no pine marten, we would expect 40 tawny owls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75" b="-13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5" descr="A person holding a small owl&#10;&#10;Description automatically generated">
            <a:extLst>
              <a:ext uri="{FF2B5EF4-FFF2-40B4-BE49-F238E27FC236}">
                <a16:creationId xmlns:a16="http://schemas.microsoft.com/office/drawing/2014/main" id="{01CFED87-0BE7-5A3D-2DE6-6531231A5F6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8" b="10798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72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DC50-FA71-1C24-466B-A9CCBA7E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learn biologically?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=40+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was estimated as -3.5</a:t>
                </a:r>
              </a:p>
              <a:p>
                <a:r>
                  <a:rPr lang="en-GB" dirty="0"/>
                  <a:t>If there are 2 pine marten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), then: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40−3.5×2=33</m:t>
                    </m:r>
                  </m:oMath>
                </a14:m>
                <a:r>
                  <a:rPr lang="en-GB" dirty="0"/>
                  <a:t> tawny owls</a:t>
                </a:r>
              </a:p>
              <a:p>
                <a:r>
                  <a:rPr lang="en-GB" dirty="0"/>
                  <a:t>For every additional pine marten at a site, we lose 3.5 tawny owls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is the </a:t>
                </a:r>
                <a:r>
                  <a:rPr lang="en-GB" i="1" dirty="0"/>
                  <a:t>effect</a:t>
                </a:r>
                <a:r>
                  <a:rPr lang="en-GB" dirty="0"/>
                  <a:t> of pine martens on tawny owls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5" descr="A person holding a small owl&#10;&#10;Description automatically generated">
            <a:extLst>
              <a:ext uri="{FF2B5EF4-FFF2-40B4-BE49-F238E27FC236}">
                <a16:creationId xmlns:a16="http://schemas.microsoft.com/office/drawing/2014/main" id="{01CFED87-0BE7-5A3D-2DE6-6531231A5F6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8" b="10798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47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DC50-FA71-1C24-466B-A9CCBA7E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learn biologically?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GB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=40−3.5×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How many owls would we expect if pine marten density reaches 10 pine marten per 10 km</a:t>
                </a:r>
                <a:r>
                  <a:rPr lang="en-GB" baseline="30000" dirty="0"/>
                  <a:t>2</a:t>
                </a:r>
                <a:r>
                  <a:rPr lang="en-GB" dirty="0"/>
                  <a:t>?</a:t>
                </a:r>
              </a:p>
              <a:p>
                <a:pPr lvl="1"/>
                <a:r>
                  <a:rPr lang="en-GB" dirty="0"/>
                  <a:t>5 tawny owls</a:t>
                </a:r>
              </a:p>
              <a:p>
                <a:r>
                  <a:rPr lang="en-GB" dirty="0"/>
                  <a:t>How would we show the relationship as a whole?</a:t>
                </a:r>
              </a:p>
              <a:p>
                <a:pPr lvl="1"/>
                <a:r>
                  <a:rPr lang="en-GB" dirty="0"/>
                  <a:t>Next lecture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2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5" descr="A person holding a small owl&#10;&#10;Description automatically generated">
            <a:extLst>
              <a:ext uri="{FF2B5EF4-FFF2-40B4-BE49-F238E27FC236}">
                <a16:creationId xmlns:a16="http://schemas.microsoft.com/office/drawing/2014/main" id="{01CFED87-0BE7-5A3D-2DE6-6531231A5F6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8" b="10798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pic>
        <p:nvPicPr>
          <p:cNvPr id="6" name="Picture 5" descr="A graph with lines in it&#10;&#10;Description automatically generated">
            <a:extLst>
              <a:ext uri="{FF2B5EF4-FFF2-40B4-BE49-F238E27FC236}">
                <a16:creationId xmlns:a16="http://schemas.microsoft.com/office/drawing/2014/main" id="{5875069C-6B92-4CD3-5CB5-C4D77369F9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662781"/>
            <a:ext cx="5847657" cy="58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14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57BF-315C-4A32-0704-0C6DE3E1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Answering our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84A3-1733-1DDA-EBD7-874A7C6A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Will pine martens returning cause the systems (with tawny owls) to collapse?</a:t>
            </a:r>
          </a:p>
          <a:p>
            <a:r>
              <a:rPr lang="en-GB" dirty="0"/>
              <a:t>Based on this model: “Yes”</a:t>
            </a:r>
          </a:p>
          <a:p>
            <a:r>
              <a:rPr lang="en-GB" dirty="0"/>
              <a:t>But any caveats?</a:t>
            </a:r>
          </a:p>
          <a:p>
            <a:pPr lvl="1"/>
            <a:r>
              <a:rPr lang="en-GB" dirty="0"/>
              <a:t>Do you really know if it’s pine marten </a:t>
            </a:r>
            <a:r>
              <a:rPr lang="en-GB" b="1" dirty="0">
                <a:solidFill>
                  <a:srgbClr val="FFFF00"/>
                </a:solidFill>
              </a:rPr>
              <a:t>causing</a:t>
            </a:r>
            <a:r>
              <a:rPr lang="en-GB" dirty="0"/>
              <a:t> this decline?</a:t>
            </a:r>
          </a:p>
          <a:p>
            <a:pPr lvl="1"/>
            <a:r>
              <a:rPr lang="en-GB" dirty="0"/>
              <a:t>Is the data suitable for answering the question?</a:t>
            </a:r>
          </a:p>
          <a:p>
            <a:pPr lvl="1"/>
            <a:r>
              <a:rPr lang="en-GB" dirty="0"/>
              <a:t>What hidden assumptions are there?</a:t>
            </a:r>
          </a:p>
          <a:p>
            <a:r>
              <a:rPr lang="en-GB" dirty="0"/>
              <a:t>Based on this model, being appropriately cautious: “Maybe”</a:t>
            </a:r>
          </a:p>
        </p:txBody>
      </p:sp>
      <p:pic>
        <p:nvPicPr>
          <p:cNvPr id="6" name="Picture Placeholder 5" descr="A graph on a black background&#10;&#10;Description automatically generated">
            <a:extLst>
              <a:ext uri="{FF2B5EF4-FFF2-40B4-BE49-F238E27FC236}">
                <a16:creationId xmlns:a16="http://schemas.microsoft.com/office/drawing/2014/main" id="{B8A3CFE3-52DB-B397-2BBB-7A87FFABFC4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198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D8CE4-617E-577E-05F7-6375C1C2B2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943099"/>
                <a:ext cx="10868025" cy="472370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We always start with a question</a:t>
                </a:r>
              </a:p>
              <a:p>
                <a:r>
                  <a:rPr lang="en-GB" dirty="0"/>
                  <a:t>Statistics is merely how we answer the question</a:t>
                </a:r>
                <a:endParaRPr lang="en-GB" sz="2400" dirty="0">
                  <a:cs typeface="Courier New" panose="02070309020205020404" pitchFamily="49" charset="0"/>
                </a:endParaRPr>
              </a:p>
              <a:p>
                <a:r>
                  <a:rPr lang="en-GB" dirty="0"/>
                  <a:t>Start by plotting your data – get a feel for what’s going on</a:t>
                </a:r>
              </a:p>
              <a:p>
                <a:r>
                  <a:rPr lang="en-GB" dirty="0"/>
                  <a:t>For linear models with continuous variables, we estimate an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 and a 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We use algorithms to estimate those values</a:t>
                </a:r>
              </a:p>
              <a:p>
                <a:r>
                  <a:rPr lang="en-GB" dirty="0"/>
                  <a:t>We can then interpret what those parameter values mean biologically</a:t>
                </a:r>
              </a:p>
              <a:p>
                <a:pPr lvl="1"/>
                <a:r>
                  <a:rPr lang="en-GB" dirty="0"/>
                  <a:t>Are they “big”? Should we be concerned? Happy?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D8CE4-617E-577E-05F7-6375C1C2B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43099"/>
                <a:ext cx="10868025" cy="4723707"/>
              </a:xfrm>
              <a:prstGeom prst="rect">
                <a:avLst/>
              </a:prstGeom>
              <a:blipFill>
                <a:blip r:embed="rId2"/>
                <a:stretch>
                  <a:fillRect l="-1010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623</TotalTime>
  <Words>1155</Words>
  <Application>Microsoft Office PowerPoint</Application>
  <PresentationFormat>Widescreen</PresentationFormat>
  <Paragraphs>142</Paragraphs>
  <Slides>27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Bahnschrift Light</vt:lpstr>
      <vt:lpstr>Cambria Math</vt:lpstr>
      <vt:lpstr>Courier New</vt:lpstr>
      <vt:lpstr>sbs_template</vt:lpstr>
      <vt:lpstr>Linear modelling theory</vt:lpstr>
      <vt:lpstr>The question</vt:lpstr>
      <vt:lpstr>Predated predators</vt:lpstr>
      <vt:lpstr>Our response variable</vt:lpstr>
      <vt:lpstr>Our explanatory variable</vt:lpstr>
      <vt:lpstr>Question to model</vt:lpstr>
      <vt:lpstr>Get to know your data</vt:lpstr>
      <vt:lpstr>Pine marten time series</vt:lpstr>
      <vt:lpstr>Tawny owl time series</vt:lpstr>
      <vt:lpstr>Tawny versus pine</vt:lpstr>
      <vt:lpstr>What do we take away</vt:lpstr>
      <vt:lpstr>We need two pieces of information</vt:lpstr>
      <vt:lpstr>Which do you prefer?</vt:lpstr>
      <vt:lpstr>Which do you prefer?</vt:lpstr>
      <vt:lpstr>Line of best fit</vt:lpstr>
      <vt:lpstr>Model fitting</vt:lpstr>
      <vt:lpstr>Residual error</vt:lpstr>
      <vt:lpstr>MaCHiNe LEarNiNg</vt:lpstr>
      <vt:lpstr>Using residuals we can find the parameter combination that gives best fit</vt:lpstr>
      <vt:lpstr>Artificial intelligence</vt:lpstr>
      <vt:lpstr>MLE</vt:lpstr>
      <vt:lpstr>What do we learn biologically?</vt:lpstr>
      <vt:lpstr>What do we learn biologically?</vt:lpstr>
      <vt:lpstr>What do we learn biologically?</vt:lpstr>
      <vt:lpstr>What do we learn biologically?</vt:lpstr>
      <vt:lpstr>Answering our question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models</dc:title>
  <dc:creator>Roos, Deon</dc:creator>
  <cp:lastModifiedBy>Roos, Deon</cp:lastModifiedBy>
  <cp:revision>4</cp:revision>
  <dcterms:created xsi:type="dcterms:W3CDTF">2024-07-05T09:59:56Z</dcterms:created>
  <dcterms:modified xsi:type="dcterms:W3CDTF">2024-07-10T10:09:07Z</dcterms:modified>
</cp:coreProperties>
</file>