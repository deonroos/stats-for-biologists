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79" r:id="rId4"/>
    <p:sldId id="280" r:id="rId5"/>
    <p:sldId id="281" r:id="rId6"/>
    <p:sldId id="282" r:id="rId7"/>
    <p:sldId id="261" r:id="rId8"/>
    <p:sldId id="283" r:id="rId9"/>
    <p:sldId id="284" r:id="rId10"/>
    <p:sldId id="285" r:id="rId11"/>
    <p:sldId id="286" r:id="rId12"/>
    <p:sldId id="287" r:id="rId13"/>
    <p:sldId id="288" r:id="rId14"/>
    <p:sldId id="267" r:id="rId15"/>
    <p:sldId id="289" r:id="rId16"/>
    <p:sldId id="290" r:id="rId17"/>
    <p:sldId id="291" r:id="rId18"/>
    <p:sldId id="272" r:id="rId19"/>
    <p:sldId id="273" r:id="rId20"/>
    <p:sldId id="292" r:id="rId21"/>
    <p:sldId id="274" r:id="rId22"/>
    <p:sldId id="275" r:id="rId23"/>
    <p:sldId id="293" r:id="rId24"/>
    <p:sldId id="294" r:id="rId25"/>
    <p:sldId id="260" r:id="rId26"/>
    <p:sldId id="295" r:id="rId27"/>
    <p:sldId id="262" r:id="rId28"/>
    <p:sldId id="263" r:id="rId29"/>
    <p:sldId id="264" r:id="rId30"/>
    <p:sldId id="265" r:id="rId31"/>
    <p:sldId id="266" r:id="rId32"/>
    <p:sldId id="27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4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93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0796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096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10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91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13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25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980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06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30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BAB7-A431-A252-9ED3-157CA2F76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6E271-5917-5876-2D0B-227FEBC53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84988-D3CE-1301-7E38-6B0FE592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882E2-8489-1084-2906-DB618ADBE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47668-08CA-AE07-85ED-3403E060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600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5C05-6CDD-4464-945C-DD90D592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84A5-5013-4166-BB90-D2F7C2B4A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E56C5-9256-4A58-992A-48CB132A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2DC2B-FEE6-469D-B9B0-5A8256869BC2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38F45-7E76-4D08-B0C2-FC2F84DC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5848-3C61-4995-A4D6-C0459185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CE39-1521-4D94-A9BB-D6B9EC0AF4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5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CC62B-EE64-493C-ACFA-F64AA6808250}" type="datetimeFigureOut">
              <a:rPr lang="en-GB" smtClean="0"/>
              <a:t>04/07/2024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07A69-F761-4E14-9FFA-E0B081D83E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899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intro2r.com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79B7-754E-E104-A267-7A4C935155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visualisations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BEFC0-28A8-CF10-08CC-B9A60646E7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Nosotros</a:t>
            </a:r>
            <a:r>
              <a:rPr lang="en-GB" dirty="0"/>
              <a:t> </a:t>
            </a:r>
            <a:r>
              <a:rPr lang="en-GB" dirty="0" err="1"/>
              <a:t>aprenderemos</a:t>
            </a:r>
            <a:r>
              <a:rPr lang="en-GB" dirty="0"/>
              <a:t> un nuevo </a:t>
            </a:r>
            <a:r>
              <a:rPr lang="en-GB" dirty="0" err="1"/>
              <a:t>iodma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09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86F7-E703-28AD-1400-80F3AD4F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skills to become a good scientist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5169-FCF6-72A0-0BCE-24FBA33A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of importance</a:t>
            </a:r>
          </a:p>
          <a:p>
            <a:pPr lvl="1"/>
            <a:r>
              <a:rPr lang="en-US" dirty="0"/>
              <a:t>Biological/scientific understanding</a:t>
            </a:r>
          </a:p>
          <a:p>
            <a:pPr lvl="1"/>
            <a:r>
              <a:rPr lang="en-US" dirty="0"/>
              <a:t>Statistical understanding</a:t>
            </a:r>
          </a:p>
          <a:p>
            <a:pPr lvl="1"/>
            <a:r>
              <a:rPr lang="en-US" dirty="0"/>
              <a:t>Many other things…</a:t>
            </a:r>
          </a:p>
          <a:p>
            <a:pPr lvl="1"/>
            <a:r>
              <a:rPr lang="en-US" dirty="0"/>
              <a:t>Programming ability</a:t>
            </a:r>
          </a:p>
          <a:p>
            <a:endParaRPr lang="en-GB" dirty="0"/>
          </a:p>
          <a:p>
            <a:r>
              <a:rPr lang="en-GB" sz="2800" dirty="0"/>
              <a:t>Focussing on coding skills, leads to…</a:t>
            </a:r>
          </a:p>
          <a:p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92E7180-9A1E-52CD-005C-780390D9E4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31" t="29360" r="-613" b="41861"/>
          <a:stretch/>
        </p:blipFill>
        <p:spPr>
          <a:xfrm>
            <a:off x="6359525" y="1562100"/>
            <a:ext cx="5832475" cy="1257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385A1-E5C8-D473-0285-327B3C695D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484" t="30756" r="50000" b="20785"/>
          <a:stretch/>
        </p:blipFill>
        <p:spPr>
          <a:xfrm>
            <a:off x="7980629" y="3239875"/>
            <a:ext cx="2257425" cy="317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38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7D5D-75F2-4FC0-AA87-F36C2EC8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Knowing how to program does not mean you understand the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7C68-3C24-4047-9B09-27C771D22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036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 common misconception is;</a:t>
            </a:r>
          </a:p>
          <a:p>
            <a:pPr lvl="1"/>
            <a:r>
              <a:rPr lang="en-GB" dirty="0"/>
              <a:t>“I can code a model in R, therefore I understand the stats”</a:t>
            </a:r>
          </a:p>
          <a:p>
            <a:r>
              <a:rPr lang="en-GB" dirty="0"/>
              <a:t>Can you copy and paste this code?</a:t>
            </a:r>
          </a:p>
          <a:p>
            <a:r>
              <a:rPr lang="en-GB" dirty="0"/>
              <a:t>Congratulations, you’ve just run a generalised additive model, with growth explained by a function of day of year, allowing a maximum of 100 knots, but effectively using 49.72, for the cubic regression spline basis.</a:t>
            </a:r>
          </a:p>
        </p:txBody>
      </p:sp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51433392-351B-4BC6-A2A6-B11E9F2AE918}"/>
              </a:ext>
            </a:extLst>
          </p:cNvPr>
          <p:cNvSpPr/>
          <p:nvPr/>
        </p:nvSpPr>
        <p:spPr>
          <a:xfrm>
            <a:off x="4695902" y="1295188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306F-5D96-4E10-9CB1-F5BCE6B6A8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0" t="44186" r="76417" b="50000"/>
          <a:stretch/>
        </p:blipFill>
        <p:spPr>
          <a:xfrm>
            <a:off x="6258559" y="1825624"/>
            <a:ext cx="5405589" cy="8517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1B8249-C8C3-42C3-8FD4-BDD329D2B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199" y="2781961"/>
            <a:ext cx="4054308" cy="384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3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9BE1FB-BF70-0172-BD92-97BF01D6626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Implementing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understanding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99BE1FB-BF70-0172-BD92-97BF01D66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4286" b="-207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D777-B744-7515-8CAD-2C3CADC6A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common misconception is;</a:t>
            </a:r>
          </a:p>
          <a:p>
            <a:pPr lvl="1"/>
            <a:r>
              <a:rPr lang="en-US" dirty="0"/>
              <a:t>“I can code a model in R, therefore I understand the stats”</a:t>
            </a:r>
          </a:p>
          <a:p>
            <a:r>
              <a:rPr lang="en-US" dirty="0"/>
              <a:t>Can you copy and paste this code?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gam(y ~ s(x2, k = 50), data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method = "REML")</a:t>
            </a:r>
          </a:p>
          <a:p>
            <a:pPr lvl="1"/>
            <a:r>
              <a:rPr lang="en-US" dirty="0"/>
              <a:t>Congratulations, you’ve just run a </a:t>
            </a:r>
            <a:r>
              <a:rPr lang="en-US" dirty="0" err="1"/>
              <a:t>generalised</a:t>
            </a:r>
            <a:r>
              <a:rPr lang="en-US" dirty="0"/>
              <a:t> additive model, with the growth explained by scaled temperature, allowing a maximum of 50 knots, effectively using 9.59, for the thin plate regression spline basis.</a:t>
            </a:r>
          </a:p>
          <a:p>
            <a:endParaRPr lang="en-GB" dirty="0"/>
          </a:p>
        </p:txBody>
      </p:sp>
      <p:pic>
        <p:nvPicPr>
          <p:cNvPr id="14" name="Picture Placeholder 13" descr="A graph of growth rate&#10;&#10;Description automatically generated">
            <a:extLst>
              <a:ext uri="{FF2B5EF4-FFF2-40B4-BE49-F238E27FC236}">
                <a16:creationId xmlns:a16="http://schemas.microsoft.com/office/drawing/2014/main" id="{EDC3D520-D686-37BC-D9D7-A725C2907E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6619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43FE-CBC1-4096-F08A-C4BFB8B8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 of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D196A-4896-9BC6-3FE6-F44A67278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Raw binary code</a:t>
            </a:r>
          </a:p>
          <a:p>
            <a:pPr lvl="1"/>
            <a:r>
              <a:rPr lang="en-US" dirty="0"/>
              <a:t>0001 0110 1011</a:t>
            </a:r>
          </a:p>
          <a:p>
            <a:r>
              <a:rPr lang="en-US" dirty="0"/>
              <a:t>Low level languages</a:t>
            </a:r>
          </a:p>
          <a:p>
            <a:pPr lvl="1"/>
            <a:r>
              <a:rPr lang="en-US" dirty="0"/>
              <a:t>E.g. Assembly</a:t>
            </a:r>
          </a:p>
          <a:p>
            <a:pPr lvl="1"/>
            <a:r>
              <a:rPr lang="en-US" dirty="0"/>
              <a:t>Still coding in “machine” language</a:t>
            </a:r>
          </a:p>
          <a:p>
            <a:pPr lvl="1"/>
            <a:r>
              <a:rPr lang="en-US" dirty="0"/>
              <a:t>Very early symbolic language</a:t>
            </a:r>
          </a:p>
          <a:p>
            <a:pPr lvl="1"/>
            <a:r>
              <a:rPr lang="en-US" dirty="0"/>
              <a:t>Very difficult to code and debug</a:t>
            </a:r>
          </a:p>
          <a:p>
            <a:r>
              <a:rPr lang="en-US" dirty="0"/>
              <a:t>High level languages</a:t>
            </a:r>
          </a:p>
          <a:p>
            <a:pPr lvl="1"/>
            <a:r>
              <a:rPr lang="en-US" dirty="0"/>
              <a:t>E.g. R, C++, Python, Java, etc.</a:t>
            </a:r>
          </a:p>
          <a:p>
            <a:pPr lvl="1"/>
            <a:r>
              <a:rPr lang="en-US" dirty="0"/>
              <a:t>Handle conversion of phrases into raw binary</a:t>
            </a:r>
          </a:p>
          <a:p>
            <a:pPr lvl="1"/>
            <a:r>
              <a:rPr lang="en-US" dirty="0"/>
              <a:t>Conversion is called “compiling”</a:t>
            </a:r>
          </a:p>
          <a:p>
            <a:pPr lvl="1"/>
            <a:r>
              <a:rPr lang="en-US" dirty="0"/>
              <a:t>Code is “readable”, using English word</a:t>
            </a:r>
          </a:p>
          <a:p>
            <a:endParaRPr lang="en-GB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CC38C686-4ADE-178B-9E89-7CF9ADDAD5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4187" b="14187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6" name="Picture 5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DDAFF85A-5745-30D7-4961-6B068FA25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682" y="244984"/>
            <a:ext cx="4032542" cy="6421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48A64A-FF8E-8F9A-4C01-DBB6CDCA8F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34" t="14957" r="51000" b="9458"/>
          <a:stretch/>
        </p:blipFill>
        <p:spPr>
          <a:xfrm>
            <a:off x="6359525" y="1084855"/>
            <a:ext cx="5628640" cy="495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0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958C-9425-F7AC-4A36-16451CAC1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 and 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92D6-68D7-58A9-A620-C537B16BB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so wanted, you could code directly in R via the “console”</a:t>
            </a:r>
          </a:p>
          <a:p>
            <a:pPr lvl="1"/>
            <a:r>
              <a:rPr lang="en-US" dirty="0"/>
              <a:t>Working directly in the console can be fiddly and cause issues</a:t>
            </a:r>
          </a:p>
          <a:p>
            <a:pPr lvl="2"/>
            <a:r>
              <a:rPr lang="en-US" dirty="0"/>
              <a:t>Imagine writing an essay in Word without being able to save</a:t>
            </a:r>
          </a:p>
          <a:p>
            <a:r>
              <a:rPr lang="en-US" dirty="0"/>
              <a:t>R is the programming language</a:t>
            </a:r>
          </a:p>
          <a:p>
            <a:r>
              <a:rPr lang="en-US" dirty="0"/>
              <a:t>RStudio is an IDE</a:t>
            </a:r>
          </a:p>
          <a:p>
            <a:pPr lvl="1"/>
            <a:r>
              <a:rPr lang="en-US" dirty="0"/>
              <a:t>Integrated Developer Environment</a:t>
            </a:r>
          </a:p>
          <a:p>
            <a:pPr lvl="1"/>
            <a:r>
              <a:rPr lang="en-US" dirty="0"/>
              <a:t>An IDE is kind of like the Word equivalent for a given programming language</a:t>
            </a:r>
          </a:p>
          <a:p>
            <a:endParaRPr lang="en-GB" dirty="0"/>
          </a:p>
        </p:txBody>
      </p:sp>
      <p:pic>
        <p:nvPicPr>
          <p:cNvPr id="6" name="Picture 2" descr="RStudio | Open source &amp; professional software for data science teams -  RStudio">
            <a:extLst>
              <a:ext uri="{FF2B5EF4-FFF2-40B4-BE49-F238E27FC236}">
                <a16:creationId xmlns:a16="http://schemas.microsoft.com/office/drawing/2014/main" id="{AAD89D79-6ABB-C654-84E5-FFB956F85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4" y="4377373"/>
            <a:ext cx="3609975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A54E495A-C514-4B63-90FE-06297123AE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7828235" y="1426613"/>
            <a:ext cx="2713742" cy="216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8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B7760AF7-843D-4BEF-B839-C6734DB9762E}"/>
              </a:ext>
            </a:extLst>
          </p:cNvPr>
          <p:cNvSpPr/>
          <p:nvPr/>
        </p:nvSpPr>
        <p:spPr>
          <a:xfrm>
            <a:off x="4695902" y="1132628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3B4485F5-6743-4C06-BEA1-94539A265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0046"/>
            <a:ext cx="12192000" cy="655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FFB3E7-B197-4570-B612-B3AD6591AB99}"/>
              </a:ext>
            </a:extLst>
          </p:cNvPr>
          <p:cNvSpPr txBox="1"/>
          <p:nvPr/>
        </p:nvSpPr>
        <p:spPr>
          <a:xfrm>
            <a:off x="1924813" y="2249363"/>
            <a:ext cx="2673809" cy="95410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The script editor;</a:t>
            </a:r>
          </a:p>
          <a:p>
            <a:pPr algn="ctr"/>
            <a:r>
              <a:rPr lang="en-GB" sz="2800" dirty="0"/>
              <a:t>e.g. Word for 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6C9AC-BF15-47AB-BDB1-F4791F803056}"/>
              </a:ext>
            </a:extLst>
          </p:cNvPr>
          <p:cNvSpPr/>
          <p:nvPr/>
        </p:nvSpPr>
        <p:spPr>
          <a:xfrm>
            <a:off x="0" y="685800"/>
            <a:ext cx="6299200" cy="3777554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0CB3-3D21-4851-9DAD-D95BCC0132D0}"/>
              </a:ext>
            </a:extLst>
          </p:cNvPr>
          <p:cNvSpPr txBox="1"/>
          <p:nvPr/>
        </p:nvSpPr>
        <p:spPr>
          <a:xfrm>
            <a:off x="1060276" y="5121372"/>
            <a:ext cx="4235198" cy="954107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The console;</a:t>
            </a:r>
          </a:p>
          <a:p>
            <a:pPr algn="ctr"/>
            <a:r>
              <a:rPr lang="en-GB" sz="2800" dirty="0"/>
              <a:t>e.g. Word without “save as”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B2AE72-EEE6-49DC-BC9E-26B7E69A2790}"/>
              </a:ext>
            </a:extLst>
          </p:cNvPr>
          <p:cNvSpPr/>
          <p:nvPr/>
        </p:nvSpPr>
        <p:spPr>
          <a:xfrm>
            <a:off x="-1" y="4463354"/>
            <a:ext cx="6299201" cy="211428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173AA-DA87-45C6-82F6-AB4DFF2681A8}"/>
              </a:ext>
            </a:extLst>
          </p:cNvPr>
          <p:cNvSpPr txBox="1"/>
          <p:nvPr/>
        </p:nvSpPr>
        <p:spPr>
          <a:xfrm>
            <a:off x="7662878" y="1132628"/>
            <a:ext cx="3407216" cy="138499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Objects in environment,</a:t>
            </a:r>
          </a:p>
          <a:p>
            <a:pPr algn="ctr"/>
            <a:r>
              <a:rPr lang="en-GB" sz="2800" dirty="0"/>
              <a:t>e.g. stored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BF4A83-7044-4BEC-8143-58B8CD8B3A97}"/>
              </a:ext>
            </a:extLst>
          </p:cNvPr>
          <p:cNvSpPr/>
          <p:nvPr/>
        </p:nvSpPr>
        <p:spPr>
          <a:xfrm>
            <a:off x="6504003" y="681036"/>
            <a:ext cx="5611797" cy="2372068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27B690-7993-4906-ACC9-5D7B117F34B2}"/>
              </a:ext>
            </a:extLst>
          </p:cNvPr>
          <p:cNvSpPr txBox="1"/>
          <p:nvPr/>
        </p:nvSpPr>
        <p:spPr>
          <a:xfrm>
            <a:off x="7781737" y="4150216"/>
            <a:ext cx="3407216" cy="138499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Preview area,</a:t>
            </a:r>
          </a:p>
          <a:p>
            <a:pPr algn="ctr"/>
            <a:r>
              <a:rPr lang="en-GB" sz="2800" dirty="0"/>
              <a:t>e.g. see plots, animations, etc.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8DFB49-F593-4034-9A29-C78BE9FB75BB}"/>
              </a:ext>
            </a:extLst>
          </p:cNvPr>
          <p:cNvSpPr/>
          <p:nvPr/>
        </p:nvSpPr>
        <p:spPr>
          <a:xfrm>
            <a:off x="6504003" y="3053103"/>
            <a:ext cx="5611797" cy="3524537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9B19B8-37D6-4E0F-B080-71F0C2D1E036}"/>
              </a:ext>
            </a:extLst>
          </p:cNvPr>
          <p:cNvGrpSpPr/>
          <p:nvPr/>
        </p:nvGrpSpPr>
        <p:grpSpPr>
          <a:xfrm>
            <a:off x="3554581" y="947912"/>
            <a:ext cx="2971344" cy="1073853"/>
            <a:chOff x="3554581" y="947912"/>
            <a:chExt cx="2971344" cy="107385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F28A7-6FAB-480F-8C80-9D2A46AF70C9}"/>
                </a:ext>
              </a:extLst>
            </p:cNvPr>
            <p:cNvSpPr txBox="1"/>
            <p:nvPr/>
          </p:nvSpPr>
          <p:spPr>
            <a:xfrm>
              <a:off x="3554581" y="1283101"/>
              <a:ext cx="2971344" cy="73866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To run code, either press Run button, or press Ctrl + Enter (Or </a:t>
              </a:r>
              <a:r>
                <a:rPr lang="en-GB" sz="1400" dirty="0" err="1"/>
                <a:t>Cmd</a:t>
              </a:r>
              <a:r>
                <a:rPr lang="en-GB" sz="1400" dirty="0"/>
                <a:t> + Enter on Mac)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95B3CA-538E-48F0-844E-74FDAF906B05}"/>
                </a:ext>
              </a:extLst>
            </p:cNvPr>
            <p:cNvSpPr/>
            <p:nvPr/>
          </p:nvSpPr>
          <p:spPr>
            <a:xfrm>
              <a:off x="4802388" y="947912"/>
              <a:ext cx="475731" cy="184716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FCF9F74-AA32-4502-8203-E800632A9619}"/>
                </a:ext>
              </a:extLst>
            </p:cNvPr>
            <p:cNvCxnSpPr>
              <a:cxnSpLocks/>
              <a:stCxn id="16" idx="0"/>
              <a:endCxn id="17" idx="2"/>
            </p:cNvCxnSpPr>
            <p:nvPr/>
          </p:nvCxnSpPr>
          <p:spPr>
            <a:xfrm flipV="1">
              <a:off x="5040253" y="1132628"/>
              <a:ext cx="1" cy="150473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758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E851-609E-F67F-ECD8-B3EACAB8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 is a fancy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7EAA6-1A03-E027-86AD-AEC3C71A9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We can do very simple maths using R</a:t>
            </a:r>
          </a:p>
          <a:p>
            <a:r>
              <a:rPr lang="en-GB" dirty="0"/>
              <a:t>For example, 20 + 30 = ?</a:t>
            </a:r>
          </a:p>
          <a:p>
            <a:r>
              <a:rPr lang="en-GB" dirty="0"/>
              <a:t>In the R console, we can code this as;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20 + 30</a:t>
            </a:r>
          </a:p>
          <a:p>
            <a:pPr lvl="1"/>
            <a:r>
              <a:rPr lang="en-GB" dirty="0"/>
              <a:t>The “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dirty="0"/>
              <a:t>” is a console prompt</a:t>
            </a:r>
          </a:p>
          <a:p>
            <a:pPr lvl="2"/>
            <a:r>
              <a:rPr lang="en-GB" dirty="0"/>
              <a:t>i.e. “I am ready for code”</a:t>
            </a:r>
          </a:p>
          <a:p>
            <a:pPr lvl="1"/>
            <a:r>
              <a:rPr lang="en-GB" dirty="0"/>
              <a:t>If we run the code (i.e. hit “Enter”)</a:t>
            </a:r>
          </a:p>
          <a:p>
            <a:r>
              <a:rPr lang="en-GB" dirty="0"/>
              <a:t>R returns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50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  <a:r>
              <a:rPr lang="en-GB" dirty="0"/>
              <a:t> means that this is the first value</a:t>
            </a:r>
          </a:p>
          <a:p>
            <a:pPr lvl="2"/>
            <a:r>
              <a:rPr lang="en-GB" dirty="0"/>
              <a:t>And in this case, the only value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GB" dirty="0"/>
              <a:t> is the solution to 20 + 30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C58A0-AEED-4F72-AD58-A8AB30E685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" t="46667" r="93125" b="48826"/>
          <a:stretch/>
        </p:blipFill>
        <p:spPr>
          <a:xfrm>
            <a:off x="7681937" y="2814770"/>
            <a:ext cx="3053471" cy="122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55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71C7-A635-38F4-C688-74312AE0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5C1A04-D678-078F-5DA4-CB56CBFA2F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dirty="0"/>
                  <a:t>The Lincoln-Peterson Estimator is an equation to estimate the population size</a:t>
                </a:r>
              </a:p>
              <a:p>
                <a:r>
                  <a:rPr lang="en-GB" dirty="0"/>
                  <a:t>Relies on catching, marking, releasing, then trying to recapture animals</a:t>
                </a:r>
              </a:p>
              <a:p>
                <a:r>
                  <a:rPr lang="en-GB" dirty="0"/>
                  <a:t>The equation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200" dirty="0"/>
                  <a:t> is the total number of animals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2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marked animals caught on day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5C1A04-D678-078F-5DA4-CB56CBFA2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75" t="-581" r="-1868" b="-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picture containing building, outdoor, mammal, house&#10;&#10;Description automatically generated">
            <a:extLst>
              <a:ext uri="{FF2B5EF4-FFF2-40B4-BE49-F238E27FC236}">
                <a16:creationId xmlns:a16="http://schemas.microsoft.com/office/drawing/2014/main" id="{C272BF81-1E08-4640-B166-A07C787933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2" r="44968"/>
          <a:stretch/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3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0CFE-B4E3-FEA5-A764-A08EC269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7E01E4-5ADC-8ED8-C01D-50AC2F4F20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462346" cy="5240194"/>
              </a:xfrm>
            </p:spPr>
            <p:txBody>
              <a:bodyPr/>
              <a:lstStyle/>
              <a:p>
                <a:r>
                  <a:rPr lang="en-GB" dirty="0"/>
                  <a:t>On day 1 we catch and mark 20 crested newts</a:t>
                </a:r>
              </a:p>
              <a:p>
                <a:r>
                  <a:rPr lang="en-GB" dirty="0"/>
                  <a:t>On day 2, we catch 30 crested newts</a:t>
                </a:r>
              </a:p>
              <a:p>
                <a:r>
                  <a:rPr lang="en-GB" dirty="0"/>
                  <a:t>Of which 10 have marks we put on yesterday</a:t>
                </a:r>
              </a:p>
              <a:p>
                <a:r>
                  <a:rPr lang="en-GB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200" dirty="0"/>
                  <a:t> is the total number of animals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animals caught on day 2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/>
                  <a:t> is the number of marked animals caught on day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7E01E4-5ADC-8ED8-C01D-50AC2F4F2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462346" cy="5240194"/>
              </a:xfrm>
              <a:blipFill>
                <a:blip r:embed="rId2"/>
                <a:stretch>
                  <a:fillRect l="-1698" r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09000B6-C1A2-8850-52C8-F15E5F098D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0662" y="0"/>
                <a:ext cx="4261338" cy="6858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dirty="0"/>
                  <a:t>In math jargon: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 R:</a:t>
                </a:r>
              </a:p>
              <a:p>
                <a:pPr marL="0" indent="0">
                  <a:buNone/>
                </a:pP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&gt; 20 * 30 / 10</a:t>
                </a:r>
              </a:p>
              <a:p>
                <a:pPr marL="0" indent="0">
                  <a:buNone/>
                </a:pP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[1] 60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09000B6-C1A2-8850-52C8-F15E5F098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662" y="0"/>
                <a:ext cx="4261338" cy="6858000"/>
              </a:xfrm>
              <a:prstGeom prst="rect">
                <a:avLst/>
              </a:prstGeom>
              <a:blipFill>
                <a:blip r:embed="rId3"/>
                <a:stretch>
                  <a:fillRect l="-30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192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B12A-0F17-2EBA-A4A3-07D0487FF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C36FC-86A4-ADBC-E563-F850FA3B5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Quite often, you can make your life easier by storing values for later use</a:t>
            </a:r>
          </a:p>
          <a:p>
            <a:r>
              <a:rPr lang="en-GB" dirty="0"/>
              <a:t>We store values (or datasets) as an “object”</a:t>
            </a:r>
          </a:p>
          <a:p>
            <a:r>
              <a:rPr lang="en-GB" dirty="0"/>
              <a:t>You’ll see them appear in your “Environment”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268D2E-0CE4-42E7-97FC-3108B0F3C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89" y="2948915"/>
            <a:ext cx="3478457" cy="329892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039900-5F80-F5FD-363F-32B9EDC84DA0}"/>
              </a:ext>
            </a:extLst>
          </p:cNvPr>
          <p:cNvSpPr txBox="1">
            <a:spLocks/>
          </p:cNvSpPr>
          <p:nvPr/>
        </p:nvSpPr>
        <p:spPr>
          <a:xfrm>
            <a:off x="7327289" y="662781"/>
            <a:ext cx="3672041" cy="21804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n1 &lt;- 20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n2 &lt;- 30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m2 &lt;- 10</a:t>
            </a:r>
          </a:p>
        </p:txBody>
      </p:sp>
    </p:spTree>
    <p:extLst>
      <p:ext uri="{BB962C8B-B14F-4D97-AF65-F5344CB8AC3E}">
        <p14:creationId xmlns:p14="http://schemas.microsoft.com/office/powerpoint/2010/main" val="228455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C1C6-6B46-E5EC-AFE4-33D05B70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stored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CD0BF-66C3-7372-C328-750AFF4D9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Now that we have these values stored</a:t>
            </a:r>
          </a:p>
          <a:p>
            <a:r>
              <a:rPr lang="en-GB" dirty="0"/>
              <a:t>We can use them whenever we like</a:t>
            </a:r>
          </a:p>
          <a:p>
            <a:r>
              <a:rPr lang="en-GB" dirty="0"/>
              <a:t>We can even store the output if we wanted to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17A936-89B2-2053-F0B5-23D80AB1BB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120" y="4026878"/>
            <a:ext cx="4899880" cy="2639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n1 * n2 / m2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60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 &lt;- n1 * n2 / m2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 N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60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E8C91-0EBE-F6F3-F5C3-C53D0F858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889" y="539822"/>
            <a:ext cx="3478457" cy="329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7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DBFF-5FA8-2D73-AFE8-1B3265C8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180E-BEB8-7F3B-4F2F-165B78CCF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At this point, we can do anything we want in R</a:t>
            </a:r>
          </a:p>
          <a:p>
            <a:r>
              <a:rPr lang="en-GB" dirty="0"/>
              <a:t>But doing so would require us to code every single part of the process</a:t>
            </a:r>
          </a:p>
          <a:p>
            <a:pPr lvl="1"/>
            <a:r>
              <a:rPr lang="en-GB" b="1" i="1" dirty="0"/>
              <a:t>Every. Single. Part</a:t>
            </a:r>
            <a:r>
              <a:rPr lang="en-GB" dirty="0"/>
              <a:t>…</a:t>
            </a:r>
            <a:endParaRPr lang="en-GB" sz="2400" dirty="0"/>
          </a:p>
          <a:p>
            <a:r>
              <a:rPr lang="en-GB" dirty="0"/>
              <a:t>An easier option is to use a “function”</a:t>
            </a:r>
          </a:p>
          <a:p>
            <a:r>
              <a:rPr lang="en-GB" dirty="0"/>
              <a:t>Functions are blocks of </a:t>
            </a:r>
            <a:r>
              <a:rPr lang="en-GB" b="1" i="1" dirty="0"/>
              <a:t>organised</a:t>
            </a:r>
            <a:r>
              <a:rPr lang="en-GB" dirty="0"/>
              <a:t>, </a:t>
            </a:r>
            <a:r>
              <a:rPr lang="en-GB" b="1" i="1" dirty="0"/>
              <a:t>reusable code </a:t>
            </a:r>
            <a:r>
              <a:rPr lang="en-GB" dirty="0"/>
              <a:t>(often written by someone else) that </a:t>
            </a:r>
            <a:r>
              <a:rPr lang="en-GB" b="1" i="1" dirty="0"/>
              <a:t>performs a specific action</a:t>
            </a:r>
          </a:p>
          <a:p>
            <a:pPr lvl="1"/>
            <a:r>
              <a:rPr lang="en-GB" dirty="0"/>
              <a:t>E.g.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logLik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(thing)</a:t>
            </a:r>
            <a:r>
              <a:rPr lang="en-GB" dirty="0">
                <a:cs typeface="Courier New" panose="02070309020205020404" pitchFamily="49" charset="0"/>
              </a:rPr>
              <a:t>calculates the log likelihood of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thing</a:t>
            </a:r>
            <a:endParaRPr lang="en-GB" dirty="0"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icture Placeholder 3">
                <a:extLst>
                  <a:ext uri="{FF2B5EF4-FFF2-40B4-BE49-F238E27FC236}">
                    <a16:creationId xmlns:a16="http://schemas.microsoft.com/office/drawing/2014/main" id="{8A36D213-5272-F2AD-9ECD-0246F7EBB522}"/>
                  </a:ext>
                </a:extLst>
              </p:cNvPr>
              <p:cNvSpPr>
                <a:spLocks noGrp="1"/>
              </p:cNvSpPr>
              <p:nvPr>
                <p:ph type="pic" sz="quarter" idx="10"/>
              </p:nvPr>
            </p:nvSpPr>
            <p:spPr>
              <a:xfrm>
                <a:off x="6359525" y="2892668"/>
                <a:ext cx="5832475" cy="396533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e>
                      </m:d>
                      <m:r>
                        <a:rPr lang="en-GB" sz="280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nary>
                        <m:naryPr>
                          <m:chr m:val="∏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𝐶𝐻</m:t>
                          </m:r>
                        </m:sub>
                        <m:sup/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Picture Placeholder 3">
                <a:extLst>
                  <a:ext uri="{FF2B5EF4-FFF2-40B4-BE49-F238E27FC236}">
                    <a16:creationId xmlns:a16="http://schemas.microsoft.com/office/drawing/2014/main" id="{8A36D213-5272-F2AD-9ECD-0246F7EBB5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0"/>
              </p:nvPr>
            </p:nvSpPr>
            <p:spPr>
              <a:xfrm>
                <a:off x="6359525" y="2892668"/>
                <a:ext cx="5832475" cy="396533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38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DF38-1829-4A28-8585-32923D5BC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Anatomy of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1BAC-84E3-4274-8391-8CFB48545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A function has two main components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b="1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a_function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argument1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…)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D20B95-B618-437D-9822-E5EEF3CEF86C}"/>
              </a:ext>
            </a:extLst>
          </p:cNvPr>
          <p:cNvGrpSpPr/>
          <p:nvPr/>
        </p:nvGrpSpPr>
        <p:grpSpPr>
          <a:xfrm>
            <a:off x="1525610" y="3275860"/>
            <a:ext cx="3908036" cy="2255007"/>
            <a:chOff x="1525610" y="3275860"/>
            <a:chExt cx="3908036" cy="225500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4DDCD3-506A-43B9-AF0C-BAE08B4BEEEE}"/>
                </a:ext>
              </a:extLst>
            </p:cNvPr>
            <p:cNvSpPr txBox="1"/>
            <p:nvPr/>
          </p:nvSpPr>
          <p:spPr>
            <a:xfrm>
              <a:off x="1525610" y="4145872"/>
              <a:ext cx="3908036" cy="1384995"/>
            </a:xfrm>
            <a:prstGeom prst="rect">
              <a:avLst/>
            </a:prstGeom>
            <a:noFill/>
            <a:ln w="28575">
              <a:solidFill>
                <a:schemeClr val="bg2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The name of the function we want to use, always follow by ()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CC52D4C-4902-4C1A-AC18-8E57F4A1E3AB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 flipH="1">
              <a:off x="3479628" y="3275860"/>
              <a:ext cx="1092372" cy="870012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37C1C1-313B-4396-B10E-0E2F5089B6D6}"/>
              </a:ext>
            </a:extLst>
          </p:cNvPr>
          <p:cNvGrpSpPr/>
          <p:nvPr/>
        </p:nvGrpSpPr>
        <p:grpSpPr>
          <a:xfrm>
            <a:off x="5797249" y="3275860"/>
            <a:ext cx="3685582" cy="2255007"/>
            <a:chOff x="5797249" y="3275860"/>
            <a:chExt cx="3685582" cy="22550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0DD32A-71FF-4ADA-A66D-38C2C5F3D5CE}"/>
                </a:ext>
              </a:extLst>
            </p:cNvPr>
            <p:cNvSpPr txBox="1"/>
            <p:nvPr/>
          </p:nvSpPr>
          <p:spPr>
            <a:xfrm>
              <a:off x="5797249" y="4145872"/>
              <a:ext cx="3685582" cy="1384995"/>
            </a:xfrm>
            <a:prstGeom prst="rect">
              <a:avLst/>
            </a:prstGeom>
            <a:noFill/>
            <a:ln w="28575">
              <a:solidFill>
                <a:schemeClr val="accent6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The information (or argument[s]) required for a function to work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0A710BE-79FE-4CF3-9DC3-2FF12061510A}"/>
                </a:ext>
              </a:extLst>
            </p:cNvPr>
            <p:cNvCxnSpPr>
              <a:endCxn id="8" idx="0"/>
            </p:cNvCxnSpPr>
            <p:nvPr/>
          </p:nvCxnSpPr>
          <p:spPr>
            <a:xfrm>
              <a:off x="6835806" y="3275860"/>
              <a:ext cx="804234" cy="870012"/>
            </a:xfrm>
            <a:prstGeom prst="straightConnector1">
              <a:avLst/>
            </a:prstGeom>
            <a:ln w="28575">
              <a:solidFill>
                <a:schemeClr val="accent6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A356B6-11C5-4A17-A5E0-EF4C5AB3EB86}"/>
              </a:ext>
            </a:extLst>
          </p:cNvPr>
          <p:cNvGrpSpPr/>
          <p:nvPr/>
        </p:nvGrpSpPr>
        <p:grpSpPr>
          <a:xfrm>
            <a:off x="7974623" y="1613118"/>
            <a:ext cx="4089387" cy="1815882"/>
            <a:chOff x="7939453" y="2107843"/>
            <a:chExt cx="4089387" cy="181588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685308-BB09-4E69-A93E-15BDB928A634}"/>
                </a:ext>
              </a:extLst>
            </p:cNvPr>
            <p:cNvSpPr txBox="1"/>
            <p:nvPr/>
          </p:nvSpPr>
          <p:spPr>
            <a:xfrm>
              <a:off x="9264654" y="2107843"/>
              <a:ext cx="2764186" cy="181588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dirty="0"/>
                <a:t>Multiple arguments are distinguished with “,”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2A98DFF-5A00-481A-A903-E9FD78800084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7939453" y="3015784"/>
              <a:ext cx="1325201" cy="5650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Google Shape;57;p13">
            <a:extLst>
              <a:ext uri="{FF2B5EF4-FFF2-40B4-BE49-F238E27FC236}">
                <a16:creationId xmlns:a16="http://schemas.microsoft.com/office/drawing/2014/main" id="{B70B7BA8-F528-4807-BE50-FC25C85B5D4C}"/>
              </a:ext>
            </a:extLst>
          </p:cNvPr>
          <p:cNvSpPr/>
          <p:nvPr/>
        </p:nvSpPr>
        <p:spPr>
          <a:xfrm>
            <a:off x="4695902" y="1132628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9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73D5-D02D-B808-11A1-3CC0C46F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Lincoln-Petersen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9B220-00FB-D23F-6978-2EC7CA6FD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my home made function</a:t>
            </a:r>
          </a:p>
          <a:p>
            <a:r>
              <a:rPr lang="en-GB" dirty="0"/>
              <a:t>It runs the Lincoln-Petersen Estimator</a:t>
            </a:r>
          </a:p>
          <a:p>
            <a:r>
              <a:rPr lang="en-GB" dirty="0"/>
              <a:t>And returns, to the user, the estimated population size</a:t>
            </a:r>
          </a:p>
          <a:p>
            <a:r>
              <a:rPr lang="en-GB" dirty="0"/>
              <a:t>I, the creator of the function, decided to call my arguments (i.e. the bits of information my function needs)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info1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info2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info3</a:t>
            </a:r>
            <a:r>
              <a:rPr lang="en-GB" dirty="0"/>
              <a:t>.</a:t>
            </a:r>
          </a:p>
          <a:p>
            <a:r>
              <a:rPr lang="en-GB" dirty="0"/>
              <a:t>Because we already had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n1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n2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m2</a:t>
            </a:r>
            <a:r>
              <a:rPr lang="en-GB" dirty="0"/>
              <a:t> stored as objects, we can just pass them to the function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3A521A-CD9B-41FB-0F03-175E391DA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295" y="2838405"/>
            <a:ext cx="5990705" cy="1724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D5A3C6-76A3-3D19-0902-97EC33713011}"/>
                  </a:ext>
                </a:extLst>
              </p:cNvPr>
              <p:cNvSpPr txBox="1"/>
              <p:nvPr/>
            </p:nvSpPr>
            <p:spPr>
              <a:xfrm>
                <a:off x="7595088" y="1557802"/>
                <a:ext cx="2779835" cy="1048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D5A3C6-76A3-3D19-0902-97EC33713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088" y="1557802"/>
                <a:ext cx="2779835" cy="1048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08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53E6-5045-3F7B-58FD-86005373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C9E1D-59C5-3F6E-371F-4B040CD0F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Say we had five values (1, 5, 8, 2, 4) which we want stored as a column of data</a:t>
            </a:r>
          </a:p>
          <a:p>
            <a:r>
              <a:rPr lang="en-GB" dirty="0"/>
              <a:t>This is, conceptually, a very trivial task, but to code it by hand is surprisingly complicated</a:t>
            </a:r>
          </a:p>
          <a:p>
            <a:r>
              <a:rPr lang="en-GB" dirty="0"/>
              <a:t>So instead, we can use a function to keep the task simple</a:t>
            </a:r>
          </a:p>
          <a:p>
            <a:r>
              <a:rPr lang="en-GB" dirty="0"/>
              <a:t>The function is called concatenate in English,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</a:t>
            </a:r>
            <a:r>
              <a:rPr lang="en-GB" dirty="0"/>
              <a:t> in  R</a:t>
            </a:r>
          </a:p>
          <a:p>
            <a:pPr lvl="1"/>
            <a:r>
              <a:rPr lang="en-GB" sz="1600" dirty="0"/>
              <a:t>([1] refers to the index, R indexes from 1, not 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ABEFA-B3B6-2F10-AF1C-65B4202DA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047" r="83291" b="39316"/>
          <a:stretch/>
        </p:blipFill>
        <p:spPr>
          <a:xfrm>
            <a:off x="8121244" y="1648138"/>
            <a:ext cx="2076052" cy="25242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04EF2-A9E3-E187-524D-A323F64957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4" t="39535" r="82247" b="53400"/>
          <a:stretch/>
        </p:blipFill>
        <p:spPr>
          <a:xfrm>
            <a:off x="6447052" y="4399809"/>
            <a:ext cx="563364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0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025C-5C54-5FAF-79E7-C054A183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reason why people started using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101FF-92BC-194A-B19A-18B9339B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Say we wanted to add 3 to each value in our column of data</a:t>
            </a:r>
          </a:p>
          <a:p>
            <a:r>
              <a:rPr lang="en-GB" dirty="0"/>
              <a:t>In most other languages, this would require some “heavy” coding</a:t>
            </a:r>
          </a:p>
          <a:p>
            <a:pPr lvl="1"/>
            <a:r>
              <a:rPr lang="en-GB" dirty="0"/>
              <a:t>Via something called </a:t>
            </a:r>
            <a:r>
              <a:rPr lang="en-GB" i="1" dirty="0"/>
              <a:t>for loops</a:t>
            </a:r>
            <a:r>
              <a:rPr lang="en-GB" dirty="0"/>
              <a:t> </a:t>
            </a:r>
          </a:p>
          <a:p>
            <a:r>
              <a:rPr lang="en-GB" dirty="0"/>
              <a:t>R is sometimes referred to as a </a:t>
            </a:r>
            <a:r>
              <a:rPr lang="en-GB" i="1" dirty="0"/>
              <a:t>vectorised</a:t>
            </a:r>
            <a:r>
              <a:rPr lang="en-GB" dirty="0"/>
              <a:t> language</a:t>
            </a:r>
          </a:p>
          <a:p>
            <a:pPr lvl="1"/>
            <a:r>
              <a:rPr lang="en-GB" dirty="0"/>
              <a:t>This means that we can use a whole column of data when doing maths/stats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600" dirty="0"/>
              <a:t>(Nowadays, people use R cause everyone else uses 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C0A26-5DA1-5B82-45C5-AF19AD6D81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4" t="36356" r="76835" b="43416"/>
          <a:stretch/>
        </p:blipFill>
        <p:spPr>
          <a:xfrm>
            <a:off x="6346008" y="1709878"/>
            <a:ext cx="5007792" cy="252645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7BBD43-D307-3711-92A7-7141635C48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9" t="58081" r="78259" b="33971"/>
          <a:stretch/>
        </p:blipFill>
        <p:spPr>
          <a:xfrm>
            <a:off x="6346008" y="4791919"/>
            <a:ext cx="5314320" cy="1122744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280757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74D7-0A4F-49E7-B47A-B6E6AF66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Common R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34641-4F8A-4C03-AAB2-B6C8D5EF4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7567" cy="4351338"/>
          </a:xfrm>
        </p:spPr>
        <p:txBody>
          <a:bodyPr/>
          <a:lstStyle/>
          <a:p>
            <a:r>
              <a:rPr lang="en-GB" dirty="0"/>
              <a:t>Using wrong argument name</a:t>
            </a:r>
          </a:p>
          <a:p>
            <a:pPr lvl="1"/>
            <a:r>
              <a:rPr lang="en-GB" dirty="0"/>
              <a:t>E.g., there is no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GB" dirty="0"/>
              <a:t> argument</a:t>
            </a:r>
          </a:p>
          <a:p>
            <a:endParaRPr lang="en-GB" dirty="0"/>
          </a:p>
          <a:p>
            <a:r>
              <a:rPr lang="en-GB" dirty="0"/>
              <a:t>Typos</a:t>
            </a:r>
          </a:p>
          <a:p>
            <a:pPr lvl="1"/>
            <a:r>
              <a:rPr lang="en-GB" dirty="0"/>
              <a:t>E.g., extra commas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E.g. typo in function name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E.g. not closing brackets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41737-19D1-4D24-98DA-7801F896CC54}"/>
              </a:ext>
            </a:extLst>
          </p:cNvPr>
          <p:cNvSpPr txBox="1"/>
          <p:nvPr/>
        </p:nvSpPr>
        <p:spPr>
          <a:xfrm>
            <a:off x="1425277" y="6042859"/>
            <a:ext cx="959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If you get a warning you do not understand, paste it into Google!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C09798-26F5-0C2E-048B-03E2D61E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662" y="2090062"/>
            <a:ext cx="6026539" cy="746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815989-9B38-3676-4D0F-905CA7437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661" y="3203921"/>
            <a:ext cx="6026539" cy="758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9754D2-D7B7-4F0B-561F-ECEC9369D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661" y="4281390"/>
            <a:ext cx="6069465" cy="7468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0CCFC7-9075-7701-05E1-A4A665A1D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661" y="5347211"/>
            <a:ext cx="536257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6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6362-B87B-4708-B6E4-06BCFA88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Getting more functions into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57F8-F663-489A-B9F9-5B5ACC498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5603240" cy="500888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base version of R has many functions</a:t>
            </a:r>
          </a:p>
          <a:p>
            <a:r>
              <a:rPr lang="en-GB" dirty="0"/>
              <a:t>But these are general purpose functions</a:t>
            </a:r>
          </a:p>
          <a:p>
            <a:pPr lvl="1"/>
            <a:r>
              <a:rPr lang="en-GB" dirty="0"/>
              <a:t>E.g. mean()</a:t>
            </a:r>
          </a:p>
          <a:p>
            <a:r>
              <a:rPr lang="en-GB" dirty="0"/>
              <a:t>In many cases we want to do some niche/specialised analysis, requiring specialised functions</a:t>
            </a:r>
          </a:p>
          <a:p>
            <a:r>
              <a:rPr lang="en-GB" dirty="0"/>
              <a:t>This is the big benefit of R</a:t>
            </a:r>
          </a:p>
          <a:p>
            <a:pPr lvl="1"/>
            <a:r>
              <a:rPr lang="en-GB" dirty="0"/>
              <a:t>Open source, so lots of people contribute to the software</a:t>
            </a:r>
          </a:p>
          <a:p>
            <a:r>
              <a:rPr lang="en-GB" dirty="0"/>
              <a:t>To get additional functions, we need to install a “package”</a:t>
            </a:r>
          </a:p>
          <a:p>
            <a:pPr lvl="1"/>
            <a:r>
              <a:rPr lang="en-GB" dirty="0"/>
              <a:t>“Package” because it is a package of functions</a:t>
            </a:r>
          </a:p>
        </p:txBody>
      </p:sp>
      <p:pic>
        <p:nvPicPr>
          <p:cNvPr id="5" name="Picture 4" descr="A group of cardboard boxes&#10;&#10;Description automatically generated with low confidence">
            <a:extLst>
              <a:ext uri="{FF2B5EF4-FFF2-40B4-BE49-F238E27FC236}">
                <a16:creationId xmlns:a16="http://schemas.microsoft.com/office/drawing/2014/main" id="{96D268F5-2B57-4A9B-BFA2-21DB43109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740" y="2105501"/>
            <a:ext cx="5143500" cy="3429000"/>
          </a:xfrm>
          <a:prstGeom prst="rect">
            <a:avLst/>
          </a:prstGeom>
        </p:spPr>
      </p:pic>
      <p:sp>
        <p:nvSpPr>
          <p:cNvPr id="6" name="Google Shape;57;p13">
            <a:extLst>
              <a:ext uri="{FF2B5EF4-FFF2-40B4-BE49-F238E27FC236}">
                <a16:creationId xmlns:a16="http://schemas.microsoft.com/office/drawing/2014/main" id="{FF7D8300-5D3E-4C52-82A0-8F05FBB41F93}"/>
              </a:ext>
            </a:extLst>
          </p:cNvPr>
          <p:cNvSpPr/>
          <p:nvPr/>
        </p:nvSpPr>
        <p:spPr>
          <a:xfrm>
            <a:off x="4695902" y="1132628"/>
            <a:ext cx="2622625" cy="105225"/>
          </a:xfrm>
          <a:custGeom>
            <a:avLst/>
            <a:gdLst/>
            <a:ahLst/>
            <a:cxnLst/>
            <a:rect l="l" t="t" r="r" b="b"/>
            <a:pathLst>
              <a:path w="104905" h="4209" extrusionOk="0">
                <a:moveTo>
                  <a:pt x="0" y="2010"/>
                </a:moveTo>
                <a:cubicBezTo>
                  <a:pt x="34411" y="-4246"/>
                  <a:pt x="71725" y="11060"/>
                  <a:pt x="104905" y="0"/>
                </a:cubicBezTo>
              </a:path>
            </a:pathLst>
          </a:custGeom>
          <a:noFill/>
          <a:ln w="19050" cap="flat" cmpd="sng">
            <a:solidFill>
              <a:srgbClr val="4C113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62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7FB2-B860-8514-6C52-C922A1C6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more functions into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5D15-75CB-3CDD-5625-621C42F55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base version of R has many functions</a:t>
            </a:r>
          </a:p>
          <a:p>
            <a:r>
              <a:rPr lang="en-GB" dirty="0"/>
              <a:t>But these are general purpose functions</a:t>
            </a:r>
          </a:p>
          <a:p>
            <a:pPr lvl="1"/>
            <a:r>
              <a:rPr lang="en-GB" dirty="0"/>
              <a:t>E.g. mean()</a:t>
            </a:r>
          </a:p>
          <a:p>
            <a:r>
              <a:rPr lang="en-GB" dirty="0"/>
              <a:t>In many cases we want to do some niche/specialised analysis, requiring specialised functions</a:t>
            </a:r>
          </a:p>
          <a:p>
            <a:r>
              <a:rPr lang="en-GB" dirty="0"/>
              <a:t>This is the big benefit of R</a:t>
            </a:r>
          </a:p>
          <a:p>
            <a:pPr lvl="1"/>
            <a:r>
              <a:rPr lang="en-GB" dirty="0"/>
              <a:t>Open source, so lots of people contribute to the software</a:t>
            </a:r>
          </a:p>
          <a:p>
            <a:r>
              <a:rPr lang="en-GB" dirty="0"/>
              <a:t>To get additional functions, we need to install a “package”</a:t>
            </a:r>
          </a:p>
          <a:p>
            <a:pPr lvl="1"/>
            <a:r>
              <a:rPr lang="en-GB" dirty="0"/>
              <a:t>“Package” because it is a package of functions</a:t>
            </a:r>
          </a:p>
        </p:txBody>
      </p:sp>
      <p:pic>
        <p:nvPicPr>
          <p:cNvPr id="5" name="Picture Placeholder 4" descr="A group of cardboard boxes&#10;&#10;Description automatically generated with low confidence">
            <a:extLst>
              <a:ext uri="{FF2B5EF4-FFF2-40B4-BE49-F238E27FC236}">
                <a16:creationId xmlns:a16="http://schemas.microsoft.com/office/drawing/2014/main" id="{E5D3055E-3031-D798-C56B-916C6F670F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r="2165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6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3893-3F47-4FC0-BECC-2D62B666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What is a package?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CA4F5-E287-461B-8E3B-FF03E00E5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8040" cy="4351338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 package is a collection of code, and resulting functions, which you can freely download whenever you please</a:t>
            </a:r>
          </a:p>
          <a:p>
            <a:r>
              <a:rPr lang="en-GB" dirty="0"/>
              <a:t>Stored in an online repository called “CRAN”</a:t>
            </a:r>
          </a:p>
          <a:p>
            <a:r>
              <a:rPr lang="en-GB" dirty="0"/>
              <a:t>Packages are often described in published papers</a:t>
            </a:r>
          </a:p>
          <a:p>
            <a:pPr lvl="1"/>
            <a:r>
              <a:rPr lang="en-GB" dirty="0"/>
              <a:t>Especially true for packages which are used for statistical analysis</a:t>
            </a:r>
          </a:p>
          <a:p>
            <a:pPr lvl="1"/>
            <a:r>
              <a:rPr lang="en-GB" dirty="0"/>
              <a:t>A major benefit over, e.g.,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206D3-4956-4CB3-A11B-ED8B5306A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67" t="23412" r="39167" b="42480"/>
          <a:stretch/>
        </p:blipFill>
        <p:spPr>
          <a:xfrm>
            <a:off x="5695822" y="2726055"/>
            <a:ext cx="6283448" cy="2550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FB74B7-FF10-4FD1-9B6A-0B45023CF5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88" r="55296"/>
          <a:stretch/>
        </p:blipFill>
        <p:spPr>
          <a:xfrm>
            <a:off x="6715762" y="1581468"/>
            <a:ext cx="4490718" cy="496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E6F9-B7D9-4945-A127-3D3DFE50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To install a package;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1C647-210B-4030-A001-5BD86FE86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Relatively simple process;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Write the code to download the package (in R)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(“ggplot2”)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We use quotes to help R find the correct package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GB" dirty="0"/>
              <a:t>(searches for a string)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Once installed, it is on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To actually use it, we need to load it in 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library(ggplot2)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We do not need quotes any more because R knows what it 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The function is called 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GB" dirty="0"/>
              <a:t>, because we have a “library of packages”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Each time we open R, we will need to reload the package</a:t>
            </a:r>
          </a:p>
        </p:txBody>
      </p:sp>
    </p:spTree>
    <p:extLst>
      <p:ext uri="{BB962C8B-B14F-4D97-AF65-F5344CB8AC3E}">
        <p14:creationId xmlns:p14="http://schemas.microsoft.com/office/powerpoint/2010/main" val="93356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Data visualisation toolkit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86BEB-34E9-417F-9B50-17FBD69D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84731" cy="4351338"/>
          </a:xfrm>
        </p:spPr>
        <p:txBody>
          <a:bodyPr/>
          <a:lstStyle/>
          <a:p>
            <a:r>
              <a:rPr lang="en-GB" dirty="0"/>
              <a:t>We’ll use R and an R package called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r>
              <a:rPr lang="en-GB" dirty="0"/>
              <a:t> to create figures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</a:t>
            </a:r>
            <a:r>
              <a:rPr lang="en-GB" dirty="0"/>
              <a:t> stands for “Grammar of Graphics”</a:t>
            </a:r>
          </a:p>
          <a:p>
            <a:pPr lvl="1"/>
            <a:r>
              <a:rPr lang="en-GB" dirty="0"/>
              <a:t>Based on a “design philosophy”</a:t>
            </a:r>
          </a:p>
          <a:p>
            <a:r>
              <a:rPr lang="en-GB" dirty="0"/>
              <a:t>Think of using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like the progression of a painting</a:t>
            </a:r>
          </a:p>
          <a:p>
            <a:pPr lvl="1"/>
            <a:r>
              <a:rPr lang="en-GB" dirty="0"/>
              <a:t>You create layers of “paint” one at a time</a:t>
            </a:r>
          </a:p>
          <a:p>
            <a:pPr lvl="1"/>
            <a:r>
              <a:rPr lang="en-GB" dirty="0"/>
              <a:t>We can change any layer at any time</a:t>
            </a:r>
          </a:p>
          <a:p>
            <a:r>
              <a:rPr lang="en-GB" dirty="0"/>
              <a:t>Familiarity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often requested by employers (e.g., </a:t>
            </a:r>
            <a:r>
              <a:rPr lang="en-GB" dirty="0" err="1"/>
              <a:t>spotify</a:t>
            </a:r>
            <a:r>
              <a:rPr lang="en-GB" dirty="0"/>
              <a:t>)</a:t>
            </a:r>
          </a:p>
          <a:p>
            <a:endParaRPr lang="en-GB" dirty="0"/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2E81E07F-5E41-4D6F-9BA7-00F5358D8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04" y="2444916"/>
            <a:ext cx="2527296" cy="2927453"/>
          </a:xfrm>
          <a:prstGeom prst="rect">
            <a:avLst/>
          </a:prstGeom>
        </p:spPr>
      </p:pic>
      <p:pic>
        <p:nvPicPr>
          <p:cNvPr id="10" name="Picture 9" descr="A collage of a person's face&#10;&#10;Description automatically generated with medium confidence">
            <a:extLst>
              <a:ext uri="{FF2B5EF4-FFF2-40B4-BE49-F238E27FC236}">
                <a16:creationId xmlns:a16="http://schemas.microsoft.com/office/drawing/2014/main" id="{2E9979A2-2C3A-4870-B08C-5171528CD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931" y="1879432"/>
            <a:ext cx="4302213" cy="405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4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First hurdle: get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86BEB-34E9-417F-9B50-17FBD69DC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8375"/>
            <a:ext cx="6784731" cy="3938588"/>
          </a:xfrm>
        </p:spPr>
        <p:txBody>
          <a:bodyPr/>
          <a:lstStyle/>
          <a:p>
            <a:r>
              <a:rPr lang="en-GB" dirty="0"/>
              <a:t>Install and load ggplot2 into R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(“ggplot2”)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library(ggplot2)</a:t>
            </a:r>
          </a:p>
          <a:p>
            <a:endParaRPr lang="en-GB" dirty="0"/>
          </a:p>
          <a:p>
            <a:r>
              <a:rPr lang="en-GB" dirty="0"/>
              <a:t>If you don’t do this, then R won’t know what you’re trying to do!</a:t>
            </a:r>
          </a:p>
          <a:p>
            <a:endParaRPr lang="en-GB" dirty="0"/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2E81E07F-5E41-4D6F-9BA7-00F5358D8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504" y="2444916"/>
            <a:ext cx="2527296" cy="292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4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8A712D-122A-4548-8AF5-7D72DBF7E577}"/>
              </a:ext>
            </a:extLst>
          </p:cNvPr>
          <p:cNvGrpSpPr/>
          <p:nvPr/>
        </p:nvGrpSpPr>
        <p:grpSpPr>
          <a:xfrm>
            <a:off x="949569" y="2152494"/>
            <a:ext cx="6134353" cy="2030904"/>
            <a:chOff x="949569" y="2152494"/>
            <a:chExt cx="6134353" cy="203090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D3B212-9D2E-4E31-8881-96B65FFB6A75}"/>
                </a:ext>
              </a:extLst>
            </p:cNvPr>
            <p:cNvGrpSpPr/>
            <p:nvPr/>
          </p:nvGrpSpPr>
          <p:grpSpPr>
            <a:xfrm>
              <a:off x="3008303" y="3814066"/>
              <a:ext cx="4075619" cy="369332"/>
              <a:chOff x="3008303" y="3814066"/>
              <a:chExt cx="4075619" cy="36933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00EEC0-4107-47C9-9119-CF496351966E}"/>
                  </a:ext>
                </a:extLst>
              </p:cNvPr>
              <p:cNvSpPr txBox="1"/>
              <p:nvPr/>
            </p:nvSpPr>
            <p:spPr>
              <a:xfrm>
                <a:off x="3008303" y="3814066"/>
                <a:ext cx="2589192" cy="369332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Creates a blank canvas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11A28E9-8B43-4576-ACD1-18FC28214B79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>
                <a:off x="5597495" y="3998732"/>
                <a:ext cx="1486427" cy="2562"/>
              </a:xfrm>
              <a:prstGeom prst="straightConnector1">
                <a:avLst/>
              </a:prstGeom>
              <a:ln w="28575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809F8F9-85C3-463B-AC3D-63F2F581E4D2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949569" y="2152494"/>
              <a:ext cx="2058734" cy="1846238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D89BF4C-EEC8-4F03-8D72-246EBAA2CF76}"/>
              </a:ext>
            </a:extLst>
          </p:cNvPr>
          <p:cNvGrpSpPr/>
          <p:nvPr/>
        </p:nvGrpSpPr>
        <p:grpSpPr>
          <a:xfrm>
            <a:off x="1301261" y="2131262"/>
            <a:ext cx="4458604" cy="1129017"/>
            <a:chOff x="1890346" y="2152494"/>
            <a:chExt cx="4458604" cy="11290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DF7F6E-79EA-4BC4-A0D4-F27096176C5C}"/>
                </a:ext>
              </a:extLst>
            </p:cNvPr>
            <p:cNvSpPr txBox="1"/>
            <p:nvPr/>
          </p:nvSpPr>
          <p:spPr>
            <a:xfrm>
              <a:off x="2882168" y="2635180"/>
              <a:ext cx="3466782" cy="646331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tell R to use the unicorn data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EA4FEFA-7D81-41B8-A032-3D0A584D8C1E}"/>
                </a:ext>
              </a:extLst>
            </p:cNvPr>
            <p:cNvCxnSpPr>
              <a:cxnSpLocks/>
            </p:cNvCxnSpPr>
            <p:nvPr/>
          </p:nvCxnSpPr>
          <p:spPr>
            <a:xfrm>
              <a:off x="1890346" y="2154115"/>
              <a:ext cx="2039816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43E9E85-994B-44DF-9A69-89B2338765FD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V="1">
              <a:off x="2882168" y="2152494"/>
              <a:ext cx="0" cy="80585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F234F22-4E4F-4C56-B565-6BBE6387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923" y="1825625"/>
            <a:ext cx="4257143" cy="4161905"/>
          </a:xfrm>
          <a:prstGeom prst="rect">
            <a:avLst/>
          </a:prstGeom>
        </p:spPr>
      </p:pic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3180E98-AD28-41DE-917F-138C81739372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</a:t>
            </a:r>
          </a:p>
        </p:txBody>
      </p:sp>
    </p:spTree>
    <p:extLst>
      <p:ext uri="{BB962C8B-B14F-4D97-AF65-F5344CB8AC3E}">
        <p14:creationId xmlns:p14="http://schemas.microsoft.com/office/powerpoint/2010/main" val="133730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2B0461-FFE1-4EBD-9A59-B1C07ED5BB43}"/>
              </a:ext>
            </a:extLst>
          </p:cNvPr>
          <p:cNvGrpSpPr/>
          <p:nvPr/>
        </p:nvGrpSpPr>
        <p:grpSpPr>
          <a:xfrm>
            <a:off x="3348269" y="1860793"/>
            <a:ext cx="2411596" cy="1499300"/>
            <a:chOff x="3579985" y="967175"/>
            <a:chExt cx="2411596" cy="14993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BD5A27-F2A2-4AD4-A962-942D1EB5D6C6}"/>
                </a:ext>
              </a:extLst>
            </p:cNvPr>
            <p:cNvSpPr txBox="1"/>
            <p:nvPr/>
          </p:nvSpPr>
          <p:spPr>
            <a:xfrm>
              <a:off x="3704541" y="1820144"/>
              <a:ext cx="2287040" cy="646331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add a new layer</a:t>
              </a:r>
              <a:br>
                <a:rPr lang="en-GB" dirty="0"/>
              </a:br>
              <a:r>
                <a:rPr lang="en-GB" dirty="0"/>
                <a:t>to the painting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527199D-E71A-43B3-8C2C-7B723CACF7F6}"/>
                </a:ext>
              </a:extLst>
            </p:cNvPr>
            <p:cNvCxnSpPr>
              <a:cxnSpLocks/>
              <a:stCxn id="20" idx="1"/>
              <a:endCxn id="23" idx="4"/>
            </p:cNvCxnSpPr>
            <p:nvPr/>
          </p:nvCxnSpPr>
          <p:spPr>
            <a:xfrm flipV="1">
              <a:off x="3704541" y="1216331"/>
              <a:ext cx="2" cy="926979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965B91B-1F7F-4E9C-AFAA-75202DACDBB0}"/>
                </a:ext>
              </a:extLst>
            </p:cNvPr>
            <p:cNvSpPr/>
            <p:nvPr/>
          </p:nvSpPr>
          <p:spPr>
            <a:xfrm>
              <a:off x="3579985" y="967175"/>
              <a:ext cx="249115" cy="249156"/>
            </a:xfrm>
            <a:prstGeom prst="ellipse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AFAA8BD-23E3-4DB8-9016-CF894A86A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923" y="1825625"/>
            <a:ext cx="4257143" cy="4161905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C9508A5-84E4-418B-953F-BC0E63273E75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</p:txBody>
      </p:sp>
    </p:spTree>
    <p:extLst>
      <p:ext uri="{BB962C8B-B14F-4D97-AF65-F5344CB8AC3E}">
        <p14:creationId xmlns:p14="http://schemas.microsoft.com/office/powerpoint/2010/main" val="941437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AD5104-5A9B-4C56-BE17-5B491A61E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790" y="1830582"/>
            <a:ext cx="4257143" cy="41619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4C3E229-C37F-4EF1-894C-0E0007B4B490}"/>
              </a:ext>
            </a:extLst>
          </p:cNvPr>
          <p:cNvGrpSpPr/>
          <p:nvPr/>
        </p:nvGrpSpPr>
        <p:grpSpPr>
          <a:xfrm>
            <a:off x="630115" y="2525128"/>
            <a:ext cx="1497016" cy="1489986"/>
            <a:chOff x="1219200" y="2525128"/>
            <a:chExt cx="1497016" cy="148998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8DA0524-8716-40B3-B199-F15AEEECDD0F}"/>
                </a:ext>
              </a:extLst>
            </p:cNvPr>
            <p:cNvCxnSpPr/>
            <p:nvPr/>
          </p:nvCxnSpPr>
          <p:spPr>
            <a:xfrm>
              <a:off x="1219200" y="2525128"/>
              <a:ext cx="12573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010DED-FA85-4E15-B392-49A47E236E1F}"/>
                </a:ext>
              </a:extLst>
            </p:cNvPr>
            <p:cNvSpPr txBox="1"/>
            <p:nvPr/>
          </p:nvSpPr>
          <p:spPr>
            <a:xfrm>
              <a:off x="1219200" y="3091784"/>
              <a:ext cx="1497016" cy="92333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We say the geometry will be a line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3EAACAB-C8A6-4221-B435-AC4E85B6D8AC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V="1">
              <a:off x="1219200" y="2525128"/>
              <a:ext cx="0" cy="1028321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DEC1E5-2808-436D-AADE-89DD1224164C}"/>
              </a:ext>
            </a:extLst>
          </p:cNvPr>
          <p:cNvGrpSpPr/>
          <p:nvPr/>
        </p:nvGrpSpPr>
        <p:grpSpPr>
          <a:xfrm>
            <a:off x="2593731" y="2525128"/>
            <a:ext cx="4387361" cy="1489986"/>
            <a:chOff x="2453052" y="2525128"/>
            <a:chExt cx="4387361" cy="148998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4F54820-2762-4830-B5BC-E901FFB5CDA9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52" y="2525128"/>
              <a:ext cx="4387361" cy="0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65A12E-2675-468C-94A1-BC9A745B3E8A}"/>
                </a:ext>
              </a:extLst>
            </p:cNvPr>
            <p:cNvSpPr txBox="1"/>
            <p:nvPr/>
          </p:nvSpPr>
          <p:spPr>
            <a:xfrm>
              <a:off x="4380563" y="3091784"/>
              <a:ext cx="1970077" cy="92333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decide what will be on the x and y axes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DB0FA68-FE47-4FAD-AF9F-E5F1E9B948D7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5365602" y="2525128"/>
              <a:ext cx="0" cy="566656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C3CEC7C-F4EC-4785-A197-EB535E4C909A}"/>
              </a:ext>
            </a:extLst>
          </p:cNvPr>
          <p:cNvGrpSpPr/>
          <p:nvPr/>
        </p:nvGrpSpPr>
        <p:grpSpPr>
          <a:xfrm>
            <a:off x="2080842" y="2514789"/>
            <a:ext cx="2307808" cy="1494418"/>
            <a:chOff x="2451128" y="2525128"/>
            <a:chExt cx="2307808" cy="149441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E403AB-D180-479D-B79B-93159FA12558}"/>
                </a:ext>
              </a:extLst>
            </p:cNvPr>
            <p:cNvCxnSpPr/>
            <p:nvPr/>
          </p:nvCxnSpPr>
          <p:spPr>
            <a:xfrm>
              <a:off x="2451128" y="2525128"/>
              <a:ext cx="390525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95F0CD-D074-4C6F-84CC-E58F3523D37E}"/>
                </a:ext>
              </a:extLst>
            </p:cNvPr>
            <p:cNvSpPr txBox="1"/>
            <p:nvPr/>
          </p:nvSpPr>
          <p:spPr>
            <a:xfrm>
              <a:off x="2637087" y="3096216"/>
              <a:ext cx="2121849" cy="92333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We need to specify the aesthetics, using 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aes</a:t>
              </a:r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2B84852-F5D3-433B-8643-FA798FF9597A}"/>
                </a:ext>
              </a:extLst>
            </p:cNvPr>
            <p:cNvCxnSpPr>
              <a:cxnSpLocks/>
              <a:stCxn id="27" idx="1"/>
            </p:cNvCxnSpPr>
            <p:nvPr/>
          </p:nvCxnSpPr>
          <p:spPr>
            <a:xfrm flipV="1">
              <a:off x="2637087" y="2525129"/>
              <a:ext cx="1" cy="103275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E907174-BC88-42C5-A85F-0C43EA4E6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66" y="1830582"/>
            <a:ext cx="4257143" cy="4161905"/>
          </a:xfrm>
          <a:prstGeom prst="rect">
            <a:avLst/>
          </a:prstGeom>
        </p:spPr>
      </p:pic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1ADD092D-EE6D-452B-A7A1-729331511D94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861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AB4663-93B4-41ED-B002-89805363C9B1}"/>
              </a:ext>
            </a:extLst>
          </p:cNvPr>
          <p:cNvGrpSpPr/>
          <p:nvPr/>
        </p:nvGrpSpPr>
        <p:grpSpPr>
          <a:xfrm>
            <a:off x="633046" y="2571750"/>
            <a:ext cx="5767754" cy="1493643"/>
            <a:chOff x="633046" y="2571750"/>
            <a:chExt cx="5767754" cy="14936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924F460-2FB5-4F89-A672-B688B5E9CCB9}"/>
                </a:ext>
              </a:extLst>
            </p:cNvPr>
            <p:cNvSpPr txBox="1"/>
            <p:nvPr/>
          </p:nvSpPr>
          <p:spPr>
            <a:xfrm>
              <a:off x="1130770" y="3696061"/>
              <a:ext cx="4772306" cy="369332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can change the labels (</a:t>
              </a:r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labs</a:t>
              </a:r>
              <a:r>
                <a:rPr lang="en-GB" dirty="0"/>
                <a:t>) of the axes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7B0653-5ED8-4F66-9287-1A66B327D5FA}"/>
                </a:ext>
              </a:extLst>
            </p:cNvPr>
            <p:cNvSpPr/>
            <p:nvPr/>
          </p:nvSpPr>
          <p:spPr>
            <a:xfrm>
              <a:off x="633046" y="2571750"/>
              <a:ext cx="5767754" cy="752475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BB32D5-2671-46FF-B77D-35EDB84F0D9F}"/>
                </a:ext>
              </a:extLst>
            </p:cNvPr>
            <p:cNvCxnSpPr>
              <a:cxnSpLocks/>
              <a:stCxn id="3" idx="0"/>
              <a:endCxn id="4" idx="2"/>
            </p:cNvCxnSpPr>
            <p:nvPr/>
          </p:nvCxnSpPr>
          <p:spPr>
            <a:xfrm flipV="1">
              <a:off x="3516923" y="3324225"/>
              <a:ext cx="0" cy="371836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B37D59C-37E6-4BC8-80EF-2B2379953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207" y="1831373"/>
            <a:ext cx="4257143" cy="41619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4049A-3D16-467E-A829-6668FBF7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207" y="1830582"/>
            <a:ext cx="4257143" cy="4161905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176CB41-ECB9-4ED6-AD59-F59DD59875F7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labs(y = “Unicorn extinction probability”,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x = “Number of skittles”)</a:t>
            </a:r>
          </a:p>
        </p:txBody>
      </p:sp>
    </p:spTree>
    <p:extLst>
      <p:ext uri="{BB962C8B-B14F-4D97-AF65-F5344CB8AC3E}">
        <p14:creationId xmlns:p14="http://schemas.microsoft.com/office/powerpoint/2010/main" val="253913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083F94D1-A7A2-4EF2-BA69-98F34A211C1F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labs(y = “Unicorn extinction probability”,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x = “Number of skittles”)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geom_ribbon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extinction_prob_lwr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extinction_prob_upp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alpha = 0.3)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97BB60-2A1C-4EDA-A8BD-5A4F5D11F75E}"/>
              </a:ext>
            </a:extLst>
          </p:cNvPr>
          <p:cNvGrpSpPr/>
          <p:nvPr/>
        </p:nvGrpSpPr>
        <p:grpSpPr>
          <a:xfrm>
            <a:off x="307731" y="3333750"/>
            <a:ext cx="6435969" cy="1896428"/>
            <a:chOff x="298215" y="3333750"/>
            <a:chExt cx="6873625" cy="18964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E05D0A-25D5-4E72-AB64-8B11EC47F36C}"/>
                </a:ext>
              </a:extLst>
            </p:cNvPr>
            <p:cNvSpPr txBox="1"/>
            <p:nvPr/>
          </p:nvSpPr>
          <p:spPr>
            <a:xfrm>
              <a:off x="298215" y="3752850"/>
              <a:ext cx="1921109" cy="1477328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We can use 95% CI to create a ribbon to show uncertainty.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32E12C-9B6B-4910-BBA4-04E6FED0F297}"/>
                </a:ext>
              </a:extLst>
            </p:cNvPr>
            <p:cNvSpPr/>
            <p:nvPr/>
          </p:nvSpPr>
          <p:spPr>
            <a:xfrm>
              <a:off x="2918080" y="3333750"/>
              <a:ext cx="4253760" cy="1457325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DCFA984-B0EA-403D-A0EE-7C546B8E0AB3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2219324" y="4062413"/>
              <a:ext cx="698756" cy="429101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7DBD13-2579-407D-B05B-6EE4CA7B5C49}"/>
              </a:ext>
            </a:extLst>
          </p:cNvPr>
          <p:cNvGrpSpPr/>
          <p:nvPr/>
        </p:nvGrpSpPr>
        <p:grpSpPr>
          <a:xfrm>
            <a:off x="2287473" y="5133975"/>
            <a:ext cx="1510059" cy="1581924"/>
            <a:chOff x="2850182" y="5133975"/>
            <a:chExt cx="1510059" cy="158192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083AE4E-4916-4CE2-A2EA-3FA809C0BFC8}"/>
                </a:ext>
              </a:extLst>
            </p:cNvPr>
            <p:cNvCxnSpPr/>
            <p:nvPr/>
          </p:nvCxnSpPr>
          <p:spPr>
            <a:xfrm>
              <a:off x="2886075" y="5133975"/>
              <a:ext cx="1438275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F3ADE4-8BFF-43EC-B297-6A5360EFCE19}"/>
                </a:ext>
              </a:extLst>
            </p:cNvPr>
            <p:cNvSpPr txBox="1"/>
            <p:nvPr/>
          </p:nvSpPr>
          <p:spPr>
            <a:xfrm>
              <a:off x="2850182" y="5515570"/>
              <a:ext cx="1510059" cy="120032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And make the ribbons 30%  transparent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3ED44AD-0D7F-4CE2-B9FB-864188ED6088}"/>
                </a:ext>
              </a:extLst>
            </p:cNvPr>
            <p:cNvCxnSpPr>
              <a:stCxn id="17" idx="0"/>
            </p:cNvCxnSpPr>
            <p:nvPr/>
          </p:nvCxnSpPr>
          <p:spPr>
            <a:xfrm flipV="1">
              <a:off x="3605212" y="5153322"/>
              <a:ext cx="0" cy="362248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C59B468-47BC-4C68-B7A8-732C7C07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73" y="1830582"/>
            <a:ext cx="4257143" cy="4161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FDF6F6-70C3-41DD-949E-D8198E065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73" y="1830582"/>
            <a:ext cx="4257143" cy="4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9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dirty="0"/>
              <a:t> layers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D55B48-8A20-450F-89D5-4AD429F37D10}"/>
              </a:ext>
            </a:extLst>
          </p:cNvPr>
          <p:cNvGrpSpPr/>
          <p:nvPr/>
        </p:nvGrpSpPr>
        <p:grpSpPr>
          <a:xfrm>
            <a:off x="710711" y="5247127"/>
            <a:ext cx="4520863" cy="1200329"/>
            <a:chOff x="1238250" y="5247127"/>
            <a:chExt cx="4520863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115FBF-C480-4B9B-9772-09C150C352C3}"/>
                </a:ext>
              </a:extLst>
            </p:cNvPr>
            <p:cNvSpPr txBox="1"/>
            <p:nvPr/>
          </p:nvSpPr>
          <p:spPr>
            <a:xfrm>
              <a:off x="3939838" y="5247127"/>
              <a:ext cx="1819275" cy="120032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Use a minimal theme to get something more pleasing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D187634-98D3-4134-9F62-F567B3132C98}"/>
                </a:ext>
              </a:extLst>
            </p:cNvPr>
            <p:cNvCxnSpPr/>
            <p:nvPr/>
          </p:nvCxnSpPr>
          <p:spPr>
            <a:xfrm>
              <a:off x="1238250" y="5505450"/>
              <a:ext cx="1905000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2024337-B0F6-4D00-AC2C-37C47A2297C9}"/>
                </a:ext>
              </a:extLst>
            </p:cNvPr>
            <p:cNvCxnSpPr>
              <a:stCxn id="8" idx="1"/>
            </p:cNvCxnSpPr>
            <p:nvPr/>
          </p:nvCxnSpPr>
          <p:spPr>
            <a:xfrm flipH="1" flipV="1">
              <a:off x="3143250" y="5505450"/>
              <a:ext cx="796588" cy="341842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8172801-5BAC-422F-BF21-C7CCEE20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666" y="1847694"/>
            <a:ext cx="4257143" cy="4161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DF3E1-F65C-4454-ABBA-C25F3A49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66" y="1830582"/>
            <a:ext cx="4257143" cy="416190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1ABA1E7-1672-4B9F-B7A6-D2583B8A1DC3}"/>
              </a:ext>
            </a:extLst>
          </p:cNvPr>
          <p:cNvSpPr txBox="1">
            <a:spLocks/>
          </p:cNvSpPr>
          <p:nvPr/>
        </p:nvSpPr>
        <p:spPr>
          <a:xfrm>
            <a:off x="307731" y="1830582"/>
            <a:ext cx="7010796" cy="4608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(data = unicorn)+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labs(y = “Unicorn extinction probability”,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x = “Number of skittles”)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geom_ribbon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y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extinction_prob_lwr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extinction_prob_upp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alpha = 0.3)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9109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E6A0-02DB-4E11-B2CE-200684C2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You can move layers to suit your need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083F94D1-A7A2-4EF2-BA69-98F34A211C1F}"/>
              </a:ext>
            </a:extLst>
          </p:cNvPr>
          <p:cNvSpPr txBox="1">
            <a:spLocks/>
          </p:cNvSpPr>
          <p:nvPr/>
        </p:nvSpPr>
        <p:spPr>
          <a:xfrm>
            <a:off x="276226" y="3429000"/>
            <a:ext cx="11915774" cy="2838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geom_ribbon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capture,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capture_lwr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capture_upp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alpha = 0.3) +     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(x = skittle, y = capture)+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labs(y = “Unicorn capture rate”, x = “Number of skittles”) +</a:t>
            </a:r>
          </a:p>
          <a:p>
            <a:pPr marL="0" indent="0"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821BD-1CC4-4489-9E00-ECBF9F8D16FA}"/>
              </a:ext>
            </a:extLst>
          </p:cNvPr>
          <p:cNvSpPr txBox="1"/>
          <p:nvPr/>
        </p:nvSpPr>
        <p:spPr>
          <a:xfrm>
            <a:off x="655492" y="1970910"/>
            <a:ext cx="10703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The order that you arrange the layers will determine what you see in the final figure.</a:t>
            </a:r>
          </a:p>
          <a:p>
            <a:r>
              <a:rPr lang="en-GB" sz="2400" dirty="0"/>
              <a:t>Want ribbons behind the line? Move the ribbon layer earlier.</a:t>
            </a:r>
          </a:p>
        </p:txBody>
      </p:sp>
      <p:pic>
        <p:nvPicPr>
          <p:cNvPr id="12" name="Picture 11" descr="A collage of a person's face&#10;&#10;Description automatically generated with medium confidence">
            <a:extLst>
              <a:ext uri="{FF2B5EF4-FFF2-40B4-BE49-F238E27FC236}">
                <a16:creationId xmlns:a16="http://schemas.microsoft.com/office/drawing/2014/main" id="{F1DDC3AC-FD54-458D-9C0D-9EDD8D2AA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925" y="2943226"/>
            <a:ext cx="3781269" cy="35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9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6E2A-74AB-4EF3-A8BC-00BA78EC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For more material on learning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2483-C506-48EE-8AA2-9621DB988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02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hlinkClick r:id="rId2"/>
              </a:rPr>
              <a:t>https://intro2r.com</a:t>
            </a: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C87AF-32D5-4283-9408-2BB727E5CD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701" t="24807" r="30536" b="17417"/>
          <a:stretch/>
        </p:blipFill>
        <p:spPr>
          <a:xfrm>
            <a:off x="4536831" y="1969476"/>
            <a:ext cx="3191608" cy="455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8062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2121</Words>
  <Application>Microsoft Office PowerPoint</Application>
  <PresentationFormat>Widescreen</PresentationFormat>
  <Paragraphs>255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Bahnschrift Light</vt:lpstr>
      <vt:lpstr>Cambria Math</vt:lpstr>
      <vt:lpstr>Courier New</vt:lpstr>
      <vt:lpstr>sbs_template</vt:lpstr>
      <vt:lpstr>Data visualisations in R</vt:lpstr>
      <vt:lpstr>Key skills to become a good scientist</vt:lpstr>
      <vt:lpstr>Knowing how to program does not mean you understand the statistics</vt:lpstr>
      <vt:lpstr>Implementing ≠ understanding</vt:lpstr>
      <vt:lpstr>History of programming language</vt:lpstr>
      <vt:lpstr>R and RStudio</vt:lpstr>
      <vt:lpstr>PowerPoint Presentation</vt:lpstr>
      <vt:lpstr>R is a fancy calculator</vt:lpstr>
      <vt:lpstr>An example</vt:lpstr>
      <vt:lpstr>Assume</vt:lpstr>
      <vt:lpstr>objects</vt:lpstr>
      <vt:lpstr>Using stored objects</vt:lpstr>
      <vt:lpstr>Functions</vt:lpstr>
      <vt:lpstr>Anatomy of a function</vt:lpstr>
      <vt:lpstr>Lincoln-Petersen</vt:lpstr>
      <vt:lpstr>Function examples</vt:lpstr>
      <vt:lpstr>The reason why people started using R</vt:lpstr>
      <vt:lpstr>Common R mistakes</vt:lpstr>
      <vt:lpstr>Getting more functions into R</vt:lpstr>
      <vt:lpstr>Getting more functions into R</vt:lpstr>
      <vt:lpstr>What is a package?</vt:lpstr>
      <vt:lpstr>To install a package;</vt:lpstr>
      <vt:lpstr>Data visualisation toolkit</vt:lpstr>
      <vt:lpstr>First hurdle: get ggplot2</vt:lpstr>
      <vt:lpstr>ggplot layers</vt:lpstr>
      <vt:lpstr>ggplot layers</vt:lpstr>
      <vt:lpstr>ggplot layers</vt:lpstr>
      <vt:lpstr>ggplot layers</vt:lpstr>
      <vt:lpstr>ggplot layers</vt:lpstr>
      <vt:lpstr>ggplot layers</vt:lpstr>
      <vt:lpstr>You can move layers to suit your need</vt:lpstr>
      <vt:lpstr>For more material on learning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4</cp:revision>
  <dcterms:created xsi:type="dcterms:W3CDTF">2024-07-04T13:37:53Z</dcterms:created>
  <dcterms:modified xsi:type="dcterms:W3CDTF">2024-07-04T17:06:07Z</dcterms:modified>
</cp:coreProperties>
</file>