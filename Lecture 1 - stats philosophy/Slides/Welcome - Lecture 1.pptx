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8"/>
  </p:notesMasterIdLst>
  <p:sldIdLst>
    <p:sldId id="295" r:id="rId2"/>
    <p:sldId id="303" r:id="rId3"/>
    <p:sldId id="299" r:id="rId4"/>
    <p:sldId id="300" r:id="rId5"/>
    <p:sldId id="305" r:id="rId6"/>
    <p:sldId id="306" r:id="rId7"/>
    <p:sldId id="304" r:id="rId8"/>
    <p:sldId id="307" r:id="rId9"/>
    <p:sldId id="308" r:id="rId10"/>
    <p:sldId id="309" r:id="rId11"/>
    <p:sldId id="297" r:id="rId12"/>
    <p:sldId id="296" r:id="rId13"/>
    <p:sldId id="288" r:id="rId14"/>
    <p:sldId id="302" r:id="rId15"/>
    <p:sldId id="283" r:id="rId16"/>
    <p:sldId id="277" r:id="rId17"/>
  </p:sldIdLst>
  <p:sldSz cx="9144000" cy="5143500" type="screen16x9"/>
  <p:notesSz cx="6858000" cy="9144000"/>
  <p:embeddedFontLst>
    <p:embeddedFont>
      <p:font typeface="Bahnschrift Light" panose="020B0502040204020203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830" autoAdjust="0"/>
  </p:normalViewPr>
  <p:slideViewPr>
    <p:cSldViewPr snapToGrid="0">
      <p:cViewPr>
        <p:scale>
          <a:sx n="100" d="100"/>
          <a:sy n="100" d="100"/>
        </p:scale>
        <p:origin x="1356" y="9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595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25" y="424058"/>
            <a:ext cx="4572000" cy="2147692"/>
          </a:xfrm>
        </p:spPr>
        <p:txBody>
          <a:bodyPr anchor="ctr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925" y="2664121"/>
            <a:ext cx="4572000" cy="1955677"/>
          </a:xfrm>
        </p:spPr>
        <p:txBody>
          <a:bodyPr anchor="ctr"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38008" y="0"/>
            <a:ext cx="4305993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985059" y="2618509"/>
            <a:ext cx="28180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2088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4650971" cy="99417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069960"/>
            <a:ext cx="4650971" cy="393014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69644" y="0"/>
            <a:ext cx="4374356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2539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069961"/>
            <a:ext cx="4420293" cy="387165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0972" y="0"/>
            <a:ext cx="4493029" cy="3871653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1" y="1"/>
            <a:ext cx="4650971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300" dirty="0"/>
              <a:t>Click to edit Master title style</a:t>
            </a:r>
            <a:endParaRPr lang="en-GB" sz="33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50972" y="3871653"/>
            <a:ext cx="4493029" cy="12718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019978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8012"/>
            <a:ext cx="7886700" cy="131548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48627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CA05-D25A-4710-A510-EF1B261AC70F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4391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CA05-D25A-4710-A510-EF1B261AC70F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7996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CA05-D25A-4710-A510-EF1B261AC70F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04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CA05-D25A-4710-A510-EF1B261AC70F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50467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CA05-D25A-4710-A510-EF1B261AC70F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0556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CA05-D25A-4710-A510-EF1B261AC70F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1443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CA05-D25A-4710-A510-EF1B261AC70F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080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8772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1CA05-D25A-4710-A510-EF1B261AC70F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7270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DBD7-9808-249E-E06D-D030D410D0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Statistical Analysis of Biological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821440-DBE3-71CD-8394-5F21FEBBCD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Deon Roos &amp;</a:t>
            </a:r>
          </a:p>
          <a:p>
            <a:r>
              <a:rPr lang="en-GB" dirty="0"/>
              <a:t>Michelle Pinard</a:t>
            </a:r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C94DB575-7A7F-264D-ADD1-AE4443A3C427}"/>
              </a:ext>
            </a:extLst>
          </p:cNvPr>
          <p:cNvPicPr preferRelativeResize="0">
            <a:picLocks noGrp="1"/>
          </p:cNvPicPr>
          <p:nvPr>
            <p:ph type="pic" sz="quarter" idx="13"/>
          </p:nvPr>
        </p:nvPicPr>
        <p:blipFill>
          <a:blip r:embed="rId2">
            <a:alphaModFix/>
          </a:blip>
          <a:srcRect t="10177" b="10177"/>
          <a:stretch>
            <a:fillRect/>
          </a:stretch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119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25FFF-9E42-BB52-D9AD-C64A003F8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are you here?</a:t>
            </a:r>
          </a:p>
        </p:txBody>
      </p:sp>
    </p:spTree>
    <p:extLst>
      <p:ext uri="{BB962C8B-B14F-4D97-AF65-F5344CB8AC3E}">
        <p14:creationId xmlns:p14="http://schemas.microsoft.com/office/powerpoint/2010/main" val="101057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307F-4225-6CEE-739F-9A005437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Taking care of gorillas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31D50-B926-E577-E0C0-D12BA407D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“Why are they teaching you statistics? Don’t you guys just learn how to do stuff like ‘take care’ of gorillas?”</a:t>
            </a:r>
          </a:p>
          <a:p>
            <a:pPr marL="0" indent="0">
              <a:buNone/>
            </a:pPr>
            <a:endParaRPr lang="en-GB" dirty="0"/>
          </a:p>
          <a:p>
            <a:pPr marL="0" indent="0" algn="r">
              <a:buNone/>
            </a:pPr>
            <a:r>
              <a:rPr lang="en-GB" sz="1100" dirty="0"/>
              <a:t>Comment made to me by a chemistry undergrad </a:t>
            </a:r>
            <a:br>
              <a:rPr lang="en-GB" sz="1100" dirty="0"/>
            </a:br>
            <a:r>
              <a:rPr lang="en-GB" sz="1100" dirty="0"/>
              <a:t>when I mentioned we were learning about P-values</a:t>
            </a:r>
          </a:p>
        </p:txBody>
      </p:sp>
      <p:pic>
        <p:nvPicPr>
          <p:cNvPr id="10" name="Picture Placeholder 9" descr="A person holding a gorilla&#10;&#10;Description automatically generated">
            <a:extLst>
              <a:ext uri="{FF2B5EF4-FFF2-40B4-BE49-F238E27FC236}">
                <a16:creationId xmlns:a16="http://schemas.microsoft.com/office/drawing/2014/main" id="{C53D47FC-05A5-8186-EA6E-E11AC1F7493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1633" r="2163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5849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DEAD-99DE-F2CA-663E-4419FCEF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are you doing a </a:t>
            </a:r>
            <a:br>
              <a:rPr lang="en-GB" dirty="0"/>
            </a:br>
            <a:r>
              <a:rPr lang="en-GB" dirty="0"/>
              <a:t>statistics course?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92D70-26F4-D757-EBFD-37BAE3E88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Statistics is how we merge our questions with our data to give evidence</a:t>
            </a:r>
          </a:p>
          <a:p>
            <a:r>
              <a:rPr lang="en-GB" dirty="0"/>
              <a:t>On their own:</a:t>
            </a:r>
          </a:p>
          <a:p>
            <a:pPr lvl="1"/>
            <a:r>
              <a:rPr lang="en-GB" dirty="0"/>
              <a:t>A question is not evidence</a:t>
            </a:r>
          </a:p>
          <a:p>
            <a:pPr lvl="1"/>
            <a:r>
              <a:rPr lang="en-GB" dirty="0"/>
              <a:t>Data is not evidence</a:t>
            </a:r>
          </a:p>
          <a:p>
            <a:r>
              <a:rPr lang="en-GB" dirty="0"/>
              <a:t>All three parts are crucial for </a:t>
            </a:r>
            <a:r>
              <a:rPr lang="en-GB" i="1" dirty="0"/>
              <a:t>answering</a:t>
            </a:r>
            <a:r>
              <a:rPr lang="en-GB" dirty="0"/>
              <a:t> questions.</a:t>
            </a:r>
          </a:p>
          <a:p>
            <a:r>
              <a:rPr lang="en-GB" dirty="0"/>
              <a:t>Statistics is </a:t>
            </a:r>
            <a:r>
              <a:rPr lang="en-GB" i="1" dirty="0"/>
              <a:t>how</a:t>
            </a:r>
            <a:r>
              <a:rPr lang="en-GB" dirty="0"/>
              <a:t> we answer questions.</a:t>
            </a:r>
          </a:p>
        </p:txBody>
      </p:sp>
      <p:pic>
        <p:nvPicPr>
          <p:cNvPr id="8" name="Picture Placeholder 7" descr="A graph with lines and dots on a black background&#10;&#10;Description automatically generated">
            <a:extLst>
              <a:ext uri="{FF2B5EF4-FFF2-40B4-BE49-F238E27FC236}">
                <a16:creationId xmlns:a16="http://schemas.microsoft.com/office/drawing/2014/main" id="{86769082-E60A-45BE-5663-60EE8CFB0F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82" b="6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7296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25FFF-9E42-BB52-D9AD-C64A003F8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Phrases I encounter too often</a:t>
            </a:r>
          </a:p>
        </p:txBody>
      </p:sp>
    </p:spTree>
    <p:extLst>
      <p:ext uri="{BB962C8B-B14F-4D97-AF65-F5344CB8AC3E}">
        <p14:creationId xmlns:p14="http://schemas.microsoft.com/office/powerpoint/2010/main" val="136701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with green and orange lines&#10;&#10;Description automatically generated">
            <a:extLst>
              <a:ext uri="{FF2B5EF4-FFF2-40B4-BE49-F238E27FC236}">
                <a16:creationId xmlns:a16="http://schemas.microsoft.com/office/drawing/2014/main" id="{AB587F26-65CD-6652-00E2-FE12CA45C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097" y="0"/>
            <a:ext cx="4313903" cy="5143500"/>
          </a:xfrm>
          <a:prstGeom prst="rect">
            <a:avLst/>
          </a:prstGeom>
        </p:spPr>
      </p:pic>
      <p:pic>
        <p:nvPicPr>
          <p:cNvPr id="13" name="Picture Placeholder 12" descr="A graph with green lines and white text&#10;&#10;Description automatically generated">
            <a:extLst>
              <a:ext uri="{FF2B5EF4-FFF2-40B4-BE49-F238E27FC236}">
                <a16:creationId xmlns:a16="http://schemas.microsoft.com/office/drawing/2014/main" id="{5DBED92E-4A7E-CB78-F4B1-36A0A333842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682" b="682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DA5E29-53F8-D4FF-FE9D-C237FC62E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“We’ve analysed it carefully”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454D6-8F48-E0C5-CCEC-2AD5D6009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Did conservation action improve gorilla growth rate?</a:t>
            </a:r>
          </a:p>
          <a:p>
            <a:pPr lvl="1"/>
            <a:r>
              <a:rPr lang="en-GB" dirty="0"/>
              <a:t>Conservation made a bad situation better</a:t>
            </a:r>
          </a:p>
          <a:p>
            <a:r>
              <a:rPr lang="en-GB" dirty="0"/>
              <a:t>Getting a number out of a model does not make it right.</a:t>
            </a:r>
          </a:p>
        </p:txBody>
      </p:sp>
    </p:spTree>
    <p:extLst>
      <p:ext uri="{BB962C8B-B14F-4D97-AF65-F5344CB8AC3E}">
        <p14:creationId xmlns:p14="http://schemas.microsoft.com/office/powerpoint/2010/main" val="227383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A5E29-53F8-D4FF-FE9D-C237FC62E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“But I can see it! </a:t>
            </a:r>
            <a:br>
              <a:rPr lang="en-GB" dirty="0"/>
            </a:br>
            <a:r>
              <a:rPr lang="en-GB" dirty="0"/>
              <a:t>Just look at the data!”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454D6-8F48-E0C5-CCEC-2AD5D6009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Which site has more gorillas?</a:t>
            </a:r>
          </a:p>
          <a:p>
            <a:pPr lvl="1"/>
            <a:r>
              <a:rPr lang="en-GB" dirty="0"/>
              <a:t>They both have 20 gorillas on average</a:t>
            </a:r>
          </a:p>
          <a:p>
            <a:pPr lvl="1"/>
            <a:r>
              <a:rPr lang="en-GB" dirty="0"/>
              <a:t>Fluctuations are random</a:t>
            </a:r>
          </a:p>
          <a:p>
            <a:r>
              <a:rPr lang="en-GB" dirty="0"/>
              <a:t>Humans are excellent at spotting patterns, even when there are no patterns</a:t>
            </a:r>
          </a:p>
        </p:txBody>
      </p:sp>
      <p:pic>
        <p:nvPicPr>
          <p:cNvPr id="26" name="Picture Placeholder 25" descr="A graph with lines and dots&#10;&#10;Description automatically generated">
            <a:extLst>
              <a:ext uri="{FF2B5EF4-FFF2-40B4-BE49-F238E27FC236}">
                <a16:creationId xmlns:a16="http://schemas.microsoft.com/office/drawing/2014/main" id="{B679B6A3-AA0A-06B4-3713-31990581932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82" b="6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2130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with white dots and numbers on a black background&#10;&#10;Description automatically generated">
            <a:extLst>
              <a:ext uri="{FF2B5EF4-FFF2-40B4-BE49-F238E27FC236}">
                <a16:creationId xmlns:a16="http://schemas.microsoft.com/office/drawing/2014/main" id="{15A557AE-4DA6-E59A-5B03-9E6B169F0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097" y="0"/>
            <a:ext cx="4313903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500736-E4DB-DD8E-15A4-085B24591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“I’m not biassed; </a:t>
            </a:r>
            <a:br>
              <a:rPr lang="en-GB" dirty="0"/>
            </a:br>
            <a:r>
              <a:rPr lang="en-GB" dirty="0"/>
              <a:t>I’m a scientist”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CB085-8587-A260-6B55-75607B6F3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Does giving cream help arthritis?</a:t>
            </a:r>
          </a:p>
          <a:p>
            <a:pPr lvl="1"/>
            <a:r>
              <a:rPr lang="en-GB" dirty="0"/>
              <a:t>Does banning gun concealment help crime?</a:t>
            </a:r>
          </a:p>
          <a:p>
            <a:r>
              <a:rPr lang="en-GB" dirty="0"/>
              <a:t>Understanding stats can help identify when this is an issue; but doesn’t prevent it.</a:t>
            </a:r>
          </a:p>
          <a:p>
            <a:endParaRPr lang="en-GB" dirty="0"/>
          </a:p>
        </p:txBody>
      </p:sp>
      <p:pic>
        <p:nvPicPr>
          <p:cNvPr id="12" name="Picture Placeholder 11" descr="A screen shot of a graph&#10;&#10;Description automatically generated">
            <a:extLst>
              <a:ext uri="{FF2B5EF4-FFF2-40B4-BE49-F238E27FC236}">
                <a16:creationId xmlns:a16="http://schemas.microsoft.com/office/drawing/2014/main" id="{18938C4D-0C7F-2942-C613-4653DBC3163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682" b="6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9824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5" descr="A satellite view of a green area&#10;&#10;Description automatically generated">
            <a:extLst>
              <a:ext uri="{FF2B5EF4-FFF2-40B4-BE49-F238E27FC236}">
                <a16:creationId xmlns:a16="http://schemas.microsoft.com/office/drawing/2014/main" id="{57120CAA-D780-7051-55C5-AC76A194FA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68" r="21668"/>
          <a:stretch>
            <a:fillRect/>
          </a:stretch>
        </p:blipFill>
        <p:spPr>
          <a:xfrm>
            <a:off x="4769644" y="0"/>
            <a:ext cx="4374356" cy="5143500"/>
          </a:xfrm>
          <a:prstGeom prst="rect">
            <a:avLst/>
          </a:prstGeom>
        </p:spPr>
      </p:pic>
      <p:pic>
        <p:nvPicPr>
          <p:cNvPr id="6" name="Picture Placeholder 5" descr="A satellite image of a green field&#10;&#10;Description automatically generated">
            <a:extLst>
              <a:ext uri="{FF2B5EF4-FFF2-40B4-BE49-F238E27FC236}">
                <a16:creationId xmlns:a16="http://schemas.microsoft.com/office/drawing/2014/main" id="{0303F898-4AFE-859D-5EE9-4FAF1ADA689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1665" r="21665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B11F9B-8377-4504-2634-9EABB7E3B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“My data isn’t biased; It’s the best available!”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858DB-ABEB-909F-13FD-6B46217FC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sort of habitat do box turtles prefer?</a:t>
            </a:r>
          </a:p>
          <a:p>
            <a:pPr lvl="1"/>
            <a:r>
              <a:rPr lang="en-GB" dirty="0"/>
              <a:t>Box turtles love urban areas and roads</a:t>
            </a:r>
          </a:p>
          <a:p>
            <a:pPr lvl="1"/>
            <a:r>
              <a:rPr lang="en-GB" dirty="0"/>
              <a:t>Except they don’t. That’s just where people walk (and see them).</a:t>
            </a:r>
          </a:p>
          <a:p>
            <a:r>
              <a:rPr lang="en-GB" dirty="0"/>
              <a:t>Decent understanding of statistics needed to prevent this.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6D9FB-7363-9640-EE3B-6E4EFCDBBFF1}"/>
              </a:ext>
            </a:extLst>
          </p:cNvPr>
          <p:cNvGrpSpPr/>
          <p:nvPr/>
        </p:nvGrpSpPr>
        <p:grpSpPr>
          <a:xfrm>
            <a:off x="5215298" y="333352"/>
            <a:ext cx="3585941" cy="4404800"/>
            <a:chOff x="5215298" y="333352"/>
            <a:chExt cx="3585941" cy="44048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85D3056-6355-6FCF-F740-296E7699C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5298" y="333352"/>
              <a:ext cx="3585941" cy="95831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0D58A78-CF55-CCB4-F88C-C9F76F7050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3334" b="-1"/>
            <a:stretch/>
          </p:blipFill>
          <p:spPr>
            <a:xfrm>
              <a:off x="5215298" y="1291664"/>
              <a:ext cx="3585941" cy="34464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247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58D5-B130-7647-9622-4E9AB27D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FA06E-BD17-6860-4363-77AB63AB8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18C527F-E43C-1338-0C77-996B1E1E21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729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97921-E796-AACE-2392-4E36B7ABC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prodigal child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F9F88-A811-C2DC-8E8A-97D8EC8AE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Failed maths twice in high school</a:t>
            </a:r>
          </a:p>
          <a:p>
            <a:r>
              <a:rPr lang="en-GB" dirty="0"/>
              <a:t>Dropped out of University in 2007 </a:t>
            </a:r>
          </a:p>
          <a:p>
            <a:r>
              <a:rPr lang="en-GB" dirty="0"/>
              <a:t>Came back to study Zoology @ Aberdeen in 2012</a:t>
            </a:r>
          </a:p>
          <a:p>
            <a:pPr lvl="1"/>
            <a:r>
              <a:rPr lang="en-GB" dirty="0"/>
              <a:t>Didn’t understand stats in undergrad</a:t>
            </a:r>
          </a:p>
          <a:p>
            <a:r>
              <a:rPr lang="en-GB" dirty="0"/>
              <a:t>Started a PhD @ Aberdeen in 2016</a:t>
            </a:r>
          </a:p>
          <a:p>
            <a:pPr lvl="1"/>
            <a:r>
              <a:rPr lang="en-GB" dirty="0"/>
              <a:t>“Graduated” in 2021 </a:t>
            </a:r>
          </a:p>
          <a:p>
            <a:r>
              <a:rPr lang="en-GB" dirty="0"/>
              <a:t>Research &amp; Teaching Fellow (a “postdoc”)</a:t>
            </a:r>
          </a:p>
          <a:p>
            <a:r>
              <a:rPr lang="en-GB" dirty="0"/>
              <a:t>Senior Statistical Ecologist for government</a:t>
            </a:r>
          </a:p>
          <a:p>
            <a:r>
              <a:rPr lang="en-GB" dirty="0"/>
              <a:t>Lecturer in Applied Stats</a:t>
            </a:r>
          </a:p>
          <a:p>
            <a:r>
              <a:rPr lang="en-GB" dirty="0"/>
              <a:t>My main “selling point” now is that I’m good at stats</a:t>
            </a:r>
          </a:p>
        </p:txBody>
      </p:sp>
      <p:pic>
        <p:nvPicPr>
          <p:cNvPr id="5" name="Picture Placeholder 4" descr="A picture containing text, person, young, child&#10;&#10;Description automatically generated">
            <a:extLst>
              <a:ext uri="{FF2B5EF4-FFF2-40B4-BE49-F238E27FC236}">
                <a16:creationId xmlns:a16="http://schemas.microsoft.com/office/drawing/2014/main" id="{622184F0-BDF4-957C-C0A8-39250B79304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1656" r="21656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9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3BC1-03C4-CC6C-9741-FCC36A7D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BI3010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3926E-6DC1-F725-5C9E-5968C4E56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Two coordinators</a:t>
            </a:r>
          </a:p>
          <a:p>
            <a:pPr lvl="1"/>
            <a:r>
              <a:rPr lang="en-GB" dirty="0"/>
              <a:t>Deon Roos and Michelle Pinard</a:t>
            </a:r>
          </a:p>
          <a:p>
            <a:pPr lvl="2"/>
            <a:r>
              <a:rPr lang="en-GB" dirty="0"/>
              <a:t>For stats questions: (deon.roos4@abdn.ac.uk)</a:t>
            </a:r>
          </a:p>
          <a:p>
            <a:pPr lvl="2"/>
            <a:r>
              <a:rPr lang="en-GB" dirty="0"/>
              <a:t>For course questions: (m.a.pinard@abdn.ac.uk)</a:t>
            </a:r>
          </a:p>
          <a:p>
            <a:r>
              <a:rPr lang="en-GB" dirty="0"/>
              <a:t>Course structure</a:t>
            </a:r>
          </a:p>
          <a:p>
            <a:pPr lvl="1"/>
            <a:r>
              <a:rPr lang="en-GB" dirty="0"/>
              <a:t>Mondays: Lectures</a:t>
            </a:r>
          </a:p>
          <a:p>
            <a:pPr lvl="2"/>
            <a:r>
              <a:rPr lang="en-GB" dirty="0"/>
              <a:t>From 09:00 to 12:00</a:t>
            </a:r>
          </a:p>
          <a:p>
            <a:pPr lvl="1"/>
            <a:r>
              <a:rPr lang="en-GB" dirty="0"/>
              <a:t>Tuesdays: Practicals / assessments</a:t>
            </a:r>
          </a:p>
          <a:p>
            <a:pPr lvl="2"/>
            <a:r>
              <a:rPr lang="en-GB" dirty="0"/>
              <a:t>From 09:00 to ca. 12:00</a:t>
            </a:r>
          </a:p>
          <a:p>
            <a:pPr lvl="1"/>
            <a:r>
              <a:rPr lang="en-GB" dirty="0"/>
              <a:t>Wednesdays: Lectures</a:t>
            </a:r>
          </a:p>
          <a:p>
            <a:pPr lvl="2"/>
            <a:r>
              <a:rPr lang="en-GB" dirty="0"/>
              <a:t>09:00 to 12:00</a:t>
            </a:r>
          </a:p>
          <a:p>
            <a:pPr lvl="1"/>
            <a:r>
              <a:rPr lang="en-GB" dirty="0"/>
              <a:t>Fridays: Practicals</a:t>
            </a:r>
          </a:p>
          <a:p>
            <a:pPr lvl="2"/>
            <a:r>
              <a:rPr lang="en-GB" dirty="0"/>
              <a:t>From 09:00 to ca. 12:00</a:t>
            </a:r>
          </a:p>
          <a:p>
            <a:r>
              <a:rPr lang="en-GB" dirty="0"/>
              <a:t>We need a course rep – speak with Michelle or Deon if interested</a:t>
            </a:r>
          </a:p>
          <a:p>
            <a:endParaRPr lang="en-GB" dirty="0"/>
          </a:p>
        </p:txBody>
      </p:sp>
      <p:pic>
        <p:nvPicPr>
          <p:cNvPr id="5" name="Picture Placeholder 4" descr="A picture containing mammal, outdoor, standing, staring&#10;&#10;Description automatically generated">
            <a:extLst>
              <a:ext uri="{FF2B5EF4-FFF2-40B4-BE49-F238E27FC236}">
                <a16:creationId xmlns:a16="http://schemas.microsoft.com/office/drawing/2014/main" id="{C9432B9F-042A-3C09-E8C7-A588C47A5EE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222" b="4222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3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EAB36-0247-490F-A408-8FD85361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9144000" cy="572700"/>
          </a:xfrm>
        </p:spPr>
        <p:txBody>
          <a:bodyPr/>
          <a:lstStyle/>
          <a:p>
            <a:pPr algn="ctr"/>
            <a:r>
              <a:rPr lang="en-GB" dirty="0"/>
              <a:t>BI3010 Timetable</a:t>
            </a:r>
          </a:p>
        </p:txBody>
      </p:sp>
    </p:spTree>
    <p:extLst>
      <p:ext uri="{BB962C8B-B14F-4D97-AF65-F5344CB8AC3E}">
        <p14:creationId xmlns:p14="http://schemas.microsoft.com/office/powerpoint/2010/main" val="130963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5AF6-7019-277E-5768-3DD9114D0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Manage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6D897-837E-9AE1-3765-F27841B5D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342900"/>
            <a:r>
              <a:rPr lang="en-GB" dirty="0"/>
              <a:t>This course is quantitative</a:t>
            </a:r>
          </a:p>
          <a:p>
            <a:pPr marL="457200" indent="-342900"/>
            <a:r>
              <a:rPr lang="en-GB" dirty="0"/>
              <a:t>Includes technical information</a:t>
            </a:r>
          </a:p>
          <a:p>
            <a:pPr marL="457200" indent="-342900"/>
            <a:r>
              <a:rPr lang="en-GB" dirty="0"/>
              <a:t>No expectation that you remember every detail</a:t>
            </a:r>
          </a:p>
          <a:p>
            <a:pPr marL="457200" indent="-342900"/>
            <a:r>
              <a:rPr lang="en-GB" dirty="0"/>
              <a:t>Instead, focus on the “flow” of logic</a:t>
            </a:r>
          </a:p>
          <a:p>
            <a:pPr marL="457200" indent="-342900"/>
            <a:r>
              <a:rPr lang="en-GB" dirty="0"/>
              <a:t>Details can always be googled. Understanding cannot.</a:t>
            </a:r>
          </a:p>
          <a:p>
            <a:endParaRPr lang="en-GB" dirty="0"/>
          </a:p>
        </p:txBody>
      </p:sp>
      <p:pic>
        <p:nvPicPr>
          <p:cNvPr id="5" name="Picture Placeholder 4" descr="A picture containing text, blackboard&#10;&#10;Description automatically generated">
            <a:extLst>
              <a:ext uri="{FF2B5EF4-FFF2-40B4-BE49-F238E27FC236}">
                <a16:creationId xmlns:a16="http://schemas.microsoft.com/office/drawing/2014/main" id="{F8E5A68F-7EB3-B45A-5F56-991D9B69A4E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7485" r="7485"/>
          <a:stretch>
            <a:fillRect/>
          </a:stretch>
        </p:blipFill>
        <p:spPr>
          <a:xfrm>
            <a:off x="4770438" y="0"/>
            <a:ext cx="43735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83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149BC-CDD0-4867-82E2-33B521CD8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</p:spPr>
        <p:txBody>
          <a:bodyPr/>
          <a:lstStyle/>
          <a:p>
            <a:pPr algn="ctr"/>
            <a:r>
              <a:rPr lang="en-GB" dirty="0"/>
              <a:t>Aims of the course: Stats in a practical setting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94BFB-67C8-4B02-8AD7-1DC2C350A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63549"/>
            <a:ext cx="4260300" cy="4017733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GB" dirty="0"/>
              <a:t>How to use stats to help guide decision making</a:t>
            </a:r>
          </a:p>
          <a:p>
            <a:pPr lvl="1">
              <a:spcBef>
                <a:spcPts val="0"/>
              </a:spcBef>
            </a:pPr>
            <a:r>
              <a:rPr lang="en-GB" dirty="0"/>
              <a:t>“My model suggests that Y occurs in 53% (CI, 45% to 67%) of sites. The options available to resolve this include X and Z.”</a:t>
            </a:r>
          </a:p>
          <a:p>
            <a:pPr>
              <a:buFont typeface="+mj-lt"/>
              <a:buAutoNum type="arabicPeriod"/>
            </a:pPr>
            <a:r>
              <a:rPr lang="en-GB" dirty="0"/>
              <a:t>Appreciate how stats are crucial to making sense of the world</a:t>
            </a:r>
          </a:p>
          <a:p>
            <a:pPr lvl="1">
              <a:spcBef>
                <a:spcPts val="0"/>
              </a:spcBef>
            </a:pPr>
            <a:r>
              <a:rPr lang="en-GB" dirty="0"/>
              <a:t>“Species A survival increases with X, declines with Y, and has no relationship with Z”</a:t>
            </a:r>
          </a:p>
          <a:p>
            <a:pPr>
              <a:buFont typeface="+mj-lt"/>
              <a:buAutoNum type="arabicPeriod"/>
            </a:pPr>
            <a:r>
              <a:rPr lang="en-GB" dirty="0"/>
              <a:t>Understand the underlying logic</a:t>
            </a:r>
          </a:p>
          <a:p>
            <a:pPr lvl="1">
              <a:spcBef>
                <a:spcPts val="0"/>
              </a:spcBef>
            </a:pPr>
            <a:r>
              <a:rPr lang="en-GB" dirty="0"/>
              <a:t>“Models estimate a value(s) for a parameter(s). Parameters describe associations between variables.”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B5F7672-F5EA-4A9F-995C-D20B751E8A0E}"/>
              </a:ext>
            </a:extLst>
          </p:cNvPr>
          <p:cNvSpPr txBox="1">
            <a:spLocks/>
          </p:cNvSpPr>
          <p:nvPr/>
        </p:nvSpPr>
        <p:spPr>
          <a:xfrm>
            <a:off x="4571999" y="863550"/>
            <a:ext cx="4260300" cy="393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+mj-lt"/>
              <a:buAutoNum type="arabicPeriod" startAt="4"/>
            </a:pPr>
            <a:r>
              <a:rPr lang="en-GB" dirty="0">
                <a:solidFill>
                  <a:schemeClr val="tx1"/>
                </a:solidFill>
              </a:rPr>
              <a:t>Gain some experience in communicating complex stats</a:t>
            </a:r>
          </a:p>
          <a:p>
            <a:pPr lvl="1"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“The model suggests species X benefits under high radiation doses, though there was lots of uncertainty”</a:t>
            </a:r>
          </a:p>
          <a:p>
            <a:pPr>
              <a:buFont typeface="+mj-lt"/>
              <a:buAutoNum type="arabicPeriod" startAt="4"/>
            </a:pPr>
            <a:r>
              <a:rPr lang="en-GB" dirty="0">
                <a:solidFill>
                  <a:schemeClr val="tx1"/>
                </a:solidFill>
              </a:rPr>
              <a:t>Gain some practical experience using stats</a:t>
            </a:r>
          </a:p>
          <a:p>
            <a:pPr lvl="1"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“I can use method X, give me a job”</a:t>
            </a:r>
          </a:p>
          <a:p>
            <a:pPr lvl="2"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Stats = ML/AI/data science etc.</a:t>
            </a:r>
          </a:p>
          <a:p>
            <a:pPr>
              <a:buFont typeface="+mj-lt"/>
              <a:buAutoNum type="arabicPeriod" startAt="4"/>
            </a:pPr>
            <a:r>
              <a:rPr lang="en-GB" dirty="0">
                <a:solidFill>
                  <a:schemeClr val="tx1"/>
                </a:solidFill>
              </a:rPr>
              <a:t>Be critical of published science</a:t>
            </a:r>
          </a:p>
          <a:p>
            <a:pPr lvl="1"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“Although Jones et al. suggest trophic cascades are ubiquitous, the data used is biassed given the sampling design and the analysis was overly simplistic”</a:t>
            </a:r>
          </a:p>
        </p:txBody>
      </p:sp>
      <p:sp>
        <p:nvSpPr>
          <p:cNvPr id="8" name="Google Shape;75;p15">
            <a:extLst>
              <a:ext uri="{FF2B5EF4-FFF2-40B4-BE49-F238E27FC236}">
                <a16:creationId xmlns:a16="http://schemas.microsoft.com/office/drawing/2014/main" id="{5E9AD8CD-87AA-41D7-9056-F3B2BBFA2421}"/>
              </a:ext>
            </a:extLst>
          </p:cNvPr>
          <p:cNvSpPr/>
          <p:nvPr/>
        </p:nvSpPr>
        <p:spPr>
          <a:xfrm>
            <a:off x="3260687" y="520087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98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FFFE5-F4F3-49F1-9AC1-306D6AC6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A416B-44CF-4401-89EF-B78784949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486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1397</TotalTime>
  <Words>673</Words>
  <Application>Microsoft Office PowerPoint</Application>
  <PresentationFormat>On-screen Show (16:9)</PresentationFormat>
  <Paragraphs>82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Bahnschrift Light</vt:lpstr>
      <vt:lpstr>Arial</vt:lpstr>
      <vt:lpstr>sbs_template</vt:lpstr>
      <vt:lpstr>Statistical Analysis of Biological Data</vt:lpstr>
      <vt:lpstr>Why are you here?</vt:lpstr>
      <vt:lpstr>Taking care of gorillas</vt:lpstr>
      <vt:lpstr>Why are you doing a  statistics course?</vt:lpstr>
      <vt:lpstr>Phrases I encounter too often</vt:lpstr>
      <vt:lpstr>“We’ve analysed it carefully”</vt:lpstr>
      <vt:lpstr>“But I can see it!  Just look at the data!”</vt:lpstr>
      <vt:lpstr>“I’m not biassed;  I’m a scientist”</vt:lpstr>
      <vt:lpstr>“My data isn’t biased; It’s the best available!”</vt:lpstr>
      <vt:lpstr>PowerPoint Presentation</vt:lpstr>
      <vt:lpstr>The prodigal child</vt:lpstr>
      <vt:lpstr>BI3010 structure</vt:lpstr>
      <vt:lpstr>BI3010 Timetable</vt:lpstr>
      <vt:lpstr>Manage expectations</vt:lpstr>
      <vt:lpstr>Aims of the course: Stats in a practical setting</vt:lpstr>
      <vt:lpstr>Assessments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Wildlife conservation &amp; management</dc:title>
  <dc:creator>Deon Roos</dc:creator>
  <cp:lastModifiedBy>Deon Roos</cp:lastModifiedBy>
  <cp:revision>30</cp:revision>
  <dcterms:modified xsi:type="dcterms:W3CDTF">2024-06-25T14:55:32Z</dcterms:modified>
</cp:coreProperties>
</file>