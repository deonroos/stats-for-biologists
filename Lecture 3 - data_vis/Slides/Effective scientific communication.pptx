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330" r:id="rId3"/>
    <p:sldId id="331" r:id="rId4"/>
    <p:sldId id="332" r:id="rId5"/>
    <p:sldId id="333" r:id="rId6"/>
    <p:sldId id="298" r:id="rId7"/>
    <p:sldId id="302" r:id="rId8"/>
    <p:sldId id="303" r:id="rId9"/>
    <p:sldId id="306" r:id="rId10"/>
    <p:sldId id="334" r:id="rId11"/>
    <p:sldId id="305" r:id="rId12"/>
    <p:sldId id="329" r:id="rId13"/>
    <p:sldId id="335" r:id="rId14"/>
    <p:sldId id="336" r:id="rId15"/>
    <p:sldId id="337" r:id="rId16"/>
    <p:sldId id="338" r:id="rId17"/>
    <p:sldId id="339" r:id="rId18"/>
    <p:sldId id="340" r:id="rId19"/>
    <p:sldId id="304" r:id="rId20"/>
    <p:sldId id="257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4" autoAdjust="0"/>
    <p:restoredTop sz="94660"/>
  </p:normalViewPr>
  <p:slideViewPr>
    <p:cSldViewPr snapToGrid="0">
      <p:cViewPr varScale="1">
        <p:scale>
          <a:sx n="108" d="100"/>
          <a:sy n="108" d="100"/>
        </p:scale>
        <p:origin x="22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0EF085-90BA-6B79-A198-AE27F69DC1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4567" y="565410"/>
            <a:ext cx="6096000" cy="2863589"/>
          </a:xfrm>
        </p:spPr>
        <p:txBody>
          <a:bodyPr anchor="ctr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2960FB6-F389-7EDD-D9DB-A406B89F355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4567" y="3552161"/>
            <a:ext cx="6096000" cy="2607569"/>
          </a:xfrm>
        </p:spPr>
        <p:txBody>
          <a:bodyPr anchor="ctr"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E001CD27-4DF4-05EC-92B4-C7555C3D018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50677" y="0"/>
            <a:ext cx="5741324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B5E048B3-2145-631D-3138-1DF0AD6D38F2}"/>
              </a:ext>
            </a:extLst>
          </p:cNvPr>
          <p:cNvCxnSpPr/>
          <p:nvPr/>
        </p:nvCxnSpPr>
        <p:spPr>
          <a:xfrm>
            <a:off x="1313411" y="3491345"/>
            <a:ext cx="375735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89364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30639-2CA7-2272-840E-F8F595ABC7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6201295" cy="1325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D59DF2-E981-9079-7762-2C88651F5B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26613"/>
            <a:ext cx="6201295" cy="524019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BEC5A3C4-A2EA-7545-B99B-E8F489810FE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359525" y="0"/>
            <a:ext cx="5832475" cy="6858000"/>
          </a:xfrm>
        </p:spPr>
        <p:txBody>
          <a:bodyPr/>
          <a:lstStyle/>
          <a:p>
            <a:r>
              <a:rPr lang="en-US"/>
              <a:t>Click icon to add picture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44037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B9374-2DD6-FA11-BF6F-AE419E0A6BB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0" y="1426614"/>
            <a:ext cx="5893724" cy="5162204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FA4DDC-5EE8-4D0D-208A-D5A4CC40A5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201295" y="0"/>
            <a:ext cx="5990705" cy="5162204"/>
          </a:xfrm>
        </p:spPr>
        <p:txBody>
          <a:bodyPr anchor="ctr"/>
          <a:lstStyle>
            <a:lvl1pPr algn="ctr">
              <a:defRPr/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896FFCEF-D528-27F4-CF96-A8F674BCA083}"/>
              </a:ext>
            </a:extLst>
          </p:cNvPr>
          <p:cNvSpPr txBox="1">
            <a:spLocks/>
          </p:cNvSpPr>
          <p:nvPr/>
        </p:nvSpPr>
        <p:spPr>
          <a:xfrm>
            <a:off x="0" y="0"/>
            <a:ext cx="620129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4E6B47C7-8888-2E6B-0D7C-CF46BFD9A3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201295" y="5162204"/>
            <a:ext cx="5990705" cy="169579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37086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84E6FA-39AF-0043-523E-B277169D81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9A0AF4-8461-F6DF-F592-54CFA693C9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E5C58F-9BBD-50FA-B899-3B5F919C2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AE1F42-328A-B3A8-7FA7-0BF8528BAC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68873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8958E7-8733-1588-CE76-0710036CC1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043C91-73BF-C49E-46BA-834638FC0B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FDC1F7-08BE-633D-0E8D-18F30CEE5A9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4D961F-706F-451E-ABF3-F672C1F454D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236AEAE-47C4-6C9C-5B4C-F6E31977E81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D72731F-9715-FADD-FEBD-65D90CABA4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5E7A07B-AF32-2EA1-F513-0D1F38BAB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EB01B04-63C5-991E-FD0F-2ED9257DC0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2557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13767-1669-64A9-2C16-1A1F6165D8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1F01AD-E823-7B4D-D421-EF7BE290C0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313AC7F-2C26-3190-A705-5FC5DD18BF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6DF203F-F57C-7145-B743-4A084B3A5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34422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3E02D19-147D-AD60-6ACC-2F7283CEE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CF569D-7098-9B6D-B851-1B18E6DB6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18D08F-69F0-C410-CAC9-DF16A0BF9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3214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C2567-4A48-3F47-EF88-E32A67EDD9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90797-1FEC-B310-9CA0-6642F4FE7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5BDC1EB-E335-7190-8BFD-48E25C309A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154E58-0B6A-491E-7CE0-88114C141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198572-7396-BEBC-0D56-24BE2A95E1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2279F2-BB85-6763-45F1-D73C041BD2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46683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83E09-8249-AC15-7FC0-A0BAD598E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DC329DF-266D-F8F8-A195-53A7576BBFC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1CFA6F2-3F6B-26F9-74E6-E4E35007E9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14BCDB-42E3-AB80-31A3-907D1B5975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96EC699-83D3-6581-966B-8882D2158B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550ABE-17BA-CEDA-390B-2BA6E004B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843257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1BF0F-4D20-22A7-227D-78B4DDCA7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010818-F611-B1A2-8A19-C3130A329F9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543987-925F-B621-E68B-A3BED93505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52031D-ADF7-744B-5905-8C84ADA49B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7D02BB-73AF-8339-0B3A-B736F5E386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2879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2A4840D-0D28-B8EB-88E1-65CDAE3316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43A8637-D9F6-1719-1804-4B3705C901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50F13-C53E-CA05-E313-C1579E84EB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5909B7E-626E-8018-4CBE-414FB0F1D8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0D0C27-06BF-1AD4-3587-FD26F1D7BA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8945929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A17CD0-7B88-F9FB-803E-113D19A359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E5CED62-A5FC-1FB9-E163-1AFC61A9260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E63310-52F6-51FB-0D9F-3C8F99E183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9D96F-D491-2FEB-7C72-B67A175271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DF0635-971A-B587-DD88-4E2F2CD9B1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71624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0DBCEE-32D3-4607-B16B-B46CE4F471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168338-BEEE-4DBF-BEA2-D2464688BD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9110DB-94B3-469E-9827-3E74674AD9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AFF236-AE1D-412A-9EC8-AA8F87AA5209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7584CC-F476-4764-821C-7AC0D644A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8A9CF-384D-433F-88ED-A1B90D7582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E3480F2-2078-46F8-845B-093EAA8A3C0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301095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9FFACB-206F-5777-5BAD-5BF8E96691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04015"/>
            <a:ext cx="10515600" cy="175398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88529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246E56-8908-0E6A-4E62-88CF6D359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D1896B-C040-3D2C-A619-0B877E3383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0B1AC1E-960F-82DB-0E5A-2F328EAC2C8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B0A6AD0-D223-4878-8425-27A3A9C2BE85}" type="datetimeFigureOut">
              <a:rPr lang="en-GB" smtClean="0"/>
              <a:t>03/07/2024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FF5B2-21B1-9528-920D-DD4BF8C0BD0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D16DDC-4E03-310B-1091-75EB5EDC3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937D83-7601-49DB-B350-741867355622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06900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BE1645-1BFF-139D-08D4-917882E7F11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i="1" dirty="0"/>
              <a:t>Effective</a:t>
            </a:r>
            <a:r>
              <a:rPr lang="en-GB" dirty="0"/>
              <a:t> scientific communication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B3983B-1F2D-D2EA-126C-F907DF68D3E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How to do data visualisation in an effective way</a:t>
            </a:r>
          </a:p>
        </p:txBody>
      </p:sp>
    </p:spTree>
    <p:extLst>
      <p:ext uri="{BB962C8B-B14F-4D97-AF65-F5344CB8AC3E}">
        <p14:creationId xmlns:p14="http://schemas.microsoft.com/office/powerpoint/2010/main" val="30969333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E80DD9-9EF7-8EC3-9962-426163C440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Why visualise?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087975-1157-4721-9FDC-178B5C0CC5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13 datasets from different “experiments”</a:t>
            </a:r>
          </a:p>
          <a:p>
            <a:r>
              <a:rPr lang="en-GB" dirty="0"/>
              <a:t>If your hypothesis was:</a:t>
            </a:r>
          </a:p>
          <a:p>
            <a:pPr lvl="1"/>
            <a:r>
              <a:rPr lang="en-GB" dirty="0"/>
              <a:t>“There is no difference between these experiments”</a:t>
            </a:r>
          </a:p>
          <a:p>
            <a:pPr lvl="1"/>
            <a:r>
              <a:rPr lang="en-GB" dirty="0"/>
              <a:t>Would you reject or accept?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C3F45D3-447E-F348-16E5-465854AA63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3956026"/>
              </p:ext>
            </p:extLst>
          </p:nvPr>
        </p:nvGraphicFramePr>
        <p:xfrm>
          <a:off x="6201294" y="0"/>
          <a:ext cx="5990706" cy="6857998"/>
        </p:xfrm>
        <a:graphic>
          <a:graphicData uri="http://schemas.openxmlformats.org/drawingml/2006/table">
            <a:tbl>
              <a:tblPr/>
              <a:tblGrid>
                <a:gridCol w="998451">
                  <a:extLst>
                    <a:ext uri="{9D8B030D-6E8A-4147-A177-3AD203B41FA5}">
                      <a16:colId xmlns:a16="http://schemas.microsoft.com/office/drawing/2014/main" val="790592716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2201809949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3569464386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1725550767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1752848633"/>
                    </a:ext>
                  </a:extLst>
                </a:gridCol>
                <a:gridCol w="998451">
                  <a:extLst>
                    <a:ext uri="{9D8B030D-6E8A-4147-A177-3AD203B41FA5}">
                      <a16:colId xmlns:a16="http://schemas.microsoft.com/office/drawing/2014/main" val="2430981204"/>
                    </a:ext>
                  </a:extLst>
                </a:gridCol>
              </a:tblGrid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Experiment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Corr(</a:t>
                      </a:r>
                      <a:r>
                        <a:rPr lang="en-GB" sz="16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x,y</a:t>
                      </a:r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6629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209994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235006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821248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0885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1156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734727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G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4552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32200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467607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J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582985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2478261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951294"/>
                  </a:ext>
                </a:extLst>
              </a:tr>
              <a:tr h="48985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6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5878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15307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11B13-4BA2-B40A-E71D-896751EF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Why visualise?</a:t>
            </a:r>
          </a:p>
        </p:txBody>
      </p:sp>
      <p:pic>
        <p:nvPicPr>
          <p:cNvPr id="4" name="Picture 3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3BC4383A-3158-9D6D-0CEE-375DBD8CF3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8" r="17685"/>
          <a:stretch/>
        </p:blipFill>
        <p:spPr>
          <a:xfrm>
            <a:off x="0" y="1197429"/>
            <a:ext cx="7823200" cy="5660571"/>
          </a:xfrm>
          <a:prstGeom prst="rect">
            <a:avLst/>
          </a:prstGeom>
        </p:spPr>
      </p:pic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27E227C-A3D4-289F-9A11-D5C0967992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2935536"/>
              </p:ext>
            </p:extLst>
          </p:nvPr>
        </p:nvGraphicFramePr>
        <p:xfrm>
          <a:off x="8026404" y="1197429"/>
          <a:ext cx="4165596" cy="5311418"/>
        </p:xfrm>
        <a:graphic>
          <a:graphicData uri="http://schemas.openxmlformats.org/drawingml/2006/table">
            <a:tbl>
              <a:tblPr/>
              <a:tblGrid>
                <a:gridCol w="694266">
                  <a:extLst>
                    <a:ext uri="{9D8B030D-6E8A-4147-A177-3AD203B41FA5}">
                      <a16:colId xmlns:a16="http://schemas.microsoft.com/office/drawing/2014/main" val="790592716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2201809949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3569464386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1725550767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1752848633"/>
                    </a:ext>
                  </a:extLst>
                </a:gridCol>
                <a:gridCol w="694266">
                  <a:extLst>
                    <a:ext uri="{9D8B030D-6E8A-4147-A177-3AD203B41FA5}">
                      <a16:colId xmlns:a16="http://schemas.microsoft.com/office/drawing/2014/main" val="2430981204"/>
                    </a:ext>
                  </a:extLst>
                </a:gridCol>
              </a:tblGrid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Dataset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Mean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x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Std dev 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Corr(</a:t>
                      </a:r>
                      <a:r>
                        <a:rPr lang="en-GB" sz="1100" b="0" i="0" u="none" strike="noStrike" dirty="0" err="1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x,y</a:t>
                      </a:r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9866292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209994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235006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5821248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7308852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871156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734727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G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84552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H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2832200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I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12467607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J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582985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K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22478261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L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59951294"/>
                  </a:ext>
                </a:extLst>
              </a:tr>
              <a:tr h="379387"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M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54.3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47.8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16.8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26.9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GB" sz="1100" b="0" i="0" u="none" strike="noStrike" dirty="0">
                          <a:solidFill>
                            <a:schemeClr val="tx1"/>
                          </a:solidFill>
                          <a:effectLst/>
                          <a:latin typeface="Aptos Narrow" panose="020B0004020202020204" pitchFamily="34" charset="0"/>
                        </a:rPr>
                        <a:t>-0.1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chemeClr val="tx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58784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79576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11B13-4BA2-B40A-E71D-896751EF65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Why visualise?</a:t>
            </a:r>
          </a:p>
        </p:txBody>
      </p:sp>
      <p:pic>
        <p:nvPicPr>
          <p:cNvPr id="4" name="Picture 3" descr="A screenshot of a computer game&#10;&#10;Description automatically generated">
            <a:extLst>
              <a:ext uri="{FF2B5EF4-FFF2-40B4-BE49-F238E27FC236}">
                <a16:creationId xmlns:a16="http://schemas.microsoft.com/office/drawing/2014/main" id="{3BC4383A-3158-9D6D-0CEE-375DBD8CF34E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148" r="17685"/>
          <a:stretch/>
        </p:blipFill>
        <p:spPr>
          <a:xfrm>
            <a:off x="0" y="1197429"/>
            <a:ext cx="7823200" cy="566057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2812C-CCD9-22D3-055E-348D5AD4AA3F}"/>
              </a:ext>
            </a:extLst>
          </p:cNvPr>
          <p:cNvSpPr txBox="1">
            <a:spLocks/>
          </p:cNvSpPr>
          <p:nvPr/>
        </p:nvSpPr>
        <p:spPr>
          <a:xfrm>
            <a:off x="8021255" y="1875099"/>
            <a:ext cx="4039565" cy="4562524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Calculating summary statistics is great</a:t>
            </a:r>
          </a:p>
          <a:p>
            <a:r>
              <a:rPr lang="en-GB" dirty="0"/>
              <a:t>But no sufficient</a:t>
            </a:r>
          </a:p>
          <a:p>
            <a:r>
              <a:rPr lang="en-GB" dirty="0"/>
              <a:t>Summary stats (e.g. means) obscures a lot of information</a:t>
            </a:r>
          </a:p>
          <a:p>
            <a:r>
              <a:rPr lang="en-GB" dirty="0"/>
              <a:t>Visualisations (normally) don’t</a:t>
            </a:r>
          </a:p>
        </p:txBody>
      </p:sp>
    </p:spTree>
    <p:extLst>
      <p:ext uri="{BB962C8B-B14F-4D97-AF65-F5344CB8AC3E}">
        <p14:creationId xmlns:p14="http://schemas.microsoft.com/office/powerpoint/2010/main" val="17220964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When visuals hide information</a:t>
            </a:r>
          </a:p>
        </p:txBody>
      </p:sp>
    </p:spTree>
    <p:extLst>
      <p:ext uri="{BB962C8B-B14F-4D97-AF65-F5344CB8AC3E}">
        <p14:creationId xmlns:p14="http://schemas.microsoft.com/office/powerpoint/2010/main" val="14948314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D8A25E5B-FE8D-4373-AF64-9341CADFB79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/>
          <a:srcRect t="14193" b="24434"/>
          <a:stretch/>
        </p:blipFill>
        <p:spPr>
          <a:xfrm>
            <a:off x="0" y="-1"/>
            <a:ext cx="12191999" cy="6858001"/>
          </a:xfrm>
        </p:spPr>
      </p:pic>
      <p:pic>
        <p:nvPicPr>
          <p:cNvPr id="9" name="Picture 8" descr="A picture containing tree, outdoor, grass, branch&#10;&#10;Description automatically generated">
            <a:extLst>
              <a:ext uri="{FF2B5EF4-FFF2-40B4-BE49-F238E27FC236}">
                <a16:creationId xmlns:a16="http://schemas.microsoft.com/office/drawing/2014/main" id="{B2CCDC11-8F09-445A-BF03-96EE1127AD4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49120" y="1919224"/>
            <a:ext cx="2743200" cy="1840992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  <p:extLst>
      <p:ext uri="{BB962C8B-B14F-4D97-AF65-F5344CB8AC3E}">
        <p14:creationId xmlns:p14="http://schemas.microsoft.com/office/powerpoint/2010/main" val="41013411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EC86823D-06E9-405C-970B-905D1597FA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B0C65718-7F52-4298-814E-1B4454657269}"/>
              </a:ext>
            </a:extLst>
          </p:cNvPr>
          <p:cNvCxnSpPr/>
          <p:nvPr/>
        </p:nvCxnSpPr>
        <p:spPr>
          <a:xfrm flipV="1">
            <a:off x="3865944" y="3727049"/>
            <a:ext cx="1840375" cy="983848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1137781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BBC3-5AF3-F73F-7D8E-BC3524AF8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01AB-C70A-BF9B-C0BA-9F261E9F5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is percentage of old growth forest related to the density of orangutan nests in a 1 ha area?</a:t>
            </a:r>
          </a:p>
          <a:p>
            <a:r>
              <a:rPr lang="en-GB" dirty="0"/>
              <a:t>Is there a relationship?</a:t>
            </a:r>
          </a:p>
          <a:p>
            <a:r>
              <a:rPr lang="en-GB" dirty="0"/>
              <a:t>Is it worth going through the pain of doing statistics?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2BEBDD5-9A62-7877-53B1-86C2952ECC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6267" y="2309283"/>
            <a:ext cx="5181600" cy="30292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151368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A584-CF1A-30C4-AF94-562072B04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Is there a relationship?</a:t>
            </a:r>
          </a:p>
        </p:txBody>
      </p:sp>
      <p:pic>
        <p:nvPicPr>
          <p:cNvPr id="6" name="Picture 5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721C6164-049C-4D09-4147-CB62B4E146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7429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3475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97A584-CF1A-30C4-AF94-562072B04C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0"/>
            <a:ext cx="10515600" cy="1325563"/>
          </a:xfrm>
        </p:spPr>
        <p:txBody>
          <a:bodyPr/>
          <a:lstStyle/>
          <a:p>
            <a:pPr algn="ctr"/>
            <a:r>
              <a:rPr lang="en-GB" dirty="0"/>
              <a:t>Is there a relationship?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65FB59-EC30-3908-9D82-0752A1651E02}"/>
              </a:ext>
            </a:extLst>
          </p:cNvPr>
          <p:cNvSpPr txBox="1">
            <a:spLocks/>
          </p:cNvSpPr>
          <p:nvPr/>
        </p:nvSpPr>
        <p:spPr>
          <a:xfrm>
            <a:off x="0" y="3429000"/>
            <a:ext cx="12192000" cy="1004936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</a:pPr>
            <a:r>
              <a:rPr lang="en-GB" dirty="0"/>
              <a:t>What is the relationship between percentage of old growth forest and density of orangutan nests in a 1 ha area?</a:t>
            </a:r>
          </a:p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44207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CB4E1-9E01-6D53-C2E8-CF33A6C2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What’s wrong with this figure?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213406-3C9E-4DBD-B828-0F4E4B6BBC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Axes are the wrong way around</a:t>
            </a:r>
          </a:p>
          <a:p>
            <a:r>
              <a:rPr lang="en-GB" dirty="0"/>
              <a:t>Colours are overwhelming</a:t>
            </a:r>
          </a:p>
          <a:p>
            <a:r>
              <a:rPr lang="en-GB" dirty="0"/>
              <a:t>Size of points are hard to read</a:t>
            </a:r>
          </a:p>
          <a:p>
            <a:r>
              <a:rPr lang="en-GB" dirty="0"/>
              <a:t>Facets add extra complexity</a:t>
            </a:r>
          </a:p>
          <a:p>
            <a:r>
              <a:rPr lang="en-GB" dirty="0"/>
              <a:t>Ultimately, does a poor job of explaining the relationship we want it to explain</a:t>
            </a:r>
          </a:p>
        </p:txBody>
      </p:sp>
      <p:pic>
        <p:nvPicPr>
          <p:cNvPr id="18" name="Picture Placeholder 17" descr="A graph of different colored dots&#10;&#10;Description automatically generated">
            <a:extLst>
              <a:ext uri="{FF2B5EF4-FFF2-40B4-BE49-F238E27FC236}">
                <a16:creationId xmlns:a16="http://schemas.microsoft.com/office/drawing/2014/main" id="{100A8BCD-0599-C75F-04D2-5BF41D193CB2}"/>
              </a:ext>
            </a:extLst>
          </p:cNvPr>
          <p:cNvPicPr>
            <a:picLocks noGrp="1" noChangeAspect="1"/>
          </p:cNvPicPr>
          <p:nvPr>
            <p:ph type="pic" sz="quarter" idx="10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1" b="691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880528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16D751-B33A-A35F-8BF6-693F4328A8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Guidance for effective visualisation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AABC2BB-4AB1-FCA2-82F0-6129C3F6A1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8711" y="299684"/>
            <a:ext cx="6509808" cy="443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74386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computer&#10;&#10;Description automatically generated">
            <a:extLst>
              <a:ext uri="{FF2B5EF4-FFF2-40B4-BE49-F238E27FC236}">
                <a16:creationId xmlns:a16="http://schemas.microsoft.com/office/drawing/2014/main" id="{E69D3B03-57F5-AD3C-6B5E-AC17E281E7F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8588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 shot of a computer screen&#10;&#10;Description automatically generated">
            <a:extLst>
              <a:ext uri="{FF2B5EF4-FFF2-40B4-BE49-F238E27FC236}">
                <a16:creationId xmlns:a16="http://schemas.microsoft.com/office/drawing/2014/main" id="{EC9EDD58-7193-E8D7-7432-06315E9D1D0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477252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E4407583-AE5C-92D8-2FAC-97BBF9424CD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03279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 screenshot of a computer&#10;&#10;Description automatically generated">
            <a:extLst>
              <a:ext uri="{FF2B5EF4-FFF2-40B4-BE49-F238E27FC236}">
                <a16:creationId xmlns:a16="http://schemas.microsoft.com/office/drawing/2014/main" id="{73CD98BF-CD40-B548-E852-47C712635C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80572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black screen with white text&#10;&#10;Description automatically generated">
            <a:extLst>
              <a:ext uri="{FF2B5EF4-FFF2-40B4-BE49-F238E27FC236}">
                <a16:creationId xmlns:a16="http://schemas.microsoft.com/office/drawing/2014/main" id="{EAB4AA01-AB16-973C-2BD0-A5D45908A5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22772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graph on a black background&#10;&#10;Description automatically generated">
            <a:extLst>
              <a:ext uri="{FF2B5EF4-FFF2-40B4-BE49-F238E27FC236}">
                <a16:creationId xmlns:a16="http://schemas.microsoft.com/office/drawing/2014/main" id="{F23F501B-2968-2F31-30D7-BC86D0BC18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598714"/>
            <a:ext cx="12192000" cy="5660571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4C0E209-45CA-F784-DC62-731FC63B7D86}"/>
                  </a:ext>
                </a:extLst>
              </p:cNvPr>
              <p:cNvSpPr txBox="1"/>
              <p:nvPr/>
            </p:nvSpPr>
            <p:spPr>
              <a:xfrm>
                <a:off x="756355" y="1004711"/>
                <a:ext cx="10592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4C0E209-45CA-F784-DC62-731FC63B7D8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6355" y="1004711"/>
                <a:ext cx="1059201" cy="52322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6F885-1183-A905-46F1-833C76581AC5}"/>
                  </a:ext>
                </a:extLst>
              </p:cNvPr>
              <p:cNvSpPr txBox="1"/>
              <p:nvPr/>
            </p:nvSpPr>
            <p:spPr>
              <a:xfrm>
                <a:off x="3222977" y="1004711"/>
                <a:ext cx="10592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?=7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45C6F885-1183-A905-46F1-833C76581A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22977" y="1004711"/>
                <a:ext cx="1059201" cy="523220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381C49-0C34-A4DD-8DB0-7751BC63EFD2}"/>
                  </a:ext>
                </a:extLst>
              </p:cNvPr>
              <p:cNvSpPr txBox="1"/>
              <p:nvPr/>
            </p:nvSpPr>
            <p:spPr>
              <a:xfrm>
                <a:off x="5566399" y="1004711"/>
                <a:ext cx="10592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?=3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F6381C49-0C34-A4DD-8DB0-7751BC63E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66399" y="1004711"/>
                <a:ext cx="1059201" cy="52322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8EE4B8-4CDB-4D7A-0861-16414B156FF6}"/>
                  </a:ext>
                </a:extLst>
              </p:cNvPr>
              <p:cNvSpPr txBox="1"/>
              <p:nvPr/>
            </p:nvSpPr>
            <p:spPr>
              <a:xfrm>
                <a:off x="7909821" y="1004711"/>
                <a:ext cx="10592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?=2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F78EE4B8-4CDB-4D7A-0861-16414B156F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09821" y="1004711"/>
                <a:ext cx="1059201" cy="52322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DABA84-D23C-E51A-461F-929F955B4A33}"/>
                  </a:ext>
                </a:extLst>
              </p:cNvPr>
              <p:cNvSpPr txBox="1"/>
              <p:nvPr/>
            </p:nvSpPr>
            <p:spPr>
              <a:xfrm>
                <a:off x="10376444" y="1004711"/>
                <a:ext cx="1059201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800" b="0" i="1" smtClean="0">
                          <a:latin typeface="Cambria Math" panose="02040503050406030204" pitchFamily="18" charset="0"/>
                        </a:rPr>
                        <m:t>?=8</m:t>
                      </m:r>
                    </m:oMath>
                  </m:oMathPara>
                </a14:m>
                <a:endParaRPr lang="en-GB" sz="2800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2DABA84-D23C-E51A-461F-929F955B4A3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76444" y="1004711"/>
                <a:ext cx="1059201" cy="52322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949879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  <p:bldP spid="12" grpId="0"/>
      <p:bldP spid="13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4BBC3-5AF3-F73F-7D8E-BC3524AF8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Our research question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1E01AB-C70A-BF9B-C0BA-9F261E9F5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How is percentage of old growth forest related to the density of orangutan nests in a 1 ha area?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219E60-D65B-945C-19F3-52FC92EBD8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2660" y="706953"/>
            <a:ext cx="3377624" cy="271857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D000E79-EA77-1C8F-B615-E19EFDB2351F}"/>
              </a:ext>
            </a:extLst>
          </p:cNvPr>
          <p:cNvSpPr txBox="1"/>
          <p:nvPr/>
        </p:nvSpPr>
        <p:spPr>
          <a:xfrm>
            <a:off x="6956385" y="4046710"/>
            <a:ext cx="49263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orang_mod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 &lt;-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lm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(density ~ forest, </a:t>
            </a:r>
          </a:p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		   data =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orang_dat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3D846C9-C0E5-8714-BB21-8518290DC151}"/>
              </a:ext>
            </a:extLst>
          </p:cNvPr>
          <p:cNvSpPr txBox="1"/>
          <p:nvPr/>
        </p:nvSpPr>
        <p:spPr>
          <a:xfrm>
            <a:off x="6956385" y="4693041"/>
            <a:ext cx="26661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summary(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orang_mod</a:t>
            </a:r>
            <a:r>
              <a:rPr lang="en-GB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476464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7" grpId="0"/>
      <p:bldP spid="8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F0D72-C640-5642-1814-2B55E20299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Which of these is more useful to you?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E9B937F6-4D2A-6C0B-90C2-11400671E0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7928628"/>
                  </p:ext>
                </p:extLst>
              </p:nvPr>
            </p:nvGraphicFramePr>
            <p:xfrm>
              <a:off x="237068" y="3169356"/>
              <a:ext cx="3815643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7243">
                      <a:extLst>
                        <a:ext uri="{9D8B030D-6E8A-4147-A177-3AD203B41FA5}">
                          <a16:colId xmlns:a16="http://schemas.microsoft.com/office/drawing/2014/main" val="1057427920"/>
                        </a:ext>
                      </a:extLst>
                    </a:gridCol>
                    <a:gridCol w="1117600">
                      <a:extLst>
                        <a:ext uri="{9D8B030D-6E8A-4147-A177-3AD203B41FA5}">
                          <a16:colId xmlns:a16="http://schemas.microsoft.com/office/drawing/2014/main" val="940695532"/>
                        </a:ext>
                      </a:extLst>
                    </a:gridCol>
                    <a:gridCol w="1320800">
                      <a:extLst>
                        <a:ext uri="{9D8B030D-6E8A-4147-A177-3AD203B41FA5}">
                          <a16:colId xmlns:a16="http://schemas.microsoft.com/office/drawing/2014/main" val="391333872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Std. Error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39927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1.39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21831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GB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2.39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948087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E9B937F6-4D2A-6C0B-90C2-11400671E082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447928628"/>
                  </p:ext>
                </p:extLst>
              </p:nvPr>
            </p:nvGraphicFramePr>
            <p:xfrm>
              <a:off x="237068" y="3169356"/>
              <a:ext cx="3815643" cy="11125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377243">
                      <a:extLst>
                        <a:ext uri="{9D8B030D-6E8A-4147-A177-3AD203B41FA5}">
                          <a16:colId xmlns:a16="http://schemas.microsoft.com/office/drawing/2014/main" val="1057427920"/>
                        </a:ext>
                      </a:extLst>
                    </a:gridCol>
                    <a:gridCol w="1117600">
                      <a:extLst>
                        <a:ext uri="{9D8B030D-6E8A-4147-A177-3AD203B41FA5}">
                          <a16:colId xmlns:a16="http://schemas.microsoft.com/office/drawing/2014/main" val="940695532"/>
                        </a:ext>
                      </a:extLst>
                    </a:gridCol>
                    <a:gridCol w="1320800">
                      <a:extLst>
                        <a:ext uri="{9D8B030D-6E8A-4147-A177-3AD203B41FA5}">
                          <a16:colId xmlns:a16="http://schemas.microsoft.com/office/drawing/2014/main" val="3913338720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Estimate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Std. Error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53399271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2" t="-106452" r="-179204" b="-12258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1.39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0.06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4218312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2"/>
                          <a:stretch>
                            <a:fillRect l="-442" t="-209836" r="-179204" b="-2459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2.39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GB" dirty="0"/>
                            <a:t>0.19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700948087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7415671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bs_slide_templat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Bahnschrift Light">
      <a:majorFont>
        <a:latin typeface="Bahnschrift Light"/>
        <a:ea typeface=""/>
        <a:cs typeface=""/>
      </a:majorFont>
      <a:minorFont>
        <a:latin typeface="Bahnschrift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tion1" id="{A73481AF-5549-42F3-8B18-F5ECBED35AE0}" vid="{3EE02A52-7366-4D84-849D-12FD7F0396E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sbs_slide_template</Template>
  <TotalTime>258</TotalTime>
  <Words>488</Words>
  <Application>Microsoft Office PowerPoint</Application>
  <PresentationFormat>Widescreen</PresentationFormat>
  <Paragraphs>216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Aptos Narrow</vt:lpstr>
      <vt:lpstr>Arial</vt:lpstr>
      <vt:lpstr>Bahnschrift Light</vt:lpstr>
      <vt:lpstr>Cambria Math</vt:lpstr>
      <vt:lpstr>Courier New</vt:lpstr>
      <vt:lpstr>sbs_slide_template</vt:lpstr>
      <vt:lpstr>Effective scientific communication</vt:lpstr>
      <vt:lpstr>Why visualise?</vt:lpstr>
      <vt:lpstr>Why visualise?</vt:lpstr>
      <vt:lpstr>Why visualise?</vt:lpstr>
      <vt:lpstr>When visuals hide information</vt:lpstr>
      <vt:lpstr>PowerPoint Presentation</vt:lpstr>
      <vt:lpstr>PowerPoint Presentation</vt:lpstr>
      <vt:lpstr>Our research question</vt:lpstr>
      <vt:lpstr>Is there a relationship?</vt:lpstr>
      <vt:lpstr>Is there a relationship?</vt:lpstr>
      <vt:lpstr>What’s wrong with this figure?</vt:lpstr>
      <vt:lpstr>Guidance for effective visualisation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Our research question</vt:lpstr>
      <vt:lpstr>Which of these is more useful to you?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Effective scientific communication</dc:title>
  <dc:creator>Roos, Deon</dc:creator>
  <cp:lastModifiedBy>Roos, Deon</cp:lastModifiedBy>
  <cp:revision>1</cp:revision>
  <dcterms:created xsi:type="dcterms:W3CDTF">2024-07-03T11:14:26Z</dcterms:created>
  <dcterms:modified xsi:type="dcterms:W3CDTF">2024-07-03T15:32:36Z</dcterms:modified>
</cp:coreProperties>
</file>