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330" r:id="rId3"/>
    <p:sldId id="331" r:id="rId4"/>
    <p:sldId id="332" r:id="rId5"/>
    <p:sldId id="333" r:id="rId6"/>
    <p:sldId id="298" r:id="rId7"/>
    <p:sldId id="302" r:id="rId8"/>
    <p:sldId id="303" r:id="rId9"/>
    <p:sldId id="306" r:id="rId10"/>
    <p:sldId id="334" r:id="rId11"/>
    <p:sldId id="305" r:id="rId12"/>
    <p:sldId id="329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9" r:id="rId25"/>
    <p:sldId id="346" r:id="rId26"/>
    <p:sldId id="347" r:id="rId27"/>
    <p:sldId id="348" r:id="rId28"/>
    <p:sldId id="35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6283" autoAdjust="0"/>
  </p:normalViewPr>
  <p:slideViewPr>
    <p:cSldViewPr snapToGrid="0">
      <p:cViewPr varScale="1">
        <p:scale>
          <a:sx n="109" d="100"/>
          <a:sy n="109" d="100"/>
        </p:scale>
        <p:origin x="10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EC31B-32E0-41B0-B2C2-379AB01D7078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B187E-988C-4654-B963-B3B3AF05EE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715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B187E-988C-4654-B963-B3B3AF05EE4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565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B187E-988C-4654-B963-B3B3AF05EE4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234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B187E-988C-4654-B963-B3B3AF05EE4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954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B187E-988C-4654-B963-B3B3AF05EE4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468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93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40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70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4E6FA-39AF-0043-523E-B277169D8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0AF4-8461-F6DF-F592-54CFA693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5C58F-9BBD-50FA-B899-3B5F919C2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E1F42-328A-B3A8-7FA7-0BF8528B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8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55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42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21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66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43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879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459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7CD0-7B88-F9FB-803E-113D19A35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CED62-A5FC-1FB9-E163-1AFC61A92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63310-52F6-51FB-0D9F-3C8F99E1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6AD0-D223-4878-8425-27A3A9C2BE85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9D96F-D491-2FEB-7C72-B67A1752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0635-971A-B587-DD88-4E2F2CD9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162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BCEE-32D3-4607-B16B-B46CE4F47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8338-BEEE-4DBF-BEA2-D2464688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110DB-94B3-469E-9827-3E74674A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F236-AE1D-412A-9EC8-AA8F87AA5209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584CC-F476-4764-821C-7AC0D644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8A9CF-384D-433F-88ED-A1B90D758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480F2-2078-46F8-845B-093EAA8A3C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010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885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6AD0-D223-4878-8425-27A3A9C2BE85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37D83-7601-49DB-B350-7418673556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690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1645-1BFF-139D-08D4-917882E7F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i="1" dirty="0"/>
              <a:t>Effective</a:t>
            </a:r>
            <a:r>
              <a:rPr lang="en-GB" dirty="0"/>
              <a:t> scientific 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3983B-1F2D-D2EA-126C-F907DF68D3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How to do data visualisation in an effective way</a:t>
            </a:r>
          </a:p>
        </p:txBody>
      </p:sp>
    </p:spTree>
    <p:extLst>
      <p:ext uri="{BB962C8B-B14F-4D97-AF65-F5344CB8AC3E}">
        <p14:creationId xmlns:p14="http://schemas.microsoft.com/office/powerpoint/2010/main" val="3096933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80DD9-9EF7-8EC3-9962-426163C4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visualise?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87975-1157-4721-9FDC-178B5C0C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13 datasets from different “treatments”</a:t>
            </a:r>
          </a:p>
          <a:p>
            <a:r>
              <a:rPr lang="en-GB" dirty="0"/>
              <a:t>If your hypothesis was:</a:t>
            </a:r>
          </a:p>
          <a:p>
            <a:pPr lvl="1"/>
            <a:r>
              <a:rPr lang="en-GB" dirty="0"/>
              <a:t>“There is no difference between these treatments”</a:t>
            </a:r>
          </a:p>
          <a:p>
            <a:pPr lvl="1"/>
            <a:r>
              <a:rPr lang="en-GB" dirty="0"/>
              <a:t>Would you reject or accept?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3F45D3-447E-F348-16E5-465854AA6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055157"/>
              </p:ext>
            </p:extLst>
          </p:nvPr>
        </p:nvGraphicFramePr>
        <p:xfrm>
          <a:off x="6201294" y="0"/>
          <a:ext cx="5990706" cy="6857998"/>
        </p:xfrm>
        <a:graphic>
          <a:graphicData uri="http://schemas.openxmlformats.org/drawingml/2006/table">
            <a:tbl>
              <a:tblPr/>
              <a:tblGrid>
                <a:gridCol w="998451">
                  <a:extLst>
                    <a:ext uri="{9D8B030D-6E8A-4147-A177-3AD203B41FA5}">
                      <a16:colId xmlns:a16="http://schemas.microsoft.com/office/drawing/2014/main" val="790592716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2201809949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3569464386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1725550767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1752848633"/>
                    </a:ext>
                  </a:extLst>
                </a:gridCol>
                <a:gridCol w="998451">
                  <a:extLst>
                    <a:ext uri="{9D8B030D-6E8A-4147-A177-3AD203B41FA5}">
                      <a16:colId xmlns:a16="http://schemas.microsoft.com/office/drawing/2014/main" val="2430981204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Treatments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Mean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Mean 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Std dev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Std dev 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Corr(</a:t>
                      </a:r>
                      <a:r>
                        <a:rPr lang="en-GB" sz="16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x,y</a:t>
                      </a:r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86629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09994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235006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82124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0885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1156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3472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455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322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6760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J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58298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47826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95129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878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530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1B13-4BA2-B40A-E71D-896751EF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Why visualise?</a:t>
            </a:r>
          </a:p>
        </p:txBody>
      </p:sp>
      <p:pic>
        <p:nvPicPr>
          <p:cNvPr id="4" name="Picture 3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3BC4383A-3158-9D6D-0CEE-375DBD8CF3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r="17685"/>
          <a:stretch/>
        </p:blipFill>
        <p:spPr>
          <a:xfrm>
            <a:off x="0" y="1197429"/>
            <a:ext cx="7823200" cy="566057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7E227C-A3D4-289F-9A11-D5C096799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811529"/>
              </p:ext>
            </p:extLst>
          </p:nvPr>
        </p:nvGraphicFramePr>
        <p:xfrm>
          <a:off x="8026404" y="1197429"/>
          <a:ext cx="4165596" cy="5311418"/>
        </p:xfrm>
        <a:graphic>
          <a:graphicData uri="http://schemas.openxmlformats.org/drawingml/2006/table">
            <a:tbl>
              <a:tblPr/>
              <a:tblGrid>
                <a:gridCol w="694266">
                  <a:extLst>
                    <a:ext uri="{9D8B030D-6E8A-4147-A177-3AD203B41FA5}">
                      <a16:colId xmlns:a16="http://schemas.microsoft.com/office/drawing/2014/main" val="790592716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2201809949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3569464386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1725550767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1752848633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2430981204"/>
                    </a:ext>
                  </a:extLst>
                </a:gridCol>
              </a:tblGrid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Treatments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Mean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Mean 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Std dev 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Std dev 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Corr(</a:t>
                      </a:r>
                      <a:r>
                        <a:rPr lang="en-GB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x,y</a:t>
                      </a:r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866292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099944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235006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821248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08852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11564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34727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4552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322004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67607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J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582985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478261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951294"/>
                  </a:ext>
                </a:extLst>
              </a:tr>
              <a:tr h="37938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54.3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47.8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16.8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26.9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878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957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1B13-4BA2-B40A-E71D-896751EF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Why visualise?</a:t>
            </a:r>
          </a:p>
        </p:txBody>
      </p:sp>
      <p:pic>
        <p:nvPicPr>
          <p:cNvPr id="4" name="Picture 3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3BC4383A-3158-9D6D-0CEE-375DBD8CF3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r="17685"/>
          <a:stretch/>
        </p:blipFill>
        <p:spPr>
          <a:xfrm>
            <a:off x="0" y="1197429"/>
            <a:ext cx="7823200" cy="566057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2812C-CCD9-22D3-055E-348D5AD4AA3F}"/>
              </a:ext>
            </a:extLst>
          </p:cNvPr>
          <p:cNvSpPr txBox="1">
            <a:spLocks/>
          </p:cNvSpPr>
          <p:nvPr/>
        </p:nvSpPr>
        <p:spPr>
          <a:xfrm>
            <a:off x="8021255" y="1875099"/>
            <a:ext cx="4039565" cy="45625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Calculating summary statistics is great</a:t>
            </a:r>
          </a:p>
          <a:p>
            <a:r>
              <a:rPr lang="en-GB" dirty="0"/>
              <a:t>But not sufficient</a:t>
            </a:r>
          </a:p>
          <a:p>
            <a:r>
              <a:rPr lang="en-GB" dirty="0"/>
              <a:t>Summary stats (e.g. means) obscures a lot of information</a:t>
            </a:r>
          </a:p>
          <a:p>
            <a:r>
              <a:rPr lang="en-GB" dirty="0"/>
              <a:t>Visualisations (normally) don’t</a:t>
            </a:r>
          </a:p>
        </p:txBody>
      </p:sp>
    </p:spTree>
    <p:extLst>
      <p:ext uri="{BB962C8B-B14F-4D97-AF65-F5344CB8AC3E}">
        <p14:creationId xmlns:p14="http://schemas.microsoft.com/office/powerpoint/2010/main" val="1722096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visuals hide information</a:t>
            </a:r>
          </a:p>
        </p:txBody>
      </p:sp>
    </p:spTree>
    <p:extLst>
      <p:ext uri="{BB962C8B-B14F-4D97-AF65-F5344CB8AC3E}">
        <p14:creationId xmlns:p14="http://schemas.microsoft.com/office/powerpoint/2010/main" val="1494831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A25E5B-FE8D-4373-AF64-9341CADFB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193" b="24434"/>
          <a:stretch/>
        </p:blipFill>
        <p:spPr>
          <a:xfrm>
            <a:off x="0" y="-1"/>
            <a:ext cx="12191999" cy="6858001"/>
          </a:xfrm>
        </p:spPr>
      </p:pic>
      <p:pic>
        <p:nvPicPr>
          <p:cNvPr id="9" name="Picture 8" descr="A picture containing tree, outdoor, grass, branch&#10;&#10;Description automatically generated">
            <a:extLst>
              <a:ext uri="{FF2B5EF4-FFF2-40B4-BE49-F238E27FC236}">
                <a16:creationId xmlns:a16="http://schemas.microsoft.com/office/drawing/2014/main" id="{B2CCDC11-8F09-445A-BF03-96EE1127A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120" y="1919224"/>
            <a:ext cx="2743200" cy="18409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01341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86823D-06E9-405C-970B-905D1597F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C65718-7F52-4298-814E-1B4454657269}"/>
              </a:ext>
            </a:extLst>
          </p:cNvPr>
          <p:cNvCxnSpPr/>
          <p:nvPr/>
        </p:nvCxnSpPr>
        <p:spPr>
          <a:xfrm flipV="1">
            <a:off x="3865944" y="3727049"/>
            <a:ext cx="1840375" cy="98384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377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4BBC3-5AF3-F73F-7D8E-BC3524AF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E01AB-C70A-BF9B-C0BA-9F261E9F5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is percentage of old growth forest related to the density of orangutan nests in a 1 ha area?</a:t>
            </a:r>
          </a:p>
          <a:p>
            <a:r>
              <a:rPr lang="en-GB" dirty="0"/>
              <a:t>Is there a relationship?</a:t>
            </a:r>
          </a:p>
          <a:p>
            <a:r>
              <a:rPr lang="en-GB" dirty="0"/>
              <a:t>Is it worth going through the pain of doing statistics?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BEBDD5-9A62-7877-53B1-86C2952EC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267" y="2309283"/>
            <a:ext cx="5181600" cy="302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13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A584-CF1A-30C4-AF94-562072B0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Is there a relationship?</a:t>
            </a:r>
          </a:p>
        </p:txBody>
      </p:sp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3E31C920-543F-495E-CBA7-48F8D43CE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7" y="1197429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A584-CF1A-30C4-AF94-562072B0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Is there a relationship?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FB59-EC30-3908-9D82-0752A1651E02}"/>
              </a:ext>
            </a:extLst>
          </p:cNvPr>
          <p:cNvSpPr txBox="1">
            <a:spLocks/>
          </p:cNvSpPr>
          <p:nvPr/>
        </p:nvSpPr>
        <p:spPr>
          <a:xfrm>
            <a:off x="0" y="3429000"/>
            <a:ext cx="12192000" cy="10049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/>
              <a:t>Does density of orangutan nests increase with percentage of old growth forest?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420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B4E1-9E01-6D53-C2E8-CF33A6C2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wrong with this figure?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3406-3C9E-4DBD-B828-0F4E4B6BB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Axes are the wrong way around</a:t>
            </a:r>
          </a:p>
          <a:p>
            <a:r>
              <a:rPr lang="en-GB" dirty="0"/>
              <a:t>Values of colours are hard to read</a:t>
            </a:r>
          </a:p>
          <a:p>
            <a:r>
              <a:rPr lang="en-GB" dirty="0"/>
              <a:t>Size of points are hard to read</a:t>
            </a:r>
          </a:p>
          <a:p>
            <a:r>
              <a:rPr lang="en-GB" dirty="0"/>
              <a:t>Facets add extra complexity</a:t>
            </a:r>
          </a:p>
          <a:p>
            <a:r>
              <a:rPr lang="en-GB" dirty="0"/>
              <a:t>Ultimately, does a poor job of explaining the relationship we want it to explain</a:t>
            </a:r>
          </a:p>
        </p:txBody>
      </p:sp>
      <p:pic>
        <p:nvPicPr>
          <p:cNvPr id="11" name="Picture Placeholder 10" descr="A screen shot of a graph&#10;&#10;Description automatically generated">
            <a:extLst>
              <a:ext uri="{FF2B5EF4-FFF2-40B4-BE49-F238E27FC236}">
                <a16:creationId xmlns:a16="http://schemas.microsoft.com/office/drawing/2014/main" id="{D0633492-2C9A-4F36-3E61-6D11FB56D2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88052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Guidance for effective visualisation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ABC2BB-4AB1-FCA2-82F0-6129C3F6A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711" y="299684"/>
            <a:ext cx="6509808" cy="443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38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FEC2D53-EEAC-BFA4-AABE-397FE469B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8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EC9EDD58-7193-E8D7-7432-06315E9D1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72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B8D859B-56A8-7651-1154-22AB8C3EE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27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7785DDE-59A6-13E9-0A17-B3D9472E0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57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Description automatically generated">
            <a:extLst>
              <a:ext uri="{FF2B5EF4-FFF2-40B4-BE49-F238E27FC236}">
                <a16:creationId xmlns:a16="http://schemas.microsoft.com/office/drawing/2014/main" id="{1B7AA4D0-F53C-ECAC-9F0C-D2FF5C091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77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70090DD9-9271-EE8B-C7A8-184EFFED8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C0E209-45CA-F784-DC62-731FC63B7D86}"/>
                  </a:ext>
                </a:extLst>
              </p:cNvPr>
              <p:cNvSpPr txBox="1"/>
              <p:nvPr/>
            </p:nvSpPr>
            <p:spPr>
              <a:xfrm>
                <a:off x="756355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C0E209-45CA-F784-DC62-731FC63B7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55" y="1348735"/>
                <a:ext cx="1110419" cy="578882"/>
              </a:xfrm>
              <a:prstGeom prst="roundRect">
                <a:avLst/>
              </a:prstGeom>
              <a:blipFill>
                <a:blip r:embed="rId3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C6F885-1183-A905-46F1-833C76581AC5}"/>
                  </a:ext>
                </a:extLst>
              </p:cNvPr>
              <p:cNvSpPr txBox="1"/>
              <p:nvPr/>
            </p:nvSpPr>
            <p:spPr>
              <a:xfrm>
                <a:off x="3222977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C6F885-1183-A905-46F1-833C76581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977" y="1348735"/>
                <a:ext cx="1110419" cy="578882"/>
              </a:xfrm>
              <a:prstGeom prst="roundRect">
                <a:avLst/>
              </a:prstGeom>
              <a:blipFill>
                <a:blip r:embed="rId4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381C49-0C34-A4DD-8DB0-7751BC63EFD2}"/>
                  </a:ext>
                </a:extLst>
              </p:cNvPr>
              <p:cNvSpPr txBox="1"/>
              <p:nvPr/>
            </p:nvSpPr>
            <p:spPr>
              <a:xfrm>
                <a:off x="5566399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381C49-0C34-A4DD-8DB0-7751BC63E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399" y="1348735"/>
                <a:ext cx="1110419" cy="578882"/>
              </a:xfrm>
              <a:prstGeom prst="roundRect">
                <a:avLst/>
              </a:prstGeom>
              <a:blipFill>
                <a:blip r:embed="rId5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8EE4B8-4CDB-4D7A-0861-16414B156FF6}"/>
                  </a:ext>
                </a:extLst>
              </p:cNvPr>
              <p:cNvSpPr txBox="1"/>
              <p:nvPr/>
            </p:nvSpPr>
            <p:spPr>
              <a:xfrm>
                <a:off x="7819287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8EE4B8-4CDB-4D7A-0861-16414B156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287" y="1348735"/>
                <a:ext cx="1110419" cy="578882"/>
              </a:xfrm>
              <a:prstGeom prst="roundRect">
                <a:avLst/>
              </a:prstGeom>
              <a:blipFill>
                <a:blip r:embed="rId6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ABA84-D23C-E51A-461F-929F955B4A33}"/>
                  </a:ext>
                </a:extLst>
              </p:cNvPr>
              <p:cNvSpPr txBox="1"/>
              <p:nvPr/>
            </p:nvSpPr>
            <p:spPr>
              <a:xfrm>
                <a:off x="10376444" y="1348735"/>
                <a:ext cx="1110419" cy="57888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?=8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ABA84-D23C-E51A-461F-929F955B4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444" y="1348735"/>
                <a:ext cx="1110419" cy="578882"/>
              </a:xfrm>
              <a:prstGeom prst="roundRect">
                <a:avLst/>
              </a:prstGeom>
              <a:blipFill>
                <a:blip r:embed="rId7"/>
                <a:stretch>
                  <a:fillRect t="-7216" r="-11957" b="-2061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4987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CF64-A155-9730-D07F-C75F9AF1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Guidance, not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CBC05-83FC-7F4C-E0FD-0232A56D2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None of the different ways to visualise are always wrong or always right</a:t>
            </a:r>
          </a:p>
          <a:p>
            <a:r>
              <a:rPr lang="en-GB" dirty="0"/>
              <a:t>Depends on the context</a:t>
            </a:r>
          </a:p>
          <a:p>
            <a:r>
              <a:rPr lang="en-GB" dirty="0"/>
              <a:t>Consider what you’re trying to do and use the most appropriate option</a:t>
            </a:r>
          </a:p>
        </p:txBody>
      </p:sp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977A2F0-C357-090A-10FB-BEC3AA847D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73387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each fail in their own special way</a:t>
            </a:r>
          </a:p>
        </p:txBody>
      </p:sp>
    </p:spTree>
    <p:extLst>
      <p:ext uri="{BB962C8B-B14F-4D97-AF65-F5344CB8AC3E}">
        <p14:creationId xmlns:p14="http://schemas.microsoft.com/office/powerpoint/2010/main" val="2552094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A black square with white dots&#10;&#10;Description automatically generated">
            <a:extLst>
              <a:ext uri="{FF2B5EF4-FFF2-40B4-BE49-F238E27FC236}">
                <a16:creationId xmlns:a16="http://schemas.microsoft.com/office/drawing/2014/main" id="{FF8D00B7-F973-7537-79D9-5F555E43F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60" name="Picture Placeholder 59" descr="A black and white square with a white circle in the middle&#10;&#10;Description automatically generated">
            <a:extLst>
              <a:ext uri="{FF2B5EF4-FFF2-40B4-BE49-F238E27FC236}">
                <a16:creationId xmlns:a16="http://schemas.microsoft.com/office/drawing/2014/main" id="{4BAA40D4-D0AB-0FDD-EA43-A9EF4B332E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842E86-F139-1CFF-3DBD-DE845979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BB4B-28C7-402B-44F4-3084E928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same intensity can look different if plotted on top of another layer of intensity</a:t>
            </a:r>
          </a:p>
          <a:p>
            <a:r>
              <a:rPr lang="en-GB" dirty="0"/>
              <a:t>Avoid using multiple intensities</a:t>
            </a:r>
          </a:p>
        </p:txBody>
      </p:sp>
    </p:spTree>
    <p:extLst>
      <p:ext uri="{BB962C8B-B14F-4D97-AF65-F5344CB8AC3E}">
        <p14:creationId xmlns:p14="http://schemas.microsoft.com/office/powerpoint/2010/main" val="40095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2E86-F139-1CFF-3DBD-DE845979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BB4B-28C7-402B-44F4-3084E928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 purple angles the same?</a:t>
            </a:r>
          </a:p>
          <a:p>
            <a:r>
              <a:rPr lang="en-GB" dirty="0"/>
              <a:t>Comparing multiple angles can lead to optical illusion where identical angles appear different</a:t>
            </a:r>
          </a:p>
          <a:p>
            <a:r>
              <a:rPr lang="en-GB" dirty="0"/>
              <a:t>All coloured line segments have the same angle</a:t>
            </a:r>
          </a:p>
        </p:txBody>
      </p:sp>
      <p:pic>
        <p:nvPicPr>
          <p:cNvPr id="15" name="Picture Placeholder 14" descr="A graph on a screen&#10;&#10;Description automatically generated">
            <a:extLst>
              <a:ext uri="{FF2B5EF4-FFF2-40B4-BE49-F238E27FC236}">
                <a16:creationId xmlns:a16="http://schemas.microsoft.com/office/drawing/2014/main" id="{2DF6CD06-6358-FD36-3A55-35E39ED3E4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36248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 shot of a cell phone&#10;&#10;Description automatically generated">
            <a:extLst>
              <a:ext uri="{FF2B5EF4-FFF2-40B4-BE49-F238E27FC236}">
                <a16:creationId xmlns:a16="http://schemas.microsoft.com/office/drawing/2014/main" id="{C12101F8-3CAA-C4CD-E31A-85DE143ED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842E86-F139-1CFF-3DBD-DE845979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BB4B-28C7-402B-44F4-3084E928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Comparing baselines (puke green) are easy</a:t>
            </a:r>
          </a:p>
          <a:p>
            <a:r>
              <a:rPr lang="en-GB" dirty="0"/>
              <a:t>But comparing other groups is hard (e.g. is orange in top and bottom bars the same?)</a:t>
            </a:r>
          </a:p>
          <a:p>
            <a:r>
              <a:rPr lang="en-GB" dirty="0"/>
              <a:t>Avoid stacking bars on each other</a:t>
            </a:r>
          </a:p>
        </p:txBody>
      </p:sp>
      <p:pic>
        <p:nvPicPr>
          <p:cNvPr id="8" name="Picture Placeholder 7" descr="A screenshot of a cell phone screen&#10;&#10;Description automatically generated">
            <a:extLst>
              <a:ext uri="{FF2B5EF4-FFF2-40B4-BE49-F238E27FC236}">
                <a16:creationId xmlns:a16="http://schemas.microsoft.com/office/drawing/2014/main" id="{A93F5D63-15E8-72DB-3A93-882F738B04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978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Incorporate concepts</a:t>
            </a:r>
          </a:p>
        </p:txBody>
      </p:sp>
    </p:spTree>
    <p:extLst>
      <p:ext uri="{BB962C8B-B14F-4D97-AF65-F5344CB8AC3E}">
        <p14:creationId xmlns:p14="http://schemas.microsoft.com/office/powerpoint/2010/main" val="2347299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A584-CF1A-30C4-AF94-562072B0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Let’s improve this</a:t>
            </a:r>
          </a:p>
        </p:txBody>
      </p:sp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3E31C920-543F-495E-CBA7-48F8D43CE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7" y="1197429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48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B4E1-9E01-6D53-C2E8-CF33A6C2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should we change?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3406-3C9E-4DBD-B828-0F4E4B6BB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Response variable on the Y-axis</a:t>
            </a:r>
          </a:p>
          <a:p>
            <a:r>
              <a:rPr lang="en-GB" dirty="0"/>
              <a:t>Reduce the amount of information we are asking the reader to process</a:t>
            </a:r>
          </a:p>
          <a:p>
            <a:pPr lvl="1"/>
            <a:r>
              <a:rPr lang="en-GB" dirty="0"/>
              <a:t>Always make life easy for your reader</a:t>
            </a:r>
          </a:p>
        </p:txBody>
      </p:sp>
      <p:pic>
        <p:nvPicPr>
          <p:cNvPr id="11" name="Picture Placeholder 10" descr="A screen shot of a graph&#10;&#10;Description automatically generated">
            <a:extLst>
              <a:ext uri="{FF2B5EF4-FFF2-40B4-BE49-F238E27FC236}">
                <a16:creationId xmlns:a16="http://schemas.microsoft.com/office/drawing/2014/main" id="{D0633492-2C9A-4F36-3E61-6D11FB56D2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9276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91B59-79CD-3415-A5BC-E934A9F78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Our improved figure</a:t>
            </a:r>
          </a:p>
        </p:txBody>
      </p:sp>
      <p:pic>
        <p:nvPicPr>
          <p:cNvPr id="4" name="Picture 3" descr="A screen shot of a black background&#10;&#10;Description automatically generated">
            <a:extLst>
              <a:ext uri="{FF2B5EF4-FFF2-40B4-BE49-F238E27FC236}">
                <a16:creationId xmlns:a16="http://schemas.microsoft.com/office/drawing/2014/main" id="{E6E27147-D95D-3670-B395-1DE88869E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6929"/>
            <a:ext cx="12192000" cy="56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43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AD84-C7F6-B255-4556-35BBED05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Effective visual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2C54C-C367-C05E-469D-E28A5154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Primary objective is to keep the amount of information to an absolute minimum</a:t>
            </a:r>
          </a:p>
          <a:p>
            <a:r>
              <a:rPr lang="en-GB" dirty="0"/>
              <a:t>The more your audience has to think, the less effective you are</a:t>
            </a:r>
          </a:p>
          <a:p>
            <a:r>
              <a:rPr lang="en-GB" dirty="0"/>
              <a:t>KISS; “Keep it simple, stupid”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75D88F87-53D6-286F-B126-0F7E37F359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535857454"/>
      </p:ext>
    </p:extLst>
  </p:cSld>
  <p:clrMapOvr>
    <a:masterClrMapping/>
  </p:clrMapOvr>
</p:sld>
</file>

<file path=ppt/theme/theme1.xml><?xml version="1.0" encoding="utf-8"?>
<a:theme xmlns:a="http://schemas.openxmlformats.org/drawingml/2006/main" name="sbs_slide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73481AF-5549-42F3-8B18-F5ECBED35AE0}" vid="{3EE02A52-7366-4D84-849D-12FD7F0396E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sbs_slide_template</Template>
  <TotalTime>751</TotalTime>
  <Words>620</Words>
  <Application>Microsoft Office PowerPoint</Application>
  <PresentationFormat>Widescreen</PresentationFormat>
  <Paragraphs>232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Narrow</vt:lpstr>
      <vt:lpstr>Arial</vt:lpstr>
      <vt:lpstr>Bahnschrift Light</vt:lpstr>
      <vt:lpstr>Cambria Math</vt:lpstr>
      <vt:lpstr>sbs_slide_template</vt:lpstr>
      <vt:lpstr>Effective scientific communication</vt:lpstr>
      <vt:lpstr>Why visualise?</vt:lpstr>
      <vt:lpstr>Why visualise?</vt:lpstr>
      <vt:lpstr>Why visualise?</vt:lpstr>
      <vt:lpstr>When visuals hide information</vt:lpstr>
      <vt:lpstr>PowerPoint Presentation</vt:lpstr>
      <vt:lpstr>PowerPoint Presentation</vt:lpstr>
      <vt:lpstr>Our research question</vt:lpstr>
      <vt:lpstr>Is there a relationship?</vt:lpstr>
      <vt:lpstr>Is there a relationship?</vt:lpstr>
      <vt:lpstr>What’s wrong with this figure?</vt:lpstr>
      <vt:lpstr>Guidance for effective visualisation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Guidance, not rules</vt:lpstr>
      <vt:lpstr>Where each fail in their own special way</vt:lpstr>
      <vt:lpstr>Intensity</vt:lpstr>
      <vt:lpstr>Angle</vt:lpstr>
      <vt:lpstr>Length</vt:lpstr>
      <vt:lpstr>Incorporate concepts</vt:lpstr>
      <vt:lpstr>Let’s improve this</vt:lpstr>
      <vt:lpstr>What’s should we change?</vt:lpstr>
      <vt:lpstr>Our improved figure</vt:lpstr>
      <vt:lpstr>Effective visual communication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scientific communication</dc:title>
  <dc:creator>Roos, Deon</dc:creator>
  <cp:lastModifiedBy>Roos, Deon</cp:lastModifiedBy>
  <cp:revision>2</cp:revision>
  <dcterms:created xsi:type="dcterms:W3CDTF">2024-07-03T11:14:26Z</dcterms:created>
  <dcterms:modified xsi:type="dcterms:W3CDTF">2024-07-04T16:58:20Z</dcterms:modified>
</cp:coreProperties>
</file>