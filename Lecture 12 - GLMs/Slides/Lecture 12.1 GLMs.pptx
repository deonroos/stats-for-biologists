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336" r:id="rId4"/>
    <p:sldId id="337" r:id="rId5"/>
    <p:sldId id="313" r:id="rId6"/>
    <p:sldId id="321" r:id="rId7"/>
    <p:sldId id="322" r:id="rId8"/>
    <p:sldId id="284" r:id="rId9"/>
    <p:sldId id="314" r:id="rId10"/>
    <p:sldId id="283" r:id="rId11"/>
    <p:sldId id="339" r:id="rId12"/>
    <p:sldId id="270" r:id="rId13"/>
    <p:sldId id="315" r:id="rId14"/>
    <p:sldId id="286" r:id="rId15"/>
    <p:sldId id="271" r:id="rId16"/>
    <p:sldId id="323" r:id="rId17"/>
    <p:sldId id="338" r:id="rId18"/>
    <p:sldId id="318" r:id="rId19"/>
    <p:sldId id="306" r:id="rId20"/>
    <p:sldId id="324" r:id="rId21"/>
    <p:sldId id="316" r:id="rId22"/>
    <p:sldId id="287" r:id="rId23"/>
    <p:sldId id="317" r:id="rId24"/>
    <p:sldId id="32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11FEE-74B5-48C4-8D5A-E44E5DF1B3F0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CC55-0A6F-4404-9C90-4131CB6BE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06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91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AFD1-44B7-3E4C-5214-57818E25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7A2E-B0C5-5590-824D-92D3C5F27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E019-BD30-438D-3FB8-110D2FBF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AD67-1D8B-D3C8-60D7-85527C8A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36C8-D38B-ED48-838F-5424F89B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03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3982-E506-133D-B7AD-40599B3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1831-4692-07D9-A5E3-3BEAF575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A3CA-B2C9-3CCE-B961-D11EDA6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6228-0CA8-208B-4B33-9750499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2AD3-B64B-B95E-8ABD-DDE68009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03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C352-7896-F798-AABE-E3E3B8CF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429C7-FC9F-032B-93D7-417581124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0B759-057B-7650-170A-FEFC3FB4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C841-C742-A624-8548-CE508C1F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03CFB-0A7F-4586-E1AE-26F5636B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26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455E-A85D-1201-BD1E-69648809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C098-D3BE-0A95-FAD5-BF835BEAA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ADF4C-C13A-EE87-C22B-153EDD77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17661-35D4-88AB-7342-E90457CD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DE94A-6877-30E6-D774-48E516AA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14C07-E6AA-F1B5-026B-9B8E4735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3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9188-E3E0-B265-1936-5399A90E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88A9-CB52-4216-CF7D-6C2E528F2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FD205-0288-3FC4-A054-375E0CD20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EB491-55C1-178D-EA1E-50AD92951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434F5-0378-FBD2-41BB-DCDB8BEF4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B11E0-0B51-4264-2CD0-BF6ABC21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D8694-8E72-0B61-D4C9-0ED32C5C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00C55-8163-392D-EE98-4016BD61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6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F091-ADDB-0E50-E07B-628D1A4C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3C13E-F128-F6B5-500D-4CC69CB1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97123-9C43-D635-44F1-412BC926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D1441-D510-55C5-1382-814EE3AF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78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D7293-9A97-E2F7-2989-001E775F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FB52E-E451-02DD-D1A5-E6D537ED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95454-4E8D-BFE4-9F0A-CAB8B5AA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6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6C3B-7E9E-B721-8B0B-326353F6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16D1-61A4-157E-01CA-1F86078E8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9BA2A-16D5-5A89-83D5-3677E59CF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138B0-B4A5-1644-8A64-DA7CA7DE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AD1FC-2475-8B0B-74AE-8978DD5A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3EBF-C9CF-DA2D-7EB4-E4A8C8A3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06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157F-614E-95F8-06F0-8458B362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596C1-AA50-8CA0-7614-1641CDC42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F9058-D339-2ABC-26D6-0FB84343C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31480-D19D-997D-3DD6-D2414279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5576C-F374-E2E1-732A-48D60536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8ED89-9FD7-1C8E-39A0-AF0E1F51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79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57EB-7CDA-2947-23B7-1D2C55E7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E3B8E-08A6-A4E2-C84C-157497879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1CDAC-12A1-AED4-FC33-10BB99E9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BC26A-33E5-3CE6-4CC8-44C60B5A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A110-98AA-7CD6-C789-2413D3AB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16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16BEE-47DF-1FDB-2CC7-8F3A56CD6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BBF93-574D-F916-EC08-2FE88FAF4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7B161-A87B-5CA8-95D0-DE1D6C3F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50744-606A-E141-E0AB-2546FBBE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42C1C-4742-DDA6-9EF9-10AA42E0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859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570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814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00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03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5041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2533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623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623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900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3704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87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43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AFD1-44B7-3E4C-5214-57818E25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7A2E-B0C5-5590-824D-92D3C5F27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E019-BD30-438D-3FB8-110D2FBF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AD67-1D8B-D3C8-60D7-85527C8A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36C8-D38B-ED48-838F-5424F89B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31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3982-E506-133D-B7AD-40599B3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1831-4692-07D9-A5E3-3BEAF575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A3CA-B2C9-3CCE-B961-D11EDA6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6228-0CA8-208B-4B33-9750499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2AD3-B64B-B95E-8ABD-DDE68009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3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C352-7896-F798-AABE-E3E3B8CFA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429C7-FC9F-032B-93D7-417581124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0B759-057B-7650-170A-FEFC3FB4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C841-C742-A624-8548-CE508C1F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03CFB-0A7F-4586-E1AE-26F5636B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5247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69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4B5E9-0DED-71CA-AA9B-07E10D2B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FDD4A-594B-1D50-DAA3-542A792FA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60D3-CDBD-9091-09B4-86C42EDA7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37A7-B0C3-697B-739F-E872CC66D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D98C-DC3A-D8F9-06AF-ACA5BE73D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3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8B97-B115-4DC6-A120-037A11F2485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2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onroos.shinyapps.io/Distributions/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FFE9-D084-1261-698E-73D48D585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A9530-56BA-95C2-B5B8-4DAD20EE49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92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48CD-56DB-D4E0-DC02-395FFA99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3610"/>
            <a:ext cx="9144000" cy="2082814"/>
          </a:xfrm>
        </p:spPr>
        <p:txBody>
          <a:bodyPr>
            <a:noAutofit/>
          </a:bodyPr>
          <a:lstStyle/>
          <a:p>
            <a:r>
              <a:rPr lang="en-GB" sz="8800" dirty="0"/>
              <a:t>Introduction to GLMs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51A12-B99B-0CD8-D76D-D26863FD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8555"/>
            <a:ext cx="9144000" cy="462882"/>
          </a:xfrm>
        </p:spPr>
        <p:txBody>
          <a:bodyPr/>
          <a:lstStyle/>
          <a:p>
            <a:r>
              <a:rPr lang="en-GB" dirty="0">
                <a:latin typeface="Bahnschrift Light" panose="020B0502040204020203" pitchFamily="34" charset="0"/>
              </a:rPr>
              <a:t>Why can’t you be Normal?</a:t>
            </a:r>
          </a:p>
        </p:txBody>
      </p:sp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D512DB-6E77-3843-F77C-A338E7A59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atin typeface="Bahnschrift Light" panose="020B0502040204020203" pitchFamily="34" charset="0"/>
              </a:rPr>
              <a:t>Introduction to GLMs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6DB1C-39FD-BCBB-38E3-C5E918C1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4276"/>
            <a:ext cx="10515600" cy="3433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1: </a:t>
            </a:r>
            <a:r>
              <a:rPr lang="en-GB" i="1" dirty="0">
                <a:latin typeface="Bahnschrift Light" panose="020B0502040204020203" pitchFamily="34" charset="0"/>
              </a:rPr>
              <a:t>Linear model refresh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2: </a:t>
            </a:r>
            <a:r>
              <a:rPr lang="en-GB" i="1" dirty="0">
                <a:latin typeface="Bahnschrift Light" panose="020B0502040204020203" pitchFamily="34" charset="0"/>
              </a:rPr>
              <a:t>Stochastic element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3: </a:t>
            </a:r>
            <a:r>
              <a:rPr lang="en-GB" i="1" dirty="0">
                <a:latin typeface="Bahnschrift Light" panose="020B0502040204020203" pitchFamily="34" charset="0"/>
              </a:rPr>
              <a:t>The missing link</a:t>
            </a:r>
          </a:p>
          <a:p>
            <a:pPr marL="0" indent="0">
              <a:buNone/>
            </a:pPr>
            <a:r>
              <a:rPr lang="en-GB" b="1" dirty="0">
                <a:latin typeface="Bahnschrift Light" panose="020B0502040204020203" pitchFamily="34" charset="0"/>
              </a:rPr>
              <a:t>[Intermission]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4: </a:t>
            </a:r>
            <a:r>
              <a:rPr lang="en-GB" i="1" dirty="0">
                <a:latin typeface="Bahnschrift Light" panose="020B0502040204020203" pitchFamily="34" charset="0"/>
              </a:rPr>
              <a:t>Deterministic element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5: </a:t>
            </a:r>
            <a:r>
              <a:rPr lang="en-GB" i="1" dirty="0">
                <a:latin typeface="Bahnschrift Light" panose="020B0502040204020203" pitchFamily="34" charset="0"/>
              </a:rPr>
              <a:t>Holistic models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6: </a:t>
            </a:r>
            <a:r>
              <a:rPr lang="en-GB" i="1" dirty="0">
                <a:latin typeface="Bahnschrift Light" panose="020B0502040204020203" pitchFamily="34" charset="0"/>
              </a:rPr>
              <a:t>Uses and risks of modelling</a:t>
            </a:r>
          </a:p>
        </p:txBody>
      </p:sp>
    </p:spTree>
    <p:extLst>
      <p:ext uri="{BB962C8B-B14F-4D97-AF65-F5344CB8AC3E}">
        <p14:creationId xmlns:p14="http://schemas.microsoft.com/office/powerpoint/2010/main" val="407043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1: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Linear model refresh</a:t>
            </a:r>
          </a:p>
        </p:txBody>
      </p:sp>
    </p:spTree>
    <p:extLst>
      <p:ext uri="{BB962C8B-B14F-4D97-AF65-F5344CB8AC3E}">
        <p14:creationId xmlns:p14="http://schemas.microsoft.com/office/powerpoint/2010/main" val="412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198F-AB6B-3057-9A47-2570A4B1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of a substance&#10;&#10;Description automatically generated with medium confidence">
            <a:extLst>
              <a:ext uri="{FF2B5EF4-FFF2-40B4-BE49-F238E27FC236}">
                <a16:creationId xmlns:a16="http://schemas.microsoft.com/office/drawing/2014/main" id="{06C1F2E0-AE1D-CA36-1553-B433DB200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1" y="1050483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AE919-99FE-E06D-5CB1-82316BFC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sz="2000" dirty="0"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change in blood pressure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patient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mean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standard deviation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linear predictor, where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intercept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slope for sodium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  <a:blipFill>
                <a:blip r:embed="rId3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541F004B-42F6-8747-5145-FCB750D7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6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702C0-0E7E-35EC-AD78-145B1825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B41E91A7-4873-245E-0EFF-98EF0A9A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3D2FA3-CE82-9D8F-F10B-3F61C338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Now estimated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10.1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−18.4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  <a:blipFill>
                <a:blip r:embed="rId3"/>
                <a:stretch>
                  <a:fillRect l="-2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normal substance&#10;&#10;Description automatically generated with medium confidence">
            <a:extLst>
              <a:ext uri="{FF2B5EF4-FFF2-40B4-BE49-F238E27FC236}">
                <a16:creationId xmlns:a16="http://schemas.microsoft.com/office/drawing/2014/main" id="{D4780465-B792-8BD1-D4D8-3E60CE1C2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309BE9A-DE44-F233-F077-414A5A4D9CA3}"/>
              </a:ext>
            </a:extLst>
          </p:cNvPr>
          <p:cNvGrpSpPr/>
          <p:nvPr/>
        </p:nvGrpSpPr>
        <p:grpSpPr>
          <a:xfrm>
            <a:off x="7796213" y="1325563"/>
            <a:ext cx="3125787" cy="1736646"/>
            <a:chOff x="7796213" y="1325563"/>
            <a:chExt cx="3125787" cy="17366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/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=10.1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7D4B2AB-6B67-4241-4EA3-D0B611BADA3C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7796213" y="1902143"/>
              <a:ext cx="1069037" cy="1160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05FA61-A0A6-47EC-CD1B-98D33C0E2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4913" y="1902143"/>
              <a:ext cx="40337" cy="917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FFF366-9047-2982-6F3E-BFFF6A782739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9437400" y="1697832"/>
              <a:ext cx="420975" cy="254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ACAC14-2DCF-DE56-2844-AC4E42F60C1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9437400" y="1325563"/>
              <a:ext cx="1484600" cy="3722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FCB0D9-23C4-C290-8109-567D7DC2C254}"/>
              </a:ext>
            </a:extLst>
          </p:cNvPr>
          <p:cNvGrpSpPr/>
          <p:nvPr/>
        </p:nvGrpSpPr>
        <p:grpSpPr>
          <a:xfrm>
            <a:off x="6030912" y="5188658"/>
            <a:ext cx="1403614" cy="1118640"/>
            <a:chOff x="5969000" y="5221995"/>
            <a:chExt cx="1403614" cy="1118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/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−18.4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6D3E37-2F85-9150-485A-C55E7D7C7A7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670807" y="5221995"/>
              <a:ext cx="0" cy="71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36EC59-41DF-8518-5BCD-F6579C873C09}"/>
              </a:ext>
            </a:extLst>
          </p:cNvPr>
          <p:cNvGrpSpPr/>
          <p:nvPr/>
        </p:nvGrpSpPr>
        <p:grpSpPr>
          <a:xfrm>
            <a:off x="9539288" y="3062209"/>
            <a:ext cx="1255523" cy="1754899"/>
            <a:chOff x="9539288" y="3062209"/>
            <a:chExt cx="1255523" cy="17548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154D2A-4933-B50C-7054-D584295D7F07}"/>
                </a:ext>
              </a:extLst>
            </p:cNvPr>
            <p:cNvGrpSpPr/>
            <p:nvPr/>
          </p:nvGrpSpPr>
          <p:grpSpPr>
            <a:xfrm>
              <a:off x="9539288" y="3062209"/>
              <a:ext cx="709612" cy="419179"/>
              <a:chOff x="9539288" y="3062209"/>
              <a:chExt cx="709612" cy="4191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A41B4A6-BAE0-D3FA-77A2-3502701FF713}"/>
                  </a:ext>
                </a:extLst>
              </p:cNvPr>
              <p:cNvCxnSpPr/>
              <p:nvPr/>
            </p:nvCxnSpPr>
            <p:spPr>
              <a:xfrm>
                <a:off x="9539288" y="3481388"/>
                <a:ext cx="7048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64094C-DAD7-BC4D-A66C-1FBCDD41DA14}"/>
                  </a:ext>
                </a:extLst>
              </p:cNvPr>
              <p:cNvCxnSpPr/>
              <p:nvPr/>
            </p:nvCxnSpPr>
            <p:spPr>
              <a:xfrm flipV="1">
                <a:off x="10248900" y="3062209"/>
                <a:ext cx="0" cy="414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E7066A1-E4F1-4A32-C136-885D1CF4AADC}"/>
                </a:ext>
              </a:extLst>
            </p:cNvPr>
            <p:cNvGrpSpPr/>
            <p:nvPr/>
          </p:nvGrpSpPr>
          <p:grpSpPr>
            <a:xfrm>
              <a:off x="9693465" y="3476625"/>
              <a:ext cx="1101346" cy="1340483"/>
              <a:chOff x="9693465" y="3476625"/>
              <a:chExt cx="1101346" cy="13404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/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solidFill>
                    <a:srgbClr val="000000">
                      <a:alpha val="58824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9.6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579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CFE3D83-A39F-7C96-75FE-70E9AD615D93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V="1">
                <a:off x="10244138" y="3476625"/>
                <a:ext cx="0" cy="9318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7511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if our error is not Normal?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What do you notice about the data?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must be non-negative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is integers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if we force a linear model?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Can we have </a:t>
                </a:r>
                <a:r>
                  <a:rPr lang="en-GB" i="1" dirty="0">
                    <a:latin typeface="Bahnschrift Light" panose="020B0502040204020203" pitchFamily="34" charset="0"/>
                  </a:rPr>
                  <a:t>negative</a:t>
                </a:r>
                <a:r>
                  <a:rPr lang="en-GB" dirty="0">
                    <a:latin typeface="Bahnschrift Light" panose="020B0502040204020203" pitchFamily="34" charset="0"/>
                  </a:rPr>
                  <a:t> customers?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Is our randomness best captured with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  <a:blipFill>
                <a:blip r:embed="rId2"/>
                <a:stretch>
                  <a:fillRect l="-1993" t="-2114" r="-1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03BC124C-DED6-DDFC-535D-E1407CEB4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7" name="Picture 6" descr="A graph with a line on it&#10;&#10;Description automatically generated">
            <a:extLst>
              <a:ext uri="{FF2B5EF4-FFF2-40B4-BE49-F238E27FC236}">
                <a16:creationId xmlns:a16="http://schemas.microsoft.com/office/drawing/2014/main" id="{8A1FE994-0568-8B22-2010-6D9FE0970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9" name="Picture 8" descr="A graph with green lines and white text&#10;&#10;Description automatically generated">
            <a:extLst>
              <a:ext uri="{FF2B5EF4-FFF2-40B4-BE49-F238E27FC236}">
                <a16:creationId xmlns:a16="http://schemas.microsoft.com/office/drawing/2014/main" id="{AE021E41-92E0-54E4-077E-79958B4A9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0" y="1325563"/>
            <a:ext cx="5928239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2: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Stochastic element</a:t>
            </a:r>
          </a:p>
        </p:txBody>
      </p:sp>
    </p:spTree>
    <p:extLst>
      <p:ext uri="{BB962C8B-B14F-4D97-AF65-F5344CB8AC3E}">
        <p14:creationId xmlns:p14="http://schemas.microsoft.com/office/powerpoint/2010/main" val="333359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Allowing suitable randomness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Distributions determine how “randomness” around the prediction works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Most distributions are not described with mean and variance parameters as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Some might have just one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), others may have multiple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𝑇𝑤𝑒𝑒𝑑𝑖𝑒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Often, we refer to the collection of parameters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  <a:blipFill>
                <a:blip r:embed="rId2"/>
                <a:stretch>
                  <a:fillRect l="-1638" r="-1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oup of graphs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CFD20235-6DF1-A1F0-DB8E-A10C0E56D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15" y="1101969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A6D2-8461-4F4F-E43B-B52CA4BF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hlinkClick r:id="rId2"/>
              </a:rPr>
              <a:t>https://deonroos.shinyapps.io/Distributions/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3CC0-E744-EBEF-EC3A-A82CFF53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9291"/>
            <a:ext cx="12192000" cy="55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9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graphs on a black background&#10;&#10;Description automatically generated">
            <a:extLst>
              <a:ext uri="{FF2B5EF4-FFF2-40B4-BE49-F238E27FC236}">
                <a16:creationId xmlns:a16="http://schemas.microsoft.com/office/drawing/2014/main" id="{831DFF14-4E23-F140-5F80-0B4E13B8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300" y="1141549"/>
            <a:ext cx="6035147" cy="5632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Beware the </a:t>
            </a:r>
            <a:r>
              <a:rPr lang="en-GB" sz="5400" dirty="0" err="1">
                <a:latin typeface="Bahnschrift Light" panose="020B0502040204020203" pitchFamily="34" charset="0"/>
              </a:rPr>
              <a:t>histomancer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1100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Don’t plot histograms of your response to “determine” the distribution.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Think about the data: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kind of values could I measure?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Are there limits to the values I could measure?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Of the distributions I know of, which one best describes my data?</a:t>
            </a:r>
          </a:p>
          <a:p>
            <a:endParaRPr lang="en-GB" dirty="0">
              <a:latin typeface="Bahnschrift Light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1015B8-CAAC-6E4B-4D6B-1016A783F1EA}"/>
              </a:ext>
            </a:extLst>
          </p:cNvPr>
          <p:cNvGrpSpPr/>
          <p:nvPr/>
        </p:nvGrpSpPr>
        <p:grpSpPr>
          <a:xfrm>
            <a:off x="6991152" y="3059668"/>
            <a:ext cx="4024611" cy="3114676"/>
            <a:chOff x="6991152" y="3059668"/>
            <a:chExt cx="4024611" cy="3114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625E56E-E6CF-3224-48D2-1A653F0D21C1}"/>
                    </a:ext>
                  </a:extLst>
                </p:cNvPr>
                <p:cNvSpPr txBox="1"/>
                <p:nvPr/>
              </p:nvSpPr>
              <p:spPr>
                <a:xfrm>
                  <a:off x="7003847" y="3059668"/>
                  <a:ext cx="1039965" cy="369332"/>
                </a:xfrm>
                <a:prstGeom prst="rect">
                  <a:avLst/>
                </a:prstGeom>
                <a:solidFill>
                  <a:srgbClr val="000000">
                    <a:alpha val="58824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625E56E-E6CF-3224-48D2-1A653F0D2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847" y="3059668"/>
                  <a:ext cx="103996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73B1C8E-492B-ECC6-A540-9AA713CBD4AE}"/>
                    </a:ext>
                  </a:extLst>
                </p:cNvPr>
                <p:cNvSpPr txBox="1"/>
                <p:nvPr/>
              </p:nvSpPr>
              <p:spPr>
                <a:xfrm>
                  <a:off x="9975798" y="3059668"/>
                  <a:ext cx="1039965" cy="369332"/>
                </a:xfrm>
                <a:prstGeom prst="rect">
                  <a:avLst/>
                </a:prstGeom>
                <a:solidFill>
                  <a:srgbClr val="000000">
                    <a:alpha val="58824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73B1C8E-492B-ECC6-A540-9AA713CBD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5798" y="3059668"/>
                  <a:ext cx="103996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508903A-CCFC-0D0D-9741-BC207CBD47C0}"/>
                    </a:ext>
                  </a:extLst>
                </p:cNvPr>
                <p:cNvSpPr txBox="1"/>
                <p:nvPr/>
              </p:nvSpPr>
              <p:spPr>
                <a:xfrm>
                  <a:off x="6991152" y="5805012"/>
                  <a:ext cx="1052660" cy="369332"/>
                </a:xfrm>
                <a:prstGeom prst="rect">
                  <a:avLst/>
                </a:prstGeom>
                <a:solidFill>
                  <a:srgbClr val="000000">
                    <a:alpha val="58824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𝑃𝑜𝑖𝑠𝑠𝑜𝑛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508903A-CCFC-0D0D-9741-BC207CBD4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1152" y="5805012"/>
                  <a:ext cx="105266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FE8D818-4FA9-4091-0D39-7219B9257156}"/>
                    </a:ext>
                  </a:extLst>
                </p:cNvPr>
                <p:cNvSpPr txBox="1"/>
                <p:nvPr/>
              </p:nvSpPr>
              <p:spPr>
                <a:xfrm>
                  <a:off x="10131323" y="5805012"/>
                  <a:ext cx="728917" cy="369332"/>
                </a:xfrm>
                <a:prstGeom prst="rect">
                  <a:avLst/>
                </a:prstGeom>
                <a:solidFill>
                  <a:srgbClr val="000000">
                    <a:alpha val="58824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𝐵𝑒𝑡𝑎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FE8D818-4FA9-4091-0D39-7219B9257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323" y="5805012"/>
                  <a:ext cx="72891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6186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3: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Link functions</a:t>
            </a:r>
          </a:p>
        </p:txBody>
      </p:sp>
    </p:spTree>
    <p:extLst>
      <p:ext uri="{BB962C8B-B14F-4D97-AF65-F5344CB8AC3E}">
        <p14:creationId xmlns:p14="http://schemas.microsoft.com/office/powerpoint/2010/main" val="35924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931BBF-9217-1B8A-3F3C-952FAA3C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341596"/>
            <a:ext cx="5838825" cy="5449570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07FDE7A1-5652-4B5E-F991-DB608FA25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0" name="Picture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0C4BE3E0-528C-5B63-ADBC-57E00220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2" name="Picture 11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70940246-B651-47A3-8D1D-4E8DB46D7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Using a </a:t>
                </a:r>
                <a:r>
                  <a:rPr lang="en-GB" b="1" dirty="0">
                    <a:solidFill>
                      <a:srgbClr val="FFFF00"/>
                    </a:solidFill>
                    <a:latin typeface="Bahnschrift Light" panose="020B0502040204020203" pitchFamily="34" charset="0"/>
                  </a:rPr>
                  <a:t>link function </a:t>
                </a:r>
                <a:r>
                  <a:rPr lang="en-GB" dirty="0">
                    <a:latin typeface="Bahnschrift Light" panose="020B0502040204020203" pitchFamily="34" charset="0"/>
                  </a:rPr>
                  <a:t>we transform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(the linear predictor, not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Fit a straight line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Can always </a:t>
                </a:r>
                <a:r>
                  <a:rPr lang="en-GB" dirty="0" err="1">
                    <a:latin typeface="Bahnschrift Light" panose="020B0502040204020203" pitchFamily="34" charset="0"/>
                  </a:rPr>
                  <a:t>backtransform</a:t>
                </a:r>
                <a:r>
                  <a:rPr lang="en-GB" dirty="0">
                    <a:latin typeface="Bahnschrift Light" panose="020B0502040204020203" pitchFamily="34" charset="0"/>
                  </a:rPr>
                  <a:t> the data onto the response scale.</a:t>
                </a:r>
              </a:p>
              <a:p>
                <a:r>
                  <a:rPr lang="en-GB" b="1" u="sng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Important: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This is not the same as transforming </a:t>
                </a:r>
                <a14:m>
                  <m:oMath xmlns:m="http://schemas.openxmlformats.org/officeDocument/2006/math">
                    <m:r>
                      <a:rPr lang="en-GB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!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fit is still linear </a:t>
                </a:r>
                <a:r>
                  <a:rPr lang="en-GB" i="1" dirty="0">
                    <a:latin typeface="Bahnschrift Light" panose="020B0502040204020203" pitchFamily="34" charset="0"/>
                  </a:rPr>
                  <a:t>on the link scale!</a:t>
                </a:r>
                <a:endParaRPr lang="en-GB" i="1" dirty="0">
                  <a:solidFill>
                    <a:schemeClr val="tx1"/>
                  </a:solidFill>
                  <a:latin typeface="Bahnschrift Light" panose="020B0502040204020203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  <a:blipFill>
                <a:blip r:embed="rId6"/>
                <a:stretch>
                  <a:fillRect l="-1786" r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1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61BF2CB-5378-9386-1F7B-B693ACC6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9196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Why use link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Link functions mathematically convert the linear predictor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such that the values can exist between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Generally, leads to a linear trend (great for fitting)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Maintains natural bounds of the data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Is the bridge between our response variable and the linear predictor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  <a:blipFill>
                <a:blip r:embed="rId3"/>
                <a:stretch>
                  <a:fillRect l="-1969" t="-2270" r="-4048" b="-6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4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ECA6-4D4B-9E7A-6EDA-E3FB4F30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C3D-2707-D053-B754-D08CC759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p:pic>
        <p:nvPicPr>
          <p:cNvPr id="13" name="Picture 12" descr="A graph on a black background&#10;&#10;Description automatically generated">
            <a:extLst>
              <a:ext uri="{FF2B5EF4-FFF2-40B4-BE49-F238E27FC236}">
                <a16:creationId xmlns:a16="http://schemas.microsoft.com/office/drawing/2014/main" id="{81A8C9C7-862F-024F-C351-C59293A0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25" y="993581"/>
            <a:ext cx="10059950" cy="58644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D58651-6D79-9E5B-34E7-42B1914264C8}"/>
              </a:ext>
            </a:extLst>
          </p:cNvPr>
          <p:cNvSpPr/>
          <p:nvPr/>
        </p:nvSpPr>
        <p:spPr>
          <a:xfrm>
            <a:off x="4505899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D94F1-2000-6779-14E9-C2D3DAA396E4}"/>
              </a:ext>
            </a:extLst>
          </p:cNvPr>
          <p:cNvSpPr/>
          <p:nvPr/>
        </p:nvSpPr>
        <p:spPr>
          <a:xfrm>
            <a:off x="7921128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6706-B650-13E1-3F9A-4E6527E8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43" y="3350530"/>
            <a:ext cx="10515600" cy="2852737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Bahnschrift Light" panose="020B0502040204020203" pitchFamily="34" charset="0"/>
              </a:rPr>
              <a:t>Intermission</a:t>
            </a:r>
          </a:p>
        </p:txBody>
      </p:sp>
    </p:spTree>
    <p:extLst>
      <p:ext uri="{BB962C8B-B14F-4D97-AF65-F5344CB8AC3E}">
        <p14:creationId xmlns:p14="http://schemas.microsoft.com/office/powerpoint/2010/main" val="53759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F6FB-75F7-549C-85E1-CA709A7F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AA34-6B46-01FE-7327-42DC2D9B1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4: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Deterministic element</a:t>
            </a:r>
          </a:p>
        </p:txBody>
      </p:sp>
    </p:spTree>
    <p:extLst>
      <p:ext uri="{BB962C8B-B14F-4D97-AF65-F5344CB8AC3E}">
        <p14:creationId xmlns:p14="http://schemas.microsoft.com/office/powerpoint/2010/main" val="70910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38B73-6E32-409C-1023-056F958F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42" y="2380929"/>
            <a:ext cx="2826587" cy="1882886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639B57-FA4D-4C98-A22A-5E8C91A33933}"/>
              </a:ext>
            </a:extLst>
          </p:cNvPr>
          <p:cNvSpPr txBox="1"/>
          <p:nvPr/>
        </p:nvSpPr>
        <p:spPr>
          <a:xfrm>
            <a:off x="5361615" y="393713"/>
            <a:ext cx="140725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P</a:t>
            </a:r>
            <a:r>
              <a:rPr lang="en-US" sz="1800" dirty="0"/>
              <a:t>arents drink coffee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17ACE-CFBC-454D-8412-2755FDE1B9B2}"/>
              </a:ext>
            </a:extLst>
          </p:cNvPr>
          <p:cNvSpPr txBox="1"/>
          <p:nvPr/>
        </p:nvSpPr>
        <p:spPr>
          <a:xfrm>
            <a:off x="1755397" y="1359992"/>
            <a:ext cx="1783159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W</a:t>
            </a:r>
            <a:r>
              <a:rPr lang="en-US" sz="1800" dirty="0"/>
              <a:t>atched TV where mature characters drank coffee?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ABAB3-54AF-41D9-AA13-6BEF1DE98DC7}"/>
              </a:ext>
            </a:extLst>
          </p:cNvPr>
          <p:cNvSpPr txBox="1"/>
          <p:nvPr/>
        </p:nvSpPr>
        <p:spPr>
          <a:xfrm>
            <a:off x="2902918" y="2865829"/>
            <a:ext cx="1620124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Wanted to emulate characters?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A1222-158F-404C-A7BD-F1CB5065D057}"/>
              </a:ext>
            </a:extLst>
          </p:cNvPr>
          <p:cNvSpPr txBox="1"/>
          <p:nvPr/>
        </p:nvSpPr>
        <p:spPr>
          <a:xfrm>
            <a:off x="242481" y="255215"/>
            <a:ext cx="227341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F</a:t>
            </a:r>
            <a:r>
              <a:rPr lang="en-US" sz="1800" dirty="0"/>
              <a:t>rom a culture where drinking coffee in the morning is normal?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4B51C2-9291-492C-865D-54B951680CA1}"/>
              </a:ext>
            </a:extLst>
          </p:cNvPr>
          <p:cNvSpPr txBox="1"/>
          <p:nvPr/>
        </p:nvSpPr>
        <p:spPr>
          <a:xfrm>
            <a:off x="1755397" y="3974514"/>
            <a:ext cx="1783159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D</a:t>
            </a:r>
            <a:r>
              <a:rPr lang="en-US" sz="1800" dirty="0"/>
              <a:t>rinks tea instead of coffee?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38ADB1-2F28-42FA-96B1-B37B448BE58E}"/>
              </a:ext>
            </a:extLst>
          </p:cNvPr>
          <p:cNvSpPr txBox="1"/>
          <p:nvPr/>
        </p:nvSpPr>
        <p:spPr>
          <a:xfrm>
            <a:off x="5353225" y="6436711"/>
            <a:ext cx="141564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Is h</a:t>
            </a:r>
            <a:r>
              <a:rPr lang="en-US" sz="1800" dirty="0"/>
              <a:t>ungover?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77027-5EEC-4C77-A9EF-A208402B013E}"/>
              </a:ext>
            </a:extLst>
          </p:cNvPr>
          <p:cNvSpPr txBox="1"/>
          <p:nvPr/>
        </p:nvSpPr>
        <p:spPr>
          <a:xfrm>
            <a:off x="5252555" y="4953319"/>
            <a:ext cx="1625367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Believe drinking coffee helps with a hangover?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95F01-AD51-4CB9-BA19-C32D89C37A80}"/>
              </a:ext>
            </a:extLst>
          </p:cNvPr>
          <p:cNvSpPr txBox="1"/>
          <p:nvPr/>
        </p:nvSpPr>
        <p:spPr>
          <a:xfrm>
            <a:off x="10549979" y="5845015"/>
            <a:ext cx="1541477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</a:t>
            </a:r>
            <a:r>
              <a:rPr lang="en-US" sz="1800" dirty="0"/>
              <a:t>aw a butterfly this morning?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D5324-DF36-48B8-9ECE-14BB3F8CD03D}"/>
              </a:ext>
            </a:extLst>
          </p:cNvPr>
          <p:cNvSpPr txBox="1"/>
          <p:nvPr/>
        </p:nvSpPr>
        <p:spPr>
          <a:xfrm>
            <a:off x="9680048" y="4397292"/>
            <a:ext cx="1783159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G</a:t>
            </a:r>
            <a:r>
              <a:rPr lang="en-US" sz="1800" dirty="0"/>
              <a:t>randparent’s room had butterflies in the wallpaper?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A7146-D837-4BFE-B2FC-7BF1E98553C9}"/>
              </a:ext>
            </a:extLst>
          </p:cNvPr>
          <p:cNvSpPr txBox="1"/>
          <p:nvPr/>
        </p:nvSpPr>
        <p:spPr>
          <a:xfrm>
            <a:off x="9227563" y="3179159"/>
            <a:ext cx="1783159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Grandparent</a:t>
            </a:r>
            <a:r>
              <a:rPr lang="en-US" sz="1800" dirty="0"/>
              <a:t> used to grind coffee by hand?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1FD862-F6F9-40B0-8B2D-D0B3A5F943AC}"/>
              </a:ext>
            </a:extLst>
          </p:cNvPr>
          <p:cNvSpPr txBox="1"/>
          <p:nvPr/>
        </p:nvSpPr>
        <p:spPr>
          <a:xfrm>
            <a:off x="7784184" y="2008435"/>
            <a:ext cx="239925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Was nostalgic for </a:t>
            </a:r>
            <a:r>
              <a:rPr lang="en-US" dirty="0"/>
              <a:t>grandparent’s</a:t>
            </a:r>
            <a:r>
              <a:rPr lang="en-US" sz="1800" dirty="0"/>
              <a:t> coffee?</a:t>
            </a:r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2D86AF-820C-49E9-960D-274C6E928762}"/>
              </a:ext>
            </a:extLst>
          </p:cNvPr>
          <p:cNvSpPr/>
          <p:nvPr/>
        </p:nvSpPr>
        <p:spPr>
          <a:xfrm>
            <a:off x="4991450" y="2469313"/>
            <a:ext cx="2147581" cy="20856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2C6BB7-8CC6-49BD-9083-151ABD8B0B94}"/>
              </a:ext>
            </a:extLst>
          </p:cNvPr>
          <p:cNvCxnSpPr>
            <a:stCxn id="14" idx="2"/>
            <a:endCxn id="16" idx="1"/>
          </p:cNvCxnSpPr>
          <p:nvPr/>
        </p:nvCxnSpPr>
        <p:spPr>
          <a:xfrm rot="16200000" flipH="1">
            <a:off x="-61524" y="2619258"/>
            <a:ext cx="3257634" cy="37620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2E38404-025A-4597-A1E8-AD85305108EC}"/>
              </a:ext>
            </a:extLst>
          </p:cNvPr>
          <p:cNvCxnSpPr>
            <a:stCxn id="14" idx="3"/>
            <a:endCxn id="10" idx="0"/>
          </p:cNvCxnSpPr>
          <p:nvPr/>
        </p:nvCxnSpPr>
        <p:spPr>
          <a:xfrm>
            <a:off x="2515897" y="716880"/>
            <a:ext cx="131080" cy="643112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53D70BD-ED09-42A4-BD37-C8F18259DCF6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3538556" y="1960157"/>
            <a:ext cx="174424" cy="905672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67E55B9-28C9-4892-AEA1-137DC9EE27C8}"/>
              </a:ext>
            </a:extLst>
          </p:cNvPr>
          <p:cNvCxnSpPr>
            <a:stCxn id="12" idx="3"/>
            <a:endCxn id="29" idx="2"/>
          </p:cNvCxnSpPr>
          <p:nvPr/>
        </p:nvCxnSpPr>
        <p:spPr>
          <a:xfrm>
            <a:off x="4523042" y="3327494"/>
            <a:ext cx="468408" cy="18466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0A43608-2A73-4E4C-9000-DED1CFC482ED}"/>
              </a:ext>
            </a:extLst>
          </p:cNvPr>
          <p:cNvCxnSpPr>
            <a:stCxn id="6" idx="2"/>
            <a:endCxn id="29" idx="0"/>
          </p:cNvCxnSpPr>
          <p:nvPr/>
        </p:nvCxnSpPr>
        <p:spPr>
          <a:xfrm rot="5400000">
            <a:off x="5350608" y="1754678"/>
            <a:ext cx="1429269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579FB9E-AA4B-4E3D-B8E4-C2C32CAE704A}"/>
              </a:ext>
            </a:extLst>
          </p:cNvPr>
          <p:cNvCxnSpPr>
            <a:stCxn id="22" idx="0"/>
            <a:endCxn id="24" idx="2"/>
          </p:cNvCxnSpPr>
          <p:nvPr/>
        </p:nvCxnSpPr>
        <p:spPr>
          <a:xfrm rot="16200000" flipV="1">
            <a:off x="10822476" y="5346773"/>
            <a:ext cx="247394" cy="749090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261502F-6CAA-44E2-8907-845416A80AA8}"/>
              </a:ext>
            </a:extLst>
          </p:cNvPr>
          <p:cNvCxnSpPr>
            <a:stCxn id="24" idx="0"/>
            <a:endCxn id="26" idx="2"/>
          </p:cNvCxnSpPr>
          <p:nvPr/>
        </p:nvCxnSpPr>
        <p:spPr>
          <a:xfrm rot="16200000" flipV="1">
            <a:off x="10197985" y="4023648"/>
            <a:ext cx="294803" cy="452485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506CACB-8EC8-4F3B-8266-5C5CF2C67D4B}"/>
              </a:ext>
            </a:extLst>
          </p:cNvPr>
          <p:cNvCxnSpPr>
            <a:stCxn id="26" idx="0"/>
            <a:endCxn id="28" idx="2"/>
          </p:cNvCxnSpPr>
          <p:nvPr/>
        </p:nvCxnSpPr>
        <p:spPr>
          <a:xfrm rot="16200000" flipV="1">
            <a:off x="9289280" y="2349296"/>
            <a:ext cx="524393" cy="1135334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E1A4903-BC41-4EED-BECC-2E49E3144D85}"/>
              </a:ext>
            </a:extLst>
          </p:cNvPr>
          <p:cNvCxnSpPr>
            <a:stCxn id="28" idx="1"/>
            <a:endCxn id="29" idx="6"/>
          </p:cNvCxnSpPr>
          <p:nvPr/>
        </p:nvCxnSpPr>
        <p:spPr>
          <a:xfrm rot="10800000" flipV="1">
            <a:off x="7139032" y="2331600"/>
            <a:ext cx="645153" cy="1180559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8349C72-9787-4049-AF79-005A291DA6EF}"/>
              </a:ext>
            </a:extLst>
          </p:cNvPr>
          <p:cNvCxnSpPr>
            <a:stCxn id="16" idx="3"/>
            <a:endCxn id="29" idx="2"/>
          </p:cNvCxnSpPr>
          <p:nvPr/>
        </p:nvCxnSpPr>
        <p:spPr>
          <a:xfrm flipV="1">
            <a:off x="3538556" y="3512160"/>
            <a:ext cx="1452894" cy="924019"/>
          </a:xfrm>
          <a:prstGeom prst="bentConnector3">
            <a:avLst>
              <a:gd name="adj1" fmla="val 84067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DBA518F-6917-43AE-A2D4-5860FD3B4A02}"/>
              </a:ext>
            </a:extLst>
          </p:cNvPr>
          <p:cNvCxnSpPr>
            <a:stCxn id="20" idx="0"/>
            <a:endCxn id="29" idx="4"/>
          </p:cNvCxnSpPr>
          <p:nvPr/>
        </p:nvCxnSpPr>
        <p:spPr>
          <a:xfrm rot="5400000" flipH="1" flipV="1">
            <a:off x="5866084" y="4754162"/>
            <a:ext cx="398312" cy="2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9AF8724-4C20-40A6-A76C-EDC52A2CB53F}"/>
              </a:ext>
            </a:extLst>
          </p:cNvPr>
          <p:cNvCxnSpPr>
            <a:stCxn id="18" idx="0"/>
            <a:endCxn id="20" idx="2"/>
          </p:cNvCxnSpPr>
          <p:nvPr/>
        </p:nvCxnSpPr>
        <p:spPr>
          <a:xfrm flipV="1">
            <a:off x="6061047" y="6153648"/>
            <a:ext cx="4192" cy="28306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F9639A4-1E4F-4228-87E7-E9BCDC6FA60D}"/>
              </a:ext>
            </a:extLst>
          </p:cNvPr>
          <p:cNvSpPr txBox="1"/>
          <p:nvPr/>
        </p:nvSpPr>
        <p:spPr>
          <a:xfrm>
            <a:off x="8429196" y="966376"/>
            <a:ext cx="3379891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Did you drink coffee yesterday?</a:t>
            </a:r>
            <a:endParaRPr lang="en-GB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E972D54-63F6-4B51-87F3-5ED782B994A5}"/>
              </a:ext>
            </a:extLst>
          </p:cNvPr>
          <p:cNvCxnSpPr>
            <a:stCxn id="69" idx="1"/>
            <a:endCxn id="29" idx="7"/>
          </p:cNvCxnSpPr>
          <p:nvPr/>
        </p:nvCxnSpPr>
        <p:spPr>
          <a:xfrm rot="10800000" flipV="1">
            <a:off x="6824526" y="1151042"/>
            <a:ext cx="1604671" cy="1623714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47817476-093B-4DAF-9A9D-C26D1647227F}"/>
              </a:ext>
            </a:extLst>
          </p:cNvPr>
          <p:cNvCxnSpPr>
            <a:stCxn id="14" idx="3"/>
            <a:endCxn id="6" idx="1"/>
          </p:cNvCxnSpPr>
          <p:nvPr/>
        </p:nvCxnSpPr>
        <p:spPr>
          <a:xfrm flipV="1">
            <a:off x="2515897" y="716879"/>
            <a:ext cx="2845718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5222706C-1AF0-4BE6-B8F4-422F8C251580}"/>
              </a:ext>
            </a:extLst>
          </p:cNvPr>
          <p:cNvCxnSpPr>
            <a:stCxn id="14" idx="1"/>
            <a:endCxn id="18" idx="1"/>
          </p:cNvCxnSpPr>
          <p:nvPr/>
        </p:nvCxnSpPr>
        <p:spPr>
          <a:xfrm rot="10800000" flipH="1" flipV="1">
            <a:off x="242481" y="716879"/>
            <a:ext cx="5110744" cy="5904497"/>
          </a:xfrm>
          <a:prstGeom prst="bentConnector3">
            <a:avLst>
              <a:gd name="adj1" fmla="val -2017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6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DB25E1E-4B0B-1EF9-0DA5-0B3D58B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356" y="0"/>
            <a:ext cx="6819644" cy="45427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B21766-57B8-FE9F-023C-01A1F820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Did you drink coffee this morning?</a:t>
            </a:r>
          </a:p>
        </p:txBody>
      </p:sp>
      <p:sp>
        <p:nvSpPr>
          <p:cNvPr id="32" name="Google Shape;371;p39">
            <a:extLst>
              <a:ext uri="{FF2B5EF4-FFF2-40B4-BE49-F238E27FC236}">
                <a16:creationId xmlns:a16="http://schemas.microsoft.com/office/drawing/2014/main" id="{5394189B-7847-4829-B059-EDBDC6134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591" y="1325564"/>
            <a:ext cx="6730412" cy="509130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Utterly trivial and simple question.</a:t>
            </a:r>
          </a:p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The response will be yes or no (1 or 0).</a:t>
            </a:r>
          </a:p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Given your answer, the more interesting question is why did you drink coffee (or not)?</a:t>
            </a:r>
          </a:p>
          <a:p>
            <a:pPr marL="0" indent="0">
              <a:buNone/>
            </a:pPr>
            <a:endParaRPr lang="en-GB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There is some unknown probability, bound between 0% and 100%, that you will drink coffee,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>
                <a:latin typeface="Bahnschrift Light" panose="020B0502040204020203" pitchFamily="34" charset="0"/>
              </a:rPr>
              <a:t>which is </a:t>
            </a:r>
            <a:r>
              <a:rPr lang="en-GB" i="1" dirty="0">
                <a:latin typeface="Bahnschrift Light" panose="020B0502040204020203" pitchFamily="34" charset="0"/>
              </a:rPr>
              <a:t>determined</a:t>
            </a:r>
            <a:r>
              <a:rPr lang="en-GB" dirty="0">
                <a:latin typeface="Bahnschrift Light" panose="020B0502040204020203" pitchFamily="34" charset="0"/>
              </a:rPr>
              <a:t> by some set of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 err="1">
                <a:latin typeface="Bahnschrift Light" panose="020B0502040204020203" pitchFamily="34" charset="0"/>
              </a:rPr>
              <a:t>explantory</a:t>
            </a:r>
            <a:r>
              <a:rPr lang="en-GB" dirty="0">
                <a:latin typeface="Bahnschrift Light" panose="020B0502040204020203" pitchFamily="34" charset="0"/>
              </a:rPr>
              <a:t> </a:t>
            </a:r>
            <a:r>
              <a:rPr lang="en-GB" i="1" dirty="0">
                <a:latin typeface="Bahnschrift Light" panose="020B0502040204020203" pitchFamily="34" charset="0"/>
              </a:rPr>
              <a:t>variables</a:t>
            </a:r>
            <a:r>
              <a:rPr lang="en-GB" dirty="0">
                <a:latin typeface="Bahnschrift Light" panose="020B0502040204020203" pitchFamily="34" charset="0"/>
              </a:rPr>
              <a:t>.</a:t>
            </a:r>
            <a:endParaRPr dirty="0">
              <a:latin typeface="Bahnschrift Light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D21616-E55C-F73B-C679-C7585F45DF70}"/>
              </a:ext>
            </a:extLst>
          </p:cNvPr>
          <p:cNvGrpSpPr/>
          <p:nvPr/>
        </p:nvGrpSpPr>
        <p:grpSpPr>
          <a:xfrm>
            <a:off x="7521390" y="5157239"/>
            <a:ext cx="3951274" cy="1209171"/>
            <a:chOff x="7521390" y="5157239"/>
            <a:chExt cx="3951274" cy="1209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/>
                <p:nvPr/>
              </p:nvSpPr>
              <p:spPr>
                <a:xfrm>
                  <a:off x="7521390" y="5157239"/>
                  <a:ext cx="3951274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𝐷𝑖𝑠𝑡𝑟𝑖𝑏𝑢𝑡𝑖𝑜𝑛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157239"/>
                  <a:ext cx="3951274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/>
                <p:nvPr/>
              </p:nvSpPr>
              <p:spPr>
                <a:xfrm>
                  <a:off x="7521390" y="5873967"/>
                  <a:ext cx="2100575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873967"/>
                  <a:ext cx="2100575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489590-0591-4AE0-B9F9-F6F6EF03AE3A}"/>
              </a:ext>
            </a:extLst>
          </p:cNvPr>
          <p:cNvGrpSpPr/>
          <p:nvPr/>
        </p:nvGrpSpPr>
        <p:grpSpPr>
          <a:xfrm>
            <a:off x="890588" y="2214368"/>
            <a:ext cx="7050305" cy="3441374"/>
            <a:chOff x="890588" y="2214368"/>
            <a:chExt cx="7050305" cy="34413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596422-935E-4022-9888-7394787E941F}"/>
                </a:ext>
              </a:extLst>
            </p:cNvPr>
            <p:cNvSpPr/>
            <p:nvPr/>
          </p:nvSpPr>
          <p:spPr>
            <a:xfrm>
              <a:off x="890588" y="2214368"/>
              <a:ext cx="1533525" cy="411116"/>
            </a:xfrm>
            <a:prstGeom prst="rect">
              <a:avLst/>
            </a:prstGeom>
            <a:noFill/>
            <a:ln w="38100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E3CAB0-F281-48B4-B632-D1F42390B074}"/>
                </a:ext>
              </a:extLst>
            </p:cNvPr>
            <p:cNvSpPr/>
            <p:nvPr/>
          </p:nvSpPr>
          <p:spPr>
            <a:xfrm>
              <a:off x="7538117" y="5216606"/>
              <a:ext cx="402776" cy="439136"/>
            </a:xfrm>
            <a:prstGeom prst="roundRect">
              <a:avLst/>
            </a:prstGeom>
            <a:noFill/>
            <a:ln w="28575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8C55A4-C49B-4D37-8B07-2CE7CB6B3787}"/>
              </a:ext>
            </a:extLst>
          </p:cNvPr>
          <p:cNvGrpSpPr/>
          <p:nvPr/>
        </p:nvGrpSpPr>
        <p:grpSpPr>
          <a:xfrm>
            <a:off x="2562226" y="4542797"/>
            <a:ext cx="8801796" cy="1823613"/>
            <a:chOff x="2573693" y="4542797"/>
            <a:chExt cx="5857249" cy="1823613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4BFA693-DCE4-4AFE-9106-647ED915C76D}"/>
                </a:ext>
              </a:extLst>
            </p:cNvPr>
            <p:cNvSpPr/>
            <p:nvPr/>
          </p:nvSpPr>
          <p:spPr>
            <a:xfrm>
              <a:off x="8006009" y="5216606"/>
              <a:ext cx="424933" cy="441365"/>
            </a:xfrm>
            <a:prstGeom prst="roundRect">
              <a:avLst/>
            </a:prstGeom>
            <a:noFill/>
            <a:ln w="28575"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FFA9890-8C09-4FE9-A22A-EC53A8134235}"/>
                </a:ext>
              </a:extLst>
            </p:cNvPr>
            <p:cNvGrpSpPr/>
            <p:nvPr/>
          </p:nvGrpSpPr>
          <p:grpSpPr>
            <a:xfrm>
              <a:off x="2573693" y="4542797"/>
              <a:ext cx="3953646" cy="1823613"/>
              <a:chOff x="2573693" y="4542797"/>
              <a:chExt cx="3953646" cy="182361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722088A-DBD5-4BA8-BFEF-8E71175E1F26}"/>
                  </a:ext>
                </a:extLst>
              </p:cNvPr>
              <p:cNvSpPr/>
              <p:nvPr/>
            </p:nvSpPr>
            <p:spPr>
              <a:xfrm>
                <a:off x="2573693" y="4542797"/>
                <a:ext cx="2191012" cy="379133"/>
              </a:xfrm>
              <a:prstGeom prst="rect">
                <a:avLst/>
              </a:prstGeom>
              <a:noFill/>
              <a:ln w="38100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6AB0B07-6621-47E7-97BF-DA1B977FD90E}"/>
                  </a:ext>
                </a:extLst>
              </p:cNvPr>
              <p:cNvSpPr/>
              <p:nvPr/>
            </p:nvSpPr>
            <p:spPr>
              <a:xfrm>
                <a:off x="6086813" y="5873967"/>
                <a:ext cx="440526" cy="492443"/>
              </a:xfrm>
              <a:prstGeom prst="roundRect">
                <a:avLst/>
              </a:prstGeom>
              <a:noFill/>
              <a:ln w="28575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6854F8-1D7B-4E84-AAFB-F147BDE19CAE}"/>
              </a:ext>
            </a:extLst>
          </p:cNvPr>
          <p:cNvGrpSpPr/>
          <p:nvPr/>
        </p:nvGrpSpPr>
        <p:grpSpPr>
          <a:xfrm>
            <a:off x="219767" y="5694554"/>
            <a:ext cx="9380622" cy="752481"/>
            <a:chOff x="-1394018" y="5988544"/>
            <a:chExt cx="9380622" cy="75248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D52917F-8F6B-4630-81DC-4B6013FD7F93}"/>
                </a:ext>
              </a:extLst>
            </p:cNvPr>
            <p:cNvSpPr/>
            <p:nvPr/>
          </p:nvSpPr>
          <p:spPr>
            <a:xfrm>
              <a:off x="-1394018" y="5988544"/>
              <a:ext cx="5842049" cy="75248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78663CD-020D-4580-A43F-AEF629599CA7}"/>
                </a:ext>
              </a:extLst>
            </p:cNvPr>
            <p:cNvSpPr/>
            <p:nvPr/>
          </p:nvSpPr>
          <p:spPr>
            <a:xfrm>
              <a:off x="7345328" y="6170369"/>
              <a:ext cx="641276" cy="492443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8FCE76-FFEA-4974-AD87-E5B269986550}"/>
              </a:ext>
            </a:extLst>
          </p:cNvPr>
          <p:cNvGrpSpPr/>
          <p:nvPr/>
        </p:nvGrpSpPr>
        <p:grpSpPr>
          <a:xfrm>
            <a:off x="3603852" y="2214368"/>
            <a:ext cx="7102065" cy="3443603"/>
            <a:chOff x="1361083" y="2566335"/>
            <a:chExt cx="7102065" cy="344360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311F149-F812-43A0-B4C5-75BFF1102750}"/>
                </a:ext>
              </a:extLst>
            </p:cNvPr>
            <p:cNvSpPr/>
            <p:nvPr/>
          </p:nvSpPr>
          <p:spPr>
            <a:xfrm>
              <a:off x="1361083" y="2566335"/>
              <a:ext cx="2701697" cy="411116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D1F8316-F598-4AC9-82A1-A2BFA347CB3F}"/>
                </a:ext>
              </a:extLst>
            </p:cNvPr>
            <p:cNvSpPr/>
            <p:nvPr/>
          </p:nvSpPr>
          <p:spPr>
            <a:xfrm>
              <a:off x="6185232" y="5568573"/>
              <a:ext cx="2277916" cy="441365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69B03F-8107-EC1C-CFCC-8C6EF0332700}"/>
              </a:ext>
            </a:extLst>
          </p:cNvPr>
          <p:cNvGrpSpPr/>
          <p:nvPr/>
        </p:nvGrpSpPr>
        <p:grpSpPr>
          <a:xfrm>
            <a:off x="247828" y="4921929"/>
            <a:ext cx="7582704" cy="1444481"/>
            <a:chOff x="247828" y="4921929"/>
            <a:chExt cx="7582704" cy="144448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D3EF2C-CAFC-C34D-14A3-2593E5C92602}"/>
                </a:ext>
              </a:extLst>
            </p:cNvPr>
            <p:cNvSpPr/>
            <p:nvPr/>
          </p:nvSpPr>
          <p:spPr>
            <a:xfrm>
              <a:off x="247828" y="4921929"/>
              <a:ext cx="4486542" cy="329521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CE1F98-8300-5DE4-2B7B-AC4DF36A1D67}"/>
                </a:ext>
              </a:extLst>
            </p:cNvPr>
            <p:cNvSpPr/>
            <p:nvPr/>
          </p:nvSpPr>
          <p:spPr>
            <a:xfrm>
              <a:off x="7538117" y="5873967"/>
              <a:ext cx="292415" cy="492443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4502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5: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Holistic model</a:t>
            </a:r>
          </a:p>
        </p:txBody>
      </p:sp>
    </p:spTree>
    <p:extLst>
      <p:ext uri="{BB962C8B-B14F-4D97-AF65-F5344CB8AC3E}">
        <p14:creationId xmlns:p14="http://schemas.microsoft.com/office/powerpoint/2010/main" val="313706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8FD3-7BCC-9E92-755E-5E4042D8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E492-C309-AE80-0A5A-C913478D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Stochastic and deterministic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BFB225-C157-471D-970C-0D20B92D17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6326" y="1333981"/>
                <a:ext cx="3680637" cy="47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BFB225-C157-471D-970C-0D20B92D17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6326" y="1333981"/>
                <a:ext cx="3680637" cy="471338"/>
              </a:xfrm>
              <a:blipFill>
                <a:blip r:embed="rId2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E43978-7DC5-A458-2898-F89876131E74}"/>
                  </a:ext>
                </a:extLst>
              </p:cNvPr>
              <p:cNvSpPr txBox="1"/>
              <p:nvPr/>
            </p:nvSpPr>
            <p:spPr>
              <a:xfrm>
                <a:off x="6855566" y="1325563"/>
                <a:ext cx="35220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E43978-7DC5-A458-2898-F8987613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566" y="1325563"/>
                <a:ext cx="3522035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4AE5D9-FA42-19A1-8188-C7B5019CA43A}"/>
              </a:ext>
            </a:extLst>
          </p:cNvPr>
          <p:cNvCxnSpPr>
            <a:cxnSpLocks/>
          </p:cNvCxnSpPr>
          <p:nvPr/>
        </p:nvCxnSpPr>
        <p:spPr>
          <a:xfrm>
            <a:off x="2112792" y="1769298"/>
            <a:ext cx="22434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716134-71C3-C773-7320-EF40CD39837D}"/>
              </a:ext>
            </a:extLst>
          </p:cNvPr>
          <p:cNvCxnSpPr>
            <a:cxnSpLocks/>
          </p:cNvCxnSpPr>
          <p:nvPr/>
        </p:nvCxnSpPr>
        <p:spPr>
          <a:xfrm>
            <a:off x="8367822" y="1776839"/>
            <a:ext cx="1552353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5BC242A-5495-E14B-DE40-02C6078BD7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368" y="2051530"/>
                <a:ext cx="431859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This is the </a:t>
                </a:r>
                <a:r>
                  <a:rPr lang="en-GB" dirty="0">
                    <a:solidFill>
                      <a:srgbClr val="FFFF00"/>
                    </a:solidFill>
                    <a:latin typeface="Bahnschrift Light" panose="020B0502040204020203" pitchFamily="34" charset="0"/>
                  </a:rPr>
                  <a:t>stochastic</a:t>
                </a:r>
                <a:r>
                  <a:rPr lang="en-GB" dirty="0">
                    <a:latin typeface="Bahnschrift Light" panose="020B0502040204020203" pitchFamily="34" charset="0"/>
                  </a:rPr>
                  <a:t> (i.e. “randomness”) element of the model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The distribution tells the model what type of response values are sensible, given we don’t expect perfect fit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E.g. the linear predictor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might suggest you have 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chance to drink coffee this morning (1), but maybe you didn’t (0)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But a value of 2.4 is not possible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65BC242A-5495-E14B-DE40-02C6078BD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68" y="2051530"/>
                <a:ext cx="4318591" cy="4351338"/>
              </a:xfrm>
              <a:prstGeom prst="rect">
                <a:avLst/>
              </a:prstGeom>
              <a:blipFill>
                <a:blip r:embed="rId4"/>
                <a:stretch>
                  <a:fillRect l="-1834" t="-3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7314759-7983-3736-5C65-3731BF988E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5693" y="2038276"/>
                <a:ext cx="448693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This is the </a:t>
                </a:r>
                <a:r>
                  <a:rPr lang="en-GB" dirty="0">
                    <a:solidFill>
                      <a:srgbClr val="FFFF00"/>
                    </a:solidFill>
                    <a:latin typeface="Bahnschrift Light" panose="020B0502040204020203" pitchFamily="34" charset="0"/>
                  </a:rPr>
                  <a:t>deterministic</a:t>
                </a:r>
                <a:r>
                  <a:rPr lang="en-GB" dirty="0">
                    <a:latin typeface="Bahnschrift Light" panose="020B0502040204020203" pitchFamily="34" charset="0"/>
                  </a:rPr>
                  <a:t> element of the model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We decide what goes into the deterministic element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I think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happens because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And how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related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E.g. because you bought coffee yesterday, there is a 95% chance that you drank coffee this morning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7314759-7983-3736-5C65-3731BF988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693" y="2038276"/>
                <a:ext cx="4486939" cy="4351338"/>
              </a:xfrm>
              <a:prstGeom prst="rect">
                <a:avLst/>
              </a:prstGeom>
              <a:blipFill>
                <a:blip r:embed="rId5"/>
                <a:stretch>
                  <a:fillRect l="-2174" t="-2241" r="-2989" b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18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6: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Uses and risks of modelling</a:t>
            </a:r>
          </a:p>
        </p:txBody>
      </p:sp>
    </p:spTree>
    <p:extLst>
      <p:ext uri="{BB962C8B-B14F-4D97-AF65-F5344CB8AC3E}">
        <p14:creationId xmlns:p14="http://schemas.microsoft.com/office/powerpoint/2010/main" val="253980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Your key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651000"/>
            <a:ext cx="5572125" cy="48348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FFFF00"/>
                </a:solidFill>
                <a:latin typeface="Bahnschrift Light" panose="020B0502040204020203" pitchFamily="34" charset="0"/>
              </a:rPr>
              <a:t>Validity </a:t>
            </a:r>
            <a:r>
              <a:rPr lang="en-GB" sz="1200" dirty="0">
                <a:latin typeface="Bahnschrift Light" panose="020B0502040204020203" pitchFamily="34" charset="0"/>
              </a:rPr>
              <a:t>(Gelman &amp; Hill)</a:t>
            </a:r>
            <a:endParaRPr lang="en-GB" dirty="0">
              <a:solidFill>
                <a:srgbClr val="FFFF00"/>
              </a:solidFill>
              <a:latin typeface="Bahnschrift Light" panose="020B0502040204020203" pitchFamily="34" charset="0"/>
            </a:endParaRP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Meaning: Your data can answer your research question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If broken: Monkey’s paw</a:t>
            </a:r>
          </a:p>
          <a:p>
            <a:pPr lvl="2"/>
            <a:r>
              <a:rPr lang="en-GB" dirty="0">
                <a:latin typeface="Bahnschrift Light" panose="020B0502040204020203" pitchFamily="34" charset="0"/>
              </a:rPr>
              <a:t>You’re not answering the question you think you are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E.g.: Measuring test scores does not measure intelligence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FFFF00"/>
                </a:solidFill>
                <a:latin typeface="Bahnschrift Light" panose="020B0502040204020203" pitchFamily="34" charset="0"/>
              </a:rPr>
              <a:t>Linearity </a:t>
            </a:r>
            <a:r>
              <a:rPr lang="en-GB" sz="1100" dirty="0">
                <a:latin typeface="Bahnschrift Light" panose="020B0502040204020203" pitchFamily="34" charset="0"/>
              </a:rPr>
              <a:t>(Gelman &amp; Hill)</a:t>
            </a:r>
            <a:endParaRPr lang="en-GB" sz="1100" b="1" dirty="0">
              <a:solidFill>
                <a:srgbClr val="FFFF00"/>
              </a:solidFill>
              <a:latin typeface="Bahnschrift Light" panose="020B0502040204020203" pitchFamily="34" charset="0"/>
            </a:endParaRP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Meaning: Deterministic element is a linear function of your explanatory variables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If broken: Monkey’s paw</a:t>
            </a:r>
          </a:p>
          <a:p>
            <a:pPr lvl="2"/>
            <a:r>
              <a:rPr lang="en-GB" dirty="0">
                <a:latin typeface="Bahnschrift Light" panose="020B0502040204020203" pitchFamily="34" charset="0"/>
              </a:rPr>
              <a:t>Answer is too simplistic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E.g.: Height does increase with age linearly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D3BB515-97F5-926B-5170-DBC860FF9AC0}"/>
              </a:ext>
            </a:extLst>
          </p:cNvPr>
          <p:cNvSpPr txBox="1">
            <a:spLocks/>
          </p:cNvSpPr>
          <p:nvPr/>
        </p:nvSpPr>
        <p:spPr>
          <a:xfrm>
            <a:off x="6229261" y="1651000"/>
            <a:ext cx="5572125" cy="48348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GB" b="1" dirty="0">
                <a:solidFill>
                  <a:srgbClr val="FFFF00"/>
                </a:solidFill>
                <a:latin typeface="Bahnschrift Light" panose="020B0502040204020203" pitchFamily="34" charset="0"/>
              </a:rPr>
              <a:t>Independence of errors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Meaning: We have independent observations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If broken: Monkey’s paw</a:t>
            </a:r>
          </a:p>
          <a:p>
            <a:pPr lvl="2"/>
            <a:r>
              <a:rPr lang="en-GB" dirty="0">
                <a:latin typeface="Bahnschrift Light" panose="020B0502040204020203" pitchFamily="34" charset="0"/>
              </a:rPr>
              <a:t>Overly confident in results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E.g.: We measure the height of one family to estimate average human height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b="1" dirty="0">
                <a:solidFill>
                  <a:srgbClr val="FFFF00"/>
                </a:solidFill>
                <a:latin typeface="Bahnschrift Light" panose="020B0502040204020203" pitchFamily="34" charset="0"/>
              </a:rPr>
              <a:t>Homogeneity of variance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Meaning: The randomness is handled by the distribution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If broken: Monkey’s paw</a:t>
            </a:r>
          </a:p>
          <a:p>
            <a:pPr lvl="2"/>
            <a:r>
              <a:rPr lang="en-GB" dirty="0">
                <a:latin typeface="Bahnschrift Light" panose="020B0502040204020203" pitchFamily="34" charset="0"/>
              </a:rPr>
              <a:t>Results do not generalise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E.g.: More than just age influences height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b="1" dirty="0">
                <a:solidFill>
                  <a:srgbClr val="FFFF00"/>
                </a:solidFill>
                <a:latin typeface="Bahnschrift Light" panose="020B0502040204020203" pitchFamily="34" charset="0"/>
              </a:rPr>
              <a:t>Plus</a:t>
            </a:r>
            <a:r>
              <a:rPr lang="en-GB" dirty="0">
                <a:latin typeface="Bahnschrift Light" panose="020B0502040204020203" pitchFamily="34" charset="0"/>
              </a:rPr>
              <a:t> some assumptions that are specific to certain distributions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77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60AF582-B543-E4FC-DD1D-74A8845CC46D}"/>
              </a:ext>
            </a:extLst>
          </p:cNvPr>
          <p:cNvGrpSpPr/>
          <p:nvPr/>
        </p:nvGrpSpPr>
        <p:grpSpPr>
          <a:xfrm>
            <a:off x="6019800" y="2397021"/>
            <a:ext cx="6096000" cy="2734446"/>
            <a:chOff x="6248400" y="1768371"/>
            <a:chExt cx="6096000" cy="27344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/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𝐷𝑖𝑠𝑡𝑟𝑖𝑏𝑢𝑡𝑖𝑜𝑛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GB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01A866-4557-A06B-857A-F7615447CF1E}"/>
                </a:ext>
              </a:extLst>
            </p:cNvPr>
            <p:cNvSpPr txBox="1"/>
            <p:nvPr/>
          </p:nvSpPr>
          <p:spPr>
            <a:xfrm>
              <a:off x="6626438" y="3117822"/>
              <a:ext cx="5339923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family = </a:t>
              </a:r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Dist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(“g”)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b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D16D3A-D948-2BB7-38F7-A5CC646D4BD9}"/>
              </a:ext>
            </a:extLst>
          </p:cNvPr>
          <p:cNvGrpSpPr/>
          <p:nvPr/>
        </p:nvGrpSpPr>
        <p:grpSpPr>
          <a:xfrm>
            <a:off x="5585172" y="2397021"/>
            <a:ext cx="6096000" cy="2303558"/>
            <a:chOff x="5829300" y="1768371"/>
            <a:chExt cx="6096000" cy="2303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/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𝑁𝑜𝑟𝑚𝑎𝑙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A97372-D3CE-0B37-F1C5-880DE954610B}"/>
                </a:ext>
              </a:extLst>
            </p:cNvPr>
            <p:cNvSpPr txBox="1"/>
            <p:nvPr/>
          </p:nvSpPr>
          <p:spPr>
            <a:xfrm>
              <a:off x="6851745" y="3117822"/>
              <a:ext cx="40511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GLMs; oversimplified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1619249"/>
            <a:ext cx="6010164" cy="4962525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Know your research question!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your response variable (</a:t>
            </a:r>
            <a:r>
              <a:rPr lang="en-GB" i="1" dirty="0">
                <a:latin typeface="Bahnschrift Light" panose="020B0502040204020203" pitchFamily="34" charset="0"/>
              </a:rPr>
              <a:t>stochastic element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Identify which distribution(s) best characterise your randomness.</a:t>
            </a:r>
            <a:endParaRPr lang="en-GB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the process behind the data (</a:t>
            </a:r>
            <a:r>
              <a:rPr lang="en-GB" i="1" dirty="0">
                <a:latin typeface="Bahnschrift Light" panose="020B0502040204020203" pitchFamily="34" charset="0"/>
              </a:rPr>
              <a:t>deterministic element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Combine into a model that can answer your question.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Use the default link function or any valid alternative.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Fit the model.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Check your assumption(</a:t>
            </a: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s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Answer your question (but beware the Monkey’s Paw).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16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1133</Words>
  <Application>Microsoft Office PowerPoint</Application>
  <PresentationFormat>Widescreen</PresentationFormat>
  <Paragraphs>150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Bahnschrift Light</vt:lpstr>
      <vt:lpstr>Cambria Math</vt:lpstr>
      <vt:lpstr>Courier New</vt:lpstr>
      <vt:lpstr>Office Theme</vt:lpstr>
      <vt:lpstr>sbs_template</vt:lpstr>
      <vt:lpstr>PowerPoint Presentation</vt:lpstr>
      <vt:lpstr>Introduction to GLMs</vt:lpstr>
      <vt:lpstr>Introduction to GLMs</vt:lpstr>
      <vt:lpstr>Chapter 1: Linear model refresh</vt:lpstr>
      <vt:lpstr>Can we reduce blood pressure?</vt:lpstr>
      <vt:lpstr>Can we reduce blood pressure?</vt:lpstr>
      <vt:lpstr>What if our error is not Normal?</vt:lpstr>
      <vt:lpstr>Chapter 2: Stochastic element</vt:lpstr>
      <vt:lpstr>Allowing suitable randomness</vt:lpstr>
      <vt:lpstr>https://deonroos.shinyapps.io/Distributions/ </vt:lpstr>
      <vt:lpstr>Beware the histomancer</vt:lpstr>
      <vt:lpstr>Chapter 3: Link functions</vt:lpstr>
      <vt:lpstr>The missing link</vt:lpstr>
      <vt:lpstr>Why use link function</vt:lpstr>
      <vt:lpstr>The missing link</vt:lpstr>
      <vt:lpstr>Intermission</vt:lpstr>
      <vt:lpstr>Chapter 4: Deterministic element</vt:lpstr>
      <vt:lpstr>PowerPoint Presentation</vt:lpstr>
      <vt:lpstr>Did you drink coffee this morning?</vt:lpstr>
      <vt:lpstr>Chapter 5: Holistic model</vt:lpstr>
      <vt:lpstr>Stochastic and deterministic</vt:lpstr>
      <vt:lpstr>Chapter 6: Uses and risks of modelling</vt:lpstr>
      <vt:lpstr>Your key assumptions</vt:lpstr>
      <vt:lpstr>GLMs; oversimplified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2</cp:revision>
  <dcterms:created xsi:type="dcterms:W3CDTF">2024-07-26T12:34:26Z</dcterms:created>
  <dcterms:modified xsi:type="dcterms:W3CDTF">2024-07-26T12:46:06Z</dcterms:modified>
</cp:coreProperties>
</file>