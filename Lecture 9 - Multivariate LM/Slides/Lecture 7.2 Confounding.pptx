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0"/>
  </p:notesMasterIdLst>
  <p:sldIdLst>
    <p:sldId id="256" r:id="rId2"/>
    <p:sldId id="338" r:id="rId3"/>
    <p:sldId id="296" r:id="rId4"/>
    <p:sldId id="298" r:id="rId5"/>
    <p:sldId id="299" r:id="rId6"/>
    <p:sldId id="297" r:id="rId7"/>
    <p:sldId id="300" r:id="rId8"/>
    <p:sldId id="301" r:id="rId9"/>
    <p:sldId id="302" r:id="rId10"/>
    <p:sldId id="305" r:id="rId11"/>
    <p:sldId id="306" r:id="rId12"/>
    <p:sldId id="316" r:id="rId13"/>
    <p:sldId id="307" r:id="rId14"/>
    <p:sldId id="317" r:id="rId15"/>
    <p:sldId id="323" r:id="rId16"/>
    <p:sldId id="308" r:id="rId17"/>
    <p:sldId id="318" r:id="rId18"/>
    <p:sldId id="332" r:id="rId19"/>
    <p:sldId id="326" r:id="rId20"/>
    <p:sldId id="309" r:id="rId21"/>
    <p:sldId id="320" r:id="rId22"/>
    <p:sldId id="334" r:id="rId23"/>
    <p:sldId id="325" r:id="rId24"/>
    <p:sldId id="311" r:id="rId25"/>
    <p:sldId id="319" r:id="rId26"/>
    <p:sldId id="333" r:id="rId27"/>
    <p:sldId id="335" r:id="rId28"/>
    <p:sldId id="327" r:id="rId29"/>
    <p:sldId id="310" r:id="rId30"/>
    <p:sldId id="314" r:id="rId31"/>
    <p:sldId id="337" r:id="rId32"/>
    <p:sldId id="303" r:id="rId33"/>
    <p:sldId id="330" r:id="rId34"/>
    <p:sldId id="328" r:id="rId35"/>
    <p:sldId id="329" r:id="rId36"/>
    <p:sldId id="312" r:id="rId37"/>
    <p:sldId id="331" r:id="rId38"/>
    <p:sldId id="313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4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71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7BEE4C-6E4D-4BD2-9DF2-E5E6397C913D}" type="datetimeFigureOut">
              <a:rPr lang="en-GB" smtClean="0"/>
              <a:t>29/07/2024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FEED7F-77A4-4439-ACBC-7E1B92355F6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96880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582103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593512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369945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768141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424375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430960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451440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819780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2904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002032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2013978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5431033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3375092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731220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5559554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5357273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6383692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9172464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5379738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7876649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9101536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9346573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5203434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3591422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6787216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5611852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1743912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908960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EF085-90BA-6B79-A198-AE27F69DC1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567" y="565410"/>
            <a:ext cx="6096000" cy="2863589"/>
          </a:xfrm>
        </p:spPr>
        <p:txBody>
          <a:bodyPr anchor="ctr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960FB6-F389-7EDD-D9DB-A406B89F35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4567" y="3552161"/>
            <a:ext cx="6096000" cy="2607569"/>
          </a:xfrm>
        </p:spPr>
        <p:txBody>
          <a:bodyPr anchor="ctr"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001CD27-4DF4-05EC-92B4-C7555C3D018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50677" y="0"/>
            <a:ext cx="5741324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5E048B3-2145-631D-3138-1DF0AD6D38F2}"/>
              </a:ext>
            </a:extLst>
          </p:cNvPr>
          <p:cNvCxnSpPr/>
          <p:nvPr/>
        </p:nvCxnSpPr>
        <p:spPr>
          <a:xfrm>
            <a:off x="1313411" y="3491345"/>
            <a:ext cx="375735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91338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30639-2CA7-2272-840E-F8F595ABC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201295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D59DF2-E981-9079-7762-2C88651F5B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26613"/>
            <a:ext cx="6201295" cy="524019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BEC5A3C4-A2EA-7545-B99B-E8F489810FE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359525" y="0"/>
            <a:ext cx="5832475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2750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B9374-2DD6-FA11-BF6F-AE419E0A6B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0" y="1426614"/>
            <a:ext cx="5893724" cy="516220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FA4DDC-5EE8-4D0D-208A-D5A4CC40A5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1295" y="0"/>
            <a:ext cx="5990705" cy="5162204"/>
          </a:xfrm>
        </p:spPr>
        <p:txBody>
          <a:bodyPr anchor="ctr"/>
          <a:lstStyle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96FFCEF-D528-27F4-CF96-A8F674BCA08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620129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E6B47C7-8888-2E6B-0D7C-CF46BFD9A30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01295" y="5162204"/>
            <a:ext cx="5990705" cy="16957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417251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FFACB-206F-5777-5BAD-5BF8E9669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104015"/>
            <a:ext cx="10515600" cy="175398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274510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958E7-8733-1588-CE76-0710036CC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043C91-73BF-C49E-46BA-834638FC0B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FDC1F7-08BE-633D-0E8D-18F30CEE5A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4D961F-706F-451E-ABF3-F672C1F454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36AEAE-47C4-6C9C-5B4C-F6E31977E8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72731F-9715-FADD-FEBD-65D90CABA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5BDC0-D495-4468-B269-05C2B498DD2E}" type="datetimeFigureOut">
              <a:rPr lang="en-GB" smtClean="0"/>
              <a:t>29/07/2024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E7A07B-AF32-2EA1-F513-0D1F38BAB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B01B04-63C5-991E-FD0F-2ED9257DC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C5873-338B-4BC6-BCA1-446C398D65F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04753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13767-1669-64A9-2C16-1A1F6165D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1F01AD-E823-7B4D-D421-EF7BE290C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5BDC0-D495-4468-B269-05C2B498DD2E}" type="datetimeFigureOut">
              <a:rPr lang="en-GB" smtClean="0"/>
              <a:t>29/07/2024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13AC7F-2C26-3190-A705-5FC5DD18B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DF203F-F57C-7145-B743-4A084B3A5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C5873-338B-4BC6-BCA1-446C398D65F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11496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E02D19-147D-AD60-6ACC-2F7283CEE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5BDC0-D495-4468-B269-05C2B498DD2E}" type="datetimeFigureOut">
              <a:rPr lang="en-GB" smtClean="0"/>
              <a:t>29/07/2024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CF569D-7098-9B6D-B851-1B18E6DB6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18D08F-69F0-C410-CAC9-DF16A0BF9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C5873-338B-4BC6-BCA1-446C398D65F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18167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C2567-4A48-3F47-EF88-E32A67EDD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F90797-1FEC-B310-9CA0-6642F4FE7D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BDC1EB-E335-7190-8BFD-48E25C309A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154E58-0B6A-491E-7CE0-88114C141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5BDC0-D495-4468-B269-05C2B498DD2E}" type="datetimeFigureOut">
              <a:rPr lang="en-GB" smtClean="0"/>
              <a:t>29/07/2024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198572-7396-BEBC-0D56-24BE2A95E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2279F2-BB85-6763-45F1-D73C041BD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C5873-338B-4BC6-BCA1-446C398D65F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29620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83E09-8249-AC15-7FC0-A0BAD598E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C329DF-266D-F8F8-A195-53A7576BBF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CFA6F2-3F6B-26F9-74E6-E4E35007E9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14BCDB-42E3-AB80-31A3-907D1B597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5BDC0-D495-4468-B269-05C2B498DD2E}" type="datetimeFigureOut">
              <a:rPr lang="en-GB" smtClean="0"/>
              <a:t>29/07/2024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6EC699-83D3-6581-966B-8882D2158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550ABE-17BA-CEDA-390B-2BA6E004B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C5873-338B-4BC6-BCA1-446C398D65F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7337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1BF0F-4D20-22A7-227D-78B4DDCA7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010818-F611-B1A2-8A19-C3130A329F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543987-925F-B621-E68B-A3BED9350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5BDC0-D495-4468-B269-05C2B498DD2E}" type="datetimeFigureOut">
              <a:rPr lang="en-GB" smtClean="0"/>
              <a:t>29/07/2024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52031D-ADF7-744B-5905-8C84ADA49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7D02BB-73AF-8339-0B3A-B736F5E38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C5873-338B-4BC6-BCA1-446C398D65F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2943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A4840D-0D28-B8EB-88E1-65CDAE3316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3A8637-D9F6-1719-1804-4B3705C901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A50F13-C53E-CA05-E313-C1579E84E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5BDC0-D495-4468-B269-05C2B498DD2E}" type="datetimeFigureOut">
              <a:rPr lang="en-GB" smtClean="0"/>
              <a:t>29/07/2024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909B7E-626E-8018-4CBE-414FB0F1D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0D0C27-06BF-1AD4-3587-FD26F1D7B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C5873-338B-4BC6-BCA1-446C398D65F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33257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27213-7412-1E6D-E18C-49C520C21E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6F614C-7C09-4967-2CA4-3C27256462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17C139-B5B7-6003-4304-9DC752EFD6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5BDC0-D495-4468-B269-05C2B498DD2E}" type="datetimeFigureOut">
              <a:rPr lang="en-GB" smtClean="0"/>
              <a:t>29/07/2024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555C45-AB18-961B-944F-E0EF350B0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BFB94C-2CB3-E494-35D9-FE47BC489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C5873-338B-4BC6-BCA1-446C398D65F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3958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5476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246E56-8908-0E6A-4E62-88CF6D359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D1896B-C040-3D2C-A619-0B877E3383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B1AC1E-960F-82DB-0E5A-2F328EAC2C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95BDC0-D495-4468-B269-05C2B498DD2E}" type="datetimeFigureOut">
              <a:rPr lang="en-GB" smtClean="0"/>
              <a:t>29/07/2024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CFF5B2-21B1-9528-920D-DD4BF8C0BD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D16DDC-4E03-310B-1091-75EB5EDC36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4C5873-338B-4BC6-BCA1-446C398D65F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073803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2.png"/><Relationship Id="rId4" Type="http://schemas.openxmlformats.org/officeDocument/2006/relationships/image" Target="../media/image11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0.jpg"/><Relationship Id="rId5" Type="http://schemas.openxmlformats.org/officeDocument/2006/relationships/image" Target="../media/image19.jpg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jpg"/><Relationship Id="rId3" Type="http://schemas.openxmlformats.org/officeDocument/2006/relationships/image" Target="../media/image21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9" Type="http://schemas.openxmlformats.org/officeDocument/2006/relationships/image" Target="../media/image19.jp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jpg"/><Relationship Id="rId3" Type="http://schemas.openxmlformats.org/officeDocument/2006/relationships/image" Target="../media/image25.png"/><Relationship Id="rId7" Type="http://schemas.openxmlformats.org/officeDocument/2006/relationships/image" Target="../media/image29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8.jp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2.png"/><Relationship Id="rId5" Type="http://schemas.openxmlformats.org/officeDocument/2006/relationships/image" Target="../media/image32.jpg"/><Relationship Id="rId4" Type="http://schemas.openxmlformats.org/officeDocument/2006/relationships/image" Target="../media/image11.jp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jpg"/><Relationship Id="rId3" Type="http://schemas.openxmlformats.org/officeDocument/2006/relationships/image" Target="../media/image33.png"/><Relationship Id="rId7" Type="http://schemas.openxmlformats.org/officeDocument/2006/relationships/image" Target="../media/image11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34.png"/><Relationship Id="rId9" Type="http://schemas.openxmlformats.org/officeDocument/2006/relationships/image" Target="../media/image1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8.jpg"/><Relationship Id="rId5" Type="http://schemas.openxmlformats.org/officeDocument/2006/relationships/image" Target="../media/image37.jpg"/><Relationship Id="rId4" Type="http://schemas.openxmlformats.org/officeDocument/2006/relationships/image" Target="../media/image36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2.jpg"/><Relationship Id="rId5" Type="http://schemas.openxmlformats.org/officeDocument/2006/relationships/image" Target="../media/image41.jpg"/><Relationship Id="rId4" Type="http://schemas.openxmlformats.org/officeDocument/2006/relationships/image" Target="../media/image12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43.png"/><Relationship Id="rId7" Type="http://schemas.openxmlformats.org/officeDocument/2006/relationships/image" Target="../media/image42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1.jpg"/><Relationship Id="rId5" Type="http://schemas.openxmlformats.org/officeDocument/2006/relationships/image" Target="../media/image12.png"/><Relationship Id="rId4" Type="http://schemas.openxmlformats.org/officeDocument/2006/relationships/image" Target="../media/image44.png"/><Relationship Id="rId9" Type="http://schemas.openxmlformats.org/officeDocument/2006/relationships/image" Target="../media/image24.sv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8.jp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52.png"/><Relationship Id="rId4" Type="http://schemas.openxmlformats.org/officeDocument/2006/relationships/image" Target="../media/image51.jp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jpg"/><Relationship Id="rId3" Type="http://schemas.openxmlformats.org/officeDocument/2006/relationships/image" Target="../media/image54.png"/><Relationship Id="rId7" Type="http://schemas.openxmlformats.org/officeDocument/2006/relationships/image" Target="../media/image5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7.jpeg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1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7" Type="http://schemas.openxmlformats.org/officeDocument/2006/relationships/image" Target="../media/image71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51DDB-62D6-C293-E1AE-68E5CC239D4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Confounding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145417-CEA3-2711-9625-1EF585CD656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Confounding with a worked example of a linear model with multiple explanatory variables</a:t>
            </a:r>
          </a:p>
        </p:txBody>
      </p:sp>
    </p:spTree>
    <p:extLst>
      <p:ext uri="{BB962C8B-B14F-4D97-AF65-F5344CB8AC3E}">
        <p14:creationId xmlns:p14="http://schemas.microsoft.com/office/powerpoint/2010/main" val="20180682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Diagram&#10;&#10;Description automatically generated with medium confidence">
            <a:extLst>
              <a:ext uri="{FF2B5EF4-FFF2-40B4-BE49-F238E27FC236}">
                <a16:creationId xmlns:a16="http://schemas.microsoft.com/office/drawing/2014/main" id="{C179E196-1E8B-43AC-8A79-BA3D2323B1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352" y="918949"/>
            <a:ext cx="11697801" cy="5049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0693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A962E-623F-4A33-9271-D822D9C94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12192000" cy="763600"/>
          </a:xfrm>
        </p:spPr>
        <p:txBody>
          <a:bodyPr/>
          <a:lstStyle/>
          <a:p>
            <a:pPr algn="ctr"/>
            <a:r>
              <a:rPr lang="en-GB" dirty="0"/>
              <a:t>How do we understand causation?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44722C-5C3F-4525-9FDD-10ACFA6D24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Causal inference is the goal in most of science</a:t>
            </a:r>
          </a:p>
          <a:p>
            <a:pPr lvl="1">
              <a:spcBef>
                <a:spcPts val="0"/>
              </a:spcBef>
            </a:pPr>
            <a:r>
              <a:rPr lang="en-GB" dirty="0"/>
              <a:t>Do </a:t>
            </a:r>
            <a:r>
              <a:rPr lang="en-GB" b="1" dirty="0">
                <a:solidFill>
                  <a:schemeClr val="accent5">
                    <a:lumMod val="75000"/>
                  </a:schemeClr>
                </a:solidFill>
              </a:rPr>
              <a:t>ice cream sales </a:t>
            </a:r>
            <a:r>
              <a:rPr lang="en-GB" dirty="0"/>
              <a:t>cause </a:t>
            </a:r>
            <a:r>
              <a:rPr lang="en-GB" b="1" dirty="0">
                <a:solidFill>
                  <a:srgbClr val="FFC000"/>
                </a:solidFill>
              </a:rPr>
              <a:t>sharks to attack</a:t>
            </a:r>
            <a:r>
              <a:rPr lang="en-GB" dirty="0"/>
              <a:t>?</a:t>
            </a:r>
          </a:p>
          <a:p>
            <a:r>
              <a:rPr lang="en-GB" dirty="0"/>
              <a:t>How do we know if there is a causal relationship?</a:t>
            </a:r>
          </a:p>
          <a:p>
            <a:pPr lvl="1">
              <a:spcBef>
                <a:spcPts val="0"/>
              </a:spcBef>
            </a:pPr>
            <a:r>
              <a:rPr lang="en-GB" dirty="0"/>
              <a:t>With a statistical model</a:t>
            </a:r>
          </a:p>
        </p:txBody>
      </p:sp>
      <p:sp>
        <p:nvSpPr>
          <p:cNvPr id="4" name="Google Shape;75;p15">
            <a:extLst>
              <a:ext uri="{FF2B5EF4-FFF2-40B4-BE49-F238E27FC236}">
                <a16:creationId xmlns:a16="http://schemas.microsoft.com/office/drawing/2014/main" id="{D3576E38-C5FF-4D1E-BF01-7E8DED020055}"/>
              </a:ext>
            </a:extLst>
          </p:cNvPr>
          <p:cNvSpPr/>
          <p:nvPr/>
        </p:nvSpPr>
        <p:spPr>
          <a:xfrm>
            <a:off x="4347584" y="693450"/>
            <a:ext cx="3496833" cy="140300"/>
          </a:xfrm>
          <a:custGeom>
            <a:avLst/>
            <a:gdLst/>
            <a:ahLst/>
            <a:cxnLst/>
            <a:rect l="l" t="t" r="r" b="b"/>
            <a:pathLst>
              <a:path w="104905" h="4209" extrusionOk="0">
                <a:moveTo>
                  <a:pt x="0" y="2010"/>
                </a:moveTo>
                <a:cubicBezTo>
                  <a:pt x="34411" y="-4246"/>
                  <a:pt x="71725" y="11060"/>
                  <a:pt x="104905" y="0"/>
                </a:cubicBezTo>
              </a:path>
            </a:pathLst>
          </a:custGeom>
          <a:noFill/>
          <a:ln w="19050" cap="flat" cmpd="sng">
            <a:solidFill>
              <a:srgbClr val="4C113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6318279-2903-4A14-8685-8EA7ABC8CDAB}"/>
              </a:ext>
            </a:extLst>
          </p:cNvPr>
          <p:cNvGrpSpPr/>
          <p:nvPr/>
        </p:nvGrpSpPr>
        <p:grpSpPr>
          <a:xfrm>
            <a:off x="2318869" y="4751295"/>
            <a:ext cx="7721600" cy="1691343"/>
            <a:chOff x="1739152" y="3563471"/>
            <a:chExt cx="5791200" cy="1268507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28CC920C-3BEA-47CC-BD41-636B7EC82DC0}"/>
                </a:ext>
              </a:extLst>
            </p:cNvPr>
            <p:cNvSpPr/>
            <p:nvPr/>
          </p:nvSpPr>
          <p:spPr>
            <a:xfrm>
              <a:off x="6178923" y="3563471"/>
              <a:ext cx="1351429" cy="1268507"/>
            </a:xfrm>
            <a:prstGeom prst="ellipse">
              <a:avLst/>
            </a:prstGeom>
            <a:solidFill>
              <a:schemeClr val="tx2">
                <a:lumMod val="50000"/>
              </a:schemeClr>
            </a:solidFill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Shark attack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337FB031-E047-4A53-9C5D-C4BFC95D09E5}"/>
                </a:ext>
              </a:extLst>
            </p:cNvPr>
            <p:cNvSpPr/>
            <p:nvPr/>
          </p:nvSpPr>
          <p:spPr>
            <a:xfrm>
              <a:off x="1739152" y="3563471"/>
              <a:ext cx="1351429" cy="1268507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 w="57150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Ice cream sales</a:t>
              </a:r>
            </a:p>
          </p:txBody>
        </p:sp>
      </p:grp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66B71CB-8A25-4739-8293-18C39045DA9D}"/>
              </a:ext>
            </a:extLst>
          </p:cNvPr>
          <p:cNvCxnSpPr>
            <a:stCxn id="7" idx="6"/>
            <a:endCxn id="6" idx="2"/>
          </p:cNvCxnSpPr>
          <p:nvPr/>
        </p:nvCxnSpPr>
        <p:spPr>
          <a:xfrm>
            <a:off x="4120775" y="5596967"/>
            <a:ext cx="4117789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6B1C36D-E740-42C1-90E3-25E1B15234CB}"/>
                  </a:ext>
                </a:extLst>
              </p:cNvPr>
              <p:cNvSpPr txBox="1"/>
              <p:nvPr/>
            </p:nvSpPr>
            <p:spPr>
              <a:xfrm>
                <a:off x="3591166" y="3229774"/>
                <a:ext cx="490211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𝑆h𝑎𝑟</m:t>
                      </m:r>
                      <m:sSub>
                        <m:sSubPr>
                          <m:ctrlPr>
                            <a:rPr lang="en-GB" sz="32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GB" sz="32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3200" i="1">
                          <a:latin typeface="Cambria Math" panose="02040503050406030204" pitchFamily="18" charset="0"/>
                        </a:rPr>
                        <m:t>=0.5+5×</m:t>
                      </m:r>
                      <m:r>
                        <a:rPr lang="en-GB" sz="3200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𝑆𝑎𝑙𝑒</m:t>
                      </m:r>
                      <m:sSub>
                        <m:sSubPr>
                          <m:ctrlPr>
                            <a:rPr lang="en-GB" sz="32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GB" sz="32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sz="3200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6B1C36D-E740-42C1-90E3-25E1B15234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1166" y="3229774"/>
                <a:ext cx="4902111" cy="5847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F63EF98-3281-4249-A086-0650FBD8F2E0}"/>
                  </a:ext>
                </a:extLst>
              </p:cNvPr>
              <p:cNvSpPr txBox="1"/>
              <p:nvPr/>
            </p:nvSpPr>
            <p:spPr>
              <a:xfrm>
                <a:off x="3591166" y="3229775"/>
                <a:ext cx="4950009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𝑆h𝑎𝑟</m:t>
                      </m:r>
                      <m:sSub>
                        <m:sSubPr>
                          <m:ctrlPr>
                            <a:rPr lang="en-GB" sz="32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GB" sz="32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32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32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3200" i="1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sz="3200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𝑆𝑎𝑙𝑒</m:t>
                      </m:r>
                      <m:sSub>
                        <m:sSubPr>
                          <m:ctrlPr>
                            <a:rPr lang="en-GB" sz="32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GB" sz="32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sz="3200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F63EF98-3281-4249-A086-0650FBD8F2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1166" y="3229775"/>
                <a:ext cx="4950009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Shark Bite Ice Cream Sundaes Recipe | Food Network Kitchen | Food Network">
            <a:extLst>
              <a:ext uri="{FF2B5EF4-FFF2-40B4-BE49-F238E27FC236}">
                <a16:creationId xmlns:a16="http://schemas.microsoft.com/office/drawing/2014/main" id="{BA910A46-3244-45D1-A6C1-7E46127729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9055" y="1834512"/>
            <a:ext cx="3289300" cy="2463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CF1C739F-E804-4D8D-97F0-36FCC591672C}"/>
              </a:ext>
            </a:extLst>
          </p:cNvPr>
          <p:cNvGrpSpPr/>
          <p:nvPr/>
        </p:nvGrpSpPr>
        <p:grpSpPr>
          <a:xfrm>
            <a:off x="5459105" y="3229775"/>
            <a:ext cx="1455761" cy="2342351"/>
            <a:chOff x="4094328" y="2422331"/>
            <a:chExt cx="1091821" cy="1756763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2EF90363-3E60-461F-8BF3-FFE62866974C}"/>
                </a:ext>
              </a:extLst>
            </p:cNvPr>
            <p:cNvSpPr/>
            <p:nvPr/>
          </p:nvSpPr>
          <p:spPr>
            <a:xfrm>
              <a:off x="4094328" y="2422331"/>
              <a:ext cx="1091821" cy="461665"/>
            </a:xfrm>
            <a:prstGeom prst="roundRect">
              <a:avLst/>
            </a:prstGeom>
            <a:noFill/>
            <a:ln>
              <a:solidFill>
                <a:schemeClr val="tx2">
                  <a:lumMod val="1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400"/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B1F3FF64-BB15-44AD-B1BC-7DD5AAAB240B}"/>
                </a:ext>
              </a:extLst>
            </p:cNvPr>
            <p:cNvCxnSpPr>
              <a:cxnSpLocks/>
              <a:stCxn id="5" idx="2"/>
            </p:cNvCxnSpPr>
            <p:nvPr/>
          </p:nvCxnSpPr>
          <p:spPr>
            <a:xfrm>
              <a:off x="4640239" y="2883996"/>
              <a:ext cx="0" cy="1295098"/>
            </a:xfrm>
            <a:prstGeom prst="straightConnector1">
              <a:avLst/>
            </a:prstGeom>
            <a:ln>
              <a:solidFill>
                <a:schemeClr val="tx2">
                  <a:lumMod val="1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14144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0" grpId="0"/>
      <p:bldP spid="11" grpId="0"/>
      <p:bldP spid="11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A962E-623F-4A33-9271-D822D9C94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12192000" cy="763600"/>
          </a:xfrm>
        </p:spPr>
        <p:txBody>
          <a:bodyPr/>
          <a:lstStyle/>
          <a:p>
            <a:pPr algn="ctr"/>
            <a:r>
              <a:rPr lang="en-GB" dirty="0"/>
              <a:t>Sceptical?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44722C-5C3F-4525-9FDD-10ACFA6D24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536633"/>
            <a:ext cx="6173459" cy="4555200"/>
          </a:xfrm>
        </p:spPr>
        <p:txBody>
          <a:bodyPr/>
          <a:lstStyle/>
          <a:p>
            <a:r>
              <a:rPr lang="en-GB" dirty="0"/>
              <a:t>How could we convince ourselves?</a:t>
            </a:r>
          </a:p>
          <a:p>
            <a:r>
              <a:rPr lang="en-GB" dirty="0"/>
              <a:t>Plotting the raw data and prediction?</a:t>
            </a:r>
          </a:p>
          <a:p>
            <a:r>
              <a:rPr lang="en-GB" dirty="0"/>
              <a:t>Relationship looks pretty clear cut</a:t>
            </a:r>
          </a:p>
        </p:txBody>
      </p:sp>
      <p:sp>
        <p:nvSpPr>
          <p:cNvPr id="4" name="Google Shape;75;p15">
            <a:extLst>
              <a:ext uri="{FF2B5EF4-FFF2-40B4-BE49-F238E27FC236}">
                <a16:creationId xmlns:a16="http://schemas.microsoft.com/office/drawing/2014/main" id="{D3576E38-C5FF-4D1E-BF01-7E8DED020055}"/>
              </a:ext>
            </a:extLst>
          </p:cNvPr>
          <p:cNvSpPr/>
          <p:nvPr/>
        </p:nvSpPr>
        <p:spPr>
          <a:xfrm>
            <a:off x="4347584" y="693450"/>
            <a:ext cx="3496833" cy="140300"/>
          </a:xfrm>
          <a:custGeom>
            <a:avLst/>
            <a:gdLst/>
            <a:ahLst/>
            <a:cxnLst/>
            <a:rect l="l" t="t" r="r" b="b"/>
            <a:pathLst>
              <a:path w="104905" h="4209" extrusionOk="0">
                <a:moveTo>
                  <a:pt x="0" y="2010"/>
                </a:moveTo>
                <a:cubicBezTo>
                  <a:pt x="34411" y="-4246"/>
                  <a:pt x="71725" y="11060"/>
                  <a:pt x="104905" y="0"/>
                </a:cubicBezTo>
              </a:path>
            </a:pathLst>
          </a:custGeom>
          <a:noFill/>
          <a:ln w="19050" cap="flat" cmpd="sng">
            <a:solidFill>
              <a:srgbClr val="4C113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8C565DC-790C-404B-B4D9-B6693A0876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6053" y="1203053"/>
            <a:ext cx="5020347" cy="5400951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0FD17B58-9636-437A-9241-C39441877485}"/>
              </a:ext>
            </a:extLst>
          </p:cNvPr>
          <p:cNvGrpSpPr/>
          <p:nvPr/>
        </p:nvGrpSpPr>
        <p:grpSpPr>
          <a:xfrm>
            <a:off x="265953" y="4912661"/>
            <a:ext cx="4982583" cy="1691343"/>
            <a:chOff x="1739152" y="3563471"/>
            <a:chExt cx="3736937" cy="1268507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4EC8AD3A-9298-42AF-AB5B-FD25AD867D54}"/>
                </a:ext>
              </a:extLst>
            </p:cNvPr>
            <p:cNvSpPr/>
            <p:nvPr/>
          </p:nvSpPr>
          <p:spPr>
            <a:xfrm>
              <a:off x="4124660" y="3563471"/>
              <a:ext cx="1351429" cy="1268507"/>
            </a:xfrm>
            <a:prstGeom prst="ellipse">
              <a:avLst/>
            </a:prstGeom>
            <a:solidFill>
              <a:schemeClr val="tx2">
                <a:lumMod val="50000"/>
              </a:schemeClr>
            </a:solidFill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Shark attack</a:t>
              </a: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27055753-47C3-47F0-8534-EBD5A5F32E8E}"/>
                </a:ext>
              </a:extLst>
            </p:cNvPr>
            <p:cNvSpPr/>
            <p:nvPr/>
          </p:nvSpPr>
          <p:spPr>
            <a:xfrm>
              <a:off x="1739152" y="3563471"/>
              <a:ext cx="1351429" cy="1268507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 w="57150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Ice cream sales</a:t>
              </a:r>
            </a:p>
          </p:txBody>
        </p:sp>
      </p:grp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E64F779-B70C-4768-9BB2-CBA4E1204C47}"/>
              </a:ext>
            </a:extLst>
          </p:cNvPr>
          <p:cNvCxnSpPr>
            <a:stCxn id="14" idx="6"/>
            <a:endCxn id="12" idx="2"/>
          </p:cNvCxnSpPr>
          <p:nvPr/>
        </p:nvCxnSpPr>
        <p:spPr>
          <a:xfrm>
            <a:off x="2067858" y="5758332"/>
            <a:ext cx="137877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FFFB947-6E35-42A2-AD19-6F52AD540960}"/>
                  </a:ext>
                </a:extLst>
              </p:cNvPr>
              <p:cNvSpPr txBox="1"/>
              <p:nvPr/>
            </p:nvSpPr>
            <p:spPr>
              <a:xfrm>
                <a:off x="415601" y="4221001"/>
                <a:ext cx="490211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𝑆𝑎𝑙𝑒</m:t>
                      </m:r>
                      <m:sSub>
                        <m:sSubPr>
                          <m:ctrlPr>
                            <a:rPr lang="en-GB" sz="32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GB" sz="32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3200" i="1">
                          <a:latin typeface="Cambria Math" panose="02040503050406030204" pitchFamily="18" charset="0"/>
                        </a:rPr>
                        <m:t>×5+0.5=</m:t>
                      </m:r>
                      <m:r>
                        <a:rPr lang="en-GB" sz="320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𝑆h𝑎𝑟</m:t>
                      </m:r>
                      <m:sSub>
                        <m:sSubPr>
                          <m:ctrlPr>
                            <a:rPr lang="en-GB" sz="32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GB" sz="32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sz="3200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FFFB947-6E35-42A2-AD19-6F52AD5409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601" y="4221001"/>
                <a:ext cx="4902111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21360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A962E-623F-4A33-9271-D822D9C94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12192000" cy="763600"/>
          </a:xfrm>
        </p:spPr>
        <p:txBody>
          <a:bodyPr/>
          <a:lstStyle/>
          <a:p>
            <a:pPr algn="ctr"/>
            <a:r>
              <a:rPr lang="en-GB" dirty="0"/>
              <a:t>Could we think of a causal mechanism?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44722C-5C3F-4525-9FDD-10ACFA6D24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147483"/>
            <a:ext cx="6173459" cy="4944351"/>
          </a:xfrm>
        </p:spPr>
        <p:txBody>
          <a:bodyPr/>
          <a:lstStyle/>
          <a:p>
            <a:pPr marL="152396" indent="0">
              <a:buNone/>
            </a:pPr>
            <a:r>
              <a:rPr lang="en-GB" dirty="0"/>
              <a:t>“Sharks smell sugar!”</a:t>
            </a:r>
          </a:p>
          <a:p>
            <a:pPr marL="152396" indent="0">
              <a:buNone/>
            </a:pPr>
            <a:endParaRPr lang="en-GB" dirty="0"/>
          </a:p>
          <a:p>
            <a:pPr marL="152396" indent="0">
              <a:buNone/>
            </a:pPr>
            <a:r>
              <a:rPr lang="en-GB" dirty="0"/>
              <a:t>“Given sharks have acute sensory organs, we propose that the increased sugar levels are detected by sharks, leading to a preferential targeting of those who recently consumed ice cream.”</a:t>
            </a:r>
          </a:p>
        </p:txBody>
      </p:sp>
      <p:sp>
        <p:nvSpPr>
          <p:cNvPr id="4" name="Google Shape;75;p15">
            <a:extLst>
              <a:ext uri="{FF2B5EF4-FFF2-40B4-BE49-F238E27FC236}">
                <a16:creationId xmlns:a16="http://schemas.microsoft.com/office/drawing/2014/main" id="{D3576E38-C5FF-4D1E-BF01-7E8DED020055}"/>
              </a:ext>
            </a:extLst>
          </p:cNvPr>
          <p:cNvSpPr/>
          <p:nvPr/>
        </p:nvSpPr>
        <p:spPr>
          <a:xfrm>
            <a:off x="4347584" y="693450"/>
            <a:ext cx="3496833" cy="140300"/>
          </a:xfrm>
          <a:custGeom>
            <a:avLst/>
            <a:gdLst/>
            <a:ahLst/>
            <a:cxnLst/>
            <a:rect l="l" t="t" r="r" b="b"/>
            <a:pathLst>
              <a:path w="104905" h="4209" extrusionOk="0">
                <a:moveTo>
                  <a:pt x="0" y="2010"/>
                </a:moveTo>
                <a:cubicBezTo>
                  <a:pt x="34411" y="-4246"/>
                  <a:pt x="71725" y="11060"/>
                  <a:pt x="104905" y="0"/>
                </a:cubicBezTo>
              </a:path>
            </a:pathLst>
          </a:custGeom>
          <a:noFill/>
          <a:ln w="19050" cap="flat" cmpd="sng">
            <a:solidFill>
              <a:srgbClr val="4C113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2B95685-946B-4FB8-8F51-AF5013DD4F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6053" y="1203053"/>
            <a:ext cx="5020347" cy="5400951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ECF6AB43-2FA6-47DD-AF8F-D7C2291C490A}"/>
              </a:ext>
            </a:extLst>
          </p:cNvPr>
          <p:cNvGrpSpPr/>
          <p:nvPr/>
        </p:nvGrpSpPr>
        <p:grpSpPr>
          <a:xfrm>
            <a:off x="265953" y="4912661"/>
            <a:ext cx="4982583" cy="1691343"/>
            <a:chOff x="1739152" y="3563471"/>
            <a:chExt cx="3736937" cy="1268507"/>
          </a:xfrm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692E92D4-5165-47BA-989B-6E54A0308FB7}"/>
                </a:ext>
              </a:extLst>
            </p:cNvPr>
            <p:cNvSpPr/>
            <p:nvPr/>
          </p:nvSpPr>
          <p:spPr>
            <a:xfrm>
              <a:off x="4124660" y="3563471"/>
              <a:ext cx="1351429" cy="1268507"/>
            </a:xfrm>
            <a:prstGeom prst="ellipse">
              <a:avLst/>
            </a:prstGeom>
            <a:solidFill>
              <a:schemeClr val="tx2">
                <a:lumMod val="50000"/>
              </a:schemeClr>
            </a:solidFill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Shark attack</a:t>
              </a: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5CA8582B-70CA-4439-B2FA-AF7BE4710DD6}"/>
                </a:ext>
              </a:extLst>
            </p:cNvPr>
            <p:cNvSpPr/>
            <p:nvPr/>
          </p:nvSpPr>
          <p:spPr>
            <a:xfrm>
              <a:off x="1739152" y="3563471"/>
              <a:ext cx="1351429" cy="1268507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 w="57150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Ice cream sales</a:t>
              </a:r>
            </a:p>
          </p:txBody>
        </p:sp>
      </p:grp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436C433-EB15-4FCF-A589-B78C0335780D}"/>
              </a:ext>
            </a:extLst>
          </p:cNvPr>
          <p:cNvCxnSpPr>
            <a:stCxn id="23" idx="6"/>
            <a:endCxn id="22" idx="2"/>
          </p:cNvCxnSpPr>
          <p:nvPr/>
        </p:nvCxnSpPr>
        <p:spPr>
          <a:xfrm>
            <a:off x="2067858" y="5758332"/>
            <a:ext cx="137877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FF167F0-FE38-430C-B3EE-10B6D73E92C2}"/>
                  </a:ext>
                </a:extLst>
              </p:cNvPr>
              <p:cNvSpPr txBox="1"/>
              <p:nvPr/>
            </p:nvSpPr>
            <p:spPr>
              <a:xfrm>
                <a:off x="415601" y="4221001"/>
                <a:ext cx="490211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𝑆𝑎𝑙𝑒</m:t>
                      </m:r>
                      <m:sSub>
                        <m:sSubPr>
                          <m:ctrlPr>
                            <a:rPr lang="en-GB" sz="32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GB" sz="32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3200" i="1">
                          <a:latin typeface="Cambria Math" panose="02040503050406030204" pitchFamily="18" charset="0"/>
                        </a:rPr>
                        <m:t>×5+0.5=</m:t>
                      </m:r>
                      <m:r>
                        <a:rPr lang="en-GB" sz="320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𝑆h𝑎𝑟</m:t>
                      </m:r>
                      <m:sSub>
                        <m:sSubPr>
                          <m:ctrlPr>
                            <a:rPr lang="en-GB" sz="32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GB" sz="32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sz="3200" dirty="0"/>
              </a:p>
            </p:txBody>
          </p:sp>
        </mc:Choice>
        <mc:Fallback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FF167F0-FE38-430C-B3EE-10B6D73E92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601" y="4221001"/>
                <a:ext cx="4902111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12084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A962E-623F-4A33-9271-D822D9C94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12192000" cy="763600"/>
          </a:xfrm>
        </p:spPr>
        <p:txBody>
          <a:bodyPr/>
          <a:lstStyle/>
          <a:p>
            <a:pPr algn="ctr"/>
            <a:r>
              <a:rPr lang="en-GB" dirty="0"/>
              <a:t>Do models describe causation?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44722C-5C3F-4525-9FDD-10ACFA6D24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Always remember: models find </a:t>
            </a:r>
            <a:r>
              <a:rPr lang="en-GB" i="1" dirty="0"/>
              <a:t>associations</a:t>
            </a:r>
            <a:r>
              <a:rPr lang="en-GB" dirty="0"/>
              <a:t> between variables</a:t>
            </a:r>
          </a:p>
          <a:p>
            <a:r>
              <a:rPr lang="en-GB" dirty="0"/>
              <a:t>Associations can be:</a:t>
            </a:r>
          </a:p>
          <a:p>
            <a:pPr lvl="1">
              <a:spcBef>
                <a:spcPts val="0"/>
              </a:spcBef>
            </a:pPr>
            <a:r>
              <a:rPr lang="en-GB" dirty="0"/>
              <a:t>Causal</a:t>
            </a:r>
          </a:p>
          <a:p>
            <a:pPr lvl="1">
              <a:spcBef>
                <a:spcPts val="0"/>
              </a:spcBef>
            </a:pPr>
            <a:r>
              <a:rPr lang="en-GB" dirty="0"/>
              <a:t>Coincidental (i.e., “spurious correlations”)</a:t>
            </a:r>
          </a:p>
          <a:p>
            <a:pPr lvl="1">
              <a:spcBef>
                <a:spcPts val="0"/>
              </a:spcBef>
            </a:pPr>
            <a:r>
              <a:rPr lang="en-GB" b="1" dirty="0">
                <a:solidFill>
                  <a:srgbClr val="7030A0"/>
                </a:solidFill>
              </a:rPr>
              <a:t>Confounded </a:t>
            </a:r>
            <a:r>
              <a:rPr lang="en-GB" dirty="0"/>
              <a:t>(i.e., special types of “spurious correlations”)</a:t>
            </a:r>
          </a:p>
          <a:p>
            <a:pPr lvl="1">
              <a:spcBef>
                <a:spcPts val="0"/>
              </a:spcBef>
            </a:pPr>
            <a:endParaRPr lang="en-GB" b="1" dirty="0">
              <a:solidFill>
                <a:srgbClr val="7030A0"/>
              </a:solidFill>
            </a:endParaRPr>
          </a:p>
        </p:txBody>
      </p:sp>
      <p:sp>
        <p:nvSpPr>
          <p:cNvPr id="4" name="Google Shape;75;p15">
            <a:extLst>
              <a:ext uri="{FF2B5EF4-FFF2-40B4-BE49-F238E27FC236}">
                <a16:creationId xmlns:a16="http://schemas.microsoft.com/office/drawing/2014/main" id="{D3576E38-C5FF-4D1E-BF01-7E8DED020055}"/>
              </a:ext>
            </a:extLst>
          </p:cNvPr>
          <p:cNvSpPr/>
          <p:nvPr/>
        </p:nvSpPr>
        <p:spPr>
          <a:xfrm>
            <a:off x="4347584" y="693450"/>
            <a:ext cx="3496833" cy="140300"/>
          </a:xfrm>
          <a:custGeom>
            <a:avLst/>
            <a:gdLst/>
            <a:ahLst/>
            <a:cxnLst/>
            <a:rect l="l" t="t" r="r" b="b"/>
            <a:pathLst>
              <a:path w="104905" h="4209" extrusionOk="0">
                <a:moveTo>
                  <a:pt x="0" y="2010"/>
                </a:moveTo>
                <a:cubicBezTo>
                  <a:pt x="34411" y="-4246"/>
                  <a:pt x="71725" y="11060"/>
                  <a:pt x="104905" y="0"/>
                </a:cubicBezTo>
              </a:path>
            </a:pathLst>
          </a:custGeom>
          <a:noFill/>
          <a:ln w="19050" cap="flat" cmpd="sng">
            <a:solidFill>
              <a:srgbClr val="4C113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23B8E3C-F7E3-4215-93BC-BB0CE757EEA8}"/>
              </a:ext>
            </a:extLst>
          </p:cNvPr>
          <p:cNvGrpSpPr/>
          <p:nvPr/>
        </p:nvGrpSpPr>
        <p:grpSpPr>
          <a:xfrm>
            <a:off x="2235197" y="4400491"/>
            <a:ext cx="7721600" cy="1691343"/>
            <a:chOff x="1739152" y="3563471"/>
            <a:chExt cx="5791200" cy="1268507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28CC920C-3BEA-47CC-BD41-636B7EC82DC0}"/>
                </a:ext>
              </a:extLst>
            </p:cNvPr>
            <p:cNvSpPr/>
            <p:nvPr/>
          </p:nvSpPr>
          <p:spPr>
            <a:xfrm>
              <a:off x="6178923" y="3563471"/>
              <a:ext cx="1351429" cy="1268507"/>
            </a:xfrm>
            <a:prstGeom prst="ellipse">
              <a:avLst/>
            </a:prstGeom>
            <a:solidFill>
              <a:schemeClr val="tx2">
                <a:lumMod val="50000"/>
              </a:schemeClr>
            </a:solidFill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Shark attack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337FB031-E047-4A53-9C5D-C4BFC95D09E5}"/>
                </a:ext>
              </a:extLst>
            </p:cNvPr>
            <p:cNvSpPr/>
            <p:nvPr/>
          </p:nvSpPr>
          <p:spPr>
            <a:xfrm>
              <a:off x="1739152" y="3563471"/>
              <a:ext cx="1351429" cy="1268507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 w="57150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Ice cream sales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466B71CB-8A25-4739-8293-18C39045DA9D}"/>
                </a:ext>
              </a:extLst>
            </p:cNvPr>
            <p:cNvCxnSpPr>
              <a:cxnSpLocks/>
              <a:stCxn id="7" idx="6"/>
              <a:endCxn id="6" idx="2"/>
            </p:cNvCxnSpPr>
            <p:nvPr/>
          </p:nvCxnSpPr>
          <p:spPr>
            <a:xfrm>
              <a:off x="3090581" y="4197725"/>
              <a:ext cx="308834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A58E343-8824-45F6-A6F3-70DD139ED2FA}"/>
                  </a:ext>
                </a:extLst>
              </p:cNvPr>
              <p:cNvSpPr txBox="1"/>
              <p:nvPr/>
            </p:nvSpPr>
            <p:spPr>
              <a:xfrm>
                <a:off x="3616901" y="3669879"/>
                <a:ext cx="490211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𝑆𝑎𝑙𝑒</m:t>
                      </m:r>
                      <m:sSub>
                        <m:sSubPr>
                          <m:ctrlPr>
                            <a:rPr lang="en-GB" sz="32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GB" sz="32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3200" i="1">
                          <a:latin typeface="Cambria Math" panose="02040503050406030204" pitchFamily="18" charset="0"/>
                        </a:rPr>
                        <m:t>×5+0.5=</m:t>
                      </m:r>
                      <m:r>
                        <a:rPr lang="en-GB" sz="320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𝑆h𝑎𝑟</m:t>
                      </m:r>
                      <m:sSub>
                        <m:sSubPr>
                          <m:ctrlPr>
                            <a:rPr lang="en-GB" sz="32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GB" sz="32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sz="3200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A58E343-8824-45F6-A6F3-70DD139ED2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6901" y="3669879"/>
                <a:ext cx="4902111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9">
            <a:extLst>
              <a:ext uri="{FF2B5EF4-FFF2-40B4-BE49-F238E27FC236}">
                <a16:creationId xmlns:a16="http://schemas.microsoft.com/office/drawing/2014/main" id="{AA59FD66-18F6-4292-998A-B9DF35386C13}"/>
              </a:ext>
            </a:extLst>
          </p:cNvPr>
          <p:cNvGrpSpPr/>
          <p:nvPr/>
        </p:nvGrpSpPr>
        <p:grpSpPr>
          <a:xfrm>
            <a:off x="5295333" y="3669879"/>
            <a:ext cx="1455761" cy="1576283"/>
            <a:chOff x="4094328" y="2422331"/>
            <a:chExt cx="1091821" cy="1182212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3CF4F04D-B1D3-4A43-9E33-A13A39845411}"/>
                </a:ext>
              </a:extLst>
            </p:cNvPr>
            <p:cNvSpPr/>
            <p:nvPr/>
          </p:nvSpPr>
          <p:spPr>
            <a:xfrm>
              <a:off x="4094328" y="2422331"/>
              <a:ext cx="1091821" cy="461665"/>
            </a:xfrm>
            <a:prstGeom prst="roundRect">
              <a:avLst/>
            </a:prstGeom>
            <a:noFill/>
            <a:ln>
              <a:solidFill>
                <a:schemeClr val="tx2">
                  <a:lumMod val="1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400"/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C274BCD7-4A29-4016-90EA-740BEEFD06CB}"/>
                </a:ext>
              </a:extLst>
            </p:cNvPr>
            <p:cNvCxnSpPr>
              <a:cxnSpLocks/>
              <a:stCxn id="13" idx="2"/>
            </p:cNvCxnSpPr>
            <p:nvPr/>
          </p:nvCxnSpPr>
          <p:spPr>
            <a:xfrm>
              <a:off x="4640239" y="2883996"/>
              <a:ext cx="0" cy="720547"/>
            </a:xfrm>
            <a:prstGeom prst="straightConnector1">
              <a:avLst/>
            </a:prstGeom>
            <a:ln>
              <a:solidFill>
                <a:schemeClr val="tx2">
                  <a:lumMod val="1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93622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A962E-623F-4A33-9271-D822D9C94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12192000" cy="763600"/>
          </a:xfrm>
        </p:spPr>
        <p:txBody>
          <a:bodyPr/>
          <a:lstStyle/>
          <a:p>
            <a:pPr algn="ctr"/>
            <a:r>
              <a:rPr lang="en-GB" dirty="0"/>
              <a:t>Is this a coincidence?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44722C-5C3F-4525-9FDD-10ACFA6D24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1536633"/>
            <a:ext cx="6705600" cy="4555200"/>
          </a:xfrm>
        </p:spPr>
        <p:txBody>
          <a:bodyPr/>
          <a:lstStyle/>
          <a:p>
            <a:r>
              <a:rPr lang="en-GB" dirty="0"/>
              <a:t>In this simulated data, No</a:t>
            </a:r>
          </a:p>
          <a:p>
            <a:r>
              <a:rPr lang="en-GB" dirty="0"/>
              <a:t>Coincidental “relationships” have no “connection”</a:t>
            </a:r>
          </a:p>
          <a:p>
            <a:pPr lvl="1">
              <a:spcBef>
                <a:spcPts val="0"/>
              </a:spcBef>
            </a:pPr>
            <a:r>
              <a:rPr lang="en-GB" dirty="0"/>
              <a:t>Purely random chance that two variables “match up”</a:t>
            </a:r>
          </a:p>
          <a:p>
            <a:r>
              <a:rPr lang="en-GB" dirty="0"/>
              <a:t>Ice cream sales and shark attacks do have a connection</a:t>
            </a:r>
          </a:p>
          <a:p>
            <a:pPr lvl="1">
              <a:spcBef>
                <a:spcPts val="0"/>
              </a:spcBef>
            </a:pPr>
            <a:r>
              <a:rPr lang="en-GB" dirty="0"/>
              <a:t>Just not a causal one (i.e., ice cream does not cause shark attacks)</a:t>
            </a:r>
          </a:p>
          <a:p>
            <a:r>
              <a:rPr lang="en-GB" dirty="0"/>
              <a:t>So how are they connected?</a:t>
            </a:r>
          </a:p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4" name="Google Shape;75;p15">
            <a:extLst>
              <a:ext uri="{FF2B5EF4-FFF2-40B4-BE49-F238E27FC236}">
                <a16:creationId xmlns:a16="http://schemas.microsoft.com/office/drawing/2014/main" id="{D3576E38-C5FF-4D1E-BF01-7E8DED020055}"/>
              </a:ext>
            </a:extLst>
          </p:cNvPr>
          <p:cNvSpPr/>
          <p:nvPr/>
        </p:nvSpPr>
        <p:spPr>
          <a:xfrm>
            <a:off x="4347584" y="693450"/>
            <a:ext cx="3496833" cy="140300"/>
          </a:xfrm>
          <a:custGeom>
            <a:avLst/>
            <a:gdLst/>
            <a:ahLst/>
            <a:cxnLst/>
            <a:rect l="l" t="t" r="r" b="b"/>
            <a:pathLst>
              <a:path w="104905" h="4209" extrusionOk="0">
                <a:moveTo>
                  <a:pt x="0" y="2010"/>
                </a:moveTo>
                <a:cubicBezTo>
                  <a:pt x="34411" y="-4246"/>
                  <a:pt x="71725" y="11060"/>
                  <a:pt x="104905" y="0"/>
                </a:cubicBezTo>
              </a:path>
            </a:pathLst>
          </a:custGeom>
          <a:noFill/>
          <a:ln w="19050" cap="flat" cmpd="sng">
            <a:solidFill>
              <a:srgbClr val="4C113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2E3923EB-DD2C-475F-9D93-35E658437A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6053" y="1203053"/>
            <a:ext cx="5020347" cy="5400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2155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A962E-623F-4A33-9271-D822D9C94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63600"/>
          </a:xfrm>
        </p:spPr>
        <p:txBody>
          <a:bodyPr/>
          <a:lstStyle/>
          <a:p>
            <a:pPr algn="ctr"/>
            <a:r>
              <a:rPr lang="en-GB" dirty="0"/>
              <a:t>Any guesses?</a:t>
            </a:r>
          </a:p>
        </p:txBody>
      </p:sp>
      <p:sp>
        <p:nvSpPr>
          <p:cNvPr id="4" name="Google Shape;75;p15">
            <a:extLst>
              <a:ext uri="{FF2B5EF4-FFF2-40B4-BE49-F238E27FC236}">
                <a16:creationId xmlns:a16="http://schemas.microsoft.com/office/drawing/2014/main" id="{D3576E38-C5FF-4D1E-BF01-7E8DED020055}"/>
              </a:ext>
            </a:extLst>
          </p:cNvPr>
          <p:cNvSpPr/>
          <p:nvPr/>
        </p:nvSpPr>
        <p:spPr>
          <a:xfrm>
            <a:off x="4347584" y="693450"/>
            <a:ext cx="3496833" cy="140300"/>
          </a:xfrm>
          <a:custGeom>
            <a:avLst/>
            <a:gdLst/>
            <a:ahLst/>
            <a:cxnLst/>
            <a:rect l="l" t="t" r="r" b="b"/>
            <a:pathLst>
              <a:path w="104905" h="4209" extrusionOk="0">
                <a:moveTo>
                  <a:pt x="0" y="2010"/>
                </a:moveTo>
                <a:cubicBezTo>
                  <a:pt x="34411" y="-4246"/>
                  <a:pt x="71725" y="11060"/>
                  <a:pt x="104905" y="0"/>
                </a:cubicBezTo>
              </a:path>
            </a:pathLst>
          </a:custGeom>
          <a:noFill/>
          <a:ln w="19050" cap="flat" cmpd="sng">
            <a:solidFill>
              <a:srgbClr val="4C113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6318279-2903-4A14-8685-8EA7ABC8CDAB}"/>
              </a:ext>
            </a:extLst>
          </p:cNvPr>
          <p:cNvGrpSpPr/>
          <p:nvPr/>
        </p:nvGrpSpPr>
        <p:grpSpPr>
          <a:xfrm>
            <a:off x="2318869" y="4751295"/>
            <a:ext cx="7721600" cy="1691343"/>
            <a:chOff x="1739152" y="3563471"/>
            <a:chExt cx="5791200" cy="1268507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28CC920C-3BEA-47CC-BD41-636B7EC82DC0}"/>
                </a:ext>
              </a:extLst>
            </p:cNvPr>
            <p:cNvSpPr/>
            <p:nvPr/>
          </p:nvSpPr>
          <p:spPr>
            <a:xfrm>
              <a:off x="6178923" y="3563471"/>
              <a:ext cx="1351429" cy="1268507"/>
            </a:xfrm>
            <a:prstGeom prst="ellipse">
              <a:avLst/>
            </a:prstGeom>
            <a:solidFill>
              <a:schemeClr val="tx2">
                <a:lumMod val="50000"/>
              </a:schemeClr>
            </a:solidFill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Shark attack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337FB031-E047-4A53-9C5D-C4BFC95D09E5}"/>
                </a:ext>
              </a:extLst>
            </p:cNvPr>
            <p:cNvSpPr/>
            <p:nvPr/>
          </p:nvSpPr>
          <p:spPr>
            <a:xfrm>
              <a:off x="1739152" y="3563471"/>
              <a:ext cx="1351429" cy="1268507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 w="57150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Ice cream sales</a:t>
              </a:r>
            </a:p>
          </p:txBody>
        </p:sp>
      </p:grp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66B71CB-8A25-4739-8293-18C39045DA9D}"/>
              </a:ext>
            </a:extLst>
          </p:cNvPr>
          <p:cNvCxnSpPr>
            <a:stCxn id="7" idx="6"/>
            <a:endCxn id="6" idx="2"/>
          </p:cNvCxnSpPr>
          <p:nvPr/>
        </p:nvCxnSpPr>
        <p:spPr>
          <a:xfrm>
            <a:off x="4120775" y="5596967"/>
            <a:ext cx="4117789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B005062A-37F8-4DB2-A260-70B543B3FFD9}"/>
              </a:ext>
            </a:extLst>
          </p:cNvPr>
          <p:cNvSpPr/>
          <p:nvPr/>
        </p:nvSpPr>
        <p:spPr>
          <a:xfrm>
            <a:off x="5195046" y="1737658"/>
            <a:ext cx="1801905" cy="1691343"/>
          </a:xfrm>
          <a:prstGeom prst="ellipse">
            <a:avLst/>
          </a:prstGeom>
          <a:solidFill>
            <a:schemeClr val="bg2">
              <a:lumMod val="75000"/>
            </a:schemeClr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Visit beach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1F004B4-318A-4BFC-A053-FAE6A37A8894}"/>
              </a:ext>
            </a:extLst>
          </p:cNvPr>
          <p:cNvCxnSpPr>
            <a:stCxn id="14" idx="3"/>
            <a:endCxn id="7" idx="7"/>
          </p:cNvCxnSpPr>
          <p:nvPr/>
        </p:nvCxnSpPr>
        <p:spPr>
          <a:xfrm flipH="1">
            <a:off x="3856893" y="3181309"/>
            <a:ext cx="1602036" cy="181767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EC6F04B-5835-467F-BA42-1D957E8C00EB}"/>
              </a:ext>
            </a:extLst>
          </p:cNvPr>
          <p:cNvCxnSpPr>
            <a:stCxn id="14" idx="5"/>
            <a:endCxn id="6" idx="1"/>
          </p:cNvCxnSpPr>
          <p:nvPr/>
        </p:nvCxnSpPr>
        <p:spPr>
          <a:xfrm>
            <a:off x="6733068" y="3181309"/>
            <a:ext cx="1769379" cy="181767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2535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A962E-623F-4A33-9271-D822D9C94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12192000" cy="763600"/>
          </a:xfrm>
        </p:spPr>
        <p:txBody>
          <a:bodyPr/>
          <a:lstStyle/>
          <a:p>
            <a:pPr algn="ctr"/>
            <a:r>
              <a:rPr lang="en-GB" dirty="0"/>
              <a:t>Shark and ice cream connection</a:t>
            </a:r>
          </a:p>
        </p:txBody>
      </p:sp>
      <p:sp>
        <p:nvSpPr>
          <p:cNvPr id="4" name="Google Shape;75;p15">
            <a:extLst>
              <a:ext uri="{FF2B5EF4-FFF2-40B4-BE49-F238E27FC236}">
                <a16:creationId xmlns:a16="http://schemas.microsoft.com/office/drawing/2014/main" id="{D3576E38-C5FF-4D1E-BF01-7E8DED020055}"/>
              </a:ext>
            </a:extLst>
          </p:cNvPr>
          <p:cNvSpPr/>
          <p:nvPr/>
        </p:nvSpPr>
        <p:spPr>
          <a:xfrm>
            <a:off x="4347584" y="693450"/>
            <a:ext cx="3496833" cy="140300"/>
          </a:xfrm>
          <a:custGeom>
            <a:avLst/>
            <a:gdLst/>
            <a:ahLst/>
            <a:cxnLst/>
            <a:rect l="l" t="t" r="r" b="b"/>
            <a:pathLst>
              <a:path w="104905" h="4209" extrusionOk="0">
                <a:moveTo>
                  <a:pt x="0" y="2010"/>
                </a:moveTo>
                <a:cubicBezTo>
                  <a:pt x="34411" y="-4246"/>
                  <a:pt x="71725" y="11060"/>
                  <a:pt x="104905" y="0"/>
                </a:cubicBezTo>
              </a:path>
            </a:pathLst>
          </a:custGeom>
          <a:noFill/>
          <a:ln w="19050" cap="flat" cmpd="sng">
            <a:solidFill>
              <a:srgbClr val="4C113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6318279-2903-4A14-8685-8EA7ABC8CDAB}"/>
              </a:ext>
            </a:extLst>
          </p:cNvPr>
          <p:cNvGrpSpPr/>
          <p:nvPr/>
        </p:nvGrpSpPr>
        <p:grpSpPr>
          <a:xfrm>
            <a:off x="6526305" y="4113611"/>
            <a:ext cx="5558116" cy="1283143"/>
            <a:chOff x="1739152" y="3563471"/>
            <a:chExt cx="5791200" cy="1268507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28CC920C-3BEA-47CC-BD41-636B7EC82DC0}"/>
                </a:ext>
              </a:extLst>
            </p:cNvPr>
            <p:cNvSpPr/>
            <p:nvPr/>
          </p:nvSpPr>
          <p:spPr>
            <a:xfrm>
              <a:off x="6178923" y="3563471"/>
              <a:ext cx="1351429" cy="1268507"/>
            </a:xfrm>
            <a:prstGeom prst="ellipse">
              <a:avLst/>
            </a:prstGeom>
            <a:solidFill>
              <a:schemeClr val="tx2">
                <a:lumMod val="50000"/>
              </a:schemeClr>
            </a:solidFill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Shark attack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337FB031-E047-4A53-9C5D-C4BFC95D09E5}"/>
                </a:ext>
              </a:extLst>
            </p:cNvPr>
            <p:cNvSpPr/>
            <p:nvPr/>
          </p:nvSpPr>
          <p:spPr>
            <a:xfrm>
              <a:off x="1739152" y="3563471"/>
              <a:ext cx="1351429" cy="1268507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 w="57150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Ice cream sales</a:t>
              </a:r>
            </a:p>
          </p:txBody>
        </p:sp>
      </p:grpSp>
      <p:sp>
        <p:nvSpPr>
          <p:cNvPr id="14" name="Oval 13">
            <a:extLst>
              <a:ext uri="{FF2B5EF4-FFF2-40B4-BE49-F238E27FC236}">
                <a16:creationId xmlns:a16="http://schemas.microsoft.com/office/drawing/2014/main" id="{B005062A-37F8-4DB2-A260-70B543B3FFD9}"/>
              </a:ext>
            </a:extLst>
          </p:cNvPr>
          <p:cNvSpPr/>
          <p:nvPr/>
        </p:nvSpPr>
        <p:spPr>
          <a:xfrm>
            <a:off x="8596616" y="1827306"/>
            <a:ext cx="1297037" cy="1283143"/>
          </a:xfrm>
          <a:prstGeom prst="ellipse">
            <a:avLst/>
          </a:prstGeom>
          <a:solidFill>
            <a:schemeClr val="bg2">
              <a:lumMod val="75000"/>
            </a:schemeClr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Visit beach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1F004B4-318A-4BFC-A053-FAE6A37A8894}"/>
              </a:ext>
            </a:extLst>
          </p:cNvPr>
          <p:cNvCxnSpPr>
            <a:stCxn id="14" idx="3"/>
            <a:endCxn id="7" idx="7"/>
          </p:cNvCxnSpPr>
          <p:nvPr/>
        </p:nvCxnSpPr>
        <p:spPr>
          <a:xfrm flipH="1">
            <a:off x="7633395" y="2922537"/>
            <a:ext cx="1153168" cy="137898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EC6F04B-5835-467F-BA42-1D957E8C00EB}"/>
              </a:ext>
            </a:extLst>
          </p:cNvPr>
          <p:cNvCxnSpPr>
            <a:stCxn id="14" idx="5"/>
            <a:endCxn id="6" idx="1"/>
          </p:cNvCxnSpPr>
          <p:nvPr/>
        </p:nvCxnSpPr>
        <p:spPr>
          <a:xfrm>
            <a:off x="9703707" y="2922537"/>
            <a:ext cx="1273624" cy="137898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A6E9E0DF-DD0F-4F4E-BDB2-D03D273776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" y="1228855"/>
            <a:ext cx="6800529" cy="5354631"/>
          </a:xfrm>
        </p:spPr>
        <p:txBody>
          <a:bodyPr/>
          <a:lstStyle/>
          <a:p>
            <a:r>
              <a:rPr lang="en-GB" dirty="0"/>
              <a:t>The arrows show the direction of causation</a:t>
            </a:r>
          </a:p>
          <a:p>
            <a:pPr lvl="1">
              <a:spcBef>
                <a:spcPts val="0"/>
              </a:spcBef>
            </a:pPr>
            <a:r>
              <a:rPr lang="en-GB" dirty="0"/>
              <a:t>People eat ice cream when they go to the beach</a:t>
            </a:r>
          </a:p>
          <a:p>
            <a:pPr lvl="1">
              <a:spcBef>
                <a:spcPts val="0"/>
              </a:spcBef>
            </a:pPr>
            <a:r>
              <a:rPr lang="en-GB" dirty="0"/>
              <a:t>People go swimming at the beach and can then be attacked by sharks</a:t>
            </a:r>
          </a:p>
          <a:p>
            <a:r>
              <a:rPr lang="en-GB" dirty="0"/>
              <a:t>The model does not know about going to the beach, or which way the arrows go</a:t>
            </a:r>
          </a:p>
          <a:p>
            <a:pPr lvl="1">
              <a:spcBef>
                <a:spcPts val="0"/>
              </a:spcBef>
            </a:pPr>
            <a:r>
              <a:rPr lang="en-GB" dirty="0"/>
              <a:t>The model only knows what we tell it</a:t>
            </a:r>
          </a:p>
          <a:p>
            <a:pPr lvl="1">
              <a:spcBef>
                <a:spcPts val="0"/>
              </a:spcBef>
            </a:pPr>
            <a:r>
              <a:rPr lang="en-GB" dirty="0"/>
              <a:t>It could easily find that shark attacks cause ice cream sales!</a:t>
            </a:r>
          </a:p>
          <a:p>
            <a:r>
              <a:rPr lang="en-GB" dirty="0"/>
              <a:t>Because ice cream and shark attacks are causally linked by going to the beach, the model can find a relationship</a:t>
            </a:r>
          </a:p>
          <a:p>
            <a:pPr lvl="1">
              <a:spcBef>
                <a:spcPts val="0"/>
              </a:spcBef>
            </a:pPr>
            <a:r>
              <a:rPr lang="en-GB" dirty="0"/>
              <a:t>There is an open path for the information (not causation) to flow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37437EA-FFF4-4040-81D6-687DFDBCB391}"/>
                  </a:ext>
                </a:extLst>
              </p:cNvPr>
              <p:cNvSpPr txBox="1"/>
              <p:nvPr/>
            </p:nvSpPr>
            <p:spPr>
              <a:xfrm>
                <a:off x="6801682" y="5864371"/>
                <a:ext cx="490211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𝑆h𝑎𝑟</m:t>
                      </m:r>
                      <m:sSub>
                        <m:sSubPr>
                          <m:ctrlPr>
                            <a:rPr lang="en-GB" sz="32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GB" sz="32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3200" i="1">
                          <a:latin typeface="Cambria Math" panose="02040503050406030204" pitchFamily="18" charset="0"/>
                        </a:rPr>
                        <m:t>=0.5+5×</m:t>
                      </m:r>
                      <m:r>
                        <a:rPr lang="en-GB" sz="3200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𝑆𝑎𝑙𝑒</m:t>
                      </m:r>
                      <m:sSub>
                        <m:sSubPr>
                          <m:ctrlPr>
                            <a:rPr lang="en-GB" sz="32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GB" sz="32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sz="3200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37437EA-FFF4-4040-81D6-687DFDBCB3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1682" y="5864371"/>
                <a:ext cx="4902111" cy="5847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23FC8C0-326B-417D-811D-121FE77B74E8}"/>
                  </a:ext>
                </a:extLst>
              </p:cNvPr>
              <p:cNvSpPr txBox="1"/>
              <p:nvPr/>
            </p:nvSpPr>
            <p:spPr>
              <a:xfrm>
                <a:off x="6800531" y="5856774"/>
                <a:ext cx="4950009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𝑆h𝑎𝑟</m:t>
                      </m:r>
                      <m:sSub>
                        <m:sSubPr>
                          <m:ctrlPr>
                            <a:rPr lang="en-GB" sz="32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GB" sz="32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32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32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3200" i="1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sz="3200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𝑆𝑎𝑙𝑒</m:t>
                      </m:r>
                      <m:sSub>
                        <m:sSubPr>
                          <m:ctrlPr>
                            <a:rPr lang="en-GB" sz="32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GB" sz="32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sz="3200" dirty="0"/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23FC8C0-326B-417D-811D-121FE77B74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0531" y="5856774"/>
                <a:ext cx="4950009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80ABAEC-0D05-49A7-8834-7C1D3D3E49DF}"/>
              </a:ext>
            </a:extLst>
          </p:cNvPr>
          <p:cNvCxnSpPr/>
          <p:nvPr/>
        </p:nvCxnSpPr>
        <p:spPr>
          <a:xfrm flipH="1">
            <a:off x="7633395" y="2930134"/>
            <a:ext cx="1153168" cy="137898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D1A5D7B-D07F-4320-B966-2F77F0AFCC9A}"/>
              </a:ext>
            </a:extLst>
          </p:cNvPr>
          <p:cNvCxnSpPr>
            <a:cxnSpLocks/>
            <a:stCxn id="14" idx="5"/>
            <a:endCxn id="6" idx="1"/>
          </p:cNvCxnSpPr>
          <p:nvPr/>
        </p:nvCxnSpPr>
        <p:spPr>
          <a:xfrm>
            <a:off x="9703707" y="2922536"/>
            <a:ext cx="1273623" cy="137898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B1CE6A05-C164-43DD-8B4B-4B2602FC07C3}"/>
              </a:ext>
            </a:extLst>
          </p:cNvPr>
          <p:cNvSpPr/>
          <p:nvPr/>
        </p:nvSpPr>
        <p:spPr>
          <a:xfrm>
            <a:off x="7862131" y="3417988"/>
            <a:ext cx="2905571" cy="1094193"/>
          </a:xfrm>
          <a:custGeom>
            <a:avLst/>
            <a:gdLst>
              <a:gd name="connsiteX0" fmla="*/ 0 w 2179178"/>
              <a:gd name="connsiteY0" fmla="*/ 820645 h 820645"/>
              <a:gd name="connsiteX1" fmla="*/ 1034041 w 2179178"/>
              <a:gd name="connsiteY1" fmla="*/ 248 h 820645"/>
              <a:gd name="connsiteX2" fmla="*/ 2179178 w 2179178"/>
              <a:gd name="connsiteY2" fmla="*/ 752278 h 8206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79178" h="820645">
                <a:moveTo>
                  <a:pt x="0" y="820645"/>
                </a:moveTo>
                <a:cubicBezTo>
                  <a:pt x="335422" y="416143"/>
                  <a:pt x="670845" y="11642"/>
                  <a:pt x="1034041" y="248"/>
                </a:cubicBezTo>
                <a:cubicBezTo>
                  <a:pt x="1397237" y="-11147"/>
                  <a:pt x="1788207" y="370565"/>
                  <a:pt x="2179178" y="752278"/>
                </a:cubicBezTo>
              </a:path>
            </a:pathLst>
          </a:custGeom>
          <a:noFill/>
          <a:ln>
            <a:solidFill>
              <a:schemeClr val="tx1"/>
            </a:solidFill>
            <a:prstDash val="sysDash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ACE92B3-ACBA-471A-B45B-010ABD573CA5}"/>
              </a:ext>
            </a:extLst>
          </p:cNvPr>
          <p:cNvCxnSpPr>
            <a:stCxn id="7" idx="6"/>
            <a:endCxn id="6" idx="2"/>
          </p:cNvCxnSpPr>
          <p:nvPr/>
        </p:nvCxnSpPr>
        <p:spPr>
          <a:xfrm>
            <a:off x="7823342" y="4755183"/>
            <a:ext cx="2964041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9530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uiExpand="1" build="p"/>
      <p:bldP spid="18" grpId="0"/>
      <p:bldP spid="19" grpId="0"/>
      <p:bldP spid="19" grpId="1"/>
      <p:bldP spid="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A962E-623F-4A33-9271-D822D9C94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12192000" cy="763600"/>
          </a:xfrm>
        </p:spPr>
        <p:txBody>
          <a:bodyPr/>
          <a:lstStyle/>
          <a:p>
            <a:pPr algn="ctr"/>
            <a:r>
              <a:rPr lang="en-GB" dirty="0"/>
              <a:t>A family of confusion</a:t>
            </a:r>
          </a:p>
        </p:txBody>
      </p:sp>
      <p:sp>
        <p:nvSpPr>
          <p:cNvPr id="4" name="Google Shape;75;p15">
            <a:extLst>
              <a:ext uri="{FF2B5EF4-FFF2-40B4-BE49-F238E27FC236}">
                <a16:creationId xmlns:a16="http://schemas.microsoft.com/office/drawing/2014/main" id="{D3576E38-C5FF-4D1E-BF01-7E8DED020055}"/>
              </a:ext>
            </a:extLst>
          </p:cNvPr>
          <p:cNvSpPr/>
          <p:nvPr/>
        </p:nvSpPr>
        <p:spPr>
          <a:xfrm>
            <a:off x="4347584" y="693450"/>
            <a:ext cx="3496833" cy="140300"/>
          </a:xfrm>
          <a:custGeom>
            <a:avLst/>
            <a:gdLst/>
            <a:ahLst/>
            <a:cxnLst/>
            <a:rect l="l" t="t" r="r" b="b"/>
            <a:pathLst>
              <a:path w="104905" h="4209" extrusionOk="0">
                <a:moveTo>
                  <a:pt x="0" y="2010"/>
                </a:moveTo>
                <a:cubicBezTo>
                  <a:pt x="34411" y="-4246"/>
                  <a:pt x="71725" y="11060"/>
                  <a:pt x="104905" y="0"/>
                </a:cubicBezTo>
              </a:path>
            </a:pathLst>
          </a:custGeom>
          <a:noFill/>
          <a:ln w="19050" cap="flat" cmpd="sng">
            <a:solidFill>
              <a:srgbClr val="4C113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grpSp>
        <p:nvGrpSpPr>
          <p:cNvPr id="95" name="Group 94">
            <a:extLst>
              <a:ext uri="{FF2B5EF4-FFF2-40B4-BE49-F238E27FC236}">
                <a16:creationId xmlns:a16="http://schemas.microsoft.com/office/drawing/2014/main" id="{14BD0FBE-1901-44C1-B2BF-04A0F26F2F78}"/>
              </a:ext>
            </a:extLst>
          </p:cNvPr>
          <p:cNvGrpSpPr/>
          <p:nvPr/>
        </p:nvGrpSpPr>
        <p:grpSpPr>
          <a:xfrm>
            <a:off x="7302365" y="1107020"/>
            <a:ext cx="2088545" cy="2126089"/>
            <a:chOff x="5476773" y="830264"/>
            <a:chExt cx="1566409" cy="1594567"/>
          </a:xfrm>
        </p:grpSpPr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E6A70E16-FEC9-4152-B419-97B35E22CD42}"/>
                </a:ext>
              </a:extLst>
            </p:cNvPr>
            <p:cNvGrpSpPr/>
            <p:nvPr/>
          </p:nvGrpSpPr>
          <p:grpSpPr>
            <a:xfrm>
              <a:off x="5476773" y="1341040"/>
              <a:ext cx="1566409" cy="1083791"/>
              <a:chOff x="6155850" y="1341040"/>
              <a:chExt cx="1566409" cy="1083791"/>
            </a:xfrm>
          </p:grpSpPr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533F65E5-54E3-4F6D-8E50-D41D0D93A99A}"/>
                  </a:ext>
                </a:extLst>
              </p:cNvPr>
              <p:cNvSpPr/>
              <p:nvPr/>
            </p:nvSpPr>
            <p:spPr>
              <a:xfrm>
                <a:off x="7287658" y="2021511"/>
                <a:ext cx="434601" cy="403320"/>
              </a:xfrm>
              <a:prstGeom prst="ellipse">
                <a:avLst/>
              </a:prstGeom>
              <a:solidFill>
                <a:srgbClr val="434343"/>
              </a:solidFill>
              <a:ln w="3810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400" dirty="0"/>
                  <a:t>Y</a:t>
                </a:r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39613A30-CEA7-43EB-9DD4-31A2596A3525}"/>
                  </a:ext>
                </a:extLst>
              </p:cNvPr>
              <p:cNvSpPr/>
              <p:nvPr/>
            </p:nvSpPr>
            <p:spPr>
              <a:xfrm>
                <a:off x="6155850" y="2021511"/>
                <a:ext cx="434602" cy="403319"/>
              </a:xfrm>
              <a:prstGeom prst="ellipse">
                <a:avLst/>
              </a:prstGeom>
              <a:solidFill>
                <a:schemeClr val="accent5">
                  <a:lumMod val="50000"/>
                </a:schemeClr>
              </a:solidFill>
              <a:ln w="38100"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400" dirty="0"/>
                  <a:t>X</a:t>
                </a:r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4B801E74-A95D-44EA-B4DF-54DAACC4A3E1}"/>
                  </a:ext>
                </a:extLst>
              </p:cNvPr>
              <p:cNvSpPr/>
              <p:nvPr/>
            </p:nvSpPr>
            <p:spPr>
              <a:xfrm>
                <a:off x="6725536" y="1341040"/>
                <a:ext cx="434601" cy="403319"/>
              </a:xfrm>
              <a:prstGeom prst="ellipse">
                <a:avLst/>
              </a:prstGeom>
              <a:solidFill>
                <a:schemeClr val="bg2">
                  <a:lumMod val="75000"/>
                </a:schemeClr>
              </a:solidFill>
              <a:ln w="3810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400" dirty="0"/>
                  <a:t>Z</a:t>
                </a:r>
              </a:p>
            </p:txBody>
          </p:sp>
          <p:cxnSp>
            <p:nvCxnSpPr>
              <p:cNvPr id="34" name="Straight Arrow Connector 33">
                <a:extLst>
                  <a:ext uri="{FF2B5EF4-FFF2-40B4-BE49-F238E27FC236}">
                    <a16:creationId xmlns:a16="http://schemas.microsoft.com/office/drawing/2014/main" id="{A41A44C1-653D-4DC3-8B5B-5B648C14E08A}"/>
                  </a:ext>
                </a:extLst>
              </p:cNvPr>
              <p:cNvCxnSpPr>
                <a:stCxn id="32" idx="5"/>
                <a:endCxn id="28" idx="1"/>
              </p:cNvCxnSpPr>
              <p:nvPr/>
            </p:nvCxnSpPr>
            <p:spPr>
              <a:xfrm>
                <a:off x="7096491" y="1685294"/>
                <a:ext cx="254813" cy="395282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Arrow Connector 21">
                <a:extLst>
                  <a:ext uri="{FF2B5EF4-FFF2-40B4-BE49-F238E27FC236}">
                    <a16:creationId xmlns:a16="http://schemas.microsoft.com/office/drawing/2014/main" id="{6AE978E5-F091-4821-96C6-B724F076F9B2}"/>
                  </a:ext>
                </a:extLst>
              </p:cNvPr>
              <p:cNvCxnSpPr>
                <a:stCxn id="30" idx="7"/>
                <a:endCxn id="32" idx="3"/>
              </p:cNvCxnSpPr>
              <p:nvPr/>
            </p:nvCxnSpPr>
            <p:spPr>
              <a:xfrm flipV="1">
                <a:off x="6526806" y="1685294"/>
                <a:ext cx="262376" cy="395282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E9C42D1A-BCCF-453E-9579-4AFC9AB8A212}"/>
                </a:ext>
              </a:extLst>
            </p:cNvPr>
            <p:cNvSpPr txBox="1"/>
            <p:nvPr/>
          </p:nvSpPr>
          <p:spPr>
            <a:xfrm>
              <a:off x="5991889" y="830264"/>
              <a:ext cx="589345" cy="3462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400" dirty="0"/>
                <a:t>Pipe</a:t>
              </a:r>
            </a:p>
          </p:txBody>
        </p:sp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354C2958-F320-4C48-A8CA-5C868A94C0AF}"/>
              </a:ext>
            </a:extLst>
          </p:cNvPr>
          <p:cNvGrpSpPr/>
          <p:nvPr/>
        </p:nvGrpSpPr>
        <p:grpSpPr>
          <a:xfrm>
            <a:off x="4701277" y="1116175"/>
            <a:ext cx="2088545" cy="2137851"/>
            <a:chOff x="3525957" y="837131"/>
            <a:chExt cx="1566409" cy="1603388"/>
          </a:xfrm>
        </p:grpSpPr>
        <p:grpSp>
          <p:nvGrpSpPr>
            <p:cNvPr id="73" name="Group 72">
              <a:extLst>
                <a:ext uri="{FF2B5EF4-FFF2-40B4-BE49-F238E27FC236}">
                  <a16:creationId xmlns:a16="http://schemas.microsoft.com/office/drawing/2014/main" id="{ADABC815-811B-49C9-992B-C158E810C735}"/>
                </a:ext>
              </a:extLst>
            </p:cNvPr>
            <p:cNvGrpSpPr/>
            <p:nvPr/>
          </p:nvGrpSpPr>
          <p:grpSpPr>
            <a:xfrm>
              <a:off x="3525957" y="1356728"/>
              <a:ext cx="1566409" cy="1083791"/>
              <a:chOff x="4205034" y="1356728"/>
              <a:chExt cx="1566409" cy="1083791"/>
            </a:xfrm>
          </p:grpSpPr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75C522C8-ABFA-4058-9BAE-C456C9C05CF4}"/>
                  </a:ext>
                </a:extLst>
              </p:cNvPr>
              <p:cNvSpPr/>
              <p:nvPr/>
            </p:nvSpPr>
            <p:spPr>
              <a:xfrm>
                <a:off x="5336842" y="2037199"/>
                <a:ext cx="434601" cy="403320"/>
              </a:xfrm>
              <a:prstGeom prst="ellipse">
                <a:avLst/>
              </a:prstGeom>
              <a:solidFill>
                <a:srgbClr val="434343"/>
              </a:solidFill>
              <a:ln w="3810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400" dirty="0"/>
                  <a:t>Y</a:t>
                </a:r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AD059DA1-CEFB-4BBD-A284-532D2AC070BD}"/>
                  </a:ext>
                </a:extLst>
              </p:cNvPr>
              <p:cNvSpPr/>
              <p:nvPr/>
            </p:nvSpPr>
            <p:spPr>
              <a:xfrm>
                <a:off x="4205034" y="2037199"/>
                <a:ext cx="434602" cy="403319"/>
              </a:xfrm>
              <a:prstGeom prst="ellipse">
                <a:avLst/>
              </a:prstGeom>
              <a:solidFill>
                <a:schemeClr val="accent5">
                  <a:lumMod val="50000"/>
                </a:schemeClr>
              </a:solidFill>
              <a:ln w="38100"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400" dirty="0"/>
                  <a:t>X</a:t>
                </a:r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4A4066AC-A54A-467D-88E0-DF35BA925149}"/>
                  </a:ext>
                </a:extLst>
              </p:cNvPr>
              <p:cNvSpPr/>
              <p:nvPr/>
            </p:nvSpPr>
            <p:spPr>
              <a:xfrm>
                <a:off x="4774720" y="1356728"/>
                <a:ext cx="434601" cy="403319"/>
              </a:xfrm>
              <a:prstGeom prst="ellipse">
                <a:avLst/>
              </a:prstGeom>
              <a:solidFill>
                <a:srgbClr val="434343"/>
              </a:solidFill>
              <a:ln w="3810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400" dirty="0"/>
                  <a:t>Z</a:t>
                </a:r>
              </a:p>
            </p:txBody>
          </p:sp>
          <p:cxnSp>
            <p:nvCxnSpPr>
              <p:cNvPr id="8" name="Straight Arrow Connector 7">
                <a:extLst>
                  <a:ext uri="{FF2B5EF4-FFF2-40B4-BE49-F238E27FC236}">
                    <a16:creationId xmlns:a16="http://schemas.microsoft.com/office/drawing/2014/main" id="{A75A2A15-38D9-4ED3-93A0-ADB28A204398}"/>
                  </a:ext>
                </a:extLst>
              </p:cNvPr>
              <p:cNvCxnSpPr>
                <a:stCxn id="20" idx="3"/>
                <a:endCxn id="19" idx="7"/>
              </p:cNvCxnSpPr>
              <p:nvPr/>
            </p:nvCxnSpPr>
            <p:spPr>
              <a:xfrm flipH="1">
                <a:off x="4575990" y="1700982"/>
                <a:ext cx="262376" cy="395282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Arrow Connector 11">
                <a:extLst>
                  <a:ext uri="{FF2B5EF4-FFF2-40B4-BE49-F238E27FC236}">
                    <a16:creationId xmlns:a16="http://schemas.microsoft.com/office/drawing/2014/main" id="{28B291C2-904F-4007-89AA-0095EB52F029}"/>
                  </a:ext>
                </a:extLst>
              </p:cNvPr>
              <p:cNvCxnSpPr>
                <a:stCxn id="20" idx="5"/>
                <a:endCxn id="18" idx="1"/>
              </p:cNvCxnSpPr>
              <p:nvPr/>
            </p:nvCxnSpPr>
            <p:spPr>
              <a:xfrm>
                <a:off x="5145675" y="1700982"/>
                <a:ext cx="254813" cy="395282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E4B113D6-8AAE-4097-851A-4EC467169931}"/>
                </a:ext>
              </a:extLst>
            </p:cNvPr>
            <p:cNvSpPr txBox="1"/>
            <p:nvPr/>
          </p:nvSpPr>
          <p:spPr>
            <a:xfrm>
              <a:off x="4041874" y="837131"/>
              <a:ext cx="614591" cy="3462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400" dirty="0"/>
                <a:t>Fork</a:t>
              </a:r>
            </a:p>
          </p:txBody>
        </p:sp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78ED9010-4665-484F-8E6C-DA3A0A970AC1}"/>
              </a:ext>
            </a:extLst>
          </p:cNvPr>
          <p:cNvGrpSpPr/>
          <p:nvPr/>
        </p:nvGrpSpPr>
        <p:grpSpPr>
          <a:xfrm>
            <a:off x="4701276" y="4003391"/>
            <a:ext cx="2088545" cy="2203955"/>
            <a:chOff x="3525957" y="3002543"/>
            <a:chExt cx="1566409" cy="1652966"/>
          </a:xfrm>
        </p:grpSpPr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80F3DDA8-C395-407E-9906-32803A28160A}"/>
                </a:ext>
              </a:extLst>
            </p:cNvPr>
            <p:cNvGrpSpPr/>
            <p:nvPr/>
          </p:nvGrpSpPr>
          <p:grpSpPr>
            <a:xfrm>
              <a:off x="3525957" y="3571718"/>
              <a:ext cx="1566409" cy="1083791"/>
              <a:chOff x="4205034" y="3383452"/>
              <a:chExt cx="1566409" cy="1083791"/>
            </a:xfrm>
          </p:grpSpPr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2E45509B-490B-4D1A-9F28-C9A5842BB263}"/>
                  </a:ext>
                </a:extLst>
              </p:cNvPr>
              <p:cNvSpPr/>
              <p:nvPr/>
            </p:nvSpPr>
            <p:spPr>
              <a:xfrm>
                <a:off x="5336842" y="4063923"/>
                <a:ext cx="434601" cy="403320"/>
              </a:xfrm>
              <a:prstGeom prst="ellipse">
                <a:avLst/>
              </a:prstGeom>
              <a:solidFill>
                <a:srgbClr val="434343"/>
              </a:solidFill>
              <a:ln w="3810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400" dirty="0"/>
                  <a:t>Y</a:t>
                </a:r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36BE5D0A-4C42-4390-AE7C-F0ED68019773}"/>
                  </a:ext>
                </a:extLst>
              </p:cNvPr>
              <p:cNvSpPr/>
              <p:nvPr/>
            </p:nvSpPr>
            <p:spPr>
              <a:xfrm>
                <a:off x="4205034" y="4063923"/>
                <a:ext cx="434602" cy="403319"/>
              </a:xfrm>
              <a:prstGeom prst="ellipse">
                <a:avLst/>
              </a:prstGeom>
              <a:solidFill>
                <a:schemeClr val="accent5">
                  <a:lumMod val="50000"/>
                </a:schemeClr>
              </a:solidFill>
              <a:ln w="38100"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400" dirty="0"/>
                  <a:t>X</a:t>
                </a:r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1F01C355-0AE3-4E43-B31E-6F67F82CCD9D}"/>
                  </a:ext>
                </a:extLst>
              </p:cNvPr>
              <p:cNvSpPr/>
              <p:nvPr/>
            </p:nvSpPr>
            <p:spPr>
              <a:xfrm>
                <a:off x="4774720" y="3383452"/>
                <a:ext cx="434601" cy="403319"/>
              </a:xfrm>
              <a:prstGeom prst="ellipse">
                <a:avLst/>
              </a:prstGeom>
              <a:solidFill>
                <a:schemeClr val="bg2">
                  <a:lumMod val="75000"/>
                </a:schemeClr>
              </a:solidFill>
              <a:ln w="3810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400" dirty="0"/>
                  <a:t>Z</a:t>
                </a:r>
              </a:p>
            </p:txBody>
          </p:sp>
          <p:cxnSp>
            <p:nvCxnSpPr>
              <p:cNvPr id="36" name="Straight Arrow Connector 35">
                <a:extLst>
                  <a:ext uri="{FF2B5EF4-FFF2-40B4-BE49-F238E27FC236}">
                    <a16:creationId xmlns:a16="http://schemas.microsoft.com/office/drawing/2014/main" id="{ADC4F697-437D-4542-850E-E5CD624387BF}"/>
                  </a:ext>
                </a:extLst>
              </p:cNvPr>
              <p:cNvCxnSpPr>
                <a:stCxn id="24" idx="7"/>
                <a:endCxn id="25" idx="3"/>
              </p:cNvCxnSpPr>
              <p:nvPr/>
            </p:nvCxnSpPr>
            <p:spPr>
              <a:xfrm flipV="1">
                <a:off x="4575990" y="3727706"/>
                <a:ext cx="262376" cy="395282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Arrow Connector 37">
                <a:extLst>
                  <a:ext uri="{FF2B5EF4-FFF2-40B4-BE49-F238E27FC236}">
                    <a16:creationId xmlns:a16="http://schemas.microsoft.com/office/drawing/2014/main" id="{D75AC29F-F300-4106-B39B-5A6067C1B02E}"/>
                  </a:ext>
                </a:extLst>
              </p:cNvPr>
              <p:cNvCxnSpPr>
                <a:stCxn id="23" idx="1"/>
                <a:endCxn id="25" idx="5"/>
              </p:cNvCxnSpPr>
              <p:nvPr/>
            </p:nvCxnSpPr>
            <p:spPr>
              <a:xfrm flipH="1" flipV="1">
                <a:off x="5145675" y="3727706"/>
                <a:ext cx="254813" cy="395282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B55EC461-1B4D-48D9-9BB9-A14CB9D35624}"/>
                </a:ext>
              </a:extLst>
            </p:cNvPr>
            <p:cNvSpPr txBox="1"/>
            <p:nvPr/>
          </p:nvSpPr>
          <p:spPr>
            <a:xfrm>
              <a:off x="3916253" y="3002543"/>
              <a:ext cx="947615" cy="3462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400" dirty="0"/>
                <a:t>Collider</a:t>
              </a:r>
            </a:p>
          </p:txBody>
        </p:sp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F5E09E6D-8182-477A-BD15-6D9591EDBFCB}"/>
              </a:ext>
            </a:extLst>
          </p:cNvPr>
          <p:cNvGrpSpPr/>
          <p:nvPr/>
        </p:nvGrpSpPr>
        <p:grpSpPr>
          <a:xfrm>
            <a:off x="2105497" y="1107019"/>
            <a:ext cx="2088545" cy="2147005"/>
            <a:chOff x="1579122" y="830264"/>
            <a:chExt cx="1566409" cy="1610254"/>
          </a:xfrm>
        </p:grpSpPr>
        <p:grpSp>
          <p:nvGrpSpPr>
            <p:cNvPr id="72" name="Group 71">
              <a:extLst>
                <a:ext uri="{FF2B5EF4-FFF2-40B4-BE49-F238E27FC236}">
                  <a16:creationId xmlns:a16="http://schemas.microsoft.com/office/drawing/2014/main" id="{DB27D496-C095-4342-98D0-7DFBB84BDDDE}"/>
                </a:ext>
              </a:extLst>
            </p:cNvPr>
            <p:cNvGrpSpPr/>
            <p:nvPr/>
          </p:nvGrpSpPr>
          <p:grpSpPr>
            <a:xfrm>
              <a:off x="1579122" y="2037198"/>
              <a:ext cx="1566409" cy="403320"/>
              <a:chOff x="2258199" y="2037198"/>
              <a:chExt cx="1566409" cy="403320"/>
            </a:xfrm>
          </p:grpSpPr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8FBB8E71-E714-4C1E-A0D6-B82B425268CB}"/>
                  </a:ext>
                </a:extLst>
              </p:cNvPr>
              <p:cNvSpPr/>
              <p:nvPr/>
            </p:nvSpPr>
            <p:spPr>
              <a:xfrm>
                <a:off x="3390007" y="2037198"/>
                <a:ext cx="434601" cy="403320"/>
              </a:xfrm>
              <a:prstGeom prst="ellipse">
                <a:avLst/>
              </a:prstGeom>
              <a:solidFill>
                <a:srgbClr val="434343"/>
              </a:solidFill>
              <a:ln w="3810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400" dirty="0"/>
                  <a:t>Y</a:t>
                </a:r>
              </a:p>
            </p:txBody>
          </p:sp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FCDD6CE4-68CF-47F3-9E4C-E6AA8659F717}"/>
                  </a:ext>
                </a:extLst>
              </p:cNvPr>
              <p:cNvSpPr/>
              <p:nvPr/>
            </p:nvSpPr>
            <p:spPr>
              <a:xfrm>
                <a:off x="2258199" y="2037198"/>
                <a:ext cx="434602" cy="403319"/>
              </a:xfrm>
              <a:prstGeom prst="ellipse">
                <a:avLst/>
              </a:prstGeom>
              <a:solidFill>
                <a:schemeClr val="accent5">
                  <a:lumMod val="50000"/>
                </a:schemeClr>
              </a:solidFill>
              <a:ln w="38100"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400" dirty="0"/>
                  <a:t>X</a:t>
                </a:r>
              </a:p>
            </p:txBody>
          </p:sp>
          <p:cxnSp>
            <p:nvCxnSpPr>
              <p:cNvPr id="60" name="Straight Arrow Connector 59">
                <a:extLst>
                  <a:ext uri="{FF2B5EF4-FFF2-40B4-BE49-F238E27FC236}">
                    <a16:creationId xmlns:a16="http://schemas.microsoft.com/office/drawing/2014/main" id="{CA601D8D-B31A-4808-9732-653AA3E5E614}"/>
                  </a:ext>
                </a:extLst>
              </p:cNvPr>
              <p:cNvCxnSpPr>
                <a:cxnSpLocks/>
                <a:stCxn id="57" idx="6"/>
                <a:endCxn id="56" idx="2"/>
              </p:cNvCxnSpPr>
              <p:nvPr/>
            </p:nvCxnSpPr>
            <p:spPr>
              <a:xfrm>
                <a:off x="2692801" y="2238858"/>
                <a:ext cx="697206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B5EA05AE-3093-4CAF-B304-8831AB0AEC87}"/>
                </a:ext>
              </a:extLst>
            </p:cNvPr>
            <p:cNvSpPr txBox="1"/>
            <p:nvPr/>
          </p:nvSpPr>
          <p:spPr>
            <a:xfrm>
              <a:off x="2032548" y="830264"/>
              <a:ext cx="680716" cy="3462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400" dirty="0"/>
                <a:t>Truth</a:t>
              </a:r>
            </a:p>
          </p:txBody>
        </p:sp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652350C0-6E90-4B50-B9CA-A1EB04836BE6}"/>
              </a:ext>
            </a:extLst>
          </p:cNvPr>
          <p:cNvGrpSpPr/>
          <p:nvPr/>
        </p:nvGrpSpPr>
        <p:grpSpPr>
          <a:xfrm>
            <a:off x="2074345" y="3999555"/>
            <a:ext cx="2101718" cy="2221236"/>
            <a:chOff x="1555759" y="2999666"/>
            <a:chExt cx="1576288" cy="1665927"/>
          </a:xfrm>
        </p:grpSpPr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269D0486-88B7-4726-BC32-815475763AFF}"/>
                </a:ext>
              </a:extLst>
            </p:cNvPr>
            <p:cNvGrpSpPr/>
            <p:nvPr/>
          </p:nvGrpSpPr>
          <p:grpSpPr>
            <a:xfrm>
              <a:off x="1555759" y="4262273"/>
              <a:ext cx="1566409" cy="403320"/>
              <a:chOff x="2234836" y="4074007"/>
              <a:chExt cx="1566409" cy="403320"/>
            </a:xfrm>
          </p:grpSpPr>
          <p:sp>
            <p:nvSpPr>
              <p:cNvPr id="64" name="Oval 63">
                <a:extLst>
                  <a:ext uri="{FF2B5EF4-FFF2-40B4-BE49-F238E27FC236}">
                    <a16:creationId xmlns:a16="http://schemas.microsoft.com/office/drawing/2014/main" id="{2ACE33B8-C5A6-4F98-9755-0547D01854CB}"/>
                  </a:ext>
                </a:extLst>
              </p:cNvPr>
              <p:cNvSpPr/>
              <p:nvPr/>
            </p:nvSpPr>
            <p:spPr>
              <a:xfrm>
                <a:off x="3366644" y="4074007"/>
                <a:ext cx="434601" cy="403320"/>
              </a:xfrm>
              <a:prstGeom prst="ellipse">
                <a:avLst/>
              </a:prstGeom>
              <a:solidFill>
                <a:srgbClr val="434343"/>
              </a:solidFill>
              <a:ln w="3810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400" dirty="0"/>
                  <a:t>Y</a:t>
                </a:r>
              </a:p>
            </p:txBody>
          </p:sp>
          <p:sp>
            <p:nvSpPr>
              <p:cNvPr id="65" name="Oval 64">
                <a:extLst>
                  <a:ext uri="{FF2B5EF4-FFF2-40B4-BE49-F238E27FC236}">
                    <a16:creationId xmlns:a16="http://schemas.microsoft.com/office/drawing/2014/main" id="{040BF24B-65C1-4101-9092-AD49AD343F57}"/>
                  </a:ext>
                </a:extLst>
              </p:cNvPr>
              <p:cNvSpPr/>
              <p:nvPr/>
            </p:nvSpPr>
            <p:spPr>
              <a:xfrm>
                <a:off x="2234836" y="4074007"/>
                <a:ext cx="434602" cy="403319"/>
              </a:xfrm>
              <a:prstGeom prst="ellipse">
                <a:avLst/>
              </a:prstGeom>
              <a:solidFill>
                <a:schemeClr val="accent5">
                  <a:lumMod val="50000"/>
                </a:schemeClr>
              </a:solidFill>
              <a:ln w="38100"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400" dirty="0"/>
                  <a:t>X</a:t>
                </a:r>
              </a:p>
            </p:txBody>
          </p:sp>
        </p:grp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2A5890CE-8281-4FD1-96C8-60F3F0094FC0}"/>
                </a:ext>
              </a:extLst>
            </p:cNvPr>
            <p:cNvSpPr txBox="1"/>
            <p:nvPr/>
          </p:nvSpPr>
          <p:spPr>
            <a:xfrm>
              <a:off x="1748014" y="2999666"/>
              <a:ext cx="1384033" cy="3462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400" dirty="0"/>
                <a:t>Coincidence</a:t>
              </a:r>
            </a:p>
          </p:txBody>
        </p:sp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F9B8E94E-931F-4959-8839-F3CD81C64B46}"/>
              </a:ext>
            </a:extLst>
          </p:cNvPr>
          <p:cNvGrpSpPr/>
          <p:nvPr/>
        </p:nvGrpSpPr>
        <p:grpSpPr>
          <a:xfrm>
            <a:off x="7012630" y="4003390"/>
            <a:ext cx="2887030" cy="2234268"/>
            <a:chOff x="5259472" y="3002542"/>
            <a:chExt cx="2165272" cy="1675701"/>
          </a:xfrm>
        </p:grpSpPr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1572508C-6C04-477C-BEE0-69897BE62DF7}"/>
                </a:ext>
              </a:extLst>
            </p:cNvPr>
            <p:cNvGrpSpPr/>
            <p:nvPr/>
          </p:nvGrpSpPr>
          <p:grpSpPr>
            <a:xfrm>
              <a:off x="5259472" y="3482857"/>
              <a:ext cx="2165272" cy="1195386"/>
              <a:chOff x="5938549" y="3482857"/>
              <a:chExt cx="2165272" cy="1195386"/>
            </a:xfrm>
          </p:grpSpPr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6674F3F0-220D-4F18-B188-AAF77B01E2A1}"/>
                  </a:ext>
                </a:extLst>
              </p:cNvPr>
              <p:cNvSpPr/>
              <p:nvPr/>
            </p:nvSpPr>
            <p:spPr>
              <a:xfrm>
                <a:off x="7669220" y="3482857"/>
                <a:ext cx="434601" cy="403320"/>
              </a:xfrm>
              <a:prstGeom prst="ellipse">
                <a:avLst/>
              </a:prstGeom>
              <a:solidFill>
                <a:srgbClr val="434343"/>
              </a:solidFill>
              <a:ln w="3810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400" dirty="0"/>
                  <a:t>Y</a:t>
                </a:r>
              </a:p>
            </p:txBody>
          </p:sp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2D53BDBE-54FC-442D-8CDE-41E6E793354A}"/>
                  </a:ext>
                </a:extLst>
              </p:cNvPr>
              <p:cNvSpPr/>
              <p:nvPr/>
            </p:nvSpPr>
            <p:spPr>
              <a:xfrm>
                <a:off x="5938549" y="3482858"/>
                <a:ext cx="434602" cy="403319"/>
              </a:xfrm>
              <a:prstGeom prst="ellipse">
                <a:avLst/>
              </a:prstGeom>
              <a:solidFill>
                <a:schemeClr val="accent5">
                  <a:lumMod val="50000"/>
                </a:schemeClr>
              </a:solidFill>
              <a:ln w="38100"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400" dirty="0"/>
                  <a:t>X</a:t>
                </a:r>
              </a:p>
            </p:txBody>
          </p:sp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480A74BE-D5F4-4C32-9151-8EC13A98740A}"/>
                  </a:ext>
                </a:extLst>
              </p:cNvPr>
              <p:cNvSpPr/>
              <p:nvPr/>
            </p:nvSpPr>
            <p:spPr>
              <a:xfrm>
                <a:off x="6803885" y="3482859"/>
                <a:ext cx="434601" cy="403319"/>
              </a:xfrm>
              <a:prstGeom prst="ellipse">
                <a:avLst/>
              </a:prstGeom>
              <a:solidFill>
                <a:schemeClr val="bg2">
                  <a:lumMod val="75000"/>
                </a:schemeClr>
              </a:solidFill>
              <a:ln w="3810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400" dirty="0"/>
                  <a:t>Z</a:t>
                </a:r>
              </a:p>
            </p:txBody>
          </p:sp>
          <p:cxnSp>
            <p:nvCxnSpPr>
              <p:cNvPr id="45" name="Straight Arrow Connector 44">
                <a:extLst>
                  <a:ext uri="{FF2B5EF4-FFF2-40B4-BE49-F238E27FC236}">
                    <a16:creationId xmlns:a16="http://schemas.microsoft.com/office/drawing/2014/main" id="{40013FDE-CAFD-45FF-82A7-CFFF72045FA6}"/>
                  </a:ext>
                </a:extLst>
              </p:cNvPr>
              <p:cNvCxnSpPr>
                <a:cxnSpLocks/>
                <a:stCxn id="43" idx="6"/>
                <a:endCxn id="44" idx="2"/>
              </p:cNvCxnSpPr>
              <p:nvPr/>
            </p:nvCxnSpPr>
            <p:spPr>
              <a:xfrm>
                <a:off x="6373151" y="3684518"/>
                <a:ext cx="430734" cy="1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Arrow Connector 51">
                <a:extLst>
                  <a:ext uri="{FF2B5EF4-FFF2-40B4-BE49-F238E27FC236}">
                    <a16:creationId xmlns:a16="http://schemas.microsoft.com/office/drawing/2014/main" id="{08C0A6E7-AF67-4C21-A2BF-5BBAE5D7F026}"/>
                  </a:ext>
                </a:extLst>
              </p:cNvPr>
              <p:cNvCxnSpPr>
                <a:stCxn id="44" idx="6"/>
                <a:endCxn id="42" idx="2"/>
              </p:cNvCxnSpPr>
              <p:nvPr/>
            </p:nvCxnSpPr>
            <p:spPr>
              <a:xfrm flipV="1">
                <a:off x="7238486" y="3684517"/>
                <a:ext cx="430734" cy="2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0D74FCBD-9648-48D3-B3A4-8FB638E75F1C}"/>
                  </a:ext>
                </a:extLst>
              </p:cNvPr>
              <p:cNvSpPr/>
              <p:nvPr/>
            </p:nvSpPr>
            <p:spPr>
              <a:xfrm>
                <a:off x="6809961" y="4274924"/>
                <a:ext cx="434601" cy="403319"/>
              </a:xfrm>
              <a:prstGeom prst="ellipse">
                <a:avLst/>
              </a:prstGeom>
              <a:solidFill>
                <a:schemeClr val="bg2">
                  <a:lumMod val="75000"/>
                </a:schemeClr>
              </a:solidFill>
              <a:ln w="3810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400" dirty="0"/>
                  <a:t>V</a:t>
                </a:r>
              </a:p>
            </p:txBody>
          </p:sp>
          <p:cxnSp>
            <p:nvCxnSpPr>
              <p:cNvPr id="55" name="Straight Arrow Connector 54">
                <a:extLst>
                  <a:ext uri="{FF2B5EF4-FFF2-40B4-BE49-F238E27FC236}">
                    <a16:creationId xmlns:a16="http://schemas.microsoft.com/office/drawing/2014/main" id="{3517A162-BFD9-4153-959B-667DA7DA9D65}"/>
                  </a:ext>
                </a:extLst>
              </p:cNvPr>
              <p:cNvCxnSpPr>
                <a:stCxn id="44" idx="4"/>
                <a:endCxn id="53" idx="0"/>
              </p:cNvCxnSpPr>
              <p:nvPr/>
            </p:nvCxnSpPr>
            <p:spPr>
              <a:xfrm>
                <a:off x="7021186" y="3886178"/>
                <a:ext cx="6076" cy="388746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CACA1F83-E692-469A-A7E6-FE1A4F1BA5C1}"/>
                </a:ext>
              </a:extLst>
            </p:cNvPr>
            <p:cNvSpPr txBox="1"/>
            <p:nvPr/>
          </p:nvSpPr>
          <p:spPr>
            <a:xfrm>
              <a:off x="5772080" y="3002542"/>
              <a:ext cx="1353976" cy="3462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400" dirty="0"/>
                <a:t>Descendant</a:t>
              </a:r>
            </a:p>
          </p:txBody>
        </p:sp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1B6E6F98-52DE-4720-8926-DE231BDEF8E8}"/>
              </a:ext>
            </a:extLst>
          </p:cNvPr>
          <p:cNvGrpSpPr/>
          <p:nvPr/>
        </p:nvGrpSpPr>
        <p:grpSpPr>
          <a:xfrm>
            <a:off x="163861" y="1107019"/>
            <a:ext cx="4102415" cy="2227852"/>
            <a:chOff x="122895" y="830264"/>
            <a:chExt cx="3076811" cy="1670889"/>
          </a:xfrm>
        </p:grpSpPr>
        <p:sp>
          <p:nvSpPr>
            <p:cNvPr id="80" name="Rectangle: Rounded Corners 79">
              <a:extLst>
                <a:ext uri="{FF2B5EF4-FFF2-40B4-BE49-F238E27FC236}">
                  <a16:creationId xmlns:a16="http://schemas.microsoft.com/office/drawing/2014/main" id="{3F73FB6C-EC80-45BC-9808-2990E5D15689}"/>
                </a:ext>
              </a:extLst>
            </p:cNvPr>
            <p:cNvSpPr/>
            <p:nvPr/>
          </p:nvSpPr>
          <p:spPr>
            <a:xfrm>
              <a:off x="122895" y="1379358"/>
              <a:ext cx="1018793" cy="572700"/>
            </a:xfrm>
            <a:prstGeom prst="round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What we hope for</a:t>
              </a:r>
            </a:p>
          </p:txBody>
        </p:sp>
        <p:sp>
          <p:nvSpPr>
            <p:cNvPr id="81" name="Rectangle: Rounded Corners 80">
              <a:extLst>
                <a:ext uri="{FF2B5EF4-FFF2-40B4-BE49-F238E27FC236}">
                  <a16:creationId xmlns:a16="http://schemas.microsoft.com/office/drawing/2014/main" id="{2790BEF0-411A-4BD3-87C7-1727DA02977B}"/>
                </a:ext>
              </a:extLst>
            </p:cNvPr>
            <p:cNvSpPr/>
            <p:nvPr/>
          </p:nvSpPr>
          <p:spPr>
            <a:xfrm>
              <a:off x="1512643" y="830264"/>
              <a:ext cx="1687063" cy="1670889"/>
            </a:xfrm>
            <a:prstGeom prst="roundRect">
              <a:avLst/>
            </a:prstGeom>
            <a:noFill/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400"/>
            </a:p>
          </p:txBody>
        </p: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CCED1CC3-FE97-4FDE-87A3-EADDCA37CBAA}"/>
                </a:ext>
              </a:extLst>
            </p:cNvPr>
            <p:cNvCxnSpPr>
              <a:stCxn id="81" idx="1"/>
              <a:endCxn id="80" idx="3"/>
            </p:cNvCxnSpPr>
            <p:nvPr/>
          </p:nvCxnSpPr>
          <p:spPr>
            <a:xfrm flipH="1" flipV="1">
              <a:off x="1141688" y="1665708"/>
              <a:ext cx="370955" cy="1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8DC9AF6F-6644-4A08-A07D-5DFBEEE9F5EF}"/>
              </a:ext>
            </a:extLst>
          </p:cNvPr>
          <p:cNvGrpSpPr/>
          <p:nvPr/>
        </p:nvGrpSpPr>
        <p:grpSpPr>
          <a:xfrm>
            <a:off x="4347583" y="1107020"/>
            <a:ext cx="7765876" cy="5239993"/>
            <a:chOff x="3260687" y="830264"/>
            <a:chExt cx="5824407" cy="3929995"/>
          </a:xfrm>
        </p:grpSpPr>
        <p:sp>
          <p:nvSpPr>
            <p:cNvPr id="75" name="Rectangle: Rounded Corners 74">
              <a:extLst>
                <a:ext uri="{FF2B5EF4-FFF2-40B4-BE49-F238E27FC236}">
                  <a16:creationId xmlns:a16="http://schemas.microsoft.com/office/drawing/2014/main" id="{101F06F6-9CF0-4BED-B6A1-DDFB98A8F2E6}"/>
                </a:ext>
              </a:extLst>
            </p:cNvPr>
            <p:cNvSpPr/>
            <p:nvPr/>
          </p:nvSpPr>
          <p:spPr>
            <a:xfrm>
              <a:off x="7740388" y="2238857"/>
              <a:ext cx="1344706" cy="1117583"/>
            </a:xfrm>
            <a:prstGeom prst="round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Different types of confounding relationships</a:t>
              </a:r>
            </a:p>
          </p:txBody>
        </p:sp>
        <p:sp>
          <p:nvSpPr>
            <p:cNvPr id="76" name="Rectangle: Rounded Corners 75">
              <a:extLst>
                <a:ext uri="{FF2B5EF4-FFF2-40B4-BE49-F238E27FC236}">
                  <a16:creationId xmlns:a16="http://schemas.microsoft.com/office/drawing/2014/main" id="{B908BFC6-17A6-4583-BAFE-110E79EB5CCA}"/>
                </a:ext>
              </a:extLst>
            </p:cNvPr>
            <p:cNvSpPr/>
            <p:nvPr/>
          </p:nvSpPr>
          <p:spPr>
            <a:xfrm>
              <a:off x="3260687" y="830264"/>
              <a:ext cx="4304191" cy="3929995"/>
            </a:xfrm>
            <a:prstGeom prst="roundRect">
              <a:avLst/>
            </a:prstGeom>
            <a:noFill/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400"/>
            </a:p>
          </p:txBody>
        </p: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B0680D51-4539-4B60-8332-1E7F181C2CB4}"/>
                </a:ext>
              </a:extLst>
            </p:cNvPr>
            <p:cNvCxnSpPr>
              <a:cxnSpLocks/>
              <a:stCxn id="76" idx="3"/>
              <a:endCxn id="75" idx="1"/>
            </p:cNvCxnSpPr>
            <p:nvPr/>
          </p:nvCxnSpPr>
          <p:spPr>
            <a:xfrm>
              <a:off x="7564878" y="2795262"/>
              <a:ext cx="175510" cy="2387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55F520EF-D276-4C68-A8C5-CBEACE0C6A1B}"/>
              </a:ext>
            </a:extLst>
          </p:cNvPr>
          <p:cNvGrpSpPr/>
          <p:nvPr/>
        </p:nvGrpSpPr>
        <p:grpSpPr>
          <a:xfrm>
            <a:off x="71737" y="3917577"/>
            <a:ext cx="4142879" cy="2429436"/>
            <a:chOff x="53802" y="2938182"/>
            <a:chExt cx="3107159" cy="1822077"/>
          </a:xfrm>
        </p:grpSpPr>
        <p:sp>
          <p:nvSpPr>
            <p:cNvPr id="87" name="Rectangle: Rounded Corners 86">
              <a:extLst>
                <a:ext uri="{FF2B5EF4-FFF2-40B4-BE49-F238E27FC236}">
                  <a16:creationId xmlns:a16="http://schemas.microsoft.com/office/drawing/2014/main" id="{21C3E82A-EE21-4D48-8BD5-B545464A0257}"/>
                </a:ext>
              </a:extLst>
            </p:cNvPr>
            <p:cNvSpPr/>
            <p:nvPr/>
          </p:nvSpPr>
          <p:spPr>
            <a:xfrm>
              <a:off x="1505919" y="2938182"/>
              <a:ext cx="1655042" cy="1822077"/>
            </a:xfrm>
            <a:prstGeom prst="roundRect">
              <a:avLst/>
            </a:prstGeom>
            <a:noFill/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400"/>
            </a:p>
          </p:txBody>
        </p:sp>
        <p:sp>
          <p:nvSpPr>
            <p:cNvPr id="88" name="Rectangle: Rounded Corners 87">
              <a:extLst>
                <a:ext uri="{FF2B5EF4-FFF2-40B4-BE49-F238E27FC236}">
                  <a16:creationId xmlns:a16="http://schemas.microsoft.com/office/drawing/2014/main" id="{EAB6EF53-E4B3-4A5C-AFF3-ABBE451F43DE}"/>
                </a:ext>
              </a:extLst>
            </p:cNvPr>
            <p:cNvSpPr/>
            <p:nvPr/>
          </p:nvSpPr>
          <p:spPr>
            <a:xfrm>
              <a:off x="53802" y="3564994"/>
              <a:ext cx="1121200" cy="572700"/>
            </a:xfrm>
            <a:prstGeom prst="round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Associated by chance</a:t>
              </a:r>
            </a:p>
          </p:txBody>
        </p: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E23BD477-E813-49E7-AADC-A7F491CFD7AC}"/>
                </a:ext>
              </a:extLst>
            </p:cNvPr>
            <p:cNvCxnSpPr>
              <a:cxnSpLocks/>
              <a:stCxn id="87" idx="1"/>
              <a:endCxn id="88" idx="3"/>
            </p:cNvCxnSpPr>
            <p:nvPr/>
          </p:nvCxnSpPr>
          <p:spPr>
            <a:xfrm flipH="1">
              <a:off x="1175002" y="3849221"/>
              <a:ext cx="330917" cy="2123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19915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A962E-623F-4A33-9271-D822D9C94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12192000" cy="763600"/>
          </a:xfrm>
        </p:spPr>
        <p:txBody>
          <a:bodyPr/>
          <a:lstStyle/>
          <a:p>
            <a:pPr algn="ctr"/>
            <a:r>
              <a:rPr lang="en-GB" dirty="0"/>
              <a:t>A true causal relationship</a:t>
            </a:r>
          </a:p>
        </p:txBody>
      </p:sp>
      <p:sp>
        <p:nvSpPr>
          <p:cNvPr id="4" name="Google Shape;75;p15">
            <a:extLst>
              <a:ext uri="{FF2B5EF4-FFF2-40B4-BE49-F238E27FC236}">
                <a16:creationId xmlns:a16="http://schemas.microsoft.com/office/drawing/2014/main" id="{D3576E38-C5FF-4D1E-BF01-7E8DED020055}"/>
              </a:ext>
            </a:extLst>
          </p:cNvPr>
          <p:cNvSpPr/>
          <p:nvPr/>
        </p:nvSpPr>
        <p:spPr>
          <a:xfrm>
            <a:off x="4347584" y="693450"/>
            <a:ext cx="3496833" cy="140300"/>
          </a:xfrm>
          <a:custGeom>
            <a:avLst/>
            <a:gdLst/>
            <a:ahLst/>
            <a:cxnLst/>
            <a:rect l="l" t="t" r="r" b="b"/>
            <a:pathLst>
              <a:path w="104905" h="4209" extrusionOk="0">
                <a:moveTo>
                  <a:pt x="0" y="2010"/>
                </a:moveTo>
                <a:cubicBezTo>
                  <a:pt x="34411" y="-4246"/>
                  <a:pt x="71725" y="11060"/>
                  <a:pt x="104905" y="0"/>
                </a:cubicBezTo>
              </a:path>
            </a:pathLst>
          </a:custGeom>
          <a:noFill/>
          <a:ln w="19050" cap="flat" cmpd="sng">
            <a:solidFill>
              <a:srgbClr val="4C113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id="{DB27D496-C095-4342-98D0-7DFBB84BDDDE}"/>
              </a:ext>
            </a:extLst>
          </p:cNvPr>
          <p:cNvGrpSpPr/>
          <p:nvPr/>
        </p:nvGrpSpPr>
        <p:grpSpPr>
          <a:xfrm>
            <a:off x="5051726" y="2027841"/>
            <a:ext cx="2088545" cy="537760"/>
            <a:chOff x="2258199" y="2037198"/>
            <a:chExt cx="1566409" cy="403320"/>
          </a:xfrm>
        </p:grpSpPr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8FBB8E71-E714-4C1E-A0D6-B82B425268CB}"/>
                </a:ext>
              </a:extLst>
            </p:cNvPr>
            <p:cNvSpPr/>
            <p:nvPr/>
          </p:nvSpPr>
          <p:spPr>
            <a:xfrm>
              <a:off x="3390007" y="2037198"/>
              <a:ext cx="434601" cy="403320"/>
            </a:xfrm>
            <a:prstGeom prst="ellipse">
              <a:avLst/>
            </a:prstGeom>
            <a:solidFill>
              <a:srgbClr val="434343"/>
            </a:solidFill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Y</a:t>
              </a:r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FCDD6CE4-68CF-47F3-9E4C-E6AA8659F717}"/>
                </a:ext>
              </a:extLst>
            </p:cNvPr>
            <p:cNvSpPr/>
            <p:nvPr/>
          </p:nvSpPr>
          <p:spPr>
            <a:xfrm>
              <a:off x="2258199" y="2037198"/>
              <a:ext cx="434602" cy="403319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 w="38100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X</a:t>
              </a:r>
            </a:p>
          </p:txBody>
        </p:sp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CA601D8D-B31A-4808-9732-653AA3E5E614}"/>
                </a:ext>
              </a:extLst>
            </p:cNvPr>
            <p:cNvCxnSpPr>
              <a:cxnSpLocks/>
              <a:stCxn id="57" idx="6"/>
              <a:endCxn id="56" idx="2"/>
            </p:cNvCxnSpPr>
            <p:nvPr/>
          </p:nvCxnSpPr>
          <p:spPr>
            <a:xfrm>
              <a:off x="2692801" y="2238858"/>
              <a:ext cx="697206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DC68F96-8038-4906-9C1A-C2DA7F4F3DAE}"/>
                  </a:ext>
                </a:extLst>
              </p:cNvPr>
              <p:cNvSpPr txBox="1"/>
              <p:nvPr/>
            </p:nvSpPr>
            <p:spPr>
              <a:xfrm>
                <a:off x="2" y="3429000"/>
                <a:ext cx="12191997" cy="30469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2400" dirty="0">
                    <a:solidFill>
                      <a:srgbClr val="434343"/>
                    </a:solidFill>
                  </a:rPr>
                  <a:t>There is a </a:t>
                </a:r>
                <a:r>
                  <a:rPr lang="en-GB" sz="2400" b="1" u="sng" dirty="0">
                    <a:solidFill>
                      <a:srgbClr val="434343"/>
                    </a:solidFill>
                  </a:rPr>
                  <a:t>causal relationship</a:t>
                </a:r>
                <a:r>
                  <a:rPr lang="en-GB" sz="2400" dirty="0">
                    <a:solidFill>
                      <a:srgbClr val="434343"/>
                    </a:solidFill>
                  </a:rPr>
                  <a:t> of </a:t>
                </a:r>
                <a:r>
                  <a:rPr lang="en-GB" sz="2400" dirty="0">
                    <a:solidFill>
                      <a:srgbClr val="0070C0"/>
                    </a:solidFill>
                  </a:rPr>
                  <a:t>X</a:t>
                </a:r>
                <a:r>
                  <a:rPr lang="en-GB" sz="2400" dirty="0">
                    <a:solidFill>
                      <a:srgbClr val="434343"/>
                    </a:solidFill>
                  </a:rPr>
                  <a:t> on </a:t>
                </a:r>
                <a:r>
                  <a:rPr lang="en-GB" sz="2400" dirty="0">
                    <a:solidFill>
                      <a:schemeClr val="accent1"/>
                    </a:solidFill>
                  </a:rPr>
                  <a:t>Y</a:t>
                </a:r>
                <a:r>
                  <a:rPr lang="en-GB" sz="2400" dirty="0">
                    <a:solidFill>
                      <a:srgbClr val="434343"/>
                    </a:solidFill>
                  </a:rPr>
                  <a:t>.</a:t>
                </a:r>
              </a:p>
              <a:p>
                <a:pPr algn="ctr"/>
                <a:endParaRPr lang="en-GB" sz="2400" dirty="0">
                  <a:solidFill>
                    <a:srgbClr val="434343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𝑃𝑟𝑒𝑑𝑎𝑡𝑜𝑟</m:t>
                      </m:r>
                      <m:r>
                        <a:rPr lang="en-GB" sz="24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𝑎𝑏𝑢𝑛𝑑𝑎𝑛𝑐𝑒</m:t>
                      </m:r>
                      <m:r>
                        <a:rPr lang="en-GB" sz="2400" i="1">
                          <a:solidFill>
                            <a:srgbClr val="434343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sz="24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𝑃𝑟𝑒𝑦</m:t>
                      </m:r>
                      <m:r>
                        <a:rPr lang="en-GB" sz="24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𝑎𝑏𝑢𝑛𝑑𝑎𝑛𝑐𝑒</m:t>
                      </m:r>
                    </m:oMath>
                  </m:oMathPara>
                </a14:m>
                <a:endParaRPr lang="en-GB" sz="2400" dirty="0">
                  <a:solidFill>
                    <a:srgbClr val="434343"/>
                  </a:solidFill>
                </a:endParaRPr>
              </a:p>
              <a:p>
                <a:pPr algn="ctr"/>
                <a:endParaRPr lang="en-GB" sz="2400" dirty="0">
                  <a:solidFill>
                    <a:srgbClr val="434343"/>
                  </a:solidFill>
                </a:endParaRPr>
              </a:p>
              <a:p>
                <a:pPr algn="ctr"/>
                <a:r>
                  <a:rPr lang="en-GB" sz="2400" dirty="0">
                    <a:solidFill>
                      <a:srgbClr val="434343"/>
                    </a:solidFill>
                  </a:rPr>
                  <a:t>Predators eat prey. The more predators, the fewer prey. The fewer predators, the more prey.</a:t>
                </a:r>
              </a:p>
              <a:p>
                <a:pPr algn="ctr"/>
                <a:endParaRPr lang="en-GB" sz="2400" dirty="0">
                  <a:solidFill>
                    <a:srgbClr val="434343"/>
                  </a:solidFill>
                </a:endParaRPr>
              </a:p>
              <a:p>
                <a:pPr algn="ctr"/>
                <a:r>
                  <a:rPr lang="en-GB" sz="2400" dirty="0">
                    <a:solidFill>
                      <a:srgbClr val="434343"/>
                    </a:solidFill>
                  </a:rPr>
                  <a:t>With the model: </a:t>
                </a:r>
                <a14:m>
                  <m:oMath xmlns:m="http://schemas.openxmlformats.org/officeDocument/2006/math">
                    <m:r>
                      <a:rPr lang="en-GB" sz="24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𝑃𝑟𝑒𝑦</m:t>
                    </m:r>
                    <m:r>
                      <a:rPr lang="en-GB" sz="2400">
                        <a:solidFill>
                          <a:srgbClr val="434343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2400" i="1">
                        <a:solidFill>
                          <a:srgbClr val="434343"/>
                        </a:solidFill>
                        <a:latin typeface="Cambria Math" panose="02040503050406030204" pitchFamily="18" charset="0"/>
                      </a:rPr>
                      <m:t>~ </m:t>
                    </m:r>
                    <m:r>
                      <a:rPr lang="en-GB" sz="24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𝑃𝑟𝑒𝑑𝑎𝑡𝑜𝑟𝑠</m:t>
                    </m:r>
                  </m:oMath>
                </a14:m>
                <a:r>
                  <a:rPr lang="en-GB" sz="2400" dirty="0">
                    <a:solidFill>
                      <a:srgbClr val="434343"/>
                    </a:solidFill>
                  </a:rPr>
                  <a:t>, we find a </a:t>
                </a:r>
                <a:r>
                  <a:rPr lang="en-GB" sz="2400" b="1" u="sng" dirty="0">
                    <a:solidFill>
                      <a:srgbClr val="434343"/>
                    </a:solidFill>
                  </a:rPr>
                  <a:t>true causal association</a:t>
                </a:r>
                <a:r>
                  <a:rPr lang="en-GB" sz="2400" dirty="0">
                    <a:solidFill>
                      <a:srgbClr val="434343"/>
                    </a:solidFill>
                  </a:rPr>
                  <a:t>.</a:t>
                </a: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DC68F96-8038-4906-9C1A-C2DA7F4F3D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" y="3429000"/>
                <a:ext cx="12191997" cy="3046988"/>
              </a:xfrm>
              <a:prstGeom prst="rect">
                <a:avLst/>
              </a:prstGeom>
              <a:blipFill>
                <a:blip r:embed="rId3"/>
                <a:stretch>
                  <a:fillRect l="-250" t="-1603" r="-950" b="-340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Group 7">
            <a:extLst>
              <a:ext uri="{FF2B5EF4-FFF2-40B4-BE49-F238E27FC236}">
                <a16:creationId xmlns:a16="http://schemas.microsoft.com/office/drawing/2014/main" id="{9FC558D9-515F-41ED-A5D7-9AF2A3469659}"/>
              </a:ext>
            </a:extLst>
          </p:cNvPr>
          <p:cNvGrpSpPr/>
          <p:nvPr/>
        </p:nvGrpSpPr>
        <p:grpSpPr>
          <a:xfrm>
            <a:off x="2326021" y="4697371"/>
            <a:ext cx="7539955" cy="1363399"/>
            <a:chOff x="1465053" y="1558670"/>
            <a:chExt cx="5654966" cy="1022549"/>
          </a:xfrm>
        </p:grpSpPr>
        <p:pic>
          <p:nvPicPr>
            <p:cNvPr id="9" name="Picture 8" descr="A picture containing grass, outdoor, ground&#10;&#10;Description automatically generated">
              <a:extLst>
                <a:ext uri="{FF2B5EF4-FFF2-40B4-BE49-F238E27FC236}">
                  <a16:creationId xmlns:a16="http://schemas.microsoft.com/office/drawing/2014/main" id="{8C0A7F4B-1302-4740-B960-1619871E684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756621" y="1558670"/>
              <a:ext cx="1363398" cy="1022549"/>
            </a:xfrm>
            <a:prstGeom prst="rect">
              <a:avLst/>
            </a:prstGeom>
            <a:ln w="57150">
              <a:solidFill>
                <a:srgbClr val="FFC000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10" name="Picture 9" descr="A close up of a lion's face&#10;&#10;Description automatically generated with medium confidence">
              <a:extLst>
                <a:ext uri="{FF2B5EF4-FFF2-40B4-BE49-F238E27FC236}">
                  <a16:creationId xmlns:a16="http://schemas.microsoft.com/office/drawing/2014/main" id="{67FF1487-2532-4EE4-B544-0D649FF62B6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465053" y="1558670"/>
              <a:ext cx="1350772" cy="1013079"/>
            </a:xfrm>
            <a:prstGeom prst="rect">
              <a:avLst/>
            </a:prstGeom>
            <a:ln w="57150">
              <a:solidFill>
                <a:srgbClr val="00B0F0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</p:pic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D4D168EC-EF35-4359-8862-B3CE2FE13DAC}"/>
                </a:ext>
              </a:extLst>
            </p:cNvPr>
            <p:cNvCxnSpPr>
              <a:stCxn id="10" idx="3"/>
              <a:endCxn id="9" idx="1"/>
            </p:cNvCxnSpPr>
            <p:nvPr/>
          </p:nvCxnSpPr>
          <p:spPr>
            <a:xfrm>
              <a:off x="2815825" y="2065210"/>
              <a:ext cx="2940796" cy="4735"/>
            </a:xfrm>
            <a:prstGeom prst="straightConnector1">
              <a:avLst/>
            </a:prstGeom>
            <a:ln w="28575">
              <a:solidFill>
                <a:schemeClr val="tx2">
                  <a:lumMod val="10000"/>
                </a:schemeClr>
              </a:solidFill>
              <a:tailEnd type="triangle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DCB6C53-96E3-4369-96FC-9CE30BA1FE7C}"/>
                </a:ext>
              </a:extLst>
            </p:cNvPr>
            <p:cNvSpPr txBox="1"/>
            <p:nvPr/>
          </p:nvSpPr>
          <p:spPr>
            <a:xfrm>
              <a:off x="3596771" y="2065209"/>
              <a:ext cx="1691809" cy="3462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400" dirty="0"/>
                <a:t>Negative effect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36917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A962E-623F-4A33-9271-D822D9C94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12192000" cy="763600"/>
          </a:xfrm>
        </p:spPr>
        <p:txBody>
          <a:bodyPr/>
          <a:lstStyle/>
          <a:p>
            <a:pPr algn="ctr"/>
            <a:r>
              <a:rPr lang="en-GB" dirty="0"/>
              <a:t>A true causal relationship</a:t>
            </a:r>
          </a:p>
        </p:txBody>
      </p:sp>
      <p:sp>
        <p:nvSpPr>
          <p:cNvPr id="4" name="Google Shape;75;p15">
            <a:extLst>
              <a:ext uri="{FF2B5EF4-FFF2-40B4-BE49-F238E27FC236}">
                <a16:creationId xmlns:a16="http://schemas.microsoft.com/office/drawing/2014/main" id="{D3576E38-C5FF-4D1E-BF01-7E8DED020055}"/>
              </a:ext>
            </a:extLst>
          </p:cNvPr>
          <p:cNvSpPr/>
          <p:nvPr/>
        </p:nvSpPr>
        <p:spPr>
          <a:xfrm>
            <a:off x="4347584" y="693450"/>
            <a:ext cx="3496833" cy="140300"/>
          </a:xfrm>
          <a:custGeom>
            <a:avLst/>
            <a:gdLst/>
            <a:ahLst/>
            <a:cxnLst/>
            <a:rect l="l" t="t" r="r" b="b"/>
            <a:pathLst>
              <a:path w="104905" h="4209" extrusionOk="0">
                <a:moveTo>
                  <a:pt x="0" y="2010"/>
                </a:moveTo>
                <a:cubicBezTo>
                  <a:pt x="34411" y="-4246"/>
                  <a:pt x="71725" y="11060"/>
                  <a:pt x="104905" y="0"/>
                </a:cubicBezTo>
              </a:path>
            </a:pathLst>
          </a:custGeom>
          <a:noFill/>
          <a:ln w="19050" cap="flat" cmpd="sng">
            <a:solidFill>
              <a:srgbClr val="4C113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DB8F04E-8597-470B-ABD5-B600B81E0103}"/>
              </a:ext>
            </a:extLst>
          </p:cNvPr>
          <p:cNvGrpSpPr/>
          <p:nvPr/>
        </p:nvGrpSpPr>
        <p:grpSpPr>
          <a:xfrm>
            <a:off x="288620" y="3659447"/>
            <a:ext cx="2088545" cy="537760"/>
            <a:chOff x="2258199" y="2037198"/>
            <a:chExt cx="1566409" cy="403320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179A6F28-26C6-4B11-ABA8-43CB2820E809}"/>
                </a:ext>
              </a:extLst>
            </p:cNvPr>
            <p:cNvSpPr/>
            <p:nvPr/>
          </p:nvSpPr>
          <p:spPr>
            <a:xfrm>
              <a:off x="3390007" y="2037198"/>
              <a:ext cx="434601" cy="403320"/>
            </a:xfrm>
            <a:prstGeom prst="ellipse">
              <a:avLst/>
            </a:prstGeom>
            <a:solidFill>
              <a:srgbClr val="434343"/>
            </a:solidFill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Y</a:t>
              </a: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ACB856CC-F1A4-469C-8A46-21A4C2F4C2B9}"/>
                </a:ext>
              </a:extLst>
            </p:cNvPr>
            <p:cNvSpPr/>
            <p:nvPr/>
          </p:nvSpPr>
          <p:spPr>
            <a:xfrm>
              <a:off x="2258199" y="2037198"/>
              <a:ext cx="434602" cy="403319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 w="38100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X</a:t>
              </a: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AB1F8168-CBE5-4B9B-B138-EF5A561D7C71}"/>
                </a:ext>
              </a:extLst>
            </p:cNvPr>
            <p:cNvCxnSpPr>
              <a:cxnSpLocks/>
              <a:stCxn id="17" idx="6"/>
              <a:endCxn id="16" idx="2"/>
            </p:cNvCxnSpPr>
            <p:nvPr/>
          </p:nvCxnSpPr>
          <p:spPr>
            <a:xfrm>
              <a:off x="2692801" y="2238858"/>
              <a:ext cx="697206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F21555F3-E8FA-4AD5-B942-8C9D8FFF13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2048" y="1089791"/>
            <a:ext cx="6387905" cy="5677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45424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A962E-623F-4A33-9271-D822D9C94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12192000" cy="763600"/>
          </a:xfrm>
        </p:spPr>
        <p:txBody>
          <a:bodyPr/>
          <a:lstStyle/>
          <a:p>
            <a:pPr algn="ctr"/>
            <a:r>
              <a:rPr lang="en-GB" dirty="0"/>
              <a:t>Spurious correlations</a:t>
            </a:r>
          </a:p>
        </p:txBody>
      </p:sp>
      <p:sp>
        <p:nvSpPr>
          <p:cNvPr id="4" name="Google Shape;75;p15">
            <a:extLst>
              <a:ext uri="{FF2B5EF4-FFF2-40B4-BE49-F238E27FC236}">
                <a16:creationId xmlns:a16="http://schemas.microsoft.com/office/drawing/2014/main" id="{D3576E38-C5FF-4D1E-BF01-7E8DED020055}"/>
              </a:ext>
            </a:extLst>
          </p:cNvPr>
          <p:cNvSpPr/>
          <p:nvPr/>
        </p:nvSpPr>
        <p:spPr>
          <a:xfrm>
            <a:off x="4347584" y="693450"/>
            <a:ext cx="3496833" cy="140300"/>
          </a:xfrm>
          <a:custGeom>
            <a:avLst/>
            <a:gdLst/>
            <a:ahLst/>
            <a:cxnLst/>
            <a:rect l="l" t="t" r="r" b="b"/>
            <a:pathLst>
              <a:path w="104905" h="4209" extrusionOk="0">
                <a:moveTo>
                  <a:pt x="0" y="2010"/>
                </a:moveTo>
                <a:cubicBezTo>
                  <a:pt x="34411" y="-4246"/>
                  <a:pt x="71725" y="11060"/>
                  <a:pt x="104905" y="0"/>
                </a:cubicBezTo>
              </a:path>
            </a:pathLst>
          </a:custGeom>
          <a:noFill/>
          <a:ln w="19050" cap="flat" cmpd="sng">
            <a:solidFill>
              <a:srgbClr val="4C113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269D0486-88B7-4726-BC32-815475763AFF}"/>
              </a:ext>
            </a:extLst>
          </p:cNvPr>
          <p:cNvGrpSpPr/>
          <p:nvPr/>
        </p:nvGrpSpPr>
        <p:grpSpPr>
          <a:xfrm>
            <a:off x="5127928" y="1792345"/>
            <a:ext cx="2088545" cy="537760"/>
            <a:chOff x="2234836" y="4074007"/>
            <a:chExt cx="1566409" cy="403320"/>
          </a:xfrm>
        </p:grpSpPr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2ACE33B8-C5A6-4F98-9755-0547D01854CB}"/>
                </a:ext>
              </a:extLst>
            </p:cNvPr>
            <p:cNvSpPr/>
            <p:nvPr/>
          </p:nvSpPr>
          <p:spPr>
            <a:xfrm>
              <a:off x="3366644" y="4074007"/>
              <a:ext cx="434601" cy="403320"/>
            </a:xfrm>
            <a:prstGeom prst="ellipse">
              <a:avLst/>
            </a:prstGeom>
            <a:solidFill>
              <a:srgbClr val="434343"/>
            </a:solidFill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Y</a:t>
              </a:r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040BF24B-65C1-4101-9092-AD49AD343F57}"/>
                </a:ext>
              </a:extLst>
            </p:cNvPr>
            <p:cNvSpPr/>
            <p:nvPr/>
          </p:nvSpPr>
          <p:spPr>
            <a:xfrm>
              <a:off x="2234836" y="4074007"/>
              <a:ext cx="434602" cy="403319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 w="38100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X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B80581CF-3AFA-4D77-8E8E-5DA1C571546C}"/>
                  </a:ext>
                </a:extLst>
              </p:cNvPr>
              <p:cNvSpPr txBox="1"/>
              <p:nvPr/>
            </p:nvSpPr>
            <p:spPr>
              <a:xfrm>
                <a:off x="-2" y="3429000"/>
                <a:ext cx="12191999" cy="30469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2400" dirty="0">
                    <a:solidFill>
                      <a:srgbClr val="434343"/>
                    </a:solidFill>
                  </a:rPr>
                  <a:t>There is </a:t>
                </a:r>
                <a:r>
                  <a:rPr lang="en-GB" sz="2400" b="1" u="sng" dirty="0">
                    <a:solidFill>
                      <a:srgbClr val="434343"/>
                    </a:solidFill>
                  </a:rPr>
                  <a:t>no causal relationship</a:t>
                </a:r>
                <a:r>
                  <a:rPr lang="en-GB" sz="2400" dirty="0">
                    <a:solidFill>
                      <a:srgbClr val="434343"/>
                    </a:solidFill>
                  </a:rPr>
                  <a:t> of </a:t>
                </a:r>
                <a:r>
                  <a:rPr lang="en-GB" sz="2400" dirty="0">
                    <a:solidFill>
                      <a:srgbClr val="0070C0"/>
                    </a:solidFill>
                  </a:rPr>
                  <a:t>X</a:t>
                </a:r>
                <a:r>
                  <a:rPr lang="en-GB" sz="2400" dirty="0">
                    <a:solidFill>
                      <a:srgbClr val="434343"/>
                    </a:solidFill>
                  </a:rPr>
                  <a:t> on </a:t>
                </a:r>
                <a:r>
                  <a:rPr lang="en-GB" sz="2400" dirty="0">
                    <a:solidFill>
                      <a:schemeClr val="accent1"/>
                    </a:solidFill>
                  </a:rPr>
                  <a:t>Y</a:t>
                </a:r>
                <a:r>
                  <a:rPr lang="en-GB" sz="2400" dirty="0">
                    <a:solidFill>
                      <a:srgbClr val="434343"/>
                    </a:solidFill>
                  </a:rPr>
                  <a:t>.</a:t>
                </a:r>
              </a:p>
              <a:p>
                <a:pPr algn="ctr"/>
                <a:endParaRPr lang="en-GB" sz="2400" dirty="0">
                  <a:solidFill>
                    <a:srgbClr val="434343"/>
                  </a:solidFill>
                </a:endParaRPr>
              </a:p>
              <a:p>
                <a:pPr algn="ctr"/>
                <a:r>
                  <a:rPr lang="en-GB" sz="2400" dirty="0">
                    <a:solidFill>
                      <a:srgbClr val="434343"/>
                    </a:solidFill>
                  </a:rPr>
                  <a:t>The “effect” of </a:t>
                </a:r>
                <a:r>
                  <a:rPr lang="en-GB" sz="2400" dirty="0">
                    <a:solidFill>
                      <a:srgbClr val="0070C0"/>
                    </a:solidFill>
                  </a:rPr>
                  <a:t>X</a:t>
                </a:r>
                <a:r>
                  <a:rPr lang="en-GB" sz="2400" dirty="0">
                    <a:solidFill>
                      <a:srgbClr val="434343"/>
                    </a:solidFill>
                  </a:rPr>
                  <a:t> on </a:t>
                </a:r>
                <a:r>
                  <a:rPr lang="en-GB" sz="2400" dirty="0">
                    <a:solidFill>
                      <a:schemeClr val="accent1"/>
                    </a:solidFill>
                  </a:rPr>
                  <a:t>Y</a:t>
                </a:r>
                <a:r>
                  <a:rPr lang="en-GB" sz="2400" dirty="0">
                    <a:solidFill>
                      <a:srgbClr val="434343"/>
                    </a:solidFill>
                  </a:rPr>
                  <a:t> is only by chance </a:t>
                </a:r>
              </a:p>
              <a:p>
                <a:pPr algn="ctr"/>
                <a:endParaRPr lang="en-GB" sz="2400" dirty="0">
                  <a:solidFill>
                    <a:srgbClr val="434343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𝑁𝑢𝑚𝑏𝑒𝑟</m:t>
                      </m:r>
                      <m:r>
                        <a:rPr lang="en-GB" sz="24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𝑜𝑓</m:t>
                      </m:r>
                      <m:r>
                        <a:rPr lang="en-GB" sz="24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𝑁𝑖𝑐h𝑜𝑙𝑎𝑠</m:t>
                      </m:r>
                      <m:r>
                        <a:rPr lang="en-GB" sz="24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𝐶𝑎𝑔𝑒</m:t>
                      </m:r>
                      <m:r>
                        <a:rPr lang="en-GB" sz="24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𝐹𝑖𝑙𝑚𝑠</m:t>
                      </m:r>
                      <m:r>
                        <a:rPr lang="en-GB" sz="24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⊥ </m:t>
                      </m:r>
                      <m:r>
                        <a:rPr lang="en-GB" sz="2400" i="1" dirty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𝐷𝑟𝑜𝑤𝑛𝑖𝑛𝑔𝑠</m:t>
                      </m:r>
                      <m:r>
                        <a:rPr lang="en-GB" sz="2400" i="1" dirty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i="1" dirty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𝑖𝑛</m:t>
                      </m:r>
                      <m:r>
                        <a:rPr lang="en-GB" sz="2400" i="1" dirty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i="1" dirty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𝑠𝑤𝑖𝑚𝑚𝑖𝑛𝑔</m:t>
                      </m:r>
                      <m:r>
                        <a:rPr lang="en-GB" sz="2400" i="1" dirty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i="1" dirty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𝑝𝑜𝑜𝑙𝑠</m:t>
                      </m:r>
                    </m:oMath>
                  </m:oMathPara>
                </a14:m>
                <a:endParaRPr lang="en-GB" sz="2400" dirty="0">
                  <a:solidFill>
                    <a:srgbClr val="434343"/>
                  </a:solidFill>
                </a:endParaRPr>
              </a:p>
              <a:p>
                <a:pPr algn="ctr"/>
                <a:endParaRPr lang="en-GB" sz="2400" dirty="0">
                  <a:solidFill>
                    <a:srgbClr val="434343"/>
                  </a:solidFill>
                </a:endParaRPr>
              </a:p>
              <a:p>
                <a:pPr algn="ctr"/>
                <a:r>
                  <a:rPr lang="en-GB" sz="2400" dirty="0">
                    <a:solidFill>
                      <a:srgbClr val="434343"/>
                    </a:solidFill>
                  </a:rPr>
                  <a:t>With the model: </a:t>
                </a:r>
                <a14:m>
                  <m:oMath xmlns:m="http://schemas.openxmlformats.org/officeDocument/2006/math">
                    <m:r>
                      <a:rPr lang="en-GB" sz="24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GB" sz="2400" i="1">
                        <a:solidFill>
                          <a:srgbClr val="434343"/>
                        </a:solidFill>
                        <a:latin typeface="Cambria Math" panose="02040503050406030204" pitchFamily="18" charset="0"/>
                      </a:rPr>
                      <m:t> ~ </m:t>
                    </m:r>
                    <m:r>
                      <a:rPr lang="en-GB" sz="24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GB" sz="2400" dirty="0">
                    <a:solidFill>
                      <a:srgbClr val="434343"/>
                    </a:solidFill>
                  </a:rPr>
                  <a:t>, we might find a </a:t>
                </a:r>
                <a:r>
                  <a:rPr lang="en-GB" sz="2400" b="1" u="sng" dirty="0">
                    <a:solidFill>
                      <a:srgbClr val="434343"/>
                    </a:solidFill>
                  </a:rPr>
                  <a:t>false association</a:t>
                </a:r>
                <a:r>
                  <a:rPr lang="en-GB" sz="2400" dirty="0">
                    <a:solidFill>
                      <a:srgbClr val="434343"/>
                    </a:solidFill>
                  </a:rPr>
                  <a:t>.</a:t>
                </a:r>
              </a:p>
              <a:p>
                <a:pPr algn="ctr"/>
                <a:endParaRPr lang="en-GB" sz="2400" dirty="0">
                  <a:solidFill>
                    <a:srgbClr val="434343"/>
                  </a:solidFill>
                </a:endParaRPr>
              </a:p>
            </p:txBody>
          </p:sp>
        </mc:Choice>
        <mc:Fallback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B80581CF-3AFA-4D77-8E8E-5DA1C57154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" y="3429000"/>
                <a:ext cx="12191999" cy="3046988"/>
              </a:xfrm>
              <a:prstGeom prst="rect">
                <a:avLst/>
              </a:prstGeom>
              <a:blipFill>
                <a:blip r:embed="rId3"/>
                <a:stretch>
                  <a:fillRect t="-160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Chart, line chart&#10;&#10;Description automatically generated">
            <a:extLst>
              <a:ext uri="{FF2B5EF4-FFF2-40B4-BE49-F238E27FC236}">
                <a16:creationId xmlns:a16="http://schemas.microsoft.com/office/drawing/2014/main" id="{5D209167-685A-42DD-BDD6-33865418C0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7173" y="1304300"/>
            <a:ext cx="2938663" cy="1654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0573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A962E-623F-4A33-9271-D822D9C94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12192000" cy="763600"/>
          </a:xfrm>
        </p:spPr>
        <p:txBody>
          <a:bodyPr/>
          <a:lstStyle/>
          <a:p>
            <a:pPr algn="ctr"/>
            <a:r>
              <a:rPr lang="en-GB" dirty="0"/>
              <a:t>Spurious correlations</a:t>
            </a:r>
          </a:p>
        </p:txBody>
      </p:sp>
      <p:sp>
        <p:nvSpPr>
          <p:cNvPr id="4" name="Google Shape;75;p15">
            <a:extLst>
              <a:ext uri="{FF2B5EF4-FFF2-40B4-BE49-F238E27FC236}">
                <a16:creationId xmlns:a16="http://schemas.microsoft.com/office/drawing/2014/main" id="{D3576E38-C5FF-4D1E-BF01-7E8DED020055}"/>
              </a:ext>
            </a:extLst>
          </p:cNvPr>
          <p:cNvSpPr/>
          <p:nvPr/>
        </p:nvSpPr>
        <p:spPr>
          <a:xfrm>
            <a:off x="4347584" y="693450"/>
            <a:ext cx="3496833" cy="140300"/>
          </a:xfrm>
          <a:custGeom>
            <a:avLst/>
            <a:gdLst/>
            <a:ahLst/>
            <a:cxnLst/>
            <a:rect l="l" t="t" r="r" b="b"/>
            <a:pathLst>
              <a:path w="104905" h="4209" extrusionOk="0">
                <a:moveTo>
                  <a:pt x="0" y="2010"/>
                </a:moveTo>
                <a:cubicBezTo>
                  <a:pt x="34411" y="-4246"/>
                  <a:pt x="71725" y="11060"/>
                  <a:pt x="104905" y="0"/>
                </a:cubicBezTo>
              </a:path>
            </a:pathLst>
          </a:custGeom>
          <a:noFill/>
          <a:ln w="19050" cap="flat" cmpd="sng">
            <a:solidFill>
              <a:srgbClr val="4C113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FAA7C6F-EDEF-44FC-8DDB-287456C395E5}"/>
              </a:ext>
            </a:extLst>
          </p:cNvPr>
          <p:cNvGrpSpPr/>
          <p:nvPr/>
        </p:nvGrpSpPr>
        <p:grpSpPr>
          <a:xfrm>
            <a:off x="419364" y="3559651"/>
            <a:ext cx="2088545" cy="537760"/>
            <a:chOff x="2234836" y="4074007"/>
            <a:chExt cx="1566409" cy="40332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D8285DE4-C229-4BE7-A4B8-B39C5400361F}"/>
                </a:ext>
              </a:extLst>
            </p:cNvPr>
            <p:cNvSpPr/>
            <p:nvPr/>
          </p:nvSpPr>
          <p:spPr>
            <a:xfrm>
              <a:off x="3366644" y="4074007"/>
              <a:ext cx="434601" cy="403320"/>
            </a:xfrm>
            <a:prstGeom prst="ellipse">
              <a:avLst/>
            </a:prstGeom>
            <a:solidFill>
              <a:srgbClr val="434343"/>
            </a:solidFill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Y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1F198762-5BFF-447D-B8A7-CF3CDC0BE5E2}"/>
                </a:ext>
              </a:extLst>
            </p:cNvPr>
            <p:cNvSpPr/>
            <p:nvPr/>
          </p:nvSpPr>
          <p:spPr>
            <a:xfrm>
              <a:off x="2234836" y="4074007"/>
              <a:ext cx="434602" cy="403319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 w="38100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X</a:t>
              </a:r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7F6AFFB1-9066-4C47-B2FA-A6C19A9BBE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9221" y="1025495"/>
            <a:ext cx="6293559" cy="5593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53420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A962E-623F-4A33-9271-D822D9C94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12192000" cy="763600"/>
          </a:xfrm>
        </p:spPr>
        <p:txBody>
          <a:bodyPr/>
          <a:lstStyle/>
          <a:p>
            <a:pPr algn="ctr"/>
            <a:r>
              <a:rPr lang="en-GB" dirty="0"/>
              <a:t>The confounds</a:t>
            </a:r>
          </a:p>
        </p:txBody>
      </p:sp>
      <p:sp>
        <p:nvSpPr>
          <p:cNvPr id="4" name="Google Shape;75;p15">
            <a:extLst>
              <a:ext uri="{FF2B5EF4-FFF2-40B4-BE49-F238E27FC236}">
                <a16:creationId xmlns:a16="http://schemas.microsoft.com/office/drawing/2014/main" id="{D3576E38-C5FF-4D1E-BF01-7E8DED020055}"/>
              </a:ext>
            </a:extLst>
          </p:cNvPr>
          <p:cNvSpPr/>
          <p:nvPr/>
        </p:nvSpPr>
        <p:spPr>
          <a:xfrm>
            <a:off x="4347584" y="693450"/>
            <a:ext cx="3496833" cy="140300"/>
          </a:xfrm>
          <a:custGeom>
            <a:avLst/>
            <a:gdLst/>
            <a:ahLst/>
            <a:cxnLst/>
            <a:rect l="l" t="t" r="r" b="b"/>
            <a:pathLst>
              <a:path w="104905" h="4209" extrusionOk="0">
                <a:moveTo>
                  <a:pt x="0" y="2010"/>
                </a:moveTo>
                <a:cubicBezTo>
                  <a:pt x="34411" y="-4246"/>
                  <a:pt x="71725" y="11060"/>
                  <a:pt x="104905" y="0"/>
                </a:cubicBezTo>
              </a:path>
            </a:pathLst>
          </a:custGeom>
          <a:noFill/>
          <a:ln w="19050" cap="flat" cmpd="sng">
            <a:solidFill>
              <a:srgbClr val="4C113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606A284-FF7B-4214-B699-4381B44713D1}"/>
              </a:ext>
            </a:extLst>
          </p:cNvPr>
          <p:cNvGrpSpPr/>
          <p:nvPr/>
        </p:nvGrpSpPr>
        <p:grpSpPr>
          <a:xfrm>
            <a:off x="3553794" y="1178738"/>
            <a:ext cx="5198383" cy="5130639"/>
            <a:chOff x="3525957" y="830264"/>
            <a:chExt cx="3898787" cy="3847979"/>
          </a:xfrm>
        </p:grpSpPr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14BD0FBE-1901-44C1-B2BF-04A0F26F2F78}"/>
                </a:ext>
              </a:extLst>
            </p:cNvPr>
            <p:cNvGrpSpPr/>
            <p:nvPr/>
          </p:nvGrpSpPr>
          <p:grpSpPr>
            <a:xfrm>
              <a:off x="5476773" y="830264"/>
              <a:ext cx="1566409" cy="1594567"/>
              <a:chOff x="5476773" y="830264"/>
              <a:chExt cx="1566409" cy="1594567"/>
            </a:xfrm>
          </p:grpSpPr>
          <p:grpSp>
            <p:nvGrpSpPr>
              <p:cNvPr id="74" name="Group 73">
                <a:extLst>
                  <a:ext uri="{FF2B5EF4-FFF2-40B4-BE49-F238E27FC236}">
                    <a16:creationId xmlns:a16="http://schemas.microsoft.com/office/drawing/2014/main" id="{E6A70E16-FEC9-4152-B419-97B35E22CD42}"/>
                  </a:ext>
                </a:extLst>
              </p:cNvPr>
              <p:cNvGrpSpPr/>
              <p:nvPr/>
            </p:nvGrpSpPr>
            <p:grpSpPr>
              <a:xfrm>
                <a:off x="5476773" y="1341040"/>
                <a:ext cx="1566409" cy="1083791"/>
                <a:chOff x="6155850" y="1341040"/>
                <a:chExt cx="1566409" cy="1083791"/>
              </a:xfrm>
            </p:grpSpPr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533F65E5-54E3-4F6D-8E50-D41D0D93A99A}"/>
                    </a:ext>
                  </a:extLst>
                </p:cNvPr>
                <p:cNvSpPr/>
                <p:nvPr/>
              </p:nvSpPr>
              <p:spPr>
                <a:xfrm>
                  <a:off x="7287658" y="2021511"/>
                  <a:ext cx="434601" cy="403320"/>
                </a:xfrm>
                <a:prstGeom prst="ellipse">
                  <a:avLst/>
                </a:prstGeom>
                <a:solidFill>
                  <a:srgbClr val="434343"/>
                </a:solidFill>
                <a:ln w="38100"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Y</a:t>
                  </a:r>
                </a:p>
              </p:txBody>
            </p:sp>
            <p:sp>
              <p:nvSpPr>
                <p:cNvPr id="30" name="Oval 29">
                  <a:extLst>
                    <a:ext uri="{FF2B5EF4-FFF2-40B4-BE49-F238E27FC236}">
                      <a16:creationId xmlns:a16="http://schemas.microsoft.com/office/drawing/2014/main" id="{39613A30-CEA7-43EB-9DD4-31A2596A3525}"/>
                    </a:ext>
                  </a:extLst>
                </p:cNvPr>
                <p:cNvSpPr/>
                <p:nvPr/>
              </p:nvSpPr>
              <p:spPr>
                <a:xfrm>
                  <a:off x="6155850" y="2021511"/>
                  <a:ext cx="434602" cy="403319"/>
                </a:xfrm>
                <a:prstGeom prst="ellipse">
                  <a:avLst/>
                </a:prstGeom>
                <a:solidFill>
                  <a:schemeClr val="accent5">
                    <a:lumMod val="50000"/>
                  </a:schemeClr>
                </a:solidFill>
                <a:ln w="38100">
                  <a:solidFill>
                    <a:schemeClr val="accent5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X</a:t>
                  </a:r>
                </a:p>
              </p:txBody>
            </p:sp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4B801E74-A95D-44EA-B4DF-54DAACC4A3E1}"/>
                    </a:ext>
                  </a:extLst>
                </p:cNvPr>
                <p:cNvSpPr/>
                <p:nvPr/>
              </p:nvSpPr>
              <p:spPr>
                <a:xfrm>
                  <a:off x="6725536" y="1341040"/>
                  <a:ext cx="434601" cy="403319"/>
                </a:xfrm>
                <a:prstGeom prst="ellipse">
                  <a:avLst/>
                </a:prstGeom>
                <a:solidFill>
                  <a:schemeClr val="bg2">
                    <a:lumMod val="75000"/>
                  </a:schemeClr>
                </a:solidFill>
                <a:ln w="3810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Z</a:t>
                  </a:r>
                </a:p>
              </p:txBody>
            </p:sp>
            <p:cxnSp>
              <p:nvCxnSpPr>
                <p:cNvPr id="34" name="Straight Arrow Connector 33">
                  <a:extLst>
                    <a:ext uri="{FF2B5EF4-FFF2-40B4-BE49-F238E27FC236}">
                      <a16:creationId xmlns:a16="http://schemas.microsoft.com/office/drawing/2014/main" id="{A41A44C1-653D-4DC3-8B5B-5B648C14E08A}"/>
                    </a:ext>
                  </a:extLst>
                </p:cNvPr>
                <p:cNvCxnSpPr>
                  <a:stCxn id="32" idx="5"/>
                  <a:endCxn id="28" idx="1"/>
                </p:cNvCxnSpPr>
                <p:nvPr/>
              </p:nvCxnSpPr>
              <p:spPr>
                <a:xfrm>
                  <a:off x="7096491" y="1685294"/>
                  <a:ext cx="254813" cy="395282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Straight Arrow Connector 21">
                  <a:extLst>
                    <a:ext uri="{FF2B5EF4-FFF2-40B4-BE49-F238E27FC236}">
                      <a16:creationId xmlns:a16="http://schemas.microsoft.com/office/drawing/2014/main" id="{6AE978E5-F091-4821-96C6-B724F076F9B2}"/>
                    </a:ext>
                  </a:extLst>
                </p:cNvPr>
                <p:cNvCxnSpPr>
                  <a:stCxn id="30" idx="7"/>
                  <a:endCxn id="32" idx="3"/>
                </p:cNvCxnSpPr>
                <p:nvPr/>
              </p:nvCxnSpPr>
              <p:spPr>
                <a:xfrm flipV="1">
                  <a:off x="6526806" y="1685294"/>
                  <a:ext cx="262376" cy="395282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E9C42D1A-BCCF-453E-9579-4AFC9AB8A212}"/>
                  </a:ext>
                </a:extLst>
              </p:cNvPr>
              <p:cNvSpPr txBox="1"/>
              <p:nvPr/>
            </p:nvSpPr>
            <p:spPr>
              <a:xfrm>
                <a:off x="5991889" y="830264"/>
                <a:ext cx="589345" cy="34624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2400" dirty="0"/>
                  <a:t>Pipe</a:t>
                </a:r>
              </a:p>
            </p:txBody>
          </p:sp>
        </p:grpSp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354C2958-F320-4C48-A8CA-5C868A94C0AF}"/>
                </a:ext>
              </a:extLst>
            </p:cNvPr>
            <p:cNvGrpSpPr/>
            <p:nvPr/>
          </p:nvGrpSpPr>
          <p:grpSpPr>
            <a:xfrm>
              <a:off x="3525957" y="837131"/>
              <a:ext cx="1566409" cy="1603388"/>
              <a:chOff x="3525957" y="837131"/>
              <a:chExt cx="1566409" cy="1603388"/>
            </a:xfrm>
          </p:grpSpPr>
          <p:grpSp>
            <p:nvGrpSpPr>
              <p:cNvPr id="73" name="Group 72">
                <a:extLst>
                  <a:ext uri="{FF2B5EF4-FFF2-40B4-BE49-F238E27FC236}">
                    <a16:creationId xmlns:a16="http://schemas.microsoft.com/office/drawing/2014/main" id="{ADABC815-811B-49C9-992B-C158E810C735}"/>
                  </a:ext>
                </a:extLst>
              </p:cNvPr>
              <p:cNvGrpSpPr/>
              <p:nvPr/>
            </p:nvGrpSpPr>
            <p:grpSpPr>
              <a:xfrm>
                <a:off x="3525957" y="1356728"/>
                <a:ext cx="1566409" cy="1083791"/>
                <a:chOff x="4205034" y="1356728"/>
                <a:chExt cx="1566409" cy="1083791"/>
              </a:xfrm>
            </p:grpSpPr>
            <p:sp>
              <p:nvSpPr>
                <p:cNvPr id="18" name="Oval 17">
                  <a:extLst>
                    <a:ext uri="{FF2B5EF4-FFF2-40B4-BE49-F238E27FC236}">
                      <a16:creationId xmlns:a16="http://schemas.microsoft.com/office/drawing/2014/main" id="{75C522C8-ABFA-4058-9BAE-C456C9C05CF4}"/>
                    </a:ext>
                  </a:extLst>
                </p:cNvPr>
                <p:cNvSpPr/>
                <p:nvPr/>
              </p:nvSpPr>
              <p:spPr>
                <a:xfrm>
                  <a:off x="5336842" y="2037199"/>
                  <a:ext cx="434601" cy="403320"/>
                </a:xfrm>
                <a:prstGeom prst="ellipse">
                  <a:avLst/>
                </a:prstGeom>
                <a:solidFill>
                  <a:srgbClr val="434343"/>
                </a:solidFill>
                <a:ln w="38100"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Y</a:t>
                  </a:r>
                </a:p>
              </p:txBody>
            </p:sp>
            <p:sp>
              <p:nvSpPr>
                <p:cNvPr id="19" name="Oval 18">
                  <a:extLst>
                    <a:ext uri="{FF2B5EF4-FFF2-40B4-BE49-F238E27FC236}">
                      <a16:creationId xmlns:a16="http://schemas.microsoft.com/office/drawing/2014/main" id="{AD059DA1-CEFB-4BBD-A284-532D2AC070BD}"/>
                    </a:ext>
                  </a:extLst>
                </p:cNvPr>
                <p:cNvSpPr/>
                <p:nvPr/>
              </p:nvSpPr>
              <p:spPr>
                <a:xfrm>
                  <a:off x="4205034" y="2037199"/>
                  <a:ext cx="434602" cy="403319"/>
                </a:xfrm>
                <a:prstGeom prst="ellipse">
                  <a:avLst/>
                </a:prstGeom>
                <a:solidFill>
                  <a:schemeClr val="accent5">
                    <a:lumMod val="50000"/>
                  </a:schemeClr>
                </a:solidFill>
                <a:ln w="38100">
                  <a:solidFill>
                    <a:schemeClr val="accent5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X</a:t>
                  </a:r>
                </a:p>
              </p:txBody>
            </p:sp>
            <p:sp>
              <p:nvSpPr>
                <p:cNvPr id="20" name="Oval 19">
                  <a:extLst>
                    <a:ext uri="{FF2B5EF4-FFF2-40B4-BE49-F238E27FC236}">
                      <a16:creationId xmlns:a16="http://schemas.microsoft.com/office/drawing/2014/main" id="{4A4066AC-A54A-467D-88E0-DF35BA925149}"/>
                    </a:ext>
                  </a:extLst>
                </p:cNvPr>
                <p:cNvSpPr/>
                <p:nvPr/>
              </p:nvSpPr>
              <p:spPr>
                <a:xfrm>
                  <a:off x="4774720" y="1356728"/>
                  <a:ext cx="434601" cy="403319"/>
                </a:xfrm>
                <a:prstGeom prst="ellipse">
                  <a:avLst/>
                </a:prstGeom>
                <a:solidFill>
                  <a:srgbClr val="434343"/>
                </a:solidFill>
                <a:ln w="3810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Z</a:t>
                  </a:r>
                </a:p>
              </p:txBody>
            </p:sp>
            <p:cxnSp>
              <p:nvCxnSpPr>
                <p:cNvPr id="8" name="Straight Arrow Connector 7">
                  <a:extLst>
                    <a:ext uri="{FF2B5EF4-FFF2-40B4-BE49-F238E27FC236}">
                      <a16:creationId xmlns:a16="http://schemas.microsoft.com/office/drawing/2014/main" id="{A75A2A15-38D9-4ED3-93A0-ADB28A204398}"/>
                    </a:ext>
                  </a:extLst>
                </p:cNvPr>
                <p:cNvCxnSpPr>
                  <a:stCxn id="20" idx="3"/>
                  <a:endCxn id="19" idx="7"/>
                </p:cNvCxnSpPr>
                <p:nvPr/>
              </p:nvCxnSpPr>
              <p:spPr>
                <a:xfrm flipH="1">
                  <a:off x="4575990" y="1700982"/>
                  <a:ext cx="262376" cy="395282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" name="Straight Arrow Connector 11">
                  <a:extLst>
                    <a:ext uri="{FF2B5EF4-FFF2-40B4-BE49-F238E27FC236}">
                      <a16:creationId xmlns:a16="http://schemas.microsoft.com/office/drawing/2014/main" id="{28B291C2-904F-4007-89AA-0095EB52F029}"/>
                    </a:ext>
                  </a:extLst>
                </p:cNvPr>
                <p:cNvCxnSpPr>
                  <a:stCxn id="20" idx="5"/>
                  <a:endCxn id="18" idx="1"/>
                </p:cNvCxnSpPr>
                <p:nvPr/>
              </p:nvCxnSpPr>
              <p:spPr>
                <a:xfrm>
                  <a:off x="5145675" y="1700982"/>
                  <a:ext cx="254813" cy="395282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E4B113D6-8AAE-4097-851A-4EC467169931}"/>
                  </a:ext>
                </a:extLst>
              </p:cNvPr>
              <p:cNvSpPr txBox="1"/>
              <p:nvPr/>
            </p:nvSpPr>
            <p:spPr>
              <a:xfrm>
                <a:off x="4041874" y="837131"/>
                <a:ext cx="614591" cy="34624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2400" dirty="0"/>
                  <a:t>Fork</a:t>
                </a:r>
              </a:p>
            </p:txBody>
          </p:sp>
        </p:grpSp>
        <p:grpSp>
          <p:nvGrpSpPr>
            <p:cNvPr id="96" name="Group 95">
              <a:extLst>
                <a:ext uri="{FF2B5EF4-FFF2-40B4-BE49-F238E27FC236}">
                  <a16:creationId xmlns:a16="http://schemas.microsoft.com/office/drawing/2014/main" id="{78ED9010-4665-484F-8E6C-DA3A0A970AC1}"/>
                </a:ext>
              </a:extLst>
            </p:cNvPr>
            <p:cNvGrpSpPr/>
            <p:nvPr/>
          </p:nvGrpSpPr>
          <p:grpSpPr>
            <a:xfrm>
              <a:off x="3525957" y="3002543"/>
              <a:ext cx="1566409" cy="1652966"/>
              <a:chOff x="3525957" y="3002543"/>
              <a:chExt cx="1566409" cy="1652966"/>
            </a:xfrm>
          </p:grpSpPr>
          <p:grpSp>
            <p:nvGrpSpPr>
              <p:cNvPr id="70" name="Group 69">
                <a:extLst>
                  <a:ext uri="{FF2B5EF4-FFF2-40B4-BE49-F238E27FC236}">
                    <a16:creationId xmlns:a16="http://schemas.microsoft.com/office/drawing/2014/main" id="{80F3DDA8-C395-407E-9906-32803A28160A}"/>
                  </a:ext>
                </a:extLst>
              </p:cNvPr>
              <p:cNvGrpSpPr/>
              <p:nvPr/>
            </p:nvGrpSpPr>
            <p:grpSpPr>
              <a:xfrm>
                <a:off x="3525957" y="3571718"/>
                <a:ext cx="1566409" cy="1083791"/>
                <a:chOff x="4205034" y="3383452"/>
                <a:chExt cx="1566409" cy="1083791"/>
              </a:xfrm>
            </p:grpSpPr>
            <p:sp>
              <p:nvSpPr>
                <p:cNvPr id="23" name="Oval 22">
                  <a:extLst>
                    <a:ext uri="{FF2B5EF4-FFF2-40B4-BE49-F238E27FC236}">
                      <a16:creationId xmlns:a16="http://schemas.microsoft.com/office/drawing/2014/main" id="{2E45509B-490B-4D1A-9F28-C9A5842BB263}"/>
                    </a:ext>
                  </a:extLst>
                </p:cNvPr>
                <p:cNvSpPr/>
                <p:nvPr/>
              </p:nvSpPr>
              <p:spPr>
                <a:xfrm>
                  <a:off x="5336842" y="4063923"/>
                  <a:ext cx="434601" cy="403320"/>
                </a:xfrm>
                <a:prstGeom prst="ellipse">
                  <a:avLst/>
                </a:prstGeom>
                <a:solidFill>
                  <a:srgbClr val="434343"/>
                </a:solidFill>
                <a:ln w="38100"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Y</a:t>
                  </a:r>
                </a:p>
              </p:txBody>
            </p:sp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36BE5D0A-4C42-4390-AE7C-F0ED68019773}"/>
                    </a:ext>
                  </a:extLst>
                </p:cNvPr>
                <p:cNvSpPr/>
                <p:nvPr/>
              </p:nvSpPr>
              <p:spPr>
                <a:xfrm>
                  <a:off x="4205034" y="4063923"/>
                  <a:ext cx="434602" cy="403319"/>
                </a:xfrm>
                <a:prstGeom prst="ellipse">
                  <a:avLst/>
                </a:prstGeom>
                <a:solidFill>
                  <a:schemeClr val="accent5">
                    <a:lumMod val="50000"/>
                  </a:schemeClr>
                </a:solidFill>
                <a:ln w="38100">
                  <a:solidFill>
                    <a:schemeClr val="accent5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X</a:t>
                  </a:r>
                </a:p>
              </p:txBody>
            </p:sp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1F01C355-0AE3-4E43-B31E-6F67F82CCD9D}"/>
                    </a:ext>
                  </a:extLst>
                </p:cNvPr>
                <p:cNvSpPr/>
                <p:nvPr/>
              </p:nvSpPr>
              <p:spPr>
                <a:xfrm>
                  <a:off x="4774720" y="3383452"/>
                  <a:ext cx="434601" cy="403319"/>
                </a:xfrm>
                <a:prstGeom prst="ellipse">
                  <a:avLst/>
                </a:prstGeom>
                <a:solidFill>
                  <a:schemeClr val="bg2">
                    <a:lumMod val="75000"/>
                  </a:schemeClr>
                </a:solidFill>
                <a:ln w="3810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Z</a:t>
                  </a:r>
                </a:p>
              </p:txBody>
            </p:sp>
            <p:cxnSp>
              <p:nvCxnSpPr>
                <p:cNvPr id="36" name="Straight Arrow Connector 35">
                  <a:extLst>
                    <a:ext uri="{FF2B5EF4-FFF2-40B4-BE49-F238E27FC236}">
                      <a16:creationId xmlns:a16="http://schemas.microsoft.com/office/drawing/2014/main" id="{ADC4F697-437D-4542-850E-E5CD624387BF}"/>
                    </a:ext>
                  </a:extLst>
                </p:cNvPr>
                <p:cNvCxnSpPr>
                  <a:stCxn id="24" idx="7"/>
                  <a:endCxn id="25" idx="3"/>
                </p:cNvCxnSpPr>
                <p:nvPr/>
              </p:nvCxnSpPr>
              <p:spPr>
                <a:xfrm flipV="1">
                  <a:off x="4575990" y="3727706"/>
                  <a:ext cx="262376" cy="395282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Arrow Connector 37">
                  <a:extLst>
                    <a:ext uri="{FF2B5EF4-FFF2-40B4-BE49-F238E27FC236}">
                      <a16:creationId xmlns:a16="http://schemas.microsoft.com/office/drawing/2014/main" id="{D75AC29F-F300-4106-B39B-5A6067C1B02E}"/>
                    </a:ext>
                  </a:extLst>
                </p:cNvPr>
                <p:cNvCxnSpPr>
                  <a:stCxn id="23" idx="1"/>
                  <a:endCxn id="25" idx="5"/>
                </p:cNvCxnSpPr>
                <p:nvPr/>
              </p:nvCxnSpPr>
              <p:spPr>
                <a:xfrm flipH="1" flipV="1">
                  <a:off x="5145675" y="3727706"/>
                  <a:ext cx="254813" cy="395282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B55EC461-1B4D-48D9-9BB9-A14CB9D35624}"/>
                  </a:ext>
                </a:extLst>
              </p:cNvPr>
              <p:cNvSpPr txBox="1"/>
              <p:nvPr/>
            </p:nvSpPr>
            <p:spPr>
              <a:xfrm>
                <a:off x="3916253" y="3002543"/>
                <a:ext cx="947615" cy="34624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2400" dirty="0"/>
                  <a:t>Collider</a:t>
                </a:r>
              </a:p>
            </p:txBody>
          </p:sp>
        </p:grpSp>
        <p:grpSp>
          <p:nvGrpSpPr>
            <p:cNvPr id="97" name="Group 96">
              <a:extLst>
                <a:ext uri="{FF2B5EF4-FFF2-40B4-BE49-F238E27FC236}">
                  <a16:creationId xmlns:a16="http://schemas.microsoft.com/office/drawing/2014/main" id="{F9B8E94E-931F-4959-8839-F3CD81C64B46}"/>
                </a:ext>
              </a:extLst>
            </p:cNvPr>
            <p:cNvGrpSpPr/>
            <p:nvPr/>
          </p:nvGrpSpPr>
          <p:grpSpPr>
            <a:xfrm>
              <a:off x="5259472" y="3002542"/>
              <a:ext cx="2165272" cy="1675701"/>
              <a:chOff x="5259472" y="3002542"/>
              <a:chExt cx="2165272" cy="1675701"/>
            </a:xfrm>
          </p:grpSpPr>
          <p:grpSp>
            <p:nvGrpSpPr>
              <p:cNvPr id="69" name="Group 68">
                <a:extLst>
                  <a:ext uri="{FF2B5EF4-FFF2-40B4-BE49-F238E27FC236}">
                    <a16:creationId xmlns:a16="http://schemas.microsoft.com/office/drawing/2014/main" id="{1572508C-6C04-477C-BEE0-69897BE62DF7}"/>
                  </a:ext>
                </a:extLst>
              </p:cNvPr>
              <p:cNvGrpSpPr/>
              <p:nvPr/>
            </p:nvGrpSpPr>
            <p:grpSpPr>
              <a:xfrm>
                <a:off x="5259472" y="3482857"/>
                <a:ext cx="2165272" cy="1195386"/>
                <a:chOff x="5938549" y="3482857"/>
                <a:chExt cx="2165272" cy="1195386"/>
              </a:xfrm>
            </p:grpSpPr>
            <p:sp>
              <p:nvSpPr>
                <p:cNvPr id="42" name="Oval 41">
                  <a:extLst>
                    <a:ext uri="{FF2B5EF4-FFF2-40B4-BE49-F238E27FC236}">
                      <a16:creationId xmlns:a16="http://schemas.microsoft.com/office/drawing/2014/main" id="{6674F3F0-220D-4F18-B188-AAF77B01E2A1}"/>
                    </a:ext>
                  </a:extLst>
                </p:cNvPr>
                <p:cNvSpPr/>
                <p:nvPr/>
              </p:nvSpPr>
              <p:spPr>
                <a:xfrm>
                  <a:off x="7669220" y="3482857"/>
                  <a:ext cx="434601" cy="403320"/>
                </a:xfrm>
                <a:prstGeom prst="ellipse">
                  <a:avLst/>
                </a:prstGeom>
                <a:solidFill>
                  <a:srgbClr val="434343"/>
                </a:solidFill>
                <a:ln w="38100"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Y</a:t>
                  </a:r>
                </a:p>
              </p:txBody>
            </p:sp>
            <p:sp>
              <p:nvSpPr>
                <p:cNvPr id="43" name="Oval 42">
                  <a:extLst>
                    <a:ext uri="{FF2B5EF4-FFF2-40B4-BE49-F238E27FC236}">
                      <a16:creationId xmlns:a16="http://schemas.microsoft.com/office/drawing/2014/main" id="{2D53BDBE-54FC-442D-8CDE-41E6E793354A}"/>
                    </a:ext>
                  </a:extLst>
                </p:cNvPr>
                <p:cNvSpPr/>
                <p:nvPr/>
              </p:nvSpPr>
              <p:spPr>
                <a:xfrm>
                  <a:off x="5938549" y="3482858"/>
                  <a:ext cx="434602" cy="403319"/>
                </a:xfrm>
                <a:prstGeom prst="ellipse">
                  <a:avLst/>
                </a:prstGeom>
                <a:solidFill>
                  <a:schemeClr val="accent5">
                    <a:lumMod val="50000"/>
                  </a:schemeClr>
                </a:solidFill>
                <a:ln w="38100">
                  <a:solidFill>
                    <a:schemeClr val="accent5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X</a:t>
                  </a:r>
                </a:p>
              </p:txBody>
            </p: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480A74BE-D5F4-4C32-9151-8EC13A98740A}"/>
                    </a:ext>
                  </a:extLst>
                </p:cNvPr>
                <p:cNvSpPr/>
                <p:nvPr/>
              </p:nvSpPr>
              <p:spPr>
                <a:xfrm>
                  <a:off x="6803885" y="3482859"/>
                  <a:ext cx="434601" cy="403319"/>
                </a:xfrm>
                <a:prstGeom prst="ellipse">
                  <a:avLst/>
                </a:prstGeom>
                <a:solidFill>
                  <a:schemeClr val="bg2">
                    <a:lumMod val="75000"/>
                  </a:schemeClr>
                </a:solidFill>
                <a:ln w="3810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Z</a:t>
                  </a:r>
                </a:p>
              </p:txBody>
            </p:sp>
            <p:cxnSp>
              <p:nvCxnSpPr>
                <p:cNvPr id="45" name="Straight Arrow Connector 44">
                  <a:extLst>
                    <a:ext uri="{FF2B5EF4-FFF2-40B4-BE49-F238E27FC236}">
                      <a16:creationId xmlns:a16="http://schemas.microsoft.com/office/drawing/2014/main" id="{40013FDE-CAFD-45FF-82A7-CFFF72045FA6}"/>
                    </a:ext>
                  </a:extLst>
                </p:cNvPr>
                <p:cNvCxnSpPr>
                  <a:cxnSpLocks/>
                  <a:stCxn id="43" idx="6"/>
                  <a:endCxn id="44" idx="2"/>
                </p:cNvCxnSpPr>
                <p:nvPr/>
              </p:nvCxnSpPr>
              <p:spPr>
                <a:xfrm>
                  <a:off x="6373151" y="3684518"/>
                  <a:ext cx="430734" cy="1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Straight Arrow Connector 51">
                  <a:extLst>
                    <a:ext uri="{FF2B5EF4-FFF2-40B4-BE49-F238E27FC236}">
                      <a16:creationId xmlns:a16="http://schemas.microsoft.com/office/drawing/2014/main" id="{08C0A6E7-AF67-4C21-A2BF-5BBAE5D7F026}"/>
                    </a:ext>
                  </a:extLst>
                </p:cNvPr>
                <p:cNvCxnSpPr>
                  <a:stCxn id="44" idx="6"/>
                  <a:endCxn id="42" idx="2"/>
                </p:cNvCxnSpPr>
                <p:nvPr/>
              </p:nvCxnSpPr>
              <p:spPr>
                <a:xfrm flipV="1">
                  <a:off x="7238486" y="3684517"/>
                  <a:ext cx="430734" cy="2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3" name="Oval 52">
                  <a:extLst>
                    <a:ext uri="{FF2B5EF4-FFF2-40B4-BE49-F238E27FC236}">
                      <a16:creationId xmlns:a16="http://schemas.microsoft.com/office/drawing/2014/main" id="{0D74FCBD-9648-48D3-B3A4-8FB638E75F1C}"/>
                    </a:ext>
                  </a:extLst>
                </p:cNvPr>
                <p:cNvSpPr/>
                <p:nvPr/>
              </p:nvSpPr>
              <p:spPr>
                <a:xfrm>
                  <a:off x="6809961" y="4274924"/>
                  <a:ext cx="434601" cy="403319"/>
                </a:xfrm>
                <a:prstGeom prst="ellipse">
                  <a:avLst/>
                </a:prstGeom>
                <a:solidFill>
                  <a:schemeClr val="bg2">
                    <a:lumMod val="75000"/>
                  </a:schemeClr>
                </a:solidFill>
                <a:ln w="3810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V</a:t>
                  </a:r>
                </a:p>
              </p:txBody>
            </p:sp>
            <p:cxnSp>
              <p:nvCxnSpPr>
                <p:cNvPr id="55" name="Straight Arrow Connector 54">
                  <a:extLst>
                    <a:ext uri="{FF2B5EF4-FFF2-40B4-BE49-F238E27FC236}">
                      <a16:creationId xmlns:a16="http://schemas.microsoft.com/office/drawing/2014/main" id="{3517A162-BFD9-4153-959B-667DA7DA9D65}"/>
                    </a:ext>
                  </a:extLst>
                </p:cNvPr>
                <p:cNvCxnSpPr>
                  <a:stCxn id="44" idx="4"/>
                  <a:endCxn id="53" idx="0"/>
                </p:cNvCxnSpPr>
                <p:nvPr/>
              </p:nvCxnSpPr>
              <p:spPr>
                <a:xfrm>
                  <a:off x="7021186" y="3886178"/>
                  <a:ext cx="6076" cy="388746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CACA1F83-E692-469A-A7E6-FE1A4F1BA5C1}"/>
                  </a:ext>
                </a:extLst>
              </p:cNvPr>
              <p:cNvSpPr txBox="1"/>
              <p:nvPr/>
            </p:nvSpPr>
            <p:spPr>
              <a:xfrm>
                <a:off x="5772080" y="3002542"/>
                <a:ext cx="1353976" cy="34624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2400" dirty="0"/>
                  <a:t>Descendant</a:t>
                </a:r>
              </a:p>
            </p:txBody>
          </p:sp>
        </p:grpSp>
      </p:grp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84B8483-518F-43DA-B2A9-E81E8B45E5C2}"/>
              </a:ext>
            </a:extLst>
          </p:cNvPr>
          <p:cNvSpPr/>
          <p:nvPr/>
        </p:nvSpPr>
        <p:spPr>
          <a:xfrm>
            <a:off x="3415553" y="1178738"/>
            <a:ext cx="2329583" cy="2250263"/>
          </a:xfrm>
          <a:prstGeom prst="round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5DF6DD4-EC4F-4375-B56E-BACBFFD36765}"/>
              </a:ext>
            </a:extLst>
          </p:cNvPr>
          <p:cNvSpPr/>
          <p:nvPr/>
        </p:nvSpPr>
        <p:spPr>
          <a:xfrm>
            <a:off x="1730476" y="2199848"/>
            <a:ext cx="8731045" cy="2903040"/>
          </a:xfrm>
          <a:prstGeom prst="roundRect">
            <a:avLst/>
          </a:prstGeom>
          <a:solidFill>
            <a:schemeClr val="bg1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267" dirty="0">
                <a:solidFill>
                  <a:schemeClr val="accent2">
                    <a:lumMod val="75000"/>
                    <a:lumOff val="25000"/>
                  </a:schemeClr>
                </a:solidFill>
              </a:rPr>
              <a:t>In all confounds, the problem arises when we can predict Y from X when there is no </a:t>
            </a:r>
            <a:r>
              <a:rPr lang="en-GB" sz="4267" b="1" u="sng" dirty="0">
                <a:solidFill>
                  <a:schemeClr val="accent2">
                    <a:lumMod val="75000"/>
                    <a:lumOff val="25000"/>
                  </a:schemeClr>
                </a:solidFill>
              </a:rPr>
              <a:t>causal</a:t>
            </a:r>
            <a:r>
              <a:rPr lang="en-GB" sz="4267" dirty="0">
                <a:solidFill>
                  <a:schemeClr val="accent2">
                    <a:lumMod val="75000"/>
                    <a:lumOff val="25000"/>
                  </a:schemeClr>
                </a:solidFill>
              </a:rPr>
              <a:t> relationship.</a:t>
            </a:r>
          </a:p>
        </p:txBody>
      </p:sp>
    </p:spTree>
    <p:extLst>
      <p:ext uri="{BB962C8B-B14F-4D97-AF65-F5344CB8AC3E}">
        <p14:creationId xmlns:p14="http://schemas.microsoft.com/office/powerpoint/2010/main" val="3178277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A962E-623F-4A33-9271-D822D9C94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12192000" cy="763600"/>
          </a:xfrm>
        </p:spPr>
        <p:txBody>
          <a:bodyPr/>
          <a:lstStyle/>
          <a:p>
            <a:pPr algn="ctr"/>
            <a:r>
              <a:rPr lang="en-GB" dirty="0"/>
              <a:t>Forking confounds</a:t>
            </a:r>
          </a:p>
        </p:txBody>
      </p:sp>
      <p:sp>
        <p:nvSpPr>
          <p:cNvPr id="4" name="Google Shape;75;p15">
            <a:extLst>
              <a:ext uri="{FF2B5EF4-FFF2-40B4-BE49-F238E27FC236}">
                <a16:creationId xmlns:a16="http://schemas.microsoft.com/office/drawing/2014/main" id="{D3576E38-C5FF-4D1E-BF01-7E8DED020055}"/>
              </a:ext>
            </a:extLst>
          </p:cNvPr>
          <p:cNvSpPr/>
          <p:nvPr/>
        </p:nvSpPr>
        <p:spPr>
          <a:xfrm>
            <a:off x="4347584" y="693450"/>
            <a:ext cx="3496833" cy="140300"/>
          </a:xfrm>
          <a:custGeom>
            <a:avLst/>
            <a:gdLst/>
            <a:ahLst/>
            <a:cxnLst/>
            <a:rect l="l" t="t" r="r" b="b"/>
            <a:pathLst>
              <a:path w="104905" h="4209" extrusionOk="0">
                <a:moveTo>
                  <a:pt x="0" y="2010"/>
                </a:moveTo>
                <a:cubicBezTo>
                  <a:pt x="34411" y="-4246"/>
                  <a:pt x="71725" y="11060"/>
                  <a:pt x="104905" y="0"/>
                </a:cubicBezTo>
              </a:path>
            </a:pathLst>
          </a:custGeom>
          <a:noFill/>
          <a:ln w="19050" cap="flat" cmpd="sng">
            <a:solidFill>
              <a:srgbClr val="4C113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ADABC815-811B-49C9-992B-C158E810C735}"/>
              </a:ext>
            </a:extLst>
          </p:cNvPr>
          <p:cNvGrpSpPr/>
          <p:nvPr/>
        </p:nvGrpSpPr>
        <p:grpSpPr>
          <a:xfrm>
            <a:off x="226712" y="196605"/>
            <a:ext cx="2088545" cy="1445055"/>
            <a:chOff x="4205034" y="1356728"/>
            <a:chExt cx="1566409" cy="1083791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75C522C8-ABFA-4058-9BAE-C456C9C05CF4}"/>
                </a:ext>
              </a:extLst>
            </p:cNvPr>
            <p:cNvSpPr/>
            <p:nvPr/>
          </p:nvSpPr>
          <p:spPr>
            <a:xfrm>
              <a:off x="5336842" y="2037199"/>
              <a:ext cx="434601" cy="403320"/>
            </a:xfrm>
            <a:prstGeom prst="ellipse">
              <a:avLst/>
            </a:prstGeom>
            <a:solidFill>
              <a:srgbClr val="434343"/>
            </a:solidFill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Y</a:t>
              </a: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AD059DA1-CEFB-4BBD-A284-532D2AC070BD}"/>
                </a:ext>
              </a:extLst>
            </p:cNvPr>
            <p:cNvSpPr/>
            <p:nvPr/>
          </p:nvSpPr>
          <p:spPr>
            <a:xfrm>
              <a:off x="4205034" y="2037199"/>
              <a:ext cx="434602" cy="403319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 w="38100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X</a:t>
              </a: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4A4066AC-A54A-467D-88E0-DF35BA925149}"/>
                </a:ext>
              </a:extLst>
            </p:cNvPr>
            <p:cNvSpPr/>
            <p:nvPr/>
          </p:nvSpPr>
          <p:spPr>
            <a:xfrm>
              <a:off x="4774720" y="1356728"/>
              <a:ext cx="434601" cy="403319"/>
            </a:xfrm>
            <a:prstGeom prst="ellipse">
              <a:avLst/>
            </a:prstGeom>
            <a:solidFill>
              <a:srgbClr val="434343"/>
            </a:solidFill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Z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A75A2A15-38D9-4ED3-93A0-ADB28A204398}"/>
                </a:ext>
              </a:extLst>
            </p:cNvPr>
            <p:cNvCxnSpPr>
              <a:stCxn id="20" idx="3"/>
              <a:endCxn id="19" idx="7"/>
            </p:cNvCxnSpPr>
            <p:nvPr/>
          </p:nvCxnSpPr>
          <p:spPr>
            <a:xfrm flipH="1">
              <a:off x="4575990" y="1700982"/>
              <a:ext cx="262376" cy="39528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28B291C2-904F-4007-89AA-0095EB52F029}"/>
                </a:ext>
              </a:extLst>
            </p:cNvPr>
            <p:cNvCxnSpPr>
              <a:stCxn id="20" idx="5"/>
              <a:endCxn id="18" idx="1"/>
            </p:cNvCxnSpPr>
            <p:nvPr/>
          </p:nvCxnSpPr>
          <p:spPr>
            <a:xfrm>
              <a:off x="5145675" y="1700982"/>
              <a:ext cx="254813" cy="39528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7343D169-1E90-41FF-8889-7F0834C9253E}"/>
                  </a:ext>
                </a:extLst>
              </p:cNvPr>
              <p:cNvSpPr txBox="1"/>
              <p:nvPr/>
            </p:nvSpPr>
            <p:spPr>
              <a:xfrm>
                <a:off x="108155" y="2058298"/>
                <a:ext cx="7010400" cy="48851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400" dirty="0">
                    <a:solidFill>
                      <a:srgbClr val="434343"/>
                    </a:solidFill>
                  </a:rPr>
                  <a:t>There is </a:t>
                </a:r>
                <a:r>
                  <a:rPr lang="en-GB" sz="2400" b="1" u="sng" dirty="0">
                    <a:solidFill>
                      <a:srgbClr val="434343"/>
                    </a:solidFill>
                  </a:rPr>
                  <a:t>no causal relationship</a:t>
                </a:r>
                <a:r>
                  <a:rPr lang="en-GB" sz="2400" b="1" dirty="0">
                    <a:solidFill>
                      <a:srgbClr val="434343"/>
                    </a:solidFill>
                  </a:rPr>
                  <a:t> </a:t>
                </a:r>
                <a:r>
                  <a:rPr lang="en-GB" sz="2400" dirty="0">
                    <a:solidFill>
                      <a:srgbClr val="434343"/>
                    </a:solidFill>
                  </a:rPr>
                  <a:t>of </a:t>
                </a:r>
                <a:r>
                  <a:rPr lang="en-GB" sz="2400" dirty="0">
                    <a:solidFill>
                      <a:srgbClr val="0070C0"/>
                    </a:solidFill>
                  </a:rPr>
                  <a:t>X</a:t>
                </a:r>
                <a:r>
                  <a:rPr lang="en-GB" sz="2400" dirty="0">
                    <a:solidFill>
                      <a:srgbClr val="434343"/>
                    </a:solidFill>
                  </a:rPr>
                  <a:t> on </a:t>
                </a:r>
                <a:r>
                  <a:rPr lang="en-GB" sz="2400" dirty="0">
                    <a:solidFill>
                      <a:schemeClr val="accent1"/>
                    </a:solidFill>
                  </a:rPr>
                  <a:t>Y</a:t>
                </a:r>
                <a:r>
                  <a:rPr lang="en-GB" sz="2400" dirty="0">
                    <a:solidFill>
                      <a:srgbClr val="434343"/>
                    </a:solidFill>
                  </a:rPr>
                  <a:t>.</a:t>
                </a:r>
              </a:p>
              <a:p>
                <a:endParaRPr lang="en-GB" sz="2400" dirty="0">
                  <a:solidFill>
                    <a:srgbClr val="434343"/>
                  </a:solidFill>
                </a:endParaRPr>
              </a:p>
              <a:p>
                <a:r>
                  <a:rPr lang="en-GB" sz="2400" dirty="0">
                    <a:solidFill>
                      <a:srgbClr val="00B050"/>
                    </a:solidFill>
                  </a:rPr>
                  <a:t>Z</a:t>
                </a:r>
                <a:r>
                  <a:rPr lang="en-GB" sz="2400" dirty="0">
                    <a:solidFill>
                      <a:srgbClr val="434343"/>
                    </a:solidFill>
                  </a:rPr>
                  <a:t> causes </a:t>
                </a:r>
                <a:r>
                  <a:rPr lang="en-GB" sz="2400" dirty="0">
                    <a:solidFill>
                      <a:schemeClr val="accent1"/>
                    </a:solidFill>
                  </a:rPr>
                  <a:t>Y</a:t>
                </a:r>
                <a:r>
                  <a:rPr lang="en-GB" sz="2400" dirty="0">
                    <a:solidFill>
                      <a:srgbClr val="434343"/>
                    </a:solidFill>
                  </a:rPr>
                  <a:t>, and </a:t>
                </a:r>
                <a:r>
                  <a:rPr lang="en-GB" sz="2400" dirty="0">
                    <a:solidFill>
                      <a:srgbClr val="00B050"/>
                    </a:solidFill>
                  </a:rPr>
                  <a:t>Z</a:t>
                </a:r>
                <a:r>
                  <a:rPr lang="en-GB" sz="2400" dirty="0">
                    <a:solidFill>
                      <a:srgbClr val="434343"/>
                    </a:solidFill>
                  </a:rPr>
                  <a:t> causes </a:t>
                </a:r>
                <a:r>
                  <a:rPr lang="en-GB" sz="2400" dirty="0">
                    <a:solidFill>
                      <a:srgbClr val="0070C0"/>
                    </a:solidFill>
                  </a:rPr>
                  <a:t>X</a:t>
                </a:r>
              </a:p>
              <a:p>
                <a:endParaRPr lang="en-GB" sz="2400" dirty="0">
                  <a:solidFill>
                    <a:srgbClr val="434343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24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𝑁𝑢𝑚𝑏𝑒𝑟</m:t>
                      </m:r>
                      <m:r>
                        <a:rPr lang="en-GB" sz="24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𝑜𝑓</m:t>
                      </m:r>
                      <m:r>
                        <a:rPr lang="en-GB" sz="24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𝑆𝑡𝑎𝑟𝑙𝑖𝑛𝑔𝑠</m:t>
                      </m:r>
                      <m:r>
                        <a:rPr lang="en-GB" sz="24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←</m:t>
                      </m:r>
                      <m:r>
                        <a:rPr lang="en-GB" sz="2400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𝐵𝑖𝑟𝑑</m:t>
                      </m:r>
                      <m:r>
                        <a:rPr lang="en-GB" sz="2400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𝑓𝑒𝑒𝑑𝑒𝑟</m:t>
                      </m:r>
                      <m:r>
                        <a:rPr lang="en-GB" sz="2400" i="1" dirty="0">
                          <a:solidFill>
                            <a:srgbClr val="434343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sz="2400" i="1" dirty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𝑁𝑢𝑚𝑏𝑒𝑟</m:t>
                      </m:r>
                      <m:r>
                        <a:rPr lang="en-GB" sz="2400" i="1" dirty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i="1" dirty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𝑜𝑓</m:t>
                      </m:r>
                      <m:r>
                        <a:rPr lang="en-GB" sz="2400" i="1" dirty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i="1" dirty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𝑆𝑝𝑎𝑟𝑟𝑜𝑤𝑠</m:t>
                      </m:r>
                    </m:oMath>
                  </m:oMathPara>
                </a14:m>
                <a:endParaRPr lang="en-GB" sz="2400" dirty="0">
                  <a:solidFill>
                    <a:srgbClr val="434343"/>
                  </a:solidFill>
                </a:endParaRPr>
              </a:p>
              <a:p>
                <a:endParaRPr lang="en-GB" sz="2400" dirty="0">
                  <a:solidFill>
                    <a:srgbClr val="434343"/>
                  </a:solidFill>
                </a:endParaRPr>
              </a:p>
              <a:p>
                <a:r>
                  <a:rPr lang="en-GB" sz="2400" dirty="0">
                    <a:solidFill>
                      <a:srgbClr val="434343"/>
                    </a:solidFill>
                  </a:rPr>
                  <a:t>With the model: </a:t>
                </a:r>
                <a14:m>
                  <m:oMath xmlns:m="http://schemas.openxmlformats.org/officeDocument/2006/math">
                    <m:r>
                      <a:rPr lang="en-GB" sz="24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GB" sz="24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𝑝𝑎𝑟𝑟𝑜𝑤</m:t>
                    </m:r>
                    <m:r>
                      <a:rPr lang="en-GB" sz="24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 ~ </m:t>
                    </m:r>
                    <m:r>
                      <a:rPr lang="en-GB" sz="24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𝑆𝑡𝑎𝑟𝑙𝑖𝑛𝑔𝑠</m:t>
                    </m:r>
                  </m:oMath>
                </a14:m>
                <a:r>
                  <a:rPr lang="en-GB" sz="2400" dirty="0">
                    <a:solidFill>
                      <a:srgbClr val="434343"/>
                    </a:solidFill>
                  </a:rPr>
                  <a:t>, </a:t>
                </a:r>
                <a:br>
                  <a:rPr lang="en-GB" sz="2400" dirty="0">
                    <a:solidFill>
                      <a:srgbClr val="434343"/>
                    </a:solidFill>
                  </a:rPr>
                </a:br>
                <a:r>
                  <a:rPr lang="en-GB" sz="2400" dirty="0">
                    <a:solidFill>
                      <a:srgbClr val="434343"/>
                    </a:solidFill>
                  </a:rPr>
                  <a:t>we will find a </a:t>
                </a:r>
                <a:r>
                  <a:rPr lang="en-GB" sz="2400" b="1" u="sng" dirty="0">
                    <a:solidFill>
                      <a:srgbClr val="434343"/>
                    </a:solidFill>
                  </a:rPr>
                  <a:t>false association</a:t>
                </a:r>
                <a:r>
                  <a:rPr lang="en-GB" sz="2400" dirty="0">
                    <a:solidFill>
                      <a:srgbClr val="434343"/>
                    </a:solidFill>
                  </a:rPr>
                  <a:t> </a:t>
                </a:r>
                <a:r>
                  <a:rPr lang="en-GB" sz="2400" dirty="0">
                    <a:solidFill>
                      <a:schemeClr val="tx2">
                        <a:lumMod val="25000"/>
                      </a:schemeClr>
                    </a:solidFill>
                  </a:rPr>
                  <a:t>between starlings and sparrows.</a:t>
                </a:r>
              </a:p>
              <a:p>
                <a:endParaRPr lang="en-GB" sz="2400" dirty="0">
                  <a:solidFill>
                    <a:srgbClr val="434343"/>
                  </a:solidFill>
                </a:endParaRPr>
              </a:p>
              <a:p>
                <a:r>
                  <a:rPr lang="en-GB" sz="2400" dirty="0">
                    <a:solidFill>
                      <a:srgbClr val="434343"/>
                    </a:solidFill>
                  </a:rPr>
                  <a:t>To prevent this, you need to </a:t>
                </a:r>
                <a:r>
                  <a:rPr lang="en-GB" sz="2400" b="1" u="sng" dirty="0">
                    <a:solidFill>
                      <a:srgbClr val="434343"/>
                    </a:solidFill>
                  </a:rPr>
                  <a:t>include Z</a:t>
                </a:r>
                <a:r>
                  <a:rPr lang="en-GB" sz="2400" dirty="0">
                    <a:solidFill>
                      <a:srgbClr val="434343"/>
                    </a:solidFill>
                  </a:rPr>
                  <a:t> in the model: </a:t>
                </a:r>
                <a14:m>
                  <m:oMath xmlns:m="http://schemas.openxmlformats.org/officeDocument/2006/math">
                    <m:r>
                      <a:rPr lang="en-GB" sz="24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𝑆𝑝𝑎𝑟𝑟𝑜𝑤</m:t>
                    </m:r>
                    <m:r>
                      <a:rPr lang="en-GB" sz="24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GB" sz="24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2400" i="1">
                        <a:solidFill>
                          <a:srgbClr val="434343"/>
                        </a:solidFill>
                        <a:latin typeface="Cambria Math" panose="02040503050406030204" pitchFamily="18" charset="0"/>
                      </a:rPr>
                      <m:t>~ </m:t>
                    </m:r>
                    <m:r>
                      <a:rPr lang="en-GB" sz="24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𝑆𝑡𝑎𝑟𝑙𝑖𝑛</m:t>
                    </m:r>
                    <m:r>
                      <a:rPr lang="en-GB" sz="24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𝑔𝑠</m:t>
                    </m:r>
                    <m:r>
                      <a:rPr lang="en-GB" sz="2400" i="1">
                        <a:solidFill>
                          <a:srgbClr val="434343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4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𝐵𝑖𝑟𝑑</m:t>
                    </m:r>
                    <m:r>
                      <a:rPr lang="en-GB" sz="24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24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𝑓𝑒𝑒𝑑𝑒𝑟</m:t>
                    </m:r>
                  </m:oMath>
                </a14:m>
                <a:r>
                  <a:rPr lang="en-GB" sz="2400" i="1" dirty="0">
                    <a:solidFill>
                      <a:srgbClr val="434343"/>
                    </a:solidFill>
                  </a:rPr>
                  <a:t>.</a:t>
                </a:r>
              </a:p>
            </p:txBody>
          </p:sp>
        </mc:Choice>
        <mc:Fallback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7343D169-1E90-41FF-8889-7F0834C925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155" y="2058298"/>
                <a:ext cx="7010400" cy="4885120"/>
              </a:xfrm>
              <a:prstGeom prst="rect">
                <a:avLst/>
              </a:prstGeom>
              <a:blipFill>
                <a:blip r:embed="rId3"/>
                <a:stretch>
                  <a:fillRect l="-1391" t="-999" r="-1043" b="-187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F0FA56F-944A-4F56-83CA-947B2AE91D99}"/>
              </a:ext>
            </a:extLst>
          </p:cNvPr>
          <p:cNvCxnSpPr>
            <a:stCxn id="19" idx="6"/>
            <a:endCxn id="18" idx="2"/>
          </p:cNvCxnSpPr>
          <p:nvPr/>
        </p:nvCxnSpPr>
        <p:spPr>
          <a:xfrm>
            <a:off x="806180" y="1372779"/>
            <a:ext cx="929608" cy="0"/>
          </a:xfrm>
          <a:prstGeom prst="straightConnector1">
            <a:avLst/>
          </a:prstGeom>
          <a:ln w="28575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61A45DF-FA7D-4CFA-8C84-F43A173AFB60}"/>
              </a:ext>
            </a:extLst>
          </p:cNvPr>
          <p:cNvGrpSpPr/>
          <p:nvPr/>
        </p:nvGrpSpPr>
        <p:grpSpPr>
          <a:xfrm>
            <a:off x="7281745" y="2155835"/>
            <a:ext cx="4484884" cy="3346397"/>
            <a:chOff x="5579295" y="1108057"/>
            <a:chExt cx="3363663" cy="2509798"/>
          </a:xfrm>
        </p:grpSpPr>
        <p:pic>
          <p:nvPicPr>
            <p:cNvPr id="6" name="Picture 5" descr="A picture containing bird, black, dark&#10;&#10;Description automatically generated">
              <a:extLst>
                <a:ext uri="{FF2B5EF4-FFF2-40B4-BE49-F238E27FC236}">
                  <a16:creationId xmlns:a16="http://schemas.microsoft.com/office/drawing/2014/main" id="{E05EB066-58C6-4164-9B01-9970A60F207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10839" r="10839"/>
            <a:stretch/>
          </p:blipFill>
          <p:spPr>
            <a:xfrm>
              <a:off x="5579295" y="2727421"/>
              <a:ext cx="1328386" cy="890434"/>
            </a:xfrm>
            <a:prstGeom prst="rect">
              <a:avLst/>
            </a:prstGeom>
            <a:ln w="57150">
              <a:solidFill>
                <a:srgbClr val="00B0F0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9" name="Picture 8" descr="A birdhouse in a field&#10;&#10;Description automatically generated with low confidence">
              <a:extLst>
                <a:ext uri="{FF2B5EF4-FFF2-40B4-BE49-F238E27FC236}">
                  <a16:creationId xmlns:a16="http://schemas.microsoft.com/office/drawing/2014/main" id="{7F046850-2AE3-4BA7-B003-6ED1C5CF032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713909" y="1108057"/>
              <a:ext cx="1084006" cy="1084006"/>
            </a:xfrm>
            <a:prstGeom prst="rect">
              <a:avLst/>
            </a:prstGeom>
            <a:ln w="57150">
              <a:solidFill>
                <a:srgbClr val="00B050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11" name="Picture 10" descr="A picture containing bird, outdoor, sparrow, oscine&#10;&#10;Description automatically generated">
              <a:extLst>
                <a:ext uri="{FF2B5EF4-FFF2-40B4-BE49-F238E27FC236}">
                  <a16:creationId xmlns:a16="http://schemas.microsoft.com/office/drawing/2014/main" id="{02A9898C-C0ED-4D06-8900-1994090E2F1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614572" y="2727421"/>
              <a:ext cx="1328386" cy="890434"/>
            </a:xfrm>
            <a:prstGeom prst="rect">
              <a:avLst/>
            </a:prstGeom>
            <a:ln w="57150">
              <a:solidFill>
                <a:srgbClr val="FFC000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C8D35AE5-67F5-43F8-9E6B-C911DF1CEB8C}"/>
                </a:ext>
              </a:extLst>
            </p:cNvPr>
            <p:cNvCxnSpPr>
              <a:cxnSpLocks/>
              <a:stCxn id="9" idx="2"/>
              <a:endCxn id="6" idx="0"/>
            </p:cNvCxnSpPr>
            <p:nvPr/>
          </p:nvCxnSpPr>
          <p:spPr>
            <a:xfrm flipH="1">
              <a:off x="6243488" y="2192063"/>
              <a:ext cx="1012424" cy="535358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41799E1D-4544-4F0C-B47D-B189155B082E}"/>
                </a:ext>
              </a:extLst>
            </p:cNvPr>
            <p:cNvCxnSpPr>
              <a:stCxn id="9" idx="2"/>
              <a:endCxn id="11" idx="0"/>
            </p:cNvCxnSpPr>
            <p:nvPr/>
          </p:nvCxnSpPr>
          <p:spPr>
            <a:xfrm>
              <a:off x="7255912" y="2192063"/>
              <a:ext cx="1022853" cy="535358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41569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Picture 64">
            <a:extLst>
              <a:ext uri="{FF2B5EF4-FFF2-40B4-BE49-F238E27FC236}">
                <a16:creationId xmlns:a16="http://schemas.microsoft.com/office/drawing/2014/main" id="{FC74024A-652F-42D1-9693-2077F05C33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1" y="1600741"/>
            <a:ext cx="5498864" cy="4886960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18C53C81-943A-4A97-876B-833D857F1E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135" y="1600741"/>
            <a:ext cx="5498864" cy="4886960"/>
          </a:xfrm>
          <a:prstGeom prst="rect">
            <a:avLst/>
          </a:prstGeom>
        </p:spPr>
      </p:pic>
      <p:grpSp>
        <p:nvGrpSpPr>
          <p:cNvPr id="51" name="Group 50">
            <a:extLst>
              <a:ext uri="{FF2B5EF4-FFF2-40B4-BE49-F238E27FC236}">
                <a16:creationId xmlns:a16="http://schemas.microsoft.com/office/drawing/2014/main" id="{30E27D06-4733-4FEB-8312-1CEB36FDFFC5}"/>
              </a:ext>
            </a:extLst>
          </p:cNvPr>
          <p:cNvGrpSpPr/>
          <p:nvPr/>
        </p:nvGrpSpPr>
        <p:grpSpPr>
          <a:xfrm>
            <a:off x="10433371" y="570227"/>
            <a:ext cx="1112965" cy="527043"/>
            <a:chOff x="7825028" y="427670"/>
            <a:chExt cx="834724" cy="395282"/>
          </a:xfrm>
        </p:grpSpPr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C7763E86-C99F-4E07-9966-D47CF42D2214}"/>
                </a:ext>
              </a:extLst>
            </p:cNvPr>
            <p:cNvCxnSpPr>
              <a:cxnSpLocks/>
              <a:stCxn id="25" idx="5"/>
              <a:endCxn id="22" idx="1"/>
            </p:cNvCxnSpPr>
            <p:nvPr/>
          </p:nvCxnSpPr>
          <p:spPr>
            <a:xfrm>
              <a:off x="8404939" y="427670"/>
              <a:ext cx="254813" cy="395282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46" name="Graphic 45" descr="Close with solid fill">
              <a:extLst>
                <a:ext uri="{FF2B5EF4-FFF2-40B4-BE49-F238E27FC236}">
                  <a16:creationId xmlns:a16="http://schemas.microsoft.com/office/drawing/2014/main" id="{63ED753D-9782-40E7-B4A6-402A0048725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825028" y="439361"/>
              <a:ext cx="333375" cy="333375"/>
            </a:xfrm>
            <a:prstGeom prst="rect">
              <a:avLst/>
            </a:prstGeom>
          </p:spPr>
        </p:pic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BB25795C-3C92-4F16-912F-F7DB548DE366}"/>
              </a:ext>
            </a:extLst>
          </p:cNvPr>
          <p:cNvGrpSpPr/>
          <p:nvPr/>
        </p:nvGrpSpPr>
        <p:grpSpPr>
          <a:xfrm>
            <a:off x="579853" y="500076"/>
            <a:ext cx="1099331" cy="527043"/>
            <a:chOff x="434890" y="375057"/>
            <a:chExt cx="824498" cy="395282"/>
          </a:xfrm>
        </p:grpSpPr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14A1FAAC-1D34-427D-B3AF-55CE5FFBA7B7}"/>
                </a:ext>
              </a:extLst>
            </p:cNvPr>
            <p:cNvCxnSpPr>
              <a:stCxn id="15" idx="7"/>
              <a:endCxn id="16" idx="3"/>
            </p:cNvCxnSpPr>
            <p:nvPr/>
          </p:nvCxnSpPr>
          <p:spPr>
            <a:xfrm flipV="1">
              <a:off x="434890" y="375057"/>
              <a:ext cx="262376" cy="395282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D5DB798A-37F1-446F-BA1A-D3FBC6D09495}"/>
                </a:ext>
              </a:extLst>
            </p:cNvPr>
            <p:cNvCxnSpPr>
              <a:cxnSpLocks/>
              <a:stCxn id="16" idx="5"/>
              <a:endCxn id="14" idx="1"/>
            </p:cNvCxnSpPr>
            <p:nvPr/>
          </p:nvCxnSpPr>
          <p:spPr>
            <a:xfrm>
              <a:off x="1004575" y="375057"/>
              <a:ext cx="254813" cy="395282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B8A962E-623F-4A33-9271-D822D9C94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12192000" cy="763600"/>
          </a:xfrm>
        </p:spPr>
        <p:txBody>
          <a:bodyPr/>
          <a:lstStyle/>
          <a:p>
            <a:pPr algn="ctr"/>
            <a:r>
              <a:rPr lang="en-GB" dirty="0"/>
              <a:t>Forking confounds</a:t>
            </a:r>
          </a:p>
        </p:txBody>
      </p:sp>
      <p:sp>
        <p:nvSpPr>
          <p:cNvPr id="4" name="Google Shape;75;p15">
            <a:extLst>
              <a:ext uri="{FF2B5EF4-FFF2-40B4-BE49-F238E27FC236}">
                <a16:creationId xmlns:a16="http://schemas.microsoft.com/office/drawing/2014/main" id="{D3576E38-C5FF-4D1E-BF01-7E8DED020055}"/>
              </a:ext>
            </a:extLst>
          </p:cNvPr>
          <p:cNvSpPr/>
          <p:nvPr/>
        </p:nvSpPr>
        <p:spPr>
          <a:xfrm>
            <a:off x="4347584" y="693450"/>
            <a:ext cx="3496833" cy="140300"/>
          </a:xfrm>
          <a:custGeom>
            <a:avLst/>
            <a:gdLst/>
            <a:ahLst/>
            <a:cxnLst/>
            <a:rect l="l" t="t" r="r" b="b"/>
            <a:pathLst>
              <a:path w="104905" h="4209" extrusionOk="0">
                <a:moveTo>
                  <a:pt x="0" y="2010"/>
                </a:moveTo>
                <a:cubicBezTo>
                  <a:pt x="34411" y="-4246"/>
                  <a:pt x="71725" y="11060"/>
                  <a:pt x="104905" y="0"/>
                </a:cubicBezTo>
              </a:path>
            </a:pathLst>
          </a:custGeom>
          <a:noFill/>
          <a:ln w="19050" cap="flat" cmpd="sng">
            <a:solidFill>
              <a:srgbClr val="4C113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548E9DE-A30C-4B67-9183-4ACA770F90D3}"/>
              </a:ext>
            </a:extLst>
          </p:cNvPr>
          <p:cNvGrpSpPr/>
          <p:nvPr/>
        </p:nvGrpSpPr>
        <p:grpSpPr>
          <a:xfrm>
            <a:off x="85246" y="41071"/>
            <a:ext cx="2088545" cy="1445055"/>
            <a:chOff x="4205034" y="1356728"/>
            <a:chExt cx="1566409" cy="1083791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146E9B16-A51C-4E14-BC09-479EAAE3FF91}"/>
                </a:ext>
              </a:extLst>
            </p:cNvPr>
            <p:cNvSpPr/>
            <p:nvPr/>
          </p:nvSpPr>
          <p:spPr>
            <a:xfrm>
              <a:off x="5336842" y="2037199"/>
              <a:ext cx="434601" cy="403320"/>
            </a:xfrm>
            <a:prstGeom prst="ellipse">
              <a:avLst/>
            </a:prstGeom>
            <a:solidFill>
              <a:srgbClr val="434343"/>
            </a:solidFill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Y</a:t>
              </a: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41F97C4B-7515-465E-BB12-B1AEE53A5D55}"/>
                </a:ext>
              </a:extLst>
            </p:cNvPr>
            <p:cNvSpPr/>
            <p:nvPr/>
          </p:nvSpPr>
          <p:spPr>
            <a:xfrm>
              <a:off x="4205034" y="2037199"/>
              <a:ext cx="434602" cy="403319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 w="38100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X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2F5A1F19-5671-439E-8A43-7389AD69DA2A}"/>
                </a:ext>
              </a:extLst>
            </p:cNvPr>
            <p:cNvSpPr/>
            <p:nvPr/>
          </p:nvSpPr>
          <p:spPr>
            <a:xfrm>
              <a:off x="4774720" y="1356728"/>
              <a:ext cx="434601" cy="403319"/>
            </a:xfrm>
            <a:prstGeom prst="ellipse">
              <a:avLst/>
            </a:prstGeom>
            <a:solidFill>
              <a:srgbClr val="434343"/>
            </a:solidFill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Z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D74A12AB-C2D1-481C-918C-DE34D84B33A5}"/>
                </a:ext>
              </a:extLst>
            </p:cNvPr>
            <p:cNvCxnSpPr>
              <a:stCxn id="16" idx="3"/>
              <a:endCxn id="15" idx="7"/>
            </p:cNvCxnSpPr>
            <p:nvPr/>
          </p:nvCxnSpPr>
          <p:spPr>
            <a:xfrm flipH="1">
              <a:off x="4575990" y="1700982"/>
              <a:ext cx="262376" cy="39528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7B32B62D-9B61-422B-82F2-A3C2D15CA33C}"/>
                </a:ext>
              </a:extLst>
            </p:cNvPr>
            <p:cNvCxnSpPr>
              <a:stCxn id="16" idx="5"/>
              <a:endCxn id="14" idx="1"/>
            </p:cNvCxnSpPr>
            <p:nvPr/>
          </p:nvCxnSpPr>
          <p:spPr>
            <a:xfrm>
              <a:off x="5145675" y="1700982"/>
              <a:ext cx="254813" cy="39528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2415B59-7042-4137-913A-01AE6780ADD4}"/>
              </a:ext>
            </a:extLst>
          </p:cNvPr>
          <p:cNvGrpSpPr/>
          <p:nvPr/>
        </p:nvGrpSpPr>
        <p:grpSpPr>
          <a:xfrm>
            <a:off x="9952398" y="111222"/>
            <a:ext cx="2088545" cy="1445055"/>
            <a:chOff x="4205034" y="1356728"/>
            <a:chExt cx="1566409" cy="1083791"/>
          </a:xfrm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78C1F863-96D1-4067-ABE1-CD14C99DDF0A}"/>
                </a:ext>
              </a:extLst>
            </p:cNvPr>
            <p:cNvSpPr/>
            <p:nvPr/>
          </p:nvSpPr>
          <p:spPr>
            <a:xfrm>
              <a:off x="5336842" y="2037199"/>
              <a:ext cx="434601" cy="403320"/>
            </a:xfrm>
            <a:prstGeom prst="ellipse">
              <a:avLst/>
            </a:prstGeom>
            <a:solidFill>
              <a:srgbClr val="434343"/>
            </a:solidFill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Y</a:t>
              </a: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E802B4D1-E4E9-450E-BEF7-A24B199F3D66}"/>
                </a:ext>
              </a:extLst>
            </p:cNvPr>
            <p:cNvSpPr/>
            <p:nvPr/>
          </p:nvSpPr>
          <p:spPr>
            <a:xfrm>
              <a:off x="4205034" y="2037199"/>
              <a:ext cx="434602" cy="403319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 w="38100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X</a:t>
              </a: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24B95E66-490B-48C5-984B-F38AEBB0E279}"/>
                </a:ext>
              </a:extLst>
            </p:cNvPr>
            <p:cNvSpPr/>
            <p:nvPr/>
          </p:nvSpPr>
          <p:spPr>
            <a:xfrm>
              <a:off x="4774720" y="1356728"/>
              <a:ext cx="434601" cy="403319"/>
            </a:xfrm>
            <a:prstGeom prst="ellipse">
              <a:avLst/>
            </a:prstGeom>
            <a:solidFill>
              <a:srgbClr val="434343"/>
            </a:solidFill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Z</a:t>
              </a:r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980970DA-2275-477F-85DF-F557316600DF}"/>
                </a:ext>
              </a:extLst>
            </p:cNvPr>
            <p:cNvCxnSpPr>
              <a:stCxn id="25" idx="3"/>
              <a:endCxn id="23" idx="7"/>
            </p:cNvCxnSpPr>
            <p:nvPr/>
          </p:nvCxnSpPr>
          <p:spPr>
            <a:xfrm flipH="1">
              <a:off x="4575990" y="1700982"/>
              <a:ext cx="262376" cy="39528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9B0CC8F8-3F00-4E81-A203-D0422EB92728}"/>
                </a:ext>
              </a:extLst>
            </p:cNvPr>
            <p:cNvCxnSpPr>
              <a:stCxn id="25" idx="5"/>
              <a:endCxn id="22" idx="1"/>
            </p:cNvCxnSpPr>
            <p:nvPr/>
          </p:nvCxnSpPr>
          <p:spPr>
            <a:xfrm>
              <a:off x="5145675" y="1700982"/>
              <a:ext cx="254813" cy="39528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1E509543-FFB5-4023-8F0A-7B3721CB8049}"/>
              </a:ext>
            </a:extLst>
          </p:cNvPr>
          <p:cNvGrpSpPr/>
          <p:nvPr/>
        </p:nvGrpSpPr>
        <p:grpSpPr>
          <a:xfrm>
            <a:off x="1637944" y="5144747"/>
            <a:ext cx="8886197" cy="1326776"/>
            <a:chOff x="1239675" y="2596842"/>
            <a:chExt cx="6664648" cy="995082"/>
          </a:xfrm>
        </p:grpSpPr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2924E01A-C015-4C61-863A-05168E0A211C}"/>
                </a:ext>
              </a:extLst>
            </p:cNvPr>
            <p:cNvSpPr/>
            <p:nvPr/>
          </p:nvSpPr>
          <p:spPr>
            <a:xfrm>
              <a:off x="1239675" y="2596842"/>
              <a:ext cx="2279276" cy="995082"/>
            </a:xfrm>
            <a:prstGeom prst="roundRect">
              <a:avLst/>
            </a:prstGeom>
            <a:solidFill>
              <a:schemeClr val="tx2">
                <a:lumMod val="50000"/>
              </a:schemeClr>
            </a:solidFill>
            <a:ln w="571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Path is open</a:t>
              </a:r>
            </a:p>
          </p:txBody>
        </p:sp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FDDBAD15-B8AA-4A5E-9A68-BF8AD88F415B}"/>
                </a:ext>
              </a:extLst>
            </p:cNvPr>
            <p:cNvSpPr/>
            <p:nvPr/>
          </p:nvSpPr>
          <p:spPr>
            <a:xfrm>
              <a:off x="5625047" y="2596842"/>
              <a:ext cx="2279276" cy="995082"/>
            </a:xfrm>
            <a:prstGeom prst="roundRect">
              <a:avLst/>
            </a:prstGeom>
            <a:solidFill>
              <a:schemeClr val="tx2">
                <a:lumMod val="50000"/>
              </a:schemeClr>
            </a:solidFill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Path is closed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39AD9B57-CF92-4695-AA36-077D36694751}"/>
              </a:ext>
            </a:extLst>
          </p:cNvPr>
          <p:cNvGrpSpPr/>
          <p:nvPr/>
        </p:nvGrpSpPr>
        <p:grpSpPr>
          <a:xfrm>
            <a:off x="1763936" y="3140470"/>
            <a:ext cx="3165261" cy="821884"/>
            <a:chOff x="5579295" y="2727421"/>
            <a:chExt cx="3363663" cy="890434"/>
          </a:xfrm>
        </p:grpSpPr>
        <p:pic>
          <p:nvPicPr>
            <p:cNvPr id="34" name="Picture 33" descr="A picture containing bird, black, dark&#10;&#10;Description automatically generated">
              <a:extLst>
                <a:ext uri="{FF2B5EF4-FFF2-40B4-BE49-F238E27FC236}">
                  <a16:creationId xmlns:a16="http://schemas.microsoft.com/office/drawing/2014/main" id="{0FF50F6F-2EF5-44EA-A2B6-01B001BAD88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/>
            <a:srcRect l="10839" r="10839"/>
            <a:stretch/>
          </p:blipFill>
          <p:spPr>
            <a:xfrm>
              <a:off x="5579295" y="2727421"/>
              <a:ext cx="1328386" cy="890434"/>
            </a:xfrm>
            <a:prstGeom prst="rect">
              <a:avLst/>
            </a:prstGeom>
            <a:ln w="57150">
              <a:solidFill>
                <a:srgbClr val="00B0F0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37" name="Picture 36" descr="A picture containing bird, outdoor, sparrow, oscine&#10;&#10;Description automatically generated">
              <a:extLst>
                <a:ext uri="{FF2B5EF4-FFF2-40B4-BE49-F238E27FC236}">
                  <a16:creationId xmlns:a16="http://schemas.microsoft.com/office/drawing/2014/main" id="{9A162CF4-5992-46AF-B142-29E80231B28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614572" y="2727421"/>
              <a:ext cx="1328386" cy="890434"/>
            </a:xfrm>
            <a:prstGeom prst="rect">
              <a:avLst/>
            </a:prstGeom>
            <a:ln w="57150">
              <a:solidFill>
                <a:srgbClr val="FFC000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2AC88BD2-E553-4839-98D8-B0092F4700F0}"/>
              </a:ext>
            </a:extLst>
          </p:cNvPr>
          <p:cNvGrpSpPr/>
          <p:nvPr/>
        </p:nvGrpSpPr>
        <p:grpSpPr>
          <a:xfrm>
            <a:off x="7421994" y="2303789"/>
            <a:ext cx="3165261" cy="2316580"/>
            <a:chOff x="5579295" y="1108057"/>
            <a:chExt cx="3363663" cy="2509798"/>
          </a:xfrm>
        </p:grpSpPr>
        <p:pic>
          <p:nvPicPr>
            <p:cNvPr id="41" name="Picture 40" descr="A picture containing bird, black, dark&#10;&#10;Description automatically generated">
              <a:extLst>
                <a:ext uri="{FF2B5EF4-FFF2-40B4-BE49-F238E27FC236}">
                  <a16:creationId xmlns:a16="http://schemas.microsoft.com/office/drawing/2014/main" id="{B522C3D3-F154-49C1-B530-4E07AF42B4D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/>
            <a:srcRect l="10839" r="10839"/>
            <a:stretch/>
          </p:blipFill>
          <p:spPr>
            <a:xfrm>
              <a:off x="5579295" y="2727421"/>
              <a:ext cx="1328386" cy="890434"/>
            </a:xfrm>
            <a:prstGeom prst="rect">
              <a:avLst/>
            </a:prstGeom>
            <a:ln w="57150">
              <a:solidFill>
                <a:srgbClr val="00B0F0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42" name="Picture 41" descr="A birdhouse in a field&#10;&#10;Description automatically generated with low confidence">
              <a:extLst>
                <a:ext uri="{FF2B5EF4-FFF2-40B4-BE49-F238E27FC236}">
                  <a16:creationId xmlns:a16="http://schemas.microsoft.com/office/drawing/2014/main" id="{B79CEA5B-ACA3-43A5-8BE9-BC104CEC4B6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713909" y="1108057"/>
              <a:ext cx="1084006" cy="1084006"/>
            </a:xfrm>
            <a:prstGeom prst="rect">
              <a:avLst/>
            </a:prstGeom>
            <a:ln w="57150">
              <a:solidFill>
                <a:srgbClr val="00B050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43" name="Picture 42" descr="A picture containing bird, outdoor, sparrow, oscine&#10;&#10;Description automatically generated">
              <a:extLst>
                <a:ext uri="{FF2B5EF4-FFF2-40B4-BE49-F238E27FC236}">
                  <a16:creationId xmlns:a16="http://schemas.microsoft.com/office/drawing/2014/main" id="{534309BC-329A-4903-A6AE-D12D38E4874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614572" y="2727421"/>
              <a:ext cx="1328386" cy="890434"/>
            </a:xfrm>
            <a:prstGeom prst="rect">
              <a:avLst/>
            </a:prstGeom>
            <a:ln w="57150">
              <a:solidFill>
                <a:srgbClr val="FFC000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C7A09F36-68F8-47C8-934C-57BFB28894C6}"/>
                </a:ext>
              </a:extLst>
            </p:cNvPr>
            <p:cNvCxnSpPr>
              <a:cxnSpLocks/>
              <a:stCxn id="42" idx="2"/>
              <a:endCxn id="43" idx="0"/>
            </p:cNvCxnSpPr>
            <p:nvPr/>
          </p:nvCxnSpPr>
          <p:spPr>
            <a:xfrm>
              <a:off x="7255912" y="2192063"/>
              <a:ext cx="1022853" cy="535358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62CC739F-DC9F-4FEB-830F-F3FA814A025F}"/>
              </a:ext>
            </a:extLst>
          </p:cNvPr>
          <p:cNvCxnSpPr>
            <a:stCxn id="34" idx="3"/>
            <a:endCxn id="37" idx="1"/>
          </p:cNvCxnSpPr>
          <p:nvPr/>
        </p:nvCxnSpPr>
        <p:spPr>
          <a:xfrm>
            <a:off x="3013969" y="3551412"/>
            <a:ext cx="665195" cy="0"/>
          </a:xfrm>
          <a:prstGeom prst="straightConnector1">
            <a:avLst/>
          </a:prstGeom>
          <a:ln w="381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0190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A962E-623F-4A33-9271-D822D9C94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12192000" cy="763600"/>
          </a:xfrm>
        </p:spPr>
        <p:txBody>
          <a:bodyPr/>
          <a:lstStyle/>
          <a:p>
            <a:pPr algn="ctr"/>
            <a:r>
              <a:rPr lang="en-GB" dirty="0"/>
              <a:t>Forking confound quiz</a:t>
            </a:r>
          </a:p>
        </p:txBody>
      </p:sp>
      <p:sp>
        <p:nvSpPr>
          <p:cNvPr id="4" name="Google Shape;75;p15">
            <a:extLst>
              <a:ext uri="{FF2B5EF4-FFF2-40B4-BE49-F238E27FC236}">
                <a16:creationId xmlns:a16="http://schemas.microsoft.com/office/drawing/2014/main" id="{D3576E38-C5FF-4D1E-BF01-7E8DED020055}"/>
              </a:ext>
            </a:extLst>
          </p:cNvPr>
          <p:cNvSpPr/>
          <p:nvPr/>
        </p:nvSpPr>
        <p:spPr>
          <a:xfrm>
            <a:off x="4347584" y="693450"/>
            <a:ext cx="3496833" cy="140300"/>
          </a:xfrm>
          <a:custGeom>
            <a:avLst/>
            <a:gdLst/>
            <a:ahLst/>
            <a:cxnLst/>
            <a:rect l="l" t="t" r="r" b="b"/>
            <a:pathLst>
              <a:path w="104905" h="4209" extrusionOk="0">
                <a:moveTo>
                  <a:pt x="0" y="2010"/>
                </a:moveTo>
                <a:cubicBezTo>
                  <a:pt x="34411" y="-4246"/>
                  <a:pt x="71725" y="11060"/>
                  <a:pt x="104905" y="0"/>
                </a:cubicBezTo>
              </a:path>
            </a:pathLst>
          </a:custGeom>
          <a:noFill/>
          <a:ln w="19050" cap="flat" cmpd="sng">
            <a:solidFill>
              <a:srgbClr val="4C113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76FDF11-46C5-4093-86B1-1CE301D0643A}"/>
              </a:ext>
            </a:extLst>
          </p:cNvPr>
          <p:cNvGrpSpPr/>
          <p:nvPr/>
        </p:nvGrpSpPr>
        <p:grpSpPr>
          <a:xfrm>
            <a:off x="85246" y="41071"/>
            <a:ext cx="2088545" cy="1445055"/>
            <a:chOff x="3788794" y="877967"/>
            <a:chExt cx="1566409" cy="1083791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146E9B16-A51C-4E14-BC09-479EAAE3FF91}"/>
                </a:ext>
              </a:extLst>
            </p:cNvPr>
            <p:cNvSpPr/>
            <p:nvPr/>
          </p:nvSpPr>
          <p:spPr>
            <a:xfrm>
              <a:off x="4920602" y="1558438"/>
              <a:ext cx="434601" cy="403320"/>
            </a:xfrm>
            <a:prstGeom prst="ellipse">
              <a:avLst/>
            </a:prstGeom>
            <a:solidFill>
              <a:srgbClr val="434343"/>
            </a:solidFill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Y</a:t>
              </a: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41F97C4B-7515-465E-BB12-B1AEE53A5D55}"/>
                </a:ext>
              </a:extLst>
            </p:cNvPr>
            <p:cNvSpPr/>
            <p:nvPr/>
          </p:nvSpPr>
          <p:spPr>
            <a:xfrm>
              <a:off x="3788794" y="1558438"/>
              <a:ext cx="434602" cy="403319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 w="38100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X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2F5A1F19-5671-439E-8A43-7389AD69DA2A}"/>
                </a:ext>
              </a:extLst>
            </p:cNvPr>
            <p:cNvSpPr/>
            <p:nvPr/>
          </p:nvSpPr>
          <p:spPr>
            <a:xfrm>
              <a:off x="4358480" y="877967"/>
              <a:ext cx="434601" cy="403319"/>
            </a:xfrm>
            <a:prstGeom prst="ellipse">
              <a:avLst/>
            </a:prstGeom>
            <a:solidFill>
              <a:srgbClr val="434343"/>
            </a:solidFill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Z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D74A12AB-C2D1-481C-918C-DE34D84B33A5}"/>
                </a:ext>
              </a:extLst>
            </p:cNvPr>
            <p:cNvCxnSpPr>
              <a:stCxn id="16" idx="3"/>
              <a:endCxn id="15" idx="7"/>
            </p:cNvCxnSpPr>
            <p:nvPr/>
          </p:nvCxnSpPr>
          <p:spPr>
            <a:xfrm flipH="1">
              <a:off x="4159750" y="1222221"/>
              <a:ext cx="262376" cy="39528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7B32B62D-9B61-422B-82F2-A3C2D15CA33C}"/>
                </a:ext>
              </a:extLst>
            </p:cNvPr>
            <p:cNvCxnSpPr>
              <a:cxnSpLocks/>
              <a:stCxn id="16" idx="5"/>
              <a:endCxn id="14" idx="1"/>
            </p:cNvCxnSpPr>
            <p:nvPr/>
          </p:nvCxnSpPr>
          <p:spPr>
            <a:xfrm>
              <a:off x="4729435" y="1222221"/>
              <a:ext cx="254813" cy="39528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3A4D7AD0-38BC-4B0C-AA10-58399B680096}"/>
                  </a:ext>
                </a:extLst>
              </p:cNvPr>
              <p:cNvSpPr txBox="1"/>
              <p:nvPr/>
            </p:nvSpPr>
            <p:spPr>
              <a:xfrm>
                <a:off x="0" y="1867852"/>
                <a:ext cx="12192000" cy="5027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GB" sz="2667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Clean</m:t>
                      </m:r>
                      <m:r>
                        <a:rPr lang="en-GB" sz="2667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GB" sz="2667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bedroom</m:t>
                      </m:r>
                      <m:r>
                        <a:rPr lang="en-GB" sz="2667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←</m:t>
                      </m:r>
                      <m:r>
                        <m:rPr>
                          <m:sty m:val="p"/>
                        </m:rPr>
                        <a:rPr lang="en-GB" sz="2667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Clean</m:t>
                      </m:r>
                      <m:r>
                        <a:rPr lang="en-GB" sz="2667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GB" sz="2667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freak</m:t>
                      </m:r>
                      <m:r>
                        <a:rPr lang="en-GB" sz="2667" dirty="0">
                          <a:solidFill>
                            <a:srgbClr val="434343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m:rPr>
                          <m:sty m:val="p"/>
                        </m:rPr>
                        <a:rPr lang="en-GB" sz="2667" dirty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Clean</m:t>
                      </m:r>
                      <m:r>
                        <a:rPr lang="en-GB" sz="2667" dirty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GB" sz="2667" dirty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toilet</m:t>
                      </m:r>
                    </m:oMath>
                  </m:oMathPara>
                </a14:m>
                <a:endParaRPr lang="en-GB" sz="2667" dirty="0">
                  <a:solidFill>
                    <a:srgbClr val="434343"/>
                  </a:solidFill>
                </a:endParaRPr>
              </a:p>
            </p:txBody>
          </p:sp>
        </mc:Choice>
        <mc:Fallback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3A4D7AD0-38BC-4B0C-AA10-58399B6800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867852"/>
                <a:ext cx="12192000" cy="50276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12C7AF16-67D7-41CE-8E91-4642F0C59711}"/>
              </a:ext>
            </a:extLst>
          </p:cNvPr>
          <p:cNvSpPr txBox="1"/>
          <p:nvPr/>
        </p:nvSpPr>
        <p:spPr>
          <a:xfrm>
            <a:off x="1" y="2558375"/>
            <a:ext cx="121920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If my bedroom is clean, what would you predict my bathroom looks like?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42C35C0-EEF2-4226-A8B2-B9C53F3CD77B}"/>
              </a:ext>
            </a:extLst>
          </p:cNvPr>
          <p:cNvSpPr txBox="1"/>
          <p:nvPr/>
        </p:nvSpPr>
        <p:spPr>
          <a:xfrm>
            <a:off x="1" y="5909635"/>
            <a:ext cx="121920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If you knew Z, would you still misattribute </a:t>
            </a:r>
            <a:r>
              <a:rPr lang="en-GB" sz="2400" dirty="0">
                <a:solidFill>
                  <a:srgbClr val="0070C0"/>
                </a:solidFill>
              </a:rPr>
              <a:t>clean bedrooms </a:t>
            </a:r>
            <a:r>
              <a:rPr lang="en-GB" sz="2400" dirty="0"/>
              <a:t>as causing </a:t>
            </a:r>
            <a:r>
              <a:rPr lang="en-GB" sz="2400" dirty="0">
                <a:solidFill>
                  <a:srgbClr val="FFC000"/>
                </a:solidFill>
              </a:rPr>
              <a:t>clean bathrooms</a:t>
            </a:r>
            <a:r>
              <a:rPr lang="en-GB" sz="2400" dirty="0"/>
              <a:t>?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E202F5B-08DB-4B90-AA18-4DB3F515682C}"/>
              </a:ext>
            </a:extLst>
          </p:cNvPr>
          <p:cNvSpPr/>
          <p:nvPr/>
        </p:nvSpPr>
        <p:spPr>
          <a:xfrm>
            <a:off x="5188382" y="1864705"/>
            <a:ext cx="2348137" cy="52928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chemeClr val="tx1"/>
                </a:solidFill>
                <a:latin typeface="+mj-lt"/>
              </a:rPr>
              <a:t>causes (?)</a:t>
            </a:r>
            <a:endParaRPr lang="en-GB" sz="3733" dirty="0">
              <a:solidFill>
                <a:schemeClr val="tx1"/>
              </a:solidFill>
            </a:endParaRP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9F0D65F9-3DBD-4381-A14F-B880D5F0F3B5}"/>
              </a:ext>
            </a:extLst>
          </p:cNvPr>
          <p:cNvGrpSpPr/>
          <p:nvPr/>
        </p:nvGrpSpPr>
        <p:grpSpPr>
          <a:xfrm>
            <a:off x="2230318" y="3138535"/>
            <a:ext cx="7662859" cy="2683383"/>
            <a:chOff x="1195742" y="2360362"/>
            <a:chExt cx="5747144" cy="2012537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1DCB17A4-88DA-471F-B45F-D9C88D9E82F6}"/>
                </a:ext>
              </a:extLst>
            </p:cNvPr>
            <p:cNvGrpSpPr/>
            <p:nvPr/>
          </p:nvGrpSpPr>
          <p:grpSpPr>
            <a:xfrm>
              <a:off x="1195742" y="2463152"/>
              <a:ext cx="5747144" cy="1850420"/>
              <a:chOff x="1169634" y="2416897"/>
              <a:chExt cx="5747144" cy="1850420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9" name="TextBox 18">
                    <a:extLst>
                      <a:ext uri="{FF2B5EF4-FFF2-40B4-BE49-F238E27FC236}">
                        <a16:creationId xmlns:a16="http://schemas.microsoft.com/office/drawing/2014/main" id="{C0986C1E-7E94-4F29-86BC-41CC2B823F5F}"/>
                      </a:ext>
                    </a:extLst>
                  </p:cNvPr>
                  <p:cNvSpPr txBox="1"/>
                  <p:nvPr/>
                </p:nvSpPr>
                <p:spPr>
                  <a:xfrm>
                    <a:off x="3992643" y="3022476"/>
                    <a:ext cx="607378" cy="623248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GB" sz="4800" i="1">
                              <a:latin typeface="Cambria Math" panose="02040503050406030204" pitchFamily="18" charset="0"/>
                            </a:rPr>
                            <m:t>=</m:t>
                          </m:r>
                        </m:oMath>
                      </m:oMathPara>
                    </a14:m>
                    <a:endParaRPr lang="en-GB" sz="4800" dirty="0"/>
                  </a:p>
                </p:txBody>
              </p:sp>
            </mc:Choice>
            <mc:Fallback>
              <p:sp>
                <p:nvSpPr>
                  <p:cNvPr id="19" name="TextBox 18">
                    <a:extLst>
                      <a:ext uri="{FF2B5EF4-FFF2-40B4-BE49-F238E27FC236}">
                        <a16:creationId xmlns:a16="http://schemas.microsoft.com/office/drawing/2014/main" id="{C0986C1E-7E94-4F29-86BC-41CC2B823F5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992643" y="3022476"/>
                    <a:ext cx="607378" cy="623248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9" name="TextBox 38">
                    <a:extLst>
                      <a:ext uri="{FF2B5EF4-FFF2-40B4-BE49-F238E27FC236}">
                        <a16:creationId xmlns:a16="http://schemas.microsoft.com/office/drawing/2014/main" id="{1BC3DFFE-A5D2-4B72-8FA0-D470DF2D3EB0}"/>
                      </a:ext>
                    </a:extLst>
                  </p:cNvPr>
                  <p:cNvSpPr txBox="1"/>
                  <p:nvPr/>
                </p:nvSpPr>
                <p:spPr>
                  <a:xfrm>
                    <a:off x="6459682" y="2990749"/>
                    <a:ext cx="457096" cy="623248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GB" sz="4800" i="1">
                              <a:latin typeface="Cambria Math" panose="02040503050406030204" pitchFamily="18" charset="0"/>
                            </a:rPr>
                            <m:t>?</m:t>
                          </m:r>
                        </m:oMath>
                      </m:oMathPara>
                    </a14:m>
                    <a:endParaRPr lang="en-GB" sz="4800" dirty="0"/>
                  </a:p>
                </p:txBody>
              </p:sp>
            </mc:Choice>
            <mc:Fallback>
              <p:sp>
                <p:nvSpPr>
                  <p:cNvPr id="39" name="TextBox 38">
                    <a:extLst>
                      <a:ext uri="{FF2B5EF4-FFF2-40B4-BE49-F238E27FC236}">
                        <a16:creationId xmlns:a16="http://schemas.microsoft.com/office/drawing/2014/main" id="{1BC3DFFE-A5D2-4B72-8FA0-D470DF2D3EB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459682" y="2990749"/>
                    <a:ext cx="457096" cy="623248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pic>
            <p:nvPicPr>
              <p:cNvPr id="27" name="Picture 26" descr="A bed in a room&#10;&#10;Description automatically generated with medium confidence">
                <a:extLst>
                  <a:ext uri="{FF2B5EF4-FFF2-40B4-BE49-F238E27FC236}">
                    <a16:creationId xmlns:a16="http://schemas.microsoft.com/office/drawing/2014/main" id="{3645D5BE-3D7E-4477-B61F-13753711A80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69634" y="2416897"/>
                <a:ext cx="2774243" cy="1850420"/>
              </a:xfrm>
              <a:prstGeom prst="rect">
                <a:avLst/>
              </a:prstGeom>
            </p:spPr>
          </p:pic>
        </p:grpSp>
        <p:pic>
          <p:nvPicPr>
            <p:cNvPr id="38" name="Picture 37" descr="A bathroom with graffiti on the walls&#10;&#10;Description automatically generated with medium confidence">
              <a:extLst>
                <a:ext uri="{FF2B5EF4-FFF2-40B4-BE49-F238E27FC236}">
                  <a16:creationId xmlns:a16="http://schemas.microsoft.com/office/drawing/2014/main" id="{D244CAEC-B618-4EA8-BA04-DE039C73BDD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713186" y="2360362"/>
              <a:ext cx="1650740" cy="928541"/>
            </a:xfrm>
            <a:prstGeom prst="rect">
              <a:avLst/>
            </a:prstGeom>
          </p:spPr>
        </p:pic>
        <p:pic>
          <p:nvPicPr>
            <p:cNvPr id="41" name="Picture 40" descr="A toilet and bathtub in a bathroom&#10;&#10;Description automatically generated with medium confidence">
              <a:extLst>
                <a:ext uri="{FF2B5EF4-FFF2-40B4-BE49-F238E27FC236}">
                  <a16:creationId xmlns:a16="http://schemas.microsoft.com/office/drawing/2014/main" id="{F0D46789-26C9-460C-935E-CFC80195150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713186" y="3275157"/>
              <a:ext cx="1650740" cy="1097742"/>
            </a:xfrm>
            <a:prstGeom prst="rect">
              <a:avLst/>
            </a:prstGeom>
          </p:spPr>
        </p:pic>
      </p:grp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0E14BFFC-E685-4221-9C37-CC1C76F56D40}"/>
              </a:ext>
            </a:extLst>
          </p:cNvPr>
          <p:cNvSpPr/>
          <p:nvPr/>
        </p:nvSpPr>
        <p:spPr>
          <a:xfrm>
            <a:off x="3619527" y="3403449"/>
            <a:ext cx="4944533" cy="2192867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667" dirty="0"/>
              <a:t>If we don’t want to misinterpret Clean Bedrooms as causing Clean Toilets, we </a:t>
            </a:r>
            <a:r>
              <a:rPr lang="en-GB" sz="2667" b="1" u="sng" dirty="0"/>
              <a:t>need to know</a:t>
            </a:r>
            <a:r>
              <a:rPr lang="en-GB" sz="2667" dirty="0"/>
              <a:t> if the person is a clean freak.</a:t>
            </a:r>
          </a:p>
        </p:txBody>
      </p:sp>
    </p:spTree>
    <p:extLst>
      <p:ext uri="{BB962C8B-B14F-4D97-AF65-F5344CB8AC3E}">
        <p14:creationId xmlns:p14="http://schemas.microsoft.com/office/powerpoint/2010/main" val="2148389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8" grpId="0"/>
      <p:bldP spid="33" grpId="0"/>
      <p:bldP spid="34" grpId="0" animBg="1"/>
      <p:bldP spid="34" grpId="1" animBg="1"/>
      <p:bldP spid="3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A962E-623F-4A33-9271-D822D9C94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12192000" cy="763600"/>
          </a:xfrm>
        </p:spPr>
        <p:txBody>
          <a:bodyPr/>
          <a:lstStyle/>
          <a:p>
            <a:pPr algn="ctr"/>
            <a:r>
              <a:rPr lang="en-GB" dirty="0"/>
              <a:t>The confounds</a:t>
            </a:r>
          </a:p>
        </p:txBody>
      </p:sp>
      <p:sp>
        <p:nvSpPr>
          <p:cNvPr id="4" name="Google Shape;75;p15">
            <a:extLst>
              <a:ext uri="{FF2B5EF4-FFF2-40B4-BE49-F238E27FC236}">
                <a16:creationId xmlns:a16="http://schemas.microsoft.com/office/drawing/2014/main" id="{D3576E38-C5FF-4D1E-BF01-7E8DED020055}"/>
              </a:ext>
            </a:extLst>
          </p:cNvPr>
          <p:cNvSpPr/>
          <p:nvPr/>
        </p:nvSpPr>
        <p:spPr>
          <a:xfrm>
            <a:off x="4347584" y="693450"/>
            <a:ext cx="3496833" cy="140300"/>
          </a:xfrm>
          <a:custGeom>
            <a:avLst/>
            <a:gdLst/>
            <a:ahLst/>
            <a:cxnLst/>
            <a:rect l="l" t="t" r="r" b="b"/>
            <a:pathLst>
              <a:path w="104905" h="4209" extrusionOk="0">
                <a:moveTo>
                  <a:pt x="0" y="2010"/>
                </a:moveTo>
                <a:cubicBezTo>
                  <a:pt x="34411" y="-4246"/>
                  <a:pt x="71725" y="11060"/>
                  <a:pt x="104905" y="0"/>
                </a:cubicBezTo>
              </a:path>
            </a:pathLst>
          </a:custGeom>
          <a:noFill/>
          <a:ln w="19050" cap="flat" cmpd="sng">
            <a:solidFill>
              <a:srgbClr val="4C113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606A284-FF7B-4214-B699-4381B44713D1}"/>
              </a:ext>
            </a:extLst>
          </p:cNvPr>
          <p:cNvGrpSpPr/>
          <p:nvPr/>
        </p:nvGrpSpPr>
        <p:grpSpPr>
          <a:xfrm>
            <a:off x="3553794" y="1178738"/>
            <a:ext cx="5198383" cy="5130639"/>
            <a:chOff x="3525957" y="830264"/>
            <a:chExt cx="3898787" cy="3847979"/>
          </a:xfrm>
        </p:grpSpPr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14BD0FBE-1901-44C1-B2BF-04A0F26F2F78}"/>
                </a:ext>
              </a:extLst>
            </p:cNvPr>
            <p:cNvGrpSpPr/>
            <p:nvPr/>
          </p:nvGrpSpPr>
          <p:grpSpPr>
            <a:xfrm>
              <a:off x="5476773" y="830264"/>
              <a:ext cx="1566409" cy="1594567"/>
              <a:chOff x="5476773" y="830264"/>
              <a:chExt cx="1566409" cy="1594567"/>
            </a:xfrm>
          </p:grpSpPr>
          <p:grpSp>
            <p:nvGrpSpPr>
              <p:cNvPr id="74" name="Group 73">
                <a:extLst>
                  <a:ext uri="{FF2B5EF4-FFF2-40B4-BE49-F238E27FC236}">
                    <a16:creationId xmlns:a16="http://schemas.microsoft.com/office/drawing/2014/main" id="{E6A70E16-FEC9-4152-B419-97B35E22CD42}"/>
                  </a:ext>
                </a:extLst>
              </p:cNvPr>
              <p:cNvGrpSpPr/>
              <p:nvPr/>
            </p:nvGrpSpPr>
            <p:grpSpPr>
              <a:xfrm>
                <a:off x="5476773" y="1341040"/>
                <a:ext cx="1566409" cy="1083791"/>
                <a:chOff x="6155850" y="1341040"/>
                <a:chExt cx="1566409" cy="1083791"/>
              </a:xfrm>
            </p:grpSpPr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533F65E5-54E3-4F6D-8E50-D41D0D93A99A}"/>
                    </a:ext>
                  </a:extLst>
                </p:cNvPr>
                <p:cNvSpPr/>
                <p:nvPr/>
              </p:nvSpPr>
              <p:spPr>
                <a:xfrm>
                  <a:off x="7287658" y="2021511"/>
                  <a:ext cx="434601" cy="403320"/>
                </a:xfrm>
                <a:prstGeom prst="ellipse">
                  <a:avLst/>
                </a:prstGeom>
                <a:solidFill>
                  <a:srgbClr val="434343"/>
                </a:solidFill>
                <a:ln w="38100"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Y</a:t>
                  </a:r>
                </a:p>
              </p:txBody>
            </p:sp>
            <p:sp>
              <p:nvSpPr>
                <p:cNvPr id="30" name="Oval 29">
                  <a:extLst>
                    <a:ext uri="{FF2B5EF4-FFF2-40B4-BE49-F238E27FC236}">
                      <a16:creationId xmlns:a16="http://schemas.microsoft.com/office/drawing/2014/main" id="{39613A30-CEA7-43EB-9DD4-31A2596A3525}"/>
                    </a:ext>
                  </a:extLst>
                </p:cNvPr>
                <p:cNvSpPr/>
                <p:nvPr/>
              </p:nvSpPr>
              <p:spPr>
                <a:xfrm>
                  <a:off x="6155850" y="2021511"/>
                  <a:ext cx="434602" cy="403319"/>
                </a:xfrm>
                <a:prstGeom prst="ellipse">
                  <a:avLst/>
                </a:prstGeom>
                <a:solidFill>
                  <a:schemeClr val="accent5">
                    <a:lumMod val="50000"/>
                  </a:schemeClr>
                </a:solidFill>
                <a:ln w="38100">
                  <a:solidFill>
                    <a:schemeClr val="accent5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X</a:t>
                  </a:r>
                </a:p>
              </p:txBody>
            </p:sp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4B801E74-A95D-44EA-B4DF-54DAACC4A3E1}"/>
                    </a:ext>
                  </a:extLst>
                </p:cNvPr>
                <p:cNvSpPr/>
                <p:nvPr/>
              </p:nvSpPr>
              <p:spPr>
                <a:xfrm>
                  <a:off x="6725536" y="1341040"/>
                  <a:ext cx="434601" cy="403319"/>
                </a:xfrm>
                <a:prstGeom prst="ellipse">
                  <a:avLst/>
                </a:prstGeom>
                <a:solidFill>
                  <a:schemeClr val="bg2">
                    <a:lumMod val="75000"/>
                  </a:schemeClr>
                </a:solidFill>
                <a:ln w="3810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Z</a:t>
                  </a:r>
                </a:p>
              </p:txBody>
            </p:sp>
            <p:cxnSp>
              <p:nvCxnSpPr>
                <p:cNvPr id="34" name="Straight Arrow Connector 33">
                  <a:extLst>
                    <a:ext uri="{FF2B5EF4-FFF2-40B4-BE49-F238E27FC236}">
                      <a16:creationId xmlns:a16="http://schemas.microsoft.com/office/drawing/2014/main" id="{A41A44C1-653D-4DC3-8B5B-5B648C14E08A}"/>
                    </a:ext>
                  </a:extLst>
                </p:cNvPr>
                <p:cNvCxnSpPr>
                  <a:stCxn id="32" idx="5"/>
                  <a:endCxn id="28" idx="1"/>
                </p:cNvCxnSpPr>
                <p:nvPr/>
              </p:nvCxnSpPr>
              <p:spPr>
                <a:xfrm>
                  <a:off x="7096491" y="1685294"/>
                  <a:ext cx="254813" cy="395282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Straight Arrow Connector 21">
                  <a:extLst>
                    <a:ext uri="{FF2B5EF4-FFF2-40B4-BE49-F238E27FC236}">
                      <a16:creationId xmlns:a16="http://schemas.microsoft.com/office/drawing/2014/main" id="{6AE978E5-F091-4821-96C6-B724F076F9B2}"/>
                    </a:ext>
                  </a:extLst>
                </p:cNvPr>
                <p:cNvCxnSpPr>
                  <a:stCxn id="30" idx="7"/>
                  <a:endCxn id="32" idx="3"/>
                </p:cNvCxnSpPr>
                <p:nvPr/>
              </p:nvCxnSpPr>
              <p:spPr>
                <a:xfrm flipV="1">
                  <a:off x="6526806" y="1685294"/>
                  <a:ext cx="262376" cy="395282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E9C42D1A-BCCF-453E-9579-4AFC9AB8A212}"/>
                  </a:ext>
                </a:extLst>
              </p:cNvPr>
              <p:cNvSpPr txBox="1"/>
              <p:nvPr/>
            </p:nvSpPr>
            <p:spPr>
              <a:xfrm>
                <a:off x="5991889" y="830264"/>
                <a:ext cx="589345" cy="34624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2400" dirty="0"/>
                  <a:t>Pipe</a:t>
                </a:r>
              </a:p>
            </p:txBody>
          </p:sp>
        </p:grpSp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354C2958-F320-4C48-A8CA-5C868A94C0AF}"/>
                </a:ext>
              </a:extLst>
            </p:cNvPr>
            <p:cNvGrpSpPr/>
            <p:nvPr/>
          </p:nvGrpSpPr>
          <p:grpSpPr>
            <a:xfrm>
              <a:off x="3525957" y="837131"/>
              <a:ext cx="1566409" cy="1603388"/>
              <a:chOff x="3525957" y="837131"/>
              <a:chExt cx="1566409" cy="1603388"/>
            </a:xfrm>
          </p:grpSpPr>
          <p:grpSp>
            <p:nvGrpSpPr>
              <p:cNvPr id="73" name="Group 72">
                <a:extLst>
                  <a:ext uri="{FF2B5EF4-FFF2-40B4-BE49-F238E27FC236}">
                    <a16:creationId xmlns:a16="http://schemas.microsoft.com/office/drawing/2014/main" id="{ADABC815-811B-49C9-992B-C158E810C735}"/>
                  </a:ext>
                </a:extLst>
              </p:cNvPr>
              <p:cNvGrpSpPr/>
              <p:nvPr/>
            </p:nvGrpSpPr>
            <p:grpSpPr>
              <a:xfrm>
                <a:off x="3525957" y="1356728"/>
                <a:ext cx="1566409" cy="1083791"/>
                <a:chOff x="4205034" y="1356728"/>
                <a:chExt cx="1566409" cy="1083791"/>
              </a:xfrm>
            </p:grpSpPr>
            <p:sp>
              <p:nvSpPr>
                <p:cNvPr id="18" name="Oval 17">
                  <a:extLst>
                    <a:ext uri="{FF2B5EF4-FFF2-40B4-BE49-F238E27FC236}">
                      <a16:creationId xmlns:a16="http://schemas.microsoft.com/office/drawing/2014/main" id="{75C522C8-ABFA-4058-9BAE-C456C9C05CF4}"/>
                    </a:ext>
                  </a:extLst>
                </p:cNvPr>
                <p:cNvSpPr/>
                <p:nvPr/>
              </p:nvSpPr>
              <p:spPr>
                <a:xfrm>
                  <a:off x="5336842" y="2037199"/>
                  <a:ext cx="434601" cy="403320"/>
                </a:xfrm>
                <a:prstGeom prst="ellipse">
                  <a:avLst/>
                </a:prstGeom>
                <a:solidFill>
                  <a:srgbClr val="434343"/>
                </a:solidFill>
                <a:ln w="38100"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Y</a:t>
                  </a:r>
                </a:p>
              </p:txBody>
            </p:sp>
            <p:sp>
              <p:nvSpPr>
                <p:cNvPr id="19" name="Oval 18">
                  <a:extLst>
                    <a:ext uri="{FF2B5EF4-FFF2-40B4-BE49-F238E27FC236}">
                      <a16:creationId xmlns:a16="http://schemas.microsoft.com/office/drawing/2014/main" id="{AD059DA1-CEFB-4BBD-A284-532D2AC070BD}"/>
                    </a:ext>
                  </a:extLst>
                </p:cNvPr>
                <p:cNvSpPr/>
                <p:nvPr/>
              </p:nvSpPr>
              <p:spPr>
                <a:xfrm>
                  <a:off x="4205034" y="2037199"/>
                  <a:ext cx="434602" cy="403319"/>
                </a:xfrm>
                <a:prstGeom prst="ellipse">
                  <a:avLst/>
                </a:prstGeom>
                <a:solidFill>
                  <a:schemeClr val="accent5">
                    <a:lumMod val="50000"/>
                  </a:schemeClr>
                </a:solidFill>
                <a:ln w="38100">
                  <a:solidFill>
                    <a:schemeClr val="accent5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X</a:t>
                  </a:r>
                </a:p>
              </p:txBody>
            </p:sp>
            <p:sp>
              <p:nvSpPr>
                <p:cNvPr id="20" name="Oval 19">
                  <a:extLst>
                    <a:ext uri="{FF2B5EF4-FFF2-40B4-BE49-F238E27FC236}">
                      <a16:creationId xmlns:a16="http://schemas.microsoft.com/office/drawing/2014/main" id="{4A4066AC-A54A-467D-88E0-DF35BA925149}"/>
                    </a:ext>
                  </a:extLst>
                </p:cNvPr>
                <p:cNvSpPr/>
                <p:nvPr/>
              </p:nvSpPr>
              <p:spPr>
                <a:xfrm>
                  <a:off x="4774720" y="1356728"/>
                  <a:ext cx="434601" cy="403319"/>
                </a:xfrm>
                <a:prstGeom prst="ellipse">
                  <a:avLst/>
                </a:prstGeom>
                <a:solidFill>
                  <a:srgbClr val="434343"/>
                </a:solidFill>
                <a:ln w="3810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Z</a:t>
                  </a:r>
                </a:p>
              </p:txBody>
            </p:sp>
            <p:cxnSp>
              <p:nvCxnSpPr>
                <p:cNvPr id="8" name="Straight Arrow Connector 7">
                  <a:extLst>
                    <a:ext uri="{FF2B5EF4-FFF2-40B4-BE49-F238E27FC236}">
                      <a16:creationId xmlns:a16="http://schemas.microsoft.com/office/drawing/2014/main" id="{A75A2A15-38D9-4ED3-93A0-ADB28A204398}"/>
                    </a:ext>
                  </a:extLst>
                </p:cNvPr>
                <p:cNvCxnSpPr>
                  <a:stCxn id="20" idx="3"/>
                  <a:endCxn id="19" idx="7"/>
                </p:cNvCxnSpPr>
                <p:nvPr/>
              </p:nvCxnSpPr>
              <p:spPr>
                <a:xfrm flipH="1">
                  <a:off x="4575990" y="1700982"/>
                  <a:ext cx="262376" cy="395282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" name="Straight Arrow Connector 11">
                  <a:extLst>
                    <a:ext uri="{FF2B5EF4-FFF2-40B4-BE49-F238E27FC236}">
                      <a16:creationId xmlns:a16="http://schemas.microsoft.com/office/drawing/2014/main" id="{28B291C2-904F-4007-89AA-0095EB52F029}"/>
                    </a:ext>
                  </a:extLst>
                </p:cNvPr>
                <p:cNvCxnSpPr>
                  <a:stCxn id="20" idx="5"/>
                  <a:endCxn id="18" idx="1"/>
                </p:cNvCxnSpPr>
                <p:nvPr/>
              </p:nvCxnSpPr>
              <p:spPr>
                <a:xfrm>
                  <a:off x="5145675" y="1700982"/>
                  <a:ext cx="254813" cy="395282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E4B113D6-8AAE-4097-851A-4EC467169931}"/>
                  </a:ext>
                </a:extLst>
              </p:cNvPr>
              <p:cNvSpPr txBox="1"/>
              <p:nvPr/>
            </p:nvSpPr>
            <p:spPr>
              <a:xfrm>
                <a:off x="4041874" y="837131"/>
                <a:ext cx="614591" cy="34624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2400" dirty="0"/>
                  <a:t>Fork</a:t>
                </a:r>
              </a:p>
            </p:txBody>
          </p:sp>
        </p:grpSp>
        <p:grpSp>
          <p:nvGrpSpPr>
            <p:cNvPr id="96" name="Group 95">
              <a:extLst>
                <a:ext uri="{FF2B5EF4-FFF2-40B4-BE49-F238E27FC236}">
                  <a16:creationId xmlns:a16="http://schemas.microsoft.com/office/drawing/2014/main" id="{78ED9010-4665-484F-8E6C-DA3A0A970AC1}"/>
                </a:ext>
              </a:extLst>
            </p:cNvPr>
            <p:cNvGrpSpPr/>
            <p:nvPr/>
          </p:nvGrpSpPr>
          <p:grpSpPr>
            <a:xfrm>
              <a:off x="3525957" y="3002543"/>
              <a:ext cx="1566409" cy="1652966"/>
              <a:chOff x="3525957" y="3002543"/>
              <a:chExt cx="1566409" cy="1652966"/>
            </a:xfrm>
          </p:grpSpPr>
          <p:grpSp>
            <p:nvGrpSpPr>
              <p:cNvPr id="70" name="Group 69">
                <a:extLst>
                  <a:ext uri="{FF2B5EF4-FFF2-40B4-BE49-F238E27FC236}">
                    <a16:creationId xmlns:a16="http://schemas.microsoft.com/office/drawing/2014/main" id="{80F3DDA8-C395-407E-9906-32803A28160A}"/>
                  </a:ext>
                </a:extLst>
              </p:cNvPr>
              <p:cNvGrpSpPr/>
              <p:nvPr/>
            </p:nvGrpSpPr>
            <p:grpSpPr>
              <a:xfrm>
                <a:off x="3525957" y="3571718"/>
                <a:ext cx="1566409" cy="1083791"/>
                <a:chOff x="4205034" y="3383452"/>
                <a:chExt cx="1566409" cy="1083791"/>
              </a:xfrm>
            </p:grpSpPr>
            <p:sp>
              <p:nvSpPr>
                <p:cNvPr id="23" name="Oval 22">
                  <a:extLst>
                    <a:ext uri="{FF2B5EF4-FFF2-40B4-BE49-F238E27FC236}">
                      <a16:creationId xmlns:a16="http://schemas.microsoft.com/office/drawing/2014/main" id="{2E45509B-490B-4D1A-9F28-C9A5842BB263}"/>
                    </a:ext>
                  </a:extLst>
                </p:cNvPr>
                <p:cNvSpPr/>
                <p:nvPr/>
              </p:nvSpPr>
              <p:spPr>
                <a:xfrm>
                  <a:off x="5336842" y="4063923"/>
                  <a:ext cx="434601" cy="403320"/>
                </a:xfrm>
                <a:prstGeom prst="ellipse">
                  <a:avLst/>
                </a:prstGeom>
                <a:solidFill>
                  <a:srgbClr val="434343"/>
                </a:solidFill>
                <a:ln w="38100"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Y</a:t>
                  </a:r>
                </a:p>
              </p:txBody>
            </p:sp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36BE5D0A-4C42-4390-AE7C-F0ED68019773}"/>
                    </a:ext>
                  </a:extLst>
                </p:cNvPr>
                <p:cNvSpPr/>
                <p:nvPr/>
              </p:nvSpPr>
              <p:spPr>
                <a:xfrm>
                  <a:off x="4205034" y="4063923"/>
                  <a:ext cx="434602" cy="403319"/>
                </a:xfrm>
                <a:prstGeom prst="ellipse">
                  <a:avLst/>
                </a:prstGeom>
                <a:solidFill>
                  <a:schemeClr val="accent5">
                    <a:lumMod val="50000"/>
                  </a:schemeClr>
                </a:solidFill>
                <a:ln w="38100">
                  <a:solidFill>
                    <a:schemeClr val="accent5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X</a:t>
                  </a:r>
                </a:p>
              </p:txBody>
            </p:sp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1F01C355-0AE3-4E43-B31E-6F67F82CCD9D}"/>
                    </a:ext>
                  </a:extLst>
                </p:cNvPr>
                <p:cNvSpPr/>
                <p:nvPr/>
              </p:nvSpPr>
              <p:spPr>
                <a:xfrm>
                  <a:off x="4774720" y="3383452"/>
                  <a:ext cx="434601" cy="403319"/>
                </a:xfrm>
                <a:prstGeom prst="ellipse">
                  <a:avLst/>
                </a:prstGeom>
                <a:solidFill>
                  <a:schemeClr val="bg2">
                    <a:lumMod val="75000"/>
                  </a:schemeClr>
                </a:solidFill>
                <a:ln w="3810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Z</a:t>
                  </a:r>
                </a:p>
              </p:txBody>
            </p:sp>
            <p:cxnSp>
              <p:nvCxnSpPr>
                <p:cNvPr id="36" name="Straight Arrow Connector 35">
                  <a:extLst>
                    <a:ext uri="{FF2B5EF4-FFF2-40B4-BE49-F238E27FC236}">
                      <a16:creationId xmlns:a16="http://schemas.microsoft.com/office/drawing/2014/main" id="{ADC4F697-437D-4542-850E-E5CD624387BF}"/>
                    </a:ext>
                  </a:extLst>
                </p:cNvPr>
                <p:cNvCxnSpPr>
                  <a:stCxn id="24" idx="7"/>
                  <a:endCxn id="25" idx="3"/>
                </p:cNvCxnSpPr>
                <p:nvPr/>
              </p:nvCxnSpPr>
              <p:spPr>
                <a:xfrm flipV="1">
                  <a:off x="4575990" y="3727706"/>
                  <a:ext cx="262376" cy="395282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Arrow Connector 37">
                  <a:extLst>
                    <a:ext uri="{FF2B5EF4-FFF2-40B4-BE49-F238E27FC236}">
                      <a16:creationId xmlns:a16="http://schemas.microsoft.com/office/drawing/2014/main" id="{D75AC29F-F300-4106-B39B-5A6067C1B02E}"/>
                    </a:ext>
                  </a:extLst>
                </p:cNvPr>
                <p:cNvCxnSpPr>
                  <a:stCxn id="23" idx="1"/>
                  <a:endCxn id="25" idx="5"/>
                </p:cNvCxnSpPr>
                <p:nvPr/>
              </p:nvCxnSpPr>
              <p:spPr>
                <a:xfrm flipH="1" flipV="1">
                  <a:off x="5145675" y="3727706"/>
                  <a:ext cx="254813" cy="395282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B55EC461-1B4D-48D9-9BB9-A14CB9D35624}"/>
                  </a:ext>
                </a:extLst>
              </p:cNvPr>
              <p:cNvSpPr txBox="1"/>
              <p:nvPr/>
            </p:nvSpPr>
            <p:spPr>
              <a:xfrm>
                <a:off x="3916253" y="3002543"/>
                <a:ext cx="947615" cy="34624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2400" dirty="0"/>
                  <a:t>Collider</a:t>
                </a:r>
              </a:p>
            </p:txBody>
          </p:sp>
        </p:grpSp>
        <p:grpSp>
          <p:nvGrpSpPr>
            <p:cNvPr id="97" name="Group 96">
              <a:extLst>
                <a:ext uri="{FF2B5EF4-FFF2-40B4-BE49-F238E27FC236}">
                  <a16:creationId xmlns:a16="http://schemas.microsoft.com/office/drawing/2014/main" id="{F9B8E94E-931F-4959-8839-F3CD81C64B46}"/>
                </a:ext>
              </a:extLst>
            </p:cNvPr>
            <p:cNvGrpSpPr/>
            <p:nvPr/>
          </p:nvGrpSpPr>
          <p:grpSpPr>
            <a:xfrm>
              <a:off x="5259472" y="3002542"/>
              <a:ext cx="2165272" cy="1675701"/>
              <a:chOff x="5259472" y="3002542"/>
              <a:chExt cx="2165272" cy="1675701"/>
            </a:xfrm>
          </p:grpSpPr>
          <p:grpSp>
            <p:nvGrpSpPr>
              <p:cNvPr id="69" name="Group 68">
                <a:extLst>
                  <a:ext uri="{FF2B5EF4-FFF2-40B4-BE49-F238E27FC236}">
                    <a16:creationId xmlns:a16="http://schemas.microsoft.com/office/drawing/2014/main" id="{1572508C-6C04-477C-BEE0-69897BE62DF7}"/>
                  </a:ext>
                </a:extLst>
              </p:cNvPr>
              <p:cNvGrpSpPr/>
              <p:nvPr/>
            </p:nvGrpSpPr>
            <p:grpSpPr>
              <a:xfrm>
                <a:off x="5259472" y="3482857"/>
                <a:ext cx="2165272" cy="1195386"/>
                <a:chOff x="5938549" y="3482857"/>
                <a:chExt cx="2165272" cy="1195386"/>
              </a:xfrm>
            </p:grpSpPr>
            <p:sp>
              <p:nvSpPr>
                <p:cNvPr id="42" name="Oval 41">
                  <a:extLst>
                    <a:ext uri="{FF2B5EF4-FFF2-40B4-BE49-F238E27FC236}">
                      <a16:creationId xmlns:a16="http://schemas.microsoft.com/office/drawing/2014/main" id="{6674F3F0-220D-4F18-B188-AAF77B01E2A1}"/>
                    </a:ext>
                  </a:extLst>
                </p:cNvPr>
                <p:cNvSpPr/>
                <p:nvPr/>
              </p:nvSpPr>
              <p:spPr>
                <a:xfrm>
                  <a:off x="7669220" y="3482857"/>
                  <a:ext cx="434601" cy="403320"/>
                </a:xfrm>
                <a:prstGeom prst="ellipse">
                  <a:avLst/>
                </a:prstGeom>
                <a:solidFill>
                  <a:srgbClr val="434343"/>
                </a:solidFill>
                <a:ln w="38100"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Y</a:t>
                  </a:r>
                </a:p>
              </p:txBody>
            </p:sp>
            <p:sp>
              <p:nvSpPr>
                <p:cNvPr id="43" name="Oval 42">
                  <a:extLst>
                    <a:ext uri="{FF2B5EF4-FFF2-40B4-BE49-F238E27FC236}">
                      <a16:creationId xmlns:a16="http://schemas.microsoft.com/office/drawing/2014/main" id="{2D53BDBE-54FC-442D-8CDE-41E6E793354A}"/>
                    </a:ext>
                  </a:extLst>
                </p:cNvPr>
                <p:cNvSpPr/>
                <p:nvPr/>
              </p:nvSpPr>
              <p:spPr>
                <a:xfrm>
                  <a:off x="5938549" y="3482858"/>
                  <a:ext cx="434602" cy="403319"/>
                </a:xfrm>
                <a:prstGeom prst="ellipse">
                  <a:avLst/>
                </a:prstGeom>
                <a:solidFill>
                  <a:schemeClr val="accent5">
                    <a:lumMod val="50000"/>
                  </a:schemeClr>
                </a:solidFill>
                <a:ln w="38100">
                  <a:solidFill>
                    <a:schemeClr val="accent5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X</a:t>
                  </a:r>
                </a:p>
              </p:txBody>
            </p: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480A74BE-D5F4-4C32-9151-8EC13A98740A}"/>
                    </a:ext>
                  </a:extLst>
                </p:cNvPr>
                <p:cNvSpPr/>
                <p:nvPr/>
              </p:nvSpPr>
              <p:spPr>
                <a:xfrm>
                  <a:off x="6803885" y="3482859"/>
                  <a:ext cx="434601" cy="403319"/>
                </a:xfrm>
                <a:prstGeom prst="ellipse">
                  <a:avLst/>
                </a:prstGeom>
                <a:solidFill>
                  <a:schemeClr val="bg2">
                    <a:lumMod val="75000"/>
                  </a:schemeClr>
                </a:solidFill>
                <a:ln w="3810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Z</a:t>
                  </a:r>
                </a:p>
              </p:txBody>
            </p:sp>
            <p:cxnSp>
              <p:nvCxnSpPr>
                <p:cNvPr id="45" name="Straight Arrow Connector 44">
                  <a:extLst>
                    <a:ext uri="{FF2B5EF4-FFF2-40B4-BE49-F238E27FC236}">
                      <a16:creationId xmlns:a16="http://schemas.microsoft.com/office/drawing/2014/main" id="{40013FDE-CAFD-45FF-82A7-CFFF72045FA6}"/>
                    </a:ext>
                  </a:extLst>
                </p:cNvPr>
                <p:cNvCxnSpPr>
                  <a:cxnSpLocks/>
                  <a:stCxn id="43" idx="6"/>
                  <a:endCxn id="44" idx="2"/>
                </p:cNvCxnSpPr>
                <p:nvPr/>
              </p:nvCxnSpPr>
              <p:spPr>
                <a:xfrm>
                  <a:off x="6373151" y="3684518"/>
                  <a:ext cx="430734" cy="1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Straight Arrow Connector 51">
                  <a:extLst>
                    <a:ext uri="{FF2B5EF4-FFF2-40B4-BE49-F238E27FC236}">
                      <a16:creationId xmlns:a16="http://schemas.microsoft.com/office/drawing/2014/main" id="{08C0A6E7-AF67-4C21-A2BF-5BBAE5D7F026}"/>
                    </a:ext>
                  </a:extLst>
                </p:cNvPr>
                <p:cNvCxnSpPr>
                  <a:stCxn id="44" idx="6"/>
                  <a:endCxn id="42" idx="2"/>
                </p:cNvCxnSpPr>
                <p:nvPr/>
              </p:nvCxnSpPr>
              <p:spPr>
                <a:xfrm flipV="1">
                  <a:off x="7238486" y="3684517"/>
                  <a:ext cx="430734" cy="2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3" name="Oval 52">
                  <a:extLst>
                    <a:ext uri="{FF2B5EF4-FFF2-40B4-BE49-F238E27FC236}">
                      <a16:creationId xmlns:a16="http://schemas.microsoft.com/office/drawing/2014/main" id="{0D74FCBD-9648-48D3-B3A4-8FB638E75F1C}"/>
                    </a:ext>
                  </a:extLst>
                </p:cNvPr>
                <p:cNvSpPr/>
                <p:nvPr/>
              </p:nvSpPr>
              <p:spPr>
                <a:xfrm>
                  <a:off x="6809961" y="4274924"/>
                  <a:ext cx="434601" cy="403319"/>
                </a:xfrm>
                <a:prstGeom prst="ellipse">
                  <a:avLst/>
                </a:prstGeom>
                <a:solidFill>
                  <a:schemeClr val="bg2">
                    <a:lumMod val="75000"/>
                  </a:schemeClr>
                </a:solidFill>
                <a:ln w="3810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V</a:t>
                  </a:r>
                </a:p>
              </p:txBody>
            </p:sp>
            <p:cxnSp>
              <p:nvCxnSpPr>
                <p:cNvPr id="55" name="Straight Arrow Connector 54">
                  <a:extLst>
                    <a:ext uri="{FF2B5EF4-FFF2-40B4-BE49-F238E27FC236}">
                      <a16:creationId xmlns:a16="http://schemas.microsoft.com/office/drawing/2014/main" id="{3517A162-BFD9-4153-959B-667DA7DA9D65}"/>
                    </a:ext>
                  </a:extLst>
                </p:cNvPr>
                <p:cNvCxnSpPr>
                  <a:stCxn id="44" idx="4"/>
                  <a:endCxn id="53" idx="0"/>
                </p:cNvCxnSpPr>
                <p:nvPr/>
              </p:nvCxnSpPr>
              <p:spPr>
                <a:xfrm>
                  <a:off x="7021186" y="3886178"/>
                  <a:ext cx="6076" cy="388746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CACA1F83-E692-469A-A7E6-FE1A4F1BA5C1}"/>
                  </a:ext>
                </a:extLst>
              </p:cNvPr>
              <p:cNvSpPr txBox="1"/>
              <p:nvPr/>
            </p:nvSpPr>
            <p:spPr>
              <a:xfrm>
                <a:off x="5772080" y="3002542"/>
                <a:ext cx="1353976" cy="34624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2400" dirty="0"/>
                  <a:t>Descendant</a:t>
                </a:r>
              </a:p>
            </p:txBody>
          </p:sp>
        </p:grpSp>
      </p:grp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84B8483-518F-43DA-B2A9-E81E8B45E5C2}"/>
              </a:ext>
            </a:extLst>
          </p:cNvPr>
          <p:cNvSpPr/>
          <p:nvPr/>
        </p:nvSpPr>
        <p:spPr>
          <a:xfrm>
            <a:off x="6062681" y="1215411"/>
            <a:ext cx="2329583" cy="2250263"/>
          </a:xfrm>
          <a:prstGeom prst="round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/>
          </a:p>
        </p:txBody>
      </p:sp>
    </p:spTree>
    <p:extLst>
      <p:ext uri="{BB962C8B-B14F-4D97-AF65-F5344CB8AC3E}">
        <p14:creationId xmlns:p14="http://schemas.microsoft.com/office/powerpoint/2010/main" val="17055617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031930FB-2F89-4CDF-8FC3-EA50E98EB02B}"/>
                  </a:ext>
                </a:extLst>
              </p:cNvPr>
              <p:cNvSpPr txBox="1"/>
              <p:nvPr/>
            </p:nvSpPr>
            <p:spPr>
              <a:xfrm>
                <a:off x="16835" y="2383926"/>
                <a:ext cx="7800448" cy="56237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400" dirty="0">
                    <a:solidFill>
                      <a:srgbClr val="434343"/>
                    </a:solidFill>
                  </a:rPr>
                  <a:t>There is an </a:t>
                </a:r>
                <a:r>
                  <a:rPr lang="en-GB" sz="2400" b="1" u="sng" dirty="0">
                    <a:solidFill>
                      <a:srgbClr val="434343"/>
                    </a:solidFill>
                  </a:rPr>
                  <a:t>indirect causal relationship</a:t>
                </a:r>
                <a:r>
                  <a:rPr lang="en-GB" sz="2400" dirty="0">
                    <a:solidFill>
                      <a:srgbClr val="434343"/>
                    </a:solidFill>
                  </a:rPr>
                  <a:t> between </a:t>
                </a:r>
                <a:r>
                  <a:rPr lang="en-GB" sz="2400" dirty="0">
                    <a:solidFill>
                      <a:srgbClr val="0070C0"/>
                    </a:solidFill>
                  </a:rPr>
                  <a:t>X</a:t>
                </a:r>
                <a:r>
                  <a:rPr lang="en-GB" sz="2400" dirty="0">
                    <a:solidFill>
                      <a:srgbClr val="434343"/>
                    </a:solidFill>
                  </a:rPr>
                  <a:t> and </a:t>
                </a:r>
                <a:r>
                  <a:rPr lang="en-GB" sz="2400" dirty="0">
                    <a:solidFill>
                      <a:schemeClr val="accent1"/>
                    </a:solidFill>
                  </a:rPr>
                  <a:t>Y</a:t>
                </a:r>
                <a:r>
                  <a:rPr lang="en-GB" sz="2400" dirty="0">
                    <a:solidFill>
                      <a:srgbClr val="434343"/>
                    </a:solidFill>
                  </a:rPr>
                  <a:t> </a:t>
                </a:r>
                <a:r>
                  <a:rPr lang="en-GB" sz="2400" i="1" dirty="0">
                    <a:solidFill>
                      <a:srgbClr val="434343"/>
                    </a:solidFill>
                  </a:rPr>
                  <a:t>through </a:t>
                </a:r>
                <a:r>
                  <a:rPr lang="en-GB" sz="2400" i="1" dirty="0">
                    <a:solidFill>
                      <a:srgbClr val="00B050"/>
                    </a:solidFill>
                  </a:rPr>
                  <a:t>Z</a:t>
                </a:r>
                <a:r>
                  <a:rPr lang="en-GB" sz="2400" dirty="0">
                    <a:solidFill>
                      <a:srgbClr val="434343"/>
                    </a:solidFill>
                  </a:rPr>
                  <a:t>.</a:t>
                </a:r>
              </a:p>
              <a:p>
                <a:endParaRPr lang="en-GB" sz="2400" dirty="0">
                  <a:solidFill>
                    <a:srgbClr val="434343"/>
                  </a:solidFill>
                </a:endParaRPr>
              </a:p>
              <a:p>
                <a:r>
                  <a:rPr lang="en-GB" sz="2400" dirty="0">
                    <a:solidFill>
                      <a:srgbClr val="434343"/>
                    </a:solidFill>
                  </a:rPr>
                  <a:t>The effect of </a:t>
                </a:r>
                <a:r>
                  <a:rPr lang="en-GB" sz="2400" dirty="0">
                    <a:solidFill>
                      <a:srgbClr val="0070C0"/>
                    </a:solidFill>
                  </a:rPr>
                  <a:t>X</a:t>
                </a:r>
                <a:r>
                  <a:rPr lang="en-GB" sz="2400" dirty="0">
                    <a:solidFill>
                      <a:srgbClr val="434343"/>
                    </a:solidFill>
                  </a:rPr>
                  <a:t> on </a:t>
                </a:r>
                <a:r>
                  <a:rPr lang="en-GB" sz="2400" dirty="0">
                    <a:solidFill>
                      <a:schemeClr val="accent1"/>
                    </a:solidFill>
                  </a:rPr>
                  <a:t>Y</a:t>
                </a:r>
                <a:r>
                  <a:rPr lang="en-GB" sz="2400" dirty="0">
                    <a:solidFill>
                      <a:srgbClr val="434343"/>
                    </a:solidFill>
                  </a:rPr>
                  <a:t> is </a:t>
                </a:r>
                <a:r>
                  <a:rPr lang="en-GB" sz="2400" b="1" u="sng" dirty="0">
                    <a:solidFill>
                      <a:srgbClr val="434343"/>
                    </a:solidFill>
                  </a:rPr>
                  <a:t>mediated</a:t>
                </a:r>
                <a:r>
                  <a:rPr lang="en-GB" sz="2400" dirty="0">
                    <a:solidFill>
                      <a:srgbClr val="434343"/>
                    </a:solidFill>
                  </a:rPr>
                  <a:t> by </a:t>
                </a:r>
                <a:r>
                  <a:rPr lang="en-GB" sz="2400" dirty="0">
                    <a:solidFill>
                      <a:srgbClr val="00B050"/>
                    </a:solidFill>
                  </a:rPr>
                  <a:t>Z</a:t>
                </a:r>
                <a:r>
                  <a:rPr lang="en-GB" sz="2400" dirty="0">
                    <a:solidFill>
                      <a:srgbClr val="434343"/>
                    </a:solidFill>
                  </a:rPr>
                  <a:t> </a:t>
                </a:r>
              </a:p>
              <a:p>
                <a:endParaRPr lang="en-GB" sz="2400" dirty="0">
                  <a:solidFill>
                    <a:srgbClr val="434343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24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𝑃𝑟𝑒𝑑𝑎𝑡𝑜𝑟</m:t>
                      </m:r>
                      <m:r>
                        <a:rPr lang="en-GB" sz="24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𝑝𝑟𝑒𝑠𝑒𝑛𝑐𝑒</m:t>
                      </m:r>
                      <m:r>
                        <a:rPr lang="en-GB" sz="2400" i="1" dirty="0">
                          <a:solidFill>
                            <a:srgbClr val="434343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sz="2400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𝑃𝑟𝑒𝑑𝑎𝑡𝑖𝑜𝑛</m:t>
                      </m:r>
                      <m:r>
                        <a:rPr lang="en-GB" sz="2400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𝑟𝑎𝑡𝑒</m:t>
                      </m:r>
                      <m:r>
                        <a:rPr lang="en-GB" sz="2400" i="1" dirty="0">
                          <a:solidFill>
                            <a:srgbClr val="434343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sz="2400" i="1" dirty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𝑃𝑟𝑒𝑦</m:t>
                      </m:r>
                      <m:r>
                        <a:rPr lang="en-GB" sz="2400" i="1" dirty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i="1" dirty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𝑎𝑏𝑢𝑛𝑑𝑎𝑛𝑐𝑒</m:t>
                      </m:r>
                    </m:oMath>
                  </m:oMathPara>
                </a14:m>
                <a:endParaRPr lang="en-GB" sz="2400" dirty="0">
                  <a:solidFill>
                    <a:srgbClr val="434343"/>
                  </a:solidFill>
                </a:endParaRPr>
              </a:p>
              <a:p>
                <a:endParaRPr lang="en-GB" sz="2400" dirty="0">
                  <a:solidFill>
                    <a:srgbClr val="434343"/>
                  </a:solidFill>
                </a:endParaRPr>
              </a:p>
              <a:p>
                <a:r>
                  <a:rPr lang="en-GB" sz="2400" dirty="0">
                    <a:solidFill>
                      <a:srgbClr val="434343"/>
                    </a:solidFill>
                  </a:rPr>
                  <a:t>With the model: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240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Prey</m:t>
                    </m:r>
                    <m:r>
                      <a:rPr lang="en-GB" sz="240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GB" sz="240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abundance</m:t>
                    </m:r>
                    <m:r>
                      <a:rPr lang="en-GB" sz="24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2400" i="1">
                        <a:solidFill>
                          <a:srgbClr val="434343"/>
                        </a:solidFill>
                        <a:latin typeface="Cambria Math" panose="02040503050406030204" pitchFamily="18" charset="0"/>
                      </a:rPr>
                      <m:t>~ </m:t>
                    </m:r>
                    <m:r>
                      <a:rPr lang="en-GB" sz="24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𝑃𝑟𝑒𝑑𝑎𝑡𝑜𝑟</m:t>
                    </m:r>
                    <m:r>
                      <a:rPr lang="en-GB" sz="24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24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𝑝𝑟𝑒𝑠𝑒𝑛𝑐𝑒</m:t>
                    </m:r>
                  </m:oMath>
                </a14:m>
                <a:endParaRPr lang="en-GB" sz="2400" dirty="0">
                  <a:solidFill>
                    <a:srgbClr val="434343"/>
                  </a:solidFill>
                </a:endParaRPr>
              </a:p>
              <a:p>
                <a:r>
                  <a:rPr lang="en-GB" sz="2400" dirty="0">
                    <a:solidFill>
                      <a:srgbClr val="434343"/>
                    </a:solidFill>
                  </a:rPr>
                  <a:t>we will find both the </a:t>
                </a:r>
                <a:r>
                  <a:rPr lang="en-GB" sz="2400" b="1" u="sng" dirty="0">
                    <a:solidFill>
                      <a:srgbClr val="434343"/>
                    </a:solidFill>
                  </a:rPr>
                  <a:t>direct and indirect</a:t>
                </a:r>
                <a:r>
                  <a:rPr lang="en-GB" sz="2400" dirty="0">
                    <a:solidFill>
                      <a:srgbClr val="434343"/>
                    </a:solidFill>
                  </a:rPr>
                  <a:t> causal effect of predators presence on prey abundance.</a:t>
                </a:r>
              </a:p>
              <a:p>
                <a:endParaRPr lang="en-GB" sz="2400" dirty="0">
                  <a:solidFill>
                    <a:srgbClr val="434343"/>
                  </a:solidFill>
                </a:endParaRPr>
              </a:p>
              <a:p>
                <a:r>
                  <a:rPr lang="en-GB" sz="2400" dirty="0">
                    <a:solidFill>
                      <a:srgbClr val="434343"/>
                    </a:solidFill>
                  </a:rPr>
                  <a:t>If you </a:t>
                </a:r>
                <a:r>
                  <a:rPr lang="en-GB" sz="2400" b="1" u="sng" dirty="0">
                    <a:solidFill>
                      <a:srgbClr val="434343"/>
                    </a:solidFill>
                  </a:rPr>
                  <a:t>included Z</a:t>
                </a:r>
                <a:r>
                  <a:rPr lang="en-GB" sz="2400" dirty="0">
                    <a:solidFill>
                      <a:srgbClr val="434343"/>
                    </a:solidFill>
                  </a:rPr>
                  <a:t> in the model: </a:t>
                </a: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240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Prey</m:t>
                    </m:r>
                    <m:r>
                      <a:rPr lang="en-GB" sz="240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GB" sz="240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abundance</m:t>
                    </m:r>
                    <m:r>
                      <a:rPr lang="en-GB" sz="2400" i="1">
                        <a:solidFill>
                          <a:srgbClr val="434343"/>
                        </a:solidFill>
                        <a:latin typeface="Cambria Math" panose="02040503050406030204" pitchFamily="18" charset="0"/>
                      </a:rPr>
                      <m:t> ~ </m:t>
                    </m:r>
                    <m:r>
                      <a:rPr lang="en-GB" sz="24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𝑃𝑟𝑒𝑑𝑎𝑡𝑜𝑟</m:t>
                    </m:r>
                    <m:r>
                      <a:rPr lang="en-GB" sz="24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24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𝑝𝑟𝑒𝑠𝑒𝑛𝑐𝑒</m:t>
                    </m:r>
                    <m:r>
                      <a:rPr lang="en-GB" sz="2400" i="1">
                        <a:solidFill>
                          <a:srgbClr val="434343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400" i="1" dirty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𝑃𝑟𝑒𝑑𝑎𝑡𝑖𝑜𝑛</m:t>
                    </m:r>
                    <m:r>
                      <a:rPr lang="en-GB" sz="2400" i="1" dirty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2400" i="1" dirty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𝑟𝑎𝑡𝑒</m:t>
                    </m:r>
                  </m:oMath>
                </a14:m>
                <a:r>
                  <a:rPr lang="en-GB" sz="2400" dirty="0">
                    <a:solidFill>
                      <a:srgbClr val="434343"/>
                    </a:solidFill>
                  </a:rPr>
                  <a:t>, </a:t>
                </a:r>
              </a:p>
              <a:p>
                <a:r>
                  <a:rPr lang="en-GB" sz="2400" dirty="0">
                    <a:solidFill>
                      <a:srgbClr val="434343"/>
                    </a:solidFill>
                  </a:rPr>
                  <a:t>you would only find the </a:t>
                </a:r>
                <a:r>
                  <a:rPr lang="en-GB" sz="2400" b="1" u="sng" dirty="0">
                    <a:solidFill>
                      <a:srgbClr val="434343"/>
                    </a:solidFill>
                  </a:rPr>
                  <a:t>direct</a:t>
                </a:r>
                <a:r>
                  <a:rPr lang="en-GB" sz="2400" dirty="0">
                    <a:solidFill>
                      <a:srgbClr val="434343"/>
                    </a:solidFill>
                  </a:rPr>
                  <a:t> (“partial”) causal effects.</a:t>
                </a:r>
              </a:p>
            </p:txBody>
          </p:sp>
        </mc:Choice>
        <mc:Fallback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031930FB-2F89-4CDF-8FC3-EA50E98EB0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35" y="2383926"/>
                <a:ext cx="7800448" cy="5623784"/>
              </a:xfrm>
              <a:prstGeom prst="rect">
                <a:avLst/>
              </a:prstGeom>
              <a:blipFill>
                <a:blip r:embed="rId3"/>
                <a:stretch>
                  <a:fillRect l="-1251" t="-867" r="-860" b="-140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4B8A962E-623F-4A33-9271-D822D9C94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12192000" cy="763600"/>
          </a:xfrm>
        </p:spPr>
        <p:txBody>
          <a:bodyPr/>
          <a:lstStyle/>
          <a:p>
            <a:pPr algn="ctr"/>
            <a:r>
              <a:rPr lang="en-GB" dirty="0"/>
              <a:t>Piped confound</a:t>
            </a:r>
          </a:p>
        </p:txBody>
      </p:sp>
      <p:sp>
        <p:nvSpPr>
          <p:cNvPr id="4" name="Google Shape;75;p15">
            <a:extLst>
              <a:ext uri="{FF2B5EF4-FFF2-40B4-BE49-F238E27FC236}">
                <a16:creationId xmlns:a16="http://schemas.microsoft.com/office/drawing/2014/main" id="{D3576E38-C5FF-4D1E-BF01-7E8DED020055}"/>
              </a:ext>
            </a:extLst>
          </p:cNvPr>
          <p:cNvSpPr/>
          <p:nvPr/>
        </p:nvSpPr>
        <p:spPr>
          <a:xfrm>
            <a:off x="4347584" y="693450"/>
            <a:ext cx="3496833" cy="140300"/>
          </a:xfrm>
          <a:custGeom>
            <a:avLst/>
            <a:gdLst/>
            <a:ahLst/>
            <a:cxnLst/>
            <a:rect l="l" t="t" r="r" b="b"/>
            <a:pathLst>
              <a:path w="104905" h="4209" extrusionOk="0">
                <a:moveTo>
                  <a:pt x="0" y="2010"/>
                </a:moveTo>
                <a:cubicBezTo>
                  <a:pt x="34411" y="-4246"/>
                  <a:pt x="71725" y="11060"/>
                  <a:pt x="104905" y="0"/>
                </a:cubicBezTo>
              </a:path>
            </a:pathLst>
          </a:custGeom>
          <a:noFill/>
          <a:ln w="19050" cap="flat" cmpd="sng">
            <a:solidFill>
              <a:srgbClr val="4C113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E6A70E16-FEC9-4152-B419-97B35E22CD42}"/>
              </a:ext>
            </a:extLst>
          </p:cNvPr>
          <p:cNvGrpSpPr/>
          <p:nvPr/>
        </p:nvGrpSpPr>
        <p:grpSpPr>
          <a:xfrm>
            <a:off x="478637" y="381801"/>
            <a:ext cx="2088545" cy="1445055"/>
            <a:chOff x="6155850" y="1341040"/>
            <a:chExt cx="1566409" cy="1083791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533F65E5-54E3-4F6D-8E50-D41D0D93A99A}"/>
                </a:ext>
              </a:extLst>
            </p:cNvPr>
            <p:cNvSpPr/>
            <p:nvPr/>
          </p:nvSpPr>
          <p:spPr>
            <a:xfrm>
              <a:off x="7287658" y="2021511"/>
              <a:ext cx="434601" cy="403320"/>
            </a:xfrm>
            <a:prstGeom prst="ellipse">
              <a:avLst/>
            </a:prstGeom>
            <a:solidFill>
              <a:srgbClr val="434343"/>
            </a:solidFill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Y</a:t>
              </a: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39613A30-CEA7-43EB-9DD4-31A2596A3525}"/>
                </a:ext>
              </a:extLst>
            </p:cNvPr>
            <p:cNvSpPr/>
            <p:nvPr/>
          </p:nvSpPr>
          <p:spPr>
            <a:xfrm>
              <a:off x="6155850" y="2021511"/>
              <a:ext cx="434602" cy="403319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 w="38100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X</a:t>
              </a: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4B801E74-A95D-44EA-B4DF-54DAACC4A3E1}"/>
                </a:ext>
              </a:extLst>
            </p:cNvPr>
            <p:cNvSpPr/>
            <p:nvPr/>
          </p:nvSpPr>
          <p:spPr>
            <a:xfrm>
              <a:off x="6725536" y="1341040"/>
              <a:ext cx="434601" cy="403319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Z</a:t>
              </a:r>
            </a:p>
          </p:txBody>
        </p: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A41A44C1-653D-4DC3-8B5B-5B648C14E08A}"/>
                </a:ext>
              </a:extLst>
            </p:cNvPr>
            <p:cNvCxnSpPr>
              <a:stCxn id="32" idx="5"/>
              <a:endCxn id="28" idx="1"/>
            </p:cNvCxnSpPr>
            <p:nvPr/>
          </p:nvCxnSpPr>
          <p:spPr>
            <a:xfrm>
              <a:off x="7096491" y="1685294"/>
              <a:ext cx="254813" cy="39528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6AE978E5-F091-4821-96C6-B724F076F9B2}"/>
                </a:ext>
              </a:extLst>
            </p:cNvPr>
            <p:cNvCxnSpPr>
              <a:stCxn id="30" idx="7"/>
              <a:endCxn id="32" idx="3"/>
            </p:cNvCxnSpPr>
            <p:nvPr/>
          </p:nvCxnSpPr>
          <p:spPr>
            <a:xfrm flipV="1">
              <a:off x="6526806" y="1685294"/>
              <a:ext cx="262376" cy="39528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643C3548-89AA-4B79-9BC6-80671F29C6AD}"/>
              </a:ext>
            </a:extLst>
          </p:cNvPr>
          <p:cNvGrpSpPr/>
          <p:nvPr/>
        </p:nvGrpSpPr>
        <p:grpSpPr>
          <a:xfrm>
            <a:off x="7844416" y="2304925"/>
            <a:ext cx="4027931" cy="3649208"/>
            <a:chOff x="5883312" y="904432"/>
            <a:chExt cx="3020948" cy="2736906"/>
          </a:xfrm>
        </p:grpSpPr>
        <p:pic>
          <p:nvPicPr>
            <p:cNvPr id="20" name="Picture 19" descr="A picture containing grass, outdoor, ground&#10;&#10;Description automatically generated">
              <a:extLst>
                <a:ext uri="{FF2B5EF4-FFF2-40B4-BE49-F238E27FC236}">
                  <a16:creationId xmlns:a16="http://schemas.microsoft.com/office/drawing/2014/main" id="{3566B08B-1D3B-4B35-B83A-82BE2839C2B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540862" y="2618789"/>
              <a:ext cx="1363398" cy="1022549"/>
            </a:xfrm>
            <a:prstGeom prst="rect">
              <a:avLst/>
            </a:prstGeom>
            <a:ln w="57150">
              <a:solidFill>
                <a:srgbClr val="FFC000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E7FC567-2098-40DB-98F3-74BFAE86F6B4}"/>
                </a:ext>
              </a:extLst>
            </p:cNvPr>
            <p:cNvGrpSpPr/>
            <p:nvPr/>
          </p:nvGrpSpPr>
          <p:grpSpPr>
            <a:xfrm>
              <a:off x="5883312" y="904432"/>
              <a:ext cx="2437234" cy="2728880"/>
              <a:chOff x="5883312" y="904432"/>
              <a:chExt cx="2437234" cy="2728880"/>
            </a:xfrm>
          </p:grpSpPr>
          <p:pic>
            <p:nvPicPr>
              <p:cNvPr id="5" name="Picture 4" descr="A cheetah chasing a cheetah in a field&#10;&#10;Description automatically generated with medium confidence">
                <a:extLst>
                  <a:ext uri="{FF2B5EF4-FFF2-40B4-BE49-F238E27FC236}">
                    <a16:creationId xmlns:a16="http://schemas.microsoft.com/office/drawing/2014/main" id="{921E8FEF-8D13-4CAC-BB77-D07657603E6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368843" y="904432"/>
                <a:ext cx="1951703" cy="975852"/>
              </a:xfrm>
              <a:prstGeom prst="rect">
                <a:avLst/>
              </a:prstGeom>
              <a:ln w="57150">
                <a:solidFill>
                  <a:srgbClr val="00B050"/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13" name="Picture 12" descr="A close up of a lion's face&#10;&#10;Description automatically generated with medium confidence">
                <a:extLst>
                  <a:ext uri="{FF2B5EF4-FFF2-40B4-BE49-F238E27FC236}">
                    <a16:creationId xmlns:a16="http://schemas.microsoft.com/office/drawing/2014/main" id="{388E6506-3862-4CAE-94B2-F44543DE28C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883312" y="2620233"/>
                <a:ext cx="1350772" cy="1013079"/>
              </a:xfrm>
              <a:prstGeom prst="rect">
                <a:avLst/>
              </a:prstGeom>
              <a:ln w="57150">
                <a:solidFill>
                  <a:srgbClr val="00B0F0"/>
                </a:solidFill>
              </a:ln>
              <a:effectLst>
                <a:glow rad="63500">
                  <a:schemeClr val="accent2">
                    <a:satMod val="175000"/>
                    <a:alpha val="40000"/>
                  </a:schemeClr>
                </a:glow>
              </a:effectLst>
            </p:spPr>
          </p:pic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B1203BEF-68A5-4091-B899-6EE2B48780F3}"/>
                  </a:ext>
                </a:extLst>
              </p:cNvPr>
              <p:cNvCxnSpPr>
                <a:cxnSpLocks/>
                <a:stCxn id="13" idx="0"/>
              </p:cNvCxnSpPr>
              <p:nvPr/>
            </p:nvCxnSpPr>
            <p:spPr>
              <a:xfrm flipV="1">
                <a:off x="6558698" y="1880284"/>
                <a:ext cx="785997" cy="739949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B6C13DC7-0090-4F83-94B4-115F1C46BC3D}"/>
                  </a:ext>
                </a:extLst>
              </p:cNvPr>
              <p:cNvCxnSpPr>
                <a:cxnSpLocks/>
                <a:stCxn id="5" idx="2"/>
                <a:endCxn id="20" idx="0"/>
              </p:cNvCxnSpPr>
              <p:nvPr/>
            </p:nvCxnSpPr>
            <p:spPr>
              <a:xfrm>
                <a:off x="7344695" y="1880284"/>
                <a:ext cx="877866" cy="738505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816790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F916E58-EA9F-42B4-93D2-E13A9FB69F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6306" y="1668814"/>
            <a:ext cx="5725719" cy="511440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C8657FE-B937-45D5-BA67-E8F82C7EFB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450" y="1667496"/>
            <a:ext cx="5745549" cy="5106195"/>
          </a:xfrm>
          <a:prstGeom prst="rect">
            <a:avLst/>
          </a:prstGeom>
        </p:spPr>
      </p:pic>
      <p:grpSp>
        <p:nvGrpSpPr>
          <p:cNvPr id="44" name="Group 43">
            <a:extLst>
              <a:ext uri="{FF2B5EF4-FFF2-40B4-BE49-F238E27FC236}">
                <a16:creationId xmlns:a16="http://schemas.microsoft.com/office/drawing/2014/main" id="{C68C2392-13F7-4FF1-95D6-97C13F1EAB52}"/>
              </a:ext>
            </a:extLst>
          </p:cNvPr>
          <p:cNvGrpSpPr/>
          <p:nvPr/>
        </p:nvGrpSpPr>
        <p:grpSpPr>
          <a:xfrm>
            <a:off x="579853" y="570227"/>
            <a:ext cx="1099331" cy="527043"/>
            <a:chOff x="7884613" y="375057"/>
            <a:chExt cx="824498" cy="395282"/>
          </a:xfrm>
        </p:grpSpPr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CE49979B-0365-49B6-A11E-9560FED387E2}"/>
                </a:ext>
              </a:extLst>
            </p:cNvPr>
            <p:cNvCxnSpPr>
              <a:stCxn id="18" idx="7"/>
              <a:endCxn id="19" idx="3"/>
            </p:cNvCxnSpPr>
            <p:nvPr/>
          </p:nvCxnSpPr>
          <p:spPr>
            <a:xfrm flipV="1">
              <a:off x="7884613" y="375057"/>
              <a:ext cx="262376" cy="395282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09B9CB6C-417F-4C45-A451-6E702C72F57E}"/>
                </a:ext>
              </a:extLst>
            </p:cNvPr>
            <p:cNvCxnSpPr>
              <a:cxnSpLocks/>
              <a:stCxn id="19" idx="5"/>
              <a:endCxn id="17" idx="1"/>
            </p:cNvCxnSpPr>
            <p:nvPr/>
          </p:nvCxnSpPr>
          <p:spPr>
            <a:xfrm>
              <a:off x="8454298" y="375057"/>
              <a:ext cx="254813" cy="395282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4603911-61AC-4AED-8E57-954C70742EF1}"/>
              </a:ext>
            </a:extLst>
          </p:cNvPr>
          <p:cNvGrpSpPr/>
          <p:nvPr/>
        </p:nvGrpSpPr>
        <p:grpSpPr>
          <a:xfrm>
            <a:off x="10490012" y="570227"/>
            <a:ext cx="1146664" cy="527043"/>
            <a:chOff x="399390" y="401365"/>
            <a:chExt cx="859998" cy="395282"/>
          </a:xfrm>
        </p:grpSpPr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052161AF-F6C2-4100-A7AB-46051454C566}"/>
                </a:ext>
              </a:extLst>
            </p:cNvPr>
            <p:cNvCxnSpPr>
              <a:cxnSpLocks/>
              <a:stCxn id="32" idx="5"/>
              <a:endCxn id="28" idx="1"/>
            </p:cNvCxnSpPr>
            <p:nvPr/>
          </p:nvCxnSpPr>
          <p:spPr>
            <a:xfrm>
              <a:off x="1004575" y="401365"/>
              <a:ext cx="254813" cy="395282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8" name="Graphic 37" descr="Close with solid fill">
              <a:extLst>
                <a:ext uri="{FF2B5EF4-FFF2-40B4-BE49-F238E27FC236}">
                  <a16:creationId xmlns:a16="http://schemas.microsoft.com/office/drawing/2014/main" id="{0ED9661F-58FA-4A10-B2F3-9D6295BBEC6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99390" y="460430"/>
              <a:ext cx="333375" cy="333375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B8A962E-623F-4A33-9271-D822D9C94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12192000" cy="763600"/>
          </a:xfrm>
        </p:spPr>
        <p:txBody>
          <a:bodyPr/>
          <a:lstStyle/>
          <a:p>
            <a:pPr algn="ctr"/>
            <a:r>
              <a:rPr lang="en-GB" dirty="0"/>
              <a:t>Piped confound</a:t>
            </a:r>
          </a:p>
        </p:txBody>
      </p:sp>
      <p:sp>
        <p:nvSpPr>
          <p:cNvPr id="4" name="Google Shape;75;p15">
            <a:extLst>
              <a:ext uri="{FF2B5EF4-FFF2-40B4-BE49-F238E27FC236}">
                <a16:creationId xmlns:a16="http://schemas.microsoft.com/office/drawing/2014/main" id="{D3576E38-C5FF-4D1E-BF01-7E8DED020055}"/>
              </a:ext>
            </a:extLst>
          </p:cNvPr>
          <p:cNvSpPr/>
          <p:nvPr/>
        </p:nvSpPr>
        <p:spPr>
          <a:xfrm>
            <a:off x="4347584" y="693450"/>
            <a:ext cx="3496833" cy="140300"/>
          </a:xfrm>
          <a:custGeom>
            <a:avLst/>
            <a:gdLst/>
            <a:ahLst/>
            <a:cxnLst/>
            <a:rect l="l" t="t" r="r" b="b"/>
            <a:pathLst>
              <a:path w="104905" h="4209" extrusionOk="0">
                <a:moveTo>
                  <a:pt x="0" y="2010"/>
                </a:moveTo>
                <a:cubicBezTo>
                  <a:pt x="34411" y="-4246"/>
                  <a:pt x="71725" y="11060"/>
                  <a:pt x="104905" y="0"/>
                </a:cubicBezTo>
              </a:path>
            </a:pathLst>
          </a:custGeom>
          <a:noFill/>
          <a:ln w="19050" cap="flat" cmpd="sng">
            <a:solidFill>
              <a:srgbClr val="4C113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E6A70E16-FEC9-4152-B419-97B35E22CD42}"/>
              </a:ext>
            </a:extLst>
          </p:cNvPr>
          <p:cNvGrpSpPr/>
          <p:nvPr/>
        </p:nvGrpSpPr>
        <p:grpSpPr>
          <a:xfrm>
            <a:off x="10042738" y="111222"/>
            <a:ext cx="2088545" cy="1445055"/>
            <a:chOff x="6155850" y="1341040"/>
            <a:chExt cx="1566409" cy="1083791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533F65E5-54E3-4F6D-8E50-D41D0D93A99A}"/>
                </a:ext>
              </a:extLst>
            </p:cNvPr>
            <p:cNvSpPr/>
            <p:nvPr/>
          </p:nvSpPr>
          <p:spPr>
            <a:xfrm>
              <a:off x="7287658" y="2021511"/>
              <a:ext cx="434601" cy="403320"/>
            </a:xfrm>
            <a:prstGeom prst="ellipse">
              <a:avLst/>
            </a:prstGeom>
            <a:solidFill>
              <a:srgbClr val="434343"/>
            </a:solidFill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Y</a:t>
              </a: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39613A30-CEA7-43EB-9DD4-31A2596A3525}"/>
                </a:ext>
              </a:extLst>
            </p:cNvPr>
            <p:cNvSpPr/>
            <p:nvPr/>
          </p:nvSpPr>
          <p:spPr>
            <a:xfrm>
              <a:off x="6155850" y="2021511"/>
              <a:ext cx="434602" cy="403319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 w="38100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X</a:t>
              </a: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4B801E74-A95D-44EA-B4DF-54DAACC4A3E1}"/>
                </a:ext>
              </a:extLst>
            </p:cNvPr>
            <p:cNvSpPr/>
            <p:nvPr/>
          </p:nvSpPr>
          <p:spPr>
            <a:xfrm>
              <a:off x="6725536" y="1341040"/>
              <a:ext cx="434601" cy="403319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Z</a:t>
              </a:r>
            </a:p>
          </p:txBody>
        </p: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A41A44C1-653D-4DC3-8B5B-5B648C14E08A}"/>
                </a:ext>
              </a:extLst>
            </p:cNvPr>
            <p:cNvCxnSpPr>
              <a:stCxn id="32" idx="5"/>
              <a:endCxn id="28" idx="1"/>
            </p:cNvCxnSpPr>
            <p:nvPr/>
          </p:nvCxnSpPr>
          <p:spPr>
            <a:xfrm>
              <a:off x="7096491" y="1685294"/>
              <a:ext cx="254813" cy="39528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6AE978E5-F091-4821-96C6-B724F076F9B2}"/>
                </a:ext>
              </a:extLst>
            </p:cNvPr>
            <p:cNvCxnSpPr>
              <a:cxnSpLocks/>
              <a:stCxn id="30" idx="7"/>
              <a:endCxn id="32" idx="3"/>
            </p:cNvCxnSpPr>
            <p:nvPr/>
          </p:nvCxnSpPr>
          <p:spPr>
            <a:xfrm flipV="1">
              <a:off x="6526806" y="1685294"/>
              <a:ext cx="262376" cy="39528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699E086-2EE6-4D79-9094-E8C7DD1B986C}"/>
              </a:ext>
            </a:extLst>
          </p:cNvPr>
          <p:cNvGrpSpPr/>
          <p:nvPr/>
        </p:nvGrpSpPr>
        <p:grpSpPr>
          <a:xfrm>
            <a:off x="85246" y="111222"/>
            <a:ext cx="2088545" cy="1445055"/>
            <a:chOff x="6155850" y="1341040"/>
            <a:chExt cx="1566409" cy="1083791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E4534DCA-1945-41CB-A2F8-0012177711DF}"/>
                </a:ext>
              </a:extLst>
            </p:cNvPr>
            <p:cNvSpPr/>
            <p:nvPr/>
          </p:nvSpPr>
          <p:spPr>
            <a:xfrm>
              <a:off x="7287658" y="2021511"/>
              <a:ext cx="434601" cy="403320"/>
            </a:xfrm>
            <a:prstGeom prst="ellipse">
              <a:avLst/>
            </a:prstGeom>
            <a:solidFill>
              <a:srgbClr val="434343"/>
            </a:solidFill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Y</a:t>
              </a: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EA3B9921-342B-42A9-999B-A226E9751CF6}"/>
                </a:ext>
              </a:extLst>
            </p:cNvPr>
            <p:cNvSpPr/>
            <p:nvPr/>
          </p:nvSpPr>
          <p:spPr>
            <a:xfrm>
              <a:off x="6155850" y="2021511"/>
              <a:ext cx="434602" cy="403319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 w="38100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X</a:t>
              </a: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FD042A35-1E46-4008-93FA-A451267FEC23}"/>
                </a:ext>
              </a:extLst>
            </p:cNvPr>
            <p:cNvSpPr/>
            <p:nvPr/>
          </p:nvSpPr>
          <p:spPr>
            <a:xfrm>
              <a:off x="6725536" y="1341040"/>
              <a:ext cx="434601" cy="403319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Z</a:t>
              </a:r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F9310733-F76D-420F-8BD7-4C32A4737D93}"/>
                </a:ext>
              </a:extLst>
            </p:cNvPr>
            <p:cNvCxnSpPr>
              <a:stCxn id="19" idx="5"/>
              <a:endCxn id="17" idx="1"/>
            </p:cNvCxnSpPr>
            <p:nvPr/>
          </p:nvCxnSpPr>
          <p:spPr>
            <a:xfrm>
              <a:off x="7096491" y="1685294"/>
              <a:ext cx="254813" cy="39528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16814EA8-5E6F-4020-A96B-0CBDB9A7F46B}"/>
                </a:ext>
              </a:extLst>
            </p:cNvPr>
            <p:cNvCxnSpPr>
              <a:stCxn id="18" idx="7"/>
              <a:endCxn id="19" idx="3"/>
            </p:cNvCxnSpPr>
            <p:nvPr/>
          </p:nvCxnSpPr>
          <p:spPr>
            <a:xfrm flipV="1">
              <a:off x="6526806" y="1685294"/>
              <a:ext cx="262376" cy="39528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B435ACAC-242D-4B44-BDF6-2E55C9BE4017}"/>
              </a:ext>
            </a:extLst>
          </p:cNvPr>
          <p:cNvGrpSpPr/>
          <p:nvPr/>
        </p:nvGrpSpPr>
        <p:grpSpPr>
          <a:xfrm>
            <a:off x="1637944" y="5144747"/>
            <a:ext cx="8886197" cy="1326776"/>
            <a:chOff x="1239675" y="2596842"/>
            <a:chExt cx="6664648" cy="995082"/>
          </a:xfrm>
        </p:grpSpPr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5C15654C-599E-4053-8BAD-7420C9923753}"/>
                </a:ext>
              </a:extLst>
            </p:cNvPr>
            <p:cNvSpPr/>
            <p:nvPr/>
          </p:nvSpPr>
          <p:spPr>
            <a:xfrm>
              <a:off x="1239675" y="2596842"/>
              <a:ext cx="2279276" cy="995082"/>
            </a:xfrm>
            <a:prstGeom prst="roundRect">
              <a:avLst/>
            </a:prstGeom>
            <a:solidFill>
              <a:schemeClr val="tx2">
                <a:lumMod val="50000"/>
              </a:schemeClr>
            </a:solidFill>
            <a:ln w="571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Path is open</a:t>
              </a:r>
            </a:p>
          </p:txBody>
        </p:sp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528E2C57-EBF2-4051-9A73-85EB4839AB80}"/>
                </a:ext>
              </a:extLst>
            </p:cNvPr>
            <p:cNvSpPr/>
            <p:nvPr/>
          </p:nvSpPr>
          <p:spPr>
            <a:xfrm>
              <a:off x="5625047" y="2596842"/>
              <a:ext cx="2279276" cy="995082"/>
            </a:xfrm>
            <a:prstGeom prst="roundRect">
              <a:avLst/>
            </a:prstGeom>
            <a:solidFill>
              <a:schemeClr val="tx2">
                <a:lumMod val="50000"/>
              </a:schemeClr>
            </a:solidFill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Path is closed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4C53B1C9-8978-4562-82CD-75957451514A}"/>
              </a:ext>
            </a:extLst>
          </p:cNvPr>
          <p:cNvGrpSpPr/>
          <p:nvPr/>
        </p:nvGrpSpPr>
        <p:grpSpPr>
          <a:xfrm>
            <a:off x="7137881" y="1737646"/>
            <a:ext cx="3626291" cy="3048441"/>
            <a:chOff x="5629867" y="904432"/>
            <a:chExt cx="3426552" cy="2736906"/>
          </a:xfrm>
        </p:grpSpPr>
        <p:pic>
          <p:nvPicPr>
            <p:cNvPr id="39" name="Picture 38" descr="A picture containing grass, outdoor, ground&#10;&#10;Description automatically generated">
              <a:extLst>
                <a:ext uri="{FF2B5EF4-FFF2-40B4-BE49-F238E27FC236}">
                  <a16:creationId xmlns:a16="http://schemas.microsoft.com/office/drawing/2014/main" id="{8490E93B-27E5-40A2-9E18-F0B03004241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693020" y="2618790"/>
              <a:ext cx="1363399" cy="1022548"/>
            </a:xfrm>
            <a:prstGeom prst="rect">
              <a:avLst/>
            </a:prstGeom>
            <a:ln w="57150">
              <a:solidFill>
                <a:srgbClr val="FFC000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E9CE6785-AF69-4778-9F20-034E419C7CA1}"/>
                </a:ext>
              </a:extLst>
            </p:cNvPr>
            <p:cNvGrpSpPr/>
            <p:nvPr/>
          </p:nvGrpSpPr>
          <p:grpSpPr>
            <a:xfrm>
              <a:off x="5629867" y="904432"/>
              <a:ext cx="2744853" cy="2727436"/>
              <a:chOff x="5629867" y="904432"/>
              <a:chExt cx="2744853" cy="2727436"/>
            </a:xfrm>
          </p:grpSpPr>
          <p:pic>
            <p:nvPicPr>
              <p:cNvPr id="43" name="Picture 42" descr="A cheetah chasing a cheetah in a field&#10;&#10;Description automatically generated with medium confidence">
                <a:extLst>
                  <a:ext uri="{FF2B5EF4-FFF2-40B4-BE49-F238E27FC236}">
                    <a16:creationId xmlns:a16="http://schemas.microsoft.com/office/drawing/2014/main" id="{6CBADA5B-3DCA-44AA-9860-0D53DAA69A8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368843" y="904432"/>
                <a:ext cx="1951703" cy="975852"/>
              </a:xfrm>
              <a:prstGeom prst="rect">
                <a:avLst/>
              </a:prstGeom>
              <a:ln w="57150">
                <a:solidFill>
                  <a:srgbClr val="00B050"/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45" name="Picture 44" descr="A close up of a lion's face&#10;&#10;Description automatically generated with medium confidence">
                <a:extLst>
                  <a:ext uri="{FF2B5EF4-FFF2-40B4-BE49-F238E27FC236}">
                    <a16:creationId xmlns:a16="http://schemas.microsoft.com/office/drawing/2014/main" id="{4923F303-D6C6-4427-9DEE-F767386E68D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629867" y="2618789"/>
                <a:ext cx="1350772" cy="1013079"/>
              </a:xfrm>
              <a:prstGeom prst="rect">
                <a:avLst/>
              </a:prstGeom>
              <a:ln w="57150">
                <a:solidFill>
                  <a:srgbClr val="00B0F0"/>
                </a:solidFill>
              </a:ln>
              <a:effectLst>
                <a:glow rad="63500">
                  <a:schemeClr val="accent2">
                    <a:satMod val="175000"/>
                    <a:alpha val="40000"/>
                  </a:schemeClr>
                </a:glow>
              </a:effectLst>
            </p:spPr>
          </p:pic>
          <p:cxnSp>
            <p:nvCxnSpPr>
              <p:cNvPr id="49" name="Straight Arrow Connector 48">
                <a:extLst>
                  <a:ext uri="{FF2B5EF4-FFF2-40B4-BE49-F238E27FC236}">
                    <a16:creationId xmlns:a16="http://schemas.microsoft.com/office/drawing/2014/main" id="{42C6A7E0-E4FC-4A02-8443-684C982AE511}"/>
                  </a:ext>
                </a:extLst>
              </p:cNvPr>
              <p:cNvCxnSpPr>
                <a:cxnSpLocks/>
                <a:stCxn id="43" idx="2"/>
                <a:endCxn id="39" idx="0"/>
              </p:cNvCxnSpPr>
              <p:nvPr/>
            </p:nvCxnSpPr>
            <p:spPr>
              <a:xfrm>
                <a:off x="7344695" y="1880284"/>
                <a:ext cx="1030025" cy="738506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B113782D-5466-4650-A06E-A0A7A40924DA}"/>
              </a:ext>
            </a:extLst>
          </p:cNvPr>
          <p:cNvGrpSpPr/>
          <p:nvPr/>
        </p:nvGrpSpPr>
        <p:grpSpPr>
          <a:xfrm>
            <a:off x="1339433" y="3093151"/>
            <a:ext cx="3628655" cy="1138944"/>
            <a:chOff x="5675897" y="2618789"/>
            <a:chExt cx="3428786" cy="1022549"/>
          </a:xfrm>
        </p:grpSpPr>
        <p:pic>
          <p:nvPicPr>
            <p:cNvPr id="61" name="Picture 60" descr="A picture containing grass, outdoor, ground&#10;&#10;Description automatically generated">
              <a:extLst>
                <a:ext uri="{FF2B5EF4-FFF2-40B4-BE49-F238E27FC236}">
                  <a16:creationId xmlns:a16="http://schemas.microsoft.com/office/drawing/2014/main" id="{A7C7160B-6BC8-4D89-A412-FBB5EEBEDF9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741286" y="2618789"/>
              <a:ext cx="1363397" cy="1022549"/>
            </a:xfrm>
            <a:prstGeom prst="rect">
              <a:avLst/>
            </a:prstGeom>
            <a:ln w="57150">
              <a:solidFill>
                <a:srgbClr val="FFC000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64" name="Picture 63" descr="A close up of a lion's face&#10;&#10;Description automatically generated with medium confidence">
              <a:extLst>
                <a:ext uri="{FF2B5EF4-FFF2-40B4-BE49-F238E27FC236}">
                  <a16:creationId xmlns:a16="http://schemas.microsoft.com/office/drawing/2014/main" id="{EE950F6E-9E87-487F-B5B5-93A00CF5BAE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675897" y="2618789"/>
              <a:ext cx="1350772" cy="1013078"/>
            </a:xfrm>
            <a:prstGeom prst="rect">
              <a:avLst/>
            </a:prstGeom>
            <a:ln w="57150">
              <a:solidFill>
                <a:srgbClr val="00B0F0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</p:pic>
      </p:grp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A90B807-C5CA-4175-B140-50C08D9521C1}"/>
              </a:ext>
            </a:extLst>
          </p:cNvPr>
          <p:cNvCxnSpPr>
            <a:stCxn id="64" idx="3"/>
            <a:endCxn id="61" idx="1"/>
          </p:cNvCxnSpPr>
          <p:nvPr/>
        </p:nvCxnSpPr>
        <p:spPr>
          <a:xfrm>
            <a:off x="2768944" y="3657348"/>
            <a:ext cx="756273" cy="5275"/>
          </a:xfrm>
          <a:prstGeom prst="straightConnector1">
            <a:avLst/>
          </a:prstGeom>
          <a:ln w="381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16BF3A0C-AC45-488A-A0BE-63F6FAF75EDB}"/>
              </a:ext>
            </a:extLst>
          </p:cNvPr>
          <p:cNvCxnSpPr>
            <a:cxnSpLocks/>
            <a:stCxn id="45" idx="0"/>
            <a:endCxn id="43" idx="2"/>
          </p:cNvCxnSpPr>
          <p:nvPr/>
        </p:nvCxnSpPr>
        <p:spPr>
          <a:xfrm flipV="1">
            <a:off x="7852637" y="2824576"/>
            <a:ext cx="1100032" cy="822568"/>
          </a:xfrm>
          <a:prstGeom prst="straightConnector1">
            <a:avLst/>
          </a:prstGeom>
          <a:ln w="38100">
            <a:solidFill>
              <a:schemeClr val="accent3">
                <a:lumMod val="75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321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71D484F8-E34E-486B-B166-721D74A7E18D}"/>
              </a:ext>
            </a:extLst>
          </p:cNvPr>
          <p:cNvGrpSpPr/>
          <p:nvPr/>
        </p:nvGrpSpPr>
        <p:grpSpPr>
          <a:xfrm>
            <a:off x="2522218" y="3418127"/>
            <a:ext cx="7443024" cy="2306016"/>
            <a:chOff x="1891663" y="2563595"/>
            <a:chExt cx="5582268" cy="1729512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1DCB17A4-88DA-471F-B45F-D9C88D9E82F6}"/>
                </a:ext>
              </a:extLst>
            </p:cNvPr>
            <p:cNvGrpSpPr/>
            <p:nvPr/>
          </p:nvGrpSpPr>
          <p:grpSpPr>
            <a:xfrm>
              <a:off x="3641649" y="3126474"/>
              <a:ext cx="3832282" cy="623248"/>
              <a:chOff x="3511785" y="3018939"/>
              <a:chExt cx="3832282" cy="623248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9" name="TextBox 18">
                    <a:extLst>
                      <a:ext uri="{FF2B5EF4-FFF2-40B4-BE49-F238E27FC236}">
                        <a16:creationId xmlns:a16="http://schemas.microsoft.com/office/drawing/2014/main" id="{C0986C1E-7E94-4F29-86BC-41CC2B823F5F}"/>
                      </a:ext>
                    </a:extLst>
                  </p:cNvPr>
                  <p:cNvSpPr txBox="1"/>
                  <p:nvPr/>
                </p:nvSpPr>
                <p:spPr>
                  <a:xfrm>
                    <a:off x="3511785" y="3018939"/>
                    <a:ext cx="607378" cy="623248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GB" sz="4800" i="1">
                              <a:latin typeface="Cambria Math" panose="02040503050406030204" pitchFamily="18" charset="0"/>
                            </a:rPr>
                            <m:t>=</m:t>
                          </m:r>
                        </m:oMath>
                      </m:oMathPara>
                    </a14:m>
                    <a:endParaRPr lang="en-GB" sz="4800" dirty="0"/>
                  </a:p>
                </p:txBody>
              </p:sp>
            </mc:Choice>
            <mc:Fallback>
              <p:sp>
                <p:nvSpPr>
                  <p:cNvPr id="19" name="TextBox 18">
                    <a:extLst>
                      <a:ext uri="{FF2B5EF4-FFF2-40B4-BE49-F238E27FC236}">
                        <a16:creationId xmlns:a16="http://schemas.microsoft.com/office/drawing/2014/main" id="{C0986C1E-7E94-4F29-86BC-41CC2B823F5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511785" y="3018939"/>
                    <a:ext cx="607378" cy="623248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9" name="TextBox 38">
                    <a:extLst>
                      <a:ext uri="{FF2B5EF4-FFF2-40B4-BE49-F238E27FC236}">
                        <a16:creationId xmlns:a16="http://schemas.microsoft.com/office/drawing/2014/main" id="{1BC3DFFE-A5D2-4B72-8FA0-D470DF2D3EB0}"/>
                      </a:ext>
                    </a:extLst>
                  </p:cNvPr>
                  <p:cNvSpPr txBox="1"/>
                  <p:nvPr/>
                </p:nvSpPr>
                <p:spPr>
                  <a:xfrm>
                    <a:off x="6886971" y="3018939"/>
                    <a:ext cx="457096" cy="623248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GB" sz="4800" i="1">
                              <a:latin typeface="Cambria Math" panose="02040503050406030204" pitchFamily="18" charset="0"/>
                            </a:rPr>
                            <m:t>?</m:t>
                          </m:r>
                        </m:oMath>
                      </m:oMathPara>
                    </a14:m>
                    <a:endParaRPr lang="en-GB" sz="4800" dirty="0"/>
                  </a:p>
                </p:txBody>
              </p:sp>
            </mc:Choice>
            <mc:Fallback>
              <p:sp>
                <p:nvSpPr>
                  <p:cNvPr id="39" name="TextBox 38">
                    <a:extLst>
                      <a:ext uri="{FF2B5EF4-FFF2-40B4-BE49-F238E27FC236}">
                        <a16:creationId xmlns:a16="http://schemas.microsoft.com/office/drawing/2014/main" id="{1BC3DFFE-A5D2-4B72-8FA0-D470DF2D3EB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886971" y="3018939"/>
                    <a:ext cx="457096" cy="623248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pic>
          <p:nvPicPr>
            <p:cNvPr id="16" name="Picture 15" descr="A child with a birthday cake&#10;&#10;Description automatically generated with low confidence">
              <a:extLst>
                <a:ext uri="{FF2B5EF4-FFF2-40B4-BE49-F238E27FC236}">
                  <a16:creationId xmlns:a16="http://schemas.microsoft.com/office/drawing/2014/main" id="{9B212CA2-8883-4453-AB6C-EFD5F97EEB5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891663" y="2565571"/>
              <a:ext cx="1725561" cy="1725561"/>
            </a:xfrm>
            <a:prstGeom prst="rect">
              <a:avLst/>
            </a:prstGeom>
          </p:spPr>
        </p:pic>
        <p:pic>
          <p:nvPicPr>
            <p:cNvPr id="18" name="Picture 17" descr="A picture containing grass, outdoor, sky, standing&#10;&#10;Description automatically generated">
              <a:extLst>
                <a:ext uri="{FF2B5EF4-FFF2-40B4-BE49-F238E27FC236}">
                  <a16:creationId xmlns:a16="http://schemas.microsoft.com/office/drawing/2014/main" id="{BD249CCB-3BD8-457F-9406-EBA8D6B226F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283157" y="2563595"/>
              <a:ext cx="2594269" cy="1729512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B8A962E-623F-4A33-9271-D822D9C94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12192000" cy="763600"/>
          </a:xfrm>
        </p:spPr>
        <p:txBody>
          <a:bodyPr/>
          <a:lstStyle/>
          <a:p>
            <a:pPr algn="ctr"/>
            <a:r>
              <a:rPr lang="en-GB" dirty="0"/>
              <a:t>Piped confound quiz</a:t>
            </a:r>
          </a:p>
        </p:txBody>
      </p:sp>
      <p:sp>
        <p:nvSpPr>
          <p:cNvPr id="4" name="Google Shape;75;p15">
            <a:extLst>
              <a:ext uri="{FF2B5EF4-FFF2-40B4-BE49-F238E27FC236}">
                <a16:creationId xmlns:a16="http://schemas.microsoft.com/office/drawing/2014/main" id="{D3576E38-C5FF-4D1E-BF01-7E8DED020055}"/>
              </a:ext>
            </a:extLst>
          </p:cNvPr>
          <p:cNvSpPr/>
          <p:nvPr/>
        </p:nvSpPr>
        <p:spPr>
          <a:xfrm>
            <a:off x="4347584" y="693450"/>
            <a:ext cx="3496833" cy="140300"/>
          </a:xfrm>
          <a:custGeom>
            <a:avLst/>
            <a:gdLst/>
            <a:ahLst/>
            <a:cxnLst/>
            <a:rect l="l" t="t" r="r" b="b"/>
            <a:pathLst>
              <a:path w="104905" h="4209" extrusionOk="0">
                <a:moveTo>
                  <a:pt x="0" y="2010"/>
                </a:moveTo>
                <a:cubicBezTo>
                  <a:pt x="34411" y="-4246"/>
                  <a:pt x="71725" y="11060"/>
                  <a:pt x="104905" y="0"/>
                </a:cubicBezTo>
              </a:path>
            </a:pathLst>
          </a:custGeom>
          <a:noFill/>
          <a:ln w="19050" cap="flat" cmpd="sng">
            <a:solidFill>
              <a:srgbClr val="4C113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3A4D7AD0-38BC-4B0C-AA10-58399B680096}"/>
                  </a:ext>
                </a:extLst>
              </p:cNvPr>
              <p:cNvSpPr txBox="1"/>
              <p:nvPr/>
            </p:nvSpPr>
            <p:spPr>
              <a:xfrm>
                <a:off x="0" y="1867852"/>
                <a:ext cx="12192000" cy="5027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GB" sz="2667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Age</m:t>
                      </m:r>
                      <m:r>
                        <a:rPr lang="en-GB" sz="2667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m:rPr>
                          <m:sty m:val="p"/>
                        </m:rPr>
                        <a:rPr lang="en-GB" sz="2667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Growth</m:t>
                      </m:r>
                      <m:r>
                        <a:rPr lang="en-GB" sz="2667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GB" sz="2667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rate</m:t>
                      </m:r>
                      <m:r>
                        <a:rPr lang="en-GB" sz="2667" i="1" dirty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m:rPr>
                          <m:sty m:val="p"/>
                        </m:rPr>
                        <a:rPr lang="en-GB" sz="2667" dirty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Height</m:t>
                      </m:r>
                    </m:oMath>
                  </m:oMathPara>
                </a14:m>
                <a:endParaRPr lang="en-GB" sz="2667" dirty="0">
                  <a:solidFill>
                    <a:srgbClr val="434343"/>
                  </a:solidFill>
                </a:endParaRPr>
              </a:p>
            </p:txBody>
          </p:sp>
        </mc:Choice>
        <mc:Fallback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3A4D7AD0-38BC-4B0C-AA10-58399B6800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867852"/>
                <a:ext cx="12192000" cy="50276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12C7AF16-67D7-41CE-8E91-4642F0C59711}"/>
              </a:ext>
            </a:extLst>
          </p:cNvPr>
          <p:cNvSpPr txBox="1"/>
          <p:nvPr/>
        </p:nvSpPr>
        <p:spPr>
          <a:xfrm>
            <a:off x="1" y="2558376"/>
            <a:ext cx="121920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If I am 3 years old, will I be short, medium or tall?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42C35C0-EEF2-4226-A8B2-B9C53F3CD77B}"/>
              </a:ext>
            </a:extLst>
          </p:cNvPr>
          <p:cNvSpPr txBox="1"/>
          <p:nvPr/>
        </p:nvSpPr>
        <p:spPr>
          <a:xfrm>
            <a:off x="1" y="6031149"/>
            <a:ext cx="121920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If you knew Z, would you still know that </a:t>
            </a:r>
            <a:r>
              <a:rPr lang="en-GB" sz="2400" dirty="0">
                <a:solidFill>
                  <a:srgbClr val="0070C0"/>
                </a:solidFill>
              </a:rPr>
              <a:t>age </a:t>
            </a:r>
            <a:r>
              <a:rPr lang="en-GB" sz="2400" dirty="0"/>
              <a:t>influences </a:t>
            </a:r>
            <a:r>
              <a:rPr lang="en-GB" sz="2400" dirty="0">
                <a:solidFill>
                  <a:srgbClr val="FFC000"/>
                </a:solidFill>
              </a:rPr>
              <a:t>height</a:t>
            </a:r>
            <a:r>
              <a:rPr lang="en-GB" sz="2400" dirty="0"/>
              <a:t>?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E202F5B-08DB-4B90-AA18-4DB3F515682C}"/>
              </a:ext>
            </a:extLst>
          </p:cNvPr>
          <p:cNvSpPr/>
          <p:nvPr/>
        </p:nvSpPr>
        <p:spPr>
          <a:xfrm>
            <a:off x="4609863" y="1844794"/>
            <a:ext cx="2568860" cy="52928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chemeClr val="tx1"/>
                </a:solidFill>
                <a:latin typeface="+mj-lt"/>
              </a:rPr>
              <a:t>causes (?)</a:t>
            </a:r>
            <a:endParaRPr lang="en-GB" sz="3733" dirty="0">
              <a:solidFill>
                <a:schemeClr val="tx1"/>
              </a:solidFill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78B0087-33F0-4C90-9053-376422743CD3}"/>
              </a:ext>
            </a:extLst>
          </p:cNvPr>
          <p:cNvGrpSpPr/>
          <p:nvPr/>
        </p:nvGrpSpPr>
        <p:grpSpPr>
          <a:xfrm>
            <a:off x="85246" y="111222"/>
            <a:ext cx="2088545" cy="1445055"/>
            <a:chOff x="6155850" y="1341040"/>
            <a:chExt cx="1566409" cy="1083791"/>
          </a:xfrm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680EEA1E-A023-408D-951E-10C5D4A93829}"/>
                </a:ext>
              </a:extLst>
            </p:cNvPr>
            <p:cNvSpPr/>
            <p:nvPr/>
          </p:nvSpPr>
          <p:spPr>
            <a:xfrm>
              <a:off x="7287658" y="2021511"/>
              <a:ext cx="434601" cy="403320"/>
            </a:xfrm>
            <a:prstGeom prst="ellipse">
              <a:avLst/>
            </a:prstGeom>
            <a:solidFill>
              <a:srgbClr val="434343"/>
            </a:solidFill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Y</a:t>
              </a: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D050F98A-D5CC-425B-929F-6202E032F235}"/>
                </a:ext>
              </a:extLst>
            </p:cNvPr>
            <p:cNvSpPr/>
            <p:nvPr/>
          </p:nvSpPr>
          <p:spPr>
            <a:xfrm>
              <a:off x="6155850" y="2021511"/>
              <a:ext cx="434602" cy="403319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 w="38100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X</a:t>
              </a: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E45A2614-A8FB-4258-B9C4-0A4E14601047}"/>
                </a:ext>
              </a:extLst>
            </p:cNvPr>
            <p:cNvSpPr/>
            <p:nvPr/>
          </p:nvSpPr>
          <p:spPr>
            <a:xfrm>
              <a:off x="6725536" y="1341040"/>
              <a:ext cx="434601" cy="403319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Z</a:t>
              </a:r>
            </a:p>
          </p:txBody>
        </p: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1C17BE46-CB63-406D-95E0-9CC8EE36C711}"/>
                </a:ext>
              </a:extLst>
            </p:cNvPr>
            <p:cNvCxnSpPr>
              <a:stCxn id="24" idx="5"/>
              <a:endCxn id="22" idx="1"/>
            </p:cNvCxnSpPr>
            <p:nvPr/>
          </p:nvCxnSpPr>
          <p:spPr>
            <a:xfrm>
              <a:off x="7096491" y="1685294"/>
              <a:ext cx="254813" cy="39528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A8249878-2940-44E0-B369-43AA19A969CE}"/>
                </a:ext>
              </a:extLst>
            </p:cNvPr>
            <p:cNvCxnSpPr>
              <a:stCxn id="23" idx="7"/>
              <a:endCxn id="24" idx="3"/>
            </p:cNvCxnSpPr>
            <p:nvPr/>
          </p:nvCxnSpPr>
          <p:spPr>
            <a:xfrm flipV="1">
              <a:off x="6526806" y="1685294"/>
              <a:ext cx="262376" cy="39528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5C1C5260-BC3D-4ACA-B369-27FC15CEC43C}"/>
              </a:ext>
            </a:extLst>
          </p:cNvPr>
          <p:cNvSpPr/>
          <p:nvPr/>
        </p:nvSpPr>
        <p:spPr>
          <a:xfrm>
            <a:off x="3623732" y="3505584"/>
            <a:ext cx="4944533" cy="2192867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667" dirty="0"/>
              <a:t>If we don’t want to underestimate the effect Age has on Height, we </a:t>
            </a:r>
            <a:r>
              <a:rPr lang="en-GB" sz="2667" b="1" u="sng" dirty="0"/>
              <a:t>should not </a:t>
            </a:r>
            <a:r>
              <a:rPr lang="en-GB" sz="2667" dirty="0"/>
              <a:t>include Growth rate.</a:t>
            </a:r>
          </a:p>
        </p:txBody>
      </p:sp>
    </p:spTree>
    <p:extLst>
      <p:ext uri="{BB962C8B-B14F-4D97-AF65-F5344CB8AC3E}">
        <p14:creationId xmlns:p14="http://schemas.microsoft.com/office/powerpoint/2010/main" val="1545539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8" grpId="0"/>
      <p:bldP spid="33" grpId="0"/>
      <p:bldP spid="34" grpId="0" animBg="1"/>
      <p:bldP spid="34" grpId="1" animBg="1"/>
      <p:bldP spid="38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A962E-623F-4A33-9271-D822D9C94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12192000" cy="763600"/>
          </a:xfrm>
        </p:spPr>
        <p:txBody>
          <a:bodyPr/>
          <a:lstStyle/>
          <a:p>
            <a:pPr algn="ctr"/>
            <a:r>
              <a:rPr lang="en-GB" dirty="0"/>
              <a:t>The confounds</a:t>
            </a:r>
          </a:p>
        </p:txBody>
      </p:sp>
      <p:sp>
        <p:nvSpPr>
          <p:cNvPr id="4" name="Google Shape;75;p15">
            <a:extLst>
              <a:ext uri="{FF2B5EF4-FFF2-40B4-BE49-F238E27FC236}">
                <a16:creationId xmlns:a16="http://schemas.microsoft.com/office/drawing/2014/main" id="{D3576E38-C5FF-4D1E-BF01-7E8DED020055}"/>
              </a:ext>
            </a:extLst>
          </p:cNvPr>
          <p:cNvSpPr/>
          <p:nvPr/>
        </p:nvSpPr>
        <p:spPr>
          <a:xfrm>
            <a:off x="4347584" y="693450"/>
            <a:ext cx="3496833" cy="140300"/>
          </a:xfrm>
          <a:custGeom>
            <a:avLst/>
            <a:gdLst/>
            <a:ahLst/>
            <a:cxnLst/>
            <a:rect l="l" t="t" r="r" b="b"/>
            <a:pathLst>
              <a:path w="104905" h="4209" extrusionOk="0">
                <a:moveTo>
                  <a:pt x="0" y="2010"/>
                </a:moveTo>
                <a:cubicBezTo>
                  <a:pt x="34411" y="-4246"/>
                  <a:pt x="71725" y="11060"/>
                  <a:pt x="104905" y="0"/>
                </a:cubicBezTo>
              </a:path>
            </a:pathLst>
          </a:custGeom>
          <a:noFill/>
          <a:ln w="19050" cap="flat" cmpd="sng">
            <a:solidFill>
              <a:srgbClr val="4C113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606A284-FF7B-4214-B699-4381B44713D1}"/>
              </a:ext>
            </a:extLst>
          </p:cNvPr>
          <p:cNvGrpSpPr/>
          <p:nvPr/>
        </p:nvGrpSpPr>
        <p:grpSpPr>
          <a:xfrm>
            <a:off x="3553794" y="1178738"/>
            <a:ext cx="5198383" cy="5130639"/>
            <a:chOff x="3525957" y="830264"/>
            <a:chExt cx="3898787" cy="3847979"/>
          </a:xfrm>
        </p:grpSpPr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14BD0FBE-1901-44C1-B2BF-04A0F26F2F78}"/>
                </a:ext>
              </a:extLst>
            </p:cNvPr>
            <p:cNvGrpSpPr/>
            <p:nvPr/>
          </p:nvGrpSpPr>
          <p:grpSpPr>
            <a:xfrm>
              <a:off x="5476773" y="830264"/>
              <a:ext cx="1566409" cy="1594567"/>
              <a:chOff x="5476773" y="830264"/>
              <a:chExt cx="1566409" cy="1594567"/>
            </a:xfrm>
          </p:grpSpPr>
          <p:grpSp>
            <p:nvGrpSpPr>
              <p:cNvPr id="74" name="Group 73">
                <a:extLst>
                  <a:ext uri="{FF2B5EF4-FFF2-40B4-BE49-F238E27FC236}">
                    <a16:creationId xmlns:a16="http://schemas.microsoft.com/office/drawing/2014/main" id="{E6A70E16-FEC9-4152-B419-97B35E22CD42}"/>
                  </a:ext>
                </a:extLst>
              </p:cNvPr>
              <p:cNvGrpSpPr/>
              <p:nvPr/>
            </p:nvGrpSpPr>
            <p:grpSpPr>
              <a:xfrm>
                <a:off x="5476773" y="1341040"/>
                <a:ext cx="1566409" cy="1083791"/>
                <a:chOff x="6155850" y="1341040"/>
                <a:chExt cx="1566409" cy="1083791"/>
              </a:xfrm>
            </p:grpSpPr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533F65E5-54E3-4F6D-8E50-D41D0D93A99A}"/>
                    </a:ext>
                  </a:extLst>
                </p:cNvPr>
                <p:cNvSpPr/>
                <p:nvPr/>
              </p:nvSpPr>
              <p:spPr>
                <a:xfrm>
                  <a:off x="7287658" y="2021511"/>
                  <a:ext cx="434601" cy="403320"/>
                </a:xfrm>
                <a:prstGeom prst="ellipse">
                  <a:avLst/>
                </a:prstGeom>
                <a:solidFill>
                  <a:srgbClr val="434343"/>
                </a:solidFill>
                <a:ln w="38100"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Y</a:t>
                  </a:r>
                </a:p>
              </p:txBody>
            </p:sp>
            <p:sp>
              <p:nvSpPr>
                <p:cNvPr id="30" name="Oval 29">
                  <a:extLst>
                    <a:ext uri="{FF2B5EF4-FFF2-40B4-BE49-F238E27FC236}">
                      <a16:creationId xmlns:a16="http://schemas.microsoft.com/office/drawing/2014/main" id="{39613A30-CEA7-43EB-9DD4-31A2596A3525}"/>
                    </a:ext>
                  </a:extLst>
                </p:cNvPr>
                <p:cNvSpPr/>
                <p:nvPr/>
              </p:nvSpPr>
              <p:spPr>
                <a:xfrm>
                  <a:off x="6155850" y="2021511"/>
                  <a:ext cx="434602" cy="403319"/>
                </a:xfrm>
                <a:prstGeom prst="ellipse">
                  <a:avLst/>
                </a:prstGeom>
                <a:solidFill>
                  <a:schemeClr val="accent5">
                    <a:lumMod val="50000"/>
                  </a:schemeClr>
                </a:solidFill>
                <a:ln w="38100">
                  <a:solidFill>
                    <a:schemeClr val="accent5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X</a:t>
                  </a:r>
                </a:p>
              </p:txBody>
            </p:sp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4B801E74-A95D-44EA-B4DF-54DAACC4A3E1}"/>
                    </a:ext>
                  </a:extLst>
                </p:cNvPr>
                <p:cNvSpPr/>
                <p:nvPr/>
              </p:nvSpPr>
              <p:spPr>
                <a:xfrm>
                  <a:off x="6725536" y="1341040"/>
                  <a:ext cx="434601" cy="403319"/>
                </a:xfrm>
                <a:prstGeom prst="ellipse">
                  <a:avLst/>
                </a:prstGeom>
                <a:solidFill>
                  <a:schemeClr val="bg2">
                    <a:lumMod val="75000"/>
                  </a:schemeClr>
                </a:solidFill>
                <a:ln w="3810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Z</a:t>
                  </a:r>
                </a:p>
              </p:txBody>
            </p:sp>
            <p:cxnSp>
              <p:nvCxnSpPr>
                <p:cNvPr id="34" name="Straight Arrow Connector 33">
                  <a:extLst>
                    <a:ext uri="{FF2B5EF4-FFF2-40B4-BE49-F238E27FC236}">
                      <a16:creationId xmlns:a16="http://schemas.microsoft.com/office/drawing/2014/main" id="{A41A44C1-653D-4DC3-8B5B-5B648C14E08A}"/>
                    </a:ext>
                  </a:extLst>
                </p:cNvPr>
                <p:cNvCxnSpPr>
                  <a:stCxn id="32" idx="5"/>
                  <a:endCxn id="28" idx="1"/>
                </p:cNvCxnSpPr>
                <p:nvPr/>
              </p:nvCxnSpPr>
              <p:spPr>
                <a:xfrm>
                  <a:off x="7096491" y="1685294"/>
                  <a:ext cx="254813" cy="395282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Straight Arrow Connector 21">
                  <a:extLst>
                    <a:ext uri="{FF2B5EF4-FFF2-40B4-BE49-F238E27FC236}">
                      <a16:creationId xmlns:a16="http://schemas.microsoft.com/office/drawing/2014/main" id="{6AE978E5-F091-4821-96C6-B724F076F9B2}"/>
                    </a:ext>
                  </a:extLst>
                </p:cNvPr>
                <p:cNvCxnSpPr>
                  <a:stCxn id="30" idx="7"/>
                  <a:endCxn id="32" idx="3"/>
                </p:cNvCxnSpPr>
                <p:nvPr/>
              </p:nvCxnSpPr>
              <p:spPr>
                <a:xfrm flipV="1">
                  <a:off x="6526806" y="1685294"/>
                  <a:ext cx="262376" cy="395282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E9C42D1A-BCCF-453E-9579-4AFC9AB8A212}"/>
                  </a:ext>
                </a:extLst>
              </p:cNvPr>
              <p:cNvSpPr txBox="1"/>
              <p:nvPr/>
            </p:nvSpPr>
            <p:spPr>
              <a:xfrm>
                <a:off x="5991889" y="830264"/>
                <a:ext cx="589345" cy="34624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2400" dirty="0"/>
                  <a:t>Pipe</a:t>
                </a:r>
              </a:p>
            </p:txBody>
          </p:sp>
        </p:grpSp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354C2958-F320-4C48-A8CA-5C868A94C0AF}"/>
                </a:ext>
              </a:extLst>
            </p:cNvPr>
            <p:cNvGrpSpPr/>
            <p:nvPr/>
          </p:nvGrpSpPr>
          <p:grpSpPr>
            <a:xfrm>
              <a:off x="3525957" y="837131"/>
              <a:ext cx="1566409" cy="1603388"/>
              <a:chOff x="3525957" y="837131"/>
              <a:chExt cx="1566409" cy="1603388"/>
            </a:xfrm>
          </p:grpSpPr>
          <p:grpSp>
            <p:nvGrpSpPr>
              <p:cNvPr id="73" name="Group 72">
                <a:extLst>
                  <a:ext uri="{FF2B5EF4-FFF2-40B4-BE49-F238E27FC236}">
                    <a16:creationId xmlns:a16="http://schemas.microsoft.com/office/drawing/2014/main" id="{ADABC815-811B-49C9-992B-C158E810C735}"/>
                  </a:ext>
                </a:extLst>
              </p:cNvPr>
              <p:cNvGrpSpPr/>
              <p:nvPr/>
            </p:nvGrpSpPr>
            <p:grpSpPr>
              <a:xfrm>
                <a:off x="3525957" y="1356728"/>
                <a:ext cx="1566409" cy="1083791"/>
                <a:chOff x="4205034" y="1356728"/>
                <a:chExt cx="1566409" cy="1083791"/>
              </a:xfrm>
            </p:grpSpPr>
            <p:sp>
              <p:nvSpPr>
                <p:cNvPr id="18" name="Oval 17">
                  <a:extLst>
                    <a:ext uri="{FF2B5EF4-FFF2-40B4-BE49-F238E27FC236}">
                      <a16:creationId xmlns:a16="http://schemas.microsoft.com/office/drawing/2014/main" id="{75C522C8-ABFA-4058-9BAE-C456C9C05CF4}"/>
                    </a:ext>
                  </a:extLst>
                </p:cNvPr>
                <p:cNvSpPr/>
                <p:nvPr/>
              </p:nvSpPr>
              <p:spPr>
                <a:xfrm>
                  <a:off x="5336842" y="2037199"/>
                  <a:ext cx="434601" cy="403320"/>
                </a:xfrm>
                <a:prstGeom prst="ellipse">
                  <a:avLst/>
                </a:prstGeom>
                <a:solidFill>
                  <a:srgbClr val="434343"/>
                </a:solidFill>
                <a:ln w="38100"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Y</a:t>
                  </a:r>
                </a:p>
              </p:txBody>
            </p:sp>
            <p:sp>
              <p:nvSpPr>
                <p:cNvPr id="19" name="Oval 18">
                  <a:extLst>
                    <a:ext uri="{FF2B5EF4-FFF2-40B4-BE49-F238E27FC236}">
                      <a16:creationId xmlns:a16="http://schemas.microsoft.com/office/drawing/2014/main" id="{AD059DA1-CEFB-4BBD-A284-532D2AC070BD}"/>
                    </a:ext>
                  </a:extLst>
                </p:cNvPr>
                <p:cNvSpPr/>
                <p:nvPr/>
              </p:nvSpPr>
              <p:spPr>
                <a:xfrm>
                  <a:off x="4205034" y="2037199"/>
                  <a:ext cx="434602" cy="403319"/>
                </a:xfrm>
                <a:prstGeom prst="ellipse">
                  <a:avLst/>
                </a:prstGeom>
                <a:solidFill>
                  <a:schemeClr val="accent5">
                    <a:lumMod val="50000"/>
                  </a:schemeClr>
                </a:solidFill>
                <a:ln w="38100">
                  <a:solidFill>
                    <a:schemeClr val="accent5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X</a:t>
                  </a:r>
                </a:p>
              </p:txBody>
            </p:sp>
            <p:sp>
              <p:nvSpPr>
                <p:cNvPr id="20" name="Oval 19">
                  <a:extLst>
                    <a:ext uri="{FF2B5EF4-FFF2-40B4-BE49-F238E27FC236}">
                      <a16:creationId xmlns:a16="http://schemas.microsoft.com/office/drawing/2014/main" id="{4A4066AC-A54A-467D-88E0-DF35BA925149}"/>
                    </a:ext>
                  </a:extLst>
                </p:cNvPr>
                <p:cNvSpPr/>
                <p:nvPr/>
              </p:nvSpPr>
              <p:spPr>
                <a:xfrm>
                  <a:off x="4774720" y="1356728"/>
                  <a:ext cx="434601" cy="403319"/>
                </a:xfrm>
                <a:prstGeom prst="ellipse">
                  <a:avLst/>
                </a:prstGeom>
                <a:solidFill>
                  <a:srgbClr val="434343"/>
                </a:solidFill>
                <a:ln w="3810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Z</a:t>
                  </a:r>
                </a:p>
              </p:txBody>
            </p:sp>
            <p:cxnSp>
              <p:nvCxnSpPr>
                <p:cNvPr id="8" name="Straight Arrow Connector 7">
                  <a:extLst>
                    <a:ext uri="{FF2B5EF4-FFF2-40B4-BE49-F238E27FC236}">
                      <a16:creationId xmlns:a16="http://schemas.microsoft.com/office/drawing/2014/main" id="{A75A2A15-38D9-4ED3-93A0-ADB28A204398}"/>
                    </a:ext>
                  </a:extLst>
                </p:cNvPr>
                <p:cNvCxnSpPr>
                  <a:stCxn id="20" idx="3"/>
                  <a:endCxn id="19" idx="7"/>
                </p:cNvCxnSpPr>
                <p:nvPr/>
              </p:nvCxnSpPr>
              <p:spPr>
                <a:xfrm flipH="1">
                  <a:off x="4575990" y="1700982"/>
                  <a:ext cx="262376" cy="395282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" name="Straight Arrow Connector 11">
                  <a:extLst>
                    <a:ext uri="{FF2B5EF4-FFF2-40B4-BE49-F238E27FC236}">
                      <a16:creationId xmlns:a16="http://schemas.microsoft.com/office/drawing/2014/main" id="{28B291C2-904F-4007-89AA-0095EB52F029}"/>
                    </a:ext>
                  </a:extLst>
                </p:cNvPr>
                <p:cNvCxnSpPr>
                  <a:stCxn id="20" idx="5"/>
                  <a:endCxn id="18" idx="1"/>
                </p:cNvCxnSpPr>
                <p:nvPr/>
              </p:nvCxnSpPr>
              <p:spPr>
                <a:xfrm>
                  <a:off x="5145675" y="1700982"/>
                  <a:ext cx="254813" cy="395282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E4B113D6-8AAE-4097-851A-4EC467169931}"/>
                  </a:ext>
                </a:extLst>
              </p:cNvPr>
              <p:cNvSpPr txBox="1"/>
              <p:nvPr/>
            </p:nvSpPr>
            <p:spPr>
              <a:xfrm>
                <a:off x="4041874" y="837131"/>
                <a:ext cx="614591" cy="34624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2400" dirty="0"/>
                  <a:t>Fork</a:t>
                </a:r>
              </a:p>
            </p:txBody>
          </p:sp>
        </p:grpSp>
        <p:grpSp>
          <p:nvGrpSpPr>
            <p:cNvPr id="96" name="Group 95">
              <a:extLst>
                <a:ext uri="{FF2B5EF4-FFF2-40B4-BE49-F238E27FC236}">
                  <a16:creationId xmlns:a16="http://schemas.microsoft.com/office/drawing/2014/main" id="{78ED9010-4665-484F-8E6C-DA3A0A970AC1}"/>
                </a:ext>
              </a:extLst>
            </p:cNvPr>
            <p:cNvGrpSpPr/>
            <p:nvPr/>
          </p:nvGrpSpPr>
          <p:grpSpPr>
            <a:xfrm>
              <a:off x="3525957" y="3002543"/>
              <a:ext cx="1566409" cy="1652966"/>
              <a:chOff x="3525957" y="3002543"/>
              <a:chExt cx="1566409" cy="1652966"/>
            </a:xfrm>
          </p:grpSpPr>
          <p:grpSp>
            <p:nvGrpSpPr>
              <p:cNvPr id="70" name="Group 69">
                <a:extLst>
                  <a:ext uri="{FF2B5EF4-FFF2-40B4-BE49-F238E27FC236}">
                    <a16:creationId xmlns:a16="http://schemas.microsoft.com/office/drawing/2014/main" id="{80F3DDA8-C395-407E-9906-32803A28160A}"/>
                  </a:ext>
                </a:extLst>
              </p:cNvPr>
              <p:cNvGrpSpPr/>
              <p:nvPr/>
            </p:nvGrpSpPr>
            <p:grpSpPr>
              <a:xfrm>
                <a:off x="3525957" y="3571718"/>
                <a:ext cx="1566409" cy="1083791"/>
                <a:chOff x="4205034" y="3383452"/>
                <a:chExt cx="1566409" cy="1083791"/>
              </a:xfrm>
            </p:grpSpPr>
            <p:sp>
              <p:nvSpPr>
                <p:cNvPr id="23" name="Oval 22">
                  <a:extLst>
                    <a:ext uri="{FF2B5EF4-FFF2-40B4-BE49-F238E27FC236}">
                      <a16:creationId xmlns:a16="http://schemas.microsoft.com/office/drawing/2014/main" id="{2E45509B-490B-4D1A-9F28-C9A5842BB263}"/>
                    </a:ext>
                  </a:extLst>
                </p:cNvPr>
                <p:cNvSpPr/>
                <p:nvPr/>
              </p:nvSpPr>
              <p:spPr>
                <a:xfrm>
                  <a:off x="5336842" y="4063923"/>
                  <a:ext cx="434601" cy="403320"/>
                </a:xfrm>
                <a:prstGeom prst="ellipse">
                  <a:avLst/>
                </a:prstGeom>
                <a:solidFill>
                  <a:srgbClr val="434343"/>
                </a:solidFill>
                <a:ln w="38100"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Y</a:t>
                  </a:r>
                </a:p>
              </p:txBody>
            </p:sp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36BE5D0A-4C42-4390-AE7C-F0ED68019773}"/>
                    </a:ext>
                  </a:extLst>
                </p:cNvPr>
                <p:cNvSpPr/>
                <p:nvPr/>
              </p:nvSpPr>
              <p:spPr>
                <a:xfrm>
                  <a:off x="4205034" y="4063923"/>
                  <a:ext cx="434602" cy="403319"/>
                </a:xfrm>
                <a:prstGeom prst="ellipse">
                  <a:avLst/>
                </a:prstGeom>
                <a:solidFill>
                  <a:schemeClr val="accent5">
                    <a:lumMod val="50000"/>
                  </a:schemeClr>
                </a:solidFill>
                <a:ln w="38100">
                  <a:solidFill>
                    <a:schemeClr val="accent5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X</a:t>
                  </a:r>
                </a:p>
              </p:txBody>
            </p:sp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1F01C355-0AE3-4E43-B31E-6F67F82CCD9D}"/>
                    </a:ext>
                  </a:extLst>
                </p:cNvPr>
                <p:cNvSpPr/>
                <p:nvPr/>
              </p:nvSpPr>
              <p:spPr>
                <a:xfrm>
                  <a:off x="4774720" y="3383452"/>
                  <a:ext cx="434601" cy="403319"/>
                </a:xfrm>
                <a:prstGeom prst="ellipse">
                  <a:avLst/>
                </a:prstGeom>
                <a:solidFill>
                  <a:schemeClr val="bg2">
                    <a:lumMod val="75000"/>
                  </a:schemeClr>
                </a:solidFill>
                <a:ln w="3810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Z</a:t>
                  </a:r>
                </a:p>
              </p:txBody>
            </p:sp>
            <p:cxnSp>
              <p:nvCxnSpPr>
                <p:cNvPr id="36" name="Straight Arrow Connector 35">
                  <a:extLst>
                    <a:ext uri="{FF2B5EF4-FFF2-40B4-BE49-F238E27FC236}">
                      <a16:creationId xmlns:a16="http://schemas.microsoft.com/office/drawing/2014/main" id="{ADC4F697-437D-4542-850E-E5CD624387BF}"/>
                    </a:ext>
                  </a:extLst>
                </p:cNvPr>
                <p:cNvCxnSpPr>
                  <a:stCxn id="24" idx="7"/>
                  <a:endCxn id="25" idx="3"/>
                </p:cNvCxnSpPr>
                <p:nvPr/>
              </p:nvCxnSpPr>
              <p:spPr>
                <a:xfrm flipV="1">
                  <a:off x="4575990" y="3727706"/>
                  <a:ext cx="262376" cy="395282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Arrow Connector 37">
                  <a:extLst>
                    <a:ext uri="{FF2B5EF4-FFF2-40B4-BE49-F238E27FC236}">
                      <a16:creationId xmlns:a16="http://schemas.microsoft.com/office/drawing/2014/main" id="{D75AC29F-F300-4106-B39B-5A6067C1B02E}"/>
                    </a:ext>
                  </a:extLst>
                </p:cNvPr>
                <p:cNvCxnSpPr>
                  <a:stCxn id="23" idx="1"/>
                  <a:endCxn id="25" idx="5"/>
                </p:cNvCxnSpPr>
                <p:nvPr/>
              </p:nvCxnSpPr>
              <p:spPr>
                <a:xfrm flipH="1" flipV="1">
                  <a:off x="5145675" y="3727706"/>
                  <a:ext cx="254813" cy="395282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B55EC461-1B4D-48D9-9BB9-A14CB9D35624}"/>
                  </a:ext>
                </a:extLst>
              </p:cNvPr>
              <p:cNvSpPr txBox="1"/>
              <p:nvPr/>
            </p:nvSpPr>
            <p:spPr>
              <a:xfrm>
                <a:off x="3916253" y="3002543"/>
                <a:ext cx="947615" cy="34624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2400" dirty="0"/>
                  <a:t>Collider</a:t>
                </a:r>
              </a:p>
            </p:txBody>
          </p:sp>
        </p:grpSp>
        <p:grpSp>
          <p:nvGrpSpPr>
            <p:cNvPr id="97" name="Group 96">
              <a:extLst>
                <a:ext uri="{FF2B5EF4-FFF2-40B4-BE49-F238E27FC236}">
                  <a16:creationId xmlns:a16="http://schemas.microsoft.com/office/drawing/2014/main" id="{F9B8E94E-931F-4959-8839-F3CD81C64B46}"/>
                </a:ext>
              </a:extLst>
            </p:cNvPr>
            <p:cNvGrpSpPr/>
            <p:nvPr/>
          </p:nvGrpSpPr>
          <p:grpSpPr>
            <a:xfrm>
              <a:off x="5259472" y="3002542"/>
              <a:ext cx="2165272" cy="1675701"/>
              <a:chOff x="5259472" y="3002542"/>
              <a:chExt cx="2165272" cy="1675701"/>
            </a:xfrm>
          </p:grpSpPr>
          <p:grpSp>
            <p:nvGrpSpPr>
              <p:cNvPr id="69" name="Group 68">
                <a:extLst>
                  <a:ext uri="{FF2B5EF4-FFF2-40B4-BE49-F238E27FC236}">
                    <a16:creationId xmlns:a16="http://schemas.microsoft.com/office/drawing/2014/main" id="{1572508C-6C04-477C-BEE0-69897BE62DF7}"/>
                  </a:ext>
                </a:extLst>
              </p:cNvPr>
              <p:cNvGrpSpPr/>
              <p:nvPr/>
            </p:nvGrpSpPr>
            <p:grpSpPr>
              <a:xfrm>
                <a:off x="5259472" y="3482857"/>
                <a:ext cx="2165272" cy="1195386"/>
                <a:chOff x="5938549" y="3482857"/>
                <a:chExt cx="2165272" cy="1195386"/>
              </a:xfrm>
            </p:grpSpPr>
            <p:sp>
              <p:nvSpPr>
                <p:cNvPr id="42" name="Oval 41">
                  <a:extLst>
                    <a:ext uri="{FF2B5EF4-FFF2-40B4-BE49-F238E27FC236}">
                      <a16:creationId xmlns:a16="http://schemas.microsoft.com/office/drawing/2014/main" id="{6674F3F0-220D-4F18-B188-AAF77B01E2A1}"/>
                    </a:ext>
                  </a:extLst>
                </p:cNvPr>
                <p:cNvSpPr/>
                <p:nvPr/>
              </p:nvSpPr>
              <p:spPr>
                <a:xfrm>
                  <a:off x="7669220" y="3482857"/>
                  <a:ext cx="434601" cy="403320"/>
                </a:xfrm>
                <a:prstGeom prst="ellipse">
                  <a:avLst/>
                </a:prstGeom>
                <a:solidFill>
                  <a:srgbClr val="434343"/>
                </a:solidFill>
                <a:ln w="38100"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Y</a:t>
                  </a:r>
                </a:p>
              </p:txBody>
            </p:sp>
            <p:sp>
              <p:nvSpPr>
                <p:cNvPr id="43" name="Oval 42">
                  <a:extLst>
                    <a:ext uri="{FF2B5EF4-FFF2-40B4-BE49-F238E27FC236}">
                      <a16:creationId xmlns:a16="http://schemas.microsoft.com/office/drawing/2014/main" id="{2D53BDBE-54FC-442D-8CDE-41E6E793354A}"/>
                    </a:ext>
                  </a:extLst>
                </p:cNvPr>
                <p:cNvSpPr/>
                <p:nvPr/>
              </p:nvSpPr>
              <p:spPr>
                <a:xfrm>
                  <a:off x="5938549" y="3482858"/>
                  <a:ext cx="434602" cy="403319"/>
                </a:xfrm>
                <a:prstGeom prst="ellipse">
                  <a:avLst/>
                </a:prstGeom>
                <a:solidFill>
                  <a:schemeClr val="accent5">
                    <a:lumMod val="50000"/>
                  </a:schemeClr>
                </a:solidFill>
                <a:ln w="38100">
                  <a:solidFill>
                    <a:schemeClr val="accent5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X</a:t>
                  </a:r>
                </a:p>
              </p:txBody>
            </p: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480A74BE-D5F4-4C32-9151-8EC13A98740A}"/>
                    </a:ext>
                  </a:extLst>
                </p:cNvPr>
                <p:cNvSpPr/>
                <p:nvPr/>
              </p:nvSpPr>
              <p:spPr>
                <a:xfrm>
                  <a:off x="6803885" y="3482859"/>
                  <a:ext cx="434601" cy="403319"/>
                </a:xfrm>
                <a:prstGeom prst="ellipse">
                  <a:avLst/>
                </a:prstGeom>
                <a:solidFill>
                  <a:schemeClr val="bg2">
                    <a:lumMod val="75000"/>
                  </a:schemeClr>
                </a:solidFill>
                <a:ln w="3810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Z</a:t>
                  </a:r>
                </a:p>
              </p:txBody>
            </p:sp>
            <p:cxnSp>
              <p:nvCxnSpPr>
                <p:cNvPr id="45" name="Straight Arrow Connector 44">
                  <a:extLst>
                    <a:ext uri="{FF2B5EF4-FFF2-40B4-BE49-F238E27FC236}">
                      <a16:creationId xmlns:a16="http://schemas.microsoft.com/office/drawing/2014/main" id="{40013FDE-CAFD-45FF-82A7-CFFF72045FA6}"/>
                    </a:ext>
                  </a:extLst>
                </p:cNvPr>
                <p:cNvCxnSpPr>
                  <a:cxnSpLocks/>
                  <a:stCxn id="43" idx="6"/>
                  <a:endCxn id="44" idx="2"/>
                </p:cNvCxnSpPr>
                <p:nvPr/>
              </p:nvCxnSpPr>
              <p:spPr>
                <a:xfrm>
                  <a:off x="6373151" y="3684518"/>
                  <a:ext cx="430734" cy="1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Straight Arrow Connector 51">
                  <a:extLst>
                    <a:ext uri="{FF2B5EF4-FFF2-40B4-BE49-F238E27FC236}">
                      <a16:creationId xmlns:a16="http://schemas.microsoft.com/office/drawing/2014/main" id="{08C0A6E7-AF67-4C21-A2BF-5BBAE5D7F026}"/>
                    </a:ext>
                  </a:extLst>
                </p:cNvPr>
                <p:cNvCxnSpPr>
                  <a:stCxn id="44" idx="6"/>
                  <a:endCxn id="42" idx="2"/>
                </p:cNvCxnSpPr>
                <p:nvPr/>
              </p:nvCxnSpPr>
              <p:spPr>
                <a:xfrm flipV="1">
                  <a:off x="7238486" y="3684517"/>
                  <a:ext cx="430734" cy="2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3" name="Oval 52">
                  <a:extLst>
                    <a:ext uri="{FF2B5EF4-FFF2-40B4-BE49-F238E27FC236}">
                      <a16:creationId xmlns:a16="http://schemas.microsoft.com/office/drawing/2014/main" id="{0D74FCBD-9648-48D3-B3A4-8FB638E75F1C}"/>
                    </a:ext>
                  </a:extLst>
                </p:cNvPr>
                <p:cNvSpPr/>
                <p:nvPr/>
              </p:nvSpPr>
              <p:spPr>
                <a:xfrm>
                  <a:off x="6809961" y="4274924"/>
                  <a:ext cx="434601" cy="403319"/>
                </a:xfrm>
                <a:prstGeom prst="ellipse">
                  <a:avLst/>
                </a:prstGeom>
                <a:solidFill>
                  <a:schemeClr val="bg2">
                    <a:lumMod val="75000"/>
                  </a:schemeClr>
                </a:solidFill>
                <a:ln w="3810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V</a:t>
                  </a:r>
                </a:p>
              </p:txBody>
            </p:sp>
            <p:cxnSp>
              <p:nvCxnSpPr>
                <p:cNvPr id="55" name="Straight Arrow Connector 54">
                  <a:extLst>
                    <a:ext uri="{FF2B5EF4-FFF2-40B4-BE49-F238E27FC236}">
                      <a16:creationId xmlns:a16="http://schemas.microsoft.com/office/drawing/2014/main" id="{3517A162-BFD9-4153-959B-667DA7DA9D65}"/>
                    </a:ext>
                  </a:extLst>
                </p:cNvPr>
                <p:cNvCxnSpPr>
                  <a:stCxn id="44" idx="4"/>
                  <a:endCxn id="53" idx="0"/>
                </p:cNvCxnSpPr>
                <p:nvPr/>
              </p:nvCxnSpPr>
              <p:spPr>
                <a:xfrm>
                  <a:off x="7021186" y="3886178"/>
                  <a:ext cx="6076" cy="388746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CACA1F83-E692-469A-A7E6-FE1A4F1BA5C1}"/>
                  </a:ext>
                </a:extLst>
              </p:cNvPr>
              <p:cNvSpPr txBox="1"/>
              <p:nvPr/>
            </p:nvSpPr>
            <p:spPr>
              <a:xfrm>
                <a:off x="5772080" y="3002542"/>
                <a:ext cx="1353976" cy="34624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2400" dirty="0"/>
                  <a:t>Descendant</a:t>
                </a:r>
              </a:p>
            </p:txBody>
          </p:sp>
        </p:grpSp>
      </p:grp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84B8483-518F-43DA-B2A9-E81E8B45E5C2}"/>
              </a:ext>
            </a:extLst>
          </p:cNvPr>
          <p:cNvSpPr/>
          <p:nvPr/>
        </p:nvSpPr>
        <p:spPr>
          <a:xfrm>
            <a:off x="3422689" y="4109713"/>
            <a:ext cx="2329583" cy="2250263"/>
          </a:xfrm>
          <a:prstGeom prst="round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/>
          </a:p>
        </p:txBody>
      </p:sp>
    </p:spTree>
    <p:extLst>
      <p:ext uri="{BB962C8B-B14F-4D97-AF65-F5344CB8AC3E}">
        <p14:creationId xmlns:p14="http://schemas.microsoft.com/office/powerpoint/2010/main" val="42030732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A962E-623F-4A33-9271-D822D9C94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12192000" cy="763600"/>
          </a:xfrm>
        </p:spPr>
        <p:txBody>
          <a:bodyPr/>
          <a:lstStyle/>
          <a:p>
            <a:pPr algn="ctr"/>
            <a:r>
              <a:rPr lang="en-GB" dirty="0"/>
              <a:t>Colliding confound</a:t>
            </a:r>
          </a:p>
        </p:txBody>
      </p:sp>
      <p:sp>
        <p:nvSpPr>
          <p:cNvPr id="4" name="Google Shape;75;p15">
            <a:extLst>
              <a:ext uri="{FF2B5EF4-FFF2-40B4-BE49-F238E27FC236}">
                <a16:creationId xmlns:a16="http://schemas.microsoft.com/office/drawing/2014/main" id="{D3576E38-C5FF-4D1E-BF01-7E8DED020055}"/>
              </a:ext>
            </a:extLst>
          </p:cNvPr>
          <p:cNvSpPr/>
          <p:nvPr/>
        </p:nvSpPr>
        <p:spPr>
          <a:xfrm>
            <a:off x="4347584" y="693450"/>
            <a:ext cx="3496833" cy="140300"/>
          </a:xfrm>
          <a:custGeom>
            <a:avLst/>
            <a:gdLst/>
            <a:ahLst/>
            <a:cxnLst/>
            <a:rect l="l" t="t" r="r" b="b"/>
            <a:pathLst>
              <a:path w="104905" h="4209" extrusionOk="0">
                <a:moveTo>
                  <a:pt x="0" y="2010"/>
                </a:moveTo>
                <a:cubicBezTo>
                  <a:pt x="34411" y="-4246"/>
                  <a:pt x="71725" y="11060"/>
                  <a:pt x="104905" y="0"/>
                </a:cubicBezTo>
              </a:path>
            </a:pathLst>
          </a:custGeom>
          <a:noFill/>
          <a:ln w="19050" cap="flat" cmpd="sng">
            <a:solidFill>
              <a:srgbClr val="4C113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031930FB-2F89-4CDF-8FC3-EA50E98EB02B}"/>
                  </a:ext>
                </a:extLst>
              </p:cNvPr>
              <p:cNvSpPr txBox="1"/>
              <p:nvPr/>
            </p:nvSpPr>
            <p:spPr>
              <a:xfrm>
                <a:off x="211829" y="2618860"/>
                <a:ext cx="6493771" cy="56237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400" dirty="0">
                    <a:solidFill>
                      <a:srgbClr val="434343"/>
                    </a:solidFill>
                  </a:rPr>
                  <a:t>There is </a:t>
                </a:r>
                <a:r>
                  <a:rPr lang="en-GB" sz="2400" b="1" u="sng" dirty="0">
                    <a:solidFill>
                      <a:srgbClr val="434343"/>
                    </a:solidFill>
                  </a:rPr>
                  <a:t>no causal relationship</a:t>
                </a:r>
                <a:r>
                  <a:rPr lang="en-GB" sz="2400" dirty="0">
                    <a:solidFill>
                      <a:srgbClr val="434343"/>
                    </a:solidFill>
                  </a:rPr>
                  <a:t> of </a:t>
                </a:r>
                <a:r>
                  <a:rPr lang="en-GB" sz="2400" dirty="0">
                    <a:solidFill>
                      <a:srgbClr val="0070C0"/>
                    </a:solidFill>
                  </a:rPr>
                  <a:t>X</a:t>
                </a:r>
                <a:r>
                  <a:rPr lang="en-GB" sz="2400" dirty="0">
                    <a:solidFill>
                      <a:srgbClr val="434343"/>
                    </a:solidFill>
                  </a:rPr>
                  <a:t> on </a:t>
                </a:r>
                <a:r>
                  <a:rPr lang="en-GB" sz="2400" dirty="0">
                    <a:solidFill>
                      <a:schemeClr val="accent1"/>
                    </a:solidFill>
                  </a:rPr>
                  <a:t>Y</a:t>
                </a:r>
                <a:r>
                  <a:rPr lang="en-GB" sz="2400" dirty="0">
                    <a:solidFill>
                      <a:srgbClr val="434343"/>
                    </a:solidFill>
                  </a:rPr>
                  <a:t>.</a:t>
                </a:r>
              </a:p>
              <a:p>
                <a:endParaRPr lang="en-GB" sz="2400" dirty="0">
                  <a:solidFill>
                    <a:srgbClr val="434343"/>
                  </a:solidFill>
                </a:endParaRPr>
              </a:p>
              <a:p>
                <a:r>
                  <a:rPr lang="en-GB" sz="2400" dirty="0">
                    <a:solidFill>
                      <a:srgbClr val="434343"/>
                    </a:solidFill>
                  </a:rPr>
                  <a:t>Instead, </a:t>
                </a:r>
                <a:r>
                  <a:rPr lang="en-GB" sz="2400" dirty="0">
                    <a:solidFill>
                      <a:srgbClr val="00B050"/>
                    </a:solidFill>
                  </a:rPr>
                  <a:t>Z</a:t>
                </a:r>
                <a:r>
                  <a:rPr lang="en-GB" sz="2400" dirty="0">
                    <a:solidFill>
                      <a:srgbClr val="434343"/>
                    </a:solidFill>
                  </a:rPr>
                  <a:t> is caused by </a:t>
                </a:r>
                <a:r>
                  <a:rPr lang="en-GB" sz="2400" dirty="0">
                    <a:solidFill>
                      <a:srgbClr val="0070C0"/>
                    </a:solidFill>
                  </a:rPr>
                  <a:t>X</a:t>
                </a:r>
                <a:r>
                  <a:rPr lang="en-GB" sz="2400" dirty="0">
                    <a:solidFill>
                      <a:srgbClr val="434343"/>
                    </a:solidFill>
                  </a:rPr>
                  <a:t> and </a:t>
                </a:r>
                <a:r>
                  <a:rPr lang="en-GB" sz="2400" dirty="0">
                    <a:solidFill>
                      <a:srgbClr val="FFC000"/>
                    </a:solidFill>
                  </a:rPr>
                  <a:t>Y</a:t>
                </a:r>
                <a:r>
                  <a:rPr lang="en-GB" sz="2400" dirty="0">
                    <a:solidFill>
                      <a:srgbClr val="434343"/>
                    </a:solidFill>
                  </a:rPr>
                  <a:t> independently.</a:t>
                </a:r>
              </a:p>
              <a:p>
                <a:endParaRPr lang="en-GB" sz="2400" dirty="0">
                  <a:solidFill>
                    <a:srgbClr val="434343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24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𝑃𝑟𝑒𝑑𝑎𝑡𝑜𝑟</m:t>
                      </m:r>
                      <m:r>
                        <a:rPr lang="en-GB" sz="24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𝑎𝑏𝑢𝑛𝑑𝑎𝑛𝑐𝑒</m:t>
                      </m:r>
                      <m:r>
                        <a:rPr lang="en-GB" sz="2400" i="1" dirty="0">
                          <a:solidFill>
                            <a:srgbClr val="434343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sz="2400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𝑅𝑎𝑏𝑏𝑖𝑡</m:t>
                      </m:r>
                      <m:r>
                        <a:rPr lang="en-GB" sz="2400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𝑎𝑏𝑢𝑛𝑑𝑎𝑛𝑐𝑒</m:t>
                      </m:r>
                      <m:r>
                        <a:rPr lang="en-GB" sz="2400" i="1" dirty="0">
                          <a:solidFill>
                            <a:srgbClr val="434343"/>
                          </a:solidFill>
                          <a:latin typeface="Cambria Math" panose="02040503050406030204" pitchFamily="18" charset="0"/>
                        </a:rPr>
                        <m:t>←</m:t>
                      </m:r>
                      <m:r>
                        <a:rPr lang="en-GB" sz="2400" i="1" dirty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𝑀𝑦𝑥𝑜𝑚𝑎𝑡𝑜𝑠𝑖𝑠</m:t>
                      </m:r>
                    </m:oMath>
                  </m:oMathPara>
                </a14:m>
                <a:endParaRPr lang="en-GB" sz="2400" dirty="0">
                  <a:solidFill>
                    <a:srgbClr val="434343"/>
                  </a:solidFill>
                </a:endParaRPr>
              </a:p>
              <a:p>
                <a:endParaRPr lang="en-GB" sz="2400" dirty="0">
                  <a:solidFill>
                    <a:srgbClr val="434343"/>
                  </a:solidFill>
                </a:endParaRPr>
              </a:p>
              <a:p>
                <a:r>
                  <a:rPr lang="en-GB" sz="2400" dirty="0">
                    <a:solidFill>
                      <a:srgbClr val="434343"/>
                    </a:solidFill>
                  </a:rPr>
                  <a:t>With the model: </a:t>
                </a:r>
                <a14:m>
                  <m:oMath xmlns:m="http://schemas.openxmlformats.org/officeDocument/2006/math">
                    <m:r>
                      <a:rPr lang="en-GB" sz="2400" i="1" dirty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𝑀𝑦𝑥𝑜𝑚𝑎𝑡𝑜𝑠𝑖𝑠</m:t>
                    </m:r>
                    <m:r>
                      <a:rPr lang="en-GB" sz="2400" i="1" dirty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2400" i="1">
                        <a:solidFill>
                          <a:srgbClr val="434343"/>
                        </a:solidFill>
                        <a:latin typeface="Cambria Math" panose="02040503050406030204" pitchFamily="18" charset="0"/>
                      </a:rPr>
                      <m:t>~ </m:t>
                    </m:r>
                    <m:r>
                      <a:rPr lang="en-GB" sz="24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𝑃𝑟𝑒𝑑𝑎𝑡𝑜𝑟</m:t>
                    </m:r>
                    <m:r>
                      <a:rPr lang="en-GB" sz="2400" i="1">
                        <a:solidFill>
                          <a:srgbClr val="434343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4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𝑅𝑎𝑏𝑏𝑖𝑡</m:t>
                    </m:r>
                  </m:oMath>
                </a14:m>
                <a:r>
                  <a:rPr lang="en-GB" sz="2400" dirty="0">
                    <a:solidFill>
                      <a:srgbClr val="434343"/>
                    </a:solidFill>
                  </a:rPr>
                  <a:t>, </a:t>
                </a:r>
                <a:br>
                  <a:rPr lang="en-GB" sz="2400" dirty="0">
                    <a:solidFill>
                      <a:srgbClr val="434343"/>
                    </a:solidFill>
                  </a:rPr>
                </a:br>
                <a:r>
                  <a:rPr lang="en-GB" sz="2400" dirty="0">
                    <a:solidFill>
                      <a:srgbClr val="434343"/>
                    </a:solidFill>
                  </a:rPr>
                  <a:t>we will find a </a:t>
                </a:r>
                <a:r>
                  <a:rPr lang="en-GB" sz="2400" b="1" u="sng" dirty="0">
                    <a:solidFill>
                      <a:srgbClr val="434343"/>
                    </a:solidFill>
                  </a:rPr>
                  <a:t>false association</a:t>
                </a:r>
                <a:r>
                  <a:rPr lang="en-GB" sz="2400" dirty="0">
                    <a:solidFill>
                      <a:srgbClr val="434343"/>
                    </a:solidFill>
                  </a:rPr>
                  <a:t> of predators on pathogen.</a:t>
                </a:r>
              </a:p>
              <a:p>
                <a:endParaRPr lang="en-GB" sz="2400" dirty="0">
                  <a:solidFill>
                    <a:srgbClr val="434343"/>
                  </a:solidFill>
                </a:endParaRPr>
              </a:p>
              <a:p>
                <a:r>
                  <a:rPr lang="en-GB" sz="2400" dirty="0">
                    <a:solidFill>
                      <a:srgbClr val="434343"/>
                    </a:solidFill>
                  </a:rPr>
                  <a:t>To prevent this, we need to </a:t>
                </a:r>
                <a:r>
                  <a:rPr lang="en-GB" sz="2400" b="1" u="sng" dirty="0">
                    <a:solidFill>
                      <a:srgbClr val="434343"/>
                    </a:solidFill>
                  </a:rPr>
                  <a:t>exclude Z</a:t>
                </a:r>
                <a:r>
                  <a:rPr lang="en-GB" sz="2400" dirty="0">
                    <a:solidFill>
                      <a:srgbClr val="434343"/>
                    </a:solidFill>
                  </a:rPr>
                  <a:t> in the model: </a:t>
                </a:r>
                <a14:m>
                  <m:oMath xmlns:m="http://schemas.openxmlformats.org/officeDocument/2006/math">
                    <m:r>
                      <a:rPr lang="en-GB" sz="2400" i="1" dirty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𝑀𝑦𝑥𝑜𝑚𝑎𝑡𝑜𝑠𝑖𝑠</m:t>
                    </m:r>
                    <m:r>
                      <a:rPr lang="en-GB" sz="2400" i="1" dirty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2400" i="1">
                        <a:solidFill>
                          <a:srgbClr val="434343"/>
                        </a:solidFill>
                        <a:latin typeface="Cambria Math" panose="02040503050406030204" pitchFamily="18" charset="0"/>
                      </a:rPr>
                      <m:t>~</m:t>
                    </m:r>
                    <m:r>
                      <a:rPr lang="en-GB" sz="2400" i="1">
                        <a:solidFill>
                          <a:srgbClr val="434343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24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𝑃𝑟𝑒𝑑𝑎𝑡𝑜𝑟𝑠</m:t>
                    </m:r>
                  </m:oMath>
                </a14:m>
                <a:endParaRPr lang="en-GB" sz="2400" dirty="0">
                  <a:solidFill>
                    <a:srgbClr val="434343"/>
                  </a:solidFill>
                </a:endParaRPr>
              </a:p>
              <a:p>
                <a:endParaRPr lang="en-GB" sz="2400" dirty="0">
                  <a:solidFill>
                    <a:srgbClr val="434343"/>
                  </a:solidFill>
                </a:endParaRPr>
              </a:p>
            </p:txBody>
          </p:sp>
        </mc:Choice>
        <mc:Fallback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031930FB-2F89-4CDF-8FC3-EA50E98EB0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829" y="2618860"/>
                <a:ext cx="6493771" cy="5623784"/>
              </a:xfrm>
              <a:prstGeom prst="rect">
                <a:avLst/>
              </a:prstGeom>
              <a:blipFill>
                <a:blip r:embed="rId3"/>
                <a:stretch>
                  <a:fillRect l="-1502" t="-86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Group 13">
            <a:extLst>
              <a:ext uri="{FF2B5EF4-FFF2-40B4-BE49-F238E27FC236}">
                <a16:creationId xmlns:a16="http://schemas.microsoft.com/office/drawing/2014/main" id="{B84113FF-D534-4454-AE4B-D44E87E8E96D}"/>
              </a:ext>
            </a:extLst>
          </p:cNvPr>
          <p:cNvGrpSpPr/>
          <p:nvPr/>
        </p:nvGrpSpPr>
        <p:grpSpPr>
          <a:xfrm>
            <a:off x="1149706" y="969933"/>
            <a:ext cx="2088545" cy="1445055"/>
            <a:chOff x="4205034" y="3383452"/>
            <a:chExt cx="1566409" cy="1083791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FD32C3EC-83EA-4F45-B4F2-7571F0FBEEAC}"/>
                </a:ext>
              </a:extLst>
            </p:cNvPr>
            <p:cNvSpPr/>
            <p:nvPr/>
          </p:nvSpPr>
          <p:spPr>
            <a:xfrm>
              <a:off x="5336842" y="4063923"/>
              <a:ext cx="434601" cy="403320"/>
            </a:xfrm>
            <a:prstGeom prst="ellipse">
              <a:avLst/>
            </a:prstGeom>
            <a:solidFill>
              <a:srgbClr val="434343"/>
            </a:solidFill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Y</a:t>
              </a: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869E281C-5C47-4A1E-B77E-2E5A9EA59217}"/>
                </a:ext>
              </a:extLst>
            </p:cNvPr>
            <p:cNvSpPr/>
            <p:nvPr/>
          </p:nvSpPr>
          <p:spPr>
            <a:xfrm>
              <a:off x="4205034" y="4063923"/>
              <a:ext cx="434602" cy="403319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 w="38100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X</a:t>
              </a: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19E62AD5-4FFE-4E28-8935-9BB851B3BE16}"/>
                </a:ext>
              </a:extLst>
            </p:cNvPr>
            <p:cNvSpPr/>
            <p:nvPr/>
          </p:nvSpPr>
          <p:spPr>
            <a:xfrm>
              <a:off x="4774720" y="3383452"/>
              <a:ext cx="434601" cy="403319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Z</a:t>
              </a: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6F26CC2A-6ADF-484C-80D1-F2CBF1640676}"/>
                </a:ext>
              </a:extLst>
            </p:cNvPr>
            <p:cNvCxnSpPr>
              <a:stCxn id="17" idx="7"/>
              <a:endCxn id="18" idx="3"/>
            </p:cNvCxnSpPr>
            <p:nvPr/>
          </p:nvCxnSpPr>
          <p:spPr>
            <a:xfrm flipV="1">
              <a:off x="4575990" y="3727706"/>
              <a:ext cx="262376" cy="39528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249658DC-E530-49C2-8340-B26513DB05A8}"/>
                </a:ext>
              </a:extLst>
            </p:cNvPr>
            <p:cNvCxnSpPr>
              <a:stCxn id="16" idx="1"/>
              <a:endCxn id="18" idx="5"/>
            </p:cNvCxnSpPr>
            <p:nvPr/>
          </p:nvCxnSpPr>
          <p:spPr>
            <a:xfrm flipH="1" flipV="1">
              <a:off x="5145675" y="3727706"/>
              <a:ext cx="254813" cy="39528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C8F57ED3-F87A-4511-95D1-C5AEDFD6C4C5}"/>
              </a:ext>
            </a:extLst>
          </p:cNvPr>
          <p:cNvGrpSpPr/>
          <p:nvPr/>
        </p:nvGrpSpPr>
        <p:grpSpPr>
          <a:xfrm>
            <a:off x="7574260" y="1877227"/>
            <a:ext cx="4019105" cy="3688143"/>
            <a:chOff x="5680694" y="1407920"/>
            <a:chExt cx="3014329" cy="2766107"/>
          </a:xfrm>
        </p:grpSpPr>
        <p:pic>
          <p:nvPicPr>
            <p:cNvPr id="5" name="Picture 4" descr="A close up of a lion's face&#10;&#10;Description automatically generated with medium confidence">
              <a:extLst>
                <a:ext uri="{FF2B5EF4-FFF2-40B4-BE49-F238E27FC236}">
                  <a16:creationId xmlns:a16="http://schemas.microsoft.com/office/drawing/2014/main" id="{0CB73611-76ED-481F-82A3-0DF370195D2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680694" y="3160948"/>
              <a:ext cx="1350772" cy="1013079"/>
            </a:xfrm>
            <a:prstGeom prst="rect">
              <a:avLst/>
            </a:prstGeom>
            <a:ln w="57150">
              <a:solidFill>
                <a:srgbClr val="00B0F0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</p:pic>
        <p:pic>
          <p:nvPicPr>
            <p:cNvPr id="7" name="Picture 6" descr="A group of jellyfish&#10;&#10;Description automatically generated with low confidence">
              <a:extLst>
                <a:ext uri="{FF2B5EF4-FFF2-40B4-BE49-F238E27FC236}">
                  <a16:creationId xmlns:a16="http://schemas.microsoft.com/office/drawing/2014/main" id="{AF335554-352F-4942-B46B-8D24C3AEAFD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r="17333"/>
            <a:stretch/>
          </p:blipFill>
          <p:spPr>
            <a:xfrm>
              <a:off x="7344863" y="3160948"/>
              <a:ext cx="1350160" cy="1012620"/>
            </a:xfrm>
            <a:prstGeom prst="rect">
              <a:avLst/>
            </a:prstGeom>
            <a:ln w="57150">
              <a:solidFill>
                <a:srgbClr val="FFC000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</p:pic>
        <p:pic>
          <p:nvPicPr>
            <p:cNvPr id="9" name="Picture 8" descr="A white and black rabbit in the grass&#10;&#10;Description automatically generated with low confidence">
              <a:extLst>
                <a:ext uri="{FF2B5EF4-FFF2-40B4-BE49-F238E27FC236}">
                  <a16:creationId xmlns:a16="http://schemas.microsoft.com/office/drawing/2014/main" id="{E668A9D5-3855-467C-AE07-DC9FEEE9D5D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l="7778"/>
            <a:stretch/>
          </p:blipFill>
          <p:spPr>
            <a:xfrm>
              <a:off x="6466690" y="1407920"/>
              <a:ext cx="1350773" cy="1013079"/>
            </a:xfrm>
            <a:prstGeom prst="rect">
              <a:avLst/>
            </a:prstGeom>
            <a:ln w="57150">
              <a:solidFill>
                <a:srgbClr val="00B050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</p:pic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411715E3-B891-4290-BF48-B9DC906190C2}"/>
                </a:ext>
              </a:extLst>
            </p:cNvPr>
            <p:cNvCxnSpPr>
              <a:stCxn id="5" idx="0"/>
              <a:endCxn id="9" idx="2"/>
            </p:cNvCxnSpPr>
            <p:nvPr/>
          </p:nvCxnSpPr>
          <p:spPr>
            <a:xfrm flipV="1">
              <a:off x="6356080" y="2420999"/>
              <a:ext cx="785997" cy="739949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8D3D2E55-7178-4394-B8F8-2091F32CB938}"/>
                </a:ext>
              </a:extLst>
            </p:cNvPr>
            <p:cNvCxnSpPr>
              <a:stCxn id="7" idx="0"/>
              <a:endCxn id="9" idx="2"/>
            </p:cNvCxnSpPr>
            <p:nvPr/>
          </p:nvCxnSpPr>
          <p:spPr>
            <a:xfrm flipH="1" flipV="1">
              <a:off x="7142077" y="2420999"/>
              <a:ext cx="877866" cy="739949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13604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8AEAFD5F-6FF8-4F7E-8F4C-6DFAA05DAD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325" y="1609741"/>
            <a:ext cx="5817249" cy="519616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D2413BD-4D42-46B1-B9BF-3B79DE4E8B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2" y="1609741"/>
            <a:ext cx="5817249" cy="5196160"/>
          </a:xfrm>
          <a:prstGeom prst="rect">
            <a:avLst/>
          </a:prstGeom>
        </p:spPr>
      </p:pic>
      <p:grpSp>
        <p:nvGrpSpPr>
          <p:cNvPr id="28" name="Group 27">
            <a:extLst>
              <a:ext uri="{FF2B5EF4-FFF2-40B4-BE49-F238E27FC236}">
                <a16:creationId xmlns:a16="http://schemas.microsoft.com/office/drawing/2014/main" id="{AE1F8C1C-E887-4173-99CE-DFB32C8E2EE8}"/>
              </a:ext>
            </a:extLst>
          </p:cNvPr>
          <p:cNvGrpSpPr/>
          <p:nvPr/>
        </p:nvGrpSpPr>
        <p:grpSpPr>
          <a:xfrm>
            <a:off x="579853" y="535153"/>
            <a:ext cx="1099331" cy="527043"/>
            <a:chOff x="434890" y="401365"/>
            <a:chExt cx="824498" cy="395282"/>
          </a:xfrm>
        </p:grpSpPr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BF48EEA3-18E0-4E87-88F8-28C84EDCBC7C}"/>
                </a:ext>
              </a:extLst>
            </p:cNvPr>
            <p:cNvCxnSpPr>
              <a:stCxn id="17" idx="7"/>
              <a:endCxn id="18" idx="3"/>
            </p:cNvCxnSpPr>
            <p:nvPr/>
          </p:nvCxnSpPr>
          <p:spPr>
            <a:xfrm flipV="1">
              <a:off x="434890" y="401365"/>
              <a:ext cx="262376" cy="395282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9071FB5B-2A0B-4A92-92B5-378FBE3CD749}"/>
                </a:ext>
              </a:extLst>
            </p:cNvPr>
            <p:cNvCxnSpPr>
              <a:stCxn id="18" idx="5"/>
              <a:endCxn id="16" idx="1"/>
            </p:cNvCxnSpPr>
            <p:nvPr/>
          </p:nvCxnSpPr>
          <p:spPr>
            <a:xfrm>
              <a:off x="1004575" y="401365"/>
              <a:ext cx="254813" cy="395282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B8A962E-623F-4A33-9271-D822D9C94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12192000" cy="763600"/>
          </a:xfrm>
        </p:spPr>
        <p:txBody>
          <a:bodyPr/>
          <a:lstStyle/>
          <a:p>
            <a:pPr algn="ctr"/>
            <a:r>
              <a:rPr lang="en-GB" dirty="0"/>
              <a:t>Colliding confound</a:t>
            </a:r>
          </a:p>
        </p:txBody>
      </p:sp>
      <p:sp>
        <p:nvSpPr>
          <p:cNvPr id="4" name="Google Shape;75;p15">
            <a:extLst>
              <a:ext uri="{FF2B5EF4-FFF2-40B4-BE49-F238E27FC236}">
                <a16:creationId xmlns:a16="http://schemas.microsoft.com/office/drawing/2014/main" id="{D3576E38-C5FF-4D1E-BF01-7E8DED020055}"/>
              </a:ext>
            </a:extLst>
          </p:cNvPr>
          <p:cNvSpPr/>
          <p:nvPr/>
        </p:nvSpPr>
        <p:spPr>
          <a:xfrm>
            <a:off x="4347584" y="693450"/>
            <a:ext cx="3496833" cy="140300"/>
          </a:xfrm>
          <a:custGeom>
            <a:avLst/>
            <a:gdLst/>
            <a:ahLst/>
            <a:cxnLst/>
            <a:rect l="l" t="t" r="r" b="b"/>
            <a:pathLst>
              <a:path w="104905" h="4209" extrusionOk="0">
                <a:moveTo>
                  <a:pt x="0" y="2010"/>
                </a:moveTo>
                <a:cubicBezTo>
                  <a:pt x="34411" y="-4246"/>
                  <a:pt x="71725" y="11060"/>
                  <a:pt x="104905" y="0"/>
                </a:cubicBezTo>
              </a:path>
            </a:pathLst>
          </a:custGeom>
          <a:noFill/>
          <a:ln w="19050" cap="flat" cmpd="sng">
            <a:solidFill>
              <a:srgbClr val="4C113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84113FF-D534-4454-AE4B-D44E87E8E96D}"/>
              </a:ext>
            </a:extLst>
          </p:cNvPr>
          <p:cNvGrpSpPr/>
          <p:nvPr/>
        </p:nvGrpSpPr>
        <p:grpSpPr>
          <a:xfrm>
            <a:off x="85246" y="76149"/>
            <a:ext cx="2088545" cy="1445055"/>
            <a:chOff x="4205034" y="3383452"/>
            <a:chExt cx="1566409" cy="1083791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FD32C3EC-83EA-4F45-B4F2-7571F0FBEEAC}"/>
                </a:ext>
              </a:extLst>
            </p:cNvPr>
            <p:cNvSpPr/>
            <p:nvPr/>
          </p:nvSpPr>
          <p:spPr>
            <a:xfrm>
              <a:off x="5336842" y="4063923"/>
              <a:ext cx="434601" cy="403320"/>
            </a:xfrm>
            <a:prstGeom prst="ellipse">
              <a:avLst/>
            </a:prstGeom>
            <a:solidFill>
              <a:srgbClr val="434343"/>
            </a:solidFill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Y</a:t>
              </a: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869E281C-5C47-4A1E-B77E-2E5A9EA59217}"/>
                </a:ext>
              </a:extLst>
            </p:cNvPr>
            <p:cNvSpPr/>
            <p:nvPr/>
          </p:nvSpPr>
          <p:spPr>
            <a:xfrm>
              <a:off x="4205034" y="4063923"/>
              <a:ext cx="434602" cy="403319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 w="38100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X</a:t>
              </a: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19E62AD5-4FFE-4E28-8935-9BB851B3BE16}"/>
                </a:ext>
              </a:extLst>
            </p:cNvPr>
            <p:cNvSpPr/>
            <p:nvPr/>
          </p:nvSpPr>
          <p:spPr>
            <a:xfrm>
              <a:off x="4774720" y="3383452"/>
              <a:ext cx="434601" cy="403319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Z</a:t>
              </a: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6F26CC2A-6ADF-484C-80D1-F2CBF1640676}"/>
                </a:ext>
              </a:extLst>
            </p:cNvPr>
            <p:cNvCxnSpPr>
              <a:stCxn id="17" idx="7"/>
              <a:endCxn id="18" idx="3"/>
            </p:cNvCxnSpPr>
            <p:nvPr/>
          </p:nvCxnSpPr>
          <p:spPr>
            <a:xfrm flipV="1">
              <a:off x="4575990" y="3727706"/>
              <a:ext cx="262376" cy="39528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249658DC-E530-49C2-8340-B26513DB05A8}"/>
                </a:ext>
              </a:extLst>
            </p:cNvPr>
            <p:cNvCxnSpPr>
              <a:stCxn id="16" idx="1"/>
              <a:endCxn id="18" idx="5"/>
            </p:cNvCxnSpPr>
            <p:nvPr/>
          </p:nvCxnSpPr>
          <p:spPr>
            <a:xfrm flipH="1" flipV="1">
              <a:off x="5145675" y="3727706"/>
              <a:ext cx="254813" cy="39528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D612794-078F-4EC2-806A-E55239C46320}"/>
              </a:ext>
            </a:extLst>
          </p:cNvPr>
          <p:cNvGrpSpPr/>
          <p:nvPr/>
        </p:nvGrpSpPr>
        <p:grpSpPr>
          <a:xfrm>
            <a:off x="9854617" y="79397"/>
            <a:ext cx="2088545" cy="1445055"/>
            <a:chOff x="4205034" y="3383452"/>
            <a:chExt cx="1566409" cy="1083791"/>
          </a:xfrm>
        </p:grpSpPr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19DBC493-5918-43CE-B53D-1CDDD61CD1BB}"/>
                </a:ext>
              </a:extLst>
            </p:cNvPr>
            <p:cNvSpPr/>
            <p:nvPr/>
          </p:nvSpPr>
          <p:spPr>
            <a:xfrm>
              <a:off x="5336842" y="4063923"/>
              <a:ext cx="434601" cy="403320"/>
            </a:xfrm>
            <a:prstGeom prst="ellipse">
              <a:avLst/>
            </a:prstGeom>
            <a:solidFill>
              <a:srgbClr val="434343"/>
            </a:solidFill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Y</a:t>
              </a: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0EFB2F66-7805-49AE-9E5B-BE49BB909469}"/>
                </a:ext>
              </a:extLst>
            </p:cNvPr>
            <p:cNvSpPr/>
            <p:nvPr/>
          </p:nvSpPr>
          <p:spPr>
            <a:xfrm>
              <a:off x="4205034" y="4063923"/>
              <a:ext cx="434602" cy="403319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 w="38100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X</a:t>
              </a: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BFFE51DA-F191-446B-9CC6-6653C45E5811}"/>
                </a:ext>
              </a:extLst>
            </p:cNvPr>
            <p:cNvSpPr/>
            <p:nvPr/>
          </p:nvSpPr>
          <p:spPr>
            <a:xfrm>
              <a:off x="4774720" y="3383452"/>
              <a:ext cx="434601" cy="403319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Z</a:t>
              </a:r>
            </a:p>
          </p:txBody>
        </p: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672F8ACD-D21B-4901-BC46-A0B71E2A52AE}"/>
                </a:ext>
              </a:extLst>
            </p:cNvPr>
            <p:cNvCxnSpPr>
              <a:stCxn id="31" idx="7"/>
              <a:endCxn id="32" idx="3"/>
            </p:cNvCxnSpPr>
            <p:nvPr/>
          </p:nvCxnSpPr>
          <p:spPr>
            <a:xfrm flipV="1">
              <a:off x="4575990" y="3727706"/>
              <a:ext cx="262376" cy="39528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16475C90-9E1C-4157-A186-00461B63DE51}"/>
                </a:ext>
              </a:extLst>
            </p:cNvPr>
            <p:cNvCxnSpPr>
              <a:stCxn id="30" idx="1"/>
              <a:endCxn id="32" idx="5"/>
            </p:cNvCxnSpPr>
            <p:nvPr/>
          </p:nvCxnSpPr>
          <p:spPr>
            <a:xfrm flipH="1" flipV="1">
              <a:off x="5145675" y="3727706"/>
              <a:ext cx="254813" cy="39528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D7D60934-5A01-48D2-B015-6B2E35FDE113}"/>
              </a:ext>
            </a:extLst>
          </p:cNvPr>
          <p:cNvGrpSpPr/>
          <p:nvPr/>
        </p:nvGrpSpPr>
        <p:grpSpPr>
          <a:xfrm>
            <a:off x="1339434" y="1902142"/>
            <a:ext cx="3651417" cy="2887473"/>
            <a:chOff x="2892525" y="2034727"/>
            <a:chExt cx="3456059" cy="2766107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F0C4E3A8-F793-49D3-993F-E71EBC884853}"/>
                </a:ext>
              </a:extLst>
            </p:cNvPr>
            <p:cNvGrpSpPr/>
            <p:nvPr/>
          </p:nvGrpSpPr>
          <p:grpSpPr>
            <a:xfrm>
              <a:off x="2892525" y="3787755"/>
              <a:ext cx="3456059" cy="1013079"/>
              <a:chOff x="2892525" y="3787755"/>
              <a:chExt cx="3456059" cy="1013079"/>
            </a:xfrm>
          </p:grpSpPr>
          <p:pic>
            <p:nvPicPr>
              <p:cNvPr id="36" name="Picture 35" descr="A close up of a lion's face&#10;&#10;Description automatically generated with medium confidence">
                <a:extLst>
                  <a:ext uri="{FF2B5EF4-FFF2-40B4-BE49-F238E27FC236}">
                    <a16:creationId xmlns:a16="http://schemas.microsoft.com/office/drawing/2014/main" id="{7EA8C1C2-69ED-4FF8-8AC5-8D0894A948F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892525" y="3787755"/>
                <a:ext cx="1350771" cy="1013079"/>
              </a:xfrm>
              <a:prstGeom prst="rect">
                <a:avLst/>
              </a:prstGeom>
              <a:ln w="57150">
                <a:solidFill>
                  <a:srgbClr val="00B0F0"/>
                </a:solidFill>
              </a:ln>
              <a:effectLst>
                <a:glow rad="63500">
                  <a:schemeClr val="accent2">
                    <a:satMod val="175000"/>
                    <a:alpha val="40000"/>
                  </a:schemeClr>
                </a:glow>
              </a:effectLst>
            </p:spPr>
          </p:pic>
          <p:pic>
            <p:nvPicPr>
              <p:cNvPr id="43" name="Picture 42" descr="A group of jellyfish&#10;&#10;Description automatically generated with low confidence">
                <a:extLst>
                  <a:ext uri="{FF2B5EF4-FFF2-40B4-BE49-F238E27FC236}">
                    <a16:creationId xmlns:a16="http://schemas.microsoft.com/office/drawing/2014/main" id="{290D4B00-FDC1-4CE7-BD82-8BE78433CC2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6"/>
              <a:srcRect r="17333"/>
              <a:stretch/>
            </p:blipFill>
            <p:spPr>
              <a:xfrm>
                <a:off x="4998423" y="3787755"/>
                <a:ext cx="1350161" cy="1012620"/>
              </a:xfrm>
              <a:prstGeom prst="rect">
                <a:avLst/>
              </a:prstGeom>
              <a:ln w="57150">
                <a:solidFill>
                  <a:srgbClr val="FFC000"/>
                </a:solidFill>
              </a:ln>
              <a:effectLst>
                <a:glow rad="63500">
                  <a:schemeClr val="accent2">
                    <a:satMod val="175000"/>
                    <a:alpha val="40000"/>
                  </a:schemeClr>
                </a:glow>
              </a:effectLst>
            </p:spPr>
          </p:pic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02620A47-0123-4777-9415-0C7F6AAEBCFD}"/>
                </a:ext>
              </a:extLst>
            </p:cNvPr>
            <p:cNvGrpSpPr/>
            <p:nvPr/>
          </p:nvGrpSpPr>
          <p:grpSpPr>
            <a:xfrm>
              <a:off x="3850829" y="2034727"/>
              <a:ext cx="1822675" cy="2259568"/>
              <a:chOff x="3850829" y="2034727"/>
              <a:chExt cx="1822675" cy="2259568"/>
            </a:xfrm>
          </p:grpSpPr>
          <p:pic>
            <p:nvPicPr>
              <p:cNvPr id="44" name="Picture 43" descr="A white and black rabbit in the grass&#10;&#10;Description automatically generated with low confidence">
                <a:extLst>
                  <a:ext uri="{FF2B5EF4-FFF2-40B4-BE49-F238E27FC236}">
                    <a16:creationId xmlns:a16="http://schemas.microsoft.com/office/drawing/2014/main" id="{9D725398-836D-46A1-83CF-C4FBA0212E4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7"/>
              <a:srcRect l="7778"/>
              <a:stretch/>
            </p:blipFill>
            <p:spPr>
              <a:xfrm>
                <a:off x="3850829" y="2034727"/>
                <a:ext cx="1350773" cy="1013079"/>
              </a:xfrm>
              <a:prstGeom prst="rect">
                <a:avLst/>
              </a:prstGeom>
              <a:ln w="57150">
                <a:solidFill>
                  <a:srgbClr val="00B050"/>
                </a:solidFill>
              </a:ln>
              <a:effectLst>
                <a:glow rad="63500">
                  <a:schemeClr val="accent2">
                    <a:satMod val="175000"/>
                    <a:alpha val="40000"/>
                  </a:schemeClr>
                </a:glow>
              </a:effectLst>
            </p:spPr>
          </p:pic>
          <p:cxnSp>
            <p:nvCxnSpPr>
              <p:cNvPr id="45" name="Straight Arrow Connector 44">
                <a:extLst>
                  <a:ext uri="{FF2B5EF4-FFF2-40B4-BE49-F238E27FC236}">
                    <a16:creationId xmlns:a16="http://schemas.microsoft.com/office/drawing/2014/main" id="{BB8413C5-202B-4C6C-A9CD-D9DD2100FC0D}"/>
                  </a:ext>
                </a:extLst>
              </p:cNvPr>
              <p:cNvCxnSpPr>
                <a:cxnSpLocks/>
                <a:stCxn id="36" idx="3"/>
                <a:endCxn id="43" idx="1"/>
              </p:cNvCxnSpPr>
              <p:nvPr/>
            </p:nvCxnSpPr>
            <p:spPr>
              <a:xfrm flipV="1">
                <a:off x="4243296" y="4294065"/>
                <a:ext cx="755127" cy="230"/>
              </a:xfrm>
              <a:prstGeom prst="straightConnector1">
                <a:avLst/>
              </a:prstGeom>
              <a:ln w="38100">
                <a:solidFill>
                  <a:schemeClr val="accent3">
                    <a:lumMod val="75000"/>
                  </a:schemeClr>
                </a:solidFill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Arrow Connector 46">
                <a:extLst>
                  <a:ext uri="{FF2B5EF4-FFF2-40B4-BE49-F238E27FC236}">
                    <a16:creationId xmlns:a16="http://schemas.microsoft.com/office/drawing/2014/main" id="{03116701-8184-43D7-B167-368F5F8AAA5E}"/>
                  </a:ext>
                </a:extLst>
              </p:cNvPr>
              <p:cNvCxnSpPr>
                <a:cxnSpLocks/>
                <a:stCxn id="44" idx="2"/>
                <a:endCxn id="43" idx="0"/>
              </p:cNvCxnSpPr>
              <p:nvPr/>
            </p:nvCxnSpPr>
            <p:spPr>
              <a:xfrm>
                <a:off x="4526216" y="3047806"/>
                <a:ext cx="1147288" cy="739949"/>
              </a:xfrm>
              <a:prstGeom prst="straightConnector1">
                <a:avLst/>
              </a:prstGeom>
              <a:ln w="38100">
                <a:solidFill>
                  <a:schemeClr val="accent3">
                    <a:lumMod val="75000"/>
                  </a:schemeClr>
                </a:solidFill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AC15E2EF-C557-4A2F-9F0B-883B89E0156C}"/>
              </a:ext>
            </a:extLst>
          </p:cNvPr>
          <p:cNvGrpSpPr/>
          <p:nvPr/>
        </p:nvGrpSpPr>
        <p:grpSpPr>
          <a:xfrm>
            <a:off x="7429480" y="3138482"/>
            <a:ext cx="3184717" cy="1057529"/>
            <a:chOff x="3064833" y="3787755"/>
            <a:chExt cx="3014329" cy="1013079"/>
          </a:xfrm>
        </p:grpSpPr>
        <p:pic>
          <p:nvPicPr>
            <p:cNvPr id="55" name="Picture 54" descr="A close up of a lion's face&#10;&#10;Description automatically generated with medium confidence">
              <a:extLst>
                <a:ext uri="{FF2B5EF4-FFF2-40B4-BE49-F238E27FC236}">
                  <a16:creationId xmlns:a16="http://schemas.microsoft.com/office/drawing/2014/main" id="{1FAE3F05-3122-4BC2-A754-B4333D79DB0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064833" y="3787755"/>
              <a:ext cx="1350772" cy="1013079"/>
            </a:xfrm>
            <a:prstGeom prst="rect">
              <a:avLst/>
            </a:prstGeom>
            <a:ln w="57150">
              <a:solidFill>
                <a:srgbClr val="00B0F0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</p:pic>
        <p:pic>
          <p:nvPicPr>
            <p:cNvPr id="56" name="Picture 55" descr="A group of jellyfish&#10;&#10;Description automatically generated with low confidence">
              <a:extLst>
                <a:ext uri="{FF2B5EF4-FFF2-40B4-BE49-F238E27FC236}">
                  <a16:creationId xmlns:a16="http://schemas.microsoft.com/office/drawing/2014/main" id="{8EECB303-9835-4DF3-8558-E9B9546F902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r="17333"/>
            <a:stretch/>
          </p:blipFill>
          <p:spPr>
            <a:xfrm>
              <a:off x="4729002" y="3787755"/>
              <a:ext cx="1350160" cy="1012620"/>
            </a:xfrm>
            <a:prstGeom prst="rect">
              <a:avLst/>
            </a:prstGeom>
            <a:ln w="57150">
              <a:solidFill>
                <a:srgbClr val="FFC000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</p:pic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84A20B48-8FDE-4590-BCB6-0B699C999B65}"/>
              </a:ext>
            </a:extLst>
          </p:cNvPr>
          <p:cNvGrpSpPr/>
          <p:nvPr/>
        </p:nvGrpSpPr>
        <p:grpSpPr>
          <a:xfrm>
            <a:off x="1637944" y="5144747"/>
            <a:ext cx="8886197" cy="1326776"/>
            <a:chOff x="1239675" y="2596842"/>
            <a:chExt cx="6664648" cy="995082"/>
          </a:xfrm>
        </p:grpSpPr>
        <p:sp>
          <p:nvSpPr>
            <p:cNvPr id="58" name="Rectangle: Rounded Corners 57">
              <a:extLst>
                <a:ext uri="{FF2B5EF4-FFF2-40B4-BE49-F238E27FC236}">
                  <a16:creationId xmlns:a16="http://schemas.microsoft.com/office/drawing/2014/main" id="{C445665D-2237-4236-BDFF-D7357EA6425E}"/>
                </a:ext>
              </a:extLst>
            </p:cNvPr>
            <p:cNvSpPr/>
            <p:nvPr/>
          </p:nvSpPr>
          <p:spPr>
            <a:xfrm>
              <a:off x="1239675" y="2596842"/>
              <a:ext cx="2279276" cy="995082"/>
            </a:xfrm>
            <a:prstGeom prst="roundRect">
              <a:avLst/>
            </a:prstGeom>
            <a:solidFill>
              <a:schemeClr val="tx2">
                <a:lumMod val="50000"/>
              </a:schemeClr>
            </a:solidFill>
            <a:ln w="571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Path is open</a:t>
              </a:r>
            </a:p>
          </p:txBody>
        </p:sp>
        <p:sp>
          <p:nvSpPr>
            <p:cNvPr id="59" name="Rectangle: Rounded Corners 58">
              <a:extLst>
                <a:ext uri="{FF2B5EF4-FFF2-40B4-BE49-F238E27FC236}">
                  <a16:creationId xmlns:a16="http://schemas.microsoft.com/office/drawing/2014/main" id="{9AFB7340-2F70-45A3-A19F-FDDFCE5A3C82}"/>
                </a:ext>
              </a:extLst>
            </p:cNvPr>
            <p:cNvSpPr/>
            <p:nvPr/>
          </p:nvSpPr>
          <p:spPr>
            <a:xfrm>
              <a:off x="5625047" y="2596842"/>
              <a:ext cx="2279276" cy="995082"/>
            </a:xfrm>
            <a:prstGeom prst="roundRect">
              <a:avLst/>
            </a:prstGeom>
            <a:solidFill>
              <a:schemeClr val="tx2">
                <a:lumMod val="50000"/>
              </a:schemeClr>
            </a:solidFill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Path is closed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B3CC54E7-39D7-4D38-B399-B3559FEBC6EA}"/>
              </a:ext>
            </a:extLst>
          </p:cNvPr>
          <p:cNvGrpSpPr/>
          <p:nvPr/>
        </p:nvGrpSpPr>
        <p:grpSpPr>
          <a:xfrm>
            <a:off x="10290565" y="585051"/>
            <a:ext cx="1249047" cy="670520"/>
            <a:chOff x="7717923" y="438788"/>
            <a:chExt cx="936785" cy="502890"/>
          </a:xfrm>
        </p:grpSpPr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2438A5E7-344B-4DC8-847F-D0D9C0C0DD6F}"/>
                </a:ext>
              </a:extLst>
            </p:cNvPr>
            <p:cNvGrpSpPr/>
            <p:nvPr/>
          </p:nvGrpSpPr>
          <p:grpSpPr>
            <a:xfrm>
              <a:off x="7717923" y="438788"/>
              <a:ext cx="936785" cy="353211"/>
              <a:chOff x="7717923" y="438788"/>
              <a:chExt cx="936785" cy="353211"/>
            </a:xfrm>
          </p:grpSpPr>
          <p:pic>
            <p:nvPicPr>
              <p:cNvPr id="37" name="Graphic 36" descr="Close with solid fill">
                <a:extLst>
                  <a:ext uri="{FF2B5EF4-FFF2-40B4-BE49-F238E27FC236}">
                    <a16:creationId xmlns:a16="http://schemas.microsoft.com/office/drawing/2014/main" id="{C92FF37C-F109-4A64-B6D8-F8C24F92298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7717923" y="458624"/>
                <a:ext cx="333375" cy="333375"/>
              </a:xfrm>
              <a:prstGeom prst="rect">
                <a:avLst/>
              </a:prstGeom>
            </p:spPr>
          </p:pic>
          <p:pic>
            <p:nvPicPr>
              <p:cNvPr id="38" name="Graphic 37" descr="Close with solid fill">
                <a:extLst>
                  <a:ext uri="{FF2B5EF4-FFF2-40B4-BE49-F238E27FC236}">
                    <a16:creationId xmlns:a16="http://schemas.microsoft.com/office/drawing/2014/main" id="{318EC5F3-4742-4D52-AE61-08F08CBCE38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8321333" y="438788"/>
                <a:ext cx="333375" cy="333375"/>
              </a:xfrm>
              <a:prstGeom prst="rect">
                <a:avLst/>
              </a:prstGeom>
            </p:spPr>
          </p:pic>
        </p:grp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24294DD8-28C1-4455-9243-4873F2D883D6}"/>
                </a:ext>
              </a:extLst>
            </p:cNvPr>
            <p:cNvCxnSpPr>
              <a:stCxn id="31" idx="6"/>
              <a:endCxn id="30" idx="2"/>
            </p:cNvCxnSpPr>
            <p:nvPr/>
          </p:nvCxnSpPr>
          <p:spPr>
            <a:xfrm>
              <a:off x="7825564" y="941678"/>
              <a:ext cx="697206" cy="0"/>
            </a:xfrm>
            <a:prstGeom prst="straightConnector1">
              <a:avLst/>
            </a:prstGeom>
            <a:ln w="38100">
              <a:solidFill>
                <a:schemeClr val="accent3">
                  <a:lumMod val="60000"/>
                  <a:lumOff val="40000"/>
                </a:schemeClr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97276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A962E-623F-4A33-9271-D822D9C94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12192000" cy="763600"/>
          </a:xfrm>
        </p:spPr>
        <p:txBody>
          <a:bodyPr/>
          <a:lstStyle/>
          <a:p>
            <a:pPr algn="ctr"/>
            <a:r>
              <a:rPr lang="en-GB" dirty="0"/>
              <a:t>Colliding confound quiz</a:t>
            </a:r>
          </a:p>
        </p:txBody>
      </p:sp>
      <p:sp>
        <p:nvSpPr>
          <p:cNvPr id="4" name="Google Shape;75;p15">
            <a:extLst>
              <a:ext uri="{FF2B5EF4-FFF2-40B4-BE49-F238E27FC236}">
                <a16:creationId xmlns:a16="http://schemas.microsoft.com/office/drawing/2014/main" id="{D3576E38-C5FF-4D1E-BF01-7E8DED020055}"/>
              </a:ext>
            </a:extLst>
          </p:cNvPr>
          <p:cNvSpPr/>
          <p:nvPr/>
        </p:nvSpPr>
        <p:spPr>
          <a:xfrm>
            <a:off x="4347584" y="693450"/>
            <a:ext cx="3496833" cy="140300"/>
          </a:xfrm>
          <a:custGeom>
            <a:avLst/>
            <a:gdLst/>
            <a:ahLst/>
            <a:cxnLst/>
            <a:rect l="l" t="t" r="r" b="b"/>
            <a:pathLst>
              <a:path w="104905" h="4209" extrusionOk="0">
                <a:moveTo>
                  <a:pt x="0" y="2010"/>
                </a:moveTo>
                <a:cubicBezTo>
                  <a:pt x="34411" y="-4246"/>
                  <a:pt x="71725" y="11060"/>
                  <a:pt x="104905" y="0"/>
                </a:cubicBezTo>
              </a:path>
            </a:pathLst>
          </a:custGeom>
          <a:noFill/>
          <a:ln w="19050" cap="flat" cmpd="sng">
            <a:solidFill>
              <a:srgbClr val="4C113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3A4D7AD0-38BC-4B0C-AA10-58399B680096}"/>
                  </a:ext>
                </a:extLst>
              </p:cNvPr>
              <p:cNvSpPr txBox="1"/>
              <p:nvPr/>
            </p:nvSpPr>
            <p:spPr>
              <a:xfrm>
                <a:off x="0" y="1867852"/>
                <a:ext cx="12192000" cy="5027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GB" sz="2667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Restaurant</m:t>
                      </m:r>
                      <m:r>
                        <a:rPr lang="en-GB" sz="2667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GB" sz="2667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Location</m:t>
                      </m:r>
                      <m:r>
                        <a:rPr lang="en-GB" sz="2667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m:rPr>
                          <m:sty m:val="p"/>
                        </m:rPr>
                        <a:rPr lang="en-GB" sz="2667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In</m:t>
                      </m:r>
                      <m:r>
                        <a:rPr lang="en-GB" sz="2667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GB" sz="2667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business</m:t>
                      </m:r>
                      <m:r>
                        <a:rPr lang="en-GB" sz="2667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667" i="1" dirty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←</m:t>
                      </m:r>
                      <m:r>
                        <m:rPr>
                          <m:sty m:val="p"/>
                        </m:rPr>
                        <a:rPr lang="en-GB" sz="2667" dirty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Quality</m:t>
                      </m:r>
                      <m:r>
                        <a:rPr lang="en-GB" sz="2667" dirty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GB" sz="2667" dirty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of</m:t>
                      </m:r>
                      <m:r>
                        <a:rPr lang="en-GB" sz="2667" dirty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GB" sz="2667" dirty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Food</m:t>
                      </m:r>
                    </m:oMath>
                  </m:oMathPara>
                </a14:m>
                <a:endParaRPr lang="en-GB" sz="2667" dirty="0">
                  <a:solidFill>
                    <a:srgbClr val="434343"/>
                  </a:solidFill>
                </a:endParaRPr>
              </a:p>
            </p:txBody>
          </p:sp>
        </mc:Choice>
        <mc:Fallback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3A4D7AD0-38BC-4B0C-AA10-58399B6800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867852"/>
                <a:ext cx="12192000" cy="50276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12C7AF16-67D7-41CE-8E91-4642F0C59711}"/>
              </a:ext>
            </a:extLst>
          </p:cNvPr>
          <p:cNvSpPr txBox="1"/>
          <p:nvPr/>
        </p:nvSpPr>
        <p:spPr>
          <a:xfrm>
            <a:off x="1" y="2558376"/>
            <a:ext cx="121920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If my restaurant is in a good location, will my food be good?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42C35C0-EEF2-4226-A8B2-B9C53F3CD77B}"/>
              </a:ext>
            </a:extLst>
          </p:cNvPr>
          <p:cNvSpPr txBox="1"/>
          <p:nvPr/>
        </p:nvSpPr>
        <p:spPr>
          <a:xfrm>
            <a:off x="1" y="6031149"/>
            <a:ext cx="121920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Do you need to know Z to know that </a:t>
            </a:r>
            <a:r>
              <a:rPr lang="en-GB" sz="2400" dirty="0">
                <a:solidFill>
                  <a:srgbClr val="0070C0"/>
                </a:solidFill>
              </a:rPr>
              <a:t>Location</a:t>
            </a:r>
            <a:r>
              <a:rPr lang="en-GB" sz="2400" dirty="0"/>
              <a:t> does not influence the </a:t>
            </a:r>
            <a:r>
              <a:rPr lang="en-GB" sz="2400" dirty="0">
                <a:solidFill>
                  <a:srgbClr val="FFC000"/>
                </a:solidFill>
              </a:rPr>
              <a:t>Quality of Food</a:t>
            </a:r>
            <a:r>
              <a:rPr lang="en-GB" sz="2400" dirty="0"/>
              <a:t>?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E202F5B-08DB-4B90-AA18-4DB3F515682C}"/>
              </a:ext>
            </a:extLst>
          </p:cNvPr>
          <p:cNvSpPr/>
          <p:nvPr/>
        </p:nvSpPr>
        <p:spPr>
          <a:xfrm>
            <a:off x="5168177" y="1874701"/>
            <a:ext cx="2538260" cy="52928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chemeClr val="tx1"/>
                </a:solidFill>
                <a:latin typeface="+mj-lt"/>
              </a:rPr>
              <a:t>causes (?)</a:t>
            </a:r>
            <a:endParaRPr lang="en-GB" sz="3733" dirty="0">
              <a:solidFill>
                <a:schemeClr val="tx1"/>
              </a:solidFill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51CAF286-8A9C-481C-8CC1-1FBAA545137D}"/>
              </a:ext>
            </a:extLst>
          </p:cNvPr>
          <p:cNvGrpSpPr/>
          <p:nvPr/>
        </p:nvGrpSpPr>
        <p:grpSpPr>
          <a:xfrm>
            <a:off x="85246" y="76149"/>
            <a:ext cx="2088545" cy="1445055"/>
            <a:chOff x="4205034" y="3383452"/>
            <a:chExt cx="1566409" cy="1083791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EB5EC586-9519-45BA-8E7E-6AAEE3668950}"/>
                </a:ext>
              </a:extLst>
            </p:cNvPr>
            <p:cNvSpPr/>
            <p:nvPr/>
          </p:nvSpPr>
          <p:spPr>
            <a:xfrm>
              <a:off x="5336842" y="4063923"/>
              <a:ext cx="434601" cy="403320"/>
            </a:xfrm>
            <a:prstGeom prst="ellipse">
              <a:avLst/>
            </a:prstGeom>
            <a:solidFill>
              <a:srgbClr val="434343"/>
            </a:solidFill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Y</a:t>
              </a: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E086B1E4-5001-4380-9429-AA4BE120D5FB}"/>
                </a:ext>
              </a:extLst>
            </p:cNvPr>
            <p:cNvSpPr/>
            <p:nvPr/>
          </p:nvSpPr>
          <p:spPr>
            <a:xfrm>
              <a:off x="4205034" y="4063923"/>
              <a:ext cx="434602" cy="403319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 w="38100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X</a:t>
              </a:r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BFFCABDA-2C5B-4665-BF06-E58E1CC7E2D3}"/>
                </a:ext>
              </a:extLst>
            </p:cNvPr>
            <p:cNvSpPr/>
            <p:nvPr/>
          </p:nvSpPr>
          <p:spPr>
            <a:xfrm>
              <a:off x="4774720" y="3383452"/>
              <a:ext cx="434601" cy="403319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Z</a:t>
              </a:r>
            </a:p>
          </p:txBody>
        </p: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5F729844-E26D-4506-AB3A-08152DF739D9}"/>
                </a:ext>
              </a:extLst>
            </p:cNvPr>
            <p:cNvCxnSpPr>
              <a:stCxn id="31" idx="7"/>
              <a:endCxn id="35" idx="3"/>
            </p:cNvCxnSpPr>
            <p:nvPr/>
          </p:nvCxnSpPr>
          <p:spPr>
            <a:xfrm flipV="1">
              <a:off x="4575990" y="3727706"/>
              <a:ext cx="262376" cy="39528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C878AA9E-AF96-4DEC-98BF-D1AFDBEC575A}"/>
                </a:ext>
              </a:extLst>
            </p:cNvPr>
            <p:cNvCxnSpPr>
              <a:stCxn id="29" idx="1"/>
              <a:endCxn id="35" idx="5"/>
            </p:cNvCxnSpPr>
            <p:nvPr/>
          </p:nvCxnSpPr>
          <p:spPr>
            <a:xfrm flipH="1" flipV="1">
              <a:off x="5145675" y="3727706"/>
              <a:ext cx="254813" cy="39528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0FBAD7E-8989-4A41-A38E-3E45D0B41155}"/>
              </a:ext>
            </a:extLst>
          </p:cNvPr>
          <p:cNvGrpSpPr/>
          <p:nvPr/>
        </p:nvGrpSpPr>
        <p:grpSpPr>
          <a:xfrm>
            <a:off x="2544087" y="3340198"/>
            <a:ext cx="7663966" cy="2401569"/>
            <a:chOff x="2297026" y="2485824"/>
            <a:chExt cx="5747974" cy="1801177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930BF61-4106-4DC3-936C-8C9B10E21FEE}"/>
                </a:ext>
              </a:extLst>
            </p:cNvPr>
            <p:cNvGrpSpPr/>
            <p:nvPr/>
          </p:nvGrpSpPr>
          <p:grpSpPr>
            <a:xfrm>
              <a:off x="2297026" y="2485824"/>
              <a:ext cx="5747974" cy="1764686"/>
              <a:chOff x="2297026" y="2485824"/>
              <a:chExt cx="5747974" cy="1764686"/>
            </a:xfrm>
          </p:grpSpPr>
          <p:grpSp>
            <p:nvGrpSpPr>
              <p:cNvPr id="30" name="Group 29">
                <a:extLst>
                  <a:ext uri="{FF2B5EF4-FFF2-40B4-BE49-F238E27FC236}">
                    <a16:creationId xmlns:a16="http://schemas.microsoft.com/office/drawing/2014/main" id="{1DCB17A4-88DA-471F-B45F-D9C88D9E82F6}"/>
                  </a:ext>
                </a:extLst>
              </p:cNvPr>
              <p:cNvGrpSpPr/>
              <p:nvPr/>
            </p:nvGrpSpPr>
            <p:grpSpPr>
              <a:xfrm>
                <a:off x="4234580" y="3045001"/>
                <a:ext cx="3810420" cy="638573"/>
                <a:chOff x="4109095" y="3003616"/>
                <a:chExt cx="3810420" cy="638573"/>
              </a:xfrm>
            </p:grpSpPr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19" name="TextBox 18">
                      <a:extLst>
                        <a:ext uri="{FF2B5EF4-FFF2-40B4-BE49-F238E27FC236}">
                          <a16:creationId xmlns:a16="http://schemas.microsoft.com/office/drawing/2014/main" id="{C0986C1E-7E94-4F29-86BC-41CC2B823F5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109095" y="3018941"/>
                      <a:ext cx="607378" cy="623248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GB" sz="48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</m:oMath>
                        </m:oMathPara>
                      </a14:m>
                      <a:endParaRPr lang="en-GB" sz="4800" dirty="0"/>
                    </a:p>
                  </p:txBody>
                </p:sp>
              </mc:Choice>
              <mc:Fallback>
                <p:sp>
                  <p:nvSpPr>
                    <p:cNvPr id="19" name="TextBox 18">
                      <a:extLst>
                        <a:ext uri="{FF2B5EF4-FFF2-40B4-BE49-F238E27FC236}">
                          <a16:creationId xmlns:a16="http://schemas.microsoft.com/office/drawing/2014/main" id="{C0986C1E-7E94-4F29-86BC-41CC2B823F5F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109095" y="3018941"/>
                      <a:ext cx="607378" cy="623248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39" name="TextBox 38">
                      <a:extLst>
                        <a:ext uri="{FF2B5EF4-FFF2-40B4-BE49-F238E27FC236}">
                          <a16:creationId xmlns:a16="http://schemas.microsoft.com/office/drawing/2014/main" id="{1BC3DFFE-A5D2-4B72-8FA0-D470DF2D3EB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462419" y="3003616"/>
                      <a:ext cx="457096" cy="623248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GB" sz="4800" i="1">
                                <a:latin typeface="Cambria Math" panose="02040503050406030204" pitchFamily="18" charset="0"/>
                              </a:rPr>
                              <m:t>?</m:t>
                            </m:r>
                          </m:oMath>
                        </m:oMathPara>
                      </a14:m>
                      <a:endParaRPr lang="en-GB" sz="4800" dirty="0"/>
                    </a:p>
                  </p:txBody>
                </p:sp>
              </mc:Choice>
              <mc:Fallback>
                <p:sp>
                  <p:nvSpPr>
                    <p:cNvPr id="39" name="TextBox 38">
                      <a:extLst>
                        <a:ext uri="{FF2B5EF4-FFF2-40B4-BE49-F238E27FC236}">
                          <a16:creationId xmlns:a16="http://schemas.microsoft.com/office/drawing/2014/main" id="{1BC3DFFE-A5D2-4B72-8FA0-D470DF2D3EB0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462419" y="3003616"/>
                      <a:ext cx="457096" cy="623248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pic>
            <p:nvPicPr>
              <p:cNvPr id="6" name="Picture 5" descr="A picture containing text, outdoor&#10;&#10;Description automatically generated">
                <a:extLst>
                  <a:ext uri="{FF2B5EF4-FFF2-40B4-BE49-F238E27FC236}">
                    <a16:creationId xmlns:a16="http://schemas.microsoft.com/office/drawing/2014/main" id="{786180A3-E5BC-404B-BEFF-85A6ADF2A3C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297026" y="2485824"/>
                <a:ext cx="1764686" cy="1764686"/>
              </a:xfrm>
              <a:prstGeom prst="rect">
                <a:avLst/>
              </a:prstGeom>
            </p:spPr>
          </p:pic>
        </p:grpSp>
        <p:pic>
          <p:nvPicPr>
            <p:cNvPr id="11" name="Picture 10" descr="A person holding a plate of food&#10;&#10;Description automatically generated with low confidence">
              <a:extLst>
                <a:ext uri="{FF2B5EF4-FFF2-40B4-BE49-F238E27FC236}">
                  <a16:creationId xmlns:a16="http://schemas.microsoft.com/office/drawing/2014/main" id="{8F1A01A9-7AD4-4CD7-8763-2C4B378A24E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064999" y="2524473"/>
              <a:ext cx="2350037" cy="1762528"/>
            </a:xfrm>
            <a:prstGeom prst="rect">
              <a:avLst/>
            </a:prstGeom>
          </p:spPr>
        </p:pic>
      </p:grp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4981F87F-8FE8-4041-9EDC-1ECA985E9D45}"/>
              </a:ext>
            </a:extLst>
          </p:cNvPr>
          <p:cNvSpPr/>
          <p:nvPr/>
        </p:nvSpPr>
        <p:spPr>
          <a:xfrm>
            <a:off x="3485018" y="3420220"/>
            <a:ext cx="4944533" cy="2192867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667" dirty="0"/>
              <a:t>If we don’t want to misinterpret Location as causing Quality of Food, we </a:t>
            </a:r>
            <a:r>
              <a:rPr lang="en-GB" sz="2667" b="1" u="sng" dirty="0"/>
              <a:t>should not know</a:t>
            </a:r>
            <a:r>
              <a:rPr lang="en-GB" sz="2667" dirty="0"/>
              <a:t> about if the restaurant is still in business.</a:t>
            </a:r>
          </a:p>
        </p:txBody>
      </p:sp>
    </p:spTree>
    <p:extLst>
      <p:ext uri="{BB962C8B-B14F-4D97-AF65-F5344CB8AC3E}">
        <p14:creationId xmlns:p14="http://schemas.microsoft.com/office/powerpoint/2010/main" val="706079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8" grpId="0"/>
      <p:bldP spid="33" grpId="0"/>
      <p:bldP spid="34" grpId="0" animBg="1"/>
      <p:bldP spid="34" grpId="1" animBg="1"/>
      <p:bldP spid="42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A962E-623F-4A33-9271-D822D9C94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12192000" cy="763600"/>
          </a:xfrm>
        </p:spPr>
        <p:txBody>
          <a:bodyPr/>
          <a:lstStyle/>
          <a:p>
            <a:pPr algn="ctr"/>
            <a:r>
              <a:rPr lang="en-GB" dirty="0"/>
              <a:t>Why would we misinterpret a collider?</a:t>
            </a:r>
          </a:p>
        </p:txBody>
      </p:sp>
      <p:sp>
        <p:nvSpPr>
          <p:cNvPr id="4" name="Google Shape;75;p15">
            <a:extLst>
              <a:ext uri="{FF2B5EF4-FFF2-40B4-BE49-F238E27FC236}">
                <a16:creationId xmlns:a16="http://schemas.microsoft.com/office/drawing/2014/main" id="{D3576E38-C5FF-4D1E-BF01-7E8DED020055}"/>
              </a:ext>
            </a:extLst>
          </p:cNvPr>
          <p:cNvSpPr/>
          <p:nvPr/>
        </p:nvSpPr>
        <p:spPr>
          <a:xfrm>
            <a:off x="4347584" y="693450"/>
            <a:ext cx="3496833" cy="140300"/>
          </a:xfrm>
          <a:custGeom>
            <a:avLst/>
            <a:gdLst/>
            <a:ahLst/>
            <a:cxnLst/>
            <a:rect l="l" t="t" r="r" b="b"/>
            <a:pathLst>
              <a:path w="104905" h="4209" extrusionOk="0">
                <a:moveTo>
                  <a:pt x="0" y="2010"/>
                </a:moveTo>
                <a:cubicBezTo>
                  <a:pt x="34411" y="-4246"/>
                  <a:pt x="71725" y="11060"/>
                  <a:pt x="104905" y="0"/>
                </a:cubicBezTo>
              </a:path>
            </a:pathLst>
          </a:custGeom>
          <a:noFill/>
          <a:ln w="19050" cap="flat" cmpd="sng">
            <a:solidFill>
              <a:srgbClr val="4C113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51CAF286-8A9C-481C-8CC1-1FBAA545137D}"/>
              </a:ext>
            </a:extLst>
          </p:cNvPr>
          <p:cNvGrpSpPr/>
          <p:nvPr/>
        </p:nvGrpSpPr>
        <p:grpSpPr>
          <a:xfrm>
            <a:off x="85246" y="76149"/>
            <a:ext cx="2088545" cy="1445055"/>
            <a:chOff x="4205034" y="3383452"/>
            <a:chExt cx="1566409" cy="1083791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EB5EC586-9519-45BA-8E7E-6AAEE3668950}"/>
                </a:ext>
              </a:extLst>
            </p:cNvPr>
            <p:cNvSpPr/>
            <p:nvPr/>
          </p:nvSpPr>
          <p:spPr>
            <a:xfrm>
              <a:off x="5336842" y="4063923"/>
              <a:ext cx="434601" cy="403320"/>
            </a:xfrm>
            <a:prstGeom prst="ellipse">
              <a:avLst/>
            </a:prstGeom>
            <a:solidFill>
              <a:srgbClr val="434343"/>
            </a:solidFill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Y</a:t>
              </a: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E086B1E4-5001-4380-9429-AA4BE120D5FB}"/>
                </a:ext>
              </a:extLst>
            </p:cNvPr>
            <p:cNvSpPr/>
            <p:nvPr/>
          </p:nvSpPr>
          <p:spPr>
            <a:xfrm>
              <a:off x="4205034" y="4063923"/>
              <a:ext cx="434602" cy="403319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 w="38100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X</a:t>
              </a:r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BFFCABDA-2C5B-4665-BF06-E58E1CC7E2D3}"/>
                </a:ext>
              </a:extLst>
            </p:cNvPr>
            <p:cNvSpPr/>
            <p:nvPr/>
          </p:nvSpPr>
          <p:spPr>
            <a:xfrm>
              <a:off x="4774720" y="3383452"/>
              <a:ext cx="434601" cy="403319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Z</a:t>
              </a:r>
            </a:p>
          </p:txBody>
        </p: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5F729844-E26D-4506-AB3A-08152DF739D9}"/>
                </a:ext>
              </a:extLst>
            </p:cNvPr>
            <p:cNvCxnSpPr>
              <a:stCxn id="31" idx="7"/>
              <a:endCxn id="35" idx="3"/>
            </p:cNvCxnSpPr>
            <p:nvPr/>
          </p:nvCxnSpPr>
          <p:spPr>
            <a:xfrm flipV="1">
              <a:off x="4575990" y="3727706"/>
              <a:ext cx="262376" cy="39528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C878AA9E-AF96-4DEC-98BF-D1AFDBEC575A}"/>
                </a:ext>
              </a:extLst>
            </p:cNvPr>
            <p:cNvCxnSpPr>
              <a:stCxn id="29" idx="1"/>
              <a:endCxn id="35" idx="5"/>
            </p:cNvCxnSpPr>
            <p:nvPr/>
          </p:nvCxnSpPr>
          <p:spPr>
            <a:xfrm flipH="1" flipV="1">
              <a:off x="5145675" y="3727706"/>
              <a:ext cx="254813" cy="39528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6DB15A6C-8EE0-4808-BDD2-35A428A5A700}"/>
              </a:ext>
            </a:extLst>
          </p:cNvPr>
          <p:cNvSpPr txBox="1"/>
          <p:nvPr/>
        </p:nvSpPr>
        <p:spPr>
          <a:xfrm>
            <a:off x="-1" y="5109940"/>
            <a:ext cx="12192001" cy="1323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667" dirty="0"/>
              <a:t>When you know X and Z, you always know Y.</a:t>
            </a:r>
            <a:br>
              <a:rPr lang="en-GB" sz="2667" dirty="0"/>
            </a:br>
            <a:endParaRPr lang="en-GB" sz="2667" dirty="0"/>
          </a:p>
          <a:p>
            <a:pPr algn="ctr"/>
            <a:r>
              <a:rPr lang="en-GB" sz="2667" dirty="0"/>
              <a:t>Models find this association and we might interpret it as causation.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54443B2-38FC-4910-817A-6356F2453AA2}"/>
              </a:ext>
            </a:extLst>
          </p:cNvPr>
          <p:cNvCxnSpPr>
            <a:cxnSpLocks/>
            <a:stCxn id="14" idx="3"/>
            <a:endCxn id="48" idx="1"/>
          </p:cNvCxnSpPr>
          <p:nvPr/>
        </p:nvCxnSpPr>
        <p:spPr>
          <a:xfrm flipV="1">
            <a:off x="2935037" y="2372356"/>
            <a:ext cx="1802020" cy="1224419"/>
          </a:xfrm>
          <a:prstGeom prst="straightConnector1">
            <a:avLst/>
          </a:prstGeom>
          <a:ln w="38100">
            <a:solidFill>
              <a:srgbClr val="43434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D4DC93B-9DB8-4E63-8860-1EA994A1605A}"/>
              </a:ext>
            </a:extLst>
          </p:cNvPr>
          <p:cNvCxnSpPr>
            <a:cxnSpLocks/>
            <a:stCxn id="49" idx="1"/>
            <a:endCxn id="48" idx="3"/>
          </p:cNvCxnSpPr>
          <p:nvPr/>
        </p:nvCxnSpPr>
        <p:spPr>
          <a:xfrm flipH="1" flipV="1">
            <a:off x="6728727" y="2372356"/>
            <a:ext cx="1776803" cy="1415259"/>
          </a:xfrm>
          <a:prstGeom prst="straightConnector1">
            <a:avLst/>
          </a:prstGeom>
          <a:ln w="38100">
            <a:solidFill>
              <a:srgbClr val="43434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E4D89C7-B236-48ED-8AD4-845C256FCFAF}"/>
              </a:ext>
            </a:extLst>
          </p:cNvPr>
          <p:cNvGrpSpPr/>
          <p:nvPr/>
        </p:nvGrpSpPr>
        <p:grpSpPr>
          <a:xfrm>
            <a:off x="2935037" y="3567371"/>
            <a:ext cx="5570495" cy="689669"/>
            <a:chOff x="2201277" y="2675528"/>
            <a:chExt cx="4177871" cy="517252"/>
          </a:xfrm>
        </p:grpSpPr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B4A9328B-65DA-4C40-B5DC-AE37B5916810}"/>
                </a:ext>
              </a:extLst>
            </p:cNvPr>
            <p:cNvCxnSpPr>
              <a:cxnSpLocks/>
            </p:cNvCxnSpPr>
            <p:nvPr/>
          </p:nvCxnSpPr>
          <p:spPr>
            <a:xfrm>
              <a:off x="2201277" y="3192780"/>
              <a:ext cx="4177871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Connector: Curved 7">
              <a:extLst>
                <a:ext uri="{FF2B5EF4-FFF2-40B4-BE49-F238E27FC236}">
                  <a16:creationId xmlns:a16="http://schemas.microsoft.com/office/drawing/2014/main" id="{C961B382-1CE4-4130-AD3F-91C756915A3B}"/>
                </a:ext>
              </a:extLst>
            </p:cNvPr>
            <p:cNvCxnSpPr>
              <a:cxnSpLocks/>
              <a:stCxn id="48" idx="2"/>
            </p:cNvCxnSpPr>
            <p:nvPr/>
          </p:nvCxnSpPr>
          <p:spPr>
            <a:xfrm rot="16200000" flipH="1">
              <a:off x="5080775" y="1894423"/>
              <a:ext cx="517251" cy="2079462"/>
            </a:xfrm>
            <a:prstGeom prst="curvedConnector2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B3D5AF42-2DC7-4048-BE2F-EA94E30DFF0C}"/>
              </a:ext>
            </a:extLst>
          </p:cNvPr>
          <p:cNvGrpSpPr/>
          <p:nvPr/>
        </p:nvGrpSpPr>
        <p:grpSpPr>
          <a:xfrm>
            <a:off x="8505510" y="2727012"/>
            <a:ext cx="3090841" cy="2166789"/>
            <a:chOff x="6379132" y="2045259"/>
            <a:chExt cx="2318131" cy="1625092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C5922AC2-4369-4DD5-98B1-7FFEEE994218}"/>
                </a:ext>
              </a:extLst>
            </p:cNvPr>
            <p:cNvGrpSpPr/>
            <p:nvPr/>
          </p:nvGrpSpPr>
          <p:grpSpPr>
            <a:xfrm>
              <a:off x="6379132" y="2045259"/>
              <a:ext cx="2318131" cy="1625092"/>
              <a:chOff x="5191110" y="1928835"/>
              <a:chExt cx="2318131" cy="1625092"/>
            </a:xfrm>
          </p:grpSpPr>
          <p:sp>
            <p:nvSpPr>
              <p:cNvPr id="49" name="Rectangle: Rounded Corners 48">
                <a:extLst>
                  <a:ext uri="{FF2B5EF4-FFF2-40B4-BE49-F238E27FC236}">
                    <a16:creationId xmlns:a16="http://schemas.microsoft.com/office/drawing/2014/main" id="{D7506BDD-44D6-42A0-8718-86BC261E8036}"/>
                  </a:ext>
                </a:extLst>
              </p:cNvPr>
              <p:cNvSpPr/>
              <p:nvPr/>
            </p:nvSpPr>
            <p:spPr>
              <a:xfrm>
                <a:off x="5191125" y="1928835"/>
                <a:ext cx="2271093" cy="1590903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rgbClr val="43434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400"/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875BF09-F7F0-4A67-BA8B-F310914B5252}"/>
                  </a:ext>
                </a:extLst>
              </p:cNvPr>
              <p:cNvSpPr txBox="1"/>
              <p:nvPr/>
            </p:nvSpPr>
            <p:spPr>
              <a:xfrm>
                <a:off x="5191110" y="3207678"/>
                <a:ext cx="2318131" cy="3462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2400" dirty="0"/>
                  <a:t>Good or bad food?</a:t>
                </a:r>
              </a:p>
            </p:txBody>
          </p:sp>
        </p:grpSp>
        <p:pic>
          <p:nvPicPr>
            <p:cNvPr id="51" name="Picture 50" descr="A plate of food&#10;&#10;Description automatically generated with medium confidence">
              <a:extLst>
                <a:ext uri="{FF2B5EF4-FFF2-40B4-BE49-F238E27FC236}">
                  <a16:creationId xmlns:a16="http://schemas.microsoft.com/office/drawing/2014/main" id="{DA968210-863F-4E5E-A0EC-D7A6564A6AD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79376" y="2113285"/>
              <a:ext cx="2070945" cy="1223667"/>
            </a:xfrm>
            <a:prstGeom prst="roundRect">
              <a:avLst/>
            </a:prstGeom>
          </p:spPr>
        </p:pic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BD612C06-4CBA-4181-AA45-F79415CE0F4F}"/>
              </a:ext>
            </a:extLst>
          </p:cNvPr>
          <p:cNvGrpSpPr/>
          <p:nvPr/>
        </p:nvGrpSpPr>
        <p:grpSpPr>
          <a:xfrm>
            <a:off x="1036455" y="2345332"/>
            <a:ext cx="1898581" cy="2557720"/>
            <a:chOff x="777341" y="1758999"/>
            <a:chExt cx="1423936" cy="1918290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50BE12F4-F69B-4E56-974C-99EC9397E6C6}"/>
                </a:ext>
              </a:extLst>
            </p:cNvPr>
            <p:cNvGrpSpPr/>
            <p:nvPr/>
          </p:nvGrpSpPr>
          <p:grpSpPr>
            <a:xfrm>
              <a:off x="777341" y="1758999"/>
              <a:ext cx="1423936" cy="1918290"/>
              <a:chOff x="1662806" y="1939413"/>
              <a:chExt cx="1423936" cy="1625758"/>
            </a:xfrm>
          </p:grpSpPr>
          <p:sp>
            <p:nvSpPr>
              <p:cNvPr id="14" name="Rectangle: Rounded Corners 13">
                <a:extLst>
                  <a:ext uri="{FF2B5EF4-FFF2-40B4-BE49-F238E27FC236}">
                    <a16:creationId xmlns:a16="http://schemas.microsoft.com/office/drawing/2014/main" id="{FD63127D-FB10-4753-891A-AA4FE3C52A11}"/>
                  </a:ext>
                </a:extLst>
              </p:cNvPr>
              <p:cNvSpPr/>
              <p:nvPr/>
            </p:nvSpPr>
            <p:spPr>
              <a:xfrm>
                <a:off x="1671661" y="1939413"/>
                <a:ext cx="1415081" cy="1590903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rgbClr val="43434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400"/>
              </a:p>
            </p:txBody>
          </p:sp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970EE36-B89C-457D-8FB0-5166B0469FEF}"/>
                  </a:ext>
                </a:extLst>
              </p:cNvPr>
              <p:cNvSpPr txBox="1"/>
              <p:nvPr/>
            </p:nvSpPr>
            <p:spPr>
              <a:xfrm>
                <a:off x="1662806" y="3271724"/>
                <a:ext cx="1415082" cy="2934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2400" dirty="0"/>
                  <a:t>Bad location</a:t>
                </a:r>
              </a:p>
            </p:txBody>
          </p:sp>
        </p:grpSp>
        <p:pic>
          <p:nvPicPr>
            <p:cNvPr id="59" name="Picture 58" descr="A picture containing ground, outdoor, building, way&#10;&#10;Description automatically generated">
              <a:extLst>
                <a:ext uri="{FF2B5EF4-FFF2-40B4-BE49-F238E27FC236}">
                  <a16:creationId xmlns:a16="http://schemas.microsoft.com/office/drawing/2014/main" id="{A9EF46B4-2B82-4CB4-91FB-AD19A140B00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68675" y="1862921"/>
              <a:ext cx="1232358" cy="1485641"/>
            </a:xfrm>
            <a:prstGeom prst="roundRect">
              <a:avLst/>
            </a:prstGeom>
          </p:spPr>
        </p:pic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5B11B84A-7873-4536-A737-F1724C9394CA}"/>
              </a:ext>
            </a:extLst>
          </p:cNvPr>
          <p:cNvGrpSpPr/>
          <p:nvPr/>
        </p:nvGrpSpPr>
        <p:grpSpPr>
          <a:xfrm>
            <a:off x="4404521" y="1177341"/>
            <a:ext cx="2638208" cy="2415383"/>
            <a:chOff x="3303391" y="883005"/>
            <a:chExt cx="1978656" cy="1811537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083CBC9C-33C8-44D3-9147-47B78AC60C6E}"/>
                </a:ext>
              </a:extLst>
            </p:cNvPr>
            <p:cNvGrpSpPr/>
            <p:nvPr/>
          </p:nvGrpSpPr>
          <p:grpSpPr>
            <a:xfrm>
              <a:off x="3303391" y="883005"/>
              <a:ext cx="1978656" cy="1811537"/>
              <a:chOff x="3353613" y="564060"/>
              <a:chExt cx="1978656" cy="1811537"/>
            </a:xfrm>
          </p:grpSpPr>
          <p:sp>
            <p:nvSpPr>
              <p:cNvPr id="48" name="Rectangle: Rounded Corners 47">
                <a:extLst>
                  <a:ext uri="{FF2B5EF4-FFF2-40B4-BE49-F238E27FC236}">
                    <a16:creationId xmlns:a16="http://schemas.microsoft.com/office/drawing/2014/main" id="{42B24D6C-4532-4104-ACFE-524A784C68DE}"/>
                  </a:ext>
                </a:extLst>
              </p:cNvPr>
              <p:cNvSpPr/>
              <p:nvPr/>
            </p:nvSpPr>
            <p:spPr>
              <a:xfrm>
                <a:off x="3603014" y="564060"/>
                <a:ext cx="1493753" cy="1792524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rgbClr val="43434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400" dirty="0"/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4288971-D6E7-474E-AA0D-9BA4FFD2D19B}"/>
                  </a:ext>
                </a:extLst>
              </p:cNvPr>
              <p:cNvSpPr txBox="1"/>
              <p:nvPr/>
            </p:nvSpPr>
            <p:spPr>
              <a:xfrm>
                <a:off x="3353613" y="2029348"/>
                <a:ext cx="1978656" cy="3462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2400" dirty="0"/>
                  <a:t>In business</a:t>
                </a:r>
              </a:p>
            </p:txBody>
          </p:sp>
        </p:grpSp>
        <p:pic>
          <p:nvPicPr>
            <p:cNvPr id="7" name="Picture 6" descr="A picture containing text, outdoor, street, curb&#10;&#10;Description automatically generated">
              <a:extLst>
                <a:ext uri="{FF2B5EF4-FFF2-40B4-BE49-F238E27FC236}">
                  <a16:creationId xmlns:a16="http://schemas.microsoft.com/office/drawing/2014/main" id="{58CE3366-E54A-42D2-B2B3-EB7891ED811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653035" y="977381"/>
              <a:ext cx="1293266" cy="1370911"/>
            </a:xfrm>
            <a:prstGeom prst="round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54780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A962E-623F-4A33-9271-D822D9C94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12192000" cy="763600"/>
          </a:xfrm>
        </p:spPr>
        <p:txBody>
          <a:bodyPr/>
          <a:lstStyle/>
          <a:p>
            <a:pPr algn="ctr"/>
            <a:r>
              <a:rPr lang="en-GB" dirty="0"/>
              <a:t>The confounds</a:t>
            </a:r>
          </a:p>
        </p:txBody>
      </p:sp>
      <p:sp>
        <p:nvSpPr>
          <p:cNvPr id="4" name="Google Shape;75;p15">
            <a:extLst>
              <a:ext uri="{FF2B5EF4-FFF2-40B4-BE49-F238E27FC236}">
                <a16:creationId xmlns:a16="http://schemas.microsoft.com/office/drawing/2014/main" id="{D3576E38-C5FF-4D1E-BF01-7E8DED020055}"/>
              </a:ext>
            </a:extLst>
          </p:cNvPr>
          <p:cNvSpPr/>
          <p:nvPr/>
        </p:nvSpPr>
        <p:spPr>
          <a:xfrm>
            <a:off x="4347584" y="693450"/>
            <a:ext cx="3496833" cy="140300"/>
          </a:xfrm>
          <a:custGeom>
            <a:avLst/>
            <a:gdLst/>
            <a:ahLst/>
            <a:cxnLst/>
            <a:rect l="l" t="t" r="r" b="b"/>
            <a:pathLst>
              <a:path w="104905" h="4209" extrusionOk="0">
                <a:moveTo>
                  <a:pt x="0" y="2010"/>
                </a:moveTo>
                <a:cubicBezTo>
                  <a:pt x="34411" y="-4246"/>
                  <a:pt x="71725" y="11060"/>
                  <a:pt x="104905" y="0"/>
                </a:cubicBezTo>
              </a:path>
            </a:pathLst>
          </a:custGeom>
          <a:noFill/>
          <a:ln w="19050" cap="flat" cmpd="sng">
            <a:solidFill>
              <a:srgbClr val="4C113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606A284-FF7B-4214-B699-4381B44713D1}"/>
              </a:ext>
            </a:extLst>
          </p:cNvPr>
          <p:cNvGrpSpPr/>
          <p:nvPr/>
        </p:nvGrpSpPr>
        <p:grpSpPr>
          <a:xfrm>
            <a:off x="3553794" y="1178738"/>
            <a:ext cx="5198383" cy="5130639"/>
            <a:chOff x="3525957" y="830264"/>
            <a:chExt cx="3898787" cy="3847979"/>
          </a:xfrm>
        </p:grpSpPr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14BD0FBE-1901-44C1-B2BF-04A0F26F2F78}"/>
                </a:ext>
              </a:extLst>
            </p:cNvPr>
            <p:cNvGrpSpPr/>
            <p:nvPr/>
          </p:nvGrpSpPr>
          <p:grpSpPr>
            <a:xfrm>
              <a:off x="5476773" y="830264"/>
              <a:ext cx="1566409" cy="1594567"/>
              <a:chOff x="5476773" y="830264"/>
              <a:chExt cx="1566409" cy="1594567"/>
            </a:xfrm>
          </p:grpSpPr>
          <p:grpSp>
            <p:nvGrpSpPr>
              <p:cNvPr id="74" name="Group 73">
                <a:extLst>
                  <a:ext uri="{FF2B5EF4-FFF2-40B4-BE49-F238E27FC236}">
                    <a16:creationId xmlns:a16="http://schemas.microsoft.com/office/drawing/2014/main" id="{E6A70E16-FEC9-4152-B419-97B35E22CD42}"/>
                  </a:ext>
                </a:extLst>
              </p:cNvPr>
              <p:cNvGrpSpPr/>
              <p:nvPr/>
            </p:nvGrpSpPr>
            <p:grpSpPr>
              <a:xfrm>
                <a:off x="5476773" y="1341040"/>
                <a:ext cx="1566409" cy="1083791"/>
                <a:chOff x="6155850" y="1341040"/>
                <a:chExt cx="1566409" cy="1083791"/>
              </a:xfrm>
            </p:grpSpPr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533F65E5-54E3-4F6D-8E50-D41D0D93A99A}"/>
                    </a:ext>
                  </a:extLst>
                </p:cNvPr>
                <p:cNvSpPr/>
                <p:nvPr/>
              </p:nvSpPr>
              <p:spPr>
                <a:xfrm>
                  <a:off x="7287658" y="2021511"/>
                  <a:ext cx="434601" cy="403320"/>
                </a:xfrm>
                <a:prstGeom prst="ellipse">
                  <a:avLst/>
                </a:prstGeom>
                <a:solidFill>
                  <a:srgbClr val="434343"/>
                </a:solidFill>
                <a:ln w="38100"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Y</a:t>
                  </a:r>
                </a:p>
              </p:txBody>
            </p:sp>
            <p:sp>
              <p:nvSpPr>
                <p:cNvPr id="30" name="Oval 29">
                  <a:extLst>
                    <a:ext uri="{FF2B5EF4-FFF2-40B4-BE49-F238E27FC236}">
                      <a16:creationId xmlns:a16="http://schemas.microsoft.com/office/drawing/2014/main" id="{39613A30-CEA7-43EB-9DD4-31A2596A3525}"/>
                    </a:ext>
                  </a:extLst>
                </p:cNvPr>
                <p:cNvSpPr/>
                <p:nvPr/>
              </p:nvSpPr>
              <p:spPr>
                <a:xfrm>
                  <a:off x="6155850" y="2021511"/>
                  <a:ext cx="434602" cy="403319"/>
                </a:xfrm>
                <a:prstGeom prst="ellipse">
                  <a:avLst/>
                </a:prstGeom>
                <a:solidFill>
                  <a:schemeClr val="accent5">
                    <a:lumMod val="50000"/>
                  </a:schemeClr>
                </a:solidFill>
                <a:ln w="38100">
                  <a:solidFill>
                    <a:schemeClr val="accent5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X</a:t>
                  </a:r>
                </a:p>
              </p:txBody>
            </p:sp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4B801E74-A95D-44EA-B4DF-54DAACC4A3E1}"/>
                    </a:ext>
                  </a:extLst>
                </p:cNvPr>
                <p:cNvSpPr/>
                <p:nvPr/>
              </p:nvSpPr>
              <p:spPr>
                <a:xfrm>
                  <a:off x="6725536" y="1341040"/>
                  <a:ext cx="434601" cy="403319"/>
                </a:xfrm>
                <a:prstGeom prst="ellipse">
                  <a:avLst/>
                </a:prstGeom>
                <a:solidFill>
                  <a:schemeClr val="bg2">
                    <a:lumMod val="75000"/>
                  </a:schemeClr>
                </a:solidFill>
                <a:ln w="3810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Z</a:t>
                  </a:r>
                </a:p>
              </p:txBody>
            </p:sp>
            <p:cxnSp>
              <p:nvCxnSpPr>
                <p:cNvPr id="34" name="Straight Arrow Connector 33">
                  <a:extLst>
                    <a:ext uri="{FF2B5EF4-FFF2-40B4-BE49-F238E27FC236}">
                      <a16:creationId xmlns:a16="http://schemas.microsoft.com/office/drawing/2014/main" id="{A41A44C1-653D-4DC3-8B5B-5B648C14E08A}"/>
                    </a:ext>
                  </a:extLst>
                </p:cNvPr>
                <p:cNvCxnSpPr>
                  <a:stCxn id="32" idx="5"/>
                  <a:endCxn id="28" idx="1"/>
                </p:cNvCxnSpPr>
                <p:nvPr/>
              </p:nvCxnSpPr>
              <p:spPr>
                <a:xfrm>
                  <a:off x="7096491" y="1685294"/>
                  <a:ext cx="254813" cy="395282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Straight Arrow Connector 21">
                  <a:extLst>
                    <a:ext uri="{FF2B5EF4-FFF2-40B4-BE49-F238E27FC236}">
                      <a16:creationId xmlns:a16="http://schemas.microsoft.com/office/drawing/2014/main" id="{6AE978E5-F091-4821-96C6-B724F076F9B2}"/>
                    </a:ext>
                  </a:extLst>
                </p:cNvPr>
                <p:cNvCxnSpPr>
                  <a:stCxn id="30" idx="7"/>
                  <a:endCxn id="32" idx="3"/>
                </p:cNvCxnSpPr>
                <p:nvPr/>
              </p:nvCxnSpPr>
              <p:spPr>
                <a:xfrm flipV="1">
                  <a:off x="6526806" y="1685294"/>
                  <a:ext cx="262376" cy="395282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E9C42D1A-BCCF-453E-9579-4AFC9AB8A212}"/>
                  </a:ext>
                </a:extLst>
              </p:cNvPr>
              <p:cNvSpPr txBox="1"/>
              <p:nvPr/>
            </p:nvSpPr>
            <p:spPr>
              <a:xfrm>
                <a:off x="5991889" y="830264"/>
                <a:ext cx="589345" cy="34624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2400" dirty="0"/>
                  <a:t>Pipe</a:t>
                </a:r>
              </a:p>
            </p:txBody>
          </p:sp>
        </p:grpSp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354C2958-F320-4C48-A8CA-5C868A94C0AF}"/>
                </a:ext>
              </a:extLst>
            </p:cNvPr>
            <p:cNvGrpSpPr/>
            <p:nvPr/>
          </p:nvGrpSpPr>
          <p:grpSpPr>
            <a:xfrm>
              <a:off x="3525957" y="837131"/>
              <a:ext cx="1566409" cy="1603388"/>
              <a:chOff x="3525957" y="837131"/>
              <a:chExt cx="1566409" cy="1603388"/>
            </a:xfrm>
          </p:grpSpPr>
          <p:grpSp>
            <p:nvGrpSpPr>
              <p:cNvPr id="73" name="Group 72">
                <a:extLst>
                  <a:ext uri="{FF2B5EF4-FFF2-40B4-BE49-F238E27FC236}">
                    <a16:creationId xmlns:a16="http://schemas.microsoft.com/office/drawing/2014/main" id="{ADABC815-811B-49C9-992B-C158E810C735}"/>
                  </a:ext>
                </a:extLst>
              </p:cNvPr>
              <p:cNvGrpSpPr/>
              <p:nvPr/>
            </p:nvGrpSpPr>
            <p:grpSpPr>
              <a:xfrm>
                <a:off x="3525957" y="1356728"/>
                <a:ext cx="1566409" cy="1083791"/>
                <a:chOff x="4205034" y="1356728"/>
                <a:chExt cx="1566409" cy="1083791"/>
              </a:xfrm>
            </p:grpSpPr>
            <p:sp>
              <p:nvSpPr>
                <p:cNvPr id="18" name="Oval 17">
                  <a:extLst>
                    <a:ext uri="{FF2B5EF4-FFF2-40B4-BE49-F238E27FC236}">
                      <a16:creationId xmlns:a16="http://schemas.microsoft.com/office/drawing/2014/main" id="{75C522C8-ABFA-4058-9BAE-C456C9C05CF4}"/>
                    </a:ext>
                  </a:extLst>
                </p:cNvPr>
                <p:cNvSpPr/>
                <p:nvPr/>
              </p:nvSpPr>
              <p:spPr>
                <a:xfrm>
                  <a:off x="5336842" y="2037199"/>
                  <a:ext cx="434601" cy="403320"/>
                </a:xfrm>
                <a:prstGeom prst="ellipse">
                  <a:avLst/>
                </a:prstGeom>
                <a:solidFill>
                  <a:srgbClr val="434343"/>
                </a:solidFill>
                <a:ln w="38100"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Y</a:t>
                  </a:r>
                </a:p>
              </p:txBody>
            </p:sp>
            <p:sp>
              <p:nvSpPr>
                <p:cNvPr id="19" name="Oval 18">
                  <a:extLst>
                    <a:ext uri="{FF2B5EF4-FFF2-40B4-BE49-F238E27FC236}">
                      <a16:creationId xmlns:a16="http://schemas.microsoft.com/office/drawing/2014/main" id="{AD059DA1-CEFB-4BBD-A284-532D2AC070BD}"/>
                    </a:ext>
                  </a:extLst>
                </p:cNvPr>
                <p:cNvSpPr/>
                <p:nvPr/>
              </p:nvSpPr>
              <p:spPr>
                <a:xfrm>
                  <a:off x="4205034" y="2037199"/>
                  <a:ext cx="434602" cy="403319"/>
                </a:xfrm>
                <a:prstGeom prst="ellipse">
                  <a:avLst/>
                </a:prstGeom>
                <a:solidFill>
                  <a:schemeClr val="accent5">
                    <a:lumMod val="50000"/>
                  </a:schemeClr>
                </a:solidFill>
                <a:ln w="38100">
                  <a:solidFill>
                    <a:schemeClr val="accent5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X</a:t>
                  </a:r>
                </a:p>
              </p:txBody>
            </p:sp>
            <p:sp>
              <p:nvSpPr>
                <p:cNvPr id="20" name="Oval 19">
                  <a:extLst>
                    <a:ext uri="{FF2B5EF4-FFF2-40B4-BE49-F238E27FC236}">
                      <a16:creationId xmlns:a16="http://schemas.microsoft.com/office/drawing/2014/main" id="{4A4066AC-A54A-467D-88E0-DF35BA925149}"/>
                    </a:ext>
                  </a:extLst>
                </p:cNvPr>
                <p:cNvSpPr/>
                <p:nvPr/>
              </p:nvSpPr>
              <p:spPr>
                <a:xfrm>
                  <a:off x="4774720" y="1356728"/>
                  <a:ext cx="434601" cy="403319"/>
                </a:xfrm>
                <a:prstGeom prst="ellipse">
                  <a:avLst/>
                </a:prstGeom>
                <a:solidFill>
                  <a:srgbClr val="434343"/>
                </a:solidFill>
                <a:ln w="3810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Z</a:t>
                  </a:r>
                </a:p>
              </p:txBody>
            </p:sp>
            <p:cxnSp>
              <p:nvCxnSpPr>
                <p:cNvPr id="8" name="Straight Arrow Connector 7">
                  <a:extLst>
                    <a:ext uri="{FF2B5EF4-FFF2-40B4-BE49-F238E27FC236}">
                      <a16:creationId xmlns:a16="http://schemas.microsoft.com/office/drawing/2014/main" id="{A75A2A15-38D9-4ED3-93A0-ADB28A204398}"/>
                    </a:ext>
                  </a:extLst>
                </p:cNvPr>
                <p:cNvCxnSpPr>
                  <a:stCxn id="20" idx="3"/>
                  <a:endCxn id="19" idx="7"/>
                </p:cNvCxnSpPr>
                <p:nvPr/>
              </p:nvCxnSpPr>
              <p:spPr>
                <a:xfrm flipH="1">
                  <a:off x="4575990" y="1700982"/>
                  <a:ext cx="262376" cy="395282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" name="Straight Arrow Connector 11">
                  <a:extLst>
                    <a:ext uri="{FF2B5EF4-FFF2-40B4-BE49-F238E27FC236}">
                      <a16:creationId xmlns:a16="http://schemas.microsoft.com/office/drawing/2014/main" id="{28B291C2-904F-4007-89AA-0095EB52F029}"/>
                    </a:ext>
                  </a:extLst>
                </p:cNvPr>
                <p:cNvCxnSpPr>
                  <a:stCxn id="20" idx="5"/>
                  <a:endCxn id="18" idx="1"/>
                </p:cNvCxnSpPr>
                <p:nvPr/>
              </p:nvCxnSpPr>
              <p:spPr>
                <a:xfrm>
                  <a:off x="5145675" y="1700982"/>
                  <a:ext cx="254813" cy="395282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E4B113D6-8AAE-4097-851A-4EC467169931}"/>
                  </a:ext>
                </a:extLst>
              </p:cNvPr>
              <p:cNvSpPr txBox="1"/>
              <p:nvPr/>
            </p:nvSpPr>
            <p:spPr>
              <a:xfrm>
                <a:off x="4041874" y="837131"/>
                <a:ext cx="614591" cy="34624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2400" dirty="0"/>
                  <a:t>Fork</a:t>
                </a:r>
              </a:p>
            </p:txBody>
          </p:sp>
        </p:grpSp>
        <p:grpSp>
          <p:nvGrpSpPr>
            <p:cNvPr id="96" name="Group 95">
              <a:extLst>
                <a:ext uri="{FF2B5EF4-FFF2-40B4-BE49-F238E27FC236}">
                  <a16:creationId xmlns:a16="http://schemas.microsoft.com/office/drawing/2014/main" id="{78ED9010-4665-484F-8E6C-DA3A0A970AC1}"/>
                </a:ext>
              </a:extLst>
            </p:cNvPr>
            <p:cNvGrpSpPr/>
            <p:nvPr/>
          </p:nvGrpSpPr>
          <p:grpSpPr>
            <a:xfrm>
              <a:off x="3525957" y="3002543"/>
              <a:ext cx="1566409" cy="1652966"/>
              <a:chOff x="3525957" y="3002543"/>
              <a:chExt cx="1566409" cy="1652966"/>
            </a:xfrm>
          </p:grpSpPr>
          <p:grpSp>
            <p:nvGrpSpPr>
              <p:cNvPr id="70" name="Group 69">
                <a:extLst>
                  <a:ext uri="{FF2B5EF4-FFF2-40B4-BE49-F238E27FC236}">
                    <a16:creationId xmlns:a16="http://schemas.microsoft.com/office/drawing/2014/main" id="{80F3DDA8-C395-407E-9906-32803A28160A}"/>
                  </a:ext>
                </a:extLst>
              </p:cNvPr>
              <p:cNvGrpSpPr/>
              <p:nvPr/>
            </p:nvGrpSpPr>
            <p:grpSpPr>
              <a:xfrm>
                <a:off x="3525957" y="3571718"/>
                <a:ext cx="1566409" cy="1083791"/>
                <a:chOff x="4205034" y="3383452"/>
                <a:chExt cx="1566409" cy="1083791"/>
              </a:xfrm>
            </p:grpSpPr>
            <p:sp>
              <p:nvSpPr>
                <p:cNvPr id="23" name="Oval 22">
                  <a:extLst>
                    <a:ext uri="{FF2B5EF4-FFF2-40B4-BE49-F238E27FC236}">
                      <a16:creationId xmlns:a16="http://schemas.microsoft.com/office/drawing/2014/main" id="{2E45509B-490B-4D1A-9F28-C9A5842BB263}"/>
                    </a:ext>
                  </a:extLst>
                </p:cNvPr>
                <p:cNvSpPr/>
                <p:nvPr/>
              </p:nvSpPr>
              <p:spPr>
                <a:xfrm>
                  <a:off x="5336842" y="4063923"/>
                  <a:ext cx="434601" cy="403320"/>
                </a:xfrm>
                <a:prstGeom prst="ellipse">
                  <a:avLst/>
                </a:prstGeom>
                <a:solidFill>
                  <a:srgbClr val="434343"/>
                </a:solidFill>
                <a:ln w="38100"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Y</a:t>
                  </a:r>
                </a:p>
              </p:txBody>
            </p:sp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36BE5D0A-4C42-4390-AE7C-F0ED68019773}"/>
                    </a:ext>
                  </a:extLst>
                </p:cNvPr>
                <p:cNvSpPr/>
                <p:nvPr/>
              </p:nvSpPr>
              <p:spPr>
                <a:xfrm>
                  <a:off x="4205034" y="4063923"/>
                  <a:ext cx="434602" cy="403319"/>
                </a:xfrm>
                <a:prstGeom prst="ellipse">
                  <a:avLst/>
                </a:prstGeom>
                <a:solidFill>
                  <a:schemeClr val="accent5">
                    <a:lumMod val="50000"/>
                  </a:schemeClr>
                </a:solidFill>
                <a:ln w="38100">
                  <a:solidFill>
                    <a:schemeClr val="accent5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X</a:t>
                  </a:r>
                </a:p>
              </p:txBody>
            </p:sp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1F01C355-0AE3-4E43-B31E-6F67F82CCD9D}"/>
                    </a:ext>
                  </a:extLst>
                </p:cNvPr>
                <p:cNvSpPr/>
                <p:nvPr/>
              </p:nvSpPr>
              <p:spPr>
                <a:xfrm>
                  <a:off x="4774720" y="3383452"/>
                  <a:ext cx="434601" cy="403319"/>
                </a:xfrm>
                <a:prstGeom prst="ellipse">
                  <a:avLst/>
                </a:prstGeom>
                <a:solidFill>
                  <a:schemeClr val="bg2">
                    <a:lumMod val="75000"/>
                  </a:schemeClr>
                </a:solidFill>
                <a:ln w="3810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Z</a:t>
                  </a:r>
                </a:p>
              </p:txBody>
            </p:sp>
            <p:cxnSp>
              <p:nvCxnSpPr>
                <p:cNvPr id="36" name="Straight Arrow Connector 35">
                  <a:extLst>
                    <a:ext uri="{FF2B5EF4-FFF2-40B4-BE49-F238E27FC236}">
                      <a16:creationId xmlns:a16="http://schemas.microsoft.com/office/drawing/2014/main" id="{ADC4F697-437D-4542-850E-E5CD624387BF}"/>
                    </a:ext>
                  </a:extLst>
                </p:cNvPr>
                <p:cNvCxnSpPr>
                  <a:stCxn id="24" idx="7"/>
                  <a:endCxn id="25" idx="3"/>
                </p:cNvCxnSpPr>
                <p:nvPr/>
              </p:nvCxnSpPr>
              <p:spPr>
                <a:xfrm flipV="1">
                  <a:off x="4575990" y="3727706"/>
                  <a:ext cx="262376" cy="395282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Arrow Connector 37">
                  <a:extLst>
                    <a:ext uri="{FF2B5EF4-FFF2-40B4-BE49-F238E27FC236}">
                      <a16:creationId xmlns:a16="http://schemas.microsoft.com/office/drawing/2014/main" id="{D75AC29F-F300-4106-B39B-5A6067C1B02E}"/>
                    </a:ext>
                  </a:extLst>
                </p:cNvPr>
                <p:cNvCxnSpPr>
                  <a:stCxn id="23" idx="1"/>
                  <a:endCxn id="25" idx="5"/>
                </p:cNvCxnSpPr>
                <p:nvPr/>
              </p:nvCxnSpPr>
              <p:spPr>
                <a:xfrm flipH="1" flipV="1">
                  <a:off x="5145675" y="3727706"/>
                  <a:ext cx="254813" cy="395282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B55EC461-1B4D-48D9-9BB9-A14CB9D35624}"/>
                  </a:ext>
                </a:extLst>
              </p:cNvPr>
              <p:cNvSpPr txBox="1"/>
              <p:nvPr/>
            </p:nvSpPr>
            <p:spPr>
              <a:xfrm>
                <a:off x="3916253" y="3002543"/>
                <a:ext cx="947615" cy="34624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2400" dirty="0"/>
                  <a:t>Collider</a:t>
                </a:r>
              </a:p>
            </p:txBody>
          </p:sp>
        </p:grpSp>
        <p:grpSp>
          <p:nvGrpSpPr>
            <p:cNvPr id="97" name="Group 96">
              <a:extLst>
                <a:ext uri="{FF2B5EF4-FFF2-40B4-BE49-F238E27FC236}">
                  <a16:creationId xmlns:a16="http://schemas.microsoft.com/office/drawing/2014/main" id="{F9B8E94E-931F-4959-8839-F3CD81C64B46}"/>
                </a:ext>
              </a:extLst>
            </p:cNvPr>
            <p:cNvGrpSpPr/>
            <p:nvPr/>
          </p:nvGrpSpPr>
          <p:grpSpPr>
            <a:xfrm>
              <a:off x="5259472" y="3002542"/>
              <a:ext cx="2165272" cy="1675701"/>
              <a:chOff x="5259472" y="3002542"/>
              <a:chExt cx="2165272" cy="1675701"/>
            </a:xfrm>
          </p:grpSpPr>
          <p:grpSp>
            <p:nvGrpSpPr>
              <p:cNvPr id="69" name="Group 68">
                <a:extLst>
                  <a:ext uri="{FF2B5EF4-FFF2-40B4-BE49-F238E27FC236}">
                    <a16:creationId xmlns:a16="http://schemas.microsoft.com/office/drawing/2014/main" id="{1572508C-6C04-477C-BEE0-69897BE62DF7}"/>
                  </a:ext>
                </a:extLst>
              </p:cNvPr>
              <p:cNvGrpSpPr/>
              <p:nvPr/>
            </p:nvGrpSpPr>
            <p:grpSpPr>
              <a:xfrm>
                <a:off x="5259472" y="3482857"/>
                <a:ext cx="2165272" cy="1195386"/>
                <a:chOff x="5938549" y="3482857"/>
                <a:chExt cx="2165272" cy="1195386"/>
              </a:xfrm>
            </p:grpSpPr>
            <p:sp>
              <p:nvSpPr>
                <p:cNvPr id="42" name="Oval 41">
                  <a:extLst>
                    <a:ext uri="{FF2B5EF4-FFF2-40B4-BE49-F238E27FC236}">
                      <a16:creationId xmlns:a16="http://schemas.microsoft.com/office/drawing/2014/main" id="{6674F3F0-220D-4F18-B188-AAF77B01E2A1}"/>
                    </a:ext>
                  </a:extLst>
                </p:cNvPr>
                <p:cNvSpPr/>
                <p:nvPr/>
              </p:nvSpPr>
              <p:spPr>
                <a:xfrm>
                  <a:off x="7669220" y="3482857"/>
                  <a:ext cx="434601" cy="403320"/>
                </a:xfrm>
                <a:prstGeom prst="ellipse">
                  <a:avLst/>
                </a:prstGeom>
                <a:solidFill>
                  <a:srgbClr val="434343"/>
                </a:solidFill>
                <a:ln w="38100"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Y</a:t>
                  </a:r>
                </a:p>
              </p:txBody>
            </p:sp>
            <p:sp>
              <p:nvSpPr>
                <p:cNvPr id="43" name="Oval 42">
                  <a:extLst>
                    <a:ext uri="{FF2B5EF4-FFF2-40B4-BE49-F238E27FC236}">
                      <a16:creationId xmlns:a16="http://schemas.microsoft.com/office/drawing/2014/main" id="{2D53BDBE-54FC-442D-8CDE-41E6E793354A}"/>
                    </a:ext>
                  </a:extLst>
                </p:cNvPr>
                <p:cNvSpPr/>
                <p:nvPr/>
              </p:nvSpPr>
              <p:spPr>
                <a:xfrm>
                  <a:off x="5938549" y="3482858"/>
                  <a:ext cx="434602" cy="403319"/>
                </a:xfrm>
                <a:prstGeom prst="ellipse">
                  <a:avLst/>
                </a:prstGeom>
                <a:solidFill>
                  <a:schemeClr val="accent5">
                    <a:lumMod val="50000"/>
                  </a:schemeClr>
                </a:solidFill>
                <a:ln w="38100">
                  <a:solidFill>
                    <a:schemeClr val="accent5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X</a:t>
                  </a:r>
                </a:p>
              </p:txBody>
            </p: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480A74BE-D5F4-4C32-9151-8EC13A98740A}"/>
                    </a:ext>
                  </a:extLst>
                </p:cNvPr>
                <p:cNvSpPr/>
                <p:nvPr/>
              </p:nvSpPr>
              <p:spPr>
                <a:xfrm>
                  <a:off x="6803885" y="3482859"/>
                  <a:ext cx="434601" cy="403319"/>
                </a:xfrm>
                <a:prstGeom prst="ellipse">
                  <a:avLst/>
                </a:prstGeom>
                <a:solidFill>
                  <a:schemeClr val="bg2">
                    <a:lumMod val="75000"/>
                  </a:schemeClr>
                </a:solidFill>
                <a:ln w="3810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Z</a:t>
                  </a:r>
                </a:p>
              </p:txBody>
            </p:sp>
            <p:cxnSp>
              <p:nvCxnSpPr>
                <p:cNvPr id="45" name="Straight Arrow Connector 44">
                  <a:extLst>
                    <a:ext uri="{FF2B5EF4-FFF2-40B4-BE49-F238E27FC236}">
                      <a16:creationId xmlns:a16="http://schemas.microsoft.com/office/drawing/2014/main" id="{40013FDE-CAFD-45FF-82A7-CFFF72045FA6}"/>
                    </a:ext>
                  </a:extLst>
                </p:cNvPr>
                <p:cNvCxnSpPr>
                  <a:cxnSpLocks/>
                  <a:stCxn id="43" idx="6"/>
                  <a:endCxn id="44" idx="2"/>
                </p:cNvCxnSpPr>
                <p:nvPr/>
              </p:nvCxnSpPr>
              <p:spPr>
                <a:xfrm>
                  <a:off x="6373151" y="3684518"/>
                  <a:ext cx="430734" cy="1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Straight Arrow Connector 51">
                  <a:extLst>
                    <a:ext uri="{FF2B5EF4-FFF2-40B4-BE49-F238E27FC236}">
                      <a16:creationId xmlns:a16="http://schemas.microsoft.com/office/drawing/2014/main" id="{08C0A6E7-AF67-4C21-A2BF-5BBAE5D7F026}"/>
                    </a:ext>
                  </a:extLst>
                </p:cNvPr>
                <p:cNvCxnSpPr>
                  <a:stCxn id="44" idx="6"/>
                  <a:endCxn id="42" idx="2"/>
                </p:cNvCxnSpPr>
                <p:nvPr/>
              </p:nvCxnSpPr>
              <p:spPr>
                <a:xfrm flipV="1">
                  <a:off x="7238486" y="3684517"/>
                  <a:ext cx="430734" cy="2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3" name="Oval 52">
                  <a:extLst>
                    <a:ext uri="{FF2B5EF4-FFF2-40B4-BE49-F238E27FC236}">
                      <a16:creationId xmlns:a16="http://schemas.microsoft.com/office/drawing/2014/main" id="{0D74FCBD-9648-48D3-B3A4-8FB638E75F1C}"/>
                    </a:ext>
                  </a:extLst>
                </p:cNvPr>
                <p:cNvSpPr/>
                <p:nvPr/>
              </p:nvSpPr>
              <p:spPr>
                <a:xfrm>
                  <a:off x="6809961" y="4274924"/>
                  <a:ext cx="434601" cy="403319"/>
                </a:xfrm>
                <a:prstGeom prst="ellipse">
                  <a:avLst/>
                </a:prstGeom>
                <a:solidFill>
                  <a:schemeClr val="bg2">
                    <a:lumMod val="75000"/>
                  </a:schemeClr>
                </a:solidFill>
                <a:ln w="3810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V</a:t>
                  </a:r>
                </a:p>
              </p:txBody>
            </p:sp>
            <p:cxnSp>
              <p:nvCxnSpPr>
                <p:cNvPr id="55" name="Straight Arrow Connector 54">
                  <a:extLst>
                    <a:ext uri="{FF2B5EF4-FFF2-40B4-BE49-F238E27FC236}">
                      <a16:creationId xmlns:a16="http://schemas.microsoft.com/office/drawing/2014/main" id="{3517A162-BFD9-4153-959B-667DA7DA9D65}"/>
                    </a:ext>
                  </a:extLst>
                </p:cNvPr>
                <p:cNvCxnSpPr>
                  <a:stCxn id="44" idx="4"/>
                  <a:endCxn id="53" idx="0"/>
                </p:cNvCxnSpPr>
                <p:nvPr/>
              </p:nvCxnSpPr>
              <p:spPr>
                <a:xfrm>
                  <a:off x="7021186" y="3886178"/>
                  <a:ext cx="6076" cy="388746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CACA1F83-E692-469A-A7E6-FE1A4F1BA5C1}"/>
                  </a:ext>
                </a:extLst>
              </p:cNvPr>
              <p:cNvSpPr txBox="1"/>
              <p:nvPr/>
            </p:nvSpPr>
            <p:spPr>
              <a:xfrm>
                <a:off x="5772080" y="3002542"/>
                <a:ext cx="1353976" cy="34624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2400" dirty="0"/>
                  <a:t>Descendant</a:t>
                </a:r>
              </a:p>
            </p:txBody>
          </p:sp>
        </p:grpSp>
      </p:grp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84B8483-518F-43DA-B2A9-E81E8B45E5C2}"/>
              </a:ext>
            </a:extLst>
          </p:cNvPr>
          <p:cNvSpPr/>
          <p:nvPr/>
        </p:nvSpPr>
        <p:spPr>
          <a:xfrm>
            <a:off x="5787350" y="4113011"/>
            <a:ext cx="3033921" cy="2250263"/>
          </a:xfrm>
          <a:prstGeom prst="round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/>
          </a:p>
        </p:txBody>
      </p:sp>
    </p:spTree>
    <p:extLst>
      <p:ext uri="{BB962C8B-B14F-4D97-AF65-F5344CB8AC3E}">
        <p14:creationId xmlns:p14="http://schemas.microsoft.com/office/powerpoint/2010/main" val="408259319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A962E-623F-4A33-9271-D822D9C94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12192000" cy="763600"/>
          </a:xfrm>
        </p:spPr>
        <p:txBody>
          <a:bodyPr/>
          <a:lstStyle/>
          <a:p>
            <a:pPr algn="ctr"/>
            <a:r>
              <a:rPr lang="en-GB" dirty="0"/>
              <a:t>Descendant confound</a:t>
            </a:r>
          </a:p>
        </p:txBody>
      </p:sp>
      <p:sp>
        <p:nvSpPr>
          <p:cNvPr id="4" name="Google Shape;75;p15">
            <a:extLst>
              <a:ext uri="{FF2B5EF4-FFF2-40B4-BE49-F238E27FC236}">
                <a16:creationId xmlns:a16="http://schemas.microsoft.com/office/drawing/2014/main" id="{D3576E38-C5FF-4D1E-BF01-7E8DED020055}"/>
              </a:ext>
            </a:extLst>
          </p:cNvPr>
          <p:cNvSpPr/>
          <p:nvPr/>
        </p:nvSpPr>
        <p:spPr>
          <a:xfrm>
            <a:off x="4347584" y="693450"/>
            <a:ext cx="3496833" cy="140300"/>
          </a:xfrm>
          <a:custGeom>
            <a:avLst/>
            <a:gdLst/>
            <a:ahLst/>
            <a:cxnLst/>
            <a:rect l="l" t="t" r="r" b="b"/>
            <a:pathLst>
              <a:path w="104905" h="4209" extrusionOk="0">
                <a:moveTo>
                  <a:pt x="0" y="2010"/>
                </a:moveTo>
                <a:cubicBezTo>
                  <a:pt x="34411" y="-4246"/>
                  <a:pt x="71725" y="11060"/>
                  <a:pt x="104905" y="0"/>
                </a:cubicBezTo>
              </a:path>
            </a:pathLst>
          </a:custGeom>
          <a:noFill/>
          <a:ln w="19050" cap="flat" cmpd="sng">
            <a:solidFill>
              <a:srgbClr val="4C113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215222F-AB12-44F0-A77B-F54D29FDBD60}"/>
              </a:ext>
            </a:extLst>
          </p:cNvPr>
          <p:cNvGrpSpPr/>
          <p:nvPr/>
        </p:nvGrpSpPr>
        <p:grpSpPr>
          <a:xfrm>
            <a:off x="4649435" y="1391370"/>
            <a:ext cx="2887029" cy="537761"/>
            <a:chOff x="3487076" y="1043527"/>
            <a:chExt cx="2165272" cy="403321"/>
          </a:xfrm>
        </p:grpSpPr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6674F3F0-220D-4F18-B188-AAF77B01E2A1}"/>
                </a:ext>
              </a:extLst>
            </p:cNvPr>
            <p:cNvSpPr/>
            <p:nvPr/>
          </p:nvSpPr>
          <p:spPr>
            <a:xfrm>
              <a:off x="5217747" y="1043527"/>
              <a:ext cx="434601" cy="403320"/>
            </a:xfrm>
            <a:prstGeom prst="ellipse">
              <a:avLst/>
            </a:prstGeom>
            <a:solidFill>
              <a:srgbClr val="434343"/>
            </a:solidFill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Y</a:t>
              </a:r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2D53BDBE-54FC-442D-8CDE-41E6E793354A}"/>
                </a:ext>
              </a:extLst>
            </p:cNvPr>
            <p:cNvSpPr/>
            <p:nvPr/>
          </p:nvSpPr>
          <p:spPr>
            <a:xfrm>
              <a:off x="3487076" y="1043528"/>
              <a:ext cx="434602" cy="403319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 w="38100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X</a:t>
              </a:r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480A74BE-D5F4-4C32-9151-8EC13A98740A}"/>
                </a:ext>
              </a:extLst>
            </p:cNvPr>
            <p:cNvSpPr/>
            <p:nvPr/>
          </p:nvSpPr>
          <p:spPr>
            <a:xfrm>
              <a:off x="4352412" y="1043529"/>
              <a:ext cx="434601" cy="403319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Z</a:t>
              </a:r>
            </a:p>
          </p:txBody>
        </p: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40013FDE-CAFD-45FF-82A7-CFFF72045FA6}"/>
                </a:ext>
              </a:extLst>
            </p:cNvPr>
            <p:cNvCxnSpPr>
              <a:cxnSpLocks/>
              <a:stCxn id="43" idx="6"/>
              <a:endCxn id="44" idx="2"/>
            </p:cNvCxnSpPr>
            <p:nvPr/>
          </p:nvCxnSpPr>
          <p:spPr>
            <a:xfrm>
              <a:off x="3921678" y="1245188"/>
              <a:ext cx="430734" cy="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08C0A6E7-AF67-4C21-A2BF-5BBAE5D7F026}"/>
                </a:ext>
              </a:extLst>
            </p:cNvPr>
            <p:cNvCxnSpPr>
              <a:stCxn id="44" idx="6"/>
              <a:endCxn id="42" idx="2"/>
            </p:cNvCxnSpPr>
            <p:nvPr/>
          </p:nvCxnSpPr>
          <p:spPr>
            <a:xfrm flipV="1">
              <a:off x="4787013" y="1245187"/>
              <a:ext cx="430734" cy="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B47FB551-2775-49E0-BA07-AA859F67BBA7}"/>
              </a:ext>
            </a:extLst>
          </p:cNvPr>
          <p:cNvGrpSpPr/>
          <p:nvPr/>
        </p:nvGrpSpPr>
        <p:grpSpPr>
          <a:xfrm>
            <a:off x="5811318" y="1929131"/>
            <a:ext cx="579468" cy="1056087"/>
            <a:chOff x="4358488" y="1446848"/>
            <a:chExt cx="434601" cy="792065"/>
          </a:xfrm>
        </p:grpSpPr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0D74FCBD-9648-48D3-B3A4-8FB638E75F1C}"/>
                </a:ext>
              </a:extLst>
            </p:cNvPr>
            <p:cNvSpPr/>
            <p:nvPr/>
          </p:nvSpPr>
          <p:spPr>
            <a:xfrm>
              <a:off x="4358488" y="1835594"/>
              <a:ext cx="434601" cy="403319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V</a:t>
              </a:r>
            </a:p>
          </p:txBody>
        </p: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3517A162-BFD9-4153-959B-667DA7DA9D65}"/>
                </a:ext>
              </a:extLst>
            </p:cNvPr>
            <p:cNvCxnSpPr>
              <a:stCxn id="44" idx="4"/>
              <a:endCxn id="53" idx="0"/>
            </p:cNvCxnSpPr>
            <p:nvPr/>
          </p:nvCxnSpPr>
          <p:spPr>
            <a:xfrm>
              <a:off x="4569713" y="1446848"/>
              <a:ext cx="6076" cy="38874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0A6A8157-6A5F-460E-AFE9-757C1AF2CAAD}"/>
                  </a:ext>
                </a:extLst>
              </p:cNvPr>
              <p:cNvSpPr txBox="1"/>
              <p:nvPr/>
            </p:nvSpPr>
            <p:spPr>
              <a:xfrm>
                <a:off x="-1" y="3279605"/>
                <a:ext cx="12192000" cy="45243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2400" dirty="0">
                    <a:solidFill>
                      <a:srgbClr val="434343"/>
                    </a:solidFill>
                  </a:rPr>
                  <a:t>The descendant confound depends on the causal relationships between </a:t>
                </a:r>
                <a:r>
                  <a:rPr lang="en-GB" sz="2400" dirty="0">
                    <a:solidFill>
                      <a:srgbClr val="0070C0"/>
                    </a:solidFill>
                  </a:rPr>
                  <a:t>X</a:t>
                </a:r>
                <a:r>
                  <a:rPr lang="en-GB" sz="2400" dirty="0">
                    <a:solidFill>
                      <a:srgbClr val="434343"/>
                    </a:solidFill>
                  </a:rPr>
                  <a:t>, </a:t>
                </a:r>
                <a:r>
                  <a:rPr lang="en-GB" sz="2400" dirty="0">
                    <a:solidFill>
                      <a:srgbClr val="00B050"/>
                    </a:solidFill>
                  </a:rPr>
                  <a:t>Z</a:t>
                </a:r>
                <a:r>
                  <a:rPr lang="en-GB" sz="2400" dirty="0">
                    <a:solidFill>
                      <a:srgbClr val="434343"/>
                    </a:solidFill>
                  </a:rPr>
                  <a:t>, </a:t>
                </a:r>
                <a:r>
                  <a:rPr lang="en-GB" sz="2400" dirty="0">
                    <a:solidFill>
                      <a:schemeClr val="accent1"/>
                    </a:solidFill>
                  </a:rPr>
                  <a:t>Y</a:t>
                </a:r>
                <a:r>
                  <a:rPr lang="en-GB" sz="2400" dirty="0">
                    <a:solidFill>
                      <a:srgbClr val="434343"/>
                    </a:solidFill>
                  </a:rPr>
                  <a:t>. </a:t>
                </a:r>
                <a:br>
                  <a:rPr lang="en-GB" sz="2400" dirty="0">
                    <a:solidFill>
                      <a:srgbClr val="434343"/>
                    </a:solidFill>
                  </a:rPr>
                </a:br>
                <a:r>
                  <a:rPr lang="en-GB" sz="2400" dirty="0">
                    <a:solidFill>
                      <a:srgbClr val="434343"/>
                    </a:solidFill>
                  </a:rPr>
                  <a:t>Here the core causal structure is a pipe confound.</a:t>
                </a:r>
              </a:p>
              <a:p>
                <a:pPr algn="ctr"/>
                <a:endParaRPr lang="en-GB" sz="2400" dirty="0">
                  <a:solidFill>
                    <a:srgbClr val="434343"/>
                  </a:solidFill>
                </a:endParaRPr>
              </a:p>
              <a:p>
                <a:pPr algn="ctr"/>
                <a:r>
                  <a:rPr lang="en-GB" sz="2400" dirty="0">
                    <a:solidFill>
                      <a:srgbClr val="434343"/>
                    </a:solidFill>
                  </a:rPr>
                  <a:t>As in the normal pipe confound, there is an </a:t>
                </a:r>
                <a:r>
                  <a:rPr lang="en-GB" sz="2400" b="1" u="sng" dirty="0">
                    <a:solidFill>
                      <a:srgbClr val="434343"/>
                    </a:solidFill>
                  </a:rPr>
                  <a:t>indirect causal relationship</a:t>
                </a:r>
                <a:r>
                  <a:rPr lang="en-GB" sz="2400" dirty="0">
                    <a:solidFill>
                      <a:srgbClr val="434343"/>
                    </a:solidFill>
                  </a:rPr>
                  <a:t> between </a:t>
                </a:r>
                <a:r>
                  <a:rPr lang="en-GB" sz="2400" dirty="0">
                    <a:solidFill>
                      <a:srgbClr val="0070C0"/>
                    </a:solidFill>
                  </a:rPr>
                  <a:t>X</a:t>
                </a:r>
                <a:r>
                  <a:rPr lang="en-GB" sz="2400" dirty="0">
                    <a:solidFill>
                      <a:srgbClr val="434343"/>
                    </a:solidFill>
                  </a:rPr>
                  <a:t> and </a:t>
                </a:r>
                <a:r>
                  <a:rPr lang="en-GB" sz="2400" dirty="0">
                    <a:solidFill>
                      <a:schemeClr val="accent1"/>
                    </a:solidFill>
                  </a:rPr>
                  <a:t>Y</a:t>
                </a:r>
                <a:r>
                  <a:rPr lang="en-GB" sz="2400" dirty="0">
                    <a:solidFill>
                      <a:srgbClr val="434343"/>
                    </a:solidFill>
                  </a:rPr>
                  <a:t>.</a:t>
                </a:r>
              </a:p>
              <a:p>
                <a:pPr algn="ctr"/>
                <a:endParaRPr lang="en-GB" sz="2400" dirty="0">
                  <a:solidFill>
                    <a:srgbClr val="434343"/>
                  </a:solidFill>
                </a:endParaRPr>
              </a:p>
              <a:p>
                <a:pPr algn="ctr"/>
                <a:r>
                  <a:rPr lang="en-GB" sz="2400" dirty="0">
                    <a:solidFill>
                      <a:srgbClr val="434343"/>
                    </a:solidFill>
                  </a:rPr>
                  <a:t>In descendant confounds, adding </a:t>
                </a:r>
                <a:r>
                  <a:rPr lang="en-GB" sz="2400" dirty="0">
                    <a:solidFill>
                      <a:srgbClr val="00B050"/>
                    </a:solidFill>
                  </a:rPr>
                  <a:t>V</a:t>
                </a:r>
                <a:r>
                  <a:rPr lang="en-GB" sz="2400" dirty="0">
                    <a:solidFill>
                      <a:srgbClr val="434343"/>
                    </a:solidFill>
                  </a:rPr>
                  <a:t> is the same as adding </a:t>
                </a:r>
                <a:r>
                  <a:rPr lang="en-GB" sz="2400" dirty="0">
                    <a:solidFill>
                      <a:srgbClr val="00B050"/>
                    </a:solidFill>
                  </a:rPr>
                  <a:t>Z</a:t>
                </a:r>
                <a:r>
                  <a:rPr lang="en-GB" sz="2400" dirty="0">
                    <a:solidFill>
                      <a:srgbClr val="434343"/>
                    </a:solidFill>
                  </a:rPr>
                  <a:t>.</a:t>
                </a:r>
              </a:p>
              <a:p>
                <a:pPr algn="ctr"/>
                <a:endParaRPr lang="en-GB" sz="2400" dirty="0">
                  <a:solidFill>
                    <a:srgbClr val="434343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𝐴𝑔𝑒</m:t>
                      </m:r>
                      <m:r>
                        <a:rPr lang="en-GB" sz="2400" i="1" dirty="0">
                          <a:solidFill>
                            <a:srgbClr val="434343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sz="2400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𝐺𝑟𝑜𝑤𝑡h</m:t>
                      </m:r>
                      <m:r>
                        <a:rPr lang="en-GB" sz="2400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𝑅𝑎𝑡𝑒</m:t>
                      </m:r>
                      <m:r>
                        <a:rPr lang="en-GB" sz="2400" i="1" dirty="0">
                          <a:solidFill>
                            <a:srgbClr val="434343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sz="2400" i="1" dirty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𝐻𝑒𝑖𝑔h𝑡</m:t>
                      </m:r>
                    </m:oMath>
                  </m:oMathPara>
                </a14:m>
                <a:endParaRPr lang="en-GB" sz="2400" dirty="0">
                  <a:solidFill>
                    <a:srgbClr val="434343"/>
                  </a:solidFill>
                </a:endParaRPr>
              </a:p>
              <a:p>
                <a:pPr algn="ctr"/>
                <a:r>
                  <a:rPr lang="en-GB" sz="2400" dirty="0">
                    <a:solidFill>
                      <a:srgbClr val="434343"/>
                    </a:solidFill>
                  </a:rPr>
                  <a:t>                       </a:t>
                </a:r>
                <a14:m>
                  <m:oMath xmlns:m="http://schemas.openxmlformats.org/officeDocument/2006/math">
                    <m:r>
                      <a:rPr lang="en-GB" sz="2400" i="1">
                        <a:solidFill>
                          <a:srgbClr val="434343"/>
                        </a:solidFill>
                        <a:latin typeface="Cambria Math" panose="02040503050406030204" pitchFamily="18" charset="0"/>
                      </a:rPr>
                      <m:t>↘</m:t>
                    </m:r>
                    <m:r>
                      <a:rPr lang="en-GB" sz="24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𝐺𝑟𝑜𝑤𝑖𝑛𝑔</m:t>
                    </m:r>
                    <m:r>
                      <a:rPr lang="en-GB" sz="24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24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𝑝𝑎𝑖𝑛𝑠</m:t>
                    </m:r>
                  </m:oMath>
                </a14:m>
                <a:endParaRPr lang="en-GB" sz="2400" dirty="0">
                  <a:solidFill>
                    <a:srgbClr val="434343"/>
                  </a:solidFill>
                </a:endParaRPr>
              </a:p>
              <a:p>
                <a:pPr algn="ctr"/>
                <a:endParaRPr lang="en-GB" sz="2400" dirty="0">
                  <a:solidFill>
                    <a:srgbClr val="434343"/>
                  </a:solidFill>
                </a:endParaRPr>
              </a:p>
              <a:p>
                <a:pPr algn="ctr"/>
                <a:r>
                  <a:rPr lang="en-GB" sz="2400" dirty="0">
                    <a:solidFill>
                      <a:srgbClr val="434343"/>
                    </a:solidFill>
                  </a:rPr>
                  <a:t>With the model: </a:t>
                </a:r>
                <a14:m>
                  <m:oMath xmlns:m="http://schemas.openxmlformats.org/officeDocument/2006/math">
                    <m:r>
                      <a:rPr lang="en-GB" sz="24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𝐻𝑒𝑖𝑔h𝑡</m:t>
                    </m:r>
                    <m:r>
                      <a:rPr lang="en-GB" sz="2400">
                        <a:solidFill>
                          <a:srgbClr val="434343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2400" i="1">
                        <a:solidFill>
                          <a:srgbClr val="434343"/>
                        </a:solidFill>
                        <a:latin typeface="Cambria Math" panose="02040503050406030204" pitchFamily="18" charset="0"/>
                      </a:rPr>
                      <m:t>~</m:t>
                    </m:r>
                    <m:r>
                      <a:rPr lang="en-GB" sz="2400" i="1">
                        <a:solidFill>
                          <a:srgbClr val="434343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24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𝐴𝑔𝑒</m:t>
                    </m:r>
                    <m:r>
                      <a:rPr lang="en-GB" sz="2400" i="1">
                        <a:solidFill>
                          <a:srgbClr val="434343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4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𝐺𝑟𝑜𝑤𝑖𝑛𝑔</m:t>
                    </m:r>
                    <m:r>
                      <a:rPr lang="en-GB" sz="24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24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𝑝𝑎𝑖𝑛𝑠</m:t>
                    </m:r>
                  </m:oMath>
                </a14:m>
                <a:r>
                  <a:rPr lang="en-GB" sz="2400" dirty="0">
                    <a:solidFill>
                      <a:srgbClr val="434343"/>
                    </a:solidFill>
                  </a:rPr>
                  <a:t>, we will close the path.</a:t>
                </a:r>
              </a:p>
            </p:txBody>
          </p:sp>
        </mc:Choice>
        <mc:Fallback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0A6A8157-6A5F-460E-AFE9-757C1AF2CA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" y="3279605"/>
                <a:ext cx="12192000" cy="4524315"/>
              </a:xfrm>
              <a:prstGeom prst="rect">
                <a:avLst/>
              </a:prstGeom>
              <a:blipFill>
                <a:blip r:embed="rId3"/>
                <a:stretch>
                  <a:fillRect t="-1078" r="-350" b="-202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EA41CDD5-EBD6-472F-9227-3C20E25B6326}"/>
              </a:ext>
            </a:extLst>
          </p:cNvPr>
          <p:cNvSpPr/>
          <p:nvPr/>
        </p:nvSpPr>
        <p:spPr>
          <a:xfrm rot="16200000">
            <a:off x="5695715" y="128628"/>
            <a:ext cx="821188" cy="3063248"/>
          </a:xfrm>
          <a:prstGeom prst="roundRect">
            <a:avLst/>
          </a:prstGeom>
          <a:noFill/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/>
          </a:p>
        </p:txBody>
      </p:sp>
    </p:spTree>
    <p:extLst>
      <p:ext uri="{BB962C8B-B14F-4D97-AF65-F5344CB8AC3E}">
        <p14:creationId xmlns:p14="http://schemas.microsoft.com/office/powerpoint/2010/main" val="3860267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6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" grpId="0" animBg="1"/>
      <p:bldP spid="66" grpId="1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A962E-623F-4A33-9271-D822D9C94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12192000" cy="763600"/>
          </a:xfrm>
        </p:spPr>
        <p:txBody>
          <a:bodyPr/>
          <a:lstStyle/>
          <a:p>
            <a:pPr algn="ctr"/>
            <a:r>
              <a:rPr lang="en-GB" dirty="0"/>
              <a:t>What about when X and Y are causally related?</a:t>
            </a:r>
          </a:p>
        </p:txBody>
      </p:sp>
      <p:sp>
        <p:nvSpPr>
          <p:cNvPr id="4" name="Google Shape;75;p15">
            <a:extLst>
              <a:ext uri="{FF2B5EF4-FFF2-40B4-BE49-F238E27FC236}">
                <a16:creationId xmlns:a16="http://schemas.microsoft.com/office/drawing/2014/main" id="{D3576E38-C5FF-4D1E-BF01-7E8DED020055}"/>
              </a:ext>
            </a:extLst>
          </p:cNvPr>
          <p:cNvSpPr/>
          <p:nvPr/>
        </p:nvSpPr>
        <p:spPr>
          <a:xfrm>
            <a:off x="4347584" y="693450"/>
            <a:ext cx="3496833" cy="140300"/>
          </a:xfrm>
          <a:custGeom>
            <a:avLst/>
            <a:gdLst/>
            <a:ahLst/>
            <a:cxnLst/>
            <a:rect l="l" t="t" r="r" b="b"/>
            <a:pathLst>
              <a:path w="104905" h="4209" extrusionOk="0">
                <a:moveTo>
                  <a:pt x="0" y="2010"/>
                </a:moveTo>
                <a:cubicBezTo>
                  <a:pt x="34411" y="-4246"/>
                  <a:pt x="71725" y="11060"/>
                  <a:pt x="104905" y="0"/>
                </a:cubicBezTo>
              </a:path>
            </a:pathLst>
          </a:custGeom>
          <a:noFill/>
          <a:ln w="19050" cap="flat" cmpd="sng">
            <a:solidFill>
              <a:srgbClr val="4C113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7C17AA91-8923-4B27-89BE-19616D652B7F}"/>
              </a:ext>
            </a:extLst>
          </p:cNvPr>
          <p:cNvGrpSpPr/>
          <p:nvPr/>
        </p:nvGrpSpPr>
        <p:grpSpPr>
          <a:xfrm>
            <a:off x="6111121" y="1249078"/>
            <a:ext cx="5677246" cy="2179922"/>
            <a:chOff x="4583340" y="936808"/>
            <a:chExt cx="4257934" cy="1634942"/>
          </a:xfrm>
        </p:grpSpPr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33D5ADB5-26AA-4694-A265-AB6699E9C924}"/>
                </a:ext>
              </a:extLst>
            </p:cNvPr>
            <p:cNvGrpSpPr/>
            <p:nvPr/>
          </p:nvGrpSpPr>
          <p:grpSpPr>
            <a:xfrm>
              <a:off x="5014011" y="1732359"/>
              <a:ext cx="824498" cy="395282"/>
              <a:chOff x="3070851" y="1490876"/>
              <a:chExt cx="824498" cy="395282"/>
            </a:xfrm>
          </p:grpSpPr>
          <p:cxnSp>
            <p:nvCxnSpPr>
              <p:cNvPr id="76" name="Straight Arrow Connector 75">
                <a:extLst>
                  <a:ext uri="{FF2B5EF4-FFF2-40B4-BE49-F238E27FC236}">
                    <a16:creationId xmlns:a16="http://schemas.microsoft.com/office/drawing/2014/main" id="{ABACE36E-E2BC-432B-8F08-5257847F880A}"/>
                  </a:ext>
                </a:extLst>
              </p:cNvPr>
              <p:cNvCxnSpPr>
                <a:cxnSpLocks/>
                <a:stCxn id="30" idx="7"/>
                <a:endCxn id="32" idx="3"/>
              </p:cNvCxnSpPr>
              <p:nvPr/>
            </p:nvCxnSpPr>
            <p:spPr>
              <a:xfrm flipV="1">
                <a:off x="3070851" y="1490876"/>
                <a:ext cx="262376" cy="395282"/>
              </a:xfrm>
              <a:prstGeom prst="straightConnector1">
                <a:avLst/>
              </a:prstGeom>
              <a:ln w="571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Arrow Connector 79">
                <a:extLst>
                  <a:ext uri="{FF2B5EF4-FFF2-40B4-BE49-F238E27FC236}">
                    <a16:creationId xmlns:a16="http://schemas.microsoft.com/office/drawing/2014/main" id="{93B1BA68-32C4-479B-B337-B127445D9898}"/>
                  </a:ext>
                </a:extLst>
              </p:cNvPr>
              <p:cNvCxnSpPr>
                <a:cxnSpLocks/>
                <a:stCxn id="32" idx="5"/>
                <a:endCxn id="28" idx="1"/>
              </p:cNvCxnSpPr>
              <p:nvPr/>
            </p:nvCxnSpPr>
            <p:spPr>
              <a:xfrm>
                <a:off x="3640536" y="1490876"/>
                <a:ext cx="254813" cy="395282"/>
              </a:xfrm>
              <a:prstGeom prst="straightConnector1">
                <a:avLst/>
              </a:prstGeom>
              <a:ln w="571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14ED35CE-CBC5-4774-B420-90B416246C46}"/>
                </a:ext>
              </a:extLst>
            </p:cNvPr>
            <p:cNvGrpSpPr/>
            <p:nvPr/>
          </p:nvGrpSpPr>
          <p:grpSpPr>
            <a:xfrm>
              <a:off x="4583340" y="936808"/>
              <a:ext cx="4257934" cy="1634942"/>
              <a:chOff x="4583340" y="936808"/>
              <a:chExt cx="4257934" cy="1634942"/>
            </a:xfrm>
          </p:grpSpPr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02734EE7-593B-457F-B85D-6A3173407B47}"/>
                  </a:ext>
                </a:extLst>
              </p:cNvPr>
              <p:cNvGrpSpPr/>
              <p:nvPr/>
            </p:nvGrpSpPr>
            <p:grpSpPr>
              <a:xfrm>
                <a:off x="4583340" y="936808"/>
                <a:ext cx="4257934" cy="1634942"/>
                <a:chOff x="4583340" y="936808"/>
                <a:chExt cx="4257934" cy="1634942"/>
              </a:xfrm>
            </p:grpSpPr>
            <p:grpSp>
              <p:nvGrpSpPr>
                <p:cNvPr id="95" name="Group 94">
                  <a:extLst>
                    <a:ext uri="{FF2B5EF4-FFF2-40B4-BE49-F238E27FC236}">
                      <a16:creationId xmlns:a16="http://schemas.microsoft.com/office/drawing/2014/main" id="{14BD0FBE-1901-44C1-B2BF-04A0F26F2F78}"/>
                    </a:ext>
                  </a:extLst>
                </p:cNvPr>
                <p:cNvGrpSpPr/>
                <p:nvPr/>
              </p:nvGrpSpPr>
              <p:grpSpPr>
                <a:xfrm>
                  <a:off x="4643055" y="998554"/>
                  <a:ext cx="1566409" cy="1473342"/>
                  <a:chOff x="5476773" y="951489"/>
                  <a:chExt cx="1566409" cy="1473342"/>
                </a:xfrm>
              </p:grpSpPr>
              <p:grpSp>
                <p:nvGrpSpPr>
                  <p:cNvPr id="74" name="Group 73">
                    <a:extLst>
                      <a:ext uri="{FF2B5EF4-FFF2-40B4-BE49-F238E27FC236}">
                        <a16:creationId xmlns:a16="http://schemas.microsoft.com/office/drawing/2014/main" id="{E6A70E16-FEC9-4152-B419-97B35E22CD42}"/>
                      </a:ext>
                    </a:extLst>
                  </p:cNvPr>
                  <p:cNvGrpSpPr/>
                  <p:nvPr/>
                </p:nvGrpSpPr>
                <p:grpSpPr>
                  <a:xfrm>
                    <a:off x="5476773" y="1341040"/>
                    <a:ext cx="1566409" cy="1083791"/>
                    <a:chOff x="6155850" y="1341040"/>
                    <a:chExt cx="1566409" cy="1083791"/>
                  </a:xfrm>
                </p:grpSpPr>
                <p:sp>
                  <p:nvSpPr>
                    <p:cNvPr id="28" name="Oval 27">
                      <a:extLst>
                        <a:ext uri="{FF2B5EF4-FFF2-40B4-BE49-F238E27FC236}">
                          <a16:creationId xmlns:a16="http://schemas.microsoft.com/office/drawing/2014/main" id="{533F65E5-54E3-4F6D-8E50-D41D0D93A99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287658" y="2021511"/>
                      <a:ext cx="434601" cy="403320"/>
                    </a:xfrm>
                    <a:prstGeom prst="ellipse">
                      <a:avLst/>
                    </a:prstGeom>
                    <a:solidFill>
                      <a:srgbClr val="434343"/>
                    </a:solidFill>
                    <a:ln w="38100">
                      <a:solidFill>
                        <a:srgbClr val="FFC00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GB" sz="2400" dirty="0"/>
                        <a:t>Y</a:t>
                      </a:r>
                    </a:p>
                  </p:txBody>
                </p:sp>
                <p:sp>
                  <p:nvSpPr>
                    <p:cNvPr id="30" name="Oval 29">
                      <a:extLst>
                        <a:ext uri="{FF2B5EF4-FFF2-40B4-BE49-F238E27FC236}">
                          <a16:creationId xmlns:a16="http://schemas.microsoft.com/office/drawing/2014/main" id="{39613A30-CEA7-43EB-9DD4-31A2596A352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155850" y="2021511"/>
                      <a:ext cx="434602" cy="403319"/>
                    </a:xfrm>
                    <a:prstGeom prst="ellipse">
                      <a:avLst/>
                    </a:prstGeom>
                    <a:solidFill>
                      <a:schemeClr val="accent5">
                        <a:lumMod val="50000"/>
                      </a:schemeClr>
                    </a:solidFill>
                    <a:ln w="38100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GB" sz="2400" dirty="0"/>
                        <a:t>X</a:t>
                      </a:r>
                    </a:p>
                  </p:txBody>
                </p:sp>
                <p:sp>
                  <p:nvSpPr>
                    <p:cNvPr id="32" name="Oval 31">
                      <a:extLst>
                        <a:ext uri="{FF2B5EF4-FFF2-40B4-BE49-F238E27FC236}">
                          <a16:creationId xmlns:a16="http://schemas.microsoft.com/office/drawing/2014/main" id="{4B801E74-A95D-44EA-B4DF-54DAACC4A3E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725536" y="1341040"/>
                      <a:ext cx="434601" cy="403319"/>
                    </a:xfrm>
                    <a:prstGeom prst="ellipse">
                      <a:avLst/>
                    </a:prstGeom>
                    <a:solidFill>
                      <a:schemeClr val="bg2">
                        <a:lumMod val="75000"/>
                      </a:schemeClr>
                    </a:solidFill>
                    <a:ln w="38100">
                      <a:solidFill>
                        <a:srgbClr val="00B05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GB" sz="2400" dirty="0"/>
                        <a:t>Z</a:t>
                      </a:r>
                    </a:p>
                  </p:txBody>
                </p:sp>
                <p:cxnSp>
                  <p:nvCxnSpPr>
                    <p:cNvPr id="34" name="Straight Arrow Connector 33">
                      <a:extLst>
                        <a:ext uri="{FF2B5EF4-FFF2-40B4-BE49-F238E27FC236}">
                          <a16:creationId xmlns:a16="http://schemas.microsoft.com/office/drawing/2014/main" id="{A41A44C1-653D-4DC3-8B5B-5B648C14E08A}"/>
                        </a:ext>
                      </a:extLst>
                    </p:cNvPr>
                    <p:cNvCxnSpPr>
                      <a:cxnSpLocks/>
                      <a:stCxn id="32" idx="5"/>
                      <a:endCxn id="28" idx="1"/>
                    </p:cNvCxnSpPr>
                    <p:nvPr/>
                  </p:nvCxnSpPr>
                  <p:spPr>
                    <a:xfrm>
                      <a:off x="7096491" y="1685294"/>
                      <a:ext cx="254813" cy="395282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2" name="Straight Arrow Connector 21">
                      <a:extLst>
                        <a:ext uri="{FF2B5EF4-FFF2-40B4-BE49-F238E27FC236}">
                          <a16:creationId xmlns:a16="http://schemas.microsoft.com/office/drawing/2014/main" id="{6AE978E5-F091-4821-96C6-B724F076F9B2}"/>
                        </a:ext>
                      </a:extLst>
                    </p:cNvPr>
                    <p:cNvCxnSpPr>
                      <a:cxnSpLocks/>
                      <a:stCxn id="30" idx="7"/>
                      <a:endCxn id="32" idx="3"/>
                    </p:cNvCxnSpPr>
                    <p:nvPr/>
                  </p:nvCxnSpPr>
                  <p:spPr>
                    <a:xfrm flipV="1">
                      <a:off x="6526806" y="1685294"/>
                      <a:ext cx="262376" cy="395282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39" name="TextBox 38">
                    <a:extLst>
                      <a:ext uri="{FF2B5EF4-FFF2-40B4-BE49-F238E27FC236}">
                        <a16:creationId xmlns:a16="http://schemas.microsoft.com/office/drawing/2014/main" id="{E9C42D1A-BCCF-453E-9579-4AFC9AB8A212}"/>
                      </a:ext>
                    </a:extLst>
                  </p:cNvPr>
                  <p:cNvSpPr txBox="1"/>
                  <p:nvPr/>
                </p:nvSpPr>
                <p:spPr>
                  <a:xfrm>
                    <a:off x="5991887" y="951489"/>
                    <a:ext cx="589345" cy="34624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GB" sz="2400" dirty="0"/>
                      <a:t>Pipe</a:t>
                    </a:r>
                  </a:p>
                </p:txBody>
              </p:sp>
            </p:grpSp>
            <p:sp>
              <p:nvSpPr>
                <p:cNvPr id="62" name="Rectangle: Rounded Corners 61">
                  <a:extLst>
                    <a:ext uri="{FF2B5EF4-FFF2-40B4-BE49-F238E27FC236}">
                      <a16:creationId xmlns:a16="http://schemas.microsoft.com/office/drawing/2014/main" id="{8E0288BF-B8A3-4D88-B7F6-2063B12BE30F}"/>
                    </a:ext>
                  </a:extLst>
                </p:cNvPr>
                <p:cNvSpPr/>
                <p:nvPr/>
              </p:nvSpPr>
              <p:spPr>
                <a:xfrm>
                  <a:off x="4583340" y="936808"/>
                  <a:ext cx="1693399" cy="1634942"/>
                </a:xfrm>
                <a:prstGeom prst="roundRect">
                  <a:avLst/>
                </a:prstGeom>
                <a:noFill/>
                <a:ln>
                  <a:solidFill>
                    <a:schemeClr val="accent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/>
                </a:p>
              </p:txBody>
            </p: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79" name="TextBox 78">
                      <a:extLst>
                        <a:ext uri="{FF2B5EF4-FFF2-40B4-BE49-F238E27FC236}">
                          <a16:creationId xmlns:a16="http://schemas.microsoft.com/office/drawing/2014/main" id="{46B77CBF-608E-4A97-9567-0191F4E402E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254989" y="1277225"/>
                      <a:ext cx="2586285" cy="1177245"/>
                    </a:xfrm>
                    <a:prstGeom prst="rect">
                      <a:avLst/>
                    </a:prstGeom>
                    <a:solidFill>
                      <a:srgbClr val="FFEED9"/>
                    </a:solidFill>
                    <a:ln>
                      <a:solidFill>
                        <a:schemeClr val="accent2"/>
                      </a:solidFill>
                    </a:ln>
                  </p:spPr>
                  <p:txBody>
                    <a:bodyPr wrap="none" rtlCol="0">
                      <a:spAutoFit/>
                    </a:bodyPr>
                    <a:lstStyle/>
                    <a:p>
                      <a:pPr algn="ctr"/>
                      <a:r>
                        <a:rPr lang="en-GB" sz="2400" dirty="0"/>
                        <a:t>Excluding Z </a:t>
                      </a:r>
                      <a:r>
                        <a:rPr lang="en-GB" sz="2400" b="1" u="sng" dirty="0"/>
                        <a:t>opens</a:t>
                      </a:r>
                      <a:r>
                        <a:rPr lang="en-GB" sz="2400" dirty="0"/>
                        <a:t> path:</a:t>
                      </a:r>
                    </a:p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 ~ </m:t>
                            </m:r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oMath>
                        </m:oMathPara>
                      </a14:m>
                      <a:endParaRPr lang="en-GB" sz="2400" dirty="0"/>
                    </a:p>
                    <a:p>
                      <a:pPr algn="ctr"/>
                      <a:r>
                        <a:rPr lang="en-GB" sz="2400" dirty="0"/>
                        <a:t>You </a:t>
                      </a:r>
                      <a:r>
                        <a:rPr lang="en-GB" sz="2400" b="1" u="sng" dirty="0"/>
                        <a:t>almost</a:t>
                      </a:r>
                      <a:r>
                        <a:rPr lang="en-GB" sz="2400" dirty="0"/>
                        <a:t> always </a:t>
                      </a:r>
                      <a:br>
                        <a:rPr lang="en-GB" sz="2400" dirty="0"/>
                      </a:br>
                      <a:r>
                        <a:rPr lang="en-GB" sz="2400" dirty="0"/>
                        <a:t>want the path </a:t>
                      </a:r>
                      <a:r>
                        <a:rPr lang="en-GB" sz="2400" b="1" dirty="0"/>
                        <a:t>open</a:t>
                      </a:r>
                    </a:p>
                  </p:txBody>
                </p:sp>
              </mc:Choice>
              <mc:Fallback>
                <p:sp>
                  <p:nvSpPr>
                    <p:cNvPr id="79" name="TextBox 78">
                      <a:extLst>
                        <a:ext uri="{FF2B5EF4-FFF2-40B4-BE49-F238E27FC236}">
                          <a16:creationId xmlns:a16="http://schemas.microsoft.com/office/drawing/2014/main" id="{46B77CBF-608E-4A97-9567-0191F4E402EC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254989" y="1277225"/>
                      <a:ext cx="2586285" cy="1177245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 l="-2113" t="-2692" r="-2289" b="-7308"/>
                      </a:stretch>
                    </a:blipFill>
                    <a:ln>
                      <a:solidFill>
                        <a:schemeClr val="accent2"/>
                      </a:solidFill>
                    </a:ln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10" name="Straight Connector 9">
                  <a:extLst>
                    <a:ext uri="{FF2B5EF4-FFF2-40B4-BE49-F238E27FC236}">
                      <a16:creationId xmlns:a16="http://schemas.microsoft.com/office/drawing/2014/main" id="{FA43C025-9EEB-44B2-BC08-80E48D841D26}"/>
                    </a:ext>
                  </a:extLst>
                </p:cNvPr>
                <p:cNvCxnSpPr>
                  <a:stCxn id="79" idx="1"/>
                  <a:endCxn id="62" idx="3"/>
                </p:cNvCxnSpPr>
                <p:nvPr/>
              </p:nvCxnSpPr>
              <p:spPr>
                <a:xfrm flipV="1">
                  <a:off x="6254989" y="1754279"/>
                  <a:ext cx="21750" cy="111569"/>
                </a:xfrm>
                <a:prstGeom prst="line">
                  <a:avLst/>
                </a:prstGeom>
                <a:ln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1" name="Straight Arrow Connector 10">
                <a:extLst>
                  <a:ext uri="{FF2B5EF4-FFF2-40B4-BE49-F238E27FC236}">
                    <a16:creationId xmlns:a16="http://schemas.microsoft.com/office/drawing/2014/main" id="{959ED0F3-E817-4D52-838F-052BA2286551}"/>
                  </a:ext>
                </a:extLst>
              </p:cNvPr>
              <p:cNvCxnSpPr>
                <a:stCxn id="30" idx="6"/>
                <a:endCxn id="28" idx="2"/>
              </p:cNvCxnSpPr>
              <p:nvPr/>
            </p:nvCxnSpPr>
            <p:spPr>
              <a:xfrm>
                <a:off x="5077657" y="2270236"/>
                <a:ext cx="697206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3B0D91DD-0464-43F9-887B-7327830CEBA3}"/>
              </a:ext>
            </a:extLst>
          </p:cNvPr>
          <p:cNvGrpSpPr/>
          <p:nvPr/>
        </p:nvGrpSpPr>
        <p:grpSpPr>
          <a:xfrm>
            <a:off x="288976" y="1702967"/>
            <a:ext cx="3216222" cy="1569660"/>
            <a:chOff x="216732" y="1277225"/>
            <a:chExt cx="2412166" cy="1177245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23F5C1C6-FC5F-4489-B06D-70F9822F633A}"/>
                    </a:ext>
                  </a:extLst>
                </p:cNvPr>
                <p:cNvSpPr txBox="1"/>
                <p:nvPr/>
              </p:nvSpPr>
              <p:spPr>
                <a:xfrm>
                  <a:off x="216732" y="1277225"/>
                  <a:ext cx="2402341" cy="1177245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  <a:ln>
                  <a:solidFill>
                    <a:schemeClr val="accent2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GB" sz="2400" dirty="0"/>
                    <a:t>Adding Z </a:t>
                  </a:r>
                  <a:r>
                    <a:rPr lang="en-GB" sz="2400" b="1" u="sng" dirty="0"/>
                    <a:t>closes</a:t>
                  </a:r>
                  <a:r>
                    <a:rPr lang="en-GB" sz="2400" dirty="0"/>
                    <a:t> path :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 ~ </m:t>
                        </m:r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𝑍</m:t>
                        </m:r>
                      </m:oMath>
                    </m:oMathPara>
                  </a14:m>
                  <a:endParaRPr lang="en-GB" sz="2400" dirty="0"/>
                </a:p>
                <a:p>
                  <a:pPr algn="ctr"/>
                  <a:r>
                    <a:rPr lang="en-GB" sz="2400" dirty="0"/>
                    <a:t>You always want </a:t>
                  </a:r>
                  <a:br>
                    <a:rPr lang="en-GB" sz="2400" dirty="0"/>
                  </a:br>
                  <a:r>
                    <a:rPr lang="en-GB" sz="2400" dirty="0"/>
                    <a:t>the path </a:t>
                  </a:r>
                  <a:r>
                    <a:rPr lang="en-GB" sz="2400" b="1" dirty="0"/>
                    <a:t>closed</a:t>
                  </a:r>
                </a:p>
              </p:txBody>
            </p:sp>
          </mc:Choice>
          <mc:Fallback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23F5C1C6-FC5F-4489-B06D-70F9822F63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6732" y="1277225"/>
                  <a:ext cx="2402341" cy="1177245"/>
                </a:xfrm>
                <a:prstGeom prst="rect">
                  <a:avLst/>
                </a:prstGeom>
                <a:blipFill>
                  <a:blip r:embed="rId4"/>
                  <a:stretch>
                    <a:fillRect l="-2273" t="-2692" r="-2083" b="-7308"/>
                  </a:stretch>
                </a:blipFill>
                <a:ln>
                  <a:solidFill>
                    <a:schemeClr val="accent2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A65E1F02-D585-4A86-AAB1-5C19E64D16E2}"/>
                </a:ext>
              </a:extLst>
            </p:cNvPr>
            <p:cNvCxnSpPr>
              <a:stCxn id="5" idx="3"/>
              <a:endCxn id="3" idx="1"/>
            </p:cNvCxnSpPr>
            <p:nvPr/>
          </p:nvCxnSpPr>
          <p:spPr>
            <a:xfrm flipV="1">
              <a:off x="2619073" y="1754279"/>
              <a:ext cx="9825" cy="111569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D96459D-DA6A-4801-BE1F-93DF7579BD6D}"/>
              </a:ext>
            </a:extLst>
          </p:cNvPr>
          <p:cNvGrpSpPr/>
          <p:nvPr/>
        </p:nvGrpSpPr>
        <p:grpSpPr>
          <a:xfrm>
            <a:off x="3505198" y="1249077"/>
            <a:ext cx="2257865" cy="2179923"/>
            <a:chOff x="2628898" y="936808"/>
            <a:chExt cx="1693399" cy="1634942"/>
          </a:xfrm>
        </p:grpSpPr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BC1C8C61-28A1-456D-8229-413BC8C6D1A4}"/>
                </a:ext>
              </a:extLst>
            </p:cNvPr>
            <p:cNvGrpSpPr/>
            <p:nvPr/>
          </p:nvGrpSpPr>
          <p:grpSpPr>
            <a:xfrm>
              <a:off x="3063195" y="1748047"/>
              <a:ext cx="824498" cy="395282"/>
              <a:chOff x="3063195" y="1748047"/>
              <a:chExt cx="824498" cy="395282"/>
            </a:xfrm>
          </p:grpSpPr>
          <p:cxnSp>
            <p:nvCxnSpPr>
              <p:cNvPr id="54" name="Straight Arrow Connector 53">
                <a:extLst>
                  <a:ext uri="{FF2B5EF4-FFF2-40B4-BE49-F238E27FC236}">
                    <a16:creationId xmlns:a16="http://schemas.microsoft.com/office/drawing/2014/main" id="{4DD06B5D-65FE-4A5A-913E-92370A5B78FF}"/>
                  </a:ext>
                </a:extLst>
              </p:cNvPr>
              <p:cNvCxnSpPr>
                <a:stCxn id="19" idx="7"/>
                <a:endCxn id="20" idx="3"/>
              </p:cNvCxnSpPr>
              <p:nvPr/>
            </p:nvCxnSpPr>
            <p:spPr>
              <a:xfrm flipV="1">
                <a:off x="3063195" y="1748047"/>
                <a:ext cx="262376" cy="395282"/>
              </a:xfrm>
              <a:prstGeom prst="straightConnector1">
                <a:avLst/>
              </a:prstGeom>
              <a:ln w="571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Arrow Connector 70">
                <a:extLst>
                  <a:ext uri="{FF2B5EF4-FFF2-40B4-BE49-F238E27FC236}">
                    <a16:creationId xmlns:a16="http://schemas.microsoft.com/office/drawing/2014/main" id="{AAC64E9F-6209-4152-AE29-18D6340CA0D3}"/>
                  </a:ext>
                </a:extLst>
              </p:cNvPr>
              <p:cNvCxnSpPr>
                <a:cxnSpLocks/>
                <a:stCxn id="20" idx="5"/>
                <a:endCxn id="18" idx="1"/>
              </p:cNvCxnSpPr>
              <p:nvPr/>
            </p:nvCxnSpPr>
            <p:spPr>
              <a:xfrm>
                <a:off x="3632880" y="1748047"/>
                <a:ext cx="254813" cy="395282"/>
              </a:xfrm>
              <a:prstGeom prst="straightConnector1">
                <a:avLst/>
              </a:prstGeom>
              <a:ln w="571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273FF2C-FB91-4725-89E4-CF85993D09AB}"/>
                </a:ext>
              </a:extLst>
            </p:cNvPr>
            <p:cNvGrpSpPr/>
            <p:nvPr/>
          </p:nvGrpSpPr>
          <p:grpSpPr>
            <a:xfrm>
              <a:off x="2628898" y="936808"/>
              <a:ext cx="1693399" cy="1634942"/>
              <a:chOff x="2628898" y="936808"/>
              <a:chExt cx="1693399" cy="1634942"/>
            </a:xfrm>
          </p:grpSpPr>
          <p:grpSp>
            <p:nvGrpSpPr>
              <p:cNvPr id="94" name="Group 93">
                <a:extLst>
                  <a:ext uri="{FF2B5EF4-FFF2-40B4-BE49-F238E27FC236}">
                    <a16:creationId xmlns:a16="http://schemas.microsoft.com/office/drawing/2014/main" id="{354C2958-F320-4C48-A8CA-5C868A94C0AF}"/>
                  </a:ext>
                </a:extLst>
              </p:cNvPr>
              <p:cNvGrpSpPr/>
              <p:nvPr/>
            </p:nvGrpSpPr>
            <p:grpSpPr>
              <a:xfrm>
                <a:off x="2692239" y="991775"/>
                <a:ext cx="1566409" cy="1495809"/>
                <a:chOff x="3525957" y="944710"/>
                <a:chExt cx="1566409" cy="1495809"/>
              </a:xfrm>
            </p:grpSpPr>
            <p:grpSp>
              <p:nvGrpSpPr>
                <p:cNvPr id="73" name="Group 72">
                  <a:extLst>
                    <a:ext uri="{FF2B5EF4-FFF2-40B4-BE49-F238E27FC236}">
                      <a16:creationId xmlns:a16="http://schemas.microsoft.com/office/drawing/2014/main" id="{ADABC815-811B-49C9-992B-C158E810C735}"/>
                    </a:ext>
                  </a:extLst>
                </p:cNvPr>
                <p:cNvGrpSpPr/>
                <p:nvPr/>
              </p:nvGrpSpPr>
              <p:grpSpPr>
                <a:xfrm>
                  <a:off x="3525957" y="1356728"/>
                  <a:ext cx="1566409" cy="1083791"/>
                  <a:chOff x="4205034" y="1356728"/>
                  <a:chExt cx="1566409" cy="1083791"/>
                </a:xfrm>
              </p:grpSpPr>
              <p:sp>
                <p:nvSpPr>
                  <p:cNvPr id="18" name="Oval 17">
                    <a:extLst>
                      <a:ext uri="{FF2B5EF4-FFF2-40B4-BE49-F238E27FC236}">
                        <a16:creationId xmlns:a16="http://schemas.microsoft.com/office/drawing/2014/main" id="{75C522C8-ABFA-4058-9BAE-C456C9C05CF4}"/>
                      </a:ext>
                    </a:extLst>
                  </p:cNvPr>
                  <p:cNvSpPr/>
                  <p:nvPr/>
                </p:nvSpPr>
                <p:spPr>
                  <a:xfrm>
                    <a:off x="5336842" y="2037199"/>
                    <a:ext cx="434601" cy="403320"/>
                  </a:xfrm>
                  <a:prstGeom prst="ellipse">
                    <a:avLst/>
                  </a:prstGeom>
                  <a:solidFill>
                    <a:srgbClr val="434343"/>
                  </a:solidFill>
                  <a:ln w="38100">
                    <a:solidFill>
                      <a:srgbClr val="FFC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GB" sz="2400" dirty="0"/>
                      <a:t>Y</a:t>
                    </a:r>
                  </a:p>
                </p:txBody>
              </p:sp>
              <p:sp>
                <p:nvSpPr>
                  <p:cNvPr id="19" name="Oval 18">
                    <a:extLst>
                      <a:ext uri="{FF2B5EF4-FFF2-40B4-BE49-F238E27FC236}">
                        <a16:creationId xmlns:a16="http://schemas.microsoft.com/office/drawing/2014/main" id="{AD059DA1-CEFB-4BBD-A284-532D2AC070BD}"/>
                      </a:ext>
                    </a:extLst>
                  </p:cNvPr>
                  <p:cNvSpPr/>
                  <p:nvPr/>
                </p:nvSpPr>
                <p:spPr>
                  <a:xfrm>
                    <a:off x="4205034" y="2037199"/>
                    <a:ext cx="434602" cy="403319"/>
                  </a:xfrm>
                  <a:prstGeom prst="ellipse">
                    <a:avLst/>
                  </a:prstGeom>
                  <a:solidFill>
                    <a:schemeClr val="accent5">
                      <a:lumMod val="50000"/>
                    </a:schemeClr>
                  </a:solidFill>
                  <a:ln w="38100">
                    <a:solidFill>
                      <a:schemeClr val="accent5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GB" sz="2400" dirty="0"/>
                      <a:t>X</a:t>
                    </a:r>
                  </a:p>
                </p:txBody>
              </p:sp>
              <p:sp>
                <p:nvSpPr>
                  <p:cNvPr id="20" name="Oval 19">
                    <a:extLst>
                      <a:ext uri="{FF2B5EF4-FFF2-40B4-BE49-F238E27FC236}">
                        <a16:creationId xmlns:a16="http://schemas.microsoft.com/office/drawing/2014/main" id="{4A4066AC-A54A-467D-88E0-DF35BA925149}"/>
                      </a:ext>
                    </a:extLst>
                  </p:cNvPr>
                  <p:cNvSpPr/>
                  <p:nvPr/>
                </p:nvSpPr>
                <p:spPr>
                  <a:xfrm>
                    <a:off x="4774720" y="1356728"/>
                    <a:ext cx="434601" cy="403319"/>
                  </a:xfrm>
                  <a:prstGeom prst="ellipse">
                    <a:avLst/>
                  </a:prstGeom>
                  <a:solidFill>
                    <a:srgbClr val="434343"/>
                  </a:solidFill>
                  <a:ln w="3810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GB" sz="2400" dirty="0"/>
                      <a:t>Z</a:t>
                    </a:r>
                  </a:p>
                </p:txBody>
              </p:sp>
              <p:cxnSp>
                <p:nvCxnSpPr>
                  <p:cNvPr id="8" name="Straight Arrow Connector 7">
                    <a:extLst>
                      <a:ext uri="{FF2B5EF4-FFF2-40B4-BE49-F238E27FC236}">
                        <a16:creationId xmlns:a16="http://schemas.microsoft.com/office/drawing/2014/main" id="{A75A2A15-38D9-4ED3-93A0-ADB28A204398}"/>
                      </a:ext>
                    </a:extLst>
                  </p:cNvPr>
                  <p:cNvCxnSpPr>
                    <a:cxnSpLocks/>
                    <a:stCxn id="20" idx="3"/>
                    <a:endCxn id="19" idx="7"/>
                  </p:cNvCxnSpPr>
                  <p:nvPr/>
                </p:nvCxnSpPr>
                <p:spPr>
                  <a:xfrm flipH="1">
                    <a:off x="4575990" y="1700982"/>
                    <a:ext cx="262376" cy="395282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" name="Straight Arrow Connector 11">
                    <a:extLst>
                      <a:ext uri="{FF2B5EF4-FFF2-40B4-BE49-F238E27FC236}">
                        <a16:creationId xmlns:a16="http://schemas.microsoft.com/office/drawing/2014/main" id="{28B291C2-904F-4007-89AA-0095EB52F029}"/>
                      </a:ext>
                    </a:extLst>
                  </p:cNvPr>
                  <p:cNvCxnSpPr>
                    <a:cxnSpLocks/>
                    <a:stCxn id="20" idx="5"/>
                    <a:endCxn id="18" idx="1"/>
                  </p:cNvCxnSpPr>
                  <p:nvPr/>
                </p:nvCxnSpPr>
                <p:spPr>
                  <a:xfrm>
                    <a:off x="5145675" y="1700982"/>
                    <a:ext cx="254813" cy="395282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E4B113D6-8AAE-4097-851A-4EC467169931}"/>
                    </a:ext>
                  </a:extLst>
                </p:cNvPr>
                <p:cNvSpPr txBox="1"/>
                <p:nvPr/>
              </p:nvSpPr>
              <p:spPr>
                <a:xfrm>
                  <a:off x="4041874" y="944710"/>
                  <a:ext cx="614591" cy="34624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GB" sz="2400" dirty="0"/>
                    <a:t>Fork</a:t>
                  </a:r>
                </a:p>
              </p:txBody>
            </p:sp>
          </p:grpSp>
          <p:sp>
            <p:nvSpPr>
              <p:cNvPr id="3" name="Rectangle: Rounded Corners 2">
                <a:extLst>
                  <a:ext uri="{FF2B5EF4-FFF2-40B4-BE49-F238E27FC236}">
                    <a16:creationId xmlns:a16="http://schemas.microsoft.com/office/drawing/2014/main" id="{2020C7CF-4FDE-4574-A4F3-C07BBF76A95E}"/>
                  </a:ext>
                </a:extLst>
              </p:cNvPr>
              <p:cNvSpPr/>
              <p:nvPr/>
            </p:nvSpPr>
            <p:spPr>
              <a:xfrm>
                <a:off x="2628898" y="936808"/>
                <a:ext cx="1693399" cy="1634942"/>
              </a:xfrm>
              <a:prstGeom prst="roundRect">
                <a:avLst/>
              </a:prstGeom>
              <a:noFill/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400"/>
              </a:p>
            </p:txBody>
          </p: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7BFA9F76-290D-46CB-B259-BCEF2CEDB053}"/>
                  </a:ext>
                </a:extLst>
              </p:cNvPr>
              <p:cNvCxnSpPr>
                <a:stCxn id="19" idx="6"/>
                <a:endCxn id="18" idx="2"/>
              </p:cNvCxnSpPr>
              <p:nvPr/>
            </p:nvCxnSpPr>
            <p:spPr>
              <a:xfrm>
                <a:off x="3126841" y="2285924"/>
                <a:ext cx="697206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8A3ED89D-8418-45B2-8FF9-10958B7BCC44}"/>
              </a:ext>
            </a:extLst>
          </p:cNvPr>
          <p:cNvGrpSpPr/>
          <p:nvPr/>
        </p:nvGrpSpPr>
        <p:grpSpPr>
          <a:xfrm>
            <a:off x="5829588" y="4185122"/>
            <a:ext cx="5976721" cy="2762213"/>
            <a:chOff x="4372190" y="3138842"/>
            <a:chExt cx="4482541" cy="2071660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16F60619-16E4-42F6-978E-CD8973BF5F3F}"/>
                </a:ext>
              </a:extLst>
            </p:cNvPr>
            <p:cNvGrpSpPr/>
            <p:nvPr/>
          </p:nvGrpSpPr>
          <p:grpSpPr>
            <a:xfrm>
              <a:off x="4372190" y="3138842"/>
              <a:ext cx="4482541" cy="2071660"/>
              <a:chOff x="4372190" y="3138842"/>
              <a:chExt cx="4482541" cy="2071660"/>
            </a:xfrm>
          </p:grpSpPr>
          <p:grpSp>
            <p:nvGrpSpPr>
              <p:cNvPr id="97" name="Group 96">
                <a:extLst>
                  <a:ext uri="{FF2B5EF4-FFF2-40B4-BE49-F238E27FC236}">
                    <a16:creationId xmlns:a16="http://schemas.microsoft.com/office/drawing/2014/main" id="{F9B8E94E-931F-4959-8839-F3CD81C64B46}"/>
                  </a:ext>
                </a:extLst>
              </p:cNvPr>
              <p:cNvGrpSpPr/>
              <p:nvPr/>
            </p:nvGrpSpPr>
            <p:grpSpPr>
              <a:xfrm>
                <a:off x="4425754" y="3149116"/>
                <a:ext cx="2165272" cy="1576192"/>
                <a:chOff x="5259472" y="3102051"/>
                <a:chExt cx="2165272" cy="1576192"/>
              </a:xfrm>
            </p:grpSpPr>
            <p:grpSp>
              <p:nvGrpSpPr>
                <p:cNvPr id="69" name="Group 68">
                  <a:extLst>
                    <a:ext uri="{FF2B5EF4-FFF2-40B4-BE49-F238E27FC236}">
                      <a16:creationId xmlns:a16="http://schemas.microsoft.com/office/drawing/2014/main" id="{1572508C-6C04-477C-BEE0-69897BE62DF7}"/>
                    </a:ext>
                  </a:extLst>
                </p:cNvPr>
                <p:cNvGrpSpPr/>
                <p:nvPr/>
              </p:nvGrpSpPr>
              <p:grpSpPr>
                <a:xfrm>
                  <a:off x="5259472" y="3482857"/>
                  <a:ext cx="2165272" cy="1195386"/>
                  <a:chOff x="5938549" y="3482857"/>
                  <a:chExt cx="2165272" cy="1195386"/>
                </a:xfrm>
              </p:grpSpPr>
              <p:sp>
                <p:nvSpPr>
                  <p:cNvPr id="42" name="Oval 41">
                    <a:extLst>
                      <a:ext uri="{FF2B5EF4-FFF2-40B4-BE49-F238E27FC236}">
                        <a16:creationId xmlns:a16="http://schemas.microsoft.com/office/drawing/2014/main" id="{6674F3F0-220D-4F18-B188-AAF77B01E2A1}"/>
                      </a:ext>
                    </a:extLst>
                  </p:cNvPr>
                  <p:cNvSpPr/>
                  <p:nvPr/>
                </p:nvSpPr>
                <p:spPr>
                  <a:xfrm>
                    <a:off x="7669220" y="3482857"/>
                    <a:ext cx="434601" cy="403320"/>
                  </a:xfrm>
                  <a:prstGeom prst="ellipse">
                    <a:avLst/>
                  </a:prstGeom>
                  <a:solidFill>
                    <a:srgbClr val="434343"/>
                  </a:solidFill>
                  <a:ln w="38100">
                    <a:solidFill>
                      <a:srgbClr val="FFC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GB" sz="2400" dirty="0"/>
                      <a:t>Y</a:t>
                    </a:r>
                  </a:p>
                </p:txBody>
              </p:sp>
              <p:sp>
                <p:nvSpPr>
                  <p:cNvPr id="43" name="Oval 42">
                    <a:extLst>
                      <a:ext uri="{FF2B5EF4-FFF2-40B4-BE49-F238E27FC236}">
                        <a16:creationId xmlns:a16="http://schemas.microsoft.com/office/drawing/2014/main" id="{2D53BDBE-54FC-442D-8CDE-41E6E793354A}"/>
                      </a:ext>
                    </a:extLst>
                  </p:cNvPr>
                  <p:cNvSpPr/>
                  <p:nvPr/>
                </p:nvSpPr>
                <p:spPr>
                  <a:xfrm>
                    <a:off x="5938549" y="3482858"/>
                    <a:ext cx="434602" cy="403319"/>
                  </a:xfrm>
                  <a:prstGeom prst="ellipse">
                    <a:avLst/>
                  </a:prstGeom>
                  <a:solidFill>
                    <a:schemeClr val="accent5">
                      <a:lumMod val="50000"/>
                    </a:schemeClr>
                  </a:solidFill>
                  <a:ln w="38100">
                    <a:solidFill>
                      <a:schemeClr val="accent5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GB" sz="2400" dirty="0"/>
                      <a:t>X</a:t>
                    </a:r>
                  </a:p>
                </p:txBody>
              </p:sp>
              <p:sp>
                <p:nvSpPr>
                  <p:cNvPr id="44" name="Oval 43">
                    <a:extLst>
                      <a:ext uri="{FF2B5EF4-FFF2-40B4-BE49-F238E27FC236}">
                        <a16:creationId xmlns:a16="http://schemas.microsoft.com/office/drawing/2014/main" id="{480A74BE-D5F4-4C32-9151-8EC13A98740A}"/>
                      </a:ext>
                    </a:extLst>
                  </p:cNvPr>
                  <p:cNvSpPr/>
                  <p:nvPr/>
                </p:nvSpPr>
                <p:spPr>
                  <a:xfrm>
                    <a:off x="6803885" y="3482859"/>
                    <a:ext cx="434601" cy="403319"/>
                  </a:xfrm>
                  <a:prstGeom prst="ellipse">
                    <a:avLst/>
                  </a:prstGeom>
                  <a:solidFill>
                    <a:schemeClr val="bg2">
                      <a:lumMod val="75000"/>
                    </a:schemeClr>
                  </a:solidFill>
                  <a:ln w="3810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GB" sz="2400" dirty="0"/>
                      <a:t>Z</a:t>
                    </a:r>
                  </a:p>
                </p:txBody>
              </p:sp>
              <p:cxnSp>
                <p:nvCxnSpPr>
                  <p:cNvPr id="45" name="Straight Arrow Connector 44">
                    <a:extLst>
                      <a:ext uri="{FF2B5EF4-FFF2-40B4-BE49-F238E27FC236}">
                        <a16:creationId xmlns:a16="http://schemas.microsoft.com/office/drawing/2014/main" id="{40013FDE-CAFD-45FF-82A7-CFFF72045FA6}"/>
                      </a:ext>
                    </a:extLst>
                  </p:cNvPr>
                  <p:cNvCxnSpPr>
                    <a:cxnSpLocks/>
                    <a:stCxn id="43" idx="6"/>
                    <a:endCxn id="44" idx="2"/>
                  </p:cNvCxnSpPr>
                  <p:nvPr/>
                </p:nvCxnSpPr>
                <p:spPr>
                  <a:xfrm>
                    <a:off x="6373151" y="3684518"/>
                    <a:ext cx="430734" cy="1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2" name="Straight Arrow Connector 51">
                    <a:extLst>
                      <a:ext uri="{FF2B5EF4-FFF2-40B4-BE49-F238E27FC236}">
                        <a16:creationId xmlns:a16="http://schemas.microsoft.com/office/drawing/2014/main" id="{08C0A6E7-AF67-4C21-A2BF-5BBAE5D7F026}"/>
                      </a:ext>
                    </a:extLst>
                  </p:cNvPr>
                  <p:cNvCxnSpPr>
                    <a:stCxn id="44" idx="6"/>
                    <a:endCxn id="42" idx="2"/>
                  </p:cNvCxnSpPr>
                  <p:nvPr/>
                </p:nvCxnSpPr>
                <p:spPr>
                  <a:xfrm flipV="1">
                    <a:off x="7238486" y="3684517"/>
                    <a:ext cx="430734" cy="2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53" name="Oval 52">
                    <a:extLst>
                      <a:ext uri="{FF2B5EF4-FFF2-40B4-BE49-F238E27FC236}">
                        <a16:creationId xmlns:a16="http://schemas.microsoft.com/office/drawing/2014/main" id="{0D74FCBD-9648-48D3-B3A4-8FB638E75F1C}"/>
                      </a:ext>
                    </a:extLst>
                  </p:cNvPr>
                  <p:cNvSpPr/>
                  <p:nvPr/>
                </p:nvSpPr>
                <p:spPr>
                  <a:xfrm>
                    <a:off x="6809961" y="4274924"/>
                    <a:ext cx="434601" cy="403319"/>
                  </a:xfrm>
                  <a:prstGeom prst="ellipse">
                    <a:avLst/>
                  </a:prstGeom>
                  <a:solidFill>
                    <a:schemeClr val="bg2">
                      <a:lumMod val="75000"/>
                    </a:schemeClr>
                  </a:solidFill>
                  <a:ln w="3810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GB" sz="2400" dirty="0"/>
                      <a:t>V</a:t>
                    </a:r>
                  </a:p>
                </p:txBody>
              </p:sp>
              <p:cxnSp>
                <p:nvCxnSpPr>
                  <p:cNvPr id="55" name="Straight Arrow Connector 54">
                    <a:extLst>
                      <a:ext uri="{FF2B5EF4-FFF2-40B4-BE49-F238E27FC236}">
                        <a16:creationId xmlns:a16="http://schemas.microsoft.com/office/drawing/2014/main" id="{3517A162-BFD9-4153-959B-667DA7DA9D65}"/>
                      </a:ext>
                    </a:extLst>
                  </p:cNvPr>
                  <p:cNvCxnSpPr>
                    <a:stCxn id="44" idx="4"/>
                    <a:endCxn id="53" idx="0"/>
                  </p:cNvCxnSpPr>
                  <p:nvPr/>
                </p:nvCxnSpPr>
                <p:spPr>
                  <a:xfrm>
                    <a:off x="7021186" y="3886178"/>
                    <a:ext cx="6076" cy="388746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CACA1F83-E692-469A-A7E6-FE1A4F1BA5C1}"/>
                    </a:ext>
                  </a:extLst>
                </p:cNvPr>
                <p:cNvSpPr txBox="1"/>
                <p:nvPr/>
              </p:nvSpPr>
              <p:spPr>
                <a:xfrm>
                  <a:off x="5772080" y="3102051"/>
                  <a:ext cx="1353977" cy="34624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GB" sz="2400" dirty="0"/>
                    <a:t>Descendant</a:t>
                  </a:r>
                </a:p>
              </p:txBody>
            </p:sp>
          </p:grpSp>
          <p:sp>
            <p:nvSpPr>
              <p:cNvPr id="77" name="Rectangle: Rounded Corners 76">
                <a:extLst>
                  <a:ext uri="{FF2B5EF4-FFF2-40B4-BE49-F238E27FC236}">
                    <a16:creationId xmlns:a16="http://schemas.microsoft.com/office/drawing/2014/main" id="{0B8383F1-54A7-4248-A322-0CEF1EECCFAB}"/>
                  </a:ext>
                </a:extLst>
              </p:cNvPr>
              <p:cNvSpPr/>
              <p:nvPr/>
            </p:nvSpPr>
            <p:spPr>
              <a:xfrm>
                <a:off x="4372190" y="3138842"/>
                <a:ext cx="2270656" cy="1634942"/>
              </a:xfrm>
              <a:prstGeom prst="roundRect">
                <a:avLst/>
              </a:prstGeom>
              <a:noFill/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400"/>
              </a:p>
            </p:txBody>
          </p:sp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A5F21C1C-4456-4877-B69F-FB85301644B4}"/>
                  </a:ext>
                </a:extLst>
              </p:cNvPr>
              <p:cNvSpPr txBox="1"/>
              <p:nvPr/>
            </p:nvSpPr>
            <p:spPr>
              <a:xfrm>
                <a:off x="6919458" y="3479259"/>
                <a:ext cx="1935273" cy="1731243"/>
              </a:xfrm>
              <a:prstGeom prst="rect">
                <a:avLst/>
              </a:prstGeom>
              <a:solidFill>
                <a:schemeClr val="bg2">
                  <a:lumMod val="20000"/>
                  <a:lumOff val="80000"/>
                </a:schemeClr>
              </a:solidFill>
              <a:ln>
                <a:solidFill>
                  <a:schemeClr val="accent2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2400" dirty="0"/>
                  <a:t>Treat V as another version of Z. Look at the triplet structure of X, Z, Y and proceed.</a:t>
                </a:r>
              </a:p>
            </p:txBody>
          </p: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7D319EE5-1E72-4D14-9DA2-4DBDF353FC33}"/>
                  </a:ext>
                </a:extLst>
              </p:cNvPr>
              <p:cNvCxnSpPr>
                <a:stCxn id="82" idx="1"/>
                <a:endCxn id="77" idx="3"/>
              </p:cNvCxnSpPr>
              <p:nvPr/>
            </p:nvCxnSpPr>
            <p:spPr>
              <a:xfrm flipH="1" flipV="1">
                <a:off x="6642846" y="3956313"/>
                <a:ext cx="276612" cy="388568"/>
              </a:xfrm>
              <a:prstGeom prst="line">
                <a:avLst/>
              </a:prstGeom>
              <a:ln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871E7D5C-B68F-49D1-BFB1-CD04C0720ECB}"/>
                </a:ext>
              </a:extLst>
            </p:cNvPr>
            <p:cNvSpPr/>
            <p:nvPr/>
          </p:nvSpPr>
          <p:spPr>
            <a:xfrm>
              <a:off x="4794191" y="3426775"/>
              <a:ext cx="1418602" cy="145367"/>
            </a:xfrm>
            <a:custGeom>
              <a:avLst/>
              <a:gdLst>
                <a:gd name="connsiteX0" fmla="*/ 0 w 1418602"/>
                <a:gd name="connsiteY0" fmla="*/ 145367 h 145367"/>
                <a:gd name="connsiteX1" fmla="*/ 726392 w 1418602"/>
                <a:gd name="connsiteY1" fmla="*/ 89 h 145367"/>
                <a:gd name="connsiteX2" fmla="*/ 1418602 w 1418602"/>
                <a:gd name="connsiteY2" fmla="*/ 128275 h 145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18602" h="145367">
                  <a:moveTo>
                    <a:pt x="0" y="145367"/>
                  </a:moveTo>
                  <a:cubicBezTo>
                    <a:pt x="244979" y="74152"/>
                    <a:pt x="489958" y="2938"/>
                    <a:pt x="726392" y="89"/>
                  </a:cubicBezTo>
                  <a:cubicBezTo>
                    <a:pt x="962826" y="-2760"/>
                    <a:pt x="1190714" y="62757"/>
                    <a:pt x="1418602" y="128275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400"/>
            </a:p>
          </p:txBody>
        </p:sp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20B07E0D-876A-446E-A7D2-799D33B51E7D}"/>
              </a:ext>
            </a:extLst>
          </p:cNvPr>
          <p:cNvGrpSpPr/>
          <p:nvPr/>
        </p:nvGrpSpPr>
        <p:grpSpPr>
          <a:xfrm>
            <a:off x="530902" y="4185122"/>
            <a:ext cx="5220418" cy="2258217"/>
            <a:chOff x="398177" y="3138842"/>
            <a:chExt cx="3915313" cy="1693663"/>
          </a:xfrm>
        </p:grpSpPr>
        <p:grpSp>
          <p:nvGrpSpPr>
            <p:cNvPr id="81" name="Group 80">
              <a:extLst>
                <a:ext uri="{FF2B5EF4-FFF2-40B4-BE49-F238E27FC236}">
                  <a16:creationId xmlns:a16="http://schemas.microsoft.com/office/drawing/2014/main" id="{7F13620F-1359-4E8D-94E6-D4744E43FE37}"/>
                </a:ext>
              </a:extLst>
            </p:cNvPr>
            <p:cNvGrpSpPr/>
            <p:nvPr/>
          </p:nvGrpSpPr>
          <p:grpSpPr>
            <a:xfrm>
              <a:off x="3063195" y="3963037"/>
              <a:ext cx="824498" cy="395282"/>
              <a:chOff x="3029558" y="1677340"/>
              <a:chExt cx="824498" cy="395282"/>
            </a:xfrm>
          </p:grpSpPr>
          <p:cxnSp>
            <p:nvCxnSpPr>
              <p:cNvPr id="83" name="Straight Arrow Connector 82">
                <a:extLst>
                  <a:ext uri="{FF2B5EF4-FFF2-40B4-BE49-F238E27FC236}">
                    <a16:creationId xmlns:a16="http://schemas.microsoft.com/office/drawing/2014/main" id="{B7098018-B78E-46DC-82E0-FC31A1DAD6F1}"/>
                  </a:ext>
                </a:extLst>
              </p:cNvPr>
              <p:cNvCxnSpPr>
                <a:cxnSpLocks/>
                <a:stCxn id="24" idx="7"/>
                <a:endCxn id="25" idx="3"/>
              </p:cNvCxnSpPr>
              <p:nvPr/>
            </p:nvCxnSpPr>
            <p:spPr>
              <a:xfrm flipV="1">
                <a:off x="3029558" y="1677340"/>
                <a:ext cx="262376" cy="395282"/>
              </a:xfrm>
              <a:prstGeom prst="straightConnector1">
                <a:avLst/>
              </a:prstGeom>
              <a:ln w="571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Straight Arrow Connector 83">
                <a:extLst>
                  <a:ext uri="{FF2B5EF4-FFF2-40B4-BE49-F238E27FC236}">
                    <a16:creationId xmlns:a16="http://schemas.microsoft.com/office/drawing/2014/main" id="{DB7F6194-903C-434B-9C98-48BB1D822854}"/>
                  </a:ext>
                </a:extLst>
              </p:cNvPr>
              <p:cNvCxnSpPr>
                <a:cxnSpLocks/>
                <a:stCxn id="25" idx="5"/>
                <a:endCxn id="23" idx="1"/>
              </p:cNvCxnSpPr>
              <p:nvPr/>
            </p:nvCxnSpPr>
            <p:spPr>
              <a:xfrm>
                <a:off x="3599243" y="1677340"/>
                <a:ext cx="254813" cy="395282"/>
              </a:xfrm>
              <a:prstGeom prst="straightConnector1">
                <a:avLst/>
              </a:prstGeom>
              <a:ln w="571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1D92DED8-DA29-48CC-BA41-D6AA35A3E1C9}"/>
                </a:ext>
              </a:extLst>
            </p:cNvPr>
            <p:cNvGrpSpPr/>
            <p:nvPr/>
          </p:nvGrpSpPr>
          <p:grpSpPr>
            <a:xfrm>
              <a:off x="398177" y="3138842"/>
              <a:ext cx="3915313" cy="1693663"/>
              <a:chOff x="398177" y="3138842"/>
              <a:chExt cx="3915313" cy="1693663"/>
            </a:xfrm>
          </p:grpSpPr>
          <p:grpSp>
            <p:nvGrpSpPr>
              <p:cNvPr id="31" name="Group 30">
                <a:extLst>
                  <a:ext uri="{FF2B5EF4-FFF2-40B4-BE49-F238E27FC236}">
                    <a16:creationId xmlns:a16="http://schemas.microsoft.com/office/drawing/2014/main" id="{D4B54826-E877-439A-A65D-67881C034B63}"/>
                  </a:ext>
                </a:extLst>
              </p:cNvPr>
              <p:cNvGrpSpPr/>
              <p:nvPr/>
            </p:nvGrpSpPr>
            <p:grpSpPr>
              <a:xfrm>
                <a:off x="398177" y="3138842"/>
                <a:ext cx="3915313" cy="1693663"/>
                <a:chOff x="398177" y="3138842"/>
                <a:chExt cx="3915313" cy="1693663"/>
              </a:xfrm>
            </p:grpSpPr>
            <p:grpSp>
              <p:nvGrpSpPr>
                <p:cNvPr id="96" name="Group 95">
                  <a:extLst>
                    <a:ext uri="{FF2B5EF4-FFF2-40B4-BE49-F238E27FC236}">
                      <a16:creationId xmlns:a16="http://schemas.microsoft.com/office/drawing/2014/main" id="{78ED9010-4665-484F-8E6C-DA3A0A970AC1}"/>
                    </a:ext>
                  </a:extLst>
                </p:cNvPr>
                <p:cNvGrpSpPr/>
                <p:nvPr/>
              </p:nvGrpSpPr>
              <p:grpSpPr>
                <a:xfrm>
                  <a:off x="2692239" y="3210979"/>
                  <a:ext cx="1566409" cy="1491595"/>
                  <a:chOff x="3525957" y="3163914"/>
                  <a:chExt cx="1566409" cy="1491595"/>
                </a:xfrm>
              </p:grpSpPr>
              <p:grpSp>
                <p:nvGrpSpPr>
                  <p:cNvPr id="70" name="Group 69">
                    <a:extLst>
                      <a:ext uri="{FF2B5EF4-FFF2-40B4-BE49-F238E27FC236}">
                        <a16:creationId xmlns:a16="http://schemas.microsoft.com/office/drawing/2014/main" id="{80F3DDA8-C395-407E-9906-32803A28160A}"/>
                      </a:ext>
                    </a:extLst>
                  </p:cNvPr>
                  <p:cNvGrpSpPr/>
                  <p:nvPr/>
                </p:nvGrpSpPr>
                <p:grpSpPr>
                  <a:xfrm>
                    <a:off x="3525957" y="3571718"/>
                    <a:ext cx="1566409" cy="1083791"/>
                    <a:chOff x="4205034" y="3383452"/>
                    <a:chExt cx="1566409" cy="1083791"/>
                  </a:xfrm>
                </p:grpSpPr>
                <p:sp>
                  <p:nvSpPr>
                    <p:cNvPr id="23" name="Oval 22">
                      <a:extLst>
                        <a:ext uri="{FF2B5EF4-FFF2-40B4-BE49-F238E27FC236}">
                          <a16:creationId xmlns:a16="http://schemas.microsoft.com/office/drawing/2014/main" id="{2E45509B-490B-4D1A-9F28-C9A5842BB26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336842" y="4063923"/>
                      <a:ext cx="434601" cy="403320"/>
                    </a:xfrm>
                    <a:prstGeom prst="ellipse">
                      <a:avLst/>
                    </a:prstGeom>
                    <a:solidFill>
                      <a:srgbClr val="434343"/>
                    </a:solidFill>
                    <a:ln w="38100">
                      <a:solidFill>
                        <a:srgbClr val="FFC00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GB" sz="2400" dirty="0"/>
                        <a:t>Y</a:t>
                      </a:r>
                    </a:p>
                  </p:txBody>
                </p:sp>
                <p:sp>
                  <p:nvSpPr>
                    <p:cNvPr id="24" name="Oval 23">
                      <a:extLst>
                        <a:ext uri="{FF2B5EF4-FFF2-40B4-BE49-F238E27FC236}">
                          <a16:creationId xmlns:a16="http://schemas.microsoft.com/office/drawing/2014/main" id="{36BE5D0A-4C42-4390-AE7C-F0ED6801977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05034" y="4063923"/>
                      <a:ext cx="434602" cy="403319"/>
                    </a:xfrm>
                    <a:prstGeom prst="ellipse">
                      <a:avLst/>
                    </a:prstGeom>
                    <a:solidFill>
                      <a:schemeClr val="accent5">
                        <a:lumMod val="50000"/>
                      </a:schemeClr>
                    </a:solidFill>
                    <a:ln w="38100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GB" sz="2400" dirty="0"/>
                        <a:t>X</a:t>
                      </a:r>
                    </a:p>
                  </p:txBody>
                </p:sp>
                <p:sp>
                  <p:nvSpPr>
                    <p:cNvPr id="25" name="Oval 24">
                      <a:extLst>
                        <a:ext uri="{FF2B5EF4-FFF2-40B4-BE49-F238E27FC236}">
                          <a16:creationId xmlns:a16="http://schemas.microsoft.com/office/drawing/2014/main" id="{1F01C355-0AE3-4E43-B31E-6F67F82CCD9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774720" y="3383452"/>
                      <a:ext cx="434601" cy="403319"/>
                    </a:xfrm>
                    <a:prstGeom prst="ellipse">
                      <a:avLst/>
                    </a:prstGeom>
                    <a:solidFill>
                      <a:schemeClr val="bg2">
                        <a:lumMod val="75000"/>
                      </a:schemeClr>
                    </a:solidFill>
                    <a:ln w="38100">
                      <a:solidFill>
                        <a:srgbClr val="00B05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GB" sz="2400" dirty="0"/>
                        <a:t>Z</a:t>
                      </a:r>
                    </a:p>
                  </p:txBody>
                </p:sp>
                <p:cxnSp>
                  <p:nvCxnSpPr>
                    <p:cNvPr id="36" name="Straight Arrow Connector 35">
                      <a:extLst>
                        <a:ext uri="{FF2B5EF4-FFF2-40B4-BE49-F238E27FC236}">
                          <a16:creationId xmlns:a16="http://schemas.microsoft.com/office/drawing/2014/main" id="{ADC4F697-437D-4542-850E-E5CD624387BF}"/>
                        </a:ext>
                      </a:extLst>
                    </p:cNvPr>
                    <p:cNvCxnSpPr>
                      <a:stCxn id="24" idx="7"/>
                      <a:endCxn id="25" idx="3"/>
                    </p:cNvCxnSpPr>
                    <p:nvPr/>
                  </p:nvCxnSpPr>
                  <p:spPr>
                    <a:xfrm flipV="1">
                      <a:off x="4575990" y="3727706"/>
                      <a:ext cx="262376" cy="395282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8" name="Straight Arrow Connector 37">
                      <a:extLst>
                        <a:ext uri="{FF2B5EF4-FFF2-40B4-BE49-F238E27FC236}">
                          <a16:creationId xmlns:a16="http://schemas.microsoft.com/office/drawing/2014/main" id="{D75AC29F-F300-4106-B39B-5A6067C1B02E}"/>
                        </a:ext>
                      </a:extLst>
                    </p:cNvPr>
                    <p:cNvCxnSpPr>
                      <a:stCxn id="23" idx="1"/>
                      <a:endCxn id="25" idx="5"/>
                    </p:cNvCxnSpPr>
                    <p:nvPr/>
                  </p:nvCxnSpPr>
                  <p:spPr>
                    <a:xfrm flipH="1" flipV="1">
                      <a:off x="5145675" y="3727706"/>
                      <a:ext cx="254813" cy="395282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41" name="TextBox 40">
                    <a:extLst>
                      <a:ext uri="{FF2B5EF4-FFF2-40B4-BE49-F238E27FC236}">
                        <a16:creationId xmlns:a16="http://schemas.microsoft.com/office/drawing/2014/main" id="{B55EC461-1B4D-48D9-9BB9-A14CB9D35624}"/>
                      </a:ext>
                    </a:extLst>
                  </p:cNvPr>
                  <p:cNvSpPr txBox="1"/>
                  <p:nvPr/>
                </p:nvSpPr>
                <p:spPr>
                  <a:xfrm>
                    <a:off x="3916253" y="3163914"/>
                    <a:ext cx="947615" cy="34624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GB" sz="2400" dirty="0"/>
                      <a:t>Collider</a:t>
                    </a:r>
                  </a:p>
                </p:txBody>
              </p:sp>
            </p:grpSp>
            <p:sp>
              <p:nvSpPr>
                <p:cNvPr id="66" name="Rectangle: Rounded Corners 65">
                  <a:extLst>
                    <a:ext uri="{FF2B5EF4-FFF2-40B4-BE49-F238E27FC236}">
                      <a16:creationId xmlns:a16="http://schemas.microsoft.com/office/drawing/2014/main" id="{8C8B189A-FBFE-4A44-B4CF-FF892E062731}"/>
                    </a:ext>
                  </a:extLst>
                </p:cNvPr>
                <p:cNvSpPr/>
                <p:nvPr/>
              </p:nvSpPr>
              <p:spPr>
                <a:xfrm>
                  <a:off x="2620091" y="3138842"/>
                  <a:ext cx="1693399" cy="1634942"/>
                </a:xfrm>
                <a:prstGeom prst="roundRect">
                  <a:avLst/>
                </a:prstGeom>
                <a:noFill/>
                <a:ln>
                  <a:solidFill>
                    <a:schemeClr val="accent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/>
                </a:p>
              </p:txBody>
            </p: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78" name="TextBox 77">
                      <a:extLst>
                        <a:ext uri="{FF2B5EF4-FFF2-40B4-BE49-F238E27FC236}">
                          <a16:creationId xmlns:a16="http://schemas.microsoft.com/office/drawing/2014/main" id="{0EB32892-CEBB-4A45-A017-1CAFC1F4B5F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98177" y="3378261"/>
                      <a:ext cx="1927450" cy="1454244"/>
                    </a:xfrm>
                    <a:prstGeom prst="rect">
                      <a:avLst/>
                    </a:prstGeom>
                    <a:solidFill>
                      <a:schemeClr val="accent4">
                        <a:lumMod val="20000"/>
                        <a:lumOff val="80000"/>
                      </a:schemeClr>
                    </a:solidFill>
                    <a:ln>
                      <a:solidFill>
                        <a:schemeClr val="accent2"/>
                      </a:solidFill>
                    </a:ln>
                  </p:spPr>
                  <p:txBody>
                    <a:bodyPr wrap="none" rtlCol="0">
                      <a:spAutoFit/>
                    </a:bodyPr>
                    <a:lstStyle/>
                    <a:p>
                      <a:pPr algn="ctr"/>
                      <a:r>
                        <a:rPr lang="en-GB" sz="2400" dirty="0"/>
                        <a:t>Excluding Z</a:t>
                      </a:r>
                      <a:br>
                        <a:rPr lang="en-GB" sz="2400" dirty="0"/>
                      </a:br>
                      <a:r>
                        <a:rPr lang="en-GB" sz="2400" b="1" u="sng" dirty="0"/>
                        <a:t>closes</a:t>
                      </a:r>
                      <a:r>
                        <a:rPr lang="en-GB" sz="2400" dirty="0"/>
                        <a:t> path:</a:t>
                      </a:r>
                    </a:p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 ~ </m:t>
                            </m:r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oMath>
                        </m:oMathPara>
                      </a14:m>
                      <a:endParaRPr lang="en-GB" sz="2400" dirty="0"/>
                    </a:p>
                    <a:p>
                      <a:pPr algn="ctr"/>
                      <a:r>
                        <a:rPr lang="en-GB" sz="2400" dirty="0"/>
                        <a:t>You always want </a:t>
                      </a:r>
                      <a:br>
                        <a:rPr lang="en-GB" sz="2400" dirty="0"/>
                      </a:br>
                      <a:r>
                        <a:rPr lang="en-GB" sz="2400" dirty="0"/>
                        <a:t>the path </a:t>
                      </a:r>
                      <a:r>
                        <a:rPr lang="en-GB" sz="2400" b="1" dirty="0"/>
                        <a:t>closed</a:t>
                      </a:r>
                    </a:p>
                  </p:txBody>
                </p:sp>
              </mc:Choice>
              <mc:Fallback>
                <p:sp>
                  <p:nvSpPr>
                    <p:cNvPr id="78" name="TextBox 77">
                      <a:extLst>
                        <a:ext uri="{FF2B5EF4-FFF2-40B4-BE49-F238E27FC236}">
                          <a16:creationId xmlns:a16="http://schemas.microsoft.com/office/drawing/2014/main" id="{0EB32892-CEBB-4A45-A017-1CAFC1F4B5FD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98177" y="3378261"/>
                      <a:ext cx="1927450" cy="1454244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 l="-2830" t="-2188" r="-2830" b="-5938"/>
                      </a:stretch>
                    </a:blipFill>
                    <a:ln>
                      <a:solidFill>
                        <a:schemeClr val="accent2"/>
                      </a:solidFill>
                    </a:ln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13" name="Straight Connector 12">
                  <a:extLst>
                    <a:ext uri="{FF2B5EF4-FFF2-40B4-BE49-F238E27FC236}">
                      <a16:creationId xmlns:a16="http://schemas.microsoft.com/office/drawing/2014/main" id="{E1414042-D244-4E88-BFA5-DC2612A9D1C7}"/>
                    </a:ext>
                  </a:extLst>
                </p:cNvPr>
                <p:cNvCxnSpPr>
                  <a:stCxn id="78" idx="3"/>
                  <a:endCxn id="66" idx="1"/>
                </p:cNvCxnSpPr>
                <p:nvPr/>
              </p:nvCxnSpPr>
              <p:spPr>
                <a:xfrm flipV="1">
                  <a:off x="2325627" y="3956313"/>
                  <a:ext cx="294463" cy="149070"/>
                </a:xfrm>
                <a:prstGeom prst="line">
                  <a:avLst/>
                </a:prstGeom>
                <a:ln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B13DE256-81A1-46CA-8E60-6968E94F0F87}"/>
                  </a:ext>
                </a:extLst>
              </p:cNvPr>
              <p:cNvCxnSpPr>
                <a:stCxn id="24" idx="6"/>
                <a:endCxn id="23" idx="2"/>
              </p:cNvCxnSpPr>
              <p:nvPr/>
            </p:nvCxnSpPr>
            <p:spPr>
              <a:xfrm>
                <a:off x="3126841" y="4500914"/>
                <a:ext cx="697206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35" name="Picture 34">
            <a:extLst>
              <a:ext uri="{FF2B5EF4-FFF2-40B4-BE49-F238E27FC236}">
                <a16:creationId xmlns:a16="http://schemas.microsoft.com/office/drawing/2014/main" id="{9B9AC884-5962-4BE5-A15C-E650B678B5B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84877" y="4132342"/>
            <a:ext cx="2285081" cy="2285081"/>
          </a:xfrm>
          <a:prstGeom prst="roundRect">
            <a:avLst/>
          </a:prstGeom>
          <a:ln>
            <a:solidFill>
              <a:schemeClr val="tx1"/>
            </a:solidFill>
          </a:ln>
        </p:spPr>
      </p:pic>
      <p:pic>
        <p:nvPicPr>
          <p:cNvPr id="61" name="Picture 60" descr="A picture containing ground, vegetable&#10;&#10;Description automatically generated">
            <a:extLst>
              <a:ext uri="{FF2B5EF4-FFF2-40B4-BE49-F238E27FC236}">
                <a16:creationId xmlns:a16="http://schemas.microsoft.com/office/drawing/2014/main" id="{BE7DB953-45D5-4D1F-81A4-D5AE23717886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r="36904"/>
          <a:stretch/>
        </p:blipFill>
        <p:spPr>
          <a:xfrm>
            <a:off x="6096001" y="1217659"/>
            <a:ext cx="2317508" cy="2230652"/>
          </a:xfrm>
          <a:prstGeom prst="roundRect">
            <a:avLst/>
          </a:prstGeom>
          <a:ln>
            <a:solidFill>
              <a:schemeClr val="tx1"/>
            </a:solidFill>
          </a:ln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AA64EECB-0915-4328-BAC7-EA0FA21DE714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r="32850"/>
          <a:stretch/>
        </p:blipFill>
        <p:spPr>
          <a:xfrm>
            <a:off x="3473511" y="1222606"/>
            <a:ext cx="2308376" cy="2261788"/>
          </a:xfrm>
          <a:prstGeom prst="roundRect">
            <a:avLst/>
          </a:prstGeom>
          <a:ln>
            <a:solidFill>
              <a:schemeClr val="tx1"/>
            </a:solidFill>
          </a:ln>
        </p:spPr>
      </p:pic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0F382A6A-5FE7-427F-A079-19CE48C82C6B}"/>
              </a:ext>
            </a:extLst>
          </p:cNvPr>
          <p:cNvSpPr/>
          <p:nvPr/>
        </p:nvSpPr>
        <p:spPr>
          <a:xfrm>
            <a:off x="382138" y="833750"/>
            <a:ext cx="5543629" cy="580816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Close the path</a:t>
            </a:r>
          </a:p>
        </p:txBody>
      </p: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6F57740E-EB08-4493-8E90-572A18701A04}"/>
              </a:ext>
            </a:extLst>
          </p:cNvPr>
          <p:cNvSpPr/>
          <p:nvPr/>
        </p:nvSpPr>
        <p:spPr>
          <a:xfrm>
            <a:off x="6010221" y="982639"/>
            <a:ext cx="5627292" cy="307342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 dirty="0">
              <a:solidFill>
                <a:schemeClr val="tx1"/>
              </a:solidFill>
            </a:endParaRPr>
          </a:p>
          <a:p>
            <a:pPr algn="ctr"/>
            <a:endParaRPr lang="en-GB" sz="2400" dirty="0">
              <a:solidFill>
                <a:schemeClr val="tx1"/>
              </a:solidFill>
            </a:endParaRPr>
          </a:p>
          <a:p>
            <a:pPr algn="ctr"/>
            <a:endParaRPr lang="en-GB" sz="2400" dirty="0">
              <a:solidFill>
                <a:schemeClr val="tx1"/>
              </a:solidFill>
            </a:endParaRPr>
          </a:p>
          <a:p>
            <a:pPr algn="ctr"/>
            <a:endParaRPr lang="en-GB" sz="2400" dirty="0">
              <a:solidFill>
                <a:schemeClr val="tx1"/>
              </a:solidFill>
            </a:endParaRPr>
          </a:p>
          <a:p>
            <a:pPr algn="ctr"/>
            <a:endParaRPr lang="en-GB" sz="2400" dirty="0">
              <a:solidFill>
                <a:schemeClr val="tx1"/>
              </a:solidFill>
            </a:endParaRPr>
          </a:p>
          <a:p>
            <a:pPr algn="ctr"/>
            <a:endParaRPr lang="en-GB" sz="2400" dirty="0">
              <a:solidFill>
                <a:schemeClr val="tx1"/>
              </a:solidFill>
            </a:endParaRPr>
          </a:p>
          <a:p>
            <a:pPr algn="ctr"/>
            <a:endParaRPr lang="en-GB" sz="2400" dirty="0">
              <a:solidFill>
                <a:schemeClr val="tx1"/>
              </a:solidFill>
            </a:endParaRPr>
          </a:p>
          <a:p>
            <a:pPr algn="ctr"/>
            <a:endParaRPr lang="en-GB" sz="2400" dirty="0">
              <a:solidFill>
                <a:schemeClr val="tx1"/>
              </a:solidFill>
            </a:endParaRPr>
          </a:p>
          <a:p>
            <a:pPr algn="ctr"/>
            <a:endParaRPr lang="en-GB" sz="2400" dirty="0">
              <a:solidFill>
                <a:schemeClr val="tx1"/>
              </a:solidFill>
            </a:endParaRPr>
          </a:p>
          <a:p>
            <a:pPr algn="ctr"/>
            <a:r>
              <a:rPr lang="en-GB" sz="2400" dirty="0">
                <a:solidFill>
                  <a:schemeClr val="tx1"/>
                </a:solidFill>
              </a:rPr>
              <a:t>Open the path</a:t>
            </a:r>
          </a:p>
        </p:txBody>
      </p:sp>
    </p:spTree>
    <p:extLst>
      <p:ext uri="{BB962C8B-B14F-4D97-AF65-F5344CB8AC3E}">
        <p14:creationId xmlns:p14="http://schemas.microsoft.com/office/powerpoint/2010/main" val="3293516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" grpId="0" animBg="1"/>
      <p:bldP spid="72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A962E-623F-4A33-9271-D822D9C94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966113"/>
            <a:ext cx="12192000" cy="763600"/>
          </a:xfrm>
        </p:spPr>
        <p:txBody>
          <a:bodyPr/>
          <a:lstStyle/>
          <a:p>
            <a:pPr algn="ctr"/>
            <a:r>
              <a:rPr lang="en-GB" dirty="0"/>
              <a:t>How do we stop ourselves from being mislead?</a:t>
            </a:r>
          </a:p>
        </p:txBody>
      </p:sp>
      <p:sp>
        <p:nvSpPr>
          <p:cNvPr id="4" name="Google Shape;75;p15">
            <a:extLst>
              <a:ext uri="{FF2B5EF4-FFF2-40B4-BE49-F238E27FC236}">
                <a16:creationId xmlns:a16="http://schemas.microsoft.com/office/drawing/2014/main" id="{D3576E38-C5FF-4D1E-BF01-7E8DED020055}"/>
              </a:ext>
            </a:extLst>
          </p:cNvPr>
          <p:cNvSpPr/>
          <p:nvPr/>
        </p:nvSpPr>
        <p:spPr>
          <a:xfrm>
            <a:off x="4347584" y="3729714"/>
            <a:ext cx="3496833" cy="140300"/>
          </a:xfrm>
          <a:custGeom>
            <a:avLst/>
            <a:gdLst/>
            <a:ahLst/>
            <a:cxnLst/>
            <a:rect l="l" t="t" r="r" b="b"/>
            <a:pathLst>
              <a:path w="104905" h="4209" extrusionOk="0">
                <a:moveTo>
                  <a:pt x="0" y="2010"/>
                </a:moveTo>
                <a:cubicBezTo>
                  <a:pt x="34411" y="-4246"/>
                  <a:pt x="71725" y="11060"/>
                  <a:pt x="104905" y="0"/>
                </a:cubicBezTo>
              </a:path>
            </a:pathLst>
          </a:custGeom>
          <a:noFill/>
          <a:ln w="19050" cap="flat" cmpd="sng">
            <a:solidFill>
              <a:srgbClr val="4C113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438994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4B291B2-ABB3-4ABC-9BAA-B6E20C89C1B1}"/>
              </a:ext>
            </a:extLst>
          </p:cNvPr>
          <p:cNvCxnSpPr>
            <a:stCxn id="8" idx="6"/>
            <a:endCxn id="7" idx="2"/>
          </p:cNvCxnSpPr>
          <p:nvPr/>
        </p:nvCxnSpPr>
        <p:spPr>
          <a:xfrm>
            <a:off x="6473051" y="5011168"/>
            <a:ext cx="1117867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5512B061-DD21-4494-8731-23977E161A97}"/>
              </a:ext>
            </a:extLst>
          </p:cNvPr>
          <p:cNvGrpSpPr/>
          <p:nvPr/>
        </p:nvGrpSpPr>
        <p:grpSpPr>
          <a:xfrm>
            <a:off x="3906514" y="2697065"/>
            <a:ext cx="5448655" cy="3458328"/>
            <a:chOff x="2929885" y="2022799"/>
            <a:chExt cx="4086491" cy="2593746"/>
          </a:xfrm>
        </p:grpSpPr>
        <p:grpSp>
          <p:nvGrpSpPr>
            <p:cNvPr id="126" name="Group 125">
              <a:extLst>
                <a:ext uri="{FF2B5EF4-FFF2-40B4-BE49-F238E27FC236}">
                  <a16:creationId xmlns:a16="http://schemas.microsoft.com/office/drawing/2014/main" id="{61058B00-559A-4FFA-BE57-2C3ECD64DCAA}"/>
                </a:ext>
              </a:extLst>
            </p:cNvPr>
            <p:cNvGrpSpPr/>
            <p:nvPr/>
          </p:nvGrpSpPr>
          <p:grpSpPr>
            <a:xfrm>
              <a:off x="2929885" y="2022799"/>
              <a:ext cx="4086491" cy="2593746"/>
              <a:chOff x="2929885" y="2022799"/>
              <a:chExt cx="4086491" cy="2593746"/>
            </a:xfrm>
          </p:grpSpPr>
          <p:cxnSp>
            <p:nvCxnSpPr>
              <p:cNvPr id="71" name="Straight Arrow Connector 70">
                <a:extLst>
                  <a:ext uri="{FF2B5EF4-FFF2-40B4-BE49-F238E27FC236}">
                    <a16:creationId xmlns:a16="http://schemas.microsoft.com/office/drawing/2014/main" id="{65E00FC2-5597-4E9B-831A-14312A9E383C}"/>
                  </a:ext>
                </a:extLst>
              </p:cNvPr>
              <p:cNvCxnSpPr>
                <a:cxnSpLocks/>
                <a:stCxn id="8" idx="1"/>
                <a:endCxn id="14" idx="5"/>
              </p:cNvCxnSpPr>
              <p:nvPr/>
            </p:nvCxnSpPr>
            <p:spPr>
              <a:xfrm flipH="1" flipV="1">
                <a:off x="4175245" y="3003455"/>
                <a:ext cx="308587" cy="612326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Straight Arrow Connector 74">
                <a:extLst>
                  <a:ext uri="{FF2B5EF4-FFF2-40B4-BE49-F238E27FC236}">
                    <a16:creationId xmlns:a16="http://schemas.microsoft.com/office/drawing/2014/main" id="{9DF46FA7-EB22-47EB-9106-872179F7B573}"/>
                  </a:ext>
                </a:extLst>
              </p:cNvPr>
              <p:cNvCxnSpPr>
                <a:cxnSpLocks/>
                <a:stCxn id="14" idx="2"/>
                <a:endCxn id="18" idx="6"/>
              </p:cNvCxnSpPr>
              <p:nvPr/>
            </p:nvCxnSpPr>
            <p:spPr>
              <a:xfrm flipH="1">
                <a:off x="3147185" y="2860861"/>
                <a:ext cx="657105" cy="10084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Arrow Connector 76">
                <a:extLst>
                  <a:ext uri="{FF2B5EF4-FFF2-40B4-BE49-F238E27FC236}">
                    <a16:creationId xmlns:a16="http://schemas.microsoft.com/office/drawing/2014/main" id="{C3B987E2-13E3-4E5E-8814-C911A0089DF9}"/>
                  </a:ext>
                </a:extLst>
              </p:cNvPr>
              <p:cNvCxnSpPr>
                <a:cxnSpLocks/>
                <a:stCxn id="18" idx="4"/>
                <a:endCxn id="16" idx="1"/>
              </p:cNvCxnSpPr>
              <p:nvPr/>
            </p:nvCxnSpPr>
            <p:spPr>
              <a:xfrm>
                <a:off x="2929885" y="3072604"/>
                <a:ext cx="280946" cy="543177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Arrow Connector 80">
                <a:extLst>
                  <a:ext uri="{FF2B5EF4-FFF2-40B4-BE49-F238E27FC236}">
                    <a16:creationId xmlns:a16="http://schemas.microsoft.com/office/drawing/2014/main" id="{F787A9FE-8267-4469-889D-81EF93A708A5}"/>
                  </a:ext>
                </a:extLst>
              </p:cNvPr>
              <p:cNvCxnSpPr>
                <a:cxnSpLocks/>
                <a:stCxn id="16" idx="5"/>
                <a:endCxn id="17" idx="1"/>
              </p:cNvCxnSpPr>
              <p:nvPr/>
            </p:nvCxnSpPr>
            <p:spPr>
              <a:xfrm>
                <a:off x="3518140" y="3900970"/>
                <a:ext cx="349796" cy="572980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Arrow Connector 85">
                <a:extLst>
                  <a:ext uri="{FF2B5EF4-FFF2-40B4-BE49-F238E27FC236}">
                    <a16:creationId xmlns:a16="http://schemas.microsoft.com/office/drawing/2014/main" id="{D05FC41A-A433-4A4E-A5E9-7DD8286CCA12}"/>
                  </a:ext>
                </a:extLst>
              </p:cNvPr>
              <p:cNvCxnSpPr>
                <a:cxnSpLocks/>
                <a:stCxn id="17" idx="6"/>
                <a:endCxn id="9" idx="2"/>
              </p:cNvCxnSpPr>
              <p:nvPr/>
            </p:nvCxnSpPr>
            <p:spPr>
              <a:xfrm>
                <a:off x="4238891" y="4616545"/>
                <a:ext cx="744256" cy="0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Straight Arrow Connector 89">
                <a:extLst>
                  <a:ext uri="{FF2B5EF4-FFF2-40B4-BE49-F238E27FC236}">
                    <a16:creationId xmlns:a16="http://schemas.microsoft.com/office/drawing/2014/main" id="{FD547365-7C6C-4551-91CE-E289BF45CCC9}"/>
                  </a:ext>
                </a:extLst>
              </p:cNvPr>
              <p:cNvCxnSpPr>
                <a:cxnSpLocks/>
                <a:stCxn id="9" idx="7"/>
                <a:endCxn id="7" idx="3"/>
              </p:cNvCxnSpPr>
              <p:nvPr/>
            </p:nvCxnSpPr>
            <p:spPr>
              <a:xfrm flipV="1">
                <a:off x="5354102" y="3900971"/>
                <a:ext cx="402732" cy="572979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Straight Arrow Connector 91">
                <a:extLst>
                  <a:ext uri="{FF2B5EF4-FFF2-40B4-BE49-F238E27FC236}">
                    <a16:creationId xmlns:a16="http://schemas.microsoft.com/office/drawing/2014/main" id="{0FE7ECD0-56A6-4B47-AF4B-80022570D6A6}"/>
                  </a:ext>
                </a:extLst>
              </p:cNvPr>
              <p:cNvCxnSpPr>
                <a:cxnSpLocks/>
                <a:stCxn id="9" idx="6"/>
                <a:endCxn id="60" idx="2"/>
              </p:cNvCxnSpPr>
              <p:nvPr/>
            </p:nvCxnSpPr>
            <p:spPr>
              <a:xfrm flipV="1">
                <a:off x="5417748" y="4616544"/>
                <a:ext cx="873822" cy="1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Straight Arrow Connector 103">
                <a:extLst>
                  <a:ext uri="{FF2B5EF4-FFF2-40B4-BE49-F238E27FC236}">
                    <a16:creationId xmlns:a16="http://schemas.microsoft.com/office/drawing/2014/main" id="{4AC93CEE-864D-4375-B61C-80373A2799D0}"/>
                  </a:ext>
                </a:extLst>
              </p:cNvPr>
              <p:cNvCxnSpPr>
                <a:cxnSpLocks/>
                <a:stCxn id="60" idx="7"/>
                <a:endCxn id="59" idx="3"/>
              </p:cNvCxnSpPr>
              <p:nvPr/>
            </p:nvCxnSpPr>
            <p:spPr>
              <a:xfrm flipV="1">
                <a:off x="6662525" y="3900970"/>
                <a:ext cx="353851" cy="572979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Arrow Connector 104">
                <a:extLst>
                  <a:ext uri="{FF2B5EF4-FFF2-40B4-BE49-F238E27FC236}">
                    <a16:creationId xmlns:a16="http://schemas.microsoft.com/office/drawing/2014/main" id="{ED1685BC-3A27-4538-AD0E-FD651D6E63AD}"/>
                  </a:ext>
                </a:extLst>
              </p:cNvPr>
              <p:cNvCxnSpPr>
                <a:cxnSpLocks/>
                <a:stCxn id="59" idx="2"/>
                <a:endCxn id="7" idx="6"/>
              </p:cNvCxnSpPr>
              <p:nvPr/>
            </p:nvCxnSpPr>
            <p:spPr>
              <a:xfrm flipH="1">
                <a:off x="6127789" y="3758376"/>
                <a:ext cx="824941" cy="0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Straight Arrow Connector 105">
                <a:extLst>
                  <a:ext uri="{FF2B5EF4-FFF2-40B4-BE49-F238E27FC236}">
                    <a16:creationId xmlns:a16="http://schemas.microsoft.com/office/drawing/2014/main" id="{CD86E9E6-B31D-49AD-BB37-D9F7213F7443}"/>
                  </a:ext>
                </a:extLst>
              </p:cNvPr>
              <p:cNvCxnSpPr>
                <a:cxnSpLocks/>
                <a:stCxn id="58" idx="3"/>
                <a:endCxn id="7" idx="7"/>
              </p:cNvCxnSpPr>
              <p:nvPr/>
            </p:nvCxnSpPr>
            <p:spPr>
              <a:xfrm flipH="1">
                <a:off x="6064143" y="3013539"/>
                <a:ext cx="291072" cy="602242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Straight Arrow Connector 106">
                <a:extLst>
                  <a:ext uri="{FF2B5EF4-FFF2-40B4-BE49-F238E27FC236}">
                    <a16:creationId xmlns:a16="http://schemas.microsoft.com/office/drawing/2014/main" id="{A1DC3E61-F71A-4BE9-914E-498FFFEE6145}"/>
                  </a:ext>
                </a:extLst>
              </p:cNvPr>
              <p:cNvCxnSpPr>
                <a:cxnSpLocks/>
                <a:stCxn id="15" idx="6"/>
                <a:endCxn id="58" idx="2"/>
              </p:cNvCxnSpPr>
              <p:nvPr/>
            </p:nvCxnSpPr>
            <p:spPr>
              <a:xfrm>
                <a:off x="5417749" y="2860861"/>
                <a:ext cx="873820" cy="10084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Arrow Connector 107">
                <a:extLst>
                  <a:ext uri="{FF2B5EF4-FFF2-40B4-BE49-F238E27FC236}">
                    <a16:creationId xmlns:a16="http://schemas.microsoft.com/office/drawing/2014/main" id="{9E7F738A-F5CB-46DC-B108-76517D3F255E}"/>
                  </a:ext>
                </a:extLst>
              </p:cNvPr>
              <p:cNvCxnSpPr>
                <a:cxnSpLocks/>
                <a:stCxn id="63" idx="5"/>
                <a:endCxn id="58" idx="1"/>
              </p:cNvCxnSpPr>
              <p:nvPr/>
            </p:nvCxnSpPr>
            <p:spPr>
              <a:xfrm>
                <a:off x="6022574" y="2022799"/>
                <a:ext cx="332641" cy="705551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Straight Arrow Connector 110">
                <a:extLst>
                  <a:ext uri="{FF2B5EF4-FFF2-40B4-BE49-F238E27FC236}">
                    <a16:creationId xmlns:a16="http://schemas.microsoft.com/office/drawing/2014/main" id="{F6CE9038-28D2-4D02-8095-3CC7661C1183}"/>
                  </a:ext>
                </a:extLst>
              </p:cNvPr>
              <p:cNvCxnSpPr>
                <a:cxnSpLocks/>
                <a:stCxn id="15" idx="7"/>
                <a:endCxn id="63" idx="3"/>
              </p:cNvCxnSpPr>
              <p:nvPr/>
            </p:nvCxnSpPr>
            <p:spPr>
              <a:xfrm flipV="1">
                <a:off x="5354103" y="2022799"/>
                <a:ext cx="361162" cy="695467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Arrow Connector 113">
                <a:extLst>
                  <a:ext uri="{FF2B5EF4-FFF2-40B4-BE49-F238E27FC236}">
                    <a16:creationId xmlns:a16="http://schemas.microsoft.com/office/drawing/2014/main" id="{9AABBFB8-39D4-4F0C-9178-FFF5A86494B6}"/>
                  </a:ext>
                </a:extLst>
              </p:cNvPr>
              <p:cNvCxnSpPr>
                <a:cxnSpLocks/>
                <a:stCxn id="8" idx="7"/>
                <a:endCxn id="15" idx="3"/>
              </p:cNvCxnSpPr>
              <p:nvPr/>
            </p:nvCxnSpPr>
            <p:spPr>
              <a:xfrm flipV="1">
                <a:off x="4791142" y="3003455"/>
                <a:ext cx="255652" cy="612326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Arrow Connector 116">
                <a:extLst>
                  <a:ext uri="{FF2B5EF4-FFF2-40B4-BE49-F238E27FC236}">
                    <a16:creationId xmlns:a16="http://schemas.microsoft.com/office/drawing/2014/main" id="{4E6CBCCA-4D64-4226-988A-857E6631A6DD}"/>
                  </a:ext>
                </a:extLst>
              </p:cNvPr>
              <p:cNvCxnSpPr>
                <a:cxnSpLocks/>
                <a:stCxn id="15" idx="4"/>
                <a:endCxn id="9" idx="0"/>
              </p:cNvCxnSpPr>
              <p:nvPr/>
            </p:nvCxnSpPr>
            <p:spPr>
              <a:xfrm flipH="1">
                <a:off x="5200448" y="3062520"/>
                <a:ext cx="1" cy="1352365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Straight Arrow Connector 119">
                <a:extLst>
                  <a:ext uri="{FF2B5EF4-FFF2-40B4-BE49-F238E27FC236}">
                    <a16:creationId xmlns:a16="http://schemas.microsoft.com/office/drawing/2014/main" id="{F32A895F-2A2E-483E-9464-31765786E1B1}"/>
                  </a:ext>
                </a:extLst>
              </p:cNvPr>
              <p:cNvCxnSpPr>
                <a:cxnSpLocks/>
                <a:stCxn id="8" idx="5"/>
                <a:endCxn id="9" idx="1"/>
              </p:cNvCxnSpPr>
              <p:nvPr/>
            </p:nvCxnSpPr>
            <p:spPr>
              <a:xfrm>
                <a:off x="4791142" y="3900970"/>
                <a:ext cx="255651" cy="572980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27" name="Straight Arrow Connector 126">
              <a:extLst>
                <a:ext uri="{FF2B5EF4-FFF2-40B4-BE49-F238E27FC236}">
                  <a16:creationId xmlns:a16="http://schemas.microsoft.com/office/drawing/2014/main" id="{6405BAE5-2EF2-4FFC-8947-67EB08CB244F}"/>
                </a:ext>
              </a:extLst>
            </p:cNvPr>
            <p:cNvCxnSpPr>
              <a:cxnSpLocks/>
              <a:stCxn id="8" idx="2"/>
              <a:endCxn id="16" idx="6"/>
            </p:cNvCxnSpPr>
            <p:nvPr/>
          </p:nvCxnSpPr>
          <p:spPr>
            <a:xfrm flipH="1">
              <a:off x="3581786" y="3758376"/>
              <a:ext cx="83840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81A2B5C8-F4F4-407E-A5E3-78D07490110E}"/>
                  </a:ext>
                </a:extLst>
              </p:cNvPr>
              <p:cNvSpPr txBox="1"/>
              <p:nvPr/>
            </p:nvSpPr>
            <p:spPr>
              <a:xfrm>
                <a:off x="2579" y="825580"/>
                <a:ext cx="3590932" cy="600048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2133" dirty="0">
                    <a:solidFill>
                      <a:srgbClr val="434343"/>
                    </a:solidFill>
                  </a:rPr>
                  <a:t>How do we get </a:t>
                </a:r>
                <a14:m>
                  <m:oMath xmlns:m="http://schemas.openxmlformats.org/officeDocument/2006/math">
                    <m:r>
                      <a:rPr lang="en-GB" sz="2133" i="1">
                        <a:solidFill>
                          <a:srgbClr val="434343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GB" sz="2133" i="1">
                        <a:solidFill>
                          <a:srgbClr val="434343"/>
                        </a:solidFill>
                        <a:latin typeface="Cambria Math" panose="02040503050406030204" pitchFamily="18" charset="0"/>
                      </a:rPr>
                      <m:t> ~ </m:t>
                    </m:r>
                    <m:r>
                      <a:rPr lang="en-GB" sz="2133" i="1">
                        <a:solidFill>
                          <a:srgbClr val="434343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GB" sz="2133" dirty="0">
                    <a:solidFill>
                      <a:srgbClr val="434343"/>
                    </a:solidFill>
                  </a:rPr>
                  <a:t>?</a:t>
                </a:r>
              </a:p>
              <a:p>
                <a:pPr algn="ctr"/>
                <a:r>
                  <a:rPr lang="en-GB" sz="2133" dirty="0">
                    <a:solidFill>
                      <a:srgbClr val="434343"/>
                    </a:solidFill>
                  </a:rPr>
                  <a:t>_________________</a:t>
                </a:r>
              </a:p>
              <a:p>
                <a:pPr algn="ctr"/>
                <a:endParaRPr lang="en-GB" sz="2133" dirty="0">
                  <a:solidFill>
                    <a:srgbClr val="434343"/>
                  </a:solidFill>
                </a:endParaRPr>
              </a:p>
              <a:p>
                <a:r>
                  <a:rPr lang="en-GB" sz="2133" dirty="0">
                    <a:solidFill>
                      <a:srgbClr val="434343"/>
                    </a:solidFill>
                  </a:rPr>
                  <a:t>Draw your causal model.</a:t>
                </a:r>
              </a:p>
              <a:p>
                <a:endParaRPr lang="en-GB" sz="2133" dirty="0">
                  <a:solidFill>
                    <a:srgbClr val="434343"/>
                  </a:solidFill>
                </a:endParaRPr>
              </a:p>
              <a:p>
                <a:r>
                  <a:rPr lang="en-GB" sz="2133" dirty="0">
                    <a:solidFill>
                      <a:srgbClr val="434343"/>
                    </a:solidFill>
                  </a:rPr>
                  <a:t>Which paths is </a:t>
                </a:r>
                <a:r>
                  <a:rPr lang="en-GB" sz="2133" dirty="0" err="1">
                    <a:solidFill>
                      <a:srgbClr val="434343"/>
                    </a:solidFill>
                  </a:rPr>
                  <a:t>Gúggle</a:t>
                </a:r>
                <a:r>
                  <a:rPr lang="en-GB" sz="2133" dirty="0">
                    <a:solidFill>
                      <a:srgbClr val="434343"/>
                    </a:solidFill>
                  </a:rPr>
                  <a:t> suggesting, to get from X to Y?</a:t>
                </a:r>
              </a:p>
              <a:p>
                <a:endParaRPr lang="en-GB" sz="2133" dirty="0">
                  <a:solidFill>
                    <a:srgbClr val="434343"/>
                  </a:solidFill>
                </a:endParaRPr>
              </a:p>
              <a:p>
                <a:r>
                  <a:rPr lang="en-GB" sz="2133" dirty="0">
                    <a:solidFill>
                      <a:srgbClr val="434343"/>
                    </a:solidFill>
                  </a:rPr>
                  <a:t>For each path, identify when </a:t>
                </a:r>
                <a:r>
                  <a:rPr lang="en-GB" sz="2133" dirty="0" err="1">
                    <a:solidFill>
                      <a:srgbClr val="434343"/>
                    </a:solidFill>
                  </a:rPr>
                  <a:t>Gúggle</a:t>
                </a:r>
                <a:r>
                  <a:rPr lang="en-GB" sz="2133" dirty="0">
                    <a:solidFill>
                      <a:srgbClr val="434343"/>
                    </a:solidFill>
                  </a:rPr>
                  <a:t> is sending you down the wrong way of a one way road.</a:t>
                </a:r>
              </a:p>
              <a:p>
                <a:endParaRPr lang="en-GB" sz="2133" dirty="0">
                  <a:solidFill>
                    <a:srgbClr val="434343"/>
                  </a:solidFill>
                </a:endParaRPr>
              </a:p>
              <a:p>
                <a:r>
                  <a:rPr lang="en-GB" sz="2133" dirty="0">
                    <a:solidFill>
                      <a:srgbClr val="434343"/>
                    </a:solidFill>
                  </a:rPr>
                  <a:t>Close all paths where </a:t>
                </a:r>
                <a:r>
                  <a:rPr lang="en-GB" sz="2133" dirty="0" err="1">
                    <a:solidFill>
                      <a:srgbClr val="434343"/>
                    </a:solidFill>
                  </a:rPr>
                  <a:t>Gúggle</a:t>
                </a:r>
                <a:r>
                  <a:rPr lang="en-GB" sz="2133" dirty="0">
                    <a:solidFill>
                      <a:srgbClr val="434343"/>
                    </a:solidFill>
                  </a:rPr>
                  <a:t> tells us to drive down the wrong way of a one-way road.</a:t>
                </a:r>
              </a:p>
            </p:txBody>
          </p:sp>
        </mc:Choice>
        <mc:Fallback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81A2B5C8-F4F4-407E-A5E3-78D0749011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9" y="825580"/>
                <a:ext cx="3590932" cy="6000489"/>
              </a:xfrm>
              <a:prstGeom prst="rect">
                <a:avLst/>
              </a:prstGeom>
              <a:blipFill>
                <a:blip r:embed="rId3"/>
                <a:stretch>
                  <a:fillRect l="-2037" t="-609" r="-3056" b="-10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395E55AF-D013-4C2D-9247-73DD7B73F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131"/>
            <a:ext cx="12192000" cy="1340136"/>
          </a:xfrm>
        </p:spPr>
        <p:txBody>
          <a:bodyPr/>
          <a:lstStyle/>
          <a:p>
            <a:pPr algn="ctr"/>
            <a:r>
              <a:rPr lang="en-GB" dirty="0"/>
              <a:t>Hey </a:t>
            </a:r>
            <a:r>
              <a:rPr lang="en-GB" dirty="0" err="1"/>
              <a:t>Gúggle</a:t>
            </a:r>
            <a:r>
              <a:rPr lang="en-GB" dirty="0"/>
              <a:t>. How do I get to London?</a:t>
            </a: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A4138BDA-DAB2-4BE0-9BBA-C11767920B70}"/>
              </a:ext>
            </a:extLst>
          </p:cNvPr>
          <p:cNvGrpSpPr/>
          <p:nvPr/>
        </p:nvGrpSpPr>
        <p:grpSpPr>
          <a:xfrm>
            <a:off x="4196247" y="4742289"/>
            <a:ext cx="1697335" cy="537759"/>
            <a:chOff x="3147185" y="3556716"/>
            <a:chExt cx="1273001" cy="403319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94B9AC4E-9FFA-4EE8-B33F-D7CCEC677BA6}"/>
                </a:ext>
              </a:extLst>
            </p:cNvPr>
            <p:cNvSpPr/>
            <p:nvPr/>
          </p:nvSpPr>
          <p:spPr>
            <a:xfrm>
              <a:off x="3147185" y="3556716"/>
              <a:ext cx="434601" cy="403319"/>
            </a:xfrm>
            <a:prstGeom prst="ellipse">
              <a:avLst/>
            </a:prstGeom>
            <a:solidFill>
              <a:srgbClr val="434343"/>
            </a:solidFill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E</a:t>
              </a: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9A62DAD5-A381-4302-9519-C3AD492E1C0C}"/>
                </a:ext>
              </a:extLst>
            </p:cNvPr>
            <p:cNvCxnSpPr>
              <a:stCxn id="16" idx="6"/>
              <a:endCxn id="8" idx="2"/>
            </p:cNvCxnSpPr>
            <p:nvPr/>
          </p:nvCxnSpPr>
          <p:spPr>
            <a:xfrm>
              <a:off x="3581786" y="3758376"/>
              <a:ext cx="83840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CA87F539-B7A4-4B13-BBAC-5F534768D878}"/>
              </a:ext>
            </a:extLst>
          </p:cNvPr>
          <p:cNvGrpSpPr/>
          <p:nvPr/>
        </p:nvGrpSpPr>
        <p:grpSpPr>
          <a:xfrm>
            <a:off x="6388190" y="3545601"/>
            <a:ext cx="835476" cy="1275440"/>
            <a:chOff x="4791142" y="2659201"/>
            <a:chExt cx="626607" cy="95658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6C277CBE-A73F-48D0-BE0B-FE8F397E495B}"/>
                </a:ext>
              </a:extLst>
            </p:cNvPr>
            <p:cNvSpPr/>
            <p:nvPr/>
          </p:nvSpPr>
          <p:spPr>
            <a:xfrm>
              <a:off x="4983148" y="2659201"/>
              <a:ext cx="434601" cy="403319"/>
            </a:xfrm>
            <a:prstGeom prst="ellipse">
              <a:avLst/>
            </a:prstGeom>
            <a:solidFill>
              <a:srgbClr val="434343"/>
            </a:solidFill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D</a:t>
              </a:r>
            </a:p>
          </p:txBody>
        </p: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0E3544E3-B814-4FBB-B3F7-6E7B604F9FC7}"/>
                </a:ext>
              </a:extLst>
            </p:cNvPr>
            <p:cNvCxnSpPr>
              <a:cxnSpLocks/>
              <a:stCxn id="15" idx="3"/>
              <a:endCxn id="8" idx="7"/>
            </p:cNvCxnSpPr>
            <p:nvPr/>
          </p:nvCxnSpPr>
          <p:spPr>
            <a:xfrm flipH="1">
              <a:off x="4791142" y="3003455"/>
              <a:ext cx="255652" cy="61232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AACD3BA4-A3E2-469F-B5ED-1DC0F60612B5}"/>
              </a:ext>
            </a:extLst>
          </p:cNvPr>
          <p:cNvGrpSpPr/>
          <p:nvPr/>
        </p:nvGrpSpPr>
        <p:grpSpPr>
          <a:xfrm>
            <a:off x="5072387" y="3545601"/>
            <a:ext cx="906056" cy="1275440"/>
            <a:chOff x="3804290" y="2659201"/>
            <a:chExt cx="679542" cy="956580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1C31138F-A040-43F6-9C9B-868E89145086}"/>
                </a:ext>
              </a:extLst>
            </p:cNvPr>
            <p:cNvSpPr/>
            <p:nvPr/>
          </p:nvSpPr>
          <p:spPr>
            <a:xfrm>
              <a:off x="3804290" y="2659201"/>
              <a:ext cx="434601" cy="403319"/>
            </a:xfrm>
            <a:prstGeom prst="ellipse">
              <a:avLst/>
            </a:prstGeom>
            <a:solidFill>
              <a:srgbClr val="434343"/>
            </a:solidFill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C</a:t>
              </a:r>
            </a:p>
          </p:txBody>
        </p: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AFD2E7BD-AAFF-4C48-8CC8-0CA19C9287C5}"/>
                </a:ext>
              </a:extLst>
            </p:cNvPr>
            <p:cNvCxnSpPr>
              <a:stCxn id="14" idx="5"/>
              <a:endCxn id="8" idx="1"/>
            </p:cNvCxnSpPr>
            <p:nvPr/>
          </p:nvCxnSpPr>
          <p:spPr>
            <a:xfrm>
              <a:off x="4175245" y="3003455"/>
              <a:ext cx="308587" cy="61232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8210FBC7-B625-4271-B5E2-44E815BE6647}"/>
              </a:ext>
            </a:extLst>
          </p:cNvPr>
          <p:cNvGrpSpPr/>
          <p:nvPr/>
        </p:nvGrpSpPr>
        <p:grpSpPr>
          <a:xfrm>
            <a:off x="5362122" y="2240705"/>
            <a:ext cx="1110929" cy="1304896"/>
            <a:chOff x="4021591" y="1680529"/>
            <a:chExt cx="833197" cy="978672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6D3F10C2-5106-4131-B130-B8FE8AF701B3}"/>
                </a:ext>
              </a:extLst>
            </p:cNvPr>
            <p:cNvSpPr/>
            <p:nvPr/>
          </p:nvSpPr>
          <p:spPr>
            <a:xfrm>
              <a:off x="4420187" y="1680529"/>
              <a:ext cx="434601" cy="403319"/>
            </a:xfrm>
            <a:prstGeom prst="ellipse">
              <a:avLst/>
            </a:prstGeom>
            <a:solidFill>
              <a:srgbClr val="434343"/>
            </a:solidFill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B</a:t>
              </a:r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35D4317F-D85A-411E-8334-48F25832E521}"/>
                </a:ext>
              </a:extLst>
            </p:cNvPr>
            <p:cNvCxnSpPr>
              <a:stCxn id="19" idx="3"/>
              <a:endCxn id="14" idx="0"/>
            </p:cNvCxnSpPr>
            <p:nvPr/>
          </p:nvCxnSpPr>
          <p:spPr>
            <a:xfrm flipH="1">
              <a:off x="4021591" y="2024783"/>
              <a:ext cx="462242" cy="63441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1CEB7A4B-CF69-4350-8126-71E696A25E63}"/>
              </a:ext>
            </a:extLst>
          </p:cNvPr>
          <p:cNvGrpSpPr/>
          <p:nvPr/>
        </p:nvGrpSpPr>
        <p:grpSpPr>
          <a:xfrm>
            <a:off x="3616779" y="3559047"/>
            <a:ext cx="1455608" cy="1261995"/>
            <a:chOff x="2712584" y="2669285"/>
            <a:chExt cx="1091706" cy="946496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08E4EA22-D934-40DD-B96C-969EF459CBA8}"/>
                </a:ext>
              </a:extLst>
            </p:cNvPr>
            <p:cNvSpPr/>
            <p:nvPr/>
          </p:nvSpPr>
          <p:spPr>
            <a:xfrm>
              <a:off x="2712584" y="2669285"/>
              <a:ext cx="434601" cy="403319"/>
            </a:xfrm>
            <a:prstGeom prst="ellipse">
              <a:avLst/>
            </a:prstGeom>
            <a:solidFill>
              <a:srgbClr val="434343"/>
            </a:solidFill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A</a:t>
              </a:r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1648AAA8-446A-4184-ACA1-205269D1C194}"/>
                </a:ext>
              </a:extLst>
            </p:cNvPr>
            <p:cNvCxnSpPr>
              <a:stCxn id="18" idx="6"/>
              <a:endCxn id="14" idx="2"/>
            </p:cNvCxnSpPr>
            <p:nvPr/>
          </p:nvCxnSpPr>
          <p:spPr>
            <a:xfrm flipV="1">
              <a:off x="3147185" y="2860861"/>
              <a:ext cx="657105" cy="1008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5E912038-16DC-4500-8630-66DF6778E7A0}"/>
                </a:ext>
              </a:extLst>
            </p:cNvPr>
            <p:cNvCxnSpPr>
              <a:stCxn id="18" idx="4"/>
              <a:endCxn id="16" idx="1"/>
            </p:cNvCxnSpPr>
            <p:nvPr/>
          </p:nvCxnSpPr>
          <p:spPr>
            <a:xfrm>
              <a:off x="2929885" y="3072604"/>
              <a:ext cx="280946" cy="54317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C41DD7D2-4F44-4133-B246-082486717DB8}"/>
              </a:ext>
            </a:extLst>
          </p:cNvPr>
          <p:cNvGrpSpPr/>
          <p:nvPr/>
        </p:nvGrpSpPr>
        <p:grpSpPr>
          <a:xfrm>
            <a:off x="4690854" y="5201293"/>
            <a:ext cx="961001" cy="1222979"/>
            <a:chOff x="3518140" y="3900970"/>
            <a:chExt cx="720751" cy="917234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AFF98D5C-6B8F-47B7-B83D-452997037304}"/>
                </a:ext>
              </a:extLst>
            </p:cNvPr>
            <p:cNvSpPr/>
            <p:nvPr/>
          </p:nvSpPr>
          <p:spPr>
            <a:xfrm>
              <a:off x="3804290" y="4414885"/>
              <a:ext cx="434601" cy="403319"/>
            </a:xfrm>
            <a:prstGeom prst="ellipse">
              <a:avLst/>
            </a:prstGeom>
            <a:solidFill>
              <a:srgbClr val="434343"/>
            </a:solidFill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F</a:t>
              </a:r>
            </a:p>
          </p:txBody>
        </p: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01F8DE83-E00F-450A-BC23-86B7F05214D0}"/>
                </a:ext>
              </a:extLst>
            </p:cNvPr>
            <p:cNvCxnSpPr>
              <a:stCxn id="17" idx="1"/>
              <a:endCxn id="16" idx="5"/>
            </p:cNvCxnSpPr>
            <p:nvPr/>
          </p:nvCxnSpPr>
          <p:spPr>
            <a:xfrm flipH="1" flipV="1">
              <a:off x="3518140" y="3900970"/>
              <a:ext cx="349796" cy="57298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BFB9AF36-54EE-44C1-9BDB-46F84ADD68FC}"/>
              </a:ext>
            </a:extLst>
          </p:cNvPr>
          <p:cNvGrpSpPr/>
          <p:nvPr/>
        </p:nvGrpSpPr>
        <p:grpSpPr>
          <a:xfrm>
            <a:off x="5651855" y="4083360"/>
            <a:ext cx="2023924" cy="2340912"/>
            <a:chOff x="4238891" y="3062520"/>
            <a:chExt cx="1517943" cy="1755684"/>
          </a:xfrm>
        </p:grpSpPr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6D089515-184D-4657-89EE-661B6437A78B}"/>
                </a:ext>
              </a:extLst>
            </p:cNvPr>
            <p:cNvCxnSpPr>
              <a:stCxn id="9" idx="7"/>
              <a:endCxn id="7" idx="3"/>
            </p:cNvCxnSpPr>
            <p:nvPr/>
          </p:nvCxnSpPr>
          <p:spPr>
            <a:xfrm flipV="1">
              <a:off x="5354102" y="3900971"/>
              <a:ext cx="402732" cy="57297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A148E74A-A45B-42EB-A804-B4C12340237E}"/>
                </a:ext>
              </a:extLst>
            </p:cNvPr>
            <p:cNvGrpSpPr/>
            <p:nvPr/>
          </p:nvGrpSpPr>
          <p:grpSpPr>
            <a:xfrm>
              <a:off x="4238891" y="3062520"/>
              <a:ext cx="1178857" cy="1755684"/>
              <a:chOff x="4238891" y="3062520"/>
              <a:chExt cx="1178857" cy="1755684"/>
            </a:xfrm>
          </p:grpSpPr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916BED35-4399-459D-9EC3-656B5CD910CB}"/>
                  </a:ext>
                </a:extLst>
              </p:cNvPr>
              <p:cNvSpPr/>
              <p:nvPr/>
            </p:nvSpPr>
            <p:spPr>
              <a:xfrm>
                <a:off x="4983147" y="4414885"/>
                <a:ext cx="434601" cy="403319"/>
              </a:xfrm>
              <a:prstGeom prst="ellipse">
                <a:avLst/>
              </a:prstGeom>
              <a:solidFill>
                <a:srgbClr val="434343"/>
              </a:solidFill>
              <a:ln w="381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400" dirty="0"/>
                  <a:t>G</a:t>
                </a:r>
              </a:p>
            </p:txBody>
          </p:sp>
          <p:cxnSp>
            <p:nvCxnSpPr>
              <p:cNvPr id="37" name="Straight Arrow Connector 36">
                <a:extLst>
                  <a:ext uri="{FF2B5EF4-FFF2-40B4-BE49-F238E27FC236}">
                    <a16:creationId xmlns:a16="http://schemas.microsoft.com/office/drawing/2014/main" id="{A96AB576-9EC9-4049-A8B7-C215267BEB36}"/>
                  </a:ext>
                </a:extLst>
              </p:cNvPr>
              <p:cNvCxnSpPr>
                <a:stCxn id="17" idx="6"/>
                <a:endCxn id="9" idx="2"/>
              </p:cNvCxnSpPr>
              <p:nvPr/>
            </p:nvCxnSpPr>
            <p:spPr>
              <a:xfrm>
                <a:off x="4238891" y="4616545"/>
                <a:ext cx="744256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Arrow Connector 40">
                <a:extLst>
                  <a:ext uri="{FF2B5EF4-FFF2-40B4-BE49-F238E27FC236}">
                    <a16:creationId xmlns:a16="http://schemas.microsoft.com/office/drawing/2014/main" id="{CA5DFB04-C950-43C0-BAB1-384F87D801F5}"/>
                  </a:ext>
                </a:extLst>
              </p:cNvPr>
              <p:cNvCxnSpPr>
                <a:stCxn id="8" idx="5"/>
                <a:endCxn id="9" idx="1"/>
              </p:cNvCxnSpPr>
              <p:nvPr/>
            </p:nvCxnSpPr>
            <p:spPr>
              <a:xfrm>
                <a:off x="4791142" y="3900970"/>
                <a:ext cx="255651" cy="57298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Arrow Connector 42">
                <a:extLst>
                  <a:ext uri="{FF2B5EF4-FFF2-40B4-BE49-F238E27FC236}">
                    <a16:creationId xmlns:a16="http://schemas.microsoft.com/office/drawing/2014/main" id="{85A90982-E603-4267-B322-C869F8E7AFA6}"/>
                  </a:ext>
                </a:extLst>
              </p:cNvPr>
              <p:cNvCxnSpPr>
                <a:stCxn id="15" idx="4"/>
                <a:endCxn id="9" idx="0"/>
              </p:cNvCxnSpPr>
              <p:nvPr/>
            </p:nvCxnSpPr>
            <p:spPr>
              <a:xfrm flipH="1">
                <a:off x="5200448" y="3062520"/>
                <a:ext cx="1" cy="135236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4218D727-F9EC-49E2-8BFB-585EAF729EE2}"/>
              </a:ext>
            </a:extLst>
          </p:cNvPr>
          <p:cNvGrpSpPr/>
          <p:nvPr/>
        </p:nvGrpSpPr>
        <p:grpSpPr>
          <a:xfrm>
            <a:off x="5893582" y="4742288"/>
            <a:ext cx="2276804" cy="537760"/>
            <a:chOff x="4420186" y="3556716"/>
            <a:chExt cx="1707603" cy="403320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1A1E3508-52C1-4434-92AB-2EAAAD3D9289}"/>
                </a:ext>
              </a:extLst>
            </p:cNvPr>
            <p:cNvSpPr/>
            <p:nvPr/>
          </p:nvSpPr>
          <p:spPr>
            <a:xfrm>
              <a:off x="5693188" y="3556716"/>
              <a:ext cx="434601" cy="403320"/>
            </a:xfrm>
            <a:prstGeom prst="ellipse">
              <a:avLst/>
            </a:prstGeom>
            <a:solidFill>
              <a:srgbClr val="434343"/>
            </a:solidFill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Y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B271D1D0-EAB0-42B9-9462-FB90040DD52E}"/>
                </a:ext>
              </a:extLst>
            </p:cNvPr>
            <p:cNvSpPr/>
            <p:nvPr/>
          </p:nvSpPr>
          <p:spPr>
            <a:xfrm>
              <a:off x="4420186" y="3556716"/>
              <a:ext cx="434602" cy="403319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 w="38100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X</a:t>
              </a:r>
            </a:p>
          </p:txBody>
        </p: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FB529943-B243-454F-842A-82054AE45BEA}"/>
                </a:ext>
              </a:extLst>
            </p:cNvPr>
            <p:cNvCxnSpPr>
              <a:stCxn id="8" idx="6"/>
              <a:endCxn id="7" idx="2"/>
            </p:cNvCxnSpPr>
            <p:nvPr/>
          </p:nvCxnSpPr>
          <p:spPr>
            <a:xfrm>
              <a:off x="4854788" y="3758376"/>
              <a:ext cx="83840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8" name="Google Shape;75;p15">
            <a:extLst>
              <a:ext uri="{FF2B5EF4-FFF2-40B4-BE49-F238E27FC236}">
                <a16:creationId xmlns:a16="http://schemas.microsoft.com/office/drawing/2014/main" id="{A02B5B09-5B79-4DAD-BE48-C0E974D9F164}"/>
              </a:ext>
            </a:extLst>
          </p:cNvPr>
          <p:cNvSpPr/>
          <p:nvPr/>
        </p:nvSpPr>
        <p:spPr>
          <a:xfrm>
            <a:off x="4347584" y="840241"/>
            <a:ext cx="3496833" cy="140300"/>
          </a:xfrm>
          <a:custGeom>
            <a:avLst/>
            <a:gdLst/>
            <a:ahLst/>
            <a:cxnLst/>
            <a:rect l="l" t="t" r="r" b="b"/>
            <a:pathLst>
              <a:path w="104905" h="4209" extrusionOk="0">
                <a:moveTo>
                  <a:pt x="0" y="2010"/>
                </a:moveTo>
                <a:cubicBezTo>
                  <a:pt x="34411" y="-4246"/>
                  <a:pt x="71725" y="11060"/>
                  <a:pt x="104905" y="0"/>
                </a:cubicBezTo>
              </a:path>
            </a:pathLst>
          </a:custGeom>
          <a:noFill/>
          <a:ln w="19050" cap="flat" cmpd="sng">
            <a:solidFill>
              <a:srgbClr val="4C113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grpSp>
        <p:nvGrpSpPr>
          <p:cNvPr id="97" name="Group 96">
            <a:extLst>
              <a:ext uri="{FF2B5EF4-FFF2-40B4-BE49-F238E27FC236}">
                <a16:creationId xmlns:a16="http://schemas.microsoft.com/office/drawing/2014/main" id="{9D880F60-5D6F-46A8-9C05-03D7BD2995A1}"/>
              </a:ext>
            </a:extLst>
          </p:cNvPr>
          <p:cNvGrpSpPr/>
          <p:nvPr/>
        </p:nvGrpSpPr>
        <p:grpSpPr>
          <a:xfrm>
            <a:off x="8170386" y="4742289"/>
            <a:ext cx="1679389" cy="537759"/>
            <a:chOff x="6127789" y="3556716"/>
            <a:chExt cx="1259542" cy="403319"/>
          </a:xfrm>
        </p:grpSpPr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79F9B2E6-61DC-44BE-8E0A-6BF55114103F}"/>
                </a:ext>
              </a:extLst>
            </p:cNvPr>
            <p:cNvSpPr/>
            <p:nvPr/>
          </p:nvSpPr>
          <p:spPr>
            <a:xfrm>
              <a:off x="6952730" y="3556716"/>
              <a:ext cx="434601" cy="403319"/>
            </a:xfrm>
            <a:prstGeom prst="ellipse">
              <a:avLst/>
            </a:prstGeom>
            <a:solidFill>
              <a:srgbClr val="434343"/>
            </a:solidFill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J</a:t>
              </a:r>
            </a:p>
          </p:txBody>
        </p:sp>
        <p:cxnSp>
          <p:nvCxnSpPr>
            <p:cNvPr id="67" name="Straight Arrow Connector 66">
              <a:extLst>
                <a:ext uri="{FF2B5EF4-FFF2-40B4-BE49-F238E27FC236}">
                  <a16:creationId xmlns:a16="http://schemas.microsoft.com/office/drawing/2014/main" id="{8541A95B-72BE-4D9E-A723-64C94A93A6BE}"/>
                </a:ext>
              </a:extLst>
            </p:cNvPr>
            <p:cNvCxnSpPr>
              <a:cxnSpLocks/>
              <a:stCxn id="7" idx="6"/>
              <a:endCxn id="59" idx="2"/>
            </p:cNvCxnSpPr>
            <p:nvPr/>
          </p:nvCxnSpPr>
          <p:spPr>
            <a:xfrm>
              <a:off x="6127789" y="3758376"/>
              <a:ext cx="824941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5426D79D-626A-4A1E-A92A-F6BEAA2CA97B}"/>
              </a:ext>
            </a:extLst>
          </p:cNvPr>
          <p:cNvGrpSpPr/>
          <p:nvPr/>
        </p:nvGrpSpPr>
        <p:grpSpPr>
          <a:xfrm>
            <a:off x="7223666" y="3559047"/>
            <a:ext cx="1744561" cy="1261995"/>
            <a:chOff x="5417749" y="2669285"/>
            <a:chExt cx="1308421" cy="946496"/>
          </a:xfrm>
        </p:grpSpPr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3C8ABD49-3FCA-487A-BA3F-A055EB39AABB}"/>
                </a:ext>
              </a:extLst>
            </p:cNvPr>
            <p:cNvSpPr/>
            <p:nvPr/>
          </p:nvSpPr>
          <p:spPr>
            <a:xfrm>
              <a:off x="6291569" y="2669285"/>
              <a:ext cx="434601" cy="403319"/>
            </a:xfrm>
            <a:prstGeom prst="ellipse">
              <a:avLst/>
            </a:prstGeom>
            <a:solidFill>
              <a:srgbClr val="434343"/>
            </a:solidFill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I</a:t>
              </a:r>
            </a:p>
          </p:txBody>
        </p:sp>
        <p:cxnSp>
          <p:nvCxnSpPr>
            <p:cNvPr id="70" name="Straight Arrow Connector 69">
              <a:extLst>
                <a:ext uri="{FF2B5EF4-FFF2-40B4-BE49-F238E27FC236}">
                  <a16:creationId xmlns:a16="http://schemas.microsoft.com/office/drawing/2014/main" id="{A6A46A88-0C5F-4EAF-BFC8-280A0E8E6233}"/>
                </a:ext>
              </a:extLst>
            </p:cNvPr>
            <p:cNvCxnSpPr>
              <a:stCxn id="58" idx="3"/>
              <a:endCxn id="7" idx="7"/>
            </p:cNvCxnSpPr>
            <p:nvPr/>
          </p:nvCxnSpPr>
          <p:spPr>
            <a:xfrm flipH="1">
              <a:off x="6064143" y="3013539"/>
              <a:ext cx="291072" cy="60224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Arrow Connector 71">
              <a:extLst>
                <a:ext uri="{FF2B5EF4-FFF2-40B4-BE49-F238E27FC236}">
                  <a16:creationId xmlns:a16="http://schemas.microsoft.com/office/drawing/2014/main" id="{9E33A4A0-66E4-4E30-8EF9-A4AA0C0DD201}"/>
                </a:ext>
              </a:extLst>
            </p:cNvPr>
            <p:cNvCxnSpPr>
              <a:stCxn id="15" idx="6"/>
              <a:endCxn id="58" idx="2"/>
            </p:cNvCxnSpPr>
            <p:nvPr/>
          </p:nvCxnSpPr>
          <p:spPr>
            <a:xfrm>
              <a:off x="5417749" y="2860861"/>
              <a:ext cx="873820" cy="1008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6B76D806-A696-4750-99FC-D08DCE0AD7F3}"/>
              </a:ext>
            </a:extLst>
          </p:cNvPr>
          <p:cNvGrpSpPr/>
          <p:nvPr/>
        </p:nvGrpSpPr>
        <p:grpSpPr>
          <a:xfrm>
            <a:off x="7138804" y="2238061"/>
            <a:ext cx="1334816" cy="1399740"/>
            <a:chOff x="5354103" y="1678545"/>
            <a:chExt cx="1001112" cy="1049805"/>
          </a:xfrm>
        </p:grpSpPr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F681A789-C40E-4AED-9570-C5DA394A7D27}"/>
                </a:ext>
              </a:extLst>
            </p:cNvPr>
            <p:cNvSpPr/>
            <p:nvPr/>
          </p:nvSpPr>
          <p:spPr>
            <a:xfrm>
              <a:off x="5651619" y="1678545"/>
              <a:ext cx="434601" cy="403319"/>
            </a:xfrm>
            <a:prstGeom prst="ellipse">
              <a:avLst/>
            </a:prstGeom>
            <a:solidFill>
              <a:srgbClr val="434343"/>
            </a:solidFill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H</a:t>
              </a:r>
            </a:p>
          </p:txBody>
        </p:sp>
        <p:cxnSp>
          <p:nvCxnSpPr>
            <p:cNvPr id="74" name="Straight Arrow Connector 73">
              <a:extLst>
                <a:ext uri="{FF2B5EF4-FFF2-40B4-BE49-F238E27FC236}">
                  <a16:creationId xmlns:a16="http://schemas.microsoft.com/office/drawing/2014/main" id="{111112F6-4A32-422D-B453-82D934532352}"/>
                </a:ext>
              </a:extLst>
            </p:cNvPr>
            <p:cNvCxnSpPr>
              <a:stCxn id="63" idx="3"/>
              <a:endCxn id="15" idx="7"/>
            </p:cNvCxnSpPr>
            <p:nvPr/>
          </p:nvCxnSpPr>
          <p:spPr>
            <a:xfrm flipH="1">
              <a:off x="5354103" y="2022799"/>
              <a:ext cx="361162" cy="69546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Arrow Connector 75">
              <a:extLst>
                <a:ext uri="{FF2B5EF4-FFF2-40B4-BE49-F238E27FC236}">
                  <a16:creationId xmlns:a16="http://schemas.microsoft.com/office/drawing/2014/main" id="{2DB197B2-9E66-43F6-A9B9-80265E13F494}"/>
                </a:ext>
              </a:extLst>
            </p:cNvPr>
            <p:cNvCxnSpPr>
              <a:stCxn id="63" idx="5"/>
              <a:endCxn id="58" idx="1"/>
            </p:cNvCxnSpPr>
            <p:nvPr/>
          </p:nvCxnSpPr>
          <p:spPr>
            <a:xfrm>
              <a:off x="6022574" y="2022799"/>
              <a:ext cx="332641" cy="70555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D5479482-EA68-4D57-AAEA-8F6AC8FD5126}"/>
              </a:ext>
            </a:extLst>
          </p:cNvPr>
          <p:cNvGrpSpPr/>
          <p:nvPr/>
        </p:nvGrpSpPr>
        <p:grpSpPr>
          <a:xfrm>
            <a:off x="9177401" y="2238061"/>
            <a:ext cx="975608" cy="1399740"/>
            <a:chOff x="6883051" y="1678545"/>
            <a:chExt cx="731706" cy="1049805"/>
          </a:xfrm>
        </p:grpSpPr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30E7B9F5-9E36-429B-AC2F-2C6D9C710E7A}"/>
                </a:ext>
              </a:extLst>
            </p:cNvPr>
            <p:cNvSpPr/>
            <p:nvPr/>
          </p:nvSpPr>
          <p:spPr>
            <a:xfrm>
              <a:off x="6883051" y="1678545"/>
              <a:ext cx="434601" cy="403319"/>
            </a:xfrm>
            <a:prstGeom prst="ellipse">
              <a:avLst/>
            </a:prstGeom>
            <a:solidFill>
              <a:srgbClr val="434343"/>
            </a:solidFill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O</a:t>
              </a:r>
            </a:p>
          </p:txBody>
        </p:sp>
        <p:cxnSp>
          <p:nvCxnSpPr>
            <p:cNvPr id="78" name="Straight Arrow Connector 77">
              <a:extLst>
                <a:ext uri="{FF2B5EF4-FFF2-40B4-BE49-F238E27FC236}">
                  <a16:creationId xmlns:a16="http://schemas.microsoft.com/office/drawing/2014/main" id="{04F2EB2E-C3B8-46C1-9DE1-43D1232E88F5}"/>
                </a:ext>
              </a:extLst>
            </p:cNvPr>
            <p:cNvCxnSpPr>
              <a:stCxn id="62" idx="5"/>
              <a:endCxn id="61" idx="1"/>
            </p:cNvCxnSpPr>
            <p:nvPr/>
          </p:nvCxnSpPr>
          <p:spPr>
            <a:xfrm>
              <a:off x="7254006" y="2022799"/>
              <a:ext cx="360751" cy="70555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F13C0DEB-D292-4392-85B6-750320A37FF9}"/>
              </a:ext>
            </a:extLst>
          </p:cNvPr>
          <p:cNvGrpSpPr/>
          <p:nvPr/>
        </p:nvGrpSpPr>
        <p:grpSpPr>
          <a:xfrm>
            <a:off x="9764914" y="3559047"/>
            <a:ext cx="882703" cy="1261995"/>
            <a:chOff x="7323685" y="2669285"/>
            <a:chExt cx="662027" cy="946496"/>
          </a:xfrm>
        </p:grpSpPr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FA6ADA82-843B-408E-9C4D-4FE4C3DB3A15}"/>
                </a:ext>
              </a:extLst>
            </p:cNvPr>
            <p:cNvSpPr/>
            <p:nvPr/>
          </p:nvSpPr>
          <p:spPr>
            <a:xfrm>
              <a:off x="7551111" y="2669285"/>
              <a:ext cx="434601" cy="403319"/>
            </a:xfrm>
            <a:prstGeom prst="ellipse">
              <a:avLst/>
            </a:prstGeom>
            <a:solidFill>
              <a:srgbClr val="434343"/>
            </a:solidFill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N</a:t>
              </a:r>
            </a:p>
          </p:txBody>
        </p:sp>
        <p:cxnSp>
          <p:nvCxnSpPr>
            <p:cNvPr id="80" name="Straight Arrow Connector 79">
              <a:extLst>
                <a:ext uri="{FF2B5EF4-FFF2-40B4-BE49-F238E27FC236}">
                  <a16:creationId xmlns:a16="http://schemas.microsoft.com/office/drawing/2014/main" id="{AA406B0D-6CC1-4B44-8D8B-B43D87B7EB2D}"/>
                </a:ext>
              </a:extLst>
            </p:cNvPr>
            <p:cNvCxnSpPr>
              <a:stCxn id="61" idx="3"/>
              <a:endCxn id="59" idx="7"/>
            </p:cNvCxnSpPr>
            <p:nvPr/>
          </p:nvCxnSpPr>
          <p:spPr>
            <a:xfrm flipH="1">
              <a:off x="7323685" y="3013539"/>
              <a:ext cx="291072" cy="60224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7CAB2AD3-A5F5-422D-BCD6-2885032BD90E}"/>
              </a:ext>
            </a:extLst>
          </p:cNvPr>
          <p:cNvGrpSpPr/>
          <p:nvPr/>
        </p:nvGrpSpPr>
        <p:grpSpPr>
          <a:xfrm>
            <a:off x="7223664" y="5201294"/>
            <a:ext cx="2131504" cy="1222977"/>
            <a:chOff x="5417748" y="3900970"/>
            <a:chExt cx="1598628" cy="917233"/>
          </a:xfrm>
        </p:grpSpPr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78BB542F-0179-446C-A3B2-8446AC8B623F}"/>
                </a:ext>
              </a:extLst>
            </p:cNvPr>
            <p:cNvSpPr/>
            <p:nvPr/>
          </p:nvSpPr>
          <p:spPr>
            <a:xfrm>
              <a:off x="6291570" y="4414884"/>
              <a:ext cx="434601" cy="403319"/>
            </a:xfrm>
            <a:prstGeom prst="ellipse">
              <a:avLst/>
            </a:prstGeom>
            <a:solidFill>
              <a:srgbClr val="434343"/>
            </a:solidFill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K</a:t>
              </a:r>
            </a:p>
          </p:txBody>
        </p:sp>
        <p:cxnSp>
          <p:nvCxnSpPr>
            <p:cNvPr id="82" name="Straight Arrow Connector 81">
              <a:extLst>
                <a:ext uri="{FF2B5EF4-FFF2-40B4-BE49-F238E27FC236}">
                  <a16:creationId xmlns:a16="http://schemas.microsoft.com/office/drawing/2014/main" id="{8EBB6FC5-2B1B-4C92-A1D0-9F51571E9739}"/>
                </a:ext>
              </a:extLst>
            </p:cNvPr>
            <p:cNvCxnSpPr>
              <a:cxnSpLocks/>
              <a:stCxn id="60" idx="2"/>
              <a:endCxn id="9" idx="6"/>
            </p:cNvCxnSpPr>
            <p:nvPr/>
          </p:nvCxnSpPr>
          <p:spPr>
            <a:xfrm flipH="1">
              <a:off x="5417748" y="4616544"/>
              <a:ext cx="873822" cy="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Arrow Connector 84">
              <a:extLst>
                <a:ext uri="{FF2B5EF4-FFF2-40B4-BE49-F238E27FC236}">
                  <a16:creationId xmlns:a16="http://schemas.microsoft.com/office/drawing/2014/main" id="{F69B3F2A-B3AD-4C2D-87B8-53F05F0B9CB4}"/>
                </a:ext>
              </a:extLst>
            </p:cNvPr>
            <p:cNvCxnSpPr>
              <a:stCxn id="60" idx="7"/>
              <a:endCxn id="59" idx="3"/>
            </p:cNvCxnSpPr>
            <p:nvPr/>
          </p:nvCxnSpPr>
          <p:spPr>
            <a:xfrm flipV="1">
              <a:off x="6662525" y="3900970"/>
              <a:ext cx="353851" cy="57297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5F751058-FCF6-4379-98DA-A293C1E22258}"/>
              </a:ext>
            </a:extLst>
          </p:cNvPr>
          <p:cNvGrpSpPr/>
          <p:nvPr/>
        </p:nvGrpSpPr>
        <p:grpSpPr>
          <a:xfrm>
            <a:off x="9764914" y="5201294"/>
            <a:ext cx="947879" cy="1222977"/>
            <a:chOff x="7323685" y="3900970"/>
            <a:chExt cx="710909" cy="917233"/>
          </a:xfrm>
        </p:grpSpPr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A4E61B20-D10A-42C0-8755-155F12CFFEEA}"/>
                </a:ext>
              </a:extLst>
            </p:cNvPr>
            <p:cNvSpPr/>
            <p:nvPr/>
          </p:nvSpPr>
          <p:spPr>
            <a:xfrm>
              <a:off x="7599993" y="4414884"/>
              <a:ext cx="434601" cy="403319"/>
            </a:xfrm>
            <a:prstGeom prst="ellipse">
              <a:avLst/>
            </a:prstGeom>
            <a:solidFill>
              <a:srgbClr val="434343"/>
            </a:solidFill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L</a:t>
              </a:r>
            </a:p>
          </p:txBody>
        </p:sp>
        <p:cxnSp>
          <p:nvCxnSpPr>
            <p:cNvPr id="87" name="Straight Arrow Connector 86">
              <a:extLst>
                <a:ext uri="{FF2B5EF4-FFF2-40B4-BE49-F238E27FC236}">
                  <a16:creationId xmlns:a16="http://schemas.microsoft.com/office/drawing/2014/main" id="{19713FC0-8623-4D5E-9E3E-4CA02F137148}"/>
                </a:ext>
              </a:extLst>
            </p:cNvPr>
            <p:cNvCxnSpPr>
              <a:stCxn id="65" idx="1"/>
              <a:endCxn id="59" idx="5"/>
            </p:cNvCxnSpPr>
            <p:nvPr/>
          </p:nvCxnSpPr>
          <p:spPr>
            <a:xfrm flipH="1" flipV="1">
              <a:off x="7323685" y="3900970"/>
              <a:ext cx="339954" cy="57297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C56C573C-41A6-4EC4-A664-13B109796930}"/>
              </a:ext>
            </a:extLst>
          </p:cNvPr>
          <p:cNvGrpSpPr/>
          <p:nvPr/>
        </p:nvGrpSpPr>
        <p:grpSpPr>
          <a:xfrm>
            <a:off x="10562755" y="4018053"/>
            <a:ext cx="1035120" cy="1183241"/>
            <a:chOff x="7922066" y="3013539"/>
            <a:chExt cx="776340" cy="887431"/>
          </a:xfrm>
        </p:grpSpPr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35A2EE0A-98CC-436F-9AC7-B0669D8CF657}"/>
                </a:ext>
              </a:extLst>
            </p:cNvPr>
            <p:cNvSpPr/>
            <p:nvPr/>
          </p:nvSpPr>
          <p:spPr>
            <a:xfrm>
              <a:off x="8263805" y="3497651"/>
              <a:ext cx="434601" cy="403319"/>
            </a:xfrm>
            <a:prstGeom prst="ellipse">
              <a:avLst/>
            </a:prstGeom>
            <a:solidFill>
              <a:srgbClr val="434343"/>
            </a:solidFill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/>
                <a:t>M</a:t>
              </a:r>
            </a:p>
          </p:txBody>
        </p:sp>
        <p:cxnSp>
          <p:nvCxnSpPr>
            <p:cNvPr id="89" name="Straight Arrow Connector 88">
              <a:extLst>
                <a:ext uri="{FF2B5EF4-FFF2-40B4-BE49-F238E27FC236}">
                  <a16:creationId xmlns:a16="http://schemas.microsoft.com/office/drawing/2014/main" id="{F12BA5EC-1A9C-49FF-AC02-E8129EB675B0}"/>
                </a:ext>
              </a:extLst>
            </p:cNvPr>
            <p:cNvCxnSpPr>
              <a:stCxn id="64" idx="1"/>
              <a:endCxn id="61" idx="5"/>
            </p:cNvCxnSpPr>
            <p:nvPr/>
          </p:nvCxnSpPr>
          <p:spPr>
            <a:xfrm flipH="1" flipV="1">
              <a:off x="7922066" y="3013539"/>
              <a:ext cx="405385" cy="54317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9CD7545F-3F27-49B0-B73A-ADEC56FF561E}"/>
                  </a:ext>
                </a:extLst>
              </p:cNvPr>
              <p:cNvSpPr txBox="1"/>
              <p:nvPr/>
            </p:nvSpPr>
            <p:spPr>
              <a:xfrm>
                <a:off x="5566993" y="704227"/>
                <a:ext cx="5287219" cy="152894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endParaRPr lang="en-GB" sz="1867" dirty="0">
                  <a:solidFill>
                    <a:srgbClr val="434343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1867" i="1">
                              <a:solidFill>
                                <a:srgbClr val="43434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867" i="1">
                              <a:solidFill>
                                <a:srgbClr val="434343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GB" sz="1867" i="1">
                          <a:solidFill>
                            <a:srgbClr val="434343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1867" i="1">
                          <a:solidFill>
                            <a:srgbClr val="434343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GB" sz="1867" i="1">
                          <a:solidFill>
                            <a:srgbClr val="434343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sz="1867" i="1">
                          <a:solidFill>
                            <a:srgbClr val="434343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en-GB" sz="1867" i="1" dirty="0">
                  <a:solidFill>
                    <a:srgbClr val="434343"/>
                  </a:solidFill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1867" i="1">
                              <a:solidFill>
                                <a:srgbClr val="43434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867" i="1">
                              <a:solidFill>
                                <a:srgbClr val="434343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GB" sz="1867" i="1">
                          <a:solidFill>
                            <a:srgbClr val="434343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1867" i="1">
                          <a:solidFill>
                            <a:srgbClr val="434343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GB" sz="1867" i="1">
                          <a:solidFill>
                            <a:srgbClr val="434343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sz="1867" i="1">
                          <a:solidFill>
                            <a:srgbClr val="434343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GB" sz="1867" i="1">
                          <a:solidFill>
                            <a:srgbClr val="434343"/>
                          </a:solidFill>
                          <a:latin typeface="Cambria Math" panose="02040503050406030204" pitchFamily="18" charset="0"/>
                        </a:rPr>
                        <m:t>←</m:t>
                      </m:r>
                      <m:r>
                        <a:rPr lang="en-GB" sz="1867" i="1">
                          <a:solidFill>
                            <a:srgbClr val="434343"/>
                          </a:solidFill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GB" sz="1867" i="1">
                          <a:solidFill>
                            <a:srgbClr val="434343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sz="1867" i="1">
                          <a:solidFill>
                            <a:srgbClr val="434343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GB" sz="1867" i="1">
                          <a:solidFill>
                            <a:srgbClr val="434343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sz="1867" i="1">
                          <a:solidFill>
                            <a:srgbClr val="434343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en-GB" sz="1867" dirty="0">
                  <a:solidFill>
                    <a:srgbClr val="434343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1867" i="1">
                              <a:solidFill>
                                <a:srgbClr val="43434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867" i="1">
                              <a:solidFill>
                                <a:srgbClr val="434343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n-GB" sz="1867" i="1">
                          <a:solidFill>
                            <a:srgbClr val="434343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1867" i="1">
                          <a:solidFill>
                            <a:srgbClr val="434343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GB" sz="1867" i="1">
                          <a:solidFill>
                            <a:srgbClr val="434343"/>
                          </a:solidFill>
                          <a:latin typeface="Cambria Math" panose="02040503050406030204" pitchFamily="18" charset="0"/>
                        </a:rPr>
                        <m:t>←</m:t>
                      </m:r>
                      <m:r>
                        <a:rPr lang="en-GB" sz="1867" i="1">
                          <a:solidFill>
                            <a:srgbClr val="434343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GB" sz="1867" i="1">
                          <a:solidFill>
                            <a:srgbClr val="434343"/>
                          </a:solidFill>
                          <a:latin typeface="Cambria Math" panose="02040503050406030204" pitchFamily="18" charset="0"/>
                        </a:rPr>
                        <m:t>←</m:t>
                      </m:r>
                      <m:r>
                        <a:rPr lang="en-GB" sz="1867" i="1">
                          <a:solidFill>
                            <a:srgbClr val="434343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GB" sz="1867" i="1">
                          <a:solidFill>
                            <a:srgbClr val="434343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sz="1867" i="1">
                          <a:solidFill>
                            <a:srgbClr val="434343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GB" sz="1867" i="1">
                          <a:solidFill>
                            <a:srgbClr val="434343"/>
                          </a:solidFill>
                          <a:latin typeface="Cambria Math" panose="02040503050406030204" pitchFamily="18" charset="0"/>
                        </a:rPr>
                        <m:t>←</m:t>
                      </m:r>
                      <m:r>
                        <a:rPr lang="en-GB" sz="1867" i="1">
                          <a:solidFill>
                            <a:srgbClr val="434343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GB" sz="1867" i="1">
                          <a:solidFill>
                            <a:srgbClr val="434343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sz="1867" i="1">
                          <a:solidFill>
                            <a:srgbClr val="434343"/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GB" sz="1867" i="1">
                          <a:solidFill>
                            <a:srgbClr val="434343"/>
                          </a:solidFill>
                          <a:latin typeface="Cambria Math" panose="02040503050406030204" pitchFamily="18" charset="0"/>
                        </a:rPr>
                        <m:t>←</m:t>
                      </m:r>
                      <m:r>
                        <a:rPr lang="en-GB" sz="1867" i="1">
                          <a:solidFill>
                            <a:srgbClr val="434343"/>
                          </a:solidFill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GB" sz="1867" i="1">
                          <a:solidFill>
                            <a:srgbClr val="434343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sz="1867" i="1">
                          <a:solidFill>
                            <a:srgbClr val="434343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GB" sz="1867" i="1">
                          <a:solidFill>
                            <a:srgbClr val="434343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sz="1867" i="1">
                          <a:solidFill>
                            <a:srgbClr val="434343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en-GB" sz="1867" dirty="0">
                  <a:solidFill>
                    <a:srgbClr val="434343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1867" i="1">
                          <a:solidFill>
                            <a:srgbClr val="434343"/>
                          </a:solidFill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n-GB" sz="1867" dirty="0">
                  <a:solidFill>
                    <a:srgbClr val="434343"/>
                  </a:solidFill>
                </a:endParaRPr>
              </a:p>
            </p:txBody>
          </p:sp>
        </mc:Choice>
        <mc:Fallback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9CD7545F-3F27-49B0-B73A-ADEC56FF56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6993" y="704227"/>
                <a:ext cx="5287219" cy="152894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9">
            <a:extLst>
              <a:ext uri="{FF2B5EF4-FFF2-40B4-BE49-F238E27FC236}">
                <a16:creationId xmlns:a16="http://schemas.microsoft.com/office/drawing/2014/main" id="{3BBA0168-1CB1-42A2-9F72-23A496E47537}"/>
              </a:ext>
            </a:extLst>
          </p:cNvPr>
          <p:cNvGrpSpPr/>
          <p:nvPr/>
        </p:nvGrpSpPr>
        <p:grpSpPr>
          <a:xfrm>
            <a:off x="6736994" y="1349267"/>
            <a:ext cx="2250937" cy="544996"/>
            <a:chOff x="5052745" y="1011950"/>
            <a:chExt cx="1688203" cy="408747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0F67D8B0-95E4-471B-8129-AB150BE0CC8C}"/>
                </a:ext>
              </a:extLst>
            </p:cNvPr>
            <p:cNvSpPr/>
            <p:nvPr/>
          </p:nvSpPr>
          <p:spPr>
            <a:xfrm>
              <a:off x="5061092" y="1011950"/>
              <a:ext cx="221243" cy="201660"/>
            </a:xfrm>
            <a:prstGeom prst="ellipse">
              <a:avLst/>
            </a:prstGeom>
            <a:noFill/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400"/>
            </a:p>
          </p:txBody>
        </p:sp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44665608-6825-4EE6-AB17-A54FA10A7F68}"/>
                </a:ext>
              </a:extLst>
            </p:cNvPr>
            <p:cNvSpPr/>
            <p:nvPr/>
          </p:nvSpPr>
          <p:spPr>
            <a:xfrm>
              <a:off x="5052745" y="1217985"/>
              <a:ext cx="221243" cy="201660"/>
            </a:xfrm>
            <a:prstGeom prst="ellipse">
              <a:avLst/>
            </a:prstGeom>
            <a:noFill/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400"/>
            </a:p>
          </p:txBody>
        </p: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B5C27D95-391D-448F-BBFA-AEA1DB62E769}"/>
                </a:ext>
              </a:extLst>
            </p:cNvPr>
            <p:cNvSpPr/>
            <p:nvPr/>
          </p:nvSpPr>
          <p:spPr>
            <a:xfrm>
              <a:off x="5781485" y="1216224"/>
              <a:ext cx="221243" cy="201660"/>
            </a:xfrm>
            <a:prstGeom prst="ellipse">
              <a:avLst/>
            </a:prstGeom>
            <a:noFill/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400"/>
            </a:p>
          </p:txBody>
        </p:sp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375C5A29-59E1-40D4-B003-D95E104E006C}"/>
                </a:ext>
              </a:extLst>
            </p:cNvPr>
            <p:cNvSpPr/>
            <p:nvPr/>
          </p:nvSpPr>
          <p:spPr>
            <a:xfrm>
              <a:off x="6519705" y="1219037"/>
              <a:ext cx="221243" cy="201660"/>
            </a:xfrm>
            <a:prstGeom prst="ellipse">
              <a:avLst/>
            </a:prstGeom>
            <a:noFill/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400"/>
            </a:p>
          </p:txBody>
        </p:sp>
      </p:grpSp>
    </p:spTree>
    <p:extLst>
      <p:ext uri="{BB962C8B-B14F-4D97-AF65-F5344CB8AC3E}">
        <p14:creationId xmlns:p14="http://schemas.microsoft.com/office/powerpoint/2010/main" val="3342048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1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1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6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E55AF-D013-4C2D-9247-73DD7B73F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131"/>
            <a:ext cx="12192000" cy="1340136"/>
          </a:xfrm>
        </p:spPr>
        <p:txBody>
          <a:bodyPr/>
          <a:lstStyle/>
          <a:p>
            <a:pPr algn="ctr"/>
            <a:r>
              <a:rPr lang="en-GB" dirty="0"/>
              <a:t>Identify all paths of information flow</a:t>
            </a:r>
          </a:p>
        </p:txBody>
      </p:sp>
      <p:sp>
        <p:nvSpPr>
          <p:cNvPr id="48" name="Google Shape;75;p15">
            <a:extLst>
              <a:ext uri="{FF2B5EF4-FFF2-40B4-BE49-F238E27FC236}">
                <a16:creationId xmlns:a16="http://schemas.microsoft.com/office/drawing/2014/main" id="{A02B5B09-5B79-4DAD-BE48-C0E974D9F164}"/>
              </a:ext>
            </a:extLst>
          </p:cNvPr>
          <p:cNvSpPr/>
          <p:nvPr/>
        </p:nvSpPr>
        <p:spPr>
          <a:xfrm>
            <a:off x="4347584" y="840241"/>
            <a:ext cx="3496833" cy="140300"/>
          </a:xfrm>
          <a:custGeom>
            <a:avLst/>
            <a:gdLst/>
            <a:ahLst/>
            <a:cxnLst/>
            <a:rect l="l" t="t" r="r" b="b"/>
            <a:pathLst>
              <a:path w="104905" h="4209" extrusionOk="0">
                <a:moveTo>
                  <a:pt x="0" y="2010"/>
                </a:moveTo>
                <a:cubicBezTo>
                  <a:pt x="34411" y="-4246"/>
                  <a:pt x="71725" y="11060"/>
                  <a:pt x="104905" y="0"/>
                </a:cubicBezTo>
              </a:path>
            </a:pathLst>
          </a:custGeom>
          <a:noFill/>
          <a:ln w="19050" cap="flat" cmpd="sng">
            <a:solidFill>
              <a:srgbClr val="4C113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grpSp>
        <p:nvGrpSpPr>
          <p:cNvPr id="86" name="Group 85">
            <a:extLst>
              <a:ext uri="{FF2B5EF4-FFF2-40B4-BE49-F238E27FC236}">
                <a16:creationId xmlns:a16="http://schemas.microsoft.com/office/drawing/2014/main" id="{61D42120-A27D-492D-AC32-637A87A548BA}"/>
              </a:ext>
            </a:extLst>
          </p:cNvPr>
          <p:cNvGrpSpPr/>
          <p:nvPr/>
        </p:nvGrpSpPr>
        <p:grpSpPr>
          <a:xfrm>
            <a:off x="1700440" y="2030350"/>
            <a:ext cx="1281314" cy="2198677"/>
            <a:chOff x="1275329" y="1522762"/>
            <a:chExt cx="960985" cy="1649008"/>
          </a:xfrm>
        </p:grpSpPr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27CDB116-AF2F-4CC2-8256-637F0750D5B9}"/>
                </a:ext>
              </a:extLst>
            </p:cNvPr>
            <p:cNvCxnSpPr>
              <a:cxnSpLocks/>
              <a:stCxn id="47" idx="6"/>
              <a:endCxn id="43" idx="2"/>
            </p:cNvCxnSpPr>
            <p:nvPr/>
          </p:nvCxnSpPr>
          <p:spPr>
            <a:xfrm>
              <a:off x="1275329" y="3171770"/>
              <a:ext cx="838400" cy="0"/>
            </a:xfrm>
            <a:prstGeom prst="straightConnector1">
              <a:avLst/>
            </a:prstGeom>
            <a:ln w="57150">
              <a:solidFill>
                <a:schemeClr val="accent1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A6A91DBA-B61C-4ED4-8C41-61F4B92F66B2}"/>
                </a:ext>
              </a:extLst>
            </p:cNvPr>
            <p:cNvSpPr txBox="1"/>
            <p:nvPr/>
          </p:nvSpPr>
          <p:spPr>
            <a:xfrm>
              <a:off x="1487071" y="1522762"/>
              <a:ext cx="749243" cy="3462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400" dirty="0"/>
                <a:t>Path 1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FB3F66CC-E269-4BB0-BC95-80B79623999F}"/>
              </a:ext>
            </a:extLst>
          </p:cNvPr>
          <p:cNvGrpSpPr/>
          <p:nvPr/>
        </p:nvGrpSpPr>
        <p:grpSpPr>
          <a:xfrm>
            <a:off x="4599195" y="2030350"/>
            <a:ext cx="3074645" cy="3613180"/>
            <a:chOff x="3139611" y="1078141"/>
            <a:chExt cx="2305984" cy="2709885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16F164D6-B4C0-49AE-9C4F-65637968F68C}"/>
                </a:ext>
              </a:extLst>
            </p:cNvPr>
            <p:cNvGrpSpPr/>
            <p:nvPr/>
          </p:nvGrpSpPr>
          <p:grpSpPr>
            <a:xfrm>
              <a:off x="3139611" y="1629023"/>
              <a:ext cx="2305984" cy="2159003"/>
              <a:chOff x="617791" y="1492248"/>
              <a:chExt cx="2305984" cy="2159003"/>
            </a:xfrm>
          </p:grpSpPr>
          <p:cxnSp>
            <p:nvCxnSpPr>
              <p:cNvPr id="26" name="Straight Arrow Connector 25">
                <a:extLst>
                  <a:ext uri="{FF2B5EF4-FFF2-40B4-BE49-F238E27FC236}">
                    <a16:creationId xmlns:a16="http://schemas.microsoft.com/office/drawing/2014/main" id="{1E916BCF-396E-46E1-8174-F755386757CA}"/>
                  </a:ext>
                </a:extLst>
              </p:cNvPr>
              <p:cNvCxnSpPr>
                <a:cxnSpLocks/>
                <a:stCxn id="15" idx="6"/>
                <a:endCxn id="58" idx="2"/>
              </p:cNvCxnSpPr>
              <p:nvPr/>
            </p:nvCxnSpPr>
            <p:spPr>
              <a:xfrm>
                <a:off x="1615354" y="1693908"/>
                <a:ext cx="873820" cy="10084"/>
              </a:xfrm>
              <a:prstGeom prst="straightConnector1">
                <a:avLst/>
              </a:prstGeom>
              <a:ln w="57150">
                <a:solidFill>
                  <a:schemeClr val="accent1">
                    <a:lumMod val="60000"/>
                    <a:lumOff val="4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Arrow Connector 27">
                <a:extLst>
                  <a:ext uri="{FF2B5EF4-FFF2-40B4-BE49-F238E27FC236}">
                    <a16:creationId xmlns:a16="http://schemas.microsoft.com/office/drawing/2014/main" id="{068BDF3F-7D7C-411F-9F59-D6CA9F8DE2F7}"/>
                  </a:ext>
                </a:extLst>
              </p:cNvPr>
              <p:cNvCxnSpPr>
                <a:cxnSpLocks/>
                <a:stCxn id="58" idx="4"/>
                <a:endCxn id="7" idx="7"/>
              </p:cNvCxnSpPr>
              <p:nvPr/>
            </p:nvCxnSpPr>
            <p:spPr>
              <a:xfrm flipH="1">
                <a:off x="2261748" y="1905651"/>
                <a:ext cx="444727" cy="543177"/>
              </a:xfrm>
              <a:prstGeom prst="straightConnector1">
                <a:avLst/>
              </a:prstGeom>
              <a:ln w="57150">
                <a:solidFill>
                  <a:schemeClr val="accent1">
                    <a:lumMod val="60000"/>
                    <a:lumOff val="4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" name="Straight Arrow Connector 4">
                <a:extLst>
                  <a:ext uri="{FF2B5EF4-FFF2-40B4-BE49-F238E27FC236}">
                    <a16:creationId xmlns:a16="http://schemas.microsoft.com/office/drawing/2014/main" id="{F6CB8497-E5CA-46A3-82EC-94053E4259C2}"/>
                  </a:ext>
                </a:extLst>
              </p:cNvPr>
              <p:cNvCxnSpPr>
                <a:stCxn id="8" idx="0"/>
                <a:endCxn id="15" idx="3"/>
              </p:cNvCxnSpPr>
              <p:nvPr/>
            </p:nvCxnSpPr>
            <p:spPr>
              <a:xfrm flipV="1">
                <a:off x="835092" y="1836502"/>
                <a:ext cx="409307" cy="553261"/>
              </a:xfrm>
              <a:prstGeom prst="straightConnector1">
                <a:avLst/>
              </a:prstGeom>
              <a:ln w="57150">
                <a:solidFill>
                  <a:schemeClr val="accent1">
                    <a:lumMod val="60000"/>
                    <a:lumOff val="4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4" name="Group 43">
                <a:extLst>
                  <a:ext uri="{FF2B5EF4-FFF2-40B4-BE49-F238E27FC236}">
                    <a16:creationId xmlns:a16="http://schemas.microsoft.com/office/drawing/2014/main" id="{57F8FDA0-1D31-4579-93CE-5265A2AAD56E}"/>
                  </a:ext>
                </a:extLst>
              </p:cNvPr>
              <p:cNvGrpSpPr/>
              <p:nvPr/>
            </p:nvGrpSpPr>
            <p:grpSpPr>
              <a:xfrm>
                <a:off x="617791" y="1492248"/>
                <a:ext cx="2305984" cy="2159003"/>
                <a:chOff x="6612057" y="2033913"/>
                <a:chExt cx="2305984" cy="2159003"/>
              </a:xfrm>
            </p:grpSpPr>
            <p:grpSp>
              <p:nvGrpSpPr>
                <p:cNvPr id="3" name="Group 2">
                  <a:extLst>
                    <a:ext uri="{FF2B5EF4-FFF2-40B4-BE49-F238E27FC236}">
                      <a16:creationId xmlns:a16="http://schemas.microsoft.com/office/drawing/2014/main" id="{43A09443-7A64-4EAE-8E2C-36AD7E6DEB0F}"/>
                    </a:ext>
                  </a:extLst>
                </p:cNvPr>
                <p:cNvGrpSpPr/>
                <p:nvPr/>
              </p:nvGrpSpPr>
              <p:grpSpPr>
                <a:xfrm>
                  <a:off x="6612057" y="2033913"/>
                  <a:ext cx="2305984" cy="2159003"/>
                  <a:chOff x="4420186" y="2659201"/>
                  <a:chExt cx="2305984" cy="2159003"/>
                </a:xfrm>
              </p:grpSpPr>
              <p:grpSp>
                <p:nvGrpSpPr>
                  <p:cNvPr id="52" name="Group 51">
                    <a:extLst>
                      <a:ext uri="{FF2B5EF4-FFF2-40B4-BE49-F238E27FC236}">
                        <a16:creationId xmlns:a16="http://schemas.microsoft.com/office/drawing/2014/main" id="{CA87F539-B7A4-4B13-BBAC-5F534768D878}"/>
                      </a:ext>
                    </a:extLst>
                  </p:cNvPr>
                  <p:cNvGrpSpPr/>
                  <p:nvPr/>
                </p:nvGrpSpPr>
                <p:grpSpPr>
                  <a:xfrm>
                    <a:off x="4637487" y="2659201"/>
                    <a:ext cx="780262" cy="897515"/>
                    <a:chOff x="4637487" y="2659201"/>
                    <a:chExt cx="780262" cy="897515"/>
                  </a:xfrm>
                </p:grpSpPr>
                <p:sp>
                  <p:nvSpPr>
                    <p:cNvPr id="15" name="Oval 14">
                      <a:extLst>
                        <a:ext uri="{FF2B5EF4-FFF2-40B4-BE49-F238E27FC236}">
                          <a16:creationId xmlns:a16="http://schemas.microsoft.com/office/drawing/2014/main" id="{6C277CBE-A73F-48D0-BE0B-FE8F397E495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983148" y="2659201"/>
                      <a:ext cx="434601" cy="403319"/>
                    </a:xfrm>
                    <a:prstGeom prst="ellipse">
                      <a:avLst/>
                    </a:prstGeom>
                    <a:solidFill>
                      <a:srgbClr val="434343"/>
                    </a:solidFill>
                    <a:ln w="38100">
                      <a:solidFill>
                        <a:schemeClr val="accent6">
                          <a:lumMod val="7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GB" sz="2400" dirty="0"/>
                        <a:t>D</a:t>
                      </a:r>
                    </a:p>
                  </p:txBody>
                </p:sp>
                <p:cxnSp>
                  <p:nvCxnSpPr>
                    <p:cNvPr id="25" name="Straight Arrow Connector 24">
                      <a:extLst>
                        <a:ext uri="{FF2B5EF4-FFF2-40B4-BE49-F238E27FC236}">
                          <a16:creationId xmlns:a16="http://schemas.microsoft.com/office/drawing/2014/main" id="{0E3544E3-B814-4FBB-B3F7-6E7B604F9FC7}"/>
                        </a:ext>
                      </a:extLst>
                    </p:cNvPr>
                    <p:cNvCxnSpPr>
                      <a:cxnSpLocks/>
                      <a:stCxn id="15" idx="3"/>
                      <a:endCxn id="8" idx="0"/>
                    </p:cNvCxnSpPr>
                    <p:nvPr/>
                  </p:nvCxnSpPr>
                  <p:spPr>
                    <a:xfrm flipH="1">
                      <a:off x="4637487" y="3003455"/>
                      <a:ext cx="409307" cy="553261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57" name="Group 56">
                    <a:extLst>
                      <a:ext uri="{FF2B5EF4-FFF2-40B4-BE49-F238E27FC236}">
                        <a16:creationId xmlns:a16="http://schemas.microsoft.com/office/drawing/2014/main" id="{BFB9AF36-54EE-44C1-9BDB-46F84ADD68FC}"/>
                      </a:ext>
                    </a:extLst>
                  </p:cNvPr>
                  <p:cNvGrpSpPr/>
                  <p:nvPr/>
                </p:nvGrpSpPr>
                <p:grpSpPr>
                  <a:xfrm>
                    <a:off x="4983147" y="3900971"/>
                    <a:ext cx="773687" cy="917233"/>
                    <a:chOff x="4983147" y="3900971"/>
                    <a:chExt cx="773687" cy="917233"/>
                  </a:xfrm>
                </p:grpSpPr>
                <p:cxnSp>
                  <p:nvCxnSpPr>
                    <p:cNvPr id="39" name="Straight Arrow Connector 38">
                      <a:extLst>
                        <a:ext uri="{FF2B5EF4-FFF2-40B4-BE49-F238E27FC236}">
                          <a16:creationId xmlns:a16="http://schemas.microsoft.com/office/drawing/2014/main" id="{6D089515-184D-4657-89EE-661B6437A78B}"/>
                        </a:ext>
                      </a:extLst>
                    </p:cNvPr>
                    <p:cNvCxnSpPr>
                      <a:cxnSpLocks/>
                      <a:stCxn id="7" idx="3"/>
                      <a:endCxn id="9" idx="7"/>
                    </p:cNvCxnSpPr>
                    <p:nvPr/>
                  </p:nvCxnSpPr>
                  <p:spPr>
                    <a:xfrm flipH="1">
                      <a:off x="5354102" y="3900971"/>
                      <a:ext cx="402732" cy="572979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9" name="Oval 8">
                      <a:extLst>
                        <a:ext uri="{FF2B5EF4-FFF2-40B4-BE49-F238E27FC236}">
                          <a16:creationId xmlns:a16="http://schemas.microsoft.com/office/drawing/2014/main" id="{916BED35-4399-459D-9EC3-656B5CD910C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983147" y="4414885"/>
                      <a:ext cx="434601" cy="403319"/>
                    </a:xfrm>
                    <a:prstGeom prst="ellipse">
                      <a:avLst/>
                    </a:prstGeom>
                    <a:solidFill>
                      <a:srgbClr val="434343"/>
                    </a:solidFill>
                    <a:ln w="38100">
                      <a:solidFill>
                        <a:schemeClr val="accent6">
                          <a:lumMod val="7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GB" sz="2400" dirty="0"/>
                        <a:t>G</a:t>
                      </a:r>
                    </a:p>
                  </p:txBody>
                </p:sp>
              </p:grpSp>
              <p:grpSp>
                <p:nvGrpSpPr>
                  <p:cNvPr id="49" name="Group 48">
                    <a:extLst>
                      <a:ext uri="{FF2B5EF4-FFF2-40B4-BE49-F238E27FC236}">
                        <a16:creationId xmlns:a16="http://schemas.microsoft.com/office/drawing/2014/main" id="{4218D727-F9EC-49E2-8BFB-585EAF729EE2}"/>
                      </a:ext>
                    </a:extLst>
                  </p:cNvPr>
                  <p:cNvGrpSpPr/>
                  <p:nvPr/>
                </p:nvGrpSpPr>
                <p:grpSpPr>
                  <a:xfrm>
                    <a:off x="4420186" y="3556716"/>
                    <a:ext cx="1707603" cy="403320"/>
                    <a:chOff x="4420186" y="3556716"/>
                    <a:chExt cx="1707603" cy="403320"/>
                  </a:xfrm>
                </p:grpSpPr>
                <p:sp>
                  <p:nvSpPr>
                    <p:cNvPr id="7" name="Oval 6">
                      <a:extLst>
                        <a:ext uri="{FF2B5EF4-FFF2-40B4-BE49-F238E27FC236}">
                          <a16:creationId xmlns:a16="http://schemas.microsoft.com/office/drawing/2014/main" id="{1A1E3508-52C1-4434-92AB-2EAAAD3D928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693188" y="3556716"/>
                      <a:ext cx="434601" cy="403320"/>
                    </a:xfrm>
                    <a:prstGeom prst="ellipse">
                      <a:avLst/>
                    </a:prstGeom>
                    <a:solidFill>
                      <a:srgbClr val="434343"/>
                    </a:solidFill>
                    <a:ln w="38100">
                      <a:solidFill>
                        <a:srgbClr val="FFC00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GB" sz="2400" dirty="0"/>
                        <a:t>Y</a:t>
                      </a:r>
                    </a:p>
                  </p:txBody>
                </p:sp>
                <p:sp>
                  <p:nvSpPr>
                    <p:cNvPr id="8" name="Oval 7">
                      <a:extLst>
                        <a:ext uri="{FF2B5EF4-FFF2-40B4-BE49-F238E27FC236}">
                          <a16:creationId xmlns:a16="http://schemas.microsoft.com/office/drawing/2014/main" id="{B271D1D0-EAB0-42B9-9462-FB90040DD52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20186" y="3556716"/>
                      <a:ext cx="434602" cy="403319"/>
                    </a:xfrm>
                    <a:prstGeom prst="ellipse">
                      <a:avLst/>
                    </a:prstGeom>
                    <a:solidFill>
                      <a:schemeClr val="accent5">
                        <a:lumMod val="50000"/>
                      </a:schemeClr>
                    </a:solidFill>
                    <a:ln w="38100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GB" sz="2400" dirty="0"/>
                        <a:t>X</a:t>
                      </a:r>
                    </a:p>
                  </p:txBody>
                </p:sp>
                <p:cxnSp>
                  <p:nvCxnSpPr>
                    <p:cNvPr id="45" name="Straight Arrow Connector 44">
                      <a:extLst>
                        <a:ext uri="{FF2B5EF4-FFF2-40B4-BE49-F238E27FC236}">
                          <a16:creationId xmlns:a16="http://schemas.microsoft.com/office/drawing/2014/main" id="{FB529943-B243-454F-842A-82054AE45BEA}"/>
                        </a:ext>
                      </a:extLst>
                    </p:cNvPr>
                    <p:cNvCxnSpPr>
                      <a:stCxn id="8" idx="6"/>
                      <a:endCxn id="7" idx="2"/>
                    </p:cNvCxnSpPr>
                    <p:nvPr/>
                  </p:nvCxnSpPr>
                  <p:spPr>
                    <a:xfrm>
                      <a:off x="4854788" y="3758376"/>
                      <a:ext cx="838400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95" name="Group 94">
                    <a:extLst>
                      <a:ext uri="{FF2B5EF4-FFF2-40B4-BE49-F238E27FC236}">
                        <a16:creationId xmlns:a16="http://schemas.microsoft.com/office/drawing/2014/main" id="{5426D79D-626A-4A1E-A92A-F6BEAA2CA97B}"/>
                      </a:ext>
                    </a:extLst>
                  </p:cNvPr>
                  <p:cNvGrpSpPr/>
                  <p:nvPr/>
                </p:nvGrpSpPr>
                <p:grpSpPr>
                  <a:xfrm>
                    <a:off x="5417749" y="2669285"/>
                    <a:ext cx="1308421" cy="946496"/>
                    <a:chOff x="5417749" y="2669285"/>
                    <a:chExt cx="1308421" cy="946496"/>
                  </a:xfrm>
                </p:grpSpPr>
                <p:sp>
                  <p:nvSpPr>
                    <p:cNvPr id="58" name="Oval 57">
                      <a:extLst>
                        <a:ext uri="{FF2B5EF4-FFF2-40B4-BE49-F238E27FC236}">
                          <a16:creationId xmlns:a16="http://schemas.microsoft.com/office/drawing/2014/main" id="{3C8ABD49-3FCA-487A-BA3F-A055EB39AAB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291569" y="2669285"/>
                      <a:ext cx="434601" cy="403319"/>
                    </a:xfrm>
                    <a:prstGeom prst="ellipse">
                      <a:avLst/>
                    </a:prstGeom>
                    <a:solidFill>
                      <a:srgbClr val="434343"/>
                    </a:solidFill>
                    <a:ln w="38100">
                      <a:solidFill>
                        <a:schemeClr val="accent6">
                          <a:lumMod val="7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GB" sz="2400" dirty="0"/>
                        <a:t>I</a:t>
                      </a:r>
                    </a:p>
                  </p:txBody>
                </p:sp>
                <p:cxnSp>
                  <p:nvCxnSpPr>
                    <p:cNvPr id="70" name="Straight Arrow Connector 69">
                      <a:extLst>
                        <a:ext uri="{FF2B5EF4-FFF2-40B4-BE49-F238E27FC236}">
                          <a16:creationId xmlns:a16="http://schemas.microsoft.com/office/drawing/2014/main" id="{A6A46A88-0C5F-4EAF-BFC8-280A0E8E6233}"/>
                        </a:ext>
                      </a:extLst>
                    </p:cNvPr>
                    <p:cNvCxnSpPr>
                      <a:cxnSpLocks/>
                      <a:stCxn id="58" idx="4"/>
                      <a:endCxn id="7" idx="7"/>
                    </p:cNvCxnSpPr>
                    <p:nvPr/>
                  </p:nvCxnSpPr>
                  <p:spPr>
                    <a:xfrm flipH="1">
                      <a:off x="6064143" y="3072604"/>
                      <a:ext cx="444727" cy="543177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2" name="Straight Arrow Connector 71">
                      <a:extLst>
                        <a:ext uri="{FF2B5EF4-FFF2-40B4-BE49-F238E27FC236}">
                          <a16:creationId xmlns:a16="http://schemas.microsoft.com/office/drawing/2014/main" id="{9E33A4A0-66E4-4E30-8EF9-A4AA0C0DD201}"/>
                        </a:ext>
                      </a:extLst>
                    </p:cNvPr>
                    <p:cNvCxnSpPr>
                      <a:stCxn id="15" idx="6"/>
                      <a:endCxn id="58" idx="2"/>
                    </p:cNvCxnSpPr>
                    <p:nvPr/>
                  </p:nvCxnSpPr>
                  <p:spPr>
                    <a:xfrm>
                      <a:off x="5417749" y="2860861"/>
                      <a:ext cx="873820" cy="10084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cxnSp>
              <p:nvCxnSpPr>
                <p:cNvPr id="6" name="Straight Arrow Connector 5">
                  <a:extLst>
                    <a:ext uri="{FF2B5EF4-FFF2-40B4-BE49-F238E27FC236}">
                      <a16:creationId xmlns:a16="http://schemas.microsoft.com/office/drawing/2014/main" id="{33B8EF31-3011-472D-AD87-437CEA8A2CFF}"/>
                    </a:ext>
                  </a:extLst>
                </p:cNvPr>
                <p:cNvCxnSpPr>
                  <a:cxnSpLocks/>
                  <a:stCxn id="8" idx="4"/>
                  <a:endCxn id="9" idx="1"/>
                </p:cNvCxnSpPr>
                <p:nvPr/>
              </p:nvCxnSpPr>
              <p:spPr>
                <a:xfrm>
                  <a:off x="6829358" y="3334747"/>
                  <a:ext cx="409306" cy="513915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FB34A559-CAAB-4B1F-97BF-70D3F92E3590}"/>
                </a:ext>
              </a:extLst>
            </p:cNvPr>
            <p:cNvSpPr txBox="1"/>
            <p:nvPr/>
          </p:nvSpPr>
          <p:spPr>
            <a:xfrm>
              <a:off x="4125041" y="1078141"/>
              <a:ext cx="791323" cy="3462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400" dirty="0"/>
                <a:t>Path 2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13D6BCE1-0CA5-4333-9A3B-B052EDB8A066}"/>
              </a:ext>
            </a:extLst>
          </p:cNvPr>
          <p:cNvGrpSpPr/>
          <p:nvPr/>
        </p:nvGrpSpPr>
        <p:grpSpPr>
          <a:xfrm>
            <a:off x="7953460" y="2011918"/>
            <a:ext cx="3074645" cy="3631612"/>
            <a:chOff x="5883312" y="1083989"/>
            <a:chExt cx="2305984" cy="2723709"/>
          </a:xfrm>
        </p:grpSpPr>
        <p:cxnSp>
          <p:nvCxnSpPr>
            <p:cNvPr id="79" name="Straight Arrow Connector 78">
              <a:extLst>
                <a:ext uri="{FF2B5EF4-FFF2-40B4-BE49-F238E27FC236}">
                  <a16:creationId xmlns:a16="http://schemas.microsoft.com/office/drawing/2014/main" id="{A1C00692-A709-43E3-B86A-89ACF2C13A6F}"/>
                </a:ext>
              </a:extLst>
            </p:cNvPr>
            <p:cNvCxnSpPr>
              <a:cxnSpLocks/>
              <a:stCxn id="75" idx="7"/>
              <a:endCxn id="69" idx="3"/>
            </p:cNvCxnSpPr>
            <p:nvPr/>
          </p:nvCxnSpPr>
          <p:spPr>
            <a:xfrm flipV="1">
              <a:off x="6817228" y="2890465"/>
              <a:ext cx="402732" cy="572979"/>
            </a:xfrm>
            <a:prstGeom prst="straightConnector1">
              <a:avLst/>
            </a:prstGeom>
            <a:ln w="57150">
              <a:solidFill>
                <a:schemeClr val="accent1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Arrow Connector 77">
              <a:extLst>
                <a:ext uri="{FF2B5EF4-FFF2-40B4-BE49-F238E27FC236}">
                  <a16:creationId xmlns:a16="http://schemas.microsoft.com/office/drawing/2014/main" id="{2FDFC3D3-3CA1-4B3D-B9D4-681BB7E852E5}"/>
                </a:ext>
              </a:extLst>
            </p:cNvPr>
            <p:cNvCxnSpPr>
              <a:cxnSpLocks/>
              <a:stCxn id="71" idx="4"/>
              <a:endCxn id="75" idx="1"/>
            </p:cNvCxnSpPr>
            <p:nvPr/>
          </p:nvCxnSpPr>
          <p:spPr>
            <a:xfrm>
              <a:off x="6100613" y="2949529"/>
              <a:ext cx="409306" cy="513915"/>
            </a:xfrm>
            <a:prstGeom prst="straightConnector1">
              <a:avLst/>
            </a:prstGeom>
            <a:ln w="57150">
              <a:solidFill>
                <a:schemeClr val="accent1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53DD0D12-A9A1-4FFD-901F-AD99740BAB62}"/>
                </a:ext>
              </a:extLst>
            </p:cNvPr>
            <p:cNvGrpSpPr/>
            <p:nvPr/>
          </p:nvGrpSpPr>
          <p:grpSpPr>
            <a:xfrm>
              <a:off x="5883312" y="1648695"/>
              <a:ext cx="2305984" cy="2159003"/>
              <a:chOff x="6612057" y="2033913"/>
              <a:chExt cx="2305984" cy="2159003"/>
            </a:xfrm>
          </p:grpSpPr>
          <p:grpSp>
            <p:nvGrpSpPr>
              <p:cNvPr id="60" name="Group 59">
                <a:extLst>
                  <a:ext uri="{FF2B5EF4-FFF2-40B4-BE49-F238E27FC236}">
                    <a16:creationId xmlns:a16="http://schemas.microsoft.com/office/drawing/2014/main" id="{6F61588D-C1BF-43BE-AF4F-2CF6CD2E964C}"/>
                  </a:ext>
                </a:extLst>
              </p:cNvPr>
              <p:cNvGrpSpPr/>
              <p:nvPr/>
            </p:nvGrpSpPr>
            <p:grpSpPr>
              <a:xfrm>
                <a:off x="6612057" y="2033913"/>
                <a:ext cx="2305984" cy="2159003"/>
                <a:chOff x="4420186" y="2659201"/>
                <a:chExt cx="2305984" cy="2159003"/>
              </a:xfrm>
            </p:grpSpPr>
            <p:grpSp>
              <p:nvGrpSpPr>
                <p:cNvPr id="62" name="Group 61">
                  <a:extLst>
                    <a:ext uri="{FF2B5EF4-FFF2-40B4-BE49-F238E27FC236}">
                      <a16:creationId xmlns:a16="http://schemas.microsoft.com/office/drawing/2014/main" id="{63C6432C-6CFB-44B7-99C8-56734F0CCFE8}"/>
                    </a:ext>
                  </a:extLst>
                </p:cNvPr>
                <p:cNvGrpSpPr/>
                <p:nvPr/>
              </p:nvGrpSpPr>
              <p:grpSpPr>
                <a:xfrm>
                  <a:off x="4637487" y="2659201"/>
                  <a:ext cx="780262" cy="897515"/>
                  <a:chOff x="4637487" y="2659201"/>
                  <a:chExt cx="780262" cy="897515"/>
                </a:xfrm>
              </p:grpSpPr>
              <p:sp>
                <p:nvSpPr>
                  <p:cNvPr id="76" name="Oval 75">
                    <a:extLst>
                      <a:ext uri="{FF2B5EF4-FFF2-40B4-BE49-F238E27FC236}">
                        <a16:creationId xmlns:a16="http://schemas.microsoft.com/office/drawing/2014/main" id="{EF210C55-DAE2-4565-8EB1-475577EAC179}"/>
                      </a:ext>
                    </a:extLst>
                  </p:cNvPr>
                  <p:cNvSpPr/>
                  <p:nvPr/>
                </p:nvSpPr>
                <p:spPr>
                  <a:xfrm>
                    <a:off x="4983148" y="2659201"/>
                    <a:ext cx="434601" cy="403319"/>
                  </a:xfrm>
                  <a:prstGeom prst="ellipse">
                    <a:avLst/>
                  </a:prstGeom>
                  <a:solidFill>
                    <a:srgbClr val="434343"/>
                  </a:solidFill>
                  <a:ln w="38100"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GB" sz="2400" dirty="0"/>
                      <a:t>D</a:t>
                    </a:r>
                  </a:p>
                </p:txBody>
              </p:sp>
              <p:cxnSp>
                <p:nvCxnSpPr>
                  <p:cNvPr id="77" name="Straight Arrow Connector 76">
                    <a:extLst>
                      <a:ext uri="{FF2B5EF4-FFF2-40B4-BE49-F238E27FC236}">
                        <a16:creationId xmlns:a16="http://schemas.microsoft.com/office/drawing/2014/main" id="{523B8059-87D8-4EF1-80C6-0EAD3AF4111C}"/>
                      </a:ext>
                    </a:extLst>
                  </p:cNvPr>
                  <p:cNvCxnSpPr>
                    <a:cxnSpLocks/>
                    <a:stCxn id="76" idx="3"/>
                    <a:endCxn id="71" idx="0"/>
                  </p:cNvCxnSpPr>
                  <p:nvPr/>
                </p:nvCxnSpPr>
                <p:spPr>
                  <a:xfrm flipH="1">
                    <a:off x="4637487" y="3003455"/>
                    <a:ext cx="409307" cy="553261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63" name="Group 62">
                  <a:extLst>
                    <a:ext uri="{FF2B5EF4-FFF2-40B4-BE49-F238E27FC236}">
                      <a16:creationId xmlns:a16="http://schemas.microsoft.com/office/drawing/2014/main" id="{A13E705F-7665-47D9-BD6D-02793091BC44}"/>
                    </a:ext>
                  </a:extLst>
                </p:cNvPr>
                <p:cNvGrpSpPr/>
                <p:nvPr/>
              </p:nvGrpSpPr>
              <p:grpSpPr>
                <a:xfrm>
                  <a:off x="4983147" y="3900971"/>
                  <a:ext cx="773687" cy="917233"/>
                  <a:chOff x="4983147" y="3900971"/>
                  <a:chExt cx="773687" cy="917233"/>
                </a:xfrm>
              </p:grpSpPr>
              <p:cxnSp>
                <p:nvCxnSpPr>
                  <p:cNvPr id="74" name="Straight Arrow Connector 73">
                    <a:extLst>
                      <a:ext uri="{FF2B5EF4-FFF2-40B4-BE49-F238E27FC236}">
                        <a16:creationId xmlns:a16="http://schemas.microsoft.com/office/drawing/2014/main" id="{C786B2C5-4B09-43C9-826A-11F3884C0904}"/>
                      </a:ext>
                    </a:extLst>
                  </p:cNvPr>
                  <p:cNvCxnSpPr>
                    <a:cxnSpLocks/>
                    <a:stCxn id="69" idx="3"/>
                    <a:endCxn id="75" idx="7"/>
                  </p:cNvCxnSpPr>
                  <p:nvPr/>
                </p:nvCxnSpPr>
                <p:spPr>
                  <a:xfrm flipH="1">
                    <a:off x="5354102" y="3900971"/>
                    <a:ext cx="402732" cy="572979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5" name="Oval 74">
                    <a:extLst>
                      <a:ext uri="{FF2B5EF4-FFF2-40B4-BE49-F238E27FC236}">
                        <a16:creationId xmlns:a16="http://schemas.microsoft.com/office/drawing/2014/main" id="{50B510CE-116E-4671-97D7-C73B9BE13F02}"/>
                      </a:ext>
                    </a:extLst>
                  </p:cNvPr>
                  <p:cNvSpPr/>
                  <p:nvPr/>
                </p:nvSpPr>
                <p:spPr>
                  <a:xfrm>
                    <a:off x="4983147" y="4414885"/>
                    <a:ext cx="434601" cy="403319"/>
                  </a:xfrm>
                  <a:prstGeom prst="ellipse">
                    <a:avLst/>
                  </a:prstGeom>
                  <a:solidFill>
                    <a:srgbClr val="434343"/>
                  </a:solidFill>
                  <a:ln w="38100"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GB" sz="2400" dirty="0"/>
                      <a:t>G</a:t>
                    </a:r>
                  </a:p>
                </p:txBody>
              </p:sp>
            </p:grpSp>
            <p:grpSp>
              <p:nvGrpSpPr>
                <p:cNvPr id="64" name="Group 63">
                  <a:extLst>
                    <a:ext uri="{FF2B5EF4-FFF2-40B4-BE49-F238E27FC236}">
                      <a16:creationId xmlns:a16="http://schemas.microsoft.com/office/drawing/2014/main" id="{4E71EF4C-2C2E-4241-BC7D-44024E9E16F4}"/>
                    </a:ext>
                  </a:extLst>
                </p:cNvPr>
                <p:cNvGrpSpPr/>
                <p:nvPr/>
              </p:nvGrpSpPr>
              <p:grpSpPr>
                <a:xfrm>
                  <a:off x="4420186" y="3556716"/>
                  <a:ext cx="1707603" cy="403320"/>
                  <a:chOff x="4420186" y="3556716"/>
                  <a:chExt cx="1707603" cy="403320"/>
                </a:xfrm>
              </p:grpSpPr>
              <p:sp>
                <p:nvSpPr>
                  <p:cNvPr id="69" name="Oval 68">
                    <a:extLst>
                      <a:ext uri="{FF2B5EF4-FFF2-40B4-BE49-F238E27FC236}">
                        <a16:creationId xmlns:a16="http://schemas.microsoft.com/office/drawing/2014/main" id="{6409C8EB-9008-41A0-A89B-747941BAD95A}"/>
                      </a:ext>
                    </a:extLst>
                  </p:cNvPr>
                  <p:cNvSpPr/>
                  <p:nvPr/>
                </p:nvSpPr>
                <p:spPr>
                  <a:xfrm>
                    <a:off x="5693188" y="3556716"/>
                    <a:ext cx="434601" cy="403320"/>
                  </a:xfrm>
                  <a:prstGeom prst="ellipse">
                    <a:avLst/>
                  </a:prstGeom>
                  <a:solidFill>
                    <a:srgbClr val="434343"/>
                  </a:solidFill>
                  <a:ln w="38100">
                    <a:solidFill>
                      <a:srgbClr val="FFC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GB" sz="2400" dirty="0"/>
                      <a:t>Y</a:t>
                    </a:r>
                  </a:p>
                </p:txBody>
              </p:sp>
              <p:sp>
                <p:nvSpPr>
                  <p:cNvPr id="71" name="Oval 70">
                    <a:extLst>
                      <a:ext uri="{FF2B5EF4-FFF2-40B4-BE49-F238E27FC236}">
                        <a16:creationId xmlns:a16="http://schemas.microsoft.com/office/drawing/2014/main" id="{9DE77788-7607-48B2-96A3-C2E88E00BE41}"/>
                      </a:ext>
                    </a:extLst>
                  </p:cNvPr>
                  <p:cNvSpPr/>
                  <p:nvPr/>
                </p:nvSpPr>
                <p:spPr>
                  <a:xfrm>
                    <a:off x="4420186" y="3556716"/>
                    <a:ext cx="434602" cy="403319"/>
                  </a:xfrm>
                  <a:prstGeom prst="ellipse">
                    <a:avLst/>
                  </a:prstGeom>
                  <a:solidFill>
                    <a:schemeClr val="accent5">
                      <a:lumMod val="50000"/>
                    </a:schemeClr>
                  </a:solidFill>
                  <a:ln w="38100">
                    <a:solidFill>
                      <a:schemeClr val="accent5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GB" sz="2400" dirty="0"/>
                      <a:t>X</a:t>
                    </a:r>
                  </a:p>
                </p:txBody>
              </p:sp>
              <p:cxnSp>
                <p:nvCxnSpPr>
                  <p:cNvPr id="73" name="Straight Arrow Connector 72">
                    <a:extLst>
                      <a:ext uri="{FF2B5EF4-FFF2-40B4-BE49-F238E27FC236}">
                        <a16:creationId xmlns:a16="http://schemas.microsoft.com/office/drawing/2014/main" id="{063B9CD1-E718-4FFD-957D-4AA37ED3F014}"/>
                      </a:ext>
                    </a:extLst>
                  </p:cNvPr>
                  <p:cNvCxnSpPr>
                    <a:stCxn id="71" idx="6"/>
                    <a:endCxn id="69" idx="2"/>
                  </p:cNvCxnSpPr>
                  <p:nvPr/>
                </p:nvCxnSpPr>
                <p:spPr>
                  <a:xfrm>
                    <a:off x="4854788" y="3758376"/>
                    <a:ext cx="838400" cy="0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65" name="Group 64">
                  <a:extLst>
                    <a:ext uri="{FF2B5EF4-FFF2-40B4-BE49-F238E27FC236}">
                      <a16:creationId xmlns:a16="http://schemas.microsoft.com/office/drawing/2014/main" id="{9FC2CF24-4525-4663-A8E2-3A8505D57F01}"/>
                    </a:ext>
                  </a:extLst>
                </p:cNvPr>
                <p:cNvGrpSpPr/>
                <p:nvPr/>
              </p:nvGrpSpPr>
              <p:grpSpPr>
                <a:xfrm>
                  <a:off x="5417749" y="2669285"/>
                  <a:ext cx="1308421" cy="946496"/>
                  <a:chOff x="5417749" y="2669285"/>
                  <a:chExt cx="1308421" cy="946496"/>
                </a:xfrm>
              </p:grpSpPr>
              <p:sp>
                <p:nvSpPr>
                  <p:cNvPr id="66" name="Oval 65">
                    <a:extLst>
                      <a:ext uri="{FF2B5EF4-FFF2-40B4-BE49-F238E27FC236}">
                        <a16:creationId xmlns:a16="http://schemas.microsoft.com/office/drawing/2014/main" id="{F044CF28-2405-4B7C-9F6D-EBDB230C6C87}"/>
                      </a:ext>
                    </a:extLst>
                  </p:cNvPr>
                  <p:cNvSpPr/>
                  <p:nvPr/>
                </p:nvSpPr>
                <p:spPr>
                  <a:xfrm>
                    <a:off x="6291569" y="2669285"/>
                    <a:ext cx="434601" cy="403319"/>
                  </a:xfrm>
                  <a:prstGeom prst="ellipse">
                    <a:avLst/>
                  </a:prstGeom>
                  <a:solidFill>
                    <a:srgbClr val="434343"/>
                  </a:solidFill>
                  <a:ln w="38100"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GB" sz="2400" dirty="0"/>
                      <a:t>I</a:t>
                    </a:r>
                  </a:p>
                </p:txBody>
              </p:sp>
              <p:cxnSp>
                <p:nvCxnSpPr>
                  <p:cNvPr id="67" name="Straight Arrow Connector 66">
                    <a:extLst>
                      <a:ext uri="{FF2B5EF4-FFF2-40B4-BE49-F238E27FC236}">
                        <a16:creationId xmlns:a16="http://schemas.microsoft.com/office/drawing/2014/main" id="{62449477-DEE3-4593-AEAA-3DC917146FB2}"/>
                      </a:ext>
                    </a:extLst>
                  </p:cNvPr>
                  <p:cNvCxnSpPr>
                    <a:cxnSpLocks/>
                    <a:stCxn id="66" idx="4"/>
                    <a:endCxn id="69" idx="7"/>
                  </p:cNvCxnSpPr>
                  <p:nvPr/>
                </p:nvCxnSpPr>
                <p:spPr>
                  <a:xfrm flipH="1">
                    <a:off x="6064143" y="3072604"/>
                    <a:ext cx="444727" cy="543177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8" name="Straight Arrow Connector 67">
                    <a:extLst>
                      <a:ext uri="{FF2B5EF4-FFF2-40B4-BE49-F238E27FC236}">
                        <a16:creationId xmlns:a16="http://schemas.microsoft.com/office/drawing/2014/main" id="{A09E6FA3-A0E5-4C01-8834-238075DD8943}"/>
                      </a:ext>
                    </a:extLst>
                  </p:cNvPr>
                  <p:cNvCxnSpPr>
                    <a:stCxn id="76" idx="6"/>
                    <a:endCxn id="66" idx="2"/>
                  </p:cNvCxnSpPr>
                  <p:nvPr/>
                </p:nvCxnSpPr>
                <p:spPr>
                  <a:xfrm>
                    <a:off x="5417749" y="2860861"/>
                    <a:ext cx="873820" cy="10084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cxnSp>
            <p:nvCxnSpPr>
              <p:cNvPr id="61" name="Straight Arrow Connector 60">
                <a:extLst>
                  <a:ext uri="{FF2B5EF4-FFF2-40B4-BE49-F238E27FC236}">
                    <a16:creationId xmlns:a16="http://schemas.microsoft.com/office/drawing/2014/main" id="{27A2BBC5-7E3B-4355-9DFE-08F5303E234E}"/>
                  </a:ext>
                </a:extLst>
              </p:cNvPr>
              <p:cNvCxnSpPr>
                <a:cxnSpLocks/>
                <a:stCxn id="71" idx="4"/>
                <a:endCxn id="75" idx="1"/>
              </p:cNvCxnSpPr>
              <p:nvPr/>
            </p:nvCxnSpPr>
            <p:spPr>
              <a:xfrm>
                <a:off x="6829358" y="3334747"/>
                <a:ext cx="409306" cy="51391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CE12DF21-B5B3-4213-A769-2EBA48397B1F}"/>
                </a:ext>
              </a:extLst>
            </p:cNvPr>
            <p:cNvSpPr txBox="1"/>
            <p:nvPr/>
          </p:nvSpPr>
          <p:spPr>
            <a:xfrm>
              <a:off x="6966567" y="1083989"/>
              <a:ext cx="794930" cy="3462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400" dirty="0"/>
                <a:t>Path 3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DBA95E94-D98B-43AB-9993-2BF396CBC808}"/>
              </a:ext>
            </a:extLst>
          </p:cNvPr>
          <p:cNvGrpSpPr/>
          <p:nvPr/>
        </p:nvGrpSpPr>
        <p:grpSpPr>
          <a:xfrm>
            <a:off x="1120970" y="2763461"/>
            <a:ext cx="3074645" cy="2878671"/>
            <a:chOff x="6612057" y="2033913"/>
            <a:chExt cx="2305984" cy="2159003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BBD24DCE-C2C7-476C-BA94-70E005A55B6A}"/>
                </a:ext>
              </a:extLst>
            </p:cNvPr>
            <p:cNvGrpSpPr/>
            <p:nvPr/>
          </p:nvGrpSpPr>
          <p:grpSpPr>
            <a:xfrm>
              <a:off x="6612057" y="2033913"/>
              <a:ext cx="2305984" cy="2159003"/>
              <a:chOff x="4420186" y="2659201"/>
              <a:chExt cx="2305984" cy="2159003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25267862-48DD-4351-8AFF-864307F0CB1D}"/>
                  </a:ext>
                </a:extLst>
              </p:cNvPr>
              <p:cNvGrpSpPr/>
              <p:nvPr/>
            </p:nvGrpSpPr>
            <p:grpSpPr>
              <a:xfrm>
                <a:off x="4637487" y="2659201"/>
                <a:ext cx="780262" cy="897515"/>
                <a:chOff x="4637487" y="2659201"/>
                <a:chExt cx="780262" cy="897515"/>
              </a:xfrm>
            </p:grpSpPr>
            <p:sp>
              <p:nvSpPr>
                <p:cNvPr id="54" name="Oval 53">
                  <a:extLst>
                    <a:ext uri="{FF2B5EF4-FFF2-40B4-BE49-F238E27FC236}">
                      <a16:creationId xmlns:a16="http://schemas.microsoft.com/office/drawing/2014/main" id="{E73167BD-56F6-4354-A92C-1CD84AA61FF3}"/>
                    </a:ext>
                  </a:extLst>
                </p:cNvPr>
                <p:cNvSpPr/>
                <p:nvPr/>
              </p:nvSpPr>
              <p:spPr>
                <a:xfrm>
                  <a:off x="4983148" y="2659201"/>
                  <a:ext cx="434601" cy="403319"/>
                </a:xfrm>
                <a:prstGeom prst="ellipse">
                  <a:avLst/>
                </a:prstGeom>
                <a:solidFill>
                  <a:srgbClr val="434343"/>
                </a:solidFill>
                <a:ln w="38100"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D</a:t>
                  </a:r>
                </a:p>
              </p:txBody>
            </p:sp>
            <p:cxnSp>
              <p:nvCxnSpPr>
                <p:cNvPr id="55" name="Straight Arrow Connector 54">
                  <a:extLst>
                    <a:ext uri="{FF2B5EF4-FFF2-40B4-BE49-F238E27FC236}">
                      <a16:creationId xmlns:a16="http://schemas.microsoft.com/office/drawing/2014/main" id="{5F0C3F9A-123F-4852-94F1-FE8026E42278}"/>
                    </a:ext>
                  </a:extLst>
                </p:cNvPr>
                <p:cNvCxnSpPr>
                  <a:cxnSpLocks/>
                  <a:stCxn id="54" idx="3"/>
                  <a:endCxn id="47" idx="0"/>
                </p:cNvCxnSpPr>
                <p:nvPr/>
              </p:nvCxnSpPr>
              <p:spPr>
                <a:xfrm flipH="1">
                  <a:off x="4637487" y="3003455"/>
                  <a:ext cx="409307" cy="553261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6" name="Group 35">
                <a:extLst>
                  <a:ext uri="{FF2B5EF4-FFF2-40B4-BE49-F238E27FC236}">
                    <a16:creationId xmlns:a16="http://schemas.microsoft.com/office/drawing/2014/main" id="{6C76CB33-747D-4634-8FCE-6EA757BA2956}"/>
                  </a:ext>
                </a:extLst>
              </p:cNvPr>
              <p:cNvGrpSpPr/>
              <p:nvPr/>
            </p:nvGrpSpPr>
            <p:grpSpPr>
              <a:xfrm>
                <a:off x="4983147" y="3900971"/>
                <a:ext cx="773687" cy="917233"/>
                <a:chOff x="4983147" y="3900971"/>
                <a:chExt cx="773687" cy="917233"/>
              </a:xfrm>
            </p:grpSpPr>
            <p:cxnSp>
              <p:nvCxnSpPr>
                <p:cNvPr id="51" name="Straight Arrow Connector 50">
                  <a:extLst>
                    <a:ext uri="{FF2B5EF4-FFF2-40B4-BE49-F238E27FC236}">
                      <a16:creationId xmlns:a16="http://schemas.microsoft.com/office/drawing/2014/main" id="{EDD15B46-FAD9-4414-A58B-E678958058A3}"/>
                    </a:ext>
                  </a:extLst>
                </p:cNvPr>
                <p:cNvCxnSpPr>
                  <a:cxnSpLocks/>
                  <a:stCxn id="43" idx="3"/>
                  <a:endCxn id="53" idx="7"/>
                </p:cNvCxnSpPr>
                <p:nvPr/>
              </p:nvCxnSpPr>
              <p:spPr>
                <a:xfrm flipH="1">
                  <a:off x="5354102" y="3900971"/>
                  <a:ext cx="402732" cy="572979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3" name="Oval 52">
                  <a:extLst>
                    <a:ext uri="{FF2B5EF4-FFF2-40B4-BE49-F238E27FC236}">
                      <a16:creationId xmlns:a16="http://schemas.microsoft.com/office/drawing/2014/main" id="{D68B0005-96C0-469E-A25F-949319D24CE3}"/>
                    </a:ext>
                  </a:extLst>
                </p:cNvPr>
                <p:cNvSpPr/>
                <p:nvPr/>
              </p:nvSpPr>
              <p:spPr>
                <a:xfrm>
                  <a:off x="4983147" y="4414885"/>
                  <a:ext cx="434601" cy="403319"/>
                </a:xfrm>
                <a:prstGeom prst="ellipse">
                  <a:avLst/>
                </a:prstGeom>
                <a:solidFill>
                  <a:srgbClr val="434343"/>
                </a:solidFill>
                <a:ln w="38100"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G</a:t>
                  </a:r>
                </a:p>
              </p:txBody>
            </p:sp>
          </p:grpSp>
          <p:grpSp>
            <p:nvGrpSpPr>
              <p:cNvPr id="37" name="Group 36">
                <a:extLst>
                  <a:ext uri="{FF2B5EF4-FFF2-40B4-BE49-F238E27FC236}">
                    <a16:creationId xmlns:a16="http://schemas.microsoft.com/office/drawing/2014/main" id="{31682145-4A23-4175-B05D-2BFFD538AEFE}"/>
                  </a:ext>
                </a:extLst>
              </p:cNvPr>
              <p:cNvGrpSpPr/>
              <p:nvPr/>
            </p:nvGrpSpPr>
            <p:grpSpPr>
              <a:xfrm>
                <a:off x="4420186" y="3556716"/>
                <a:ext cx="1707603" cy="403320"/>
                <a:chOff x="4420186" y="3556716"/>
                <a:chExt cx="1707603" cy="403320"/>
              </a:xfrm>
            </p:grpSpPr>
            <p:sp>
              <p:nvSpPr>
                <p:cNvPr id="43" name="Oval 42">
                  <a:extLst>
                    <a:ext uri="{FF2B5EF4-FFF2-40B4-BE49-F238E27FC236}">
                      <a16:creationId xmlns:a16="http://schemas.microsoft.com/office/drawing/2014/main" id="{DB40925C-7A52-4549-B156-295E49CFBC49}"/>
                    </a:ext>
                  </a:extLst>
                </p:cNvPr>
                <p:cNvSpPr/>
                <p:nvPr/>
              </p:nvSpPr>
              <p:spPr>
                <a:xfrm>
                  <a:off x="5693188" y="3556716"/>
                  <a:ext cx="434601" cy="403320"/>
                </a:xfrm>
                <a:prstGeom prst="ellipse">
                  <a:avLst/>
                </a:prstGeom>
                <a:solidFill>
                  <a:srgbClr val="434343"/>
                </a:solidFill>
                <a:ln w="38100"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Y</a:t>
                  </a:r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DBDC3324-0CF3-4893-82DA-A1413072835A}"/>
                    </a:ext>
                  </a:extLst>
                </p:cNvPr>
                <p:cNvSpPr/>
                <p:nvPr/>
              </p:nvSpPr>
              <p:spPr>
                <a:xfrm>
                  <a:off x="4420186" y="3556716"/>
                  <a:ext cx="434602" cy="403319"/>
                </a:xfrm>
                <a:prstGeom prst="ellipse">
                  <a:avLst/>
                </a:prstGeom>
                <a:solidFill>
                  <a:schemeClr val="accent5">
                    <a:lumMod val="50000"/>
                  </a:schemeClr>
                </a:solidFill>
                <a:ln w="38100">
                  <a:solidFill>
                    <a:schemeClr val="accent5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X</a:t>
                  </a:r>
                </a:p>
              </p:txBody>
            </p:sp>
            <p:cxnSp>
              <p:nvCxnSpPr>
                <p:cNvPr id="50" name="Straight Arrow Connector 49">
                  <a:extLst>
                    <a:ext uri="{FF2B5EF4-FFF2-40B4-BE49-F238E27FC236}">
                      <a16:creationId xmlns:a16="http://schemas.microsoft.com/office/drawing/2014/main" id="{A1E161F6-CE18-439D-893C-7462CA791B1D}"/>
                    </a:ext>
                  </a:extLst>
                </p:cNvPr>
                <p:cNvCxnSpPr>
                  <a:cxnSpLocks/>
                  <a:stCxn id="47" idx="6"/>
                  <a:endCxn id="43" idx="2"/>
                </p:cNvCxnSpPr>
                <p:nvPr/>
              </p:nvCxnSpPr>
              <p:spPr>
                <a:xfrm>
                  <a:off x="4854788" y="3758376"/>
                  <a:ext cx="838400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8" name="Group 37">
                <a:extLst>
                  <a:ext uri="{FF2B5EF4-FFF2-40B4-BE49-F238E27FC236}">
                    <a16:creationId xmlns:a16="http://schemas.microsoft.com/office/drawing/2014/main" id="{B1601428-3A6B-4A78-B590-BF1026D84940}"/>
                  </a:ext>
                </a:extLst>
              </p:cNvPr>
              <p:cNvGrpSpPr/>
              <p:nvPr/>
            </p:nvGrpSpPr>
            <p:grpSpPr>
              <a:xfrm>
                <a:off x="5417749" y="2669285"/>
                <a:ext cx="1308421" cy="946496"/>
                <a:chOff x="5417749" y="2669285"/>
                <a:chExt cx="1308421" cy="946496"/>
              </a:xfrm>
            </p:grpSpPr>
            <p:sp>
              <p:nvSpPr>
                <p:cNvPr id="40" name="Oval 39">
                  <a:extLst>
                    <a:ext uri="{FF2B5EF4-FFF2-40B4-BE49-F238E27FC236}">
                      <a16:creationId xmlns:a16="http://schemas.microsoft.com/office/drawing/2014/main" id="{0B6B33FB-6212-47F4-9F55-EF0F2C10EA1E}"/>
                    </a:ext>
                  </a:extLst>
                </p:cNvPr>
                <p:cNvSpPr/>
                <p:nvPr/>
              </p:nvSpPr>
              <p:spPr>
                <a:xfrm>
                  <a:off x="6291569" y="2669285"/>
                  <a:ext cx="434601" cy="403319"/>
                </a:xfrm>
                <a:prstGeom prst="ellipse">
                  <a:avLst/>
                </a:prstGeom>
                <a:solidFill>
                  <a:srgbClr val="434343"/>
                </a:solidFill>
                <a:ln w="38100"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I</a:t>
                  </a:r>
                </a:p>
              </p:txBody>
            </p:sp>
            <p:cxnSp>
              <p:nvCxnSpPr>
                <p:cNvPr id="41" name="Straight Arrow Connector 40">
                  <a:extLst>
                    <a:ext uri="{FF2B5EF4-FFF2-40B4-BE49-F238E27FC236}">
                      <a16:creationId xmlns:a16="http://schemas.microsoft.com/office/drawing/2014/main" id="{A8E452BA-0252-4802-AADB-5D3EBFB57ED5}"/>
                    </a:ext>
                  </a:extLst>
                </p:cNvPr>
                <p:cNvCxnSpPr>
                  <a:cxnSpLocks/>
                  <a:stCxn id="40" idx="4"/>
                  <a:endCxn id="43" idx="7"/>
                </p:cNvCxnSpPr>
                <p:nvPr/>
              </p:nvCxnSpPr>
              <p:spPr>
                <a:xfrm flipH="1">
                  <a:off x="6064143" y="3072604"/>
                  <a:ext cx="444727" cy="543177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Arrow Connector 41">
                  <a:extLst>
                    <a:ext uri="{FF2B5EF4-FFF2-40B4-BE49-F238E27FC236}">
                      <a16:creationId xmlns:a16="http://schemas.microsoft.com/office/drawing/2014/main" id="{80E7FD5A-7622-48EF-89E9-8FA5607A9429}"/>
                    </a:ext>
                  </a:extLst>
                </p:cNvPr>
                <p:cNvCxnSpPr>
                  <a:stCxn id="54" idx="6"/>
                  <a:endCxn id="40" idx="2"/>
                </p:cNvCxnSpPr>
                <p:nvPr/>
              </p:nvCxnSpPr>
              <p:spPr>
                <a:xfrm>
                  <a:off x="5417749" y="2860861"/>
                  <a:ext cx="873820" cy="10084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9BB33893-A126-4C72-9767-4493A4694705}"/>
                </a:ext>
              </a:extLst>
            </p:cNvPr>
            <p:cNvCxnSpPr>
              <a:cxnSpLocks/>
              <a:stCxn id="47" idx="4"/>
              <a:endCxn id="53" idx="1"/>
            </p:cNvCxnSpPr>
            <p:nvPr/>
          </p:nvCxnSpPr>
          <p:spPr>
            <a:xfrm>
              <a:off x="6829358" y="3334747"/>
              <a:ext cx="409306" cy="51391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97095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" name="Group 111">
            <a:extLst>
              <a:ext uri="{FF2B5EF4-FFF2-40B4-BE49-F238E27FC236}">
                <a16:creationId xmlns:a16="http://schemas.microsoft.com/office/drawing/2014/main" id="{EFEC9991-D2C0-4AC0-BCCB-8FEB0A359F96}"/>
              </a:ext>
            </a:extLst>
          </p:cNvPr>
          <p:cNvGrpSpPr/>
          <p:nvPr/>
        </p:nvGrpSpPr>
        <p:grpSpPr>
          <a:xfrm>
            <a:off x="9002397" y="3166307"/>
            <a:ext cx="1492463" cy="763972"/>
            <a:chOff x="6751797" y="2374730"/>
            <a:chExt cx="1119347" cy="572979"/>
          </a:xfrm>
        </p:grpSpPr>
        <p:cxnSp>
          <p:nvCxnSpPr>
            <p:cNvPr id="104" name="Straight Arrow Connector 103">
              <a:extLst>
                <a:ext uri="{FF2B5EF4-FFF2-40B4-BE49-F238E27FC236}">
                  <a16:creationId xmlns:a16="http://schemas.microsoft.com/office/drawing/2014/main" id="{C2EE106C-79AD-4B38-A0D8-2B8FA5CF170F}"/>
                </a:ext>
              </a:extLst>
            </p:cNvPr>
            <p:cNvCxnSpPr>
              <a:cxnSpLocks/>
              <a:stCxn id="8" idx="4"/>
              <a:endCxn id="9" idx="1"/>
            </p:cNvCxnSpPr>
            <p:nvPr/>
          </p:nvCxnSpPr>
          <p:spPr>
            <a:xfrm>
              <a:off x="6751797" y="2433794"/>
              <a:ext cx="409306" cy="513915"/>
            </a:xfrm>
            <a:prstGeom prst="straightConnector1">
              <a:avLst/>
            </a:prstGeom>
            <a:ln w="57150">
              <a:solidFill>
                <a:schemeClr val="accent1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Arrow Connector 104">
              <a:extLst>
                <a:ext uri="{FF2B5EF4-FFF2-40B4-BE49-F238E27FC236}">
                  <a16:creationId xmlns:a16="http://schemas.microsoft.com/office/drawing/2014/main" id="{CC7F70CD-C338-429D-8A82-0ABC2FCA4736}"/>
                </a:ext>
              </a:extLst>
            </p:cNvPr>
            <p:cNvCxnSpPr>
              <a:cxnSpLocks/>
              <a:stCxn id="9" idx="7"/>
              <a:endCxn id="7" idx="3"/>
            </p:cNvCxnSpPr>
            <p:nvPr/>
          </p:nvCxnSpPr>
          <p:spPr>
            <a:xfrm flipV="1">
              <a:off x="7468412" y="2374730"/>
              <a:ext cx="402732" cy="572979"/>
            </a:xfrm>
            <a:prstGeom prst="straightConnector1">
              <a:avLst/>
            </a:prstGeom>
            <a:ln w="57150">
              <a:solidFill>
                <a:schemeClr val="accent1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7D26EED4-38F2-441D-90FB-DC2A8E7E50AF}"/>
              </a:ext>
            </a:extLst>
          </p:cNvPr>
          <p:cNvCxnSpPr>
            <a:cxnSpLocks/>
            <a:stCxn id="8" idx="6"/>
            <a:endCxn id="7" idx="2"/>
          </p:cNvCxnSpPr>
          <p:nvPr/>
        </p:nvCxnSpPr>
        <p:spPr>
          <a:xfrm>
            <a:off x="9292131" y="2976180"/>
            <a:ext cx="1117867" cy="0"/>
          </a:xfrm>
          <a:prstGeom prst="straightConnector1">
            <a:avLst/>
          </a:prstGeom>
          <a:ln w="5715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B9F67A47-70C2-4EEC-B8C0-BD586A77B06C}"/>
              </a:ext>
            </a:extLst>
          </p:cNvPr>
          <p:cNvGrpSpPr/>
          <p:nvPr/>
        </p:nvGrpSpPr>
        <p:grpSpPr>
          <a:xfrm>
            <a:off x="9002397" y="1779493"/>
            <a:ext cx="2495177" cy="1006560"/>
            <a:chOff x="6751797" y="1334620"/>
            <a:chExt cx="1871383" cy="754920"/>
          </a:xfrm>
        </p:grpSpPr>
        <p:cxnSp>
          <p:nvCxnSpPr>
            <p:cNvPr id="106" name="Straight Arrow Connector 105">
              <a:extLst>
                <a:ext uri="{FF2B5EF4-FFF2-40B4-BE49-F238E27FC236}">
                  <a16:creationId xmlns:a16="http://schemas.microsoft.com/office/drawing/2014/main" id="{7613F305-F345-4B0E-94AD-699017954B09}"/>
                </a:ext>
              </a:extLst>
            </p:cNvPr>
            <p:cNvCxnSpPr>
              <a:cxnSpLocks/>
              <a:stCxn id="8" idx="0"/>
              <a:endCxn id="15" idx="3"/>
            </p:cNvCxnSpPr>
            <p:nvPr/>
          </p:nvCxnSpPr>
          <p:spPr>
            <a:xfrm flipV="1">
              <a:off x="6751797" y="1477214"/>
              <a:ext cx="409307" cy="553261"/>
            </a:xfrm>
            <a:prstGeom prst="straightConnector1">
              <a:avLst/>
            </a:prstGeom>
            <a:ln w="57150">
              <a:solidFill>
                <a:schemeClr val="accent1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Arrow Connector 106">
              <a:extLst>
                <a:ext uri="{FF2B5EF4-FFF2-40B4-BE49-F238E27FC236}">
                  <a16:creationId xmlns:a16="http://schemas.microsoft.com/office/drawing/2014/main" id="{0670DC05-F397-4A6E-B066-1A68365F1837}"/>
                </a:ext>
              </a:extLst>
            </p:cNvPr>
            <p:cNvCxnSpPr>
              <a:cxnSpLocks/>
              <a:stCxn id="15" idx="6"/>
              <a:endCxn id="58" idx="2"/>
            </p:cNvCxnSpPr>
            <p:nvPr/>
          </p:nvCxnSpPr>
          <p:spPr>
            <a:xfrm>
              <a:off x="7532059" y="1334620"/>
              <a:ext cx="873820" cy="10084"/>
            </a:xfrm>
            <a:prstGeom prst="straightConnector1">
              <a:avLst/>
            </a:prstGeom>
            <a:ln w="57150">
              <a:solidFill>
                <a:schemeClr val="accent1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Arrow Connector 107">
              <a:extLst>
                <a:ext uri="{FF2B5EF4-FFF2-40B4-BE49-F238E27FC236}">
                  <a16:creationId xmlns:a16="http://schemas.microsoft.com/office/drawing/2014/main" id="{AA9E3554-2CEB-4178-94B2-B6C973E7E68A}"/>
                </a:ext>
              </a:extLst>
            </p:cNvPr>
            <p:cNvCxnSpPr>
              <a:cxnSpLocks/>
              <a:stCxn id="58" idx="4"/>
              <a:endCxn id="7" idx="7"/>
            </p:cNvCxnSpPr>
            <p:nvPr/>
          </p:nvCxnSpPr>
          <p:spPr>
            <a:xfrm flipH="1">
              <a:off x="8178453" y="1546363"/>
              <a:ext cx="444727" cy="543177"/>
            </a:xfrm>
            <a:prstGeom prst="straightConnector1">
              <a:avLst/>
            </a:prstGeom>
            <a:ln w="57150">
              <a:solidFill>
                <a:schemeClr val="accent1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57F8FDA0-1D31-4579-93CE-5265A2AAD56E}"/>
              </a:ext>
            </a:extLst>
          </p:cNvPr>
          <p:cNvGrpSpPr/>
          <p:nvPr/>
        </p:nvGrpSpPr>
        <p:grpSpPr>
          <a:xfrm>
            <a:off x="8712662" y="1510614"/>
            <a:ext cx="3074645" cy="2878671"/>
            <a:chOff x="6612057" y="2033913"/>
            <a:chExt cx="2305984" cy="2159003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43A09443-7A64-4EAE-8E2C-36AD7E6DEB0F}"/>
                </a:ext>
              </a:extLst>
            </p:cNvPr>
            <p:cNvGrpSpPr/>
            <p:nvPr/>
          </p:nvGrpSpPr>
          <p:grpSpPr>
            <a:xfrm>
              <a:off x="6612057" y="2033913"/>
              <a:ext cx="2305984" cy="2159003"/>
              <a:chOff x="4420186" y="2659201"/>
              <a:chExt cx="2305984" cy="2159003"/>
            </a:xfrm>
          </p:grpSpPr>
          <p:grpSp>
            <p:nvGrpSpPr>
              <p:cNvPr id="52" name="Group 51">
                <a:extLst>
                  <a:ext uri="{FF2B5EF4-FFF2-40B4-BE49-F238E27FC236}">
                    <a16:creationId xmlns:a16="http://schemas.microsoft.com/office/drawing/2014/main" id="{CA87F539-B7A4-4B13-BBAC-5F534768D878}"/>
                  </a:ext>
                </a:extLst>
              </p:cNvPr>
              <p:cNvGrpSpPr/>
              <p:nvPr/>
            </p:nvGrpSpPr>
            <p:grpSpPr>
              <a:xfrm>
                <a:off x="4637487" y="2659201"/>
                <a:ext cx="780262" cy="897515"/>
                <a:chOff x="4637487" y="2659201"/>
                <a:chExt cx="780262" cy="897515"/>
              </a:xfrm>
            </p:grpSpPr>
            <p:sp>
              <p:nvSpPr>
                <p:cNvPr id="15" name="Oval 14">
                  <a:extLst>
                    <a:ext uri="{FF2B5EF4-FFF2-40B4-BE49-F238E27FC236}">
                      <a16:creationId xmlns:a16="http://schemas.microsoft.com/office/drawing/2014/main" id="{6C277CBE-A73F-48D0-BE0B-FE8F397E495B}"/>
                    </a:ext>
                  </a:extLst>
                </p:cNvPr>
                <p:cNvSpPr/>
                <p:nvPr/>
              </p:nvSpPr>
              <p:spPr>
                <a:xfrm>
                  <a:off x="4983148" y="2659201"/>
                  <a:ext cx="434601" cy="403319"/>
                </a:xfrm>
                <a:prstGeom prst="ellipse">
                  <a:avLst/>
                </a:prstGeom>
                <a:solidFill>
                  <a:srgbClr val="434343"/>
                </a:solidFill>
                <a:ln w="38100"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D</a:t>
                  </a:r>
                </a:p>
              </p:txBody>
            </p:sp>
            <p:cxnSp>
              <p:nvCxnSpPr>
                <p:cNvPr id="25" name="Straight Arrow Connector 24">
                  <a:extLst>
                    <a:ext uri="{FF2B5EF4-FFF2-40B4-BE49-F238E27FC236}">
                      <a16:creationId xmlns:a16="http://schemas.microsoft.com/office/drawing/2014/main" id="{0E3544E3-B814-4FBB-B3F7-6E7B604F9FC7}"/>
                    </a:ext>
                  </a:extLst>
                </p:cNvPr>
                <p:cNvCxnSpPr>
                  <a:cxnSpLocks/>
                  <a:stCxn id="15" idx="3"/>
                  <a:endCxn id="8" idx="0"/>
                </p:cNvCxnSpPr>
                <p:nvPr/>
              </p:nvCxnSpPr>
              <p:spPr>
                <a:xfrm flipH="1">
                  <a:off x="4637487" y="3003455"/>
                  <a:ext cx="409307" cy="553261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7" name="Group 56">
                <a:extLst>
                  <a:ext uri="{FF2B5EF4-FFF2-40B4-BE49-F238E27FC236}">
                    <a16:creationId xmlns:a16="http://schemas.microsoft.com/office/drawing/2014/main" id="{BFB9AF36-54EE-44C1-9BDB-46F84ADD68FC}"/>
                  </a:ext>
                </a:extLst>
              </p:cNvPr>
              <p:cNvGrpSpPr/>
              <p:nvPr/>
            </p:nvGrpSpPr>
            <p:grpSpPr>
              <a:xfrm>
                <a:off x="4983147" y="3900971"/>
                <a:ext cx="773687" cy="917233"/>
                <a:chOff x="4983147" y="3900971"/>
                <a:chExt cx="773687" cy="917233"/>
              </a:xfrm>
            </p:grpSpPr>
            <p:cxnSp>
              <p:nvCxnSpPr>
                <p:cNvPr id="39" name="Straight Arrow Connector 38">
                  <a:extLst>
                    <a:ext uri="{FF2B5EF4-FFF2-40B4-BE49-F238E27FC236}">
                      <a16:creationId xmlns:a16="http://schemas.microsoft.com/office/drawing/2014/main" id="{6D089515-184D-4657-89EE-661B6437A78B}"/>
                    </a:ext>
                  </a:extLst>
                </p:cNvPr>
                <p:cNvCxnSpPr>
                  <a:cxnSpLocks/>
                  <a:stCxn id="7" idx="3"/>
                  <a:endCxn id="9" idx="7"/>
                </p:cNvCxnSpPr>
                <p:nvPr/>
              </p:nvCxnSpPr>
              <p:spPr>
                <a:xfrm flipH="1">
                  <a:off x="5354102" y="3900971"/>
                  <a:ext cx="402732" cy="572979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9" name="Oval 8">
                  <a:extLst>
                    <a:ext uri="{FF2B5EF4-FFF2-40B4-BE49-F238E27FC236}">
                      <a16:creationId xmlns:a16="http://schemas.microsoft.com/office/drawing/2014/main" id="{916BED35-4399-459D-9EC3-656B5CD910CB}"/>
                    </a:ext>
                  </a:extLst>
                </p:cNvPr>
                <p:cNvSpPr/>
                <p:nvPr/>
              </p:nvSpPr>
              <p:spPr>
                <a:xfrm>
                  <a:off x="4983147" y="4414885"/>
                  <a:ext cx="434601" cy="403319"/>
                </a:xfrm>
                <a:prstGeom prst="ellipse">
                  <a:avLst/>
                </a:prstGeom>
                <a:solidFill>
                  <a:srgbClr val="434343"/>
                </a:solidFill>
                <a:ln w="38100"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G</a:t>
                  </a:r>
                </a:p>
              </p:txBody>
            </p:sp>
          </p:grpSp>
          <p:grpSp>
            <p:nvGrpSpPr>
              <p:cNvPr id="49" name="Group 48">
                <a:extLst>
                  <a:ext uri="{FF2B5EF4-FFF2-40B4-BE49-F238E27FC236}">
                    <a16:creationId xmlns:a16="http://schemas.microsoft.com/office/drawing/2014/main" id="{4218D727-F9EC-49E2-8BFB-585EAF729EE2}"/>
                  </a:ext>
                </a:extLst>
              </p:cNvPr>
              <p:cNvGrpSpPr/>
              <p:nvPr/>
            </p:nvGrpSpPr>
            <p:grpSpPr>
              <a:xfrm>
                <a:off x="4420186" y="3556716"/>
                <a:ext cx="1707603" cy="403320"/>
                <a:chOff x="4420186" y="3556716"/>
                <a:chExt cx="1707603" cy="403320"/>
              </a:xfrm>
            </p:grpSpPr>
            <p:sp>
              <p:nvSpPr>
                <p:cNvPr id="7" name="Oval 6">
                  <a:extLst>
                    <a:ext uri="{FF2B5EF4-FFF2-40B4-BE49-F238E27FC236}">
                      <a16:creationId xmlns:a16="http://schemas.microsoft.com/office/drawing/2014/main" id="{1A1E3508-52C1-4434-92AB-2EAAAD3D9289}"/>
                    </a:ext>
                  </a:extLst>
                </p:cNvPr>
                <p:cNvSpPr/>
                <p:nvPr/>
              </p:nvSpPr>
              <p:spPr>
                <a:xfrm>
                  <a:off x="5693188" y="3556716"/>
                  <a:ext cx="434601" cy="403320"/>
                </a:xfrm>
                <a:prstGeom prst="ellipse">
                  <a:avLst/>
                </a:prstGeom>
                <a:solidFill>
                  <a:srgbClr val="434343"/>
                </a:solidFill>
                <a:ln w="38100"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Y</a:t>
                  </a:r>
                </a:p>
              </p:txBody>
            </p:sp>
            <p:sp>
              <p:nvSpPr>
                <p:cNvPr id="8" name="Oval 7">
                  <a:extLst>
                    <a:ext uri="{FF2B5EF4-FFF2-40B4-BE49-F238E27FC236}">
                      <a16:creationId xmlns:a16="http://schemas.microsoft.com/office/drawing/2014/main" id="{B271D1D0-EAB0-42B9-9462-FB90040DD52E}"/>
                    </a:ext>
                  </a:extLst>
                </p:cNvPr>
                <p:cNvSpPr/>
                <p:nvPr/>
              </p:nvSpPr>
              <p:spPr>
                <a:xfrm>
                  <a:off x="4420186" y="3556716"/>
                  <a:ext cx="434602" cy="403319"/>
                </a:xfrm>
                <a:prstGeom prst="ellipse">
                  <a:avLst/>
                </a:prstGeom>
                <a:solidFill>
                  <a:schemeClr val="accent5">
                    <a:lumMod val="50000"/>
                  </a:schemeClr>
                </a:solidFill>
                <a:ln w="38100">
                  <a:solidFill>
                    <a:schemeClr val="accent5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X</a:t>
                  </a:r>
                </a:p>
              </p:txBody>
            </p:sp>
            <p:cxnSp>
              <p:nvCxnSpPr>
                <p:cNvPr id="45" name="Straight Arrow Connector 44">
                  <a:extLst>
                    <a:ext uri="{FF2B5EF4-FFF2-40B4-BE49-F238E27FC236}">
                      <a16:creationId xmlns:a16="http://schemas.microsoft.com/office/drawing/2014/main" id="{FB529943-B243-454F-842A-82054AE45BEA}"/>
                    </a:ext>
                  </a:extLst>
                </p:cNvPr>
                <p:cNvCxnSpPr>
                  <a:stCxn id="8" idx="6"/>
                  <a:endCxn id="7" idx="2"/>
                </p:cNvCxnSpPr>
                <p:nvPr/>
              </p:nvCxnSpPr>
              <p:spPr>
                <a:xfrm>
                  <a:off x="4854788" y="3758376"/>
                  <a:ext cx="838400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95" name="Group 94">
                <a:extLst>
                  <a:ext uri="{FF2B5EF4-FFF2-40B4-BE49-F238E27FC236}">
                    <a16:creationId xmlns:a16="http://schemas.microsoft.com/office/drawing/2014/main" id="{5426D79D-626A-4A1E-A92A-F6BEAA2CA97B}"/>
                  </a:ext>
                </a:extLst>
              </p:cNvPr>
              <p:cNvGrpSpPr/>
              <p:nvPr/>
            </p:nvGrpSpPr>
            <p:grpSpPr>
              <a:xfrm>
                <a:off x="5417749" y="2669285"/>
                <a:ext cx="1308421" cy="946496"/>
                <a:chOff x="5417749" y="2669285"/>
                <a:chExt cx="1308421" cy="946496"/>
              </a:xfrm>
            </p:grpSpPr>
            <p:sp>
              <p:nvSpPr>
                <p:cNvPr id="58" name="Oval 57">
                  <a:extLst>
                    <a:ext uri="{FF2B5EF4-FFF2-40B4-BE49-F238E27FC236}">
                      <a16:creationId xmlns:a16="http://schemas.microsoft.com/office/drawing/2014/main" id="{3C8ABD49-3FCA-487A-BA3F-A055EB39AABB}"/>
                    </a:ext>
                  </a:extLst>
                </p:cNvPr>
                <p:cNvSpPr/>
                <p:nvPr/>
              </p:nvSpPr>
              <p:spPr>
                <a:xfrm>
                  <a:off x="6291569" y="2669285"/>
                  <a:ext cx="434601" cy="403319"/>
                </a:xfrm>
                <a:prstGeom prst="ellipse">
                  <a:avLst/>
                </a:prstGeom>
                <a:solidFill>
                  <a:srgbClr val="434343"/>
                </a:solidFill>
                <a:ln w="38100"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I</a:t>
                  </a:r>
                </a:p>
              </p:txBody>
            </p:sp>
            <p:cxnSp>
              <p:nvCxnSpPr>
                <p:cNvPr id="70" name="Straight Arrow Connector 69">
                  <a:extLst>
                    <a:ext uri="{FF2B5EF4-FFF2-40B4-BE49-F238E27FC236}">
                      <a16:creationId xmlns:a16="http://schemas.microsoft.com/office/drawing/2014/main" id="{A6A46A88-0C5F-4EAF-BFC8-280A0E8E6233}"/>
                    </a:ext>
                  </a:extLst>
                </p:cNvPr>
                <p:cNvCxnSpPr>
                  <a:cxnSpLocks/>
                  <a:stCxn id="58" idx="4"/>
                  <a:endCxn id="7" idx="7"/>
                </p:cNvCxnSpPr>
                <p:nvPr/>
              </p:nvCxnSpPr>
              <p:spPr>
                <a:xfrm flipH="1">
                  <a:off x="6064143" y="3072604"/>
                  <a:ext cx="444727" cy="543177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2" name="Straight Arrow Connector 71">
                  <a:extLst>
                    <a:ext uri="{FF2B5EF4-FFF2-40B4-BE49-F238E27FC236}">
                      <a16:creationId xmlns:a16="http://schemas.microsoft.com/office/drawing/2014/main" id="{9E33A4A0-66E4-4E30-8EF9-A4AA0C0DD201}"/>
                    </a:ext>
                  </a:extLst>
                </p:cNvPr>
                <p:cNvCxnSpPr>
                  <a:stCxn id="15" idx="6"/>
                  <a:endCxn id="58" idx="2"/>
                </p:cNvCxnSpPr>
                <p:nvPr/>
              </p:nvCxnSpPr>
              <p:spPr>
                <a:xfrm>
                  <a:off x="5417749" y="2860861"/>
                  <a:ext cx="873820" cy="10084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33B8EF31-3011-472D-AD87-437CEA8A2CFF}"/>
                </a:ext>
              </a:extLst>
            </p:cNvPr>
            <p:cNvCxnSpPr>
              <a:cxnSpLocks/>
              <a:stCxn id="8" idx="4"/>
              <a:endCxn id="9" idx="1"/>
            </p:cNvCxnSpPr>
            <p:nvPr/>
          </p:nvCxnSpPr>
          <p:spPr>
            <a:xfrm>
              <a:off x="6829358" y="3334747"/>
              <a:ext cx="409306" cy="51391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95E55AF-D013-4C2D-9247-73DD7B73F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131"/>
            <a:ext cx="12192000" cy="1340136"/>
          </a:xfrm>
        </p:spPr>
        <p:txBody>
          <a:bodyPr/>
          <a:lstStyle/>
          <a:p>
            <a:pPr algn="ctr"/>
            <a:r>
              <a:rPr lang="en-GB" dirty="0"/>
              <a:t>Close all backdoor paths of information flow</a:t>
            </a:r>
          </a:p>
        </p:txBody>
      </p:sp>
      <p:sp>
        <p:nvSpPr>
          <p:cNvPr id="48" name="Google Shape;75;p15">
            <a:extLst>
              <a:ext uri="{FF2B5EF4-FFF2-40B4-BE49-F238E27FC236}">
                <a16:creationId xmlns:a16="http://schemas.microsoft.com/office/drawing/2014/main" id="{A02B5B09-5B79-4DAD-BE48-C0E974D9F164}"/>
              </a:ext>
            </a:extLst>
          </p:cNvPr>
          <p:cNvSpPr/>
          <p:nvPr/>
        </p:nvSpPr>
        <p:spPr>
          <a:xfrm>
            <a:off x="4347584" y="840241"/>
            <a:ext cx="3496833" cy="140300"/>
          </a:xfrm>
          <a:custGeom>
            <a:avLst/>
            <a:gdLst/>
            <a:ahLst/>
            <a:cxnLst/>
            <a:rect l="l" t="t" r="r" b="b"/>
            <a:pathLst>
              <a:path w="104905" h="4209" extrusionOk="0">
                <a:moveTo>
                  <a:pt x="0" y="2010"/>
                </a:moveTo>
                <a:cubicBezTo>
                  <a:pt x="34411" y="-4246"/>
                  <a:pt x="71725" y="11060"/>
                  <a:pt x="104905" y="0"/>
                </a:cubicBezTo>
              </a:path>
            </a:pathLst>
          </a:custGeom>
          <a:noFill/>
          <a:ln w="19050" cap="flat" cmpd="sng">
            <a:solidFill>
              <a:srgbClr val="4C113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81A2B5C8-F4F4-407E-A5E3-78D07490110E}"/>
                  </a:ext>
                </a:extLst>
              </p:cNvPr>
              <p:cNvSpPr txBox="1"/>
              <p:nvPr/>
            </p:nvSpPr>
            <p:spPr>
              <a:xfrm>
                <a:off x="93023" y="1161239"/>
                <a:ext cx="8214947" cy="53440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133" b="1" dirty="0">
                    <a:solidFill>
                      <a:srgbClr val="7030A0"/>
                    </a:solidFill>
                  </a:rPr>
                  <a:t>Path 1:</a:t>
                </a:r>
                <a14:m>
                  <m:oMath xmlns:m="http://schemas.openxmlformats.org/officeDocument/2006/math">
                    <m:r>
                      <a:rPr lang="en-GB" sz="2133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2133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GB" sz="2133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GB" sz="2133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𝒀</m:t>
                    </m:r>
                  </m:oMath>
                </a14:m>
                <a:endParaRPr lang="en-GB" sz="2133" b="1" i="1" dirty="0">
                  <a:solidFill>
                    <a:srgbClr val="7030A0"/>
                  </a:solidFill>
                  <a:latin typeface="Cambria Math" panose="02040503050406030204" pitchFamily="18" charset="0"/>
                </a:endParaRPr>
              </a:p>
              <a:p>
                <a:r>
                  <a:rPr lang="en-GB" sz="2133" dirty="0">
                    <a:solidFill>
                      <a:srgbClr val="434343"/>
                    </a:solidFill>
                  </a:rPr>
                  <a:t>We want the information to “flow”, so we include X and Y in the model.</a:t>
                </a:r>
              </a:p>
              <a:p>
                <a:endParaRPr lang="en-GB" sz="2133" dirty="0">
                  <a:solidFill>
                    <a:srgbClr val="434343"/>
                  </a:solidFill>
                </a:endParaRPr>
              </a:p>
              <a:p>
                <a:r>
                  <a:rPr lang="en-GB" sz="2133" b="1" dirty="0">
                    <a:solidFill>
                      <a:srgbClr val="7030A0"/>
                    </a:solidFill>
                  </a:rPr>
                  <a:t>Path 2:</a:t>
                </a:r>
                <a14:m>
                  <m:oMath xmlns:m="http://schemas.openxmlformats.org/officeDocument/2006/math">
                    <m:r>
                      <a:rPr lang="en-GB" sz="2133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2133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GB" sz="2133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←</m:t>
                    </m:r>
                    <m:r>
                      <a:rPr lang="en-GB" sz="2133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𝑫</m:t>
                    </m:r>
                    <m:r>
                      <a:rPr lang="en-GB" sz="2133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GB" sz="2133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𝑰</m:t>
                    </m:r>
                    <m:r>
                      <a:rPr lang="en-GB" sz="2133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GB" sz="2133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𝒀</m:t>
                    </m:r>
                  </m:oMath>
                </a14:m>
                <a:endParaRPr lang="en-GB" sz="2133" b="1" i="1" dirty="0">
                  <a:solidFill>
                    <a:srgbClr val="7030A0"/>
                  </a:solidFill>
                  <a:latin typeface="Cambria Math" panose="02040503050406030204" pitchFamily="18" charset="0"/>
                </a:endParaRPr>
              </a:p>
              <a:p>
                <a:r>
                  <a:rPr lang="en-GB" sz="2133" dirty="0">
                    <a:solidFill>
                      <a:srgbClr val="434343"/>
                    </a:solidFill>
                  </a:rPr>
                  <a:t>We do not want the information to “flow” on this path, so we need to make sure it is closed.</a:t>
                </a:r>
              </a:p>
              <a:p>
                <a14:m>
                  <m:oMath xmlns:m="http://schemas.openxmlformats.org/officeDocument/2006/math">
                    <m:r>
                      <a:rPr lang="en-GB" sz="2133" i="1">
                        <a:solidFill>
                          <a:srgbClr val="434343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GB" sz="2133" b="1" i="1">
                        <a:solidFill>
                          <a:srgbClr val="434343"/>
                        </a:solidFill>
                        <a:latin typeface="Cambria Math" panose="02040503050406030204" pitchFamily="18" charset="0"/>
                      </a:rPr>
                      <m:t>←</m:t>
                    </m:r>
                    <m:r>
                      <a:rPr lang="en-GB" sz="2133" b="1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𝑫</m:t>
                    </m:r>
                    <m:r>
                      <a:rPr lang="en-GB" sz="2133" i="1">
                        <a:solidFill>
                          <a:srgbClr val="434343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GB" sz="2133" i="1">
                        <a:solidFill>
                          <a:srgbClr val="434343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GB" sz="2133" dirty="0">
                    <a:solidFill>
                      <a:srgbClr val="434343"/>
                    </a:solidFill>
                  </a:rPr>
                  <a:t> is a forked confound, and </a:t>
                </a:r>
                <a14:m>
                  <m:oMath xmlns:m="http://schemas.openxmlformats.org/officeDocument/2006/math">
                    <m:r>
                      <a:rPr lang="en-GB" sz="2133" i="1">
                        <a:solidFill>
                          <a:srgbClr val="434343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GB" sz="2133" i="1">
                        <a:solidFill>
                          <a:srgbClr val="434343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GB" sz="2133" b="1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𝑰</m:t>
                    </m:r>
                    <m:r>
                      <a:rPr lang="en-GB" sz="2133" i="1">
                        <a:solidFill>
                          <a:srgbClr val="434343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GB" sz="2133" i="1">
                        <a:solidFill>
                          <a:srgbClr val="434343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GB" sz="2133" i="1" dirty="0">
                    <a:solidFill>
                      <a:srgbClr val="434343"/>
                    </a:solidFill>
                  </a:rPr>
                  <a:t> </a:t>
                </a:r>
                <a:r>
                  <a:rPr lang="en-GB" sz="2133" dirty="0">
                    <a:solidFill>
                      <a:srgbClr val="434343"/>
                    </a:solidFill>
                  </a:rPr>
                  <a:t>is a piped confound, so path is currently open. To close this path (and focus on </a:t>
                </a:r>
                <a14:m>
                  <m:oMath xmlns:m="http://schemas.openxmlformats.org/officeDocument/2006/math">
                    <m:r>
                      <a:rPr lang="en-GB" sz="2133" i="1">
                        <a:solidFill>
                          <a:srgbClr val="434343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GB" sz="2133" i="1">
                        <a:solidFill>
                          <a:srgbClr val="434343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GB" sz="2133" i="1">
                        <a:solidFill>
                          <a:srgbClr val="434343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GB" sz="2133" dirty="0">
                    <a:solidFill>
                      <a:srgbClr val="434343"/>
                    </a:solidFill>
                  </a:rPr>
                  <a:t>), we need to include either </a:t>
                </a:r>
                <a14:m>
                  <m:oMath xmlns:m="http://schemas.openxmlformats.org/officeDocument/2006/math">
                    <m:r>
                      <a:rPr lang="en-GB" sz="2133" i="1" dirty="0">
                        <a:solidFill>
                          <a:srgbClr val="434343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GB" sz="2133" dirty="0">
                    <a:solidFill>
                      <a:srgbClr val="434343"/>
                    </a:solidFill>
                  </a:rPr>
                  <a:t> or </a:t>
                </a:r>
                <a14:m>
                  <m:oMath xmlns:m="http://schemas.openxmlformats.org/officeDocument/2006/math">
                    <m:r>
                      <a:rPr lang="en-GB" sz="2133" i="1" dirty="0">
                        <a:solidFill>
                          <a:srgbClr val="434343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GB" sz="2133" dirty="0">
                    <a:solidFill>
                      <a:srgbClr val="434343"/>
                    </a:solidFill>
                  </a:rPr>
                  <a:t> in the model.</a:t>
                </a:r>
              </a:p>
              <a:p>
                <a:endParaRPr lang="en-GB" sz="2133" dirty="0">
                  <a:solidFill>
                    <a:srgbClr val="434343"/>
                  </a:solidFill>
                </a:endParaRPr>
              </a:p>
              <a:p>
                <a:r>
                  <a:rPr lang="en-GB" sz="2133" b="1" dirty="0">
                    <a:solidFill>
                      <a:srgbClr val="7030A0"/>
                    </a:solidFill>
                  </a:rPr>
                  <a:t>Path 3:</a:t>
                </a:r>
                <a14:m>
                  <m:oMath xmlns:m="http://schemas.openxmlformats.org/officeDocument/2006/math">
                    <m:r>
                      <a:rPr lang="en-GB" sz="2133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2133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GB" sz="2133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GB" sz="2133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GB" sz="2133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←</m:t>
                    </m:r>
                    <m:r>
                      <a:rPr lang="en-GB" sz="2133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𝒀</m:t>
                    </m:r>
                  </m:oMath>
                </a14:m>
                <a:endParaRPr lang="en-GB" sz="2133" b="1" i="1" dirty="0">
                  <a:solidFill>
                    <a:srgbClr val="7030A0"/>
                  </a:solidFill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GB" sz="2133" i="1">
                        <a:solidFill>
                          <a:srgbClr val="434343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GB" sz="2133" i="1">
                        <a:solidFill>
                          <a:srgbClr val="434343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GB" sz="2133" b="1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GB" sz="2133" i="1">
                        <a:solidFill>
                          <a:srgbClr val="434343"/>
                        </a:solidFill>
                        <a:latin typeface="Cambria Math" panose="02040503050406030204" pitchFamily="18" charset="0"/>
                      </a:rPr>
                      <m:t>←</m:t>
                    </m:r>
                    <m:r>
                      <a:rPr lang="en-GB" sz="2133" i="1">
                        <a:solidFill>
                          <a:srgbClr val="434343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GB" sz="2133" i="1" dirty="0">
                    <a:solidFill>
                      <a:srgbClr val="434343"/>
                    </a:solidFill>
                    <a:latin typeface="Cambria Math" panose="02040503050406030204" pitchFamily="18" charset="0"/>
                  </a:rPr>
                  <a:t> </a:t>
                </a:r>
                <a:r>
                  <a:rPr lang="en-GB" sz="2133" dirty="0">
                    <a:solidFill>
                      <a:srgbClr val="434343"/>
                    </a:solidFill>
                  </a:rPr>
                  <a:t>is a collider confound, so it is closed unless we added G to the model. To keep it closed, we need to exclude G from the model.</a:t>
                </a:r>
                <a:endParaRPr lang="en-GB" sz="2133" i="1" dirty="0">
                  <a:solidFill>
                    <a:srgbClr val="434343"/>
                  </a:solidFill>
                  <a:latin typeface="Cambria Math" panose="02040503050406030204" pitchFamily="18" charset="0"/>
                </a:endParaRPr>
              </a:p>
              <a:p>
                <a:endParaRPr lang="en-GB" sz="2133" dirty="0">
                  <a:solidFill>
                    <a:srgbClr val="434343"/>
                  </a:solidFill>
                </a:endParaRPr>
              </a:p>
            </p:txBody>
          </p:sp>
        </mc:Choice>
        <mc:Fallback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81A2B5C8-F4F4-407E-A5E3-78D0749011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023" y="1161239"/>
                <a:ext cx="8214947" cy="5344027"/>
              </a:xfrm>
              <a:prstGeom prst="rect">
                <a:avLst/>
              </a:prstGeom>
              <a:blipFill>
                <a:blip r:embed="rId3"/>
                <a:stretch>
                  <a:fillRect l="-890" t="-79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11932378-2EF9-4379-B749-BE1CF212E322}"/>
                  </a:ext>
                </a:extLst>
              </p:cNvPr>
              <p:cNvSpPr txBox="1"/>
              <p:nvPr/>
            </p:nvSpPr>
            <p:spPr>
              <a:xfrm>
                <a:off x="8333544" y="4805623"/>
                <a:ext cx="3732112" cy="15696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2400" dirty="0"/>
                  <a:t>The model we should run: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 ~ 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en-GB" sz="2400" dirty="0"/>
              </a:p>
              <a:p>
                <a:pPr algn="ctr"/>
                <a:r>
                  <a:rPr lang="en-GB" sz="2400" dirty="0"/>
                  <a:t>Or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 ~ 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11932378-2EF9-4379-B749-BE1CF212E3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3544" y="4805623"/>
                <a:ext cx="3732112" cy="1569660"/>
              </a:xfrm>
              <a:prstGeom prst="rect">
                <a:avLst/>
              </a:prstGeom>
              <a:blipFill>
                <a:blip r:embed="rId4"/>
                <a:stretch>
                  <a:fillRect l="-2451" t="-3101" r="-163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47893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E55AF-D013-4C2D-9247-73DD7B73F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131"/>
            <a:ext cx="12192000" cy="1340136"/>
          </a:xfrm>
        </p:spPr>
        <p:txBody>
          <a:bodyPr/>
          <a:lstStyle/>
          <a:p>
            <a:pPr algn="ctr"/>
            <a:r>
              <a:rPr lang="en-GB" dirty="0"/>
              <a:t>How well does our approach work?</a:t>
            </a:r>
          </a:p>
        </p:txBody>
      </p:sp>
      <p:sp>
        <p:nvSpPr>
          <p:cNvPr id="48" name="Google Shape;75;p15">
            <a:extLst>
              <a:ext uri="{FF2B5EF4-FFF2-40B4-BE49-F238E27FC236}">
                <a16:creationId xmlns:a16="http://schemas.microsoft.com/office/drawing/2014/main" id="{A02B5B09-5B79-4DAD-BE48-C0E974D9F164}"/>
              </a:ext>
            </a:extLst>
          </p:cNvPr>
          <p:cNvSpPr/>
          <p:nvPr/>
        </p:nvSpPr>
        <p:spPr>
          <a:xfrm>
            <a:off x="4347584" y="840241"/>
            <a:ext cx="3496833" cy="140300"/>
          </a:xfrm>
          <a:custGeom>
            <a:avLst/>
            <a:gdLst/>
            <a:ahLst/>
            <a:cxnLst/>
            <a:rect l="l" t="t" r="r" b="b"/>
            <a:pathLst>
              <a:path w="104905" h="4209" extrusionOk="0">
                <a:moveTo>
                  <a:pt x="0" y="2010"/>
                </a:moveTo>
                <a:cubicBezTo>
                  <a:pt x="34411" y="-4246"/>
                  <a:pt x="71725" y="11060"/>
                  <a:pt x="104905" y="0"/>
                </a:cubicBezTo>
              </a:path>
            </a:pathLst>
          </a:custGeom>
          <a:noFill/>
          <a:ln w="19050" cap="flat" cmpd="sng">
            <a:solidFill>
              <a:srgbClr val="4C113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81A2B5C8-F4F4-407E-A5E3-78D07490110E}"/>
                  </a:ext>
                </a:extLst>
              </p:cNvPr>
              <p:cNvSpPr txBox="1"/>
              <p:nvPr/>
            </p:nvSpPr>
            <p:spPr>
              <a:xfrm>
                <a:off x="504019" y="1977216"/>
                <a:ext cx="7246979" cy="40664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133" dirty="0">
                    <a:solidFill>
                      <a:srgbClr val="434343"/>
                    </a:solidFill>
                  </a:rPr>
                  <a:t>I simulate the causal relationships (figure </a:t>
                </a:r>
                <a14:m>
                  <m:oMath xmlns:m="http://schemas.openxmlformats.org/officeDocument/2006/math">
                    <m:r>
                      <a:rPr lang="en-GB" sz="2133" i="1">
                        <a:solidFill>
                          <a:srgbClr val="434343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GB" sz="2133" dirty="0">
                    <a:solidFill>
                      <a:srgbClr val="434343"/>
                    </a:solidFill>
                  </a:rPr>
                  <a:t>).</a:t>
                </a:r>
              </a:p>
              <a:p>
                <a:endParaRPr lang="en-GB" sz="2133" dirty="0">
                  <a:solidFill>
                    <a:srgbClr val="434343"/>
                  </a:solidFill>
                </a:endParaRPr>
              </a:p>
              <a:p>
                <a:r>
                  <a:rPr lang="en-GB" sz="2133" dirty="0">
                    <a:solidFill>
                      <a:srgbClr val="434343"/>
                    </a:solidFill>
                  </a:rPr>
                  <a:t>I specify the effect of </a:t>
                </a:r>
                <a:r>
                  <a:rPr lang="en-GB" sz="2133" b="1" dirty="0">
                    <a:solidFill>
                      <a:srgbClr val="7030A0"/>
                    </a:solidFill>
                  </a:rPr>
                  <a:t>X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133" b="1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133" b="1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  <m:sub>
                        <m:r>
                          <a:rPr lang="en-GB" sz="2133" b="1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sub>
                    </m:sSub>
                  </m:oMath>
                </a14:m>
                <a:r>
                  <a:rPr lang="en-GB" sz="2133" b="1" dirty="0">
                    <a:solidFill>
                      <a:srgbClr val="7030A0"/>
                    </a:solidFill>
                  </a:rPr>
                  <a:t>) on Y to be 2</a:t>
                </a:r>
                <a:r>
                  <a:rPr lang="en-GB" sz="2133" dirty="0">
                    <a:solidFill>
                      <a:srgbClr val="434343"/>
                    </a:solidFill>
                  </a:rPr>
                  <a:t>, i.e., Y increases by 2 for every unit increase in X.</a:t>
                </a:r>
              </a:p>
              <a:p>
                <a:endParaRPr lang="en-GB" sz="2133" dirty="0">
                  <a:solidFill>
                    <a:srgbClr val="434343"/>
                  </a:solidFill>
                </a:endParaRPr>
              </a:p>
              <a:p>
                <a:r>
                  <a:rPr lang="en-GB" sz="2133" dirty="0">
                    <a:solidFill>
                      <a:srgbClr val="434343"/>
                    </a:solidFill>
                  </a:rPr>
                  <a:t>When I run the model </a:t>
                </a:r>
                <a14:m>
                  <m:oMath xmlns:m="http://schemas.openxmlformats.org/officeDocument/2006/math">
                    <m:r>
                      <a:rPr lang="en-GB" sz="2133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𝒀</m:t>
                    </m:r>
                    <m:r>
                      <a:rPr lang="en-GB" sz="2133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 ~ </m:t>
                    </m:r>
                    <m:r>
                      <a:rPr lang="en-GB" sz="2133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n-GB" sz="2133" dirty="0">
                    <a:solidFill>
                      <a:srgbClr val="434343"/>
                    </a:solidFill>
                  </a:rPr>
                  <a:t>, the effect of X is estimated as: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GB" sz="2133" b="1" i="1" dirty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GB" sz="2133" b="1" i="1" dirty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133" b="1" i="1" dirty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𝜷</m:t>
                              </m:r>
                            </m:e>
                            <m:sub>
                              <m:r>
                                <a:rPr lang="en-GB" sz="2133" b="1" i="1" dirty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sub>
                          </m:sSub>
                        </m:e>
                      </m:acc>
                      <m:r>
                        <a:rPr lang="en-GB" sz="2133" b="1" i="1" dirty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GB" sz="2133" b="1" i="1" dirty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GB" sz="2133" b="1" i="1" dirty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GB" sz="2133" b="1" i="1" dirty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GB" sz="2133" b="1" i="1" dirty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133" i="1" dirty="0">
                          <a:solidFill>
                            <a:srgbClr val="434343"/>
                          </a:solidFill>
                          <a:latin typeface="Cambria Math" panose="02040503050406030204" pitchFamily="18" charset="0"/>
                        </a:rPr>
                        <m:t>[0.03, 0.85 95% </m:t>
                      </m:r>
                      <m:r>
                        <a:rPr lang="en-GB" sz="2133" i="1" dirty="0">
                          <a:solidFill>
                            <a:srgbClr val="434343"/>
                          </a:solidFill>
                          <a:latin typeface="Cambria Math" panose="02040503050406030204" pitchFamily="18" charset="0"/>
                        </a:rPr>
                        <m:t>𝐶𝐼</m:t>
                      </m:r>
                      <m:r>
                        <a:rPr lang="en-GB" sz="2133" i="1" dirty="0">
                          <a:solidFill>
                            <a:srgbClr val="434343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GB" sz="2133" dirty="0">
                  <a:solidFill>
                    <a:srgbClr val="434343"/>
                  </a:solidFill>
                </a:endParaRPr>
              </a:p>
              <a:p>
                <a:endParaRPr lang="en-GB" sz="2133" dirty="0">
                  <a:solidFill>
                    <a:srgbClr val="434343"/>
                  </a:solidFill>
                </a:endParaRPr>
              </a:p>
              <a:p>
                <a:r>
                  <a:rPr lang="en-GB" sz="2133" dirty="0">
                    <a:solidFill>
                      <a:srgbClr val="434343"/>
                    </a:solidFill>
                  </a:rPr>
                  <a:t>When I run the model </a:t>
                </a:r>
                <a14:m>
                  <m:oMath xmlns:m="http://schemas.openxmlformats.org/officeDocument/2006/math">
                    <m:r>
                      <a:rPr lang="en-GB" sz="2133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𝒀</m:t>
                    </m:r>
                    <m:r>
                      <a:rPr lang="en-GB" sz="2133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 ~ </m:t>
                    </m:r>
                    <m:r>
                      <a:rPr lang="en-GB" sz="2133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GB" sz="2133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133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𝑰</m:t>
                    </m:r>
                  </m:oMath>
                </a14:m>
                <a:r>
                  <a:rPr lang="en-GB" sz="2133" dirty="0">
                    <a:solidFill>
                      <a:srgbClr val="434343"/>
                    </a:solidFill>
                  </a:rPr>
                  <a:t>, the effect of X is estimated as: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GB" sz="2133" b="1" i="1" dirty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GB" sz="2133" b="1" i="1" dirty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133" b="1" i="1" dirty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𝜷</m:t>
                              </m:r>
                            </m:e>
                            <m:sub>
                              <m:r>
                                <a:rPr lang="en-GB" sz="2133" b="1" i="1" dirty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sub>
                          </m:sSub>
                        </m:e>
                      </m:acc>
                      <m:r>
                        <a:rPr lang="en-GB" sz="2133" b="1" i="1" dirty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GB" sz="2133" b="1" i="1" dirty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GB" sz="2133" b="1" i="1" dirty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GB" sz="2133" b="1" i="1" dirty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GB" sz="2133" b="1" i="1" dirty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133" i="1" dirty="0">
                          <a:solidFill>
                            <a:srgbClr val="434343"/>
                          </a:solidFill>
                          <a:latin typeface="Cambria Math" panose="02040503050406030204" pitchFamily="18" charset="0"/>
                        </a:rPr>
                        <m:t>[2.00, 2.11 95% </m:t>
                      </m:r>
                      <m:r>
                        <a:rPr lang="en-GB" sz="2133" i="1" dirty="0">
                          <a:solidFill>
                            <a:srgbClr val="434343"/>
                          </a:solidFill>
                          <a:latin typeface="Cambria Math" panose="02040503050406030204" pitchFamily="18" charset="0"/>
                        </a:rPr>
                        <m:t>𝐶𝐼</m:t>
                      </m:r>
                      <m:r>
                        <a:rPr lang="en-GB" sz="2133" i="1" dirty="0">
                          <a:solidFill>
                            <a:srgbClr val="434343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GB" sz="2133" dirty="0">
                  <a:solidFill>
                    <a:srgbClr val="434343"/>
                  </a:solidFill>
                </a:endParaRPr>
              </a:p>
            </p:txBody>
          </p:sp>
        </mc:Choice>
        <mc:Fallback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81A2B5C8-F4F4-407E-A5E3-78D0749011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019" y="1977216"/>
                <a:ext cx="7246979" cy="4066498"/>
              </a:xfrm>
              <a:prstGeom prst="rect">
                <a:avLst/>
              </a:prstGeom>
              <a:blipFill>
                <a:blip r:embed="rId2"/>
                <a:stretch>
                  <a:fillRect l="-1010" t="-900" b="-119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4" name="Group 43">
            <a:extLst>
              <a:ext uri="{FF2B5EF4-FFF2-40B4-BE49-F238E27FC236}">
                <a16:creationId xmlns:a16="http://schemas.microsoft.com/office/drawing/2014/main" id="{57F8FDA0-1D31-4579-93CE-5265A2AAD56E}"/>
              </a:ext>
            </a:extLst>
          </p:cNvPr>
          <p:cNvGrpSpPr/>
          <p:nvPr/>
        </p:nvGrpSpPr>
        <p:grpSpPr>
          <a:xfrm>
            <a:off x="8447498" y="1132201"/>
            <a:ext cx="3074645" cy="2878671"/>
            <a:chOff x="6612057" y="2033913"/>
            <a:chExt cx="2305984" cy="2159003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43A09443-7A64-4EAE-8E2C-36AD7E6DEB0F}"/>
                </a:ext>
              </a:extLst>
            </p:cNvPr>
            <p:cNvGrpSpPr/>
            <p:nvPr/>
          </p:nvGrpSpPr>
          <p:grpSpPr>
            <a:xfrm>
              <a:off x="6612057" y="2033913"/>
              <a:ext cx="2305984" cy="2159003"/>
              <a:chOff x="4420186" y="2659201"/>
              <a:chExt cx="2305984" cy="2159003"/>
            </a:xfrm>
          </p:grpSpPr>
          <p:grpSp>
            <p:nvGrpSpPr>
              <p:cNvPr id="52" name="Group 51">
                <a:extLst>
                  <a:ext uri="{FF2B5EF4-FFF2-40B4-BE49-F238E27FC236}">
                    <a16:creationId xmlns:a16="http://schemas.microsoft.com/office/drawing/2014/main" id="{CA87F539-B7A4-4B13-BBAC-5F534768D878}"/>
                  </a:ext>
                </a:extLst>
              </p:cNvPr>
              <p:cNvGrpSpPr/>
              <p:nvPr/>
            </p:nvGrpSpPr>
            <p:grpSpPr>
              <a:xfrm>
                <a:off x="4637487" y="2659201"/>
                <a:ext cx="780262" cy="897515"/>
                <a:chOff x="4637487" y="2659201"/>
                <a:chExt cx="780262" cy="897515"/>
              </a:xfrm>
            </p:grpSpPr>
            <p:sp>
              <p:nvSpPr>
                <p:cNvPr id="15" name="Oval 14">
                  <a:extLst>
                    <a:ext uri="{FF2B5EF4-FFF2-40B4-BE49-F238E27FC236}">
                      <a16:creationId xmlns:a16="http://schemas.microsoft.com/office/drawing/2014/main" id="{6C277CBE-A73F-48D0-BE0B-FE8F397E495B}"/>
                    </a:ext>
                  </a:extLst>
                </p:cNvPr>
                <p:cNvSpPr/>
                <p:nvPr/>
              </p:nvSpPr>
              <p:spPr>
                <a:xfrm>
                  <a:off x="4983148" y="2659201"/>
                  <a:ext cx="434601" cy="403319"/>
                </a:xfrm>
                <a:prstGeom prst="ellipse">
                  <a:avLst/>
                </a:prstGeom>
                <a:solidFill>
                  <a:srgbClr val="434343"/>
                </a:solidFill>
                <a:ln w="38100"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D</a:t>
                  </a:r>
                </a:p>
              </p:txBody>
            </p:sp>
            <p:cxnSp>
              <p:nvCxnSpPr>
                <p:cNvPr id="25" name="Straight Arrow Connector 24">
                  <a:extLst>
                    <a:ext uri="{FF2B5EF4-FFF2-40B4-BE49-F238E27FC236}">
                      <a16:creationId xmlns:a16="http://schemas.microsoft.com/office/drawing/2014/main" id="{0E3544E3-B814-4FBB-B3F7-6E7B604F9FC7}"/>
                    </a:ext>
                  </a:extLst>
                </p:cNvPr>
                <p:cNvCxnSpPr>
                  <a:cxnSpLocks/>
                  <a:stCxn id="15" idx="3"/>
                  <a:endCxn id="8" idx="0"/>
                </p:cNvCxnSpPr>
                <p:nvPr/>
              </p:nvCxnSpPr>
              <p:spPr>
                <a:xfrm flipH="1">
                  <a:off x="4637487" y="3003455"/>
                  <a:ext cx="409307" cy="553261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7" name="Group 56">
                <a:extLst>
                  <a:ext uri="{FF2B5EF4-FFF2-40B4-BE49-F238E27FC236}">
                    <a16:creationId xmlns:a16="http://schemas.microsoft.com/office/drawing/2014/main" id="{BFB9AF36-54EE-44C1-9BDB-46F84ADD68FC}"/>
                  </a:ext>
                </a:extLst>
              </p:cNvPr>
              <p:cNvGrpSpPr/>
              <p:nvPr/>
            </p:nvGrpSpPr>
            <p:grpSpPr>
              <a:xfrm>
                <a:off x="4983147" y="3900971"/>
                <a:ext cx="773687" cy="917233"/>
                <a:chOff x="4983147" y="3900971"/>
                <a:chExt cx="773687" cy="917233"/>
              </a:xfrm>
            </p:grpSpPr>
            <p:cxnSp>
              <p:nvCxnSpPr>
                <p:cNvPr id="39" name="Straight Arrow Connector 38">
                  <a:extLst>
                    <a:ext uri="{FF2B5EF4-FFF2-40B4-BE49-F238E27FC236}">
                      <a16:creationId xmlns:a16="http://schemas.microsoft.com/office/drawing/2014/main" id="{6D089515-184D-4657-89EE-661B6437A78B}"/>
                    </a:ext>
                  </a:extLst>
                </p:cNvPr>
                <p:cNvCxnSpPr>
                  <a:cxnSpLocks/>
                  <a:stCxn id="7" idx="3"/>
                  <a:endCxn id="9" idx="7"/>
                </p:cNvCxnSpPr>
                <p:nvPr/>
              </p:nvCxnSpPr>
              <p:spPr>
                <a:xfrm flipH="1">
                  <a:off x="5354102" y="3900971"/>
                  <a:ext cx="402732" cy="572979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9" name="Oval 8">
                  <a:extLst>
                    <a:ext uri="{FF2B5EF4-FFF2-40B4-BE49-F238E27FC236}">
                      <a16:creationId xmlns:a16="http://schemas.microsoft.com/office/drawing/2014/main" id="{916BED35-4399-459D-9EC3-656B5CD910CB}"/>
                    </a:ext>
                  </a:extLst>
                </p:cNvPr>
                <p:cNvSpPr/>
                <p:nvPr/>
              </p:nvSpPr>
              <p:spPr>
                <a:xfrm>
                  <a:off x="4983147" y="4414885"/>
                  <a:ext cx="434601" cy="403319"/>
                </a:xfrm>
                <a:prstGeom prst="ellipse">
                  <a:avLst/>
                </a:prstGeom>
                <a:solidFill>
                  <a:srgbClr val="434343"/>
                </a:solidFill>
                <a:ln w="38100"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G</a:t>
                  </a:r>
                </a:p>
              </p:txBody>
            </p:sp>
          </p:grpSp>
          <p:grpSp>
            <p:nvGrpSpPr>
              <p:cNvPr id="49" name="Group 48">
                <a:extLst>
                  <a:ext uri="{FF2B5EF4-FFF2-40B4-BE49-F238E27FC236}">
                    <a16:creationId xmlns:a16="http://schemas.microsoft.com/office/drawing/2014/main" id="{4218D727-F9EC-49E2-8BFB-585EAF729EE2}"/>
                  </a:ext>
                </a:extLst>
              </p:cNvPr>
              <p:cNvGrpSpPr/>
              <p:nvPr/>
            </p:nvGrpSpPr>
            <p:grpSpPr>
              <a:xfrm>
                <a:off x="4420186" y="3556716"/>
                <a:ext cx="1707603" cy="403320"/>
                <a:chOff x="4420186" y="3556716"/>
                <a:chExt cx="1707603" cy="403320"/>
              </a:xfrm>
            </p:grpSpPr>
            <p:sp>
              <p:nvSpPr>
                <p:cNvPr id="7" name="Oval 6">
                  <a:extLst>
                    <a:ext uri="{FF2B5EF4-FFF2-40B4-BE49-F238E27FC236}">
                      <a16:creationId xmlns:a16="http://schemas.microsoft.com/office/drawing/2014/main" id="{1A1E3508-52C1-4434-92AB-2EAAAD3D9289}"/>
                    </a:ext>
                  </a:extLst>
                </p:cNvPr>
                <p:cNvSpPr/>
                <p:nvPr/>
              </p:nvSpPr>
              <p:spPr>
                <a:xfrm>
                  <a:off x="5693188" y="3556716"/>
                  <a:ext cx="434601" cy="403320"/>
                </a:xfrm>
                <a:prstGeom prst="ellipse">
                  <a:avLst/>
                </a:prstGeom>
                <a:solidFill>
                  <a:srgbClr val="434343"/>
                </a:solidFill>
                <a:ln w="38100"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Y</a:t>
                  </a:r>
                </a:p>
              </p:txBody>
            </p:sp>
            <p:sp>
              <p:nvSpPr>
                <p:cNvPr id="8" name="Oval 7">
                  <a:extLst>
                    <a:ext uri="{FF2B5EF4-FFF2-40B4-BE49-F238E27FC236}">
                      <a16:creationId xmlns:a16="http://schemas.microsoft.com/office/drawing/2014/main" id="{B271D1D0-EAB0-42B9-9462-FB90040DD52E}"/>
                    </a:ext>
                  </a:extLst>
                </p:cNvPr>
                <p:cNvSpPr/>
                <p:nvPr/>
              </p:nvSpPr>
              <p:spPr>
                <a:xfrm>
                  <a:off x="4420186" y="3556716"/>
                  <a:ext cx="434602" cy="403319"/>
                </a:xfrm>
                <a:prstGeom prst="ellipse">
                  <a:avLst/>
                </a:prstGeom>
                <a:solidFill>
                  <a:schemeClr val="accent5">
                    <a:lumMod val="50000"/>
                  </a:schemeClr>
                </a:solidFill>
                <a:ln w="38100">
                  <a:solidFill>
                    <a:schemeClr val="accent5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X</a:t>
                  </a:r>
                </a:p>
              </p:txBody>
            </p:sp>
            <p:cxnSp>
              <p:nvCxnSpPr>
                <p:cNvPr id="45" name="Straight Arrow Connector 44">
                  <a:extLst>
                    <a:ext uri="{FF2B5EF4-FFF2-40B4-BE49-F238E27FC236}">
                      <a16:creationId xmlns:a16="http://schemas.microsoft.com/office/drawing/2014/main" id="{FB529943-B243-454F-842A-82054AE45BEA}"/>
                    </a:ext>
                  </a:extLst>
                </p:cNvPr>
                <p:cNvCxnSpPr>
                  <a:stCxn id="8" idx="6"/>
                  <a:endCxn id="7" idx="2"/>
                </p:cNvCxnSpPr>
                <p:nvPr/>
              </p:nvCxnSpPr>
              <p:spPr>
                <a:xfrm>
                  <a:off x="4854788" y="3758376"/>
                  <a:ext cx="838400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95" name="Group 94">
                <a:extLst>
                  <a:ext uri="{FF2B5EF4-FFF2-40B4-BE49-F238E27FC236}">
                    <a16:creationId xmlns:a16="http://schemas.microsoft.com/office/drawing/2014/main" id="{5426D79D-626A-4A1E-A92A-F6BEAA2CA97B}"/>
                  </a:ext>
                </a:extLst>
              </p:cNvPr>
              <p:cNvGrpSpPr/>
              <p:nvPr/>
            </p:nvGrpSpPr>
            <p:grpSpPr>
              <a:xfrm>
                <a:off x="5417749" y="2669285"/>
                <a:ext cx="1308421" cy="946496"/>
                <a:chOff x="5417749" y="2669285"/>
                <a:chExt cx="1308421" cy="946496"/>
              </a:xfrm>
            </p:grpSpPr>
            <p:sp>
              <p:nvSpPr>
                <p:cNvPr id="58" name="Oval 57">
                  <a:extLst>
                    <a:ext uri="{FF2B5EF4-FFF2-40B4-BE49-F238E27FC236}">
                      <a16:creationId xmlns:a16="http://schemas.microsoft.com/office/drawing/2014/main" id="{3C8ABD49-3FCA-487A-BA3F-A055EB39AABB}"/>
                    </a:ext>
                  </a:extLst>
                </p:cNvPr>
                <p:cNvSpPr/>
                <p:nvPr/>
              </p:nvSpPr>
              <p:spPr>
                <a:xfrm>
                  <a:off x="6291569" y="2669285"/>
                  <a:ext cx="434601" cy="403319"/>
                </a:xfrm>
                <a:prstGeom prst="ellipse">
                  <a:avLst/>
                </a:prstGeom>
                <a:solidFill>
                  <a:srgbClr val="434343"/>
                </a:solidFill>
                <a:ln w="38100"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I</a:t>
                  </a:r>
                </a:p>
              </p:txBody>
            </p:sp>
            <p:cxnSp>
              <p:nvCxnSpPr>
                <p:cNvPr id="70" name="Straight Arrow Connector 69">
                  <a:extLst>
                    <a:ext uri="{FF2B5EF4-FFF2-40B4-BE49-F238E27FC236}">
                      <a16:creationId xmlns:a16="http://schemas.microsoft.com/office/drawing/2014/main" id="{A6A46A88-0C5F-4EAF-BFC8-280A0E8E6233}"/>
                    </a:ext>
                  </a:extLst>
                </p:cNvPr>
                <p:cNvCxnSpPr>
                  <a:cxnSpLocks/>
                  <a:stCxn id="58" idx="4"/>
                  <a:endCxn id="7" idx="7"/>
                </p:cNvCxnSpPr>
                <p:nvPr/>
              </p:nvCxnSpPr>
              <p:spPr>
                <a:xfrm flipH="1">
                  <a:off x="6064143" y="3072604"/>
                  <a:ext cx="444727" cy="543177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2" name="Straight Arrow Connector 71">
                  <a:extLst>
                    <a:ext uri="{FF2B5EF4-FFF2-40B4-BE49-F238E27FC236}">
                      <a16:creationId xmlns:a16="http://schemas.microsoft.com/office/drawing/2014/main" id="{9E33A4A0-66E4-4E30-8EF9-A4AA0C0DD201}"/>
                    </a:ext>
                  </a:extLst>
                </p:cNvPr>
                <p:cNvCxnSpPr>
                  <a:stCxn id="15" idx="6"/>
                  <a:endCxn id="58" idx="2"/>
                </p:cNvCxnSpPr>
                <p:nvPr/>
              </p:nvCxnSpPr>
              <p:spPr>
                <a:xfrm>
                  <a:off x="5417749" y="2860861"/>
                  <a:ext cx="873820" cy="10084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33B8EF31-3011-472D-AD87-437CEA8A2CFF}"/>
                </a:ext>
              </a:extLst>
            </p:cNvPr>
            <p:cNvCxnSpPr>
              <a:cxnSpLocks/>
              <a:stCxn id="8" idx="4"/>
              <a:endCxn id="9" idx="1"/>
            </p:cNvCxnSpPr>
            <p:nvPr/>
          </p:nvCxnSpPr>
          <p:spPr>
            <a:xfrm>
              <a:off x="6829358" y="3334747"/>
              <a:ext cx="409306" cy="51391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1CADAD55-5D21-4E43-B218-6844808C2BF6}"/>
                  </a:ext>
                </a:extLst>
              </p:cNvPr>
              <p:cNvSpPr txBox="1"/>
              <p:nvPr/>
            </p:nvSpPr>
            <p:spPr>
              <a:xfrm>
                <a:off x="8177347" y="4237084"/>
                <a:ext cx="3567719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400" dirty="0"/>
                  <a:t>The model we should run for the direct effect of X on Y: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 ~ 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en-GB" sz="2400" dirty="0"/>
              </a:p>
              <a:p>
                <a:pPr algn="ctr"/>
                <a:r>
                  <a:rPr lang="en-GB" sz="2400" dirty="0"/>
                  <a:t>Or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 ~ 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1CADAD55-5D21-4E43-B218-6844808C2B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7347" y="4237084"/>
                <a:ext cx="3567719" cy="2308324"/>
              </a:xfrm>
              <a:prstGeom prst="rect">
                <a:avLst/>
              </a:prstGeom>
              <a:blipFill>
                <a:blip r:embed="rId3"/>
                <a:stretch>
                  <a:fillRect l="-2560" t="-211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6775159-09B7-4572-85F9-577F69A817B9}"/>
              </a:ext>
            </a:extLst>
          </p:cNvPr>
          <p:cNvCxnSpPr>
            <a:stCxn id="8" idx="6"/>
            <a:endCxn id="7" idx="2"/>
          </p:cNvCxnSpPr>
          <p:nvPr/>
        </p:nvCxnSpPr>
        <p:spPr>
          <a:xfrm>
            <a:off x="9026967" y="2597767"/>
            <a:ext cx="1117867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2124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E55AF-D013-4C2D-9247-73DD7B73F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131"/>
            <a:ext cx="12192000" cy="1340136"/>
          </a:xfrm>
        </p:spPr>
        <p:txBody>
          <a:bodyPr/>
          <a:lstStyle/>
          <a:p>
            <a:pPr algn="ctr"/>
            <a:r>
              <a:rPr lang="en-GB" dirty="0"/>
              <a:t>We see the tip of the iceberg if we’re lucky</a:t>
            </a:r>
          </a:p>
        </p:txBody>
      </p:sp>
      <p:sp>
        <p:nvSpPr>
          <p:cNvPr id="48" name="Google Shape;75;p15">
            <a:extLst>
              <a:ext uri="{FF2B5EF4-FFF2-40B4-BE49-F238E27FC236}">
                <a16:creationId xmlns:a16="http://schemas.microsoft.com/office/drawing/2014/main" id="{A02B5B09-5B79-4DAD-BE48-C0E974D9F164}"/>
              </a:ext>
            </a:extLst>
          </p:cNvPr>
          <p:cNvSpPr/>
          <p:nvPr/>
        </p:nvSpPr>
        <p:spPr>
          <a:xfrm>
            <a:off x="4434900" y="770090"/>
            <a:ext cx="3496833" cy="140300"/>
          </a:xfrm>
          <a:custGeom>
            <a:avLst/>
            <a:gdLst/>
            <a:ahLst/>
            <a:cxnLst/>
            <a:rect l="l" t="t" r="r" b="b"/>
            <a:pathLst>
              <a:path w="104905" h="4209" extrusionOk="0">
                <a:moveTo>
                  <a:pt x="0" y="2010"/>
                </a:moveTo>
                <a:cubicBezTo>
                  <a:pt x="34411" y="-4246"/>
                  <a:pt x="71725" y="11060"/>
                  <a:pt x="104905" y="0"/>
                </a:cubicBezTo>
              </a:path>
            </a:pathLst>
          </a:custGeom>
          <a:noFill/>
          <a:ln w="19050" cap="flat" cmpd="sng">
            <a:solidFill>
              <a:srgbClr val="4C113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AE6722C-F5CC-4EDF-B902-E7F0F9DEE9A5}"/>
              </a:ext>
            </a:extLst>
          </p:cNvPr>
          <p:cNvGrpSpPr/>
          <p:nvPr/>
        </p:nvGrpSpPr>
        <p:grpSpPr>
          <a:xfrm>
            <a:off x="3616779" y="2238061"/>
            <a:ext cx="7981096" cy="4186212"/>
            <a:chOff x="2712584" y="1678545"/>
            <a:chExt cx="5985822" cy="3139659"/>
          </a:xfrm>
        </p:grpSpPr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A4138BDA-DAB2-4BE0-9BBA-C11767920B70}"/>
                </a:ext>
              </a:extLst>
            </p:cNvPr>
            <p:cNvGrpSpPr/>
            <p:nvPr/>
          </p:nvGrpSpPr>
          <p:grpSpPr>
            <a:xfrm>
              <a:off x="3147185" y="3556716"/>
              <a:ext cx="1273001" cy="403319"/>
              <a:chOff x="3147185" y="3556716"/>
              <a:chExt cx="1273001" cy="403319"/>
            </a:xfrm>
          </p:grpSpPr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94B9AC4E-9FFA-4EE8-B33F-D7CCEC677BA6}"/>
                  </a:ext>
                </a:extLst>
              </p:cNvPr>
              <p:cNvSpPr/>
              <p:nvPr/>
            </p:nvSpPr>
            <p:spPr>
              <a:xfrm>
                <a:off x="3147185" y="3556716"/>
                <a:ext cx="434601" cy="403319"/>
              </a:xfrm>
              <a:prstGeom prst="ellipse">
                <a:avLst/>
              </a:prstGeom>
              <a:solidFill>
                <a:schemeClr val="bg2">
                  <a:lumMod val="20000"/>
                  <a:lumOff val="80000"/>
                </a:schemeClr>
              </a:solidFill>
              <a:ln w="57150">
                <a:solidFill>
                  <a:schemeClr val="accent6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400" dirty="0"/>
                  <a:t>E</a:t>
                </a:r>
              </a:p>
            </p:txBody>
          </p:sp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9A62DAD5-A381-4302-9519-C3AD492E1C0C}"/>
                  </a:ext>
                </a:extLst>
              </p:cNvPr>
              <p:cNvCxnSpPr>
                <a:stCxn id="16" idx="6"/>
                <a:endCxn id="8" idx="2"/>
              </p:cNvCxnSpPr>
              <p:nvPr/>
            </p:nvCxnSpPr>
            <p:spPr>
              <a:xfrm>
                <a:off x="3581786" y="3758376"/>
                <a:ext cx="838400" cy="0"/>
              </a:xfrm>
              <a:prstGeom prst="straightConnector1">
                <a:avLst/>
              </a:prstGeom>
              <a:ln>
                <a:solidFill>
                  <a:schemeClr val="accent2">
                    <a:lumMod val="10000"/>
                    <a:lumOff val="9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CA87F539-B7A4-4B13-BBAC-5F534768D878}"/>
                </a:ext>
              </a:extLst>
            </p:cNvPr>
            <p:cNvGrpSpPr/>
            <p:nvPr/>
          </p:nvGrpSpPr>
          <p:grpSpPr>
            <a:xfrm>
              <a:off x="4791142" y="2659201"/>
              <a:ext cx="626607" cy="959876"/>
              <a:chOff x="4791142" y="2659201"/>
              <a:chExt cx="626607" cy="959876"/>
            </a:xfrm>
          </p:grpSpPr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6C277CBE-A73F-48D0-BE0B-FE8F397E495B}"/>
                  </a:ext>
                </a:extLst>
              </p:cNvPr>
              <p:cNvSpPr/>
              <p:nvPr/>
            </p:nvSpPr>
            <p:spPr>
              <a:xfrm>
                <a:off x="4983148" y="2659201"/>
                <a:ext cx="434601" cy="403319"/>
              </a:xfrm>
              <a:prstGeom prst="ellipse">
                <a:avLst/>
              </a:prstGeom>
              <a:solidFill>
                <a:schemeClr val="bg2">
                  <a:lumMod val="20000"/>
                  <a:lumOff val="80000"/>
                </a:schemeClr>
              </a:solidFill>
              <a:ln w="57150">
                <a:solidFill>
                  <a:schemeClr val="accent6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400" dirty="0"/>
                  <a:t>D</a:t>
                </a:r>
              </a:p>
            </p:txBody>
          </p:sp>
          <p:cxnSp>
            <p:nvCxnSpPr>
              <p:cNvPr id="25" name="Straight Arrow Connector 24">
                <a:extLst>
                  <a:ext uri="{FF2B5EF4-FFF2-40B4-BE49-F238E27FC236}">
                    <a16:creationId xmlns:a16="http://schemas.microsoft.com/office/drawing/2014/main" id="{0E3544E3-B814-4FBB-B3F7-6E7B604F9FC7}"/>
                  </a:ext>
                </a:extLst>
              </p:cNvPr>
              <p:cNvCxnSpPr>
                <a:cxnSpLocks/>
                <a:stCxn id="141" idx="3"/>
                <a:endCxn id="124" idx="7"/>
              </p:cNvCxnSpPr>
              <p:nvPr/>
            </p:nvCxnSpPr>
            <p:spPr>
              <a:xfrm flipH="1">
                <a:off x="4791142" y="3006751"/>
                <a:ext cx="255652" cy="612326"/>
              </a:xfrm>
              <a:prstGeom prst="straightConnector1">
                <a:avLst/>
              </a:prstGeom>
              <a:ln>
                <a:solidFill>
                  <a:schemeClr val="accent2">
                    <a:lumMod val="10000"/>
                    <a:lumOff val="9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AACD3BA4-A3E2-469F-B5ED-1DC0F60612B5}"/>
                </a:ext>
              </a:extLst>
            </p:cNvPr>
            <p:cNvGrpSpPr/>
            <p:nvPr/>
          </p:nvGrpSpPr>
          <p:grpSpPr>
            <a:xfrm>
              <a:off x="3804290" y="2659201"/>
              <a:ext cx="679542" cy="956580"/>
              <a:chOff x="3804290" y="2659201"/>
              <a:chExt cx="679542" cy="956580"/>
            </a:xfrm>
          </p:grpSpPr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1C31138F-A040-43F6-9C9B-868E89145086}"/>
                  </a:ext>
                </a:extLst>
              </p:cNvPr>
              <p:cNvSpPr/>
              <p:nvPr/>
            </p:nvSpPr>
            <p:spPr>
              <a:xfrm>
                <a:off x="3804290" y="2659201"/>
                <a:ext cx="434601" cy="403319"/>
              </a:xfrm>
              <a:prstGeom prst="ellipse">
                <a:avLst/>
              </a:prstGeom>
              <a:solidFill>
                <a:schemeClr val="bg2">
                  <a:lumMod val="20000"/>
                  <a:lumOff val="80000"/>
                </a:schemeClr>
              </a:solidFill>
              <a:ln w="57150">
                <a:solidFill>
                  <a:schemeClr val="accent6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400" dirty="0"/>
                  <a:t>C</a:t>
                </a:r>
              </a:p>
            </p:txBody>
          </p:sp>
          <p:cxnSp>
            <p:nvCxnSpPr>
              <p:cNvPr id="27" name="Straight Arrow Connector 26">
                <a:extLst>
                  <a:ext uri="{FF2B5EF4-FFF2-40B4-BE49-F238E27FC236}">
                    <a16:creationId xmlns:a16="http://schemas.microsoft.com/office/drawing/2014/main" id="{AFD2E7BD-AAFF-4C48-8CC8-0CA19C9287C5}"/>
                  </a:ext>
                </a:extLst>
              </p:cNvPr>
              <p:cNvCxnSpPr>
                <a:stCxn id="14" idx="5"/>
                <a:endCxn id="8" idx="1"/>
              </p:cNvCxnSpPr>
              <p:nvPr/>
            </p:nvCxnSpPr>
            <p:spPr>
              <a:xfrm>
                <a:off x="4175245" y="3003455"/>
                <a:ext cx="308587" cy="612326"/>
              </a:xfrm>
              <a:prstGeom prst="straightConnector1">
                <a:avLst/>
              </a:prstGeom>
              <a:ln>
                <a:solidFill>
                  <a:schemeClr val="accent2">
                    <a:lumMod val="10000"/>
                    <a:lumOff val="9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8210FBC7-B625-4271-B5E2-44E815BE6647}"/>
                </a:ext>
              </a:extLst>
            </p:cNvPr>
            <p:cNvGrpSpPr/>
            <p:nvPr/>
          </p:nvGrpSpPr>
          <p:grpSpPr>
            <a:xfrm>
              <a:off x="4021591" y="1680529"/>
              <a:ext cx="833197" cy="978672"/>
              <a:chOff x="4021591" y="1680529"/>
              <a:chExt cx="833197" cy="978672"/>
            </a:xfrm>
          </p:grpSpPr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6D3F10C2-5106-4131-B130-B8FE8AF701B3}"/>
                  </a:ext>
                </a:extLst>
              </p:cNvPr>
              <p:cNvSpPr/>
              <p:nvPr/>
            </p:nvSpPr>
            <p:spPr>
              <a:xfrm>
                <a:off x="4420187" y="1680529"/>
                <a:ext cx="434601" cy="403319"/>
              </a:xfrm>
              <a:prstGeom prst="ellipse">
                <a:avLst/>
              </a:prstGeom>
              <a:solidFill>
                <a:schemeClr val="bg2">
                  <a:lumMod val="20000"/>
                  <a:lumOff val="80000"/>
                </a:schemeClr>
              </a:solidFill>
              <a:ln w="57150">
                <a:solidFill>
                  <a:schemeClr val="accent6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400" dirty="0"/>
                  <a:t>B</a:t>
                </a:r>
              </a:p>
            </p:txBody>
          </p:sp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35D4317F-D85A-411E-8334-48F25832E521}"/>
                  </a:ext>
                </a:extLst>
              </p:cNvPr>
              <p:cNvCxnSpPr>
                <a:stCxn id="19" idx="3"/>
                <a:endCxn id="14" idx="0"/>
              </p:cNvCxnSpPr>
              <p:nvPr/>
            </p:nvCxnSpPr>
            <p:spPr>
              <a:xfrm flipH="1">
                <a:off x="4021591" y="2024783"/>
                <a:ext cx="462242" cy="634418"/>
              </a:xfrm>
              <a:prstGeom prst="straightConnector1">
                <a:avLst/>
              </a:prstGeom>
              <a:ln>
                <a:solidFill>
                  <a:schemeClr val="accent2">
                    <a:lumMod val="10000"/>
                    <a:lumOff val="9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1CEB7A4B-CF69-4350-8126-71E696A25E63}"/>
                </a:ext>
              </a:extLst>
            </p:cNvPr>
            <p:cNvGrpSpPr/>
            <p:nvPr/>
          </p:nvGrpSpPr>
          <p:grpSpPr>
            <a:xfrm>
              <a:off x="2712584" y="2669285"/>
              <a:ext cx="1091706" cy="946496"/>
              <a:chOff x="2712584" y="2669285"/>
              <a:chExt cx="1091706" cy="946496"/>
            </a:xfrm>
          </p:grpSpPr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08E4EA22-D934-40DD-B96C-969EF459CBA8}"/>
                  </a:ext>
                </a:extLst>
              </p:cNvPr>
              <p:cNvSpPr/>
              <p:nvPr/>
            </p:nvSpPr>
            <p:spPr>
              <a:xfrm>
                <a:off x="2712584" y="2669285"/>
                <a:ext cx="434601" cy="403319"/>
              </a:xfrm>
              <a:prstGeom prst="ellipse">
                <a:avLst/>
              </a:prstGeom>
              <a:solidFill>
                <a:schemeClr val="bg2">
                  <a:lumMod val="20000"/>
                  <a:lumOff val="80000"/>
                </a:schemeClr>
              </a:solidFill>
              <a:ln w="57150">
                <a:solidFill>
                  <a:schemeClr val="accent6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400" dirty="0"/>
                  <a:t>A</a:t>
                </a:r>
              </a:p>
            </p:txBody>
          </p:sp>
          <p:cxnSp>
            <p:nvCxnSpPr>
              <p:cNvPr id="31" name="Straight Arrow Connector 30">
                <a:extLst>
                  <a:ext uri="{FF2B5EF4-FFF2-40B4-BE49-F238E27FC236}">
                    <a16:creationId xmlns:a16="http://schemas.microsoft.com/office/drawing/2014/main" id="{1648AAA8-446A-4184-ACA1-205269D1C194}"/>
                  </a:ext>
                </a:extLst>
              </p:cNvPr>
              <p:cNvCxnSpPr>
                <a:stCxn id="18" idx="6"/>
                <a:endCxn id="14" idx="2"/>
              </p:cNvCxnSpPr>
              <p:nvPr/>
            </p:nvCxnSpPr>
            <p:spPr>
              <a:xfrm flipV="1">
                <a:off x="3147185" y="2860861"/>
                <a:ext cx="657105" cy="10084"/>
              </a:xfrm>
              <a:prstGeom prst="straightConnector1">
                <a:avLst/>
              </a:prstGeom>
              <a:ln>
                <a:solidFill>
                  <a:schemeClr val="accent2">
                    <a:lumMod val="10000"/>
                    <a:lumOff val="9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5E912038-16DC-4500-8630-66DF6778E7A0}"/>
                  </a:ext>
                </a:extLst>
              </p:cNvPr>
              <p:cNvCxnSpPr>
                <a:stCxn id="18" idx="4"/>
                <a:endCxn id="16" idx="1"/>
              </p:cNvCxnSpPr>
              <p:nvPr/>
            </p:nvCxnSpPr>
            <p:spPr>
              <a:xfrm>
                <a:off x="2929885" y="3072604"/>
                <a:ext cx="280946" cy="543177"/>
              </a:xfrm>
              <a:prstGeom prst="straightConnector1">
                <a:avLst/>
              </a:prstGeom>
              <a:ln>
                <a:solidFill>
                  <a:schemeClr val="accent2">
                    <a:lumMod val="10000"/>
                    <a:lumOff val="9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C41DD7D2-4F44-4133-B246-082486717DB8}"/>
                </a:ext>
              </a:extLst>
            </p:cNvPr>
            <p:cNvGrpSpPr/>
            <p:nvPr/>
          </p:nvGrpSpPr>
          <p:grpSpPr>
            <a:xfrm>
              <a:off x="3518140" y="3900970"/>
              <a:ext cx="720751" cy="917234"/>
              <a:chOff x="3518140" y="3900970"/>
              <a:chExt cx="720751" cy="917234"/>
            </a:xfrm>
          </p:grpSpPr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AFF98D5C-6B8F-47B7-B83D-452997037304}"/>
                  </a:ext>
                </a:extLst>
              </p:cNvPr>
              <p:cNvSpPr/>
              <p:nvPr/>
            </p:nvSpPr>
            <p:spPr>
              <a:xfrm>
                <a:off x="3804290" y="4414885"/>
                <a:ext cx="434601" cy="403319"/>
              </a:xfrm>
              <a:prstGeom prst="ellipse">
                <a:avLst/>
              </a:prstGeom>
              <a:solidFill>
                <a:schemeClr val="bg2">
                  <a:lumMod val="20000"/>
                  <a:lumOff val="80000"/>
                </a:schemeClr>
              </a:solidFill>
              <a:ln w="57150">
                <a:solidFill>
                  <a:schemeClr val="accent6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400" dirty="0"/>
                  <a:t>F</a:t>
                </a:r>
              </a:p>
            </p:txBody>
          </p:sp>
          <p:cxnSp>
            <p:nvCxnSpPr>
              <p:cNvPr id="35" name="Straight Arrow Connector 34">
                <a:extLst>
                  <a:ext uri="{FF2B5EF4-FFF2-40B4-BE49-F238E27FC236}">
                    <a16:creationId xmlns:a16="http://schemas.microsoft.com/office/drawing/2014/main" id="{01F8DE83-E00F-450A-BC23-86B7F05214D0}"/>
                  </a:ext>
                </a:extLst>
              </p:cNvPr>
              <p:cNvCxnSpPr>
                <a:stCxn id="17" idx="1"/>
                <a:endCxn id="16" idx="5"/>
              </p:cNvCxnSpPr>
              <p:nvPr/>
            </p:nvCxnSpPr>
            <p:spPr>
              <a:xfrm flipH="1" flipV="1">
                <a:off x="3518140" y="3900970"/>
                <a:ext cx="349796" cy="572980"/>
              </a:xfrm>
              <a:prstGeom prst="straightConnector1">
                <a:avLst/>
              </a:prstGeom>
              <a:ln>
                <a:solidFill>
                  <a:schemeClr val="accent2">
                    <a:lumMod val="10000"/>
                    <a:lumOff val="9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BFB9AF36-54EE-44C1-9BDB-46F84ADD68FC}"/>
                </a:ext>
              </a:extLst>
            </p:cNvPr>
            <p:cNvGrpSpPr/>
            <p:nvPr/>
          </p:nvGrpSpPr>
          <p:grpSpPr>
            <a:xfrm>
              <a:off x="4238891" y="3062520"/>
              <a:ext cx="1517943" cy="1755684"/>
              <a:chOff x="4238891" y="3062520"/>
              <a:chExt cx="1517943" cy="1755684"/>
            </a:xfrm>
          </p:grpSpPr>
          <p:cxnSp>
            <p:nvCxnSpPr>
              <p:cNvPr id="39" name="Straight Arrow Connector 38">
                <a:extLst>
                  <a:ext uri="{FF2B5EF4-FFF2-40B4-BE49-F238E27FC236}">
                    <a16:creationId xmlns:a16="http://schemas.microsoft.com/office/drawing/2014/main" id="{6D089515-184D-4657-89EE-661B6437A78B}"/>
                  </a:ext>
                </a:extLst>
              </p:cNvPr>
              <p:cNvCxnSpPr>
                <a:stCxn id="9" idx="7"/>
                <a:endCxn id="7" idx="3"/>
              </p:cNvCxnSpPr>
              <p:nvPr/>
            </p:nvCxnSpPr>
            <p:spPr>
              <a:xfrm flipV="1">
                <a:off x="5354102" y="3900971"/>
                <a:ext cx="402732" cy="572979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4" name="Group 53">
                <a:extLst>
                  <a:ext uri="{FF2B5EF4-FFF2-40B4-BE49-F238E27FC236}">
                    <a16:creationId xmlns:a16="http://schemas.microsoft.com/office/drawing/2014/main" id="{A148E74A-A45B-42EB-A804-B4C12340237E}"/>
                  </a:ext>
                </a:extLst>
              </p:cNvPr>
              <p:cNvGrpSpPr/>
              <p:nvPr/>
            </p:nvGrpSpPr>
            <p:grpSpPr>
              <a:xfrm>
                <a:off x="4238891" y="3062520"/>
                <a:ext cx="1178857" cy="1755684"/>
                <a:chOff x="4238891" y="3062520"/>
                <a:chExt cx="1178857" cy="1755684"/>
              </a:xfrm>
            </p:grpSpPr>
            <p:sp>
              <p:nvSpPr>
                <p:cNvPr id="9" name="Oval 8">
                  <a:extLst>
                    <a:ext uri="{FF2B5EF4-FFF2-40B4-BE49-F238E27FC236}">
                      <a16:creationId xmlns:a16="http://schemas.microsoft.com/office/drawing/2014/main" id="{916BED35-4399-459D-9EC3-656B5CD910CB}"/>
                    </a:ext>
                  </a:extLst>
                </p:cNvPr>
                <p:cNvSpPr/>
                <p:nvPr/>
              </p:nvSpPr>
              <p:spPr>
                <a:xfrm>
                  <a:off x="4983147" y="4414885"/>
                  <a:ext cx="434601" cy="403319"/>
                </a:xfrm>
                <a:prstGeom prst="ellipse">
                  <a:avLst/>
                </a:prstGeom>
                <a:solidFill>
                  <a:srgbClr val="434343"/>
                </a:solidFill>
                <a:ln w="38100"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G</a:t>
                  </a:r>
                </a:p>
              </p:txBody>
            </p:sp>
            <p:cxnSp>
              <p:nvCxnSpPr>
                <p:cNvPr id="37" name="Straight Arrow Connector 36">
                  <a:extLst>
                    <a:ext uri="{FF2B5EF4-FFF2-40B4-BE49-F238E27FC236}">
                      <a16:creationId xmlns:a16="http://schemas.microsoft.com/office/drawing/2014/main" id="{A96AB576-9EC9-4049-A8B7-C215267BEB36}"/>
                    </a:ext>
                  </a:extLst>
                </p:cNvPr>
                <p:cNvCxnSpPr>
                  <a:stCxn id="17" idx="6"/>
                  <a:endCxn id="9" idx="2"/>
                </p:cNvCxnSpPr>
                <p:nvPr/>
              </p:nvCxnSpPr>
              <p:spPr>
                <a:xfrm>
                  <a:off x="4238891" y="4616545"/>
                  <a:ext cx="744256" cy="0"/>
                </a:xfrm>
                <a:prstGeom prst="straightConnector1">
                  <a:avLst/>
                </a:prstGeom>
                <a:ln>
                  <a:solidFill>
                    <a:schemeClr val="accent2">
                      <a:lumMod val="10000"/>
                      <a:lumOff val="90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Arrow Connector 40">
                  <a:extLst>
                    <a:ext uri="{FF2B5EF4-FFF2-40B4-BE49-F238E27FC236}">
                      <a16:creationId xmlns:a16="http://schemas.microsoft.com/office/drawing/2014/main" id="{CA5DFB04-C950-43C0-BAB1-384F87D801F5}"/>
                    </a:ext>
                  </a:extLst>
                </p:cNvPr>
                <p:cNvCxnSpPr>
                  <a:stCxn id="8" idx="5"/>
                  <a:endCxn id="9" idx="1"/>
                </p:cNvCxnSpPr>
                <p:nvPr/>
              </p:nvCxnSpPr>
              <p:spPr>
                <a:xfrm>
                  <a:off x="4791142" y="3900970"/>
                  <a:ext cx="255651" cy="57298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Arrow Connector 42">
                  <a:extLst>
                    <a:ext uri="{FF2B5EF4-FFF2-40B4-BE49-F238E27FC236}">
                      <a16:creationId xmlns:a16="http://schemas.microsoft.com/office/drawing/2014/main" id="{85A90982-E603-4267-B322-C869F8E7AFA6}"/>
                    </a:ext>
                  </a:extLst>
                </p:cNvPr>
                <p:cNvCxnSpPr>
                  <a:stCxn id="15" idx="4"/>
                  <a:endCxn id="9" idx="0"/>
                </p:cNvCxnSpPr>
                <p:nvPr/>
              </p:nvCxnSpPr>
              <p:spPr>
                <a:xfrm flipH="1">
                  <a:off x="5200448" y="3062520"/>
                  <a:ext cx="1" cy="1352365"/>
                </a:xfrm>
                <a:prstGeom prst="straightConnector1">
                  <a:avLst/>
                </a:prstGeom>
                <a:ln>
                  <a:solidFill>
                    <a:schemeClr val="accent2">
                      <a:lumMod val="10000"/>
                      <a:lumOff val="90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4218D727-F9EC-49E2-8BFB-585EAF729EE2}"/>
                </a:ext>
              </a:extLst>
            </p:cNvPr>
            <p:cNvGrpSpPr/>
            <p:nvPr/>
          </p:nvGrpSpPr>
          <p:grpSpPr>
            <a:xfrm>
              <a:off x="4420186" y="3556716"/>
              <a:ext cx="1707603" cy="403320"/>
              <a:chOff x="4420186" y="3556716"/>
              <a:chExt cx="1707603" cy="403320"/>
            </a:xfrm>
          </p:grpSpPr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1A1E3508-52C1-4434-92AB-2EAAAD3D9289}"/>
                  </a:ext>
                </a:extLst>
              </p:cNvPr>
              <p:cNvSpPr/>
              <p:nvPr/>
            </p:nvSpPr>
            <p:spPr>
              <a:xfrm>
                <a:off x="5693188" y="3556716"/>
                <a:ext cx="434601" cy="403320"/>
              </a:xfrm>
              <a:prstGeom prst="ellipse">
                <a:avLst/>
              </a:prstGeom>
              <a:solidFill>
                <a:srgbClr val="434343"/>
              </a:solidFill>
              <a:ln w="3810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400" dirty="0"/>
                  <a:t>Y</a:t>
                </a:r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B271D1D0-EAB0-42B9-9462-FB90040DD52E}"/>
                  </a:ext>
                </a:extLst>
              </p:cNvPr>
              <p:cNvSpPr/>
              <p:nvPr/>
            </p:nvSpPr>
            <p:spPr>
              <a:xfrm>
                <a:off x="4420186" y="3556716"/>
                <a:ext cx="434602" cy="403319"/>
              </a:xfrm>
              <a:prstGeom prst="ellipse">
                <a:avLst/>
              </a:prstGeom>
              <a:solidFill>
                <a:schemeClr val="accent5">
                  <a:lumMod val="50000"/>
                </a:schemeClr>
              </a:solidFill>
              <a:ln w="38100"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400" dirty="0"/>
                  <a:t>X</a:t>
                </a:r>
              </a:p>
            </p:txBody>
          </p:sp>
          <p:cxnSp>
            <p:nvCxnSpPr>
              <p:cNvPr id="45" name="Straight Arrow Connector 44">
                <a:extLst>
                  <a:ext uri="{FF2B5EF4-FFF2-40B4-BE49-F238E27FC236}">
                    <a16:creationId xmlns:a16="http://schemas.microsoft.com/office/drawing/2014/main" id="{FB529943-B243-454F-842A-82054AE45BEA}"/>
                  </a:ext>
                </a:extLst>
              </p:cNvPr>
              <p:cNvCxnSpPr>
                <a:stCxn id="8" idx="6"/>
                <a:endCxn id="7" idx="2"/>
              </p:cNvCxnSpPr>
              <p:nvPr/>
            </p:nvCxnSpPr>
            <p:spPr>
              <a:xfrm>
                <a:off x="4854788" y="3758376"/>
                <a:ext cx="838400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7" name="Group 96">
              <a:extLst>
                <a:ext uri="{FF2B5EF4-FFF2-40B4-BE49-F238E27FC236}">
                  <a16:creationId xmlns:a16="http://schemas.microsoft.com/office/drawing/2014/main" id="{9D880F60-5D6F-46A8-9C05-03D7BD2995A1}"/>
                </a:ext>
              </a:extLst>
            </p:cNvPr>
            <p:cNvGrpSpPr/>
            <p:nvPr/>
          </p:nvGrpSpPr>
          <p:grpSpPr>
            <a:xfrm>
              <a:off x="6127789" y="3556716"/>
              <a:ext cx="1259542" cy="403319"/>
              <a:chOff x="6127789" y="3556716"/>
              <a:chExt cx="1259542" cy="403319"/>
            </a:xfrm>
          </p:grpSpPr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79F9B2E6-61DC-44BE-8E0A-6BF55114103F}"/>
                  </a:ext>
                </a:extLst>
              </p:cNvPr>
              <p:cNvSpPr/>
              <p:nvPr/>
            </p:nvSpPr>
            <p:spPr>
              <a:xfrm>
                <a:off x="6952730" y="3556716"/>
                <a:ext cx="434601" cy="403319"/>
              </a:xfrm>
              <a:prstGeom prst="ellipse">
                <a:avLst/>
              </a:prstGeom>
              <a:solidFill>
                <a:schemeClr val="bg2">
                  <a:lumMod val="20000"/>
                  <a:lumOff val="80000"/>
                </a:schemeClr>
              </a:solidFill>
              <a:ln w="57150">
                <a:solidFill>
                  <a:schemeClr val="accent6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400" dirty="0"/>
                  <a:t>J</a:t>
                </a:r>
              </a:p>
            </p:txBody>
          </p: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8541A95B-72BE-4D9E-A723-64C94A93A6BE}"/>
                  </a:ext>
                </a:extLst>
              </p:cNvPr>
              <p:cNvCxnSpPr>
                <a:cxnSpLocks/>
                <a:stCxn id="7" idx="6"/>
                <a:endCxn id="59" idx="2"/>
              </p:cNvCxnSpPr>
              <p:nvPr/>
            </p:nvCxnSpPr>
            <p:spPr>
              <a:xfrm>
                <a:off x="6127789" y="3758376"/>
                <a:ext cx="824941" cy="0"/>
              </a:xfrm>
              <a:prstGeom prst="straightConnector1">
                <a:avLst/>
              </a:prstGeom>
              <a:ln>
                <a:solidFill>
                  <a:schemeClr val="accent2">
                    <a:lumMod val="10000"/>
                    <a:lumOff val="9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5426D79D-626A-4A1E-A92A-F6BEAA2CA97B}"/>
                </a:ext>
              </a:extLst>
            </p:cNvPr>
            <p:cNvGrpSpPr/>
            <p:nvPr/>
          </p:nvGrpSpPr>
          <p:grpSpPr>
            <a:xfrm>
              <a:off x="5417749" y="2669285"/>
              <a:ext cx="1308421" cy="946496"/>
              <a:chOff x="5417749" y="2669285"/>
              <a:chExt cx="1308421" cy="946496"/>
            </a:xfrm>
          </p:grpSpPr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3C8ABD49-3FCA-487A-BA3F-A055EB39AABB}"/>
                  </a:ext>
                </a:extLst>
              </p:cNvPr>
              <p:cNvSpPr/>
              <p:nvPr/>
            </p:nvSpPr>
            <p:spPr>
              <a:xfrm>
                <a:off x="6291569" y="2669285"/>
                <a:ext cx="434601" cy="403319"/>
              </a:xfrm>
              <a:prstGeom prst="ellipse">
                <a:avLst/>
              </a:prstGeom>
              <a:solidFill>
                <a:schemeClr val="bg2">
                  <a:lumMod val="20000"/>
                  <a:lumOff val="80000"/>
                </a:schemeClr>
              </a:solidFill>
              <a:ln w="57150">
                <a:solidFill>
                  <a:schemeClr val="accent6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400" dirty="0"/>
                  <a:t>I</a:t>
                </a:r>
              </a:p>
            </p:txBody>
          </p:sp>
          <p:cxnSp>
            <p:nvCxnSpPr>
              <p:cNvPr id="70" name="Straight Arrow Connector 69">
                <a:extLst>
                  <a:ext uri="{FF2B5EF4-FFF2-40B4-BE49-F238E27FC236}">
                    <a16:creationId xmlns:a16="http://schemas.microsoft.com/office/drawing/2014/main" id="{A6A46A88-0C5F-4EAF-BFC8-280A0E8E6233}"/>
                  </a:ext>
                </a:extLst>
              </p:cNvPr>
              <p:cNvCxnSpPr>
                <a:stCxn id="58" idx="3"/>
                <a:endCxn id="7" idx="7"/>
              </p:cNvCxnSpPr>
              <p:nvPr/>
            </p:nvCxnSpPr>
            <p:spPr>
              <a:xfrm flipH="1">
                <a:off x="6064143" y="3013539"/>
                <a:ext cx="291072" cy="602242"/>
              </a:xfrm>
              <a:prstGeom prst="straightConnector1">
                <a:avLst/>
              </a:prstGeom>
              <a:ln>
                <a:solidFill>
                  <a:schemeClr val="accent2">
                    <a:lumMod val="10000"/>
                    <a:lumOff val="9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Arrow Connector 71">
                <a:extLst>
                  <a:ext uri="{FF2B5EF4-FFF2-40B4-BE49-F238E27FC236}">
                    <a16:creationId xmlns:a16="http://schemas.microsoft.com/office/drawing/2014/main" id="{9E33A4A0-66E4-4E30-8EF9-A4AA0C0DD201}"/>
                  </a:ext>
                </a:extLst>
              </p:cNvPr>
              <p:cNvCxnSpPr>
                <a:stCxn id="15" idx="6"/>
                <a:endCxn id="58" idx="2"/>
              </p:cNvCxnSpPr>
              <p:nvPr/>
            </p:nvCxnSpPr>
            <p:spPr>
              <a:xfrm>
                <a:off x="5417749" y="2860861"/>
                <a:ext cx="873820" cy="10084"/>
              </a:xfrm>
              <a:prstGeom prst="straightConnector1">
                <a:avLst/>
              </a:prstGeom>
              <a:ln>
                <a:solidFill>
                  <a:schemeClr val="accent2">
                    <a:lumMod val="10000"/>
                    <a:lumOff val="9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6" name="Group 95">
              <a:extLst>
                <a:ext uri="{FF2B5EF4-FFF2-40B4-BE49-F238E27FC236}">
                  <a16:creationId xmlns:a16="http://schemas.microsoft.com/office/drawing/2014/main" id="{6B76D806-A696-4750-99FC-D08DCE0AD7F3}"/>
                </a:ext>
              </a:extLst>
            </p:cNvPr>
            <p:cNvGrpSpPr/>
            <p:nvPr/>
          </p:nvGrpSpPr>
          <p:grpSpPr>
            <a:xfrm>
              <a:off x="5354103" y="1678545"/>
              <a:ext cx="1001112" cy="1049805"/>
              <a:chOff x="5354103" y="1678545"/>
              <a:chExt cx="1001112" cy="1049805"/>
            </a:xfrm>
          </p:grpSpPr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F681A789-C40E-4AED-9570-C5DA394A7D27}"/>
                  </a:ext>
                </a:extLst>
              </p:cNvPr>
              <p:cNvSpPr/>
              <p:nvPr/>
            </p:nvSpPr>
            <p:spPr>
              <a:xfrm>
                <a:off x="5651619" y="1678545"/>
                <a:ext cx="434601" cy="403319"/>
              </a:xfrm>
              <a:prstGeom prst="ellipse">
                <a:avLst/>
              </a:prstGeom>
              <a:solidFill>
                <a:schemeClr val="bg2">
                  <a:lumMod val="20000"/>
                  <a:lumOff val="80000"/>
                </a:schemeClr>
              </a:solidFill>
              <a:ln w="57150">
                <a:solidFill>
                  <a:schemeClr val="accent6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400" dirty="0"/>
                  <a:t>H</a:t>
                </a:r>
              </a:p>
            </p:txBody>
          </p:sp>
          <p:cxnSp>
            <p:nvCxnSpPr>
              <p:cNvPr id="74" name="Straight Arrow Connector 73">
                <a:extLst>
                  <a:ext uri="{FF2B5EF4-FFF2-40B4-BE49-F238E27FC236}">
                    <a16:creationId xmlns:a16="http://schemas.microsoft.com/office/drawing/2014/main" id="{111112F6-4A32-422D-B453-82D934532352}"/>
                  </a:ext>
                </a:extLst>
              </p:cNvPr>
              <p:cNvCxnSpPr>
                <a:stCxn id="63" idx="3"/>
                <a:endCxn id="15" idx="7"/>
              </p:cNvCxnSpPr>
              <p:nvPr/>
            </p:nvCxnSpPr>
            <p:spPr>
              <a:xfrm flipH="1">
                <a:off x="5354103" y="2022799"/>
                <a:ext cx="361162" cy="695467"/>
              </a:xfrm>
              <a:prstGeom prst="straightConnector1">
                <a:avLst/>
              </a:prstGeom>
              <a:ln>
                <a:solidFill>
                  <a:schemeClr val="accent2">
                    <a:lumMod val="10000"/>
                    <a:lumOff val="9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Arrow Connector 75">
                <a:extLst>
                  <a:ext uri="{FF2B5EF4-FFF2-40B4-BE49-F238E27FC236}">
                    <a16:creationId xmlns:a16="http://schemas.microsoft.com/office/drawing/2014/main" id="{2DB197B2-9E66-43F6-A9B9-80265E13F494}"/>
                  </a:ext>
                </a:extLst>
              </p:cNvPr>
              <p:cNvCxnSpPr>
                <a:stCxn id="63" idx="5"/>
                <a:endCxn id="58" idx="1"/>
              </p:cNvCxnSpPr>
              <p:nvPr/>
            </p:nvCxnSpPr>
            <p:spPr>
              <a:xfrm>
                <a:off x="6022574" y="2022799"/>
                <a:ext cx="332641" cy="705551"/>
              </a:xfrm>
              <a:prstGeom prst="straightConnector1">
                <a:avLst/>
              </a:prstGeom>
              <a:ln>
                <a:solidFill>
                  <a:schemeClr val="accent2">
                    <a:lumMod val="10000"/>
                    <a:lumOff val="9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2" name="Group 101">
              <a:extLst>
                <a:ext uri="{FF2B5EF4-FFF2-40B4-BE49-F238E27FC236}">
                  <a16:creationId xmlns:a16="http://schemas.microsoft.com/office/drawing/2014/main" id="{D5479482-EA68-4D57-AAEA-8F6AC8FD5126}"/>
                </a:ext>
              </a:extLst>
            </p:cNvPr>
            <p:cNvGrpSpPr/>
            <p:nvPr/>
          </p:nvGrpSpPr>
          <p:grpSpPr>
            <a:xfrm>
              <a:off x="6883051" y="1678545"/>
              <a:ext cx="731706" cy="1049805"/>
              <a:chOff x="6883051" y="1678545"/>
              <a:chExt cx="731706" cy="1049805"/>
            </a:xfrm>
          </p:grpSpPr>
          <p:sp>
            <p:nvSpPr>
              <p:cNvPr id="62" name="Oval 61">
                <a:extLst>
                  <a:ext uri="{FF2B5EF4-FFF2-40B4-BE49-F238E27FC236}">
                    <a16:creationId xmlns:a16="http://schemas.microsoft.com/office/drawing/2014/main" id="{30E7B9F5-9E36-429B-AC2F-2C6D9C710E7A}"/>
                  </a:ext>
                </a:extLst>
              </p:cNvPr>
              <p:cNvSpPr/>
              <p:nvPr/>
            </p:nvSpPr>
            <p:spPr>
              <a:xfrm>
                <a:off x="6883051" y="1678545"/>
                <a:ext cx="434601" cy="403319"/>
              </a:xfrm>
              <a:prstGeom prst="ellipse">
                <a:avLst/>
              </a:prstGeom>
              <a:solidFill>
                <a:schemeClr val="bg2">
                  <a:lumMod val="20000"/>
                  <a:lumOff val="80000"/>
                </a:schemeClr>
              </a:solidFill>
              <a:ln w="57150">
                <a:solidFill>
                  <a:schemeClr val="accent6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400" dirty="0"/>
                  <a:t>O</a:t>
                </a:r>
              </a:p>
            </p:txBody>
          </p:sp>
          <p:cxnSp>
            <p:nvCxnSpPr>
              <p:cNvPr id="78" name="Straight Arrow Connector 77">
                <a:extLst>
                  <a:ext uri="{FF2B5EF4-FFF2-40B4-BE49-F238E27FC236}">
                    <a16:creationId xmlns:a16="http://schemas.microsoft.com/office/drawing/2014/main" id="{04F2EB2E-C3B8-46C1-9DE1-43D1232E88F5}"/>
                  </a:ext>
                </a:extLst>
              </p:cNvPr>
              <p:cNvCxnSpPr>
                <a:stCxn id="62" idx="5"/>
                <a:endCxn id="61" idx="1"/>
              </p:cNvCxnSpPr>
              <p:nvPr/>
            </p:nvCxnSpPr>
            <p:spPr>
              <a:xfrm>
                <a:off x="7254006" y="2022799"/>
                <a:ext cx="360751" cy="705551"/>
              </a:xfrm>
              <a:prstGeom prst="straightConnector1">
                <a:avLst/>
              </a:prstGeom>
              <a:ln>
                <a:solidFill>
                  <a:schemeClr val="accent2">
                    <a:lumMod val="10000"/>
                    <a:lumOff val="9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0" name="Group 99">
              <a:extLst>
                <a:ext uri="{FF2B5EF4-FFF2-40B4-BE49-F238E27FC236}">
                  <a16:creationId xmlns:a16="http://schemas.microsoft.com/office/drawing/2014/main" id="{F13C0DEB-D292-4392-85B6-750320A37FF9}"/>
                </a:ext>
              </a:extLst>
            </p:cNvPr>
            <p:cNvGrpSpPr/>
            <p:nvPr/>
          </p:nvGrpSpPr>
          <p:grpSpPr>
            <a:xfrm>
              <a:off x="7323685" y="2669285"/>
              <a:ext cx="662027" cy="946496"/>
              <a:chOff x="7323685" y="2669285"/>
              <a:chExt cx="662027" cy="946496"/>
            </a:xfrm>
          </p:grpSpPr>
          <p:sp>
            <p:nvSpPr>
              <p:cNvPr id="61" name="Oval 60">
                <a:extLst>
                  <a:ext uri="{FF2B5EF4-FFF2-40B4-BE49-F238E27FC236}">
                    <a16:creationId xmlns:a16="http://schemas.microsoft.com/office/drawing/2014/main" id="{FA6ADA82-843B-408E-9C4D-4FE4C3DB3A15}"/>
                  </a:ext>
                </a:extLst>
              </p:cNvPr>
              <p:cNvSpPr/>
              <p:nvPr/>
            </p:nvSpPr>
            <p:spPr>
              <a:xfrm>
                <a:off x="7551111" y="2669285"/>
                <a:ext cx="434601" cy="403319"/>
              </a:xfrm>
              <a:prstGeom prst="ellipse">
                <a:avLst/>
              </a:prstGeom>
              <a:solidFill>
                <a:schemeClr val="bg2">
                  <a:lumMod val="20000"/>
                  <a:lumOff val="80000"/>
                </a:schemeClr>
              </a:solidFill>
              <a:ln w="57150">
                <a:solidFill>
                  <a:schemeClr val="accent6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400" dirty="0"/>
                  <a:t>N</a:t>
                </a:r>
              </a:p>
            </p:txBody>
          </p:sp>
          <p:cxnSp>
            <p:nvCxnSpPr>
              <p:cNvPr id="80" name="Straight Arrow Connector 79">
                <a:extLst>
                  <a:ext uri="{FF2B5EF4-FFF2-40B4-BE49-F238E27FC236}">
                    <a16:creationId xmlns:a16="http://schemas.microsoft.com/office/drawing/2014/main" id="{AA406B0D-6CC1-4B44-8D8B-B43D87B7EB2D}"/>
                  </a:ext>
                </a:extLst>
              </p:cNvPr>
              <p:cNvCxnSpPr>
                <a:stCxn id="61" idx="3"/>
                <a:endCxn id="59" idx="7"/>
              </p:cNvCxnSpPr>
              <p:nvPr/>
            </p:nvCxnSpPr>
            <p:spPr>
              <a:xfrm flipH="1">
                <a:off x="7323685" y="3013539"/>
                <a:ext cx="291072" cy="602242"/>
              </a:xfrm>
              <a:prstGeom prst="straightConnector1">
                <a:avLst/>
              </a:prstGeom>
              <a:ln>
                <a:solidFill>
                  <a:schemeClr val="accent2">
                    <a:lumMod val="10000"/>
                    <a:lumOff val="9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7CAB2AD3-A5F5-422D-BCD6-2885032BD90E}"/>
                </a:ext>
              </a:extLst>
            </p:cNvPr>
            <p:cNvGrpSpPr/>
            <p:nvPr/>
          </p:nvGrpSpPr>
          <p:grpSpPr>
            <a:xfrm>
              <a:off x="5417748" y="3900970"/>
              <a:ext cx="1598628" cy="917233"/>
              <a:chOff x="5417748" y="3900970"/>
              <a:chExt cx="1598628" cy="917233"/>
            </a:xfrm>
          </p:grpSpPr>
          <p:sp>
            <p:nvSpPr>
              <p:cNvPr id="60" name="Oval 59">
                <a:extLst>
                  <a:ext uri="{FF2B5EF4-FFF2-40B4-BE49-F238E27FC236}">
                    <a16:creationId xmlns:a16="http://schemas.microsoft.com/office/drawing/2014/main" id="{78BB542F-0179-446C-A3B2-8446AC8B623F}"/>
                  </a:ext>
                </a:extLst>
              </p:cNvPr>
              <p:cNvSpPr/>
              <p:nvPr/>
            </p:nvSpPr>
            <p:spPr>
              <a:xfrm>
                <a:off x="6291570" y="4414884"/>
                <a:ext cx="434601" cy="403319"/>
              </a:xfrm>
              <a:prstGeom prst="ellipse">
                <a:avLst/>
              </a:prstGeom>
              <a:solidFill>
                <a:schemeClr val="bg2">
                  <a:lumMod val="20000"/>
                  <a:lumOff val="80000"/>
                </a:schemeClr>
              </a:solidFill>
              <a:ln w="57150">
                <a:solidFill>
                  <a:schemeClr val="accent6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400" dirty="0"/>
                  <a:t>K</a:t>
                </a:r>
              </a:p>
            </p:txBody>
          </p:sp>
          <p:cxnSp>
            <p:nvCxnSpPr>
              <p:cNvPr id="82" name="Straight Arrow Connector 81">
                <a:extLst>
                  <a:ext uri="{FF2B5EF4-FFF2-40B4-BE49-F238E27FC236}">
                    <a16:creationId xmlns:a16="http://schemas.microsoft.com/office/drawing/2014/main" id="{8EBB6FC5-2B1B-4C92-A1D0-9F51571E9739}"/>
                  </a:ext>
                </a:extLst>
              </p:cNvPr>
              <p:cNvCxnSpPr>
                <a:cxnSpLocks/>
                <a:stCxn id="60" idx="2"/>
                <a:endCxn id="9" idx="6"/>
              </p:cNvCxnSpPr>
              <p:nvPr/>
            </p:nvCxnSpPr>
            <p:spPr>
              <a:xfrm flipH="1">
                <a:off x="5417748" y="4616544"/>
                <a:ext cx="873822" cy="1"/>
              </a:xfrm>
              <a:prstGeom prst="straightConnector1">
                <a:avLst/>
              </a:prstGeom>
              <a:ln>
                <a:solidFill>
                  <a:schemeClr val="accent2">
                    <a:lumMod val="10000"/>
                    <a:lumOff val="9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Arrow Connector 84">
                <a:extLst>
                  <a:ext uri="{FF2B5EF4-FFF2-40B4-BE49-F238E27FC236}">
                    <a16:creationId xmlns:a16="http://schemas.microsoft.com/office/drawing/2014/main" id="{F69B3F2A-B3AD-4C2D-87B8-53F05F0B9CB4}"/>
                  </a:ext>
                </a:extLst>
              </p:cNvPr>
              <p:cNvCxnSpPr>
                <a:stCxn id="60" idx="7"/>
                <a:endCxn id="59" idx="3"/>
              </p:cNvCxnSpPr>
              <p:nvPr/>
            </p:nvCxnSpPr>
            <p:spPr>
              <a:xfrm flipV="1">
                <a:off x="6662525" y="3900970"/>
                <a:ext cx="353851" cy="572979"/>
              </a:xfrm>
              <a:prstGeom prst="straightConnector1">
                <a:avLst/>
              </a:prstGeom>
              <a:ln>
                <a:solidFill>
                  <a:schemeClr val="accent2">
                    <a:lumMod val="10000"/>
                    <a:lumOff val="9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id="{5F751058-FCF6-4379-98DA-A293C1E22258}"/>
                </a:ext>
              </a:extLst>
            </p:cNvPr>
            <p:cNvGrpSpPr/>
            <p:nvPr/>
          </p:nvGrpSpPr>
          <p:grpSpPr>
            <a:xfrm>
              <a:off x="7323685" y="3900970"/>
              <a:ext cx="710909" cy="917233"/>
              <a:chOff x="7323685" y="3900970"/>
              <a:chExt cx="710909" cy="917233"/>
            </a:xfrm>
          </p:grpSpPr>
          <p:sp>
            <p:nvSpPr>
              <p:cNvPr id="65" name="Oval 64">
                <a:extLst>
                  <a:ext uri="{FF2B5EF4-FFF2-40B4-BE49-F238E27FC236}">
                    <a16:creationId xmlns:a16="http://schemas.microsoft.com/office/drawing/2014/main" id="{A4E61B20-D10A-42C0-8755-155F12CFFEEA}"/>
                  </a:ext>
                </a:extLst>
              </p:cNvPr>
              <p:cNvSpPr/>
              <p:nvPr/>
            </p:nvSpPr>
            <p:spPr>
              <a:xfrm>
                <a:off x="7599993" y="4414884"/>
                <a:ext cx="434601" cy="403319"/>
              </a:xfrm>
              <a:prstGeom prst="ellipse">
                <a:avLst/>
              </a:prstGeom>
              <a:solidFill>
                <a:schemeClr val="bg2">
                  <a:lumMod val="20000"/>
                  <a:lumOff val="80000"/>
                </a:schemeClr>
              </a:solidFill>
              <a:ln w="57150">
                <a:solidFill>
                  <a:schemeClr val="accent6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400" dirty="0"/>
                  <a:t>L</a:t>
                </a:r>
              </a:p>
            </p:txBody>
          </p:sp>
          <p:cxnSp>
            <p:nvCxnSpPr>
              <p:cNvPr id="87" name="Straight Arrow Connector 86">
                <a:extLst>
                  <a:ext uri="{FF2B5EF4-FFF2-40B4-BE49-F238E27FC236}">
                    <a16:creationId xmlns:a16="http://schemas.microsoft.com/office/drawing/2014/main" id="{19713FC0-8623-4D5E-9E3E-4CA02F137148}"/>
                  </a:ext>
                </a:extLst>
              </p:cNvPr>
              <p:cNvCxnSpPr>
                <a:stCxn id="65" idx="1"/>
                <a:endCxn id="59" idx="5"/>
              </p:cNvCxnSpPr>
              <p:nvPr/>
            </p:nvCxnSpPr>
            <p:spPr>
              <a:xfrm flipH="1" flipV="1">
                <a:off x="7323685" y="3900970"/>
                <a:ext cx="339954" cy="572979"/>
              </a:xfrm>
              <a:prstGeom prst="straightConnector1">
                <a:avLst/>
              </a:prstGeom>
              <a:ln>
                <a:solidFill>
                  <a:schemeClr val="accent2">
                    <a:lumMod val="10000"/>
                    <a:lumOff val="9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1" name="Group 100">
              <a:extLst>
                <a:ext uri="{FF2B5EF4-FFF2-40B4-BE49-F238E27FC236}">
                  <a16:creationId xmlns:a16="http://schemas.microsoft.com/office/drawing/2014/main" id="{C56C573C-41A6-4EC4-A664-13B109796930}"/>
                </a:ext>
              </a:extLst>
            </p:cNvPr>
            <p:cNvGrpSpPr/>
            <p:nvPr/>
          </p:nvGrpSpPr>
          <p:grpSpPr>
            <a:xfrm>
              <a:off x="7922066" y="3013539"/>
              <a:ext cx="776340" cy="887431"/>
              <a:chOff x="7922066" y="3013539"/>
              <a:chExt cx="776340" cy="887431"/>
            </a:xfrm>
          </p:grpSpPr>
          <p:sp>
            <p:nvSpPr>
              <p:cNvPr id="64" name="Oval 63">
                <a:extLst>
                  <a:ext uri="{FF2B5EF4-FFF2-40B4-BE49-F238E27FC236}">
                    <a16:creationId xmlns:a16="http://schemas.microsoft.com/office/drawing/2014/main" id="{35A2EE0A-98CC-436F-9AC7-B0669D8CF657}"/>
                  </a:ext>
                </a:extLst>
              </p:cNvPr>
              <p:cNvSpPr/>
              <p:nvPr/>
            </p:nvSpPr>
            <p:spPr>
              <a:xfrm>
                <a:off x="8263805" y="3497651"/>
                <a:ext cx="434601" cy="403319"/>
              </a:xfrm>
              <a:prstGeom prst="ellipse">
                <a:avLst/>
              </a:prstGeom>
              <a:solidFill>
                <a:schemeClr val="bg2">
                  <a:lumMod val="20000"/>
                  <a:lumOff val="80000"/>
                </a:schemeClr>
              </a:solidFill>
              <a:ln w="57150">
                <a:solidFill>
                  <a:schemeClr val="accent6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400" dirty="0"/>
                  <a:t>M</a:t>
                </a:r>
              </a:p>
            </p:txBody>
          </p:sp>
          <p:cxnSp>
            <p:nvCxnSpPr>
              <p:cNvPr id="89" name="Straight Arrow Connector 88">
                <a:extLst>
                  <a:ext uri="{FF2B5EF4-FFF2-40B4-BE49-F238E27FC236}">
                    <a16:creationId xmlns:a16="http://schemas.microsoft.com/office/drawing/2014/main" id="{F12BA5EC-1A9C-49FF-AC02-E8129EB675B0}"/>
                  </a:ext>
                </a:extLst>
              </p:cNvPr>
              <p:cNvCxnSpPr>
                <a:stCxn id="64" idx="1"/>
                <a:endCxn id="61" idx="5"/>
              </p:cNvCxnSpPr>
              <p:nvPr/>
            </p:nvCxnSpPr>
            <p:spPr>
              <a:xfrm flipH="1" flipV="1">
                <a:off x="7922066" y="3013539"/>
                <a:ext cx="405385" cy="543177"/>
              </a:xfrm>
              <a:prstGeom prst="straightConnector1">
                <a:avLst/>
              </a:prstGeom>
              <a:ln>
                <a:solidFill>
                  <a:schemeClr val="accent2">
                    <a:lumMod val="10000"/>
                    <a:lumOff val="9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66" name="TextBox 65">
            <a:extLst>
              <a:ext uri="{FF2B5EF4-FFF2-40B4-BE49-F238E27FC236}">
                <a16:creationId xmlns:a16="http://schemas.microsoft.com/office/drawing/2014/main" id="{B5290A8B-D82A-4488-A07B-084F3C1DDA21}"/>
              </a:ext>
            </a:extLst>
          </p:cNvPr>
          <p:cNvSpPr txBox="1"/>
          <p:nvPr/>
        </p:nvSpPr>
        <p:spPr>
          <a:xfrm>
            <a:off x="5202558" y="1317727"/>
            <a:ext cx="4930767" cy="379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67" dirty="0">
                <a:solidFill>
                  <a:srgbClr val="434343"/>
                </a:solidFill>
              </a:rPr>
              <a:t>See the covid latitude paper on </a:t>
            </a:r>
            <a:r>
              <a:rPr lang="en-GB" sz="1867" dirty="0" err="1">
                <a:solidFill>
                  <a:srgbClr val="434343"/>
                </a:solidFill>
              </a:rPr>
              <a:t>MyAberdeen</a:t>
            </a:r>
            <a:endParaRPr lang="en-GB" sz="1867" dirty="0">
              <a:solidFill>
                <a:srgbClr val="434343"/>
              </a:solidFill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DB32237-426B-45C6-8630-176D4A488BF6}"/>
              </a:ext>
            </a:extLst>
          </p:cNvPr>
          <p:cNvGrpSpPr/>
          <p:nvPr/>
        </p:nvGrpSpPr>
        <p:grpSpPr>
          <a:xfrm>
            <a:off x="3616779" y="2242455"/>
            <a:ext cx="7981096" cy="4186212"/>
            <a:chOff x="-583860" y="-288199"/>
            <a:chExt cx="5985822" cy="3139659"/>
          </a:xfrm>
        </p:grpSpPr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8852AB64-0C9E-4B2F-B31D-8DB81DC8681D}"/>
                </a:ext>
              </a:extLst>
            </p:cNvPr>
            <p:cNvGrpSpPr/>
            <p:nvPr/>
          </p:nvGrpSpPr>
          <p:grpSpPr>
            <a:xfrm>
              <a:off x="-583860" y="-288199"/>
              <a:ext cx="5985822" cy="3139659"/>
              <a:chOff x="2712584" y="1678545"/>
              <a:chExt cx="5985822" cy="3139659"/>
            </a:xfrm>
          </p:grpSpPr>
          <p:grpSp>
            <p:nvGrpSpPr>
              <p:cNvPr id="69" name="Group 68">
                <a:extLst>
                  <a:ext uri="{FF2B5EF4-FFF2-40B4-BE49-F238E27FC236}">
                    <a16:creationId xmlns:a16="http://schemas.microsoft.com/office/drawing/2014/main" id="{152B0880-BC62-48C8-B8C5-5009071DA709}"/>
                  </a:ext>
                </a:extLst>
              </p:cNvPr>
              <p:cNvGrpSpPr/>
              <p:nvPr/>
            </p:nvGrpSpPr>
            <p:grpSpPr>
              <a:xfrm>
                <a:off x="3147185" y="3556716"/>
                <a:ext cx="1273001" cy="403319"/>
                <a:chOff x="3147185" y="3556716"/>
                <a:chExt cx="1273001" cy="403319"/>
              </a:xfrm>
            </p:grpSpPr>
            <p:sp>
              <p:nvSpPr>
                <p:cNvPr id="143" name="Oval 142">
                  <a:extLst>
                    <a:ext uri="{FF2B5EF4-FFF2-40B4-BE49-F238E27FC236}">
                      <a16:creationId xmlns:a16="http://schemas.microsoft.com/office/drawing/2014/main" id="{97844EA8-2E09-4288-AB61-0FBCC1DBF3EE}"/>
                    </a:ext>
                  </a:extLst>
                </p:cNvPr>
                <p:cNvSpPr/>
                <p:nvPr/>
              </p:nvSpPr>
              <p:spPr>
                <a:xfrm>
                  <a:off x="3147185" y="3556716"/>
                  <a:ext cx="434601" cy="403319"/>
                </a:xfrm>
                <a:prstGeom prst="ellipse">
                  <a:avLst/>
                </a:prstGeom>
                <a:solidFill>
                  <a:schemeClr val="bg2">
                    <a:lumMod val="20000"/>
                    <a:lumOff val="80000"/>
                  </a:schemeClr>
                </a:solidFill>
                <a:ln w="57150">
                  <a:solidFill>
                    <a:schemeClr val="accent6">
                      <a:lumMod val="20000"/>
                      <a:lumOff val="8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E</a:t>
                  </a:r>
                </a:p>
              </p:txBody>
            </p:sp>
            <p:cxnSp>
              <p:nvCxnSpPr>
                <p:cNvPr id="144" name="Straight Arrow Connector 143">
                  <a:extLst>
                    <a:ext uri="{FF2B5EF4-FFF2-40B4-BE49-F238E27FC236}">
                      <a16:creationId xmlns:a16="http://schemas.microsoft.com/office/drawing/2014/main" id="{E281DF79-8FA0-4FD6-8F35-1834CCE94918}"/>
                    </a:ext>
                  </a:extLst>
                </p:cNvPr>
                <p:cNvCxnSpPr>
                  <a:stCxn id="143" idx="6"/>
                  <a:endCxn id="124" idx="2"/>
                </p:cNvCxnSpPr>
                <p:nvPr/>
              </p:nvCxnSpPr>
              <p:spPr>
                <a:xfrm>
                  <a:off x="3581786" y="3758376"/>
                  <a:ext cx="838400" cy="0"/>
                </a:xfrm>
                <a:prstGeom prst="straightConnector1">
                  <a:avLst/>
                </a:prstGeom>
                <a:ln>
                  <a:solidFill>
                    <a:schemeClr val="accent2">
                      <a:lumMod val="10000"/>
                      <a:lumOff val="90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1" name="Group 70">
                <a:extLst>
                  <a:ext uri="{FF2B5EF4-FFF2-40B4-BE49-F238E27FC236}">
                    <a16:creationId xmlns:a16="http://schemas.microsoft.com/office/drawing/2014/main" id="{2CFBB34C-7498-4583-AD15-2FA5BB9A617A}"/>
                  </a:ext>
                </a:extLst>
              </p:cNvPr>
              <p:cNvGrpSpPr/>
              <p:nvPr/>
            </p:nvGrpSpPr>
            <p:grpSpPr>
              <a:xfrm>
                <a:off x="4791142" y="2659201"/>
                <a:ext cx="626607" cy="953284"/>
                <a:chOff x="4791142" y="2659201"/>
                <a:chExt cx="626607" cy="953284"/>
              </a:xfrm>
            </p:grpSpPr>
            <p:sp>
              <p:nvSpPr>
                <p:cNvPr id="141" name="Oval 140">
                  <a:extLst>
                    <a:ext uri="{FF2B5EF4-FFF2-40B4-BE49-F238E27FC236}">
                      <a16:creationId xmlns:a16="http://schemas.microsoft.com/office/drawing/2014/main" id="{9FC59E03-965F-4BE2-9F5B-43A53242E519}"/>
                    </a:ext>
                  </a:extLst>
                </p:cNvPr>
                <p:cNvSpPr/>
                <p:nvPr/>
              </p:nvSpPr>
              <p:spPr>
                <a:xfrm>
                  <a:off x="4983148" y="2659201"/>
                  <a:ext cx="434601" cy="403319"/>
                </a:xfrm>
                <a:prstGeom prst="ellipse">
                  <a:avLst/>
                </a:prstGeom>
                <a:solidFill>
                  <a:schemeClr val="bg2">
                    <a:lumMod val="20000"/>
                    <a:lumOff val="80000"/>
                  </a:schemeClr>
                </a:solidFill>
                <a:ln w="57150">
                  <a:solidFill>
                    <a:schemeClr val="accent6">
                      <a:lumMod val="20000"/>
                      <a:lumOff val="8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D</a:t>
                  </a:r>
                </a:p>
              </p:txBody>
            </p:sp>
            <p:cxnSp>
              <p:nvCxnSpPr>
                <p:cNvPr id="142" name="Straight Arrow Connector 141">
                  <a:extLst>
                    <a:ext uri="{FF2B5EF4-FFF2-40B4-BE49-F238E27FC236}">
                      <a16:creationId xmlns:a16="http://schemas.microsoft.com/office/drawing/2014/main" id="{8CC5CB1A-1F35-4831-9687-9146D3C9FCB7}"/>
                    </a:ext>
                  </a:extLst>
                </p:cNvPr>
                <p:cNvCxnSpPr>
                  <a:cxnSpLocks/>
                  <a:stCxn id="141" idx="3"/>
                  <a:endCxn id="8" idx="7"/>
                </p:cNvCxnSpPr>
                <p:nvPr/>
              </p:nvCxnSpPr>
              <p:spPr>
                <a:xfrm flipH="1">
                  <a:off x="4791142" y="3003455"/>
                  <a:ext cx="255652" cy="609030"/>
                </a:xfrm>
                <a:prstGeom prst="straightConnector1">
                  <a:avLst/>
                </a:prstGeom>
                <a:ln>
                  <a:solidFill>
                    <a:schemeClr val="accent2">
                      <a:lumMod val="10000"/>
                      <a:lumOff val="90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3" name="Group 72">
                <a:extLst>
                  <a:ext uri="{FF2B5EF4-FFF2-40B4-BE49-F238E27FC236}">
                    <a16:creationId xmlns:a16="http://schemas.microsoft.com/office/drawing/2014/main" id="{B88B7A39-9C8C-48A5-BC77-C8B2459B5053}"/>
                  </a:ext>
                </a:extLst>
              </p:cNvPr>
              <p:cNvGrpSpPr/>
              <p:nvPr/>
            </p:nvGrpSpPr>
            <p:grpSpPr>
              <a:xfrm>
                <a:off x="3804290" y="2659201"/>
                <a:ext cx="679542" cy="956580"/>
                <a:chOff x="3804290" y="2659201"/>
                <a:chExt cx="679542" cy="956580"/>
              </a:xfrm>
            </p:grpSpPr>
            <p:sp>
              <p:nvSpPr>
                <p:cNvPr id="139" name="Oval 138">
                  <a:extLst>
                    <a:ext uri="{FF2B5EF4-FFF2-40B4-BE49-F238E27FC236}">
                      <a16:creationId xmlns:a16="http://schemas.microsoft.com/office/drawing/2014/main" id="{C50A77A7-EC28-4763-A026-6DE415EA8821}"/>
                    </a:ext>
                  </a:extLst>
                </p:cNvPr>
                <p:cNvSpPr/>
                <p:nvPr/>
              </p:nvSpPr>
              <p:spPr>
                <a:xfrm>
                  <a:off x="3804290" y="2659201"/>
                  <a:ext cx="434601" cy="403319"/>
                </a:xfrm>
                <a:prstGeom prst="ellipse">
                  <a:avLst/>
                </a:prstGeom>
                <a:solidFill>
                  <a:schemeClr val="bg2">
                    <a:lumMod val="20000"/>
                    <a:lumOff val="80000"/>
                  </a:schemeClr>
                </a:solidFill>
                <a:ln w="57150">
                  <a:solidFill>
                    <a:schemeClr val="accent6">
                      <a:lumMod val="20000"/>
                      <a:lumOff val="8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C</a:t>
                  </a:r>
                </a:p>
              </p:txBody>
            </p:sp>
            <p:cxnSp>
              <p:nvCxnSpPr>
                <p:cNvPr id="140" name="Straight Arrow Connector 139">
                  <a:extLst>
                    <a:ext uri="{FF2B5EF4-FFF2-40B4-BE49-F238E27FC236}">
                      <a16:creationId xmlns:a16="http://schemas.microsoft.com/office/drawing/2014/main" id="{C7C6F912-1521-42D8-920D-E5463D9AC86A}"/>
                    </a:ext>
                  </a:extLst>
                </p:cNvPr>
                <p:cNvCxnSpPr>
                  <a:stCxn id="139" idx="5"/>
                  <a:endCxn id="124" idx="1"/>
                </p:cNvCxnSpPr>
                <p:nvPr/>
              </p:nvCxnSpPr>
              <p:spPr>
                <a:xfrm>
                  <a:off x="4175245" y="3003455"/>
                  <a:ext cx="308587" cy="612326"/>
                </a:xfrm>
                <a:prstGeom prst="straightConnector1">
                  <a:avLst/>
                </a:prstGeom>
                <a:ln>
                  <a:solidFill>
                    <a:schemeClr val="accent2">
                      <a:lumMod val="10000"/>
                      <a:lumOff val="90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5" name="Group 74">
                <a:extLst>
                  <a:ext uri="{FF2B5EF4-FFF2-40B4-BE49-F238E27FC236}">
                    <a16:creationId xmlns:a16="http://schemas.microsoft.com/office/drawing/2014/main" id="{019CDB49-4949-4546-A40F-66C5632760A1}"/>
                  </a:ext>
                </a:extLst>
              </p:cNvPr>
              <p:cNvGrpSpPr/>
              <p:nvPr/>
            </p:nvGrpSpPr>
            <p:grpSpPr>
              <a:xfrm>
                <a:off x="4021591" y="1680529"/>
                <a:ext cx="833197" cy="978672"/>
                <a:chOff x="4021591" y="1680529"/>
                <a:chExt cx="833197" cy="978672"/>
              </a:xfrm>
            </p:grpSpPr>
            <p:sp>
              <p:nvSpPr>
                <p:cNvPr id="137" name="Oval 136">
                  <a:extLst>
                    <a:ext uri="{FF2B5EF4-FFF2-40B4-BE49-F238E27FC236}">
                      <a16:creationId xmlns:a16="http://schemas.microsoft.com/office/drawing/2014/main" id="{CD666025-A5D5-4C67-B0C0-9A31FAFA2418}"/>
                    </a:ext>
                  </a:extLst>
                </p:cNvPr>
                <p:cNvSpPr/>
                <p:nvPr/>
              </p:nvSpPr>
              <p:spPr>
                <a:xfrm>
                  <a:off x="4420187" y="1680529"/>
                  <a:ext cx="434601" cy="403319"/>
                </a:xfrm>
                <a:prstGeom prst="ellipse">
                  <a:avLst/>
                </a:prstGeom>
                <a:solidFill>
                  <a:schemeClr val="bg2">
                    <a:lumMod val="20000"/>
                    <a:lumOff val="80000"/>
                  </a:schemeClr>
                </a:solidFill>
                <a:ln w="57150">
                  <a:solidFill>
                    <a:schemeClr val="accent6">
                      <a:lumMod val="20000"/>
                      <a:lumOff val="8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B</a:t>
                  </a:r>
                </a:p>
              </p:txBody>
            </p:sp>
            <p:cxnSp>
              <p:nvCxnSpPr>
                <p:cNvPr id="138" name="Straight Arrow Connector 137">
                  <a:extLst>
                    <a:ext uri="{FF2B5EF4-FFF2-40B4-BE49-F238E27FC236}">
                      <a16:creationId xmlns:a16="http://schemas.microsoft.com/office/drawing/2014/main" id="{AACBDA97-6E31-4813-8886-E5D5B8F2D152}"/>
                    </a:ext>
                  </a:extLst>
                </p:cNvPr>
                <p:cNvCxnSpPr>
                  <a:stCxn id="137" idx="3"/>
                  <a:endCxn id="139" idx="0"/>
                </p:cNvCxnSpPr>
                <p:nvPr/>
              </p:nvCxnSpPr>
              <p:spPr>
                <a:xfrm flipH="1">
                  <a:off x="4021591" y="2024783"/>
                  <a:ext cx="462242" cy="634418"/>
                </a:xfrm>
                <a:prstGeom prst="straightConnector1">
                  <a:avLst/>
                </a:prstGeom>
                <a:ln>
                  <a:solidFill>
                    <a:schemeClr val="accent2">
                      <a:lumMod val="10000"/>
                      <a:lumOff val="90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7" name="Group 76">
                <a:extLst>
                  <a:ext uri="{FF2B5EF4-FFF2-40B4-BE49-F238E27FC236}">
                    <a16:creationId xmlns:a16="http://schemas.microsoft.com/office/drawing/2014/main" id="{4F583EA7-051E-4AE3-AD2A-AC0B2F96AAA2}"/>
                  </a:ext>
                </a:extLst>
              </p:cNvPr>
              <p:cNvGrpSpPr/>
              <p:nvPr/>
            </p:nvGrpSpPr>
            <p:grpSpPr>
              <a:xfrm>
                <a:off x="2712584" y="2669285"/>
                <a:ext cx="1091706" cy="946496"/>
                <a:chOff x="2712584" y="2669285"/>
                <a:chExt cx="1091706" cy="946496"/>
              </a:xfrm>
            </p:grpSpPr>
            <p:sp>
              <p:nvSpPr>
                <p:cNvPr id="134" name="Oval 133">
                  <a:extLst>
                    <a:ext uri="{FF2B5EF4-FFF2-40B4-BE49-F238E27FC236}">
                      <a16:creationId xmlns:a16="http://schemas.microsoft.com/office/drawing/2014/main" id="{50AB3124-6982-4AF9-AFE1-D3C9758C1BBB}"/>
                    </a:ext>
                  </a:extLst>
                </p:cNvPr>
                <p:cNvSpPr/>
                <p:nvPr/>
              </p:nvSpPr>
              <p:spPr>
                <a:xfrm>
                  <a:off x="2712584" y="2669285"/>
                  <a:ext cx="434601" cy="403319"/>
                </a:xfrm>
                <a:prstGeom prst="ellipse">
                  <a:avLst/>
                </a:prstGeom>
                <a:solidFill>
                  <a:schemeClr val="bg2">
                    <a:lumMod val="20000"/>
                    <a:lumOff val="80000"/>
                  </a:schemeClr>
                </a:solidFill>
                <a:ln w="57150">
                  <a:solidFill>
                    <a:schemeClr val="accent6">
                      <a:lumMod val="20000"/>
                      <a:lumOff val="8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A</a:t>
                  </a:r>
                </a:p>
              </p:txBody>
            </p:sp>
            <p:cxnSp>
              <p:nvCxnSpPr>
                <p:cNvPr id="135" name="Straight Arrow Connector 134">
                  <a:extLst>
                    <a:ext uri="{FF2B5EF4-FFF2-40B4-BE49-F238E27FC236}">
                      <a16:creationId xmlns:a16="http://schemas.microsoft.com/office/drawing/2014/main" id="{2C0EF11B-3D53-4B2B-A5D2-88EA7CD89D3F}"/>
                    </a:ext>
                  </a:extLst>
                </p:cNvPr>
                <p:cNvCxnSpPr>
                  <a:stCxn id="134" idx="6"/>
                  <a:endCxn id="139" idx="2"/>
                </p:cNvCxnSpPr>
                <p:nvPr/>
              </p:nvCxnSpPr>
              <p:spPr>
                <a:xfrm flipV="1">
                  <a:off x="3147185" y="2860861"/>
                  <a:ext cx="657105" cy="10084"/>
                </a:xfrm>
                <a:prstGeom prst="straightConnector1">
                  <a:avLst/>
                </a:prstGeom>
                <a:ln>
                  <a:solidFill>
                    <a:schemeClr val="accent2">
                      <a:lumMod val="10000"/>
                      <a:lumOff val="90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6" name="Straight Arrow Connector 135">
                  <a:extLst>
                    <a:ext uri="{FF2B5EF4-FFF2-40B4-BE49-F238E27FC236}">
                      <a16:creationId xmlns:a16="http://schemas.microsoft.com/office/drawing/2014/main" id="{812CD940-8537-4C1F-BC7F-38B00FDD4A04}"/>
                    </a:ext>
                  </a:extLst>
                </p:cNvPr>
                <p:cNvCxnSpPr>
                  <a:stCxn id="134" idx="4"/>
                  <a:endCxn id="143" idx="1"/>
                </p:cNvCxnSpPr>
                <p:nvPr/>
              </p:nvCxnSpPr>
              <p:spPr>
                <a:xfrm>
                  <a:off x="2929885" y="3072604"/>
                  <a:ext cx="280946" cy="543177"/>
                </a:xfrm>
                <a:prstGeom prst="straightConnector1">
                  <a:avLst/>
                </a:prstGeom>
                <a:ln>
                  <a:solidFill>
                    <a:schemeClr val="accent2">
                      <a:lumMod val="10000"/>
                      <a:lumOff val="90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9" name="Group 78">
                <a:extLst>
                  <a:ext uri="{FF2B5EF4-FFF2-40B4-BE49-F238E27FC236}">
                    <a16:creationId xmlns:a16="http://schemas.microsoft.com/office/drawing/2014/main" id="{B1A45925-B538-4406-AD72-94769E0FD127}"/>
                  </a:ext>
                </a:extLst>
              </p:cNvPr>
              <p:cNvGrpSpPr/>
              <p:nvPr/>
            </p:nvGrpSpPr>
            <p:grpSpPr>
              <a:xfrm>
                <a:off x="3518140" y="3900970"/>
                <a:ext cx="720751" cy="917234"/>
                <a:chOff x="3518140" y="3900970"/>
                <a:chExt cx="720751" cy="917234"/>
              </a:xfrm>
            </p:grpSpPr>
            <p:sp>
              <p:nvSpPr>
                <p:cNvPr id="132" name="Oval 131">
                  <a:extLst>
                    <a:ext uri="{FF2B5EF4-FFF2-40B4-BE49-F238E27FC236}">
                      <a16:creationId xmlns:a16="http://schemas.microsoft.com/office/drawing/2014/main" id="{ECC61FF3-70FC-4291-BA1E-19ED9424F9A5}"/>
                    </a:ext>
                  </a:extLst>
                </p:cNvPr>
                <p:cNvSpPr/>
                <p:nvPr/>
              </p:nvSpPr>
              <p:spPr>
                <a:xfrm>
                  <a:off x="3804290" y="4414885"/>
                  <a:ext cx="434601" cy="403319"/>
                </a:xfrm>
                <a:prstGeom prst="ellipse">
                  <a:avLst/>
                </a:prstGeom>
                <a:solidFill>
                  <a:schemeClr val="bg2">
                    <a:lumMod val="20000"/>
                    <a:lumOff val="80000"/>
                  </a:schemeClr>
                </a:solidFill>
                <a:ln w="57150">
                  <a:solidFill>
                    <a:schemeClr val="accent6">
                      <a:lumMod val="20000"/>
                      <a:lumOff val="8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F</a:t>
                  </a:r>
                </a:p>
              </p:txBody>
            </p:sp>
            <p:cxnSp>
              <p:nvCxnSpPr>
                <p:cNvPr id="133" name="Straight Arrow Connector 132">
                  <a:extLst>
                    <a:ext uri="{FF2B5EF4-FFF2-40B4-BE49-F238E27FC236}">
                      <a16:creationId xmlns:a16="http://schemas.microsoft.com/office/drawing/2014/main" id="{84E15F93-7AA4-4F06-B38A-E497749D1C43}"/>
                    </a:ext>
                  </a:extLst>
                </p:cNvPr>
                <p:cNvCxnSpPr>
                  <a:stCxn id="132" idx="1"/>
                  <a:endCxn id="143" idx="5"/>
                </p:cNvCxnSpPr>
                <p:nvPr/>
              </p:nvCxnSpPr>
              <p:spPr>
                <a:xfrm flipH="1" flipV="1">
                  <a:off x="3518140" y="3900970"/>
                  <a:ext cx="349796" cy="572980"/>
                </a:xfrm>
                <a:prstGeom prst="straightConnector1">
                  <a:avLst/>
                </a:prstGeom>
                <a:ln>
                  <a:solidFill>
                    <a:schemeClr val="accent2">
                      <a:lumMod val="10000"/>
                      <a:lumOff val="90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81" name="Group 80">
                <a:extLst>
                  <a:ext uri="{FF2B5EF4-FFF2-40B4-BE49-F238E27FC236}">
                    <a16:creationId xmlns:a16="http://schemas.microsoft.com/office/drawing/2014/main" id="{D927072A-C8C2-46D8-B9C6-4E49CFFF3EDC}"/>
                  </a:ext>
                </a:extLst>
              </p:cNvPr>
              <p:cNvGrpSpPr/>
              <p:nvPr/>
            </p:nvGrpSpPr>
            <p:grpSpPr>
              <a:xfrm>
                <a:off x="4238891" y="3062520"/>
                <a:ext cx="1517943" cy="1755684"/>
                <a:chOff x="4238891" y="3062520"/>
                <a:chExt cx="1517943" cy="1755684"/>
              </a:xfrm>
            </p:grpSpPr>
            <p:cxnSp>
              <p:nvCxnSpPr>
                <p:cNvPr id="126" name="Straight Arrow Connector 125">
                  <a:extLst>
                    <a:ext uri="{FF2B5EF4-FFF2-40B4-BE49-F238E27FC236}">
                      <a16:creationId xmlns:a16="http://schemas.microsoft.com/office/drawing/2014/main" id="{89218C04-11A2-4265-AB2B-37D20132832B}"/>
                    </a:ext>
                  </a:extLst>
                </p:cNvPr>
                <p:cNvCxnSpPr>
                  <a:stCxn id="128" idx="7"/>
                  <a:endCxn id="123" idx="3"/>
                </p:cNvCxnSpPr>
                <p:nvPr/>
              </p:nvCxnSpPr>
              <p:spPr>
                <a:xfrm flipV="1">
                  <a:off x="5354102" y="3900971"/>
                  <a:ext cx="402732" cy="572979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27" name="Group 126">
                  <a:extLst>
                    <a:ext uri="{FF2B5EF4-FFF2-40B4-BE49-F238E27FC236}">
                      <a16:creationId xmlns:a16="http://schemas.microsoft.com/office/drawing/2014/main" id="{8BD51BFA-1252-4262-9A22-F202FEA5A907}"/>
                    </a:ext>
                  </a:extLst>
                </p:cNvPr>
                <p:cNvGrpSpPr/>
                <p:nvPr/>
              </p:nvGrpSpPr>
              <p:grpSpPr>
                <a:xfrm>
                  <a:off x="4238891" y="3062520"/>
                  <a:ext cx="1178857" cy="1755684"/>
                  <a:chOff x="4238891" y="3062520"/>
                  <a:chExt cx="1178857" cy="1755684"/>
                </a:xfrm>
              </p:grpSpPr>
              <p:sp>
                <p:nvSpPr>
                  <p:cNvPr id="128" name="Oval 127">
                    <a:extLst>
                      <a:ext uri="{FF2B5EF4-FFF2-40B4-BE49-F238E27FC236}">
                        <a16:creationId xmlns:a16="http://schemas.microsoft.com/office/drawing/2014/main" id="{609BBCEE-CF08-457A-8999-E3E0446008D1}"/>
                      </a:ext>
                    </a:extLst>
                  </p:cNvPr>
                  <p:cNvSpPr/>
                  <p:nvPr/>
                </p:nvSpPr>
                <p:spPr>
                  <a:xfrm>
                    <a:off x="4983147" y="4414885"/>
                    <a:ext cx="434601" cy="403319"/>
                  </a:xfrm>
                  <a:prstGeom prst="ellipse">
                    <a:avLst/>
                  </a:prstGeom>
                  <a:solidFill>
                    <a:srgbClr val="434343"/>
                  </a:solidFill>
                  <a:ln w="38100"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GB" sz="2400" dirty="0"/>
                      <a:t>G</a:t>
                    </a:r>
                  </a:p>
                </p:txBody>
              </p:sp>
              <p:cxnSp>
                <p:nvCxnSpPr>
                  <p:cNvPr id="129" name="Straight Arrow Connector 128">
                    <a:extLst>
                      <a:ext uri="{FF2B5EF4-FFF2-40B4-BE49-F238E27FC236}">
                        <a16:creationId xmlns:a16="http://schemas.microsoft.com/office/drawing/2014/main" id="{893D8991-FAFE-46F8-88C3-5BF4ED2347F5}"/>
                      </a:ext>
                    </a:extLst>
                  </p:cNvPr>
                  <p:cNvCxnSpPr>
                    <a:stCxn id="132" idx="6"/>
                    <a:endCxn id="128" idx="2"/>
                  </p:cNvCxnSpPr>
                  <p:nvPr/>
                </p:nvCxnSpPr>
                <p:spPr>
                  <a:xfrm>
                    <a:off x="4238891" y="4616545"/>
                    <a:ext cx="744256" cy="0"/>
                  </a:xfrm>
                  <a:prstGeom prst="straightConnector1">
                    <a:avLst/>
                  </a:prstGeom>
                  <a:ln>
                    <a:solidFill>
                      <a:schemeClr val="accent2">
                        <a:lumMod val="10000"/>
                        <a:lumOff val="90000"/>
                      </a:schemeClr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0" name="Straight Arrow Connector 129">
                    <a:extLst>
                      <a:ext uri="{FF2B5EF4-FFF2-40B4-BE49-F238E27FC236}">
                        <a16:creationId xmlns:a16="http://schemas.microsoft.com/office/drawing/2014/main" id="{9ED750D6-0158-4E2E-B3B9-EE47D2BEB9A0}"/>
                      </a:ext>
                    </a:extLst>
                  </p:cNvPr>
                  <p:cNvCxnSpPr>
                    <a:stCxn id="124" idx="5"/>
                    <a:endCxn id="128" idx="1"/>
                  </p:cNvCxnSpPr>
                  <p:nvPr/>
                </p:nvCxnSpPr>
                <p:spPr>
                  <a:xfrm>
                    <a:off x="4791142" y="3900970"/>
                    <a:ext cx="255651" cy="572980"/>
                  </a:xfrm>
                  <a:prstGeom prst="straightConnector1">
                    <a:avLst/>
                  </a:prstGeom>
                  <a:ln>
                    <a:solidFill>
                      <a:schemeClr val="tx2">
                        <a:lumMod val="90000"/>
                      </a:schemeClr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1" name="Straight Arrow Connector 130">
                    <a:extLst>
                      <a:ext uri="{FF2B5EF4-FFF2-40B4-BE49-F238E27FC236}">
                        <a16:creationId xmlns:a16="http://schemas.microsoft.com/office/drawing/2014/main" id="{C332ABAA-0B75-4973-89C5-FF1BEF3A9AE8}"/>
                      </a:ext>
                    </a:extLst>
                  </p:cNvPr>
                  <p:cNvCxnSpPr>
                    <a:stCxn id="141" idx="4"/>
                    <a:endCxn id="128" idx="0"/>
                  </p:cNvCxnSpPr>
                  <p:nvPr/>
                </p:nvCxnSpPr>
                <p:spPr>
                  <a:xfrm flipH="1">
                    <a:off x="5200448" y="3062520"/>
                    <a:ext cx="1" cy="1352365"/>
                  </a:xfrm>
                  <a:prstGeom prst="straightConnector1">
                    <a:avLst/>
                  </a:prstGeom>
                  <a:ln>
                    <a:solidFill>
                      <a:schemeClr val="accent2">
                        <a:lumMod val="10000"/>
                        <a:lumOff val="90000"/>
                      </a:schemeClr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83" name="Group 82">
                <a:extLst>
                  <a:ext uri="{FF2B5EF4-FFF2-40B4-BE49-F238E27FC236}">
                    <a16:creationId xmlns:a16="http://schemas.microsoft.com/office/drawing/2014/main" id="{48E3F4DC-54AE-4E96-887A-5F838674E36E}"/>
                  </a:ext>
                </a:extLst>
              </p:cNvPr>
              <p:cNvGrpSpPr/>
              <p:nvPr/>
            </p:nvGrpSpPr>
            <p:grpSpPr>
              <a:xfrm>
                <a:off x="4420186" y="3556716"/>
                <a:ext cx="1707603" cy="403320"/>
                <a:chOff x="4420186" y="3556716"/>
                <a:chExt cx="1707603" cy="403320"/>
              </a:xfrm>
            </p:grpSpPr>
            <p:sp>
              <p:nvSpPr>
                <p:cNvPr id="123" name="Oval 122">
                  <a:extLst>
                    <a:ext uri="{FF2B5EF4-FFF2-40B4-BE49-F238E27FC236}">
                      <a16:creationId xmlns:a16="http://schemas.microsoft.com/office/drawing/2014/main" id="{BB83327C-DB66-4C98-9E20-B2CC6AD9C0C7}"/>
                    </a:ext>
                  </a:extLst>
                </p:cNvPr>
                <p:cNvSpPr/>
                <p:nvPr/>
              </p:nvSpPr>
              <p:spPr>
                <a:xfrm>
                  <a:off x="5693188" y="3556716"/>
                  <a:ext cx="434601" cy="403320"/>
                </a:xfrm>
                <a:prstGeom prst="ellipse">
                  <a:avLst/>
                </a:prstGeom>
                <a:solidFill>
                  <a:srgbClr val="434343"/>
                </a:solidFill>
                <a:ln w="38100"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Y</a:t>
                  </a:r>
                </a:p>
              </p:txBody>
            </p:sp>
            <p:sp>
              <p:nvSpPr>
                <p:cNvPr id="124" name="Oval 123">
                  <a:extLst>
                    <a:ext uri="{FF2B5EF4-FFF2-40B4-BE49-F238E27FC236}">
                      <a16:creationId xmlns:a16="http://schemas.microsoft.com/office/drawing/2014/main" id="{54E09954-121C-445B-B62A-CCAC27008CE0}"/>
                    </a:ext>
                  </a:extLst>
                </p:cNvPr>
                <p:cNvSpPr/>
                <p:nvPr/>
              </p:nvSpPr>
              <p:spPr>
                <a:xfrm>
                  <a:off x="4420186" y="3556716"/>
                  <a:ext cx="434602" cy="403319"/>
                </a:xfrm>
                <a:prstGeom prst="ellipse">
                  <a:avLst/>
                </a:prstGeom>
                <a:solidFill>
                  <a:schemeClr val="accent5">
                    <a:lumMod val="50000"/>
                  </a:schemeClr>
                </a:solidFill>
                <a:ln w="38100">
                  <a:solidFill>
                    <a:schemeClr val="accent5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X</a:t>
                  </a:r>
                </a:p>
              </p:txBody>
            </p:sp>
            <p:cxnSp>
              <p:nvCxnSpPr>
                <p:cNvPr id="125" name="Straight Arrow Connector 124">
                  <a:extLst>
                    <a:ext uri="{FF2B5EF4-FFF2-40B4-BE49-F238E27FC236}">
                      <a16:creationId xmlns:a16="http://schemas.microsoft.com/office/drawing/2014/main" id="{640E77D5-D709-486C-9847-79672D623104}"/>
                    </a:ext>
                  </a:extLst>
                </p:cNvPr>
                <p:cNvCxnSpPr>
                  <a:stCxn id="124" idx="6"/>
                  <a:endCxn id="123" idx="2"/>
                </p:cNvCxnSpPr>
                <p:nvPr/>
              </p:nvCxnSpPr>
              <p:spPr>
                <a:xfrm>
                  <a:off x="4854788" y="3758376"/>
                  <a:ext cx="838400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84" name="Group 83">
                <a:extLst>
                  <a:ext uri="{FF2B5EF4-FFF2-40B4-BE49-F238E27FC236}">
                    <a16:creationId xmlns:a16="http://schemas.microsoft.com/office/drawing/2014/main" id="{56147F22-FFB2-48C4-BD4C-FF313847D5C7}"/>
                  </a:ext>
                </a:extLst>
              </p:cNvPr>
              <p:cNvGrpSpPr/>
              <p:nvPr/>
            </p:nvGrpSpPr>
            <p:grpSpPr>
              <a:xfrm>
                <a:off x="6127789" y="3556716"/>
                <a:ext cx="1259542" cy="403319"/>
                <a:chOff x="6127789" y="3556716"/>
                <a:chExt cx="1259542" cy="403319"/>
              </a:xfrm>
            </p:grpSpPr>
            <p:sp>
              <p:nvSpPr>
                <p:cNvPr id="121" name="Oval 120">
                  <a:extLst>
                    <a:ext uri="{FF2B5EF4-FFF2-40B4-BE49-F238E27FC236}">
                      <a16:creationId xmlns:a16="http://schemas.microsoft.com/office/drawing/2014/main" id="{66502C82-8570-4F55-AFBE-5B4464511F67}"/>
                    </a:ext>
                  </a:extLst>
                </p:cNvPr>
                <p:cNvSpPr/>
                <p:nvPr/>
              </p:nvSpPr>
              <p:spPr>
                <a:xfrm>
                  <a:off x="6952730" y="3556716"/>
                  <a:ext cx="434601" cy="403319"/>
                </a:xfrm>
                <a:prstGeom prst="ellipse">
                  <a:avLst/>
                </a:prstGeom>
                <a:solidFill>
                  <a:srgbClr val="434343"/>
                </a:solidFill>
                <a:ln w="57150">
                  <a:solidFill>
                    <a:srgbClr val="DBF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J</a:t>
                  </a:r>
                </a:p>
              </p:txBody>
            </p:sp>
            <p:cxnSp>
              <p:nvCxnSpPr>
                <p:cNvPr id="122" name="Straight Arrow Connector 121">
                  <a:extLst>
                    <a:ext uri="{FF2B5EF4-FFF2-40B4-BE49-F238E27FC236}">
                      <a16:creationId xmlns:a16="http://schemas.microsoft.com/office/drawing/2014/main" id="{7F7DA4F6-567A-424C-89C8-7CCCE9BEEC9B}"/>
                    </a:ext>
                  </a:extLst>
                </p:cNvPr>
                <p:cNvCxnSpPr>
                  <a:cxnSpLocks/>
                  <a:stCxn id="121" idx="2"/>
                  <a:endCxn id="123" idx="6"/>
                </p:cNvCxnSpPr>
                <p:nvPr/>
              </p:nvCxnSpPr>
              <p:spPr>
                <a:xfrm flipH="1">
                  <a:off x="6127789" y="3758376"/>
                  <a:ext cx="824941" cy="0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86" name="Group 85">
                <a:extLst>
                  <a:ext uri="{FF2B5EF4-FFF2-40B4-BE49-F238E27FC236}">
                    <a16:creationId xmlns:a16="http://schemas.microsoft.com/office/drawing/2014/main" id="{8834BB09-94C8-4EED-BACA-94370C9DF343}"/>
                  </a:ext>
                </a:extLst>
              </p:cNvPr>
              <p:cNvGrpSpPr/>
              <p:nvPr/>
            </p:nvGrpSpPr>
            <p:grpSpPr>
              <a:xfrm>
                <a:off x="5417749" y="2669285"/>
                <a:ext cx="1308421" cy="946496"/>
                <a:chOff x="5417749" y="2669285"/>
                <a:chExt cx="1308421" cy="946496"/>
              </a:xfrm>
            </p:grpSpPr>
            <p:sp>
              <p:nvSpPr>
                <p:cNvPr id="118" name="Oval 117">
                  <a:extLst>
                    <a:ext uri="{FF2B5EF4-FFF2-40B4-BE49-F238E27FC236}">
                      <a16:creationId xmlns:a16="http://schemas.microsoft.com/office/drawing/2014/main" id="{F0DDD3D1-7012-47CE-9042-AD73DF464961}"/>
                    </a:ext>
                  </a:extLst>
                </p:cNvPr>
                <p:cNvSpPr/>
                <p:nvPr/>
              </p:nvSpPr>
              <p:spPr>
                <a:xfrm>
                  <a:off x="6291569" y="2669285"/>
                  <a:ext cx="434601" cy="403319"/>
                </a:xfrm>
                <a:prstGeom prst="ellipse">
                  <a:avLst/>
                </a:prstGeom>
                <a:solidFill>
                  <a:srgbClr val="434343"/>
                </a:solidFill>
                <a:ln w="57150">
                  <a:solidFill>
                    <a:srgbClr val="DBF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I</a:t>
                  </a:r>
                </a:p>
              </p:txBody>
            </p:sp>
            <p:cxnSp>
              <p:nvCxnSpPr>
                <p:cNvPr id="119" name="Straight Arrow Connector 118">
                  <a:extLst>
                    <a:ext uri="{FF2B5EF4-FFF2-40B4-BE49-F238E27FC236}">
                      <a16:creationId xmlns:a16="http://schemas.microsoft.com/office/drawing/2014/main" id="{59A34918-2E3B-4469-99FD-6FA4310CA3CD}"/>
                    </a:ext>
                  </a:extLst>
                </p:cNvPr>
                <p:cNvCxnSpPr>
                  <a:stCxn id="118" idx="3"/>
                  <a:endCxn id="123" idx="7"/>
                </p:cNvCxnSpPr>
                <p:nvPr/>
              </p:nvCxnSpPr>
              <p:spPr>
                <a:xfrm flipH="1">
                  <a:off x="6064143" y="3013539"/>
                  <a:ext cx="291072" cy="602242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0" name="Straight Arrow Connector 119">
                  <a:extLst>
                    <a:ext uri="{FF2B5EF4-FFF2-40B4-BE49-F238E27FC236}">
                      <a16:creationId xmlns:a16="http://schemas.microsoft.com/office/drawing/2014/main" id="{AED089E1-6A15-4013-92F9-C804171F2431}"/>
                    </a:ext>
                  </a:extLst>
                </p:cNvPr>
                <p:cNvCxnSpPr>
                  <a:stCxn id="141" idx="6"/>
                  <a:endCxn id="118" idx="2"/>
                </p:cNvCxnSpPr>
                <p:nvPr/>
              </p:nvCxnSpPr>
              <p:spPr>
                <a:xfrm>
                  <a:off x="5417749" y="2860861"/>
                  <a:ext cx="873820" cy="10084"/>
                </a:xfrm>
                <a:prstGeom prst="straightConnector1">
                  <a:avLst/>
                </a:prstGeom>
                <a:ln>
                  <a:solidFill>
                    <a:schemeClr val="accent2">
                      <a:lumMod val="10000"/>
                      <a:lumOff val="90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88" name="Group 87">
                <a:extLst>
                  <a:ext uri="{FF2B5EF4-FFF2-40B4-BE49-F238E27FC236}">
                    <a16:creationId xmlns:a16="http://schemas.microsoft.com/office/drawing/2014/main" id="{2CFF95B4-1EE6-4A26-A7C0-0B0786B34469}"/>
                  </a:ext>
                </a:extLst>
              </p:cNvPr>
              <p:cNvGrpSpPr/>
              <p:nvPr/>
            </p:nvGrpSpPr>
            <p:grpSpPr>
              <a:xfrm>
                <a:off x="5354103" y="1678545"/>
                <a:ext cx="1001112" cy="1049805"/>
                <a:chOff x="5354103" y="1678545"/>
                <a:chExt cx="1001112" cy="1049805"/>
              </a:xfrm>
            </p:grpSpPr>
            <p:sp>
              <p:nvSpPr>
                <p:cNvPr id="115" name="Oval 114">
                  <a:extLst>
                    <a:ext uri="{FF2B5EF4-FFF2-40B4-BE49-F238E27FC236}">
                      <a16:creationId xmlns:a16="http://schemas.microsoft.com/office/drawing/2014/main" id="{C9FCA706-852E-495D-A0DE-A720A500ABB3}"/>
                    </a:ext>
                  </a:extLst>
                </p:cNvPr>
                <p:cNvSpPr/>
                <p:nvPr/>
              </p:nvSpPr>
              <p:spPr>
                <a:xfrm>
                  <a:off x="5651619" y="1678545"/>
                  <a:ext cx="434601" cy="403319"/>
                </a:xfrm>
                <a:prstGeom prst="ellipse">
                  <a:avLst/>
                </a:prstGeom>
                <a:solidFill>
                  <a:schemeClr val="bg2">
                    <a:lumMod val="20000"/>
                    <a:lumOff val="80000"/>
                  </a:schemeClr>
                </a:solidFill>
                <a:ln w="57150">
                  <a:solidFill>
                    <a:schemeClr val="accent6">
                      <a:lumMod val="20000"/>
                      <a:lumOff val="8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H</a:t>
                  </a:r>
                </a:p>
              </p:txBody>
            </p:sp>
            <p:cxnSp>
              <p:nvCxnSpPr>
                <p:cNvPr id="116" name="Straight Arrow Connector 115">
                  <a:extLst>
                    <a:ext uri="{FF2B5EF4-FFF2-40B4-BE49-F238E27FC236}">
                      <a16:creationId xmlns:a16="http://schemas.microsoft.com/office/drawing/2014/main" id="{D2EB21F3-F854-4A3E-BA64-2DD515451D4A}"/>
                    </a:ext>
                  </a:extLst>
                </p:cNvPr>
                <p:cNvCxnSpPr>
                  <a:stCxn id="115" idx="3"/>
                  <a:endCxn id="141" idx="7"/>
                </p:cNvCxnSpPr>
                <p:nvPr/>
              </p:nvCxnSpPr>
              <p:spPr>
                <a:xfrm flipH="1">
                  <a:off x="5354103" y="2022799"/>
                  <a:ext cx="361162" cy="695467"/>
                </a:xfrm>
                <a:prstGeom prst="straightConnector1">
                  <a:avLst/>
                </a:prstGeom>
                <a:ln>
                  <a:solidFill>
                    <a:schemeClr val="accent2">
                      <a:lumMod val="10000"/>
                      <a:lumOff val="90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7" name="Straight Arrow Connector 116">
                  <a:extLst>
                    <a:ext uri="{FF2B5EF4-FFF2-40B4-BE49-F238E27FC236}">
                      <a16:creationId xmlns:a16="http://schemas.microsoft.com/office/drawing/2014/main" id="{F0372D7D-7F18-4D93-A312-1F14F303E150}"/>
                    </a:ext>
                  </a:extLst>
                </p:cNvPr>
                <p:cNvCxnSpPr>
                  <a:stCxn id="115" idx="5"/>
                  <a:endCxn id="118" idx="1"/>
                </p:cNvCxnSpPr>
                <p:nvPr/>
              </p:nvCxnSpPr>
              <p:spPr>
                <a:xfrm>
                  <a:off x="6022574" y="2022799"/>
                  <a:ext cx="332641" cy="705551"/>
                </a:xfrm>
                <a:prstGeom prst="straightConnector1">
                  <a:avLst/>
                </a:prstGeom>
                <a:ln>
                  <a:solidFill>
                    <a:schemeClr val="accent2">
                      <a:lumMod val="10000"/>
                      <a:lumOff val="90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90" name="Group 89">
                <a:extLst>
                  <a:ext uri="{FF2B5EF4-FFF2-40B4-BE49-F238E27FC236}">
                    <a16:creationId xmlns:a16="http://schemas.microsoft.com/office/drawing/2014/main" id="{671D8634-8100-4CBA-9D7F-7929AC71BF23}"/>
                  </a:ext>
                </a:extLst>
              </p:cNvPr>
              <p:cNvGrpSpPr/>
              <p:nvPr/>
            </p:nvGrpSpPr>
            <p:grpSpPr>
              <a:xfrm>
                <a:off x="6883051" y="1678545"/>
                <a:ext cx="731706" cy="1049805"/>
                <a:chOff x="6883051" y="1678545"/>
                <a:chExt cx="731706" cy="1049805"/>
              </a:xfrm>
            </p:grpSpPr>
            <p:sp>
              <p:nvSpPr>
                <p:cNvPr id="113" name="Oval 112">
                  <a:extLst>
                    <a:ext uri="{FF2B5EF4-FFF2-40B4-BE49-F238E27FC236}">
                      <a16:creationId xmlns:a16="http://schemas.microsoft.com/office/drawing/2014/main" id="{ABBDB846-A69D-4ACC-9BBB-B90F5FC518F5}"/>
                    </a:ext>
                  </a:extLst>
                </p:cNvPr>
                <p:cNvSpPr/>
                <p:nvPr/>
              </p:nvSpPr>
              <p:spPr>
                <a:xfrm>
                  <a:off x="6883051" y="1678545"/>
                  <a:ext cx="434601" cy="403319"/>
                </a:xfrm>
                <a:prstGeom prst="ellipse">
                  <a:avLst/>
                </a:prstGeom>
                <a:solidFill>
                  <a:schemeClr val="bg2">
                    <a:lumMod val="20000"/>
                    <a:lumOff val="80000"/>
                  </a:schemeClr>
                </a:solidFill>
                <a:ln w="57150">
                  <a:solidFill>
                    <a:schemeClr val="accent6">
                      <a:lumMod val="20000"/>
                      <a:lumOff val="8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O</a:t>
                  </a:r>
                </a:p>
              </p:txBody>
            </p:sp>
            <p:cxnSp>
              <p:nvCxnSpPr>
                <p:cNvPr id="114" name="Straight Arrow Connector 113">
                  <a:extLst>
                    <a:ext uri="{FF2B5EF4-FFF2-40B4-BE49-F238E27FC236}">
                      <a16:creationId xmlns:a16="http://schemas.microsoft.com/office/drawing/2014/main" id="{439B09A7-48D0-4F50-84D1-C94B5500EA40}"/>
                    </a:ext>
                  </a:extLst>
                </p:cNvPr>
                <p:cNvCxnSpPr>
                  <a:stCxn id="113" idx="5"/>
                  <a:endCxn id="111" idx="1"/>
                </p:cNvCxnSpPr>
                <p:nvPr/>
              </p:nvCxnSpPr>
              <p:spPr>
                <a:xfrm>
                  <a:off x="7254006" y="2022799"/>
                  <a:ext cx="360751" cy="705551"/>
                </a:xfrm>
                <a:prstGeom prst="straightConnector1">
                  <a:avLst/>
                </a:prstGeom>
                <a:ln>
                  <a:solidFill>
                    <a:schemeClr val="accent2">
                      <a:lumMod val="10000"/>
                      <a:lumOff val="90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91" name="Group 90">
                <a:extLst>
                  <a:ext uri="{FF2B5EF4-FFF2-40B4-BE49-F238E27FC236}">
                    <a16:creationId xmlns:a16="http://schemas.microsoft.com/office/drawing/2014/main" id="{3E0831C2-F05A-4641-9D00-C9A18CCCDF84}"/>
                  </a:ext>
                </a:extLst>
              </p:cNvPr>
              <p:cNvGrpSpPr/>
              <p:nvPr/>
            </p:nvGrpSpPr>
            <p:grpSpPr>
              <a:xfrm>
                <a:off x="7323685" y="2669285"/>
                <a:ext cx="662027" cy="946496"/>
                <a:chOff x="7323685" y="2669285"/>
                <a:chExt cx="662027" cy="946496"/>
              </a:xfrm>
            </p:grpSpPr>
            <p:sp>
              <p:nvSpPr>
                <p:cNvPr id="111" name="Oval 110">
                  <a:extLst>
                    <a:ext uri="{FF2B5EF4-FFF2-40B4-BE49-F238E27FC236}">
                      <a16:creationId xmlns:a16="http://schemas.microsoft.com/office/drawing/2014/main" id="{D0CF7C1D-9EB5-404E-9D16-DD1689AF09CD}"/>
                    </a:ext>
                  </a:extLst>
                </p:cNvPr>
                <p:cNvSpPr/>
                <p:nvPr/>
              </p:nvSpPr>
              <p:spPr>
                <a:xfrm>
                  <a:off x="7551111" y="2669285"/>
                  <a:ext cx="434601" cy="403319"/>
                </a:xfrm>
                <a:prstGeom prst="ellipse">
                  <a:avLst/>
                </a:prstGeom>
                <a:solidFill>
                  <a:schemeClr val="bg2">
                    <a:lumMod val="20000"/>
                    <a:lumOff val="80000"/>
                  </a:schemeClr>
                </a:solidFill>
                <a:ln w="57150">
                  <a:solidFill>
                    <a:schemeClr val="accent6">
                      <a:lumMod val="20000"/>
                      <a:lumOff val="8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N</a:t>
                  </a:r>
                </a:p>
              </p:txBody>
            </p:sp>
            <p:cxnSp>
              <p:nvCxnSpPr>
                <p:cNvPr id="112" name="Straight Arrow Connector 111">
                  <a:extLst>
                    <a:ext uri="{FF2B5EF4-FFF2-40B4-BE49-F238E27FC236}">
                      <a16:creationId xmlns:a16="http://schemas.microsoft.com/office/drawing/2014/main" id="{A335EEEC-CA42-47B5-B7FF-B1DB89ABE3B1}"/>
                    </a:ext>
                  </a:extLst>
                </p:cNvPr>
                <p:cNvCxnSpPr>
                  <a:stCxn id="111" idx="3"/>
                  <a:endCxn id="121" idx="7"/>
                </p:cNvCxnSpPr>
                <p:nvPr/>
              </p:nvCxnSpPr>
              <p:spPr>
                <a:xfrm flipH="1">
                  <a:off x="7323685" y="3013539"/>
                  <a:ext cx="291072" cy="602242"/>
                </a:xfrm>
                <a:prstGeom prst="straightConnector1">
                  <a:avLst/>
                </a:prstGeom>
                <a:ln>
                  <a:solidFill>
                    <a:schemeClr val="accent2">
                      <a:lumMod val="10000"/>
                      <a:lumOff val="90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92" name="Group 91">
                <a:extLst>
                  <a:ext uri="{FF2B5EF4-FFF2-40B4-BE49-F238E27FC236}">
                    <a16:creationId xmlns:a16="http://schemas.microsoft.com/office/drawing/2014/main" id="{6F245A59-499C-4677-9BE4-4D8F34FB14E5}"/>
                  </a:ext>
                </a:extLst>
              </p:cNvPr>
              <p:cNvGrpSpPr/>
              <p:nvPr/>
            </p:nvGrpSpPr>
            <p:grpSpPr>
              <a:xfrm>
                <a:off x="5417748" y="3900970"/>
                <a:ext cx="1598628" cy="917233"/>
                <a:chOff x="5417748" y="3900970"/>
                <a:chExt cx="1598628" cy="917233"/>
              </a:xfrm>
            </p:grpSpPr>
            <p:sp>
              <p:nvSpPr>
                <p:cNvPr id="108" name="Oval 107">
                  <a:extLst>
                    <a:ext uri="{FF2B5EF4-FFF2-40B4-BE49-F238E27FC236}">
                      <a16:creationId xmlns:a16="http://schemas.microsoft.com/office/drawing/2014/main" id="{F88B1345-8B51-4D19-9623-F4913F9E3D45}"/>
                    </a:ext>
                  </a:extLst>
                </p:cNvPr>
                <p:cNvSpPr/>
                <p:nvPr/>
              </p:nvSpPr>
              <p:spPr>
                <a:xfrm>
                  <a:off x="6291570" y="4414884"/>
                  <a:ext cx="434601" cy="403319"/>
                </a:xfrm>
                <a:prstGeom prst="ellipse">
                  <a:avLst/>
                </a:prstGeom>
                <a:solidFill>
                  <a:srgbClr val="434343"/>
                </a:solidFill>
                <a:ln w="57150">
                  <a:solidFill>
                    <a:srgbClr val="DBF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K</a:t>
                  </a:r>
                </a:p>
              </p:txBody>
            </p:sp>
            <p:cxnSp>
              <p:nvCxnSpPr>
                <p:cNvPr id="109" name="Straight Arrow Connector 108">
                  <a:extLst>
                    <a:ext uri="{FF2B5EF4-FFF2-40B4-BE49-F238E27FC236}">
                      <a16:creationId xmlns:a16="http://schemas.microsoft.com/office/drawing/2014/main" id="{36AC556C-08C1-4497-A767-74B95267A9D5}"/>
                    </a:ext>
                  </a:extLst>
                </p:cNvPr>
                <p:cNvCxnSpPr>
                  <a:cxnSpLocks/>
                  <a:stCxn id="108" idx="2"/>
                  <a:endCxn id="128" idx="6"/>
                </p:cNvCxnSpPr>
                <p:nvPr/>
              </p:nvCxnSpPr>
              <p:spPr>
                <a:xfrm flipH="1">
                  <a:off x="5417748" y="4616544"/>
                  <a:ext cx="873822" cy="1"/>
                </a:xfrm>
                <a:prstGeom prst="straightConnector1">
                  <a:avLst/>
                </a:prstGeom>
                <a:ln>
                  <a:solidFill>
                    <a:schemeClr val="accent2">
                      <a:lumMod val="10000"/>
                      <a:lumOff val="90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0" name="Straight Arrow Connector 109">
                  <a:extLst>
                    <a:ext uri="{FF2B5EF4-FFF2-40B4-BE49-F238E27FC236}">
                      <a16:creationId xmlns:a16="http://schemas.microsoft.com/office/drawing/2014/main" id="{2FC3B65F-8B17-4669-807F-29ED00A5FAFE}"/>
                    </a:ext>
                  </a:extLst>
                </p:cNvPr>
                <p:cNvCxnSpPr>
                  <a:stCxn id="108" idx="7"/>
                  <a:endCxn id="121" idx="3"/>
                </p:cNvCxnSpPr>
                <p:nvPr/>
              </p:nvCxnSpPr>
              <p:spPr>
                <a:xfrm flipV="1">
                  <a:off x="6662525" y="3900970"/>
                  <a:ext cx="353851" cy="572979"/>
                </a:xfrm>
                <a:prstGeom prst="straightConnector1">
                  <a:avLst/>
                </a:prstGeom>
                <a:ln>
                  <a:solidFill>
                    <a:schemeClr val="accent2">
                      <a:lumMod val="10000"/>
                      <a:lumOff val="90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93" name="Group 92">
                <a:extLst>
                  <a:ext uri="{FF2B5EF4-FFF2-40B4-BE49-F238E27FC236}">
                    <a16:creationId xmlns:a16="http://schemas.microsoft.com/office/drawing/2014/main" id="{DDDCCFB6-536E-40BF-B550-1E21CD9B5EE0}"/>
                  </a:ext>
                </a:extLst>
              </p:cNvPr>
              <p:cNvGrpSpPr/>
              <p:nvPr/>
            </p:nvGrpSpPr>
            <p:grpSpPr>
              <a:xfrm>
                <a:off x="7323685" y="3900970"/>
                <a:ext cx="710909" cy="917233"/>
                <a:chOff x="7323685" y="3900970"/>
                <a:chExt cx="710909" cy="917233"/>
              </a:xfrm>
            </p:grpSpPr>
            <p:sp>
              <p:nvSpPr>
                <p:cNvPr id="106" name="Oval 105">
                  <a:extLst>
                    <a:ext uri="{FF2B5EF4-FFF2-40B4-BE49-F238E27FC236}">
                      <a16:creationId xmlns:a16="http://schemas.microsoft.com/office/drawing/2014/main" id="{B5A8D97F-1C79-4E6A-90C8-22E70D70DD21}"/>
                    </a:ext>
                  </a:extLst>
                </p:cNvPr>
                <p:cNvSpPr/>
                <p:nvPr/>
              </p:nvSpPr>
              <p:spPr>
                <a:xfrm>
                  <a:off x="7599993" y="4414884"/>
                  <a:ext cx="434601" cy="403319"/>
                </a:xfrm>
                <a:prstGeom prst="ellipse">
                  <a:avLst/>
                </a:prstGeom>
                <a:solidFill>
                  <a:schemeClr val="bg2">
                    <a:lumMod val="20000"/>
                    <a:lumOff val="80000"/>
                  </a:schemeClr>
                </a:solidFill>
                <a:ln w="57150">
                  <a:solidFill>
                    <a:schemeClr val="accent6">
                      <a:lumMod val="20000"/>
                      <a:lumOff val="8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L</a:t>
                  </a:r>
                </a:p>
              </p:txBody>
            </p:sp>
            <p:cxnSp>
              <p:nvCxnSpPr>
                <p:cNvPr id="107" name="Straight Arrow Connector 106">
                  <a:extLst>
                    <a:ext uri="{FF2B5EF4-FFF2-40B4-BE49-F238E27FC236}">
                      <a16:creationId xmlns:a16="http://schemas.microsoft.com/office/drawing/2014/main" id="{2CE29A11-704E-4925-A0F5-9EBA209B94E1}"/>
                    </a:ext>
                  </a:extLst>
                </p:cNvPr>
                <p:cNvCxnSpPr>
                  <a:stCxn id="106" idx="1"/>
                  <a:endCxn id="121" idx="5"/>
                </p:cNvCxnSpPr>
                <p:nvPr/>
              </p:nvCxnSpPr>
              <p:spPr>
                <a:xfrm flipH="1" flipV="1">
                  <a:off x="7323685" y="3900970"/>
                  <a:ext cx="339954" cy="572979"/>
                </a:xfrm>
                <a:prstGeom prst="straightConnector1">
                  <a:avLst/>
                </a:prstGeom>
                <a:ln>
                  <a:solidFill>
                    <a:schemeClr val="accent2">
                      <a:lumMod val="10000"/>
                      <a:lumOff val="90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94" name="Group 93">
                <a:extLst>
                  <a:ext uri="{FF2B5EF4-FFF2-40B4-BE49-F238E27FC236}">
                    <a16:creationId xmlns:a16="http://schemas.microsoft.com/office/drawing/2014/main" id="{B54032BD-8CDB-438D-9C8D-04FE50109D64}"/>
                  </a:ext>
                </a:extLst>
              </p:cNvPr>
              <p:cNvGrpSpPr/>
              <p:nvPr/>
            </p:nvGrpSpPr>
            <p:grpSpPr>
              <a:xfrm>
                <a:off x="7922066" y="3013539"/>
                <a:ext cx="776340" cy="887431"/>
                <a:chOff x="7922066" y="3013539"/>
                <a:chExt cx="776340" cy="887431"/>
              </a:xfrm>
            </p:grpSpPr>
            <p:sp>
              <p:nvSpPr>
                <p:cNvPr id="104" name="Oval 103">
                  <a:extLst>
                    <a:ext uri="{FF2B5EF4-FFF2-40B4-BE49-F238E27FC236}">
                      <a16:creationId xmlns:a16="http://schemas.microsoft.com/office/drawing/2014/main" id="{CC57BB66-9C2E-42A4-8070-963C98906317}"/>
                    </a:ext>
                  </a:extLst>
                </p:cNvPr>
                <p:cNvSpPr/>
                <p:nvPr/>
              </p:nvSpPr>
              <p:spPr>
                <a:xfrm>
                  <a:off x="8263805" y="3497651"/>
                  <a:ext cx="434601" cy="403319"/>
                </a:xfrm>
                <a:prstGeom prst="ellipse">
                  <a:avLst/>
                </a:prstGeom>
                <a:solidFill>
                  <a:schemeClr val="bg2">
                    <a:lumMod val="20000"/>
                    <a:lumOff val="80000"/>
                  </a:schemeClr>
                </a:solidFill>
                <a:ln w="57150">
                  <a:solidFill>
                    <a:schemeClr val="accent6">
                      <a:lumMod val="20000"/>
                      <a:lumOff val="8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M</a:t>
                  </a:r>
                </a:p>
              </p:txBody>
            </p:sp>
            <p:cxnSp>
              <p:nvCxnSpPr>
                <p:cNvPr id="105" name="Straight Arrow Connector 104">
                  <a:extLst>
                    <a:ext uri="{FF2B5EF4-FFF2-40B4-BE49-F238E27FC236}">
                      <a16:creationId xmlns:a16="http://schemas.microsoft.com/office/drawing/2014/main" id="{72A8AC6A-5985-49C1-AEA9-923737426CD8}"/>
                    </a:ext>
                  </a:extLst>
                </p:cNvPr>
                <p:cNvCxnSpPr>
                  <a:stCxn id="104" idx="1"/>
                  <a:endCxn id="111" idx="5"/>
                </p:cNvCxnSpPr>
                <p:nvPr/>
              </p:nvCxnSpPr>
              <p:spPr>
                <a:xfrm flipH="1" flipV="1">
                  <a:off x="7922066" y="3013539"/>
                  <a:ext cx="405385" cy="543177"/>
                </a:xfrm>
                <a:prstGeom prst="straightConnector1">
                  <a:avLst/>
                </a:prstGeom>
                <a:ln>
                  <a:solidFill>
                    <a:schemeClr val="accent2">
                      <a:lumMod val="10000"/>
                      <a:lumOff val="90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5D4B43BA-1803-41FB-BE8E-CBD073D08262}"/>
                </a:ext>
              </a:extLst>
            </p:cNvPr>
            <p:cNvCxnSpPr>
              <a:stCxn id="108" idx="1"/>
              <a:endCxn id="123" idx="5"/>
            </p:cNvCxnSpPr>
            <p:nvPr/>
          </p:nvCxnSpPr>
          <p:spPr>
            <a:xfrm flipH="1" flipV="1">
              <a:off x="2767699" y="1934227"/>
              <a:ext cx="291073" cy="572978"/>
            </a:xfrm>
            <a:prstGeom prst="straightConnector1">
              <a:avLst/>
            </a:prstGeom>
            <a:ln>
              <a:solidFill>
                <a:srgbClr val="FF0000"/>
              </a:solidFill>
              <a:prstDash val="lg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3" name="TextBox 102">
            <a:extLst>
              <a:ext uri="{FF2B5EF4-FFF2-40B4-BE49-F238E27FC236}">
                <a16:creationId xmlns:a16="http://schemas.microsoft.com/office/drawing/2014/main" id="{81A2B5C8-F4F4-407E-A5E3-78D07490110E}"/>
              </a:ext>
            </a:extLst>
          </p:cNvPr>
          <p:cNvSpPr txBox="1"/>
          <p:nvPr/>
        </p:nvSpPr>
        <p:spPr>
          <a:xfrm>
            <a:off x="-2928" y="949884"/>
            <a:ext cx="3757824" cy="50157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133" dirty="0">
                <a:solidFill>
                  <a:srgbClr val="434343"/>
                </a:solidFill>
              </a:rPr>
              <a:t>Most research is done without considering confounds. If you’re lucky, you may know one confound.</a:t>
            </a:r>
          </a:p>
          <a:p>
            <a:endParaRPr lang="en-GB" sz="2133" dirty="0">
              <a:solidFill>
                <a:srgbClr val="434343"/>
              </a:solidFill>
            </a:endParaRPr>
          </a:p>
          <a:p>
            <a:r>
              <a:rPr lang="en-GB" sz="2133" dirty="0">
                <a:solidFill>
                  <a:srgbClr val="434343"/>
                </a:solidFill>
              </a:rPr>
              <a:t>Variables are generally thrown into models with a belief that there will be </a:t>
            </a:r>
            <a:r>
              <a:rPr lang="en-GB" sz="2133" i="1" dirty="0">
                <a:solidFill>
                  <a:srgbClr val="434343"/>
                </a:solidFill>
              </a:rPr>
              <a:t>some</a:t>
            </a:r>
            <a:r>
              <a:rPr lang="en-GB" sz="2133" dirty="0">
                <a:solidFill>
                  <a:srgbClr val="434343"/>
                </a:solidFill>
              </a:rPr>
              <a:t> sort of causal relationship.</a:t>
            </a:r>
          </a:p>
          <a:p>
            <a:endParaRPr lang="en-GB" sz="2133" dirty="0">
              <a:solidFill>
                <a:srgbClr val="434343"/>
              </a:solidFill>
            </a:endParaRPr>
          </a:p>
          <a:p>
            <a:r>
              <a:rPr lang="en-GB" sz="2133" dirty="0">
                <a:solidFill>
                  <a:srgbClr val="434343"/>
                </a:solidFill>
              </a:rPr>
              <a:t>This is incredibly dangerous.</a:t>
            </a:r>
          </a:p>
          <a:p>
            <a:endParaRPr lang="en-GB" sz="2133" dirty="0">
              <a:solidFill>
                <a:srgbClr val="434343"/>
              </a:solidFill>
            </a:endParaRPr>
          </a:p>
          <a:p>
            <a:r>
              <a:rPr lang="en-GB" sz="2133" dirty="0">
                <a:solidFill>
                  <a:srgbClr val="434343"/>
                </a:solidFill>
              </a:rPr>
              <a:t>Are you opening a confounded path by adding it to the model or closing it.</a:t>
            </a:r>
          </a:p>
        </p:txBody>
      </p:sp>
    </p:spTree>
    <p:extLst>
      <p:ext uri="{BB962C8B-B14F-4D97-AF65-F5344CB8AC3E}">
        <p14:creationId xmlns:p14="http://schemas.microsoft.com/office/powerpoint/2010/main" val="2688286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F24A1C87-7A53-4561-AED4-0C88C19F8829}"/>
              </a:ext>
            </a:extLst>
          </p:cNvPr>
          <p:cNvCxnSpPr>
            <a:stCxn id="8" idx="5"/>
            <a:endCxn id="7" idx="1"/>
          </p:cNvCxnSpPr>
          <p:nvPr/>
        </p:nvCxnSpPr>
        <p:spPr>
          <a:xfrm>
            <a:off x="5181073" y="1901784"/>
            <a:ext cx="802095" cy="955389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2C3810D1-641D-4B86-A1CA-D74F51C5B256}"/>
              </a:ext>
            </a:extLst>
          </p:cNvPr>
          <p:cNvCxnSpPr>
            <a:stCxn id="8" idx="6"/>
            <a:endCxn id="58" idx="2"/>
          </p:cNvCxnSpPr>
          <p:nvPr/>
        </p:nvCxnSpPr>
        <p:spPr>
          <a:xfrm>
            <a:off x="5265934" y="1711659"/>
            <a:ext cx="632372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0994AE3C-4182-4FBB-B647-5459F7C8478D}"/>
              </a:ext>
            </a:extLst>
          </p:cNvPr>
          <p:cNvCxnSpPr>
            <a:stCxn id="58" idx="4"/>
            <a:endCxn id="7" idx="0"/>
          </p:cNvCxnSpPr>
          <p:nvPr/>
        </p:nvCxnSpPr>
        <p:spPr>
          <a:xfrm>
            <a:off x="6188040" y="1980537"/>
            <a:ext cx="0" cy="79788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5C8CFEE0-0421-43DC-B7B9-00B9BC8F0732}"/>
              </a:ext>
            </a:extLst>
          </p:cNvPr>
          <p:cNvCxnSpPr>
            <a:stCxn id="58" idx="5"/>
            <a:endCxn id="9" idx="1"/>
          </p:cNvCxnSpPr>
          <p:nvPr/>
        </p:nvCxnSpPr>
        <p:spPr>
          <a:xfrm>
            <a:off x="6392913" y="1901784"/>
            <a:ext cx="618015" cy="287568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01C4BFEB-A166-4D91-8BBA-1E72E55B7C20}"/>
              </a:ext>
            </a:extLst>
          </p:cNvPr>
          <p:cNvCxnSpPr>
            <a:cxnSpLocks/>
            <a:stCxn id="9" idx="3"/>
            <a:endCxn id="7" idx="7"/>
          </p:cNvCxnSpPr>
          <p:nvPr/>
        </p:nvCxnSpPr>
        <p:spPr>
          <a:xfrm flipH="1">
            <a:off x="6392913" y="2569605"/>
            <a:ext cx="618015" cy="287569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95E55AF-D013-4C2D-9247-73DD7B73F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131"/>
            <a:ext cx="12192000" cy="1340136"/>
          </a:xfrm>
        </p:spPr>
        <p:txBody>
          <a:bodyPr/>
          <a:lstStyle/>
          <a:p>
            <a:pPr algn="ctr"/>
            <a:r>
              <a:rPr lang="en-GB" dirty="0"/>
              <a:t>Can we study the direct effect of X on Y here?</a:t>
            </a:r>
          </a:p>
        </p:txBody>
      </p:sp>
      <p:sp>
        <p:nvSpPr>
          <p:cNvPr id="48" name="Google Shape;75;p15">
            <a:extLst>
              <a:ext uri="{FF2B5EF4-FFF2-40B4-BE49-F238E27FC236}">
                <a16:creationId xmlns:a16="http://schemas.microsoft.com/office/drawing/2014/main" id="{A02B5B09-5B79-4DAD-BE48-C0E974D9F164}"/>
              </a:ext>
            </a:extLst>
          </p:cNvPr>
          <p:cNvSpPr/>
          <p:nvPr/>
        </p:nvSpPr>
        <p:spPr>
          <a:xfrm>
            <a:off x="4347584" y="840241"/>
            <a:ext cx="3496833" cy="140300"/>
          </a:xfrm>
          <a:custGeom>
            <a:avLst/>
            <a:gdLst/>
            <a:ahLst/>
            <a:cxnLst/>
            <a:rect l="l" t="t" r="r" b="b"/>
            <a:pathLst>
              <a:path w="104905" h="4209" extrusionOk="0">
                <a:moveTo>
                  <a:pt x="0" y="2010"/>
                </a:moveTo>
                <a:cubicBezTo>
                  <a:pt x="34411" y="-4246"/>
                  <a:pt x="71725" y="11060"/>
                  <a:pt x="104905" y="0"/>
                </a:cubicBezTo>
              </a:path>
            </a:pathLst>
          </a:custGeom>
          <a:noFill/>
          <a:ln w="19050" cap="flat" cmpd="sng">
            <a:solidFill>
              <a:srgbClr val="4C113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57F8FDA0-1D31-4579-93CE-5265A2AAD56E}"/>
              </a:ext>
            </a:extLst>
          </p:cNvPr>
          <p:cNvGrpSpPr/>
          <p:nvPr/>
        </p:nvGrpSpPr>
        <p:grpSpPr>
          <a:xfrm>
            <a:off x="4686464" y="1442780"/>
            <a:ext cx="2819069" cy="1873401"/>
            <a:chOff x="7574559" y="2043997"/>
            <a:chExt cx="2114302" cy="1405051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43A09443-7A64-4EAE-8E2C-36AD7E6DEB0F}"/>
                </a:ext>
              </a:extLst>
            </p:cNvPr>
            <p:cNvGrpSpPr/>
            <p:nvPr/>
          </p:nvGrpSpPr>
          <p:grpSpPr>
            <a:xfrm>
              <a:off x="7574559" y="2043997"/>
              <a:ext cx="2114302" cy="1405051"/>
              <a:chOff x="5382688" y="2669285"/>
              <a:chExt cx="2114302" cy="1405051"/>
            </a:xfrm>
          </p:grpSpPr>
          <p:cxnSp>
            <p:nvCxnSpPr>
              <p:cNvPr id="25" name="Straight Arrow Connector 24">
                <a:extLst>
                  <a:ext uri="{FF2B5EF4-FFF2-40B4-BE49-F238E27FC236}">
                    <a16:creationId xmlns:a16="http://schemas.microsoft.com/office/drawing/2014/main" id="{0E3544E3-B814-4FBB-B3F7-6E7B604F9FC7}"/>
                  </a:ext>
                </a:extLst>
              </p:cNvPr>
              <p:cNvCxnSpPr>
                <a:cxnSpLocks/>
                <a:stCxn id="8" idx="6"/>
                <a:endCxn id="58" idx="2"/>
              </p:cNvCxnSpPr>
              <p:nvPr/>
            </p:nvCxnSpPr>
            <p:spPr>
              <a:xfrm>
                <a:off x="5817290" y="2870945"/>
                <a:ext cx="474279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7" name="Group 56">
                <a:extLst>
                  <a:ext uri="{FF2B5EF4-FFF2-40B4-BE49-F238E27FC236}">
                    <a16:creationId xmlns:a16="http://schemas.microsoft.com/office/drawing/2014/main" id="{BFB9AF36-54EE-44C1-9BDB-46F84ADD68FC}"/>
                  </a:ext>
                </a:extLst>
              </p:cNvPr>
              <p:cNvGrpSpPr/>
              <p:nvPr/>
            </p:nvGrpSpPr>
            <p:grpSpPr>
              <a:xfrm>
                <a:off x="6662524" y="3170150"/>
                <a:ext cx="834466" cy="559931"/>
                <a:chOff x="6662524" y="3170150"/>
                <a:chExt cx="834466" cy="559931"/>
              </a:xfrm>
            </p:grpSpPr>
            <p:cxnSp>
              <p:nvCxnSpPr>
                <p:cNvPr id="39" name="Straight Arrow Connector 38">
                  <a:extLst>
                    <a:ext uri="{FF2B5EF4-FFF2-40B4-BE49-F238E27FC236}">
                      <a16:creationId xmlns:a16="http://schemas.microsoft.com/office/drawing/2014/main" id="{6D089515-184D-4657-89EE-661B6437A78B}"/>
                    </a:ext>
                  </a:extLst>
                </p:cNvPr>
                <p:cNvCxnSpPr>
                  <a:cxnSpLocks/>
                  <a:stCxn id="9" idx="3"/>
                  <a:endCxn id="7" idx="7"/>
                </p:cNvCxnSpPr>
                <p:nvPr/>
              </p:nvCxnSpPr>
              <p:spPr>
                <a:xfrm flipH="1">
                  <a:off x="6662524" y="3514404"/>
                  <a:ext cx="463511" cy="215677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9" name="Oval 8">
                  <a:extLst>
                    <a:ext uri="{FF2B5EF4-FFF2-40B4-BE49-F238E27FC236}">
                      <a16:creationId xmlns:a16="http://schemas.microsoft.com/office/drawing/2014/main" id="{916BED35-4399-459D-9EC3-656B5CD910CB}"/>
                    </a:ext>
                  </a:extLst>
                </p:cNvPr>
                <p:cNvSpPr/>
                <p:nvPr/>
              </p:nvSpPr>
              <p:spPr>
                <a:xfrm>
                  <a:off x="7062389" y="3170150"/>
                  <a:ext cx="434601" cy="403319"/>
                </a:xfrm>
                <a:prstGeom prst="ellipse">
                  <a:avLst/>
                </a:prstGeom>
                <a:solidFill>
                  <a:srgbClr val="434343"/>
                </a:solidFill>
                <a:ln w="38100"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B</a:t>
                  </a:r>
                </a:p>
              </p:txBody>
            </p:sp>
          </p:grpSp>
          <p:grpSp>
            <p:nvGrpSpPr>
              <p:cNvPr id="49" name="Group 48">
                <a:extLst>
                  <a:ext uri="{FF2B5EF4-FFF2-40B4-BE49-F238E27FC236}">
                    <a16:creationId xmlns:a16="http://schemas.microsoft.com/office/drawing/2014/main" id="{4218D727-F9EC-49E2-8BFB-585EAF729EE2}"/>
                  </a:ext>
                </a:extLst>
              </p:cNvPr>
              <p:cNvGrpSpPr/>
              <p:nvPr/>
            </p:nvGrpSpPr>
            <p:grpSpPr>
              <a:xfrm>
                <a:off x="5382688" y="2669285"/>
                <a:ext cx="1343482" cy="1405051"/>
                <a:chOff x="5382688" y="2669285"/>
                <a:chExt cx="1343482" cy="1405051"/>
              </a:xfrm>
            </p:grpSpPr>
            <p:sp>
              <p:nvSpPr>
                <p:cNvPr id="7" name="Oval 6">
                  <a:extLst>
                    <a:ext uri="{FF2B5EF4-FFF2-40B4-BE49-F238E27FC236}">
                      <a16:creationId xmlns:a16="http://schemas.microsoft.com/office/drawing/2014/main" id="{1A1E3508-52C1-4434-92AB-2EAAAD3D9289}"/>
                    </a:ext>
                  </a:extLst>
                </p:cNvPr>
                <p:cNvSpPr/>
                <p:nvPr/>
              </p:nvSpPr>
              <p:spPr>
                <a:xfrm>
                  <a:off x="6291569" y="3671016"/>
                  <a:ext cx="434601" cy="403320"/>
                </a:xfrm>
                <a:prstGeom prst="ellipse">
                  <a:avLst/>
                </a:prstGeom>
                <a:solidFill>
                  <a:srgbClr val="434343"/>
                </a:solidFill>
                <a:ln w="38100"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Y</a:t>
                  </a:r>
                </a:p>
              </p:txBody>
            </p:sp>
            <p:sp>
              <p:nvSpPr>
                <p:cNvPr id="8" name="Oval 7">
                  <a:extLst>
                    <a:ext uri="{FF2B5EF4-FFF2-40B4-BE49-F238E27FC236}">
                      <a16:creationId xmlns:a16="http://schemas.microsoft.com/office/drawing/2014/main" id="{B271D1D0-EAB0-42B9-9462-FB90040DD52E}"/>
                    </a:ext>
                  </a:extLst>
                </p:cNvPr>
                <p:cNvSpPr/>
                <p:nvPr/>
              </p:nvSpPr>
              <p:spPr>
                <a:xfrm>
                  <a:off x="5382688" y="2669285"/>
                  <a:ext cx="434602" cy="403319"/>
                </a:xfrm>
                <a:prstGeom prst="ellipse">
                  <a:avLst/>
                </a:prstGeom>
                <a:solidFill>
                  <a:schemeClr val="accent5">
                    <a:lumMod val="50000"/>
                  </a:schemeClr>
                </a:solidFill>
                <a:ln w="38100">
                  <a:solidFill>
                    <a:schemeClr val="accent5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X</a:t>
                  </a:r>
                </a:p>
              </p:txBody>
            </p:sp>
            <p:cxnSp>
              <p:nvCxnSpPr>
                <p:cNvPr id="45" name="Straight Arrow Connector 44">
                  <a:extLst>
                    <a:ext uri="{FF2B5EF4-FFF2-40B4-BE49-F238E27FC236}">
                      <a16:creationId xmlns:a16="http://schemas.microsoft.com/office/drawing/2014/main" id="{FB529943-B243-454F-842A-82054AE45BEA}"/>
                    </a:ext>
                  </a:extLst>
                </p:cNvPr>
                <p:cNvCxnSpPr>
                  <a:cxnSpLocks/>
                  <a:stCxn id="8" idx="5"/>
                  <a:endCxn id="7" idx="1"/>
                </p:cNvCxnSpPr>
                <p:nvPr/>
              </p:nvCxnSpPr>
              <p:spPr>
                <a:xfrm>
                  <a:off x="5753644" y="3013539"/>
                  <a:ext cx="601571" cy="716542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95" name="Group 94">
                <a:extLst>
                  <a:ext uri="{FF2B5EF4-FFF2-40B4-BE49-F238E27FC236}">
                    <a16:creationId xmlns:a16="http://schemas.microsoft.com/office/drawing/2014/main" id="{5426D79D-626A-4A1E-A92A-F6BEAA2CA97B}"/>
                  </a:ext>
                </a:extLst>
              </p:cNvPr>
              <p:cNvGrpSpPr/>
              <p:nvPr/>
            </p:nvGrpSpPr>
            <p:grpSpPr>
              <a:xfrm>
                <a:off x="6291569" y="2669285"/>
                <a:ext cx="434601" cy="1001731"/>
                <a:chOff x="6291569" y="2669285"/>
                <a:chExt cx="434601" cy="1001731"/>
              </a:xfrm>
            </p:grpSpPr>
            <p:sp>
              <p:nvSpPr>
                <p:cNvPr id="58" name="Oval 57">
                  <a:extLst>
                    <a:ext uri="{FF2B5EF4-FFF2-40B4-BE49-F238E27FC236}">
                      <a16:creationId xmlns:a16="http://schemas.microsoft.com/office/drawing/2014/main" id="{3C8ABD49-3FCA-487A-BA3F-A055EB39AABB}"/>
                    </a:ext>
                  </a:extLst>
                </p:cNvPr>
                <p:cNvSpPr/>
                <p:nvPr/>
              </p:nvSpPr>
              <p:spPr>
                <a:xfrm>
                  <a:off x="6291569" y="2669285"/>
                  <a:ext cx="434601" cy="403319"/>
                </a:xfrm>
                <a:prstGeom prst="ellipse">
                  <a:avLst/>
                </a:prstGeom>
                <a:solidFill>
                  <a:srgbClr val="434343"/>
                </a:solidFill>
                <a:ln w="38100"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400" dirty="0"/>
                    <a:t>A</a:t>
                  </a:r>
                </a:p>
              </p:txBody>
            </p:sp>
            <p:cxnSp>
              <p:nvCxnSpPr>
                <p:cNvPr id="70" name="Straight Arrow Connector 69">
                  <a:extLst>
                    <a:ext uri="{FF2B5EF4-FFF2-40B4-BE49-F238E27FC236}">
                      <a16:creationId xmlns:a16="http://schemas.microsoft.com/office/drawing/2014/main" id="{A6A46A88-0C5F-4EAF-BFC8-280A0E8E6233}"/>
                    </a:ext>
                  </a:extLst>
                </p:cNvPr>
                <p:cNvCxnSpPr>
                  <a:cxnSpLocks/>
                  <a:stCxn id="58" idx="4"/>
                  <a:endCxn id="7" idx="0"/>
                </p:cNvCxnSpPr>
                <p:nvPr/>
              </p:nvCxnSpPr>
              <p:spPr>
                <a:xfrm>
                  <a:off x="6508870" y="3072604"/>
                  <a:ext cx="0" cy="598412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33B8EF31-3011-472D-AD87-437CEA8A2CFF}"/>
                </a:ext>
              </a:extLst>
            </p:cNvPr>
            <p:cNvCxnSpPr>
              <a:cxnSpLocks/>
              <a:stCxn id="9" idx="1"/>
              <a:endCxn id="58" idx="5"/>
            </p:cNvCxnSpPr>
            <p:nvPr/>
          </p:nvCxnSpPr>
          <p:spPr>
            <a:xfrm flipH="1" flipV="1">
              <a:off x="8854395" y="2388251"/>
              <a:ext cx="463511" cy="21567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96DB1EE5-4AE6-4944-A5BF-99E4C977A329}"/>
                  </a:ext>
                </a:extLst>
              </p:cNvPr>
              <p:cNvSpPr txBox="1"/>
              <p:nvPr/>
            </p:nvSpPr>
            <p:spPr>
              <a:xfrm>
                <a:off x="0" y="3884533"/>
                <a:ext cx="2469394" cy="6667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3733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733" i="1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GB" sz="3733" i="1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GB" sz="3733" i="1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GB" sz="3733" i="1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sz="3733" i="1"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en-GB" sz="3733" dirty="0"/>
              </a:p>
            </p:txBody>
          </p:sp>
        </mc:Choice>
        <mc:Fallback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96DB1EE5-4AE6-4944-A5BF-99E4C977A3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884533"/>
                <a:ext cx="2469394" cy="66678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AAEFDC5B-797B-4956-9AAA-3295E953ADEB}"/>
                  </a:ext>
                </a:extLst>
              </p:cNvPr>
              <p:cNvSpPr txBox="1"/>
              <p:nvPr/>
            </p:nvSpPr>
            <p:spPr>
              <a:xfrm>
                <a:off x="1" y="4828381"/>
                <a:ext cx="3443891" cy="6667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3733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733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GB" sz="3733" i="1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GB" sz="3733" i="1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GB" sz="3733" i="1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sz="3733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GB" sz="3733" i="1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sz="3733" i="1"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en-GB" sz="3733" dirty="0"/>
              </a:p>
            </p:txBody>
          </p:sp>
        </mc:Choice>
        <mc:Fallback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AAEFDC5B-797B-4956-9AAA-3295E953AD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" y="4828381"/>
                <a:ext cx="3443891" cy="66678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D8EFEECF-79A7-4F74-88CB-407FE3A5795A}"/>
                  </a:ext>
                </a:extLst>
              </p:cNvPr>
              <p:cNvSpPr txBox="1"/>
              <p:nvPr/>
            </p:nvSpPr>
            <p:spPr>
              <a:xfrm>
                <a:off x="0" y="5772231"/>
                <a:ext cx="4437818" cy="6667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3733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733" i="1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n-GB" sz="3733" i="1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GB" sz="3733" i="1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GB" sz="3733" i="1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sz="3733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GB" sz="3733" i="1">
                          <a:latin typeface="Cambria Math" panose="02040503050406030204" pitchFamily="18" charset="0"/>
                        </a:rPr>
                        <m:t>←</m:t>
                      </m:r>
                      <m:r>
                        <a:rPr lang="en-GB" sz="3733" i="1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GB" sz="3733" i="1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sz="3733" i="1"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en-GB" sz="3733" dirty="0"/>
              </a:p>
            </p:txBody>
          </p:sp>
        </mc:Choice>
        <mc:Fallback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D8EFEECF-79A7-4F74-88CB-407FE3A579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5772231"/>
                <a:ext cx="4437818" cy="66678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45A40F68-4A1D-42E0-8AC4-6BCAD5208A62}"/>
                  </a:ext>
                </a:extLst>
              </p:cNvPr>
              <p:cNvSpPr txBox="1"/>
              <p:nvPr/>
            </p:nvSpPr>
            <p:spPr>
              <a:xfrm>
                <a:off x="4505593" y="4955741"/>
                <a:ext cx="624158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2400" i="1" dirty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GB" sz="2400" dirty="0"/>
                  <a:t> is a pipe, so if we want to close: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 ~ 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GB" sz="2400" i="1" dirty="0"/>
              </a:p>
            </p:txBody>
          </p:sp>
        </mc:Choice>
        <mc:Fallback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45A40F68-4A1D-42E0-8AC4-6BCAD5208A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5593" y="4955741"/>
                <a:ext cx="6241580" cy="461665"/>
              </a:xfrm>
              <a:prstGeom prst="rect">
                <a:avLst/>
              </a:prstGeom>
              <a:blipFill>
                <a:blip r:embed="rId5"/>
                <a:stretch>
                  <a:fillRect l="-195" t="-11842" b="-2763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AAE21DA5-6B57-4F39-A666-978520A48E01}"/>
                  </a:ext>
                </a:extLst>
              </p:cNvPr>
              <p:cNvSpPr txBox="1"/>
              <p:nvPr/>
            </p:nvSpPr>
            <p:spPr>
              <a:xfrm>
                <a:off x="4505594" y="4007645"/>
                <a:ext cx="620451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2400" dirty="0"/>
                  <a:t>This is the relationship of interest, so: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 ~ 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en-GB" sz="2400" dirty="0"/>
              </a:p>
            </p:txBody>
          </p:sp>
        </mc:Choice>
        <mc:Fallback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AAE21DA5-6B57-4F39-A666-978520A48E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5594" y="4007645"/>
                <a:ext cx="6204519" cy="461665"/>
              </a:xfrm>
              <a:prstGeom prst="rect">
                <a:avLst/>
              </a:prstGeom>
              <a:blipFill>
                <a:blip r:embed="rId6"/>
                <a:stretch>
                  <a:fillRect l="-1473" t="-11842" b="-2763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D888C467-5F7C-482E-B8FE-D45ABE7D92E2}"/>
                  </a:ext>
                </a:extLst>
              </p:cNvPr>
              <p:cNvSpPr txBox="1"/>
              <p:nvPr/>
            </p:nvSpPr>
            <p:spPr>
              <a:xfrm>
                <a:off x="4505594" y="5879690"/>
                <a:ext cx="673793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2400" i="1" dirty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GB" sz="2400" dirty="0"/>
                  <a:t> is a collider, so to close path remove </a:t>
                </a:r>
                <a14:m>
                  <m:oMath xmlns:m="http://schemas.openxmlformats.org/officeDocument/2006/math">
                    <m:r>
                      <a:rPr lang="en-GB" sz="2400" i="1" dirty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GB" sz="2400" dirty="0"/>
                  <a:t>: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 ~ 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en-GB" sz="2400" dirty="0"/>
              </a:p>
            </p:txBody>
          </p:sp>
        </mc:Choice>
        <mc:Fallback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D888C467-5F7C-482E-B8FE-D45ABE7D92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5594" y="5879690"/>
                <a:ext cx="6737935" cy="461665"/>
              </a:xfrm>
              <a:prstGeom prst="rect">
                <a:avLst/>
              </a:prstGeom>
              <a:blipFill>
                <a:blip r:embed="rId7"/>
                <a:stretch>
                  <a:fillRect l="-181" t="-12000" b="-29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9" name="TextBox 88">
            <a:extLst>
              <a:ext uri="{FF2B5EF4-FFF2-40B4-BE49-F238E27FC236}">
                <a16:creationId xmlns:a16="http://schemas.microsoft.com/office/drawing/2014/main" id="{EE49123F-61F8-4A17-B10D-90F8BB19B173}"/>
              </a:ext>
            </a:extLst>
          </p:cNvPr>
          <p:cNvSpPr txBox="1"/>
          <p:nvPr/>
        </p:nvSpPr>
        <p:spPr>
          <a:xfrm>
            <a:off x="8348211" y="1711657"/>
            <a:ext cx="337642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This direct causal relationship between X and Y cannot be analysed without being confounded by either the pipe, or the collider.</a:t>
            </a:r>
          </a:p>
        </p:txBody>
      </p:sp>
    </p:spTree>
    <p:extLst>
      <p:ext uri="{BB962C8B-B14F-4D97-AF65-F5344CB8AC3E}">
        <p14:creationId xmlns:p14="http://schemas.microsoft.com/office/powerpoint/2010/main" val="1185572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" grpId="0"/>
      <p:bldP spid="90" grpId="0"/>
      <p:bldP spid="91" grpId="0"/>
      <p:bldP spid="88" grpId="0"/>
      <p:bldP spid="93" grpId="0"/>
      <p:bldP spid="94" grpId="0"/>
      <p:bldP spid="89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AF5A2-4749-49ED-9273-DF97BE0CFD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567"/>
            <a:ext cx="12192000" cy="763600"/>
          </a:xfrm>
        </p:spPr>
        <p:txBody>
          <a:bodyPr/>
          <a:lstStyle/>
          <a:p>
            <a:pPr algn="ctr"/>
            <a:r>
              <a:rPr lang="en-GB" dirty="0"/>
              <a:t>How do you protect yourself?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D6838D-32EB-4A75-9DCF-C5937737EC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5981" y="1107889"/>
            <a:ext cx="8356633" cy="2950047"/>
          </a:xfrm>
        </p:spPr>
        <p:txBody>
          <a:bodyPr/>
          <a:lstStyle/>
          <a:p>
            <a:r>
              <a:rPr lang="en-GB" sz="2133" dirty="0"/>
              <a:t>Use your biological training</a:t>
            </a:r>
          </a:p>
          <a:p>
            <a:r>
              <a:rPr lang="en-GB" sz="2133" dirty="0"/>
              <a:t>Draw diagrams where you show proposed chains of causation</a:t>
            </a:r>
          </a:p>
          <a:p>
            <a:r>
              <a:rPr lang="en-GB" sz="2133" dirty="0"/>
              <a:t>Figure out which paths need to be blocked</a:t>
            </a:r>
          </a:p>
          <a:p>
            <a:r>
              <a:rPr lang="en-GB" sz="2133" dirty="0"/>
              <a:t>Use this to collect your data and build your models</a:t>
            </a:r>
          </a:p>
          <a:p>
            <a:r>
              <a:rPr lang="en-GB" sz="2133" dirty="0"/>
              <a:t>It can help avoid doing impossible research</a:t>
            </a:r>
          </a:p>
          <a:p>
            <a:r>
              <a:rPr lang="en-GB" sz="2133" dirty="0"/>
              <a:t>Don’t throw variables in and claim everything is “controlled”</a:t>
            </a:r>
          </a:p>
          <a:p>
            <a:r>
              <a:rPr lang="en-GB" sz="2133" dirty="0"/>
              <a:t>Don’t ignore confounds and claim everything is causal</a:t>
            </a:r>
          </a:p>
        </p:txBody>
      </p:sp>
      <p:sp>
        <p:nvSpPr>
          <p:cNvPr id="6" name="Google Shape;75;p15">
            <a:extLst>
              <a:ext uri="{FF2B5EF4-FFF2-40B4-BE49-F238E27FC236}">
                <a16:creationId xmlns:a16="http://schemas.microsoft.com/office/drawing/2014/main" id="{346493F2-B8E9-48F9-A4FB-A96B76C3C518}"/>
              </a:ext>
            </a:extLst>
          </p:cNvPr>
          <p:cNvSpPr/>
          <p:nvPr/>
        </p:nvSpPr>
        <p:spPr>
          <a:xfrm>
            <a:off x="4434900" y="770090"/>
            <a:ext cx="3496833" cy="140300"/>
          </a:xfrm>
          <a:custGeom>
            <a:avLst/>
            <a:gdLst/>
            <a:ahLst/>
            <a:cxnLst/>
            <a:rect l="l" t="t" r="r" b="b"/>
            <a:pathLst>
              <a:path w="104905" h="4209" extrusionOk="0">
                <a:moveTo>
                  <a:pt x="0" y="2010"/>
                </a:moveTo>
                <a:cubicBezTo>
                  <a:pt x="34411" y="-4246"/>
                  <a:pt x="71725" y="11060"/>
                  <a:pt x="104905" y="0"/>
                </a:cubicBezTo>
              </a:path>
            </a:pathLst>
          </a:custGeom>
          <a:noFill/>
          <a:ln w="19050" cap="flat" cmpd="sng">
            <a:solidFill>
              <a:srgbClr val="4C113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5974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sbs_templat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Bahnschrift Light">
      <a:majorFont>
        <a:latin typeface="Bahnschrift Light"/>
        <a:ea typeface=""/>
        <a:cs typeface=""/>
      </a:majorFont>
      <a:minorFont>
        <a:latin typeface="Bahnschrift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bs_slide_template.potx" id="{ECECA26D-C7D9-428D-8AE3-0DEBE87A348A}" vid="{A052F16A-C2E7-4086-BA7D-A0C2C9C1F83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sbs_template</Template>
  <TotalTime>10</TotalTime>
  <Words>2187</Words>
  <Application>Microsoft Office PowerPoint</Application>
  <PresentationFormat>Widescreen</PresentationFormat>
  <Paragraphs>505</Paragraphs>
  <Slides>38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3" baseType="lpstr">
      <vt:lpstr>Aptos</vt:lpstr>
      <vt:lpstr>Arial</vt:lpstr>
      <vt:lpstr>Bahnschrift Light</vt:lpstr>
      <vt:lpstr>Cambria Math</vt:lpstr>
      <vt:lpstr>sbs_template</vt:lpstr>
      <vt:lpstr>Confounding</vt:lpstr>
      <vt:lpstr>PowerPoint Presentation</vt:lpstr>
      <vt:lpstr>How do we understand causation?</vt:lpstr>
      <vt:lpstr>Sceptical?</vt:lpstr>
      <vt:lpstr>Could we think of a causal mechanism?</vt:lpstr>
      <vt:lpstr>Do models describe causation?</vt:lpstr>
      <vt:lpstr>Is this a coincidence?</vt:lpstr>
      <vt:lpstr>Any guesses?</vt:lpstr>
      <vt:lpstr>Shark and ice cream connection</vt:lpstr>
      <vt:lpstr>A family of confusion</vt:lpstr>
      <vt:lpstr>A true causal relationship</vt:lpstr>
      <vt:lpstr>A true causal relationship</vt:lpstr>
      <vt:lpstr>Spurious correlations</vt:lpstr>
      <vt:lpstr>Spurious correlations</vt:lpstr>
      <vt:lpstr>The confounds</vt:lpstr>
      <vt:lpstr>Forking confounds</vt:lpstr>
      <vt:lpstr>Forking confounds</vt:lpstr>
      <vt:lpstr>Forking confound quiz</vt:lpstr>
      <vt:lpstr>The confounds</vt:lpstr>
      <vt:lpstr>Piped confound</vt:lpstr>
      <vt:lpstr>Piped confound</vt:lpstr>
      <vt:lpstr>Piped confound quiz</vt:lpstr>
      <vt:lpstr>The confounds</vt:lpstr>
      <vt:lpstr>Colliding confound</vt:lpstr>
      <vt:lpstr>Colliding confound</vt:lpstr>
      <vt:lpstr>Colliding confound quiz</vt:lpstr>
      <vt:lpstr>Why would we misinterpret a collider?</vt:lpstr>
      <vt:lpstr>The confounds</vt:lpstr>
      <vt:lpstr>Descendant confound</vt:lpstr>
      <vt:lpstr>What about when X and Y are causally related?</vt:lpstr>
      <vt:lpstr>How do we stop ourselves from being mislead?</vt:lpstr>
      <vt:lpstr>Hey Gúggle. How do I get to London?</vt:lpstr>
      <vt:lpstr>Identify all paths of information flow</vt:lpstr>
      <vt:lpstr>Close all backdoor paths of information flow</vt:lpstr>
      <vt:lpstr>How well does our approach work?</vt:lpstr>
      <vt:lpstr>We see the tip of the iceberg if we’re lucky</vt:lpstr>
      <vt:lpstr>Can we study the direct effect of X on Y here?</vt:lpstr>
      <vt:lpstr>How do you protect yourself?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Roos, Deon</dc:creator>
  <cp:lastModifiedBy>Roos, Deon</cp:lastModifiedBy>
  <cp:revision>1</cp:revision>
  <dcterms:created xsi:type="dcterms:W3CDTF">2024-07-29T10:08:40Z</dcterms:created>
  <dcterms:modified xsi:type="dcterms:W3CDTF">2024-07-29T10:18:54Z</dcterms:modified>
</cp:coreProperties>
</file>