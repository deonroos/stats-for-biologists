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8"/>
  </p:notesMasterIdLst>
  <p:sldIdLst>
    <p:sldId id="256" r:id="rId2"/>
    <p:sldId id="259" r:id="rId3"/>
    <p:sldId id="260" r:id="rId4"/>
    <p:sldId id="261" r:id="rId5"/>
    <p:sldId id="262" r:id="rId6"/>
    <p:sldId id="263" r:id="rId7"/>
    <p:sldId id="266" r:id="rId8"/>
    <p:sldId id="269" r:id="rId9"/>
    <p:sldId id="270" r:id="rId10"/>
    <p:sldId id="271" r:id="rId11"/>
    <p:sldId id="273" r:id="rId12"/>
    <p:sldId id="274" r:id="rId13"/>
    <p:sldId id="275" r:id="rId14"/>
    <p:sldId id="276" r:id="rId15"/>
    <p:sldId id="264" r:id="rId16"/>
    <p:sldId id="267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1A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337" autoAdjust="0"/>
  </p:normalViewPr>
  <p:slideViewPr>
    <p:cSldViewPr snapToGrid="0">
      <p:cViewPr varScale="1">
        <p:scale>
          <a:sx n="107" d="100"/>
          <a:sy n="107" d="100"/>
        </p:scale>
        <p:origin x="192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DD67F2-B597-4919-9998-0ACE37D1E2C1}" type="datetimeFigureOut">
              <a:rPr lang="en-GB" smtClean="0"/>
              <a:t>25/07/2024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5DA6E4-182F-46B6-AB3C-545FE5BE7A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18847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5DA6E4-182F-46B6-AB3C-545FE5BE7AD8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42279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EF085-90BA-6B79-A198-AE27F69DC1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4567" y="565410"/>
            <a:ext cx="6096000" cy="2863589"/>
          </a:xfrm>
        </p:spPr>
        <p:txBody>
          <a:bodyPr anchor="ctr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960FB6-F389-7EDD-D9DB-A406B89F35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567" y="3552161"/>
            <a:ext cx="6096000" cy="2607569"/>
          </a:xfr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001CD27-4DF4-05EC-92B4-C7555C3D018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50677" y="0"/>
            <a:ext cx="5741324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5E048B3-2145-631D-3138-1DF0AD6D38F2}"/>
              </a:ext>
            </a:extLst>
          </p:cNvPr>
          <p:cNvCxnSpPr/>
          <p:nvPr/>
        </p:nvCxnSpPr>
        <p:spPr>
          <a:xfrm>
            <a:off x="1313411" y="3491345"/>
            <a:ext cx="375735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8955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30639-2CA7-2272-840E-F8F595ABC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201295" cy="1325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59DF2-E981-9079-7762-2C88651F5B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26613"/>
            <a:ext cx="6201295" cy="524019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EC5A3C4-A2EA-7545-B99B-E8F489810F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59525" y="0"/>
            <a:ext cx="5832475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62946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B9374-2DD6-FA11-BF6F-AE419E0A6B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426614"/>
            <a:ext cx="5893724" cy="516220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A4DDC-5EE8-4D0D-208A-D5A4CC40A5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1295" y="0"/>
            <a:ext cx="5990705" cy="5162204"/>
          </a:xfrm>
        </p:spPr>
        <p:txBody>
          <a:bodyPr anchor="ctr"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96FFCEF-D528-27F4-CF96-A8F674BCA08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20129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E6B47C7-8888-2E6B-0D7C-CF46BFD9A3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01295" y="5162204"/>
            <a:ext cx="5990705" cy="16957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675389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FFACB-206F-5777-5BAD-5BF8E9669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104015"/>
            <a:ext cx="10515600" cy="175398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47884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958E7-8733-1588-CE76-0710036CC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043C91-73BF-C49E-46BA-834638FC0B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FDC1F7-08BE-633D-0E8D-18F30CEE5A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4D961F-706F-451E-ABF3-F672C1F454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36AEAE-47C4-6C9C-5B4C-F6E31977E8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72731F-9715-FADD-FEBD-65D90CABA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CAF10-6734-4981-94E2-615010082119}" type="datetimeFigureOut">
              <a:rPr lang="en-GB" smtClean="0"/>
              <a:t>25/07/2024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E7A07B-AF32-2EA1-F513-0D1F38BAB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B01B04-63C5-991E-FD0F-2ED9257DC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8E74C-A18C-49FA-BDAE-72F5B33F46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43395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13767-1669-64A9-2C16-1A1F6165D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1F01AD-E823-7B4D-D421-EF7BE290C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CAF10-6734-4981-94E2-615010082119}" type="datetimeFigureOut">
              <a:rPr lang="en-GB" smtClean="0"/>
              <a:t>25/07/2024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13AC7F-2C26-3190-A705-5FC5DD18B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DF203F-F57C-7145-B743-4A084B3A5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8E74C-A18C-49FA-BDAE-72F5B33F46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284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E02D19-147D-AD60-6ACC-2F7283CEE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CAF10-6734-4981-94E2-615010082119}" type="datetimeFigureOut">
              <a:rPr lang="en-GB" smtClean="0"/>
              <a:t>25/07/2024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CF569D-7098-9B6D-B851-1B18E6DB6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18D08F-69F0-C410-CAC9-DF16A0BF9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8E74C-A18C-49FA-BDAE-72F5B33F46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48075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C2567-4A48-3F47-EF88-E32A67EDD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F90797-1FEC-B310-9CA0-6642F4FE7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BDC1EB-E335-7190-8BFD-48E25C309A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154E58-0B6A-491E-7CE0-88114C141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CAF10-6734-4981-94E2-615010082119}" type="datetimeFigureOut">
              <a:rPr lang="en-GB" smtClean="0"/>
              <a:t>25/07/2024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198572-7396-BEBC-0D56-24BE2A95E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2279F2-BB85-6763-45F1-D73C041BD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8E74C-A18C-49FA-BDAE-72F5B33F46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49425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83E09-8249-AC15-7FC0-A0BAD598E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C329DF-266D-F8F8-A195-53A7576BBF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CFA6F2-3F6B-26F9-74E6-E4E35007E9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4BCDB-42E3-AB80-31A3-907D1B597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CAF10-6734-4981-94E2-615010082119}" type="datetimeFigureOut">
              <a:rPr lang="en-GB" smtClean="0"/>
              <a:t>25/07/2024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6EC699-83D3-6581-966B-8882D2158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550ABE-17BA-CEDA-390B-2BA6E004B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8E74C-A18C-49FA-BDAE-72F5B33F46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23926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1BF0F-4D20-22A7-227D-78B4DDCA7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010818-F611-B1A2-8A19-C3130A329F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543987-925F-B621-E68B-A3BED9350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CAF10-6734-4981-94E2-615010082119}" type="datetimeFigureOut">
              <a:rPr lang="en-GB" smtClean="0"/>
              <a:t>25/07/2024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2031D-ADF7-744B-5905-8C84ADA49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D02BB-73AF-8339-0B3A-B736F5E38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8E74C-A18C-49FA-BDAE-72F5B33F46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3398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A4840D-0D28-B8EB-88E1-65CDAE3316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3A8637-D9F6-1719-1804-4B3705C901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A50F13-C53E-CA05-E313-C1579E84E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CAF10-6734-4981-94E2-615010082119}" type="datetimeFigureOut">
              <a:rPr lang="en-GB" smtClean="0"/>
              <a:t>25/07/2024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09B7E-626E-8018-4CBE-414FB0F1D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0D0C27-06BF-1AD4-3587-FD26F1D7B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8E74C-A18C-49FA-BDAE-72F5B33F46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3529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F93D6-9E21-7B3E-369B-F776AC9D65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7E903A-8350-2751-8571-2718084061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D54915-DF13-4608-CDBA-01CE7C551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CAF10-6734-4981-94E2-615010082119}" type="datetimeFigureOut">
              <a:rPr lang="en-GB" smtClean="0"/>
              <a:t>25/07/2024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816B72-A20C-13B6-8AFF-74633C9F26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EDD46D-D6DE-8C56-D8AD-3480136DD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8E74C-A18C-49FA-BDAE-72F5B33F46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26515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246E56-8908-0E6A-4E62-88CF6D359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1896B-C040-3D2C-A619-0B877E3383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B1AC1E-960F-82DB-0E5A-2F328EAC2C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5CAF10-6734-4981-94E2-615010082119}" type="datetimeFigureOut">
              <a:rPr lang="en-GB" smtClean="0"/>
              <a:t>25/07/2024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CFF5B2-21B1-9528-920D-DD4BF8C0BD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D16DDC-4E03-310B-1091-75EB5EDC36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B8E74C-A18C-49FA-BDAE-72F5B33F46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963419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35FBE4-486C-0837-6D87-D322C8E110B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Linear modelling theory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0A1131-0C94-A546-BDC6-575B1531ACF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With multiple explanatory variables</a:t>
            </a:r>
          </a:p>
        </p:txBody>
      </p:sp>
    </p:spTree>
    <p:extLst>
      <p:ext uri="{BB962C8B-B14F-4D97-AF65-F5344CB8AC3E}">
        <p14:creationId xmlns:p14="http://schemas.microsoft.com/office/powerpoint/2010/main" val="7295826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881271-AEA9-485F-D88D-EF6BEA7B0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Complexity of the real world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750642-B669-C0CF-143D-CAE5DD3D4A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3719741"/>
            <a:ext cx="6201295" cy="2947066"/>
          </a:xfrm>
        </p:spPr>
        <p:txBody>
          <a:bodyPr/>
          <a:lstStyle/>
          <a:p>
            <a:r>
              <a:rPr lang="en-GB" dirty="0"/>
              <a:t>Last week we wanted to understand the effect of understand hunting pressure on sheep</a:t>
            </a:r>
          </a:p>
          <a:p>
            <a:r>
              <a:rPr lang="en-GB" dirty="0"/>
              <a:t>But we also had cohort</a:t>
            </a:r>
          </a:p>
          <a:p>
            <a:r>
              <a:rPr lang="en-GB" dirty="0"/>
              <a:t>Are these really the only variables impacting horn length?</a:t>
            </a:r>
          </a:p>
        </p:txBody>
      </p:sp>
      <p:pic>
        <p:nvPicPr>
          <p:cNvPr id="7" name="Picture Placeholder 8" descr="A ram standing on a rock&#10;&#10;Description automatically generated">
            <a:extLst>
              <a:ext uri="{FF2B5EF4-FFF2-40B4-BE49-F238E27FC236}">
                <a16:creationId xmlns:a16="http://schemas.microsoft.com/office/drawing/2014/main" id="{95CB87D5-807B-49F8-A741-E0CBCC96979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79" r="17079"/>
          <a:stretch>
            <a:fillRect/>
          </a:stretch>
        </p:blipFill>
        <p:spPr>
          <a:xfrm>
            <a:off x="6359525" y="0"/>
            <a:ext cx="5832475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5A0392E-0D10-5851-9601-55B467A577BF}"/>
              </a:ext>
            </a:extLst>
          </p:cNvPr>
          <p:cNvSpPr txBox="1"/>
          <p:nvPr/>
        </p:nvSpPr>
        <p:spPr>
          <a:xfrm>
            <a:off x="2705776" y="2424153"/>
            <a:ext cx="1170342" cy="908864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Horn </a:t>
            </a:r>
            <a:br>
              <a:rPr lang="en-GB" dirty="0"/>
            </a:br>
            <a:r>
              <a:rPr lang="en-GB" dirty="0"/>
              <a:t>length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C8F5320-0A96-53A9-1796-6A0EAB7B1D36}"/>
              </a:ext>
            </a:extLst>
          </p:cNvPr>
          <p:cNvGrpSpPr/>
          <p:nvPr/>
        </p:nvGrpSpPr>
        <p:grpSpPr>
          <a:xfrm>
            <a:off x="275208" y="2618909"/>
            <a:ext cx="2430568" cy="519351"/>
            <a:chOff x="275208" y="2618909"/>
            <a:chExt cx="2430568" cy="519351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49CB180-D5A3-9B7D-A366-F03DEF6F8DBF}"/>
                </a:ext>
              </a:extLst>
            </p:cNvPr>
            <p:cNvSpPr txBox="1"/>
            <p:nvPr/>
          </p:nvSpPr>
          <p:spPr>
            <a:xfrm>
              <a:off x="275208" y="2618909"/>
              <a:ext cx="1258254" cy="519351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Region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912F080-7A6B-CDA9-4925-922389AAD7D4}"/>
                </a:ext>
              </a:extLst>
            </p:cNvPr>
            <p:cNvCxnSpPr>
              <a:stCxn id="6" idx="6"/>
              <a:endCxn id="5" idx="2"/>
            </p:cNvCxnSpPr>
            <p:nvPr/>
          </p:nvCxnSpPr>
          <p:spPr>
            <a:xfrm>
              <a:off x="1533462" y="2878585"/>
              <a:ext cx="1172314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9C246CA-7869-0F8C-BBB6-495EA1604164}"/>
              </a:ext>
            </a:extLst>
          </p:cNvPr>
          <p:cNvGrpSpPr/>
          <p:nvPr/>
        </p:nvGrpSpPr>
        <p:grpSpPr>
          <a:xfrm>
            <a:off x="3876118" y="2618908"/>
            <a:ext cx="2243477" cy="519351"/>
            <a:chOff x="3876118" y="2618908"/>
            <a:chExt cx="2243477" cy="51935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98B555E-665B-90AD-B924-D986E72DB40B}"/>
                </a:ext>
              </a:extLst>
            </p:cNvPr>
            <p:cNvSpPr txBox="1"/>
            <p:nvPr/>
          </p:nvSpPr>
          <p:spPr>
            <a:xfrm>
              <a:off x="4883882" y="2618908"/>
              <a:ext cx="1235713" cy="519351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Cohort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46A92C88-CB22-EC83-AE86-AB6A96B526AF}"/>
                </a:ext>
              </a:extLst>
            </p:cNvPr>
            <p:cNvCxnSpPr>
              <a:cxnSpLocks/>
              <a:stCxn id="9" idx="2"/>
              <a:endCxn id="5" idx="6"/>
            </p:cNvCxnSpPr>
            <p:nvPr/>
          </p:nvCxnSpPr>
          <p:spPr>
            <a:xfrm flipH="1">
              <a:off x="3876118" y="2878584"/>
              <a:ext cx="1007764" cy="1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927349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881271-AEA9-485F-D88D-EF6BEA7B0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Complexity of the real world</a:t>
            </a:r>
          </a:p>
        </p:txBody>
      </p:sp>
      <p:pic>
        <p:nvPicPr>
          <p:cNvPr id="7" name="Picture Placeholder 8" descr="A ram standing on a rock&#10;&#10;Description automatically generated">
            <a:extLst>
              <a:ext uri="{FF2B5EF4-FFF2-40B4-BE49-F238E27FC236}">
                <a16:creationId xmlns:a16="http://schemas.microsoft.com/office/drawing/2014/main" id="{95CB87D5-807B-49F8-A741-E0CBCC96979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79" r="17079"/>
          <a:stretch>
            <a:fillRect/>
          </a:stretch>
        </p:blipFill>
        <p:spPr>
          <a:xfrm>
            <a:off x="6359525" y="0"/>
            <a:ext cx="5832475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5A0392E-0D10-5851-9601-55B467A577BF}"/>
              </a:ext>
            </a:extLst>
          </p:cNvPr>
          <p:cNvSpPr txBox="1"/>
          <p:nvPr/>
        </p:nvSpPr>
        <p:spPr>
          <a:xfrm>
            <a:off x="2682181" y="3240898"/>
            <a:ext cx="1170342" cy="908864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Horn </a:t>
            </a:r>
            <a:br>
              <a:rPr lang="en-GB" dirty="0"/>
            </a:br>
            <a:r>
              <a:rPr lang="en-GB" dirty="0"/>
              <a:t>length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C8F5320-0A96-53A9-1796-6A0EAB7B1D36}"/>
              </a:ext>
            </a:extLst>
          </p:cNvPr>
          <p:cNvGrpSpPr/>
          <p:nvPr/>
        </p:nvGrpSpPr>
        <p:grpSpPr>
          <a:xfrm>
            <a:off x="251613" y="3435654"/>
            <a:ext cx="2430568" cy="519351"/>
            <a:chOff x="275208" y="2618909"/>
            <a:chExt cx="2430568" cy="519351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49CB180-D5A3-9B7D-A366-F03DEF6F8DBF}"/>
                </a:ext>
              </a:extLst>
            </p:cNvPr>
            <p:cNvSpPr txBox="1"/>
            <p:nvPr/>
          </p:nvSpPr>
          <p:spPr>
            <a:xfrm>
              <a:off x="275208" y="2618909"/>
              <a:ext cx="1258254" cy="519351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Region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912F080-7A6B-CDA9-4925-922389AAD7D4}"/>
                </a:ext>
              </a:extLst>
            </p:cNvPr>
            <p:cNvCxnSpPr>
              <a:cxnSpLocks/>
              <a:stCxn id="6" idx="6"/>
              <a:endCxn id="5" idx="2"/>
            </p:cNvCxnSpPr>
            <p:nvPr/>
          </p:nvCxnSpPr>
          <p:spPr>
            <a:xfrm>
              <a:off x="1533462" y="2878585"/>
              <a:ext cx="1172314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9C246CA-7869-0F8C-BBB6-495EA1604164}"/>
              </a:ext>
            </a:extLst>
          </p:cNvPr>
          <p:cNvGrpSpPr/>
          <p:nvPr/>
        </p:nvGrpSpPr>
        <p:grpSpPr>
          <a:xfrm>
            <a:off x="3852523" y="3435653"/>
            <a:ext cx="2267072" cy="519351"/>
            <a:chOff x="3852523" y="2618908"/>
            <a:chExt cx="2267072" cy="51935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98B555E-665B-90AD-B924-D986E72DB40B}"/>
                </a:ext>
              </a:extLst>
            </p:cNvPr>
            <p:cNvSpPr txBox="1"/>
            <p:nvPr/>
          </p:nvSpPr>
          <p:spPr>
            <a:xfrm>
              <a:off x="4883882" y="2618908"/>
              <a:ext cx="1235713" cy="519351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Cohort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46A92C88-CB22-EC83-AE86-AB6A96B526AF}"/>
                </a:ext>
              </a:extLst>
            </p:cNvPr>
            <p:cNvCxnSpPr>
              <a:cxnSpLocks/>
              <a:stCxn id="9" idx="2"/>
              <a:endCxn id="5" idx="6"/>
            </p:cNvCxnSpPr>
            <p:nvPr/>
          </p:nvCxnSpPr>
          <p:spPr>
            <a:xfrm flipH="1">
              <a:off x="3852523" y="2878584"/>
              <a:ext cx="1031359" cy="1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94C60B8-0D53-4233-916F-54B00DC3CB88}"/>
              </a:ext>
            </a:extLst>
          </p:cNvPr>
          <p:cNvGrpSpPr/>
          <p:nvPr/>
        </p:nvGrpSpPr>
        <p:grpSpPr>
          <a:xfrm>
            <a:off x="3681130" y="2279883"/>
            <a:ext cx="2291104" cy="1094115"/>
            <a:chOff x="3968249" y="2618908"/>
            <a:chExt cx="2291104" cy="1094115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0406DEB-4995-D6F7-0CFC-40C2DFFEAF04}"/>
                </a:ext>
              </a:extLst>
            </p:cNvPr>
            <p:cNvSpPr txBox="1"/>
            <p:nvPr/>
          </p:nvSpPr>
          <p:spPr>
            <a:xfrm>
              <a:off x="4744129" y="2618908"/>
              <a:ext cx="1515224" cy="519351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Genetics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713042B4-F028-E8BD-9F0F-F5AB9E51201E}"/>
                </a:ext>
              </a:extLst>
            </p:cNvPr>
            <p:cNvCxnSpPr>
              <a:cxnSpLocks/>
              <a:stCxn id="20" idx="3"/>
              <a:endCxn id="5" idx="7"/>
            </p:cNvCxnSpPr>
            <p:nvPr/>
          </p:nvCxnSpPr>
          <p:spPr>
            <a:xfrm flipH="1">
              <a:off x="3968249" y="3062202"/>
              <a:ext cx="997779" cy="650821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F126029-CD88-C2AF-FD6B-078D3EB7CA18}"/>
              </a:ext>
            </a:extLst>
          </p:cNvPr>
          <p:cNvGrpSpPr/>
          <p:nvPr/>
        </p:nvGrpSpPr>
        <p:grpSpPr>
          <a:xfrm>
            <a:off x="2478182" y="1747764"/>
            <a:ext cx="1578340" cy="1493134"/>
            <a:chOff x="4667816" y="2441536"/>
            <a:chExt cx="1578340" cy="1493134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C51D050-542E-B30F-10BB-B2CE40C4614F}"/>
                </a:ext>
              </a:extLst>
            </p:cNvPr>
            <p:cNvSpPr txBox="1"/>
            <p:nvPr/>
          </p:nvSpPr>
          <p:spPr>
            <a:xfrm>
              <a:off x="4667816" y="2441536"/>
              <a:ext cx="1578340" cy="90886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Mother’s</a:t>
              </a:r>
              <a:br>
                <a:rPr lang="en-GB" dirty="0"/>
              </a:br>
              <a:r>
                <a:rPr lang="en-GB" dirty="0"/>
                <a:t>condition</a:t>
              </a: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D560B541-6899-853B-51D0-4FAAB0DA9B68}"/>
                </a:ext>
              </a:extLst>
            </p:cNvPr>
            <p:cNvCxnSpPr>
              <a:cxnSpLocks/>
              <a:stCxn id="25" idx="4"/>
              <a:endCxn id="5" idx="0"/>
            </p:cNvCxnSpPr>
            <p:nvPr/>
          </p:nvCxnSpPr>
          <p:spPr>
            <a:xfrm>
              <a:off x="5456986" y="3350400"/>
              <a:ext cx="0" cy="58427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9F46BE35-1B59-B9E9-DDDB-7124347A5ECF}"/>
              </a:ext>
            </a:extLst>
          </p:cNvPr>
          <p:cNvGrpSpPr/>
          <p:nvPr/>
        </p:nvGrpSpPr>
        <p:grpSpPr>
          <a:xfrm>
            <a:off x="367729" y="2072358"/>
            <a:ext cx="2485845" cy="1301640"/>
            <a:chOff x="4549480" y="2441536"/>
            <a:chExt cx="2485845" cy="1301640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6E2A80AE-0BE4-4C2B-5B49-FB9E1BCF9572}"/>
                </a:ext>
              </a:extLst>
            </p:cNvPr>
            <p:cNvSpPr txBox="1"/>
            <p:nvPr/>
          </p:nvSpPr>
          <p:spPr>
            <a:xfrm>
              <a:off x="4549480" y="2441536"/>
              <a:ext cx="1815022" cy="90886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Food </a:t>
              </a:r>
              <a:br>
                <a:rPr lang="en-GB" dirty="0"/>
              </a:br>
              <a:r>
                <a:rPr lang="en-GB" dirty="0"/>
                <a:t>availability</a:t>
              </a: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076A7706-3385-D730-1645-A4A2D46A85B1}"/>
                </a:ext>
              </a:extLst>
            </p:cNvPr>
            <p:cNvCxnSpPr>
              <a:cxnSpLocks/>
              <a:stCxn id="31" idx="5"/>
              <a:endCxn id="5" idx="1"/>
            </p:cNvCxnSpPr>
            <p:nvPr/>
          </p:nvCxnSpPr>
          <p:spPr>
            <a:xfrm>
              <a:off x="6098698" y="3217300"/>
              <a:ext cx="936627" cy="525876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83D19F2E-0275-00C0-00BC-7A791B708D0E}"/>
              </a:ext>
            </a:extLst>
          </p:cNvPr>
          <p:cNvGrpSpPr/>
          <p:nvPr/>
        </p:nvGrpSpPr>
        <p:grpSpPr>
          <a:xfrm>
            <a:off x="748411" y="4016662"/>
            <a:ext cx="2105163" cy="943182"/>
            <a:chOff x="4623867" y="2017705"/>
            <a:chExt cx="2105163" cy="943182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1E4129A3-1108-A433-BA89-6434DCF45996}"/>
                </a:ext>
              </a:extLst>
            </p:cNvPr>
            <p:cNvSpPr txBox="1"/>
            <p:nvPr/>
          </p:nvSpPr>
          <p:spPr>
            <a:xfrm>
              <a:off x="4623867" y="2441536"/>
              <a:ext cx="1666251" cy="519351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Predation</a:t>
              </a: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858326E2-E8A8-B10B-2740-1F472F4E9874}"/>
                </a:ext>
              </a:extLst>
            </p:cNvPr>
            <p:cNvCxnSpPr>
              <a:cxnSpLocks/>
              <a:stCxn id="36" idx="7"/>
              <a:endCxn id="5" idx="3"/>
            </p:cNvCxnSpPr>
            <p:nvPr/>
          </p:nvCxnSpPr>
          <p:spPr>
            <a:xfrm flipV="1">
              <a:off x="6046101" y="2017705"/>
              <a:ext cx="682929" cy="49988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B80849DC-FF94-C67C-930C-A9374C15828A}"/>
              </a:ext>
            </a:extLst>
          </p:cNvPr>
          <p:cNvGrpSpPr/>
          <p:nvPr/>
        </p:nvGrpSpPr>
        <p:grpSpPr>
          <a:xfrm>
            <a:off x="2630336" y="4149762"/>
            <a:ext cx="1274032" cy="1596983"/>
            <a:chOff x="4874629" y="1528955"/>
            <a:chExt cx="1274032" cy="1596983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B02B5EE7-A5D6-4372-6D66-251E7887D4D6}"/>
                </a:ext>
              </a:extLst>
            </p:cNvPr>
            <p:cNvSpPr txBox="1"/>
            <p:nvPr/>
          </p:nvSpPr>
          <p:spPr>
            <a:xfrm>
              <a:off x="4874629" y="2217074"/>
              <a:ext cx="1274032" cy="90886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Age at </a:t>
              </a:r>
              <a:br>
                <a:rPr lang="en-GB" dirty="0"/>
              </a:br>
              <a:r>
                <a:rPr lang="en-GB" dirty="0"/>
                <a:t>death</a:t>
              </a:r>
            </a:p>
          </p:txBody>
        </p: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E99FD446-ABB5-36F5-13DC-2CA27D0C71AD}"/>
                </a:ext>
              </a:extLst>
            </p:cNvPr>
            <p:cNvCxnSpPr>
              <a:cxnSpLocks/>
              <a:stCxn id="42" idx="0"/>
              <a:endCxn id="5" idx="4"/>
            </p:cNvCxnSpPr>
            <p:nvPr/>
          </p:nvCxnSpPr>
          <p:spPr>
            <a:xfrm flipV="1">
              <a:off x="5511645" y="1528955"/>
              <a:ext cx="0" cy="68811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E141185A-F4FF-AF35-2A5C-FF57278EEA51}"/>
              </a:ext>
            </a:extLst>
          </p:cNvPr>
          <p:cNvGrpSpPr/>
          <p:nvPr/>
        </p:nvGrpSpPr>
        <p:grpSpPr>
          <a:xfrm>
            <a:off x="3681130" y="4016662"/>
            <a:ext cx="2456267" cy="1112086"/>
            <a:chOff x="3994735" y="2082778"/>
            <a:chExt cx="2456267" cy="1112086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C38AF04E-13D5-214F-33D9-BC19557F0E10}"/>
                </a:ext>
              </a:extLst>
            </p:cNvPr>
            <p:cNvSpPr txBox="1"/>
            <p:nvPr/>
          </p:nvSpPr>
          <p:spPr>
            <a:xfrm>
              <a:off x="4457903" y="2675513"/>
              <a:ext cx="1993099" cy="519351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Competition</a:t>
              </a:r>
            </a:p>
          </p:txBody>
        </p: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CE2A7E23-7AAD-F1BF-347D-796A68B10B00}"/>
                </a:ext>
              </a:extLst>
            </p:cNvPr>
            <p:cNvCxnSpPr>
              <a:cxnSpLocks/>
              <a:stCxn id="49" idx="1"/>
              <a:endCxn id="5" idx="5"/>
            </p:cNvCxnSpPr>
            <p:nvPr/>
          </p:nvCxnSpPr>
          <p:spPr>
            <a:xfrm flipH="1" flipV="1">
              <a:off x="3994735" y="2082778"/>
              <a:ext cx="755051" cy="66879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169346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881271-AEA9-485F-D88D-EF6BEA7B0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Complexity of the real world</a:t>
            </a:r>
          </a:p>
        </p:txBody>
      </p:sp>
      <p:pic>
        <p:nvPicPr>
          <p:cNvPr id="7" name="Picture Placeholder 8" descr="A ram standing on a rock&#10;&#10;Description automatically generated">
            <a:extLst>
              <a:ext uri="{FF2B5EF4-FFF2-40B4-BE49-F238E27FC236}">
                <a16:creationId xmlns:a16="http://schemas.microsoft.com/office/drawing/2014/main" id="{95CB87D5-807B-49F8-A741-E0CBCC96979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79" r="17079"/>
          <a:stretch>
            <a:fillRect/>
          </a:stretch>
        </p:blipFill>
        <p:spPr>
          <a:xfrm>
            <a:off x="6359525" y="0"/>
            <a:ext cx="5832475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5A0392E-0D10-5851-9601-55B467A577BF}"/>
              </a:ext>
            </a:extLst>
          </p:cNvPr>
          <p:cNvSpPr txBox="1"/>
          <p:nvPr/>
        </p:nvSpPr>
        <p:spPr>
          <a:xfrm>
            <a:off x="2682181" y="3240898"/>
            <a:ext cx="1170342" cy="908864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Horn </a:t>
            </a:r>
            <a:br>
              <a:rPr lang="en-GB" dirty="0"/>
            </a:br>
            <a:r>
              <a:rPr lang="en-GB" dirty="0"/>
              <a:t>length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C8F5320-0A96-53A9-1796-6A0EAB7B1D36}"/>
              </a:ext>
            </a:extLst>
          </p:cNvPr>
          <p:cNvGrpSpPr/>
          <p:nvPr/>
        </p:nvGrpSpPr>
        <p:grpSpPr>
          <a:xfrm>
            <a:off x="251613" y="3435654"/>
            <a:ext cx="2430568" cy="519351"/>
            <a:chOff x="275208" y="2618909"/>
            <a:chExt cx="2430568" cy="519351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49CB180-D5A3-9B7D-A366-F03DEF6F8DBF}"/>
                </a:ext>
              </a:extLst>
            </p:cNvPr>
            <p:cNvSpPr txBox="1"/>
            <p:nvPr/>
          </p:nvSpPr>
          <p:spPr>
            <a:xfrm>
              <a:off x="275208" y="2618909"/>
              <a:ext cx="1258254" cy="519351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Region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912F080-7A6B-CDA9-4925-922389AAD7D4}"/>
                </a:ext>
              </a:extLst>
            </p:cNvPr>
            <p:cNvCxnSpPr>
              <a:cxnSpLocks/>
              <a:stCxn id="6" idx="6"/>
              <a:endCxn id="5" idx="2"/>
            </p:cNvCxnSpPr>
            <p:nvPr/>
          </p:nvCxnSpPr>
          <p:spPr>
            <a:xfrm>
              <a:off x="1533462" y="2878585"/>
              <a:ext cx="1172314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9C246CA-7869-0F8C-BBB6-495EA1604164}"/>
              </a:ext>
            </a:extLst>
          </p:cNvPr>
          <p:cNvGrpSpPr/>
          <p:nvPr/>
        </p:nvGrpSpPr>
        <p:grpSpPr>
          <a:xfrm>
            <a:off x="3852523" y="3435653"/>
            <a:ext cx="2267072" cy="519351"/>
            <a:chOff x="3852523" y="2618908"/>
            <a:chExt cx="2267072" cy="51935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98B555E-665B-90AD-B924-D986E72DB40B}"/>
                </a:ext>
              </a:extLst>
            </p:cNvPr>
            <p:cNvSpPr txBox="1"/>
            <p:nvPr/>
          </p:nvSpPr>
          <p:spPr>
            <a:xfrm>
              <a:off x="4883882" y="2618908"/>
              <a:ext cx="1235713" cy="519351"/>
            </a:xfrm>
            <a:prstGeom prst="ellipse">
              <a:avLst/>
            </a:prstGeom>
            <a:noFill/>
            <a:ln w="28575">
              <a:solidFill>
                <a:srgbClr val="661A1A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>
                  <a:solidFill>
                    <a:srgbClr val="661A1A"/>
                  </a:solidFill>
                </a:rPr>
                <a:t>Cohort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46A92C88-CB22-EC83-AE86-AB6A96B526AF}"/>
                </a:ext>
              </a:extLst>
            </p:cNvPr>
            <p:cNvCxnSpPr>
              <a:cxnSpLocks/>
              <a:stCxn id="9" idx="2"/>
              <a:endCxn id="5" idx="6"/>
            </p:cNvCxnSpPr>
            <p:nvPr/>
          </p:nvCxnSpPr>
          <p:spPr>
            <a:xfrm flipH="1">
              <a:off x="3852523" y="2878584"/>
              <a:ext cx="1031359" cy="1"/>
            </a:xfrm>
            <a:prstGeom prst="straightConnector1">
              <a:avLst/>
            </a:prstGeom>
            <a:ln w="38100">
              <a:solidFill>
                <a:srgbClr val="661A1A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94C60B8-0D53-4233-916F-54B00DC3CB88}"/>
              </a:ext>
            </a:extLst>
          </p:cNvPr>
          <p:cNvGrpSpPr/>
          <p:nvPr/>
        </p:nvGrpSpPr>
        <p:grpSpPr>
          <a:xfrm>
            <a:off x="3681130" y="2279883"/>
            <a:ext cx="2291104" cy="1094115"/>
            <a:chOff x="3968249" y="2618908"/>
            <a:chExt cx="2291104" cy="1094115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0406DEB-4995-D6F7-0CFC-40C2DFFEAF04}"/>
                </a:ext>
              </a:extLst>
            </p:cNvPr>
            <p:cNvSpPr txBox="1"/>
            <p:nvPr/>
          </p:nvSpPr>
          <p:spPr>
            <a:xfrm>
              <a:off x="4744129" y="2618908"/>
              <a:ext cx="1515224" cy="519351"/>
            </a:xfrm>
            <a:prstGeom prst="ellipse">
              <a:avLst/>
            </a:prstGeom>
            <a:noFill/>
            <a:ln w="28575">
              <a:solidFill>
                <a:srgbClr val="661A1A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>
                  <a:solidFill>
                    <a:srgbClr val="661A1A"/>
                  </a:solidFill>
                </a:rPr>
                <a:t>Genetics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713042B4-F028-E8BD-9F0F-F5AB9E51201E}"/>
                </a:ext>
              </a:extLst>
            </p:cNvPr>
            <p:cNvCxnSpPr>
              <a:cxnSpLocks/>
              <a:stCxn id="20" idx="3"/>
              <a:endCxn id="5" idx="7"/>
            </p:cNvCxnSpPr>
            <p:nvPr/>
          </p:nvCxnSpPr>
          <p:spPr>
            <a:xfrm flipH="1">
              <a:off x="3968249" y="3062202"/>
              <a:ext cx="997779" cy="650821"/>
            </a:xfrm>
            <a:prstGeom prst="straightConnector1">
              <a:avLst/>
            </a:prstGeom>
            <a:ln w="38100">
              <a:solidFill>
                <a:srgbClr val="661A1A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F126029-CD88-C2AF-FD6B-078D3EB7CA18}"/>
              </a:ext>
            </a:extLst>
          </p:cNvPr>
          <p:cNvGrpSpPr/>
          <p:nvPr/>
        </p:nvGrpSpPr>
        <p:grpSpPr>
          <a:xfrm>
            <a:off x="2478182" y="1747764"/>
            <a:ext cx="1578340" cy="1493134"/>
            <a:chOff x="4667816" y="2441536"/>
            <a:chExt cx="1578340" cy="1493134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C51D050-542E-B30F-10BB-B2CE40C4614F}"/>
                </a:ext>
              </a:extLst>
            </p:cNvPr>
            <p:cNvSpPr txBox="1"/>
            <p:nvPr/>
          </p:nvSpPr>
          <p:spPr>
            <a:xfrm>
              <a:off x="4667816" y="2441536"/>
              <a:ext cx="1578340" cy="908864"/>
            </a:xfrm>
            <a:prstGeom prst="ellipse">
              <a:avLst/>
            </a:prstGeom>
            <a:noFill/>
            <a:ln w="28575">
              <a:solidFill>
                <a:srgbClr val="661A1A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>
                  <a:solidFill>
                    <a:srgbClr val="661A1A"/>
                  </a:solidFill>
                </a:rPr>
                <a:t>Mother’s</a:t>
              </a:r>
              <a:br>
                <a:rPr lang="en-GB" dirty="0">
                  <a:solidFill>
                    <a:srgbClr val="661A1A"/>
                  </a:solidFill>
                </a:rPr>
              </a:br>
              <a:r>
                <a:rPr lang="en-GB" dirty="0">
                  <a:solidFill>
                    <a:srgbClr val="661A1A"/>
                  </a:solidFill>
                </a:rPr>
                <a:t>condition</a:t>
              </a: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D560B541-6899-853B-51D0-4FAAB0DA9B68}"/>
                </a:ext>
              </a:extLst>
            </p:cNvPr>
            <p:cNvCxnSpPr>
              <a:cxnSpLocks/>
              <a:stCxn id="25" idx="4"/>
              <a:endCxn id="5" idx="0"/>
            </p:cNvCxnSpPr>
            <p:nvPr/>
          </p:nvCxnSpPr>
          <p:spPr>
            <a:xfrm>
              <a:off x="5456986" y="3350400"/>
              <a:ext cx="0" cy="584270"/>
            </a:xfrm>
            <a:prstGeom prst="straightConnector1">
              <a:avLst/>
            </a:prstGeom>
            <a:ln w="38100">
              <a:solidFill>
                <a:srgbClr val="661A1A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9F46BE35-1B59-B9E9-DDDB-7124347A5ECF}"/>
              </a:ext>
            </a:extLst>
          </p:cNvPr>
          <p:cNvGrpSpPr/>
          <p:nvPr/>
        </p:nvGrpSpPr>
        <p:grpSpPr>
          <a:xfrm>
            <a:off x="367729" y="2072358"/>
            <a:ext cx="2485845" cy="1301640"/>
            <a:chOff x="4549480" y="2441536"/>
            <a:chExt cx="2485845" cy="1301640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6E2A80AE-0BE4-4C2B-5B49-FB9E1BCF9572}"/>
                </a:ext>
              </a:extLst>
            </p:cNvPr>
            <p:cNvSpPr txBox="1"/>
            <p:nvPr/>
          </p:nvSpPr>
          <p:spPr>
            <a:xfrm>
              <a:off x="4549480" y="2441536"/>
              <a:ext cx="1815022" cy="908864"/>
            </a:xfrm>
            <a:prstGeom prst="ellipse">
              <a:avLst/>
            </a:prstGeom>
            <a:noFill/>
            <a:ln w="28575">
              <a:solidFill>
                <a:srgbClr val="661A1A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>
                  <a:solidFill>
                    <a:srgbClr val="661A1A"/>
                  </a:solidFill>
                </a:rPr>
                <a:t>Food </a:t>
              </a:r>
              <a:br>
                <a:rPr lang="en-GB" dirty="0">
                  <a:solidFill>
                    <a:srgbClr val="661A1A"/>
                  </a:solidFill>
                </a:rPr>
              </a:br>
              <a:r>
                <a:rPr lang="en-GB" dirty="0">
                  <a:solidFill>
                    <a:srgbClr val="661A1A"/>
                  </a:solidFill>
                </a:rPr>
                <a:t>availability</a:t>
              </a: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076A7706-3385-D730-1645-A4A2D46A85B1}"/>
                </a:ext>
              </a:extLst>
            </p:cNvPr>
            <p:cNvCxnSpPr>
              <a:cxnSpLocks/>
              <a:stCxn id="31" idx="5"/>
              <a:endCxn id="5" idx="1"/>
            </p:cNvCxnSpPr>
            <p:nvPr/>
          </p:nvCxnSpPr>
          <p:spPr>
            <a:xfrm>
              <a:off x="6098698" y="3217300"/>
              <a:ext cx="936627" cy="525876"/>
            </a:xfrm>
            <a:prstGeom prst="straightConnector1">
              <a:avLst/>
            </a:prstGeom>
            <a:ln w="38100">
              <a:solidFill>
                <a:srgbClr val="661A1A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83D19F2E-0275-00C0-00BC-7A791B708D0E}"/>
              </a:ext>
            </a:extLst>
          </p:cNvPr>
          <p:cNvGrpSpPr/>
          <p:nvPr/>
        </p:nvGrpSpPr>
        <p:grpSpPr>
          <a:xfrm>
            <a:off x="748411" y="4016662"/>
            <a:ext cx="2105163" cy="943182"/>
            <a:chOff x="4623867" y="2017705"/>
            <a:chExt cx="2105163" cy="943182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1E4129A3-1108-A433-BA89-6434DCF45996}"/>
                </a:ext>
              </a:extLst>
            </p:cNvPr>
            <p:cNvSpPr txBox="1"/>
            <p:nvPr/>
          </p:nvSpPr>
          <p:spPr>
            <a:xfrm>
              <a:off x="4623867" y="2441536"/>
              <a:ext cx="1666251" cy="519351"/>
            </a:xfrm>
            <a:prstGeom prst="ellipse">
              <a:avLst/>
            </a:prstGeom>
            <a:noFill/>
            <a:ln w="28575">
              <a:solidFill>
                <a:srgbClr val="661A1A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>
                  <a:solidFill>
                    <a:srgbClr val="661A1A"/>
                  </a:solidFill>
                </a:rPr>
                <a:t>Predation</a:t>
              </a: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858326E2-E8A8-B10B-2740-1F472F4E9874}"/>
                </a:ext>
              </a:extLst>
            </p:cNvPr>
            <p:cNvCxnSpPr>
              <a:cxnSpLocks/>
              <a:stCxn id="36" idx="7"/>
              <a:endCxn id="5" idx="3"/>
            </p:cNvCxnSpPr>
            <p:nvPr/>
          </p:nvCxnSpPr>
          <p:spPr>
            <a:xfrm flipV="1">
              <a:off x="6046101" y="2017705"/>
              <a:ext cx="682929" cy="499888"/>
            </a:xfrm>
            <a:prstGeom prst="straightConnector1">
              <a:avLst/>
            </a:prstGeom>
            <a:ln w="38100">
              <a:solidFill>
                <a:srgbClr val="661A1A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B80849DC-FF94-C67C-930C-A9374C15828A}"/>
              </a:ext>
            </a:extLst>
          </p:cNvPr>
          <p:cNvGrpSpPr/>
          <p:nvPr/>
        </p:nvGrpSpPr>
        <p:grpSpPr>
          <a:xfrm>
            <a:off x="2630336" y="4149762"/>
            <a:ext cx="1274032" cy="1596983"/>
            <a:chOff x="4874629" y="1528955"/>
            <a:chExt cx="1274032" cy="1596983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B02B5EE7-A5D6-4372-6D66-251E7887D4D6}"/>
                </a:ext>
              </a:extLst>
            </p:cNvPr>
            <p:cNvSpPr txBox="1"/>
            <p:nvPr/>
          </p:nvSpPr>
          <p:spPr>
            <a:xfrm>
              <a:off x="4874629" y="2217074"/>
              <a:ext cx="1274032" cy="908864"/>
            </a:xfrm>
            <a:prstGeom prst="ellipse">
              <a:avLst/>
            </a:prstGeom>
            <a:noFill/>
            <a:ln w="28575">
              <a:solidFill>
                <a:srgbClr val="661A1A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>
                  <a:solidFill>
                    <a:srgbClr val="661A1A"/>
                  </a:solidFill>
                </a:rPr>
                <a:t>Age at </a:t>
              </a:r>
              <a:br>
                <a:rPr lang="en-GB" dirty="0">
                  <a:solidFill>
                    <a:srgbClr val="661A1A"/>
                  </a:solidFill>
                </a:rPr>
              </a:br>
              <a:r>
                <a:rPr lang="en-GB" dirty="0">
                  <a:solidFill>
                    <a:srgbClr val="661A1A"/>
                  </a:solidFill>
                </a:rPr>
                <a:t>death</a:t>
              </a:r>
            </a:p>
          </p:txBody>
        </p: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E99FD446-ABB5-36F5-13DC-2CA27D0C71AD}"/>
                </a:ext>
              </a:extLst>
            </p:cNvPr>
            <p:cNvCxnSpPr>
              <a:cxnSpLocks/>
              <a:stCxn id="42" idx="0"/>
              <a:endCxn id="5" idx="4"/>
            </p:cNvCxnSpPr>
            <p:nvPr/>
          </p:nvCxnSpPr>
          <p:spPr>
            <a:xfrm flipV="1">
              <a:off x="5511645" y="1528955"/>
              <a:ext cx="0" cy="688119"/>
            </a:xfrm>
            <a:prstGeom prst="straightConnector1">
              <a:avLst/>
            </a:prstGeom>
            <a:ln w="38100">
              <a:solidFill>
                <a:srgbClr val="661A1A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E141185A-F4FF-AF35-2A5C-FF57278EEA51}"/>
              </a:ext>
            </a:extLst>
          </p:cNvPr>
          <p:cNvGrpSpPr/>
          <p:nvPr/>
        </p:nvGrpSpPr>
        <p:grpSpPr>
          <a:xfrm>
            <a:off x="3681130" y="4016662"/>
            <a:ext cx="2456267" cy="1112086"/>
            <a:chOff x="3994735" y="2082778"/>
            <a:chExt cx="2456267" cy="1112086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C38AF04E-13D5-214F-33D9-BC19557F0E10}"/>
                </a:ext>
              </a:extLst>
            </p:cNvPr>
            <p:cNvSpPr txBox="1"/>
            <p:nvPr/>
          </p:nvSpPr>
          <p:spPr>
            <a:xfrm>
              <a:off x="4457903" y="2675513"/>
              <a:ext cx="1993099" cy="519351"/>
            </a:xfrm>
            <a:prstGeom prst="ellipse">
              <a:avLst/>
            </a:prstGeom>
            <a:noFill/>
            <a:ln w="28575">
              <a:solidFill>
                <a:srgbClr val="661A1A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>
                  <a:solidFill>
                    <a:srgbClr val="661A1A"/>
                  </a:solidFill>
                </a:rPr>
                <a:t>Competition</a:t>
              </a:r>
            </a:p>
          </p:txBody>
        </p: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CE2A7E23-7AAD-F1BF-347D-796A68B10B00}"/>
                </a:ext>
              </a:extLst>
            </p:cNvPr>
            <p:cNvCxnSpPr>
              <a:cxnSpLocks/>
              <a:stCxn id="49" idx="1"/>
              <a:endCxn id="5" idx="5"/>
            </p:cNvCxnSpPr>
            <p:nvPr/>
          </p:nvCxnSpPr>
          <p:spPr>
            <a:xfrm flipH="1" flipV="1">
              <a:off x="3994735" y="2082778"/>
              <a:ext cx="755051" cy="668792"/>
            </a:xfrm>
            <a:prstGeom prst="straightConnector1">
              <a:avLst/>
            </a:prstGeom>
            <a:ln w="38100">
              <a:solidFill>
                <a:srgbClr val="661A1A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E696627-B60D-4A27-A4DB-CD202A23BDB3}"/>
                  </a:ext>
                </a:extLst>
              </p:cNvPr>
              <p:cNvSpPr txBox="1"/>
              <p:nvPr/>
            </p:nvSpPr>
            <p:spPr>
              <a:xfrm>
                <a:off x="1598718" y="5873911"/>
                <a:ext cx="3358996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𝑁𝑜𝑟𝑚𝑎𝑙</m:t>
                      </m:r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GB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𝑆𝑘𝑒𝑒𝑛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E696627-B60D-4A27-A4DB-CD202A23BD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8718" y="5873911"/>
                <a:ext cx="3358996" cy="830997"/>
              </a:xfrm>
              <a:prstGeom prst="rect">
                <a:avLst/>
              </a:prstGeom>
              <a:blipFill>
                <a:blip r:embed="rId3"/>
                <a:stretch>
                  <a:fillRect b="-1102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3107647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AC92DF-2BFA-BC6C-CE02-81A528EC7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How do we capture the </a:t>
            </a:r>
            <a:r>
              <a:rPr lang="en-GB" i="1" dirty="0"/>
              <a:t>Data Generating Process?</a:t>
            </a:r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EBF9C9-13D4-1862-002E-D97C182600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So far we’ve covered how to add single variables to a model</a:t>
                </a:r>
              </a:p>
              <a:p>
                <a:r>
                  <a:rPr lang="en-GB" dirty="0"/>
                  <a:t>But all other influences are still happening</a:t>
                </a:r>
              </a:p>
              <a:p>
                <a:r>
                  <a:rPr lang="en-GB" dirty="0"/>
                  <a:t>If we don’t include these, they get lumped into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GB" dirty="0"/>
                  <a:t> (i.e. unexplained variation)</a:t>
                </a:r>
              </a:p>
              <a:p>
                <a:r>
                  <a:rPr lang="en-GB" dirty="0"/>
                  <a:t>How do we include more variables so that we can understand all these different influences?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EBF9C9-13D4-1862-002E-D97C182600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 r="-19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E6C677C6-CCF3-6E9A-34C2-649C645AF03C}"/>
              </a:ext>
            </a:extLst>
          </p:cNvPr>
          <p:cNvGrpSpPr/>
          <p:nvPr/>
        </p:nvGrpSpPr>
        <p:grpSpPr>
          <a:xfrm>
            <a:off x="6201295" y="1516945"/>
            <a:ext cx="5885784" cy="3998981"/>
            <a:chOff x="251613" y="1747764"/>
            <a:chExt cx="5885784" cy="399898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B17109F-1725-4ACA-81BE-C277F320578B}"/>
                </a:ext>
              </a:extLst>
            </p:cNvPr>
            <p:cNvSpPr txBox="1"/>
            <p:nvPr/>
          </p:nvSpPr>
          <p:spPr>
            <a:xfrm>
              <a:off x="2682181" y="3240898"/>
              <a:ext cx="1170342" cy="90886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Horn </a:t>
              </a:r>
              <a:br>
                <a:rPr lang="en-GB" dirty="0"/>
              </a:br>
              <a:r>
                <a:rPr lang="en-GB" dirty="0"/>
                <a:t>length</a:t>
              </a: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4E957EBF-E85A-297F-C63C-5F99E2BC81F0}"/>
                </a:ext>
              </a:extLst>
            </p:cNvPr>
            <p:cNvGrpSpPr/>
            <p:nvPr/>
          </p:nvGrpSpPr>
          <p:grpSpPr>
            <a:xfrm>
              <a:off x="251613" y="3435654"/>
              <a:ext cx="2430568" cy="519351"/>
              <a:chOff x="275208" y="2618909"/>
              <a:chExt cx="2430568" cy="519351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CAAE818-7410-1993-22D6-5212F04197B4}"/>
                  </a:ext>
                </a:extLst>
              </p:cNvPr>
              <p:cNvSpPr txBox="1"/>
              <p:nvPr/>
            </p:nvSpPr>
            <p:spPr>
              <a:xfrm>
                <a:off x="275208" y="2618909"/>
                <a:ext cx="1258254" cy="519351"/>
              </a:xfrm>
              <a:prstGeom prst="ellipse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dirty="0"/>
                  <a:t>Region</a:t>
                </a:r>
              </a:p>
            </p:txBody>
          </p:sp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E46C0FB5-BAA2-7D79-D245-ADF115961D20}"/>
                  </a:ext>
                </a:extLst>
              </p:cNvPr>
              <p:cNvCxnSpPr>
                <a:cxnSpLocks/>
                <a:stCxn id="7" idx="6"/>
                <a:endCxn id="5" idx="2"/>
              </p:cNvCxnSpPr>
              <p:nvPr/>
            </p:nvCxnSpPr>
            <p:spPr>
              <a:xfrm>
                <a:off x="1533462" y="2878585"/>
                <a:ext cx="1172314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D6008C3B-0D3E-8D74-7D8D-3768597BDF94}"/>
                </a:ext>
              </a:extLst>
            </p:cNvPr>
            <p:cNvGrpSpPr/>
            <p:nvPr/>
          </p:nvGrpSpPr>
          <p:grpSpPr>
            <a:xfrm>
              <a:off x="3852523" y="3435653"/>
              <a:ext cx="2267072" cy="519351"/>
              <a:chOff x="3852523" y="2618908"/>
              <a:chExt cx="2267072" cy="519351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6222946-B82D-EFD8-1047-8A15BC3BF5E0}"/>
                  </a:ext>
                </a:extLst>
              </p:cNvPr>
              <p:cNvSpPr txBox="1"/>
              <p:nvPr/>
            </p:nvSpPr>
            <p:spPr>
              <a:xfrm>
                <a:off x="4883882" y="2618908"/>
                <a:ext cx="1235713" cy="519351"/>
              </a:xfrm>
              <a:prstGeom prst="ellipse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dirty="0"/>
                  <a:t>Cohort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87D264ED-B679-DE34-691A-F23CE6951BE7}"/>
                  </a:ext>
                </a:extLst>
              </p:cNvPr>
              <p:cNvCxnSpPr>
                <a:cxnSpLocks/>
                <a:stCxn id="10" idx="2"/>
                <a:endCxn id="5" idx="6"/>
              </p:cNvCxnSpPr>
              <p:nvPr/>
            </p:nvCxnSpPr>
            <p:spPr>
              <a:xfrm flipH="1">
                <a:off x="3852523" y="2878584"/>
                <a:ext cx="1031359" cy="1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444B0369-7556-1B7C-7CF0-250C37C884B9}"/>
                </a:ext>
              </a:extLst>
            </p:cNvPr>
            <p:cNvGrpSpPr/>
            <p:nvPr/>
          </p:nvGrpSpPr>
          <p:grpSpPr>
            <a:xfrm>
              <a:off x="3681130" y="2279883"/>
              <a:ext cx="2291104" cy="1094115"/>
              <a:chOff x="3968249" y="2618908"/>
              <a:chExt cx="2291104" cy="1094115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2B3A41A-7A2C-CC2C-55BE-1E51B48196A3}"/>
                  </a:ext>
                </a:extLst>
              </p:cNvPr>
              <p:cNvSpPr txBox="1"/>
              <p:nvPr/>
            </p:nvSpPr>
            <p:spPr>
              <a:xfrm>
                <a:off x="4744129" y="2618908"/>
                <a:ext cx="1515224" cy="519351"/>
              </a:xfrm>
              <a:prstGeom prst="ellipse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dirty="0"/>
                  <a:t>Genetics</a:t>
                </a:r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C41355FF-DB7F-D324-741F-2843DBDFCCCA}"/>
                  </a:ext>
                </a:extLst>
              </p:cNvPr>
              <p:cNvCxnSpPr>
                <a:cxnSpLocks/>
                <a:stCxn id="13" idx="3"/>
                <a:endCxn id="5" idx="7"/>
              </p:cNvCxnSpPr>
              <p:nvPr/>
            </p:nvCxnSpPr>
            <p:spPr>
              <a:xfrm flipH="1">
                <a:off x="3968249" y="3062202"/>
                <a:ext cx="997779" cy="650821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3373325-E4E3-6731-D009-9129EEAD2FD1}"/>
                </a:ext>
              </a:extLst>
            </p:cNvPr>
            <p:cNvGrpSpPr/>
            <p:nvPr/>
          </p:nvGrpSpPr>
          <p:grpSpPr>
            <a:xfrm>
              <a:off x="2478182" y="1747764"/>
              <a:ext cx="1578340" cy="1493134"/>
              <a:chOff x="4667816" y="2441536"/>
              <a:chExt cx="1578340" cy="1493134"/>
            </a:xfrm>
          </p:grpSpPr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3DC5066-A348-184C-47EF-09A4FE0C4505}"/>
                  </a:ext>
                </a:extLst>
              </p:cNvPr>
              <p:cNvSpPr txBox="1"/>
              <p:nvPr/>
            </p:nvSpPr>
            <p:spPr>
              <a:xfrm>
                <a:off x="4667816" y="2441536"/>
                <a:ext cx="1578340" cy="908864"/>
              </a:xfrm>
              <a:prstGeom prst="ellipse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dirty="0"/>
                  <a:t>Mother’s</a:t>
                </a:r>
                <a:br>
                  <a:rPr lang="en-GB" dirty="0"/>
                </a:br>
                <a:r>
                  <a:rPr lang="en-GB" dirty="0"/>
                  <a:t>condition</a:t>
                </a:r>
              </a:p>
            </p:txBody>
          </p: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218437E5-B322-36A0-6A3D-63B76BD0FA34}"/>
                  </a:ext>
                </a:extLst>
              </p:cNvPr>
              <p:cNvCxnSpPr>
                <a:cxnSpLocks/>
                <a:stCxn id="16" idx="4"/>
                <a:endCxn id="5" idx="0"/>
              </p:cNvCxnSpPr>
              <p:nvPr/>
            </p:nvCxnSpPr>
            <p:spPr>
              <a:xfrm>
                <a:off x="5456986" y="3350400"/>
                <a:ext cx="0" cy="58427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83540DCF-1EED-A713-00D4-572649D59699}"/>
                </a:ext>
              </a:extLst>
            </p:cNvPr>
            <p:cNvGrpSpPr/>
            <p:nvPr/>
          </p:nvGrpSpPr>
          <p:grpSpPr>
            <a:xfrm>
              <a:off x="367729" y="2072358"/>
              <a:ext cx="2485845" cy="1301640"/>
              <a:chOff x="4549480" y="2441536"/>
              <a:chExt cx="2485845" cy="1301640"/>
            </a:xfrm>
          </p:grpSpPr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880C347-9500-06AA-0290-E1F52C7B7F23}"/>
                  </a:ext>
                </a:extLst>
              </p:cNvPr>
              <p:cNvSpPr txBox="1"/>
              <p:nvPr/>
            </p:nvSpPr>
            <p:spPr>
              <a:xfrm>
                <a:off x="4549480" y="2441536"/>
                <a:ext cx="1815022" cy="908864"/>
              </a:xfrm>
              <a:prstGeom prst="ellipse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dirty="0"/>
                  <a:t>Food </a:t>
                </a:r>
                <a:br>
                  <a:rPr lang="en-GB" dirty="0"/>
                </a:br>
                <a:r>
                  <a:rPr lang="en-GB" dirty="0"/>
                  <a:t>availability</a:t>
                </a: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E0E1CC8B-3194-0799-E0E0-ECBB61A307A5}"/>
                  </a:ext>
                </a:extLst>
              </p:cNvPr>
              <p:cNvCxnSpPr>
                <a:cxnSpLocks/>
                <a:stCxn id="19" idx="5"/>
                <a:endCxn id="5" idx="1"/>
              </p:cNvCxnSpPr>
              <p:nvPr/>
            </p:nvCxnSpPr>
            <p:spPr>
              <a:xfrm>
                <a:off x="6098698" y="3217300"/>
                <a:ext cx="936627" cy="5258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6595A98E-83B1-EC59-1970-91852D90DCAD}"/>
                </a:ext>
              </a:extLst>
            </p:cNvPr>
            <p:cNvGrpSpPr/>
            <p:nvPr/>
          </p:nvGrpSpPr>
          <p:grpSpPr>
            <a:xfrm>
              <a:off x="748411" y="4016662"/>
              <a:ext cx="2105163" cy="943182"/>
              <a:chOff x="4623867" y="2017705"/>
              <a:chExt cx="2105163" cy="943182"/>
            </a:xfrm>
          </p:grpSpPr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FDA8D5D-A42A-AEC6-C266-5EE74ADF2884}"/>
                  </a:ext>
                </a:extLst>
              </p:cNvPr>
              <p:cNvSpPr txBox="1"/>
              <p:nvPr/>
            </p:nvSpPr>
            <p:spPr>
              <a:xfrm>
                <a:off x="4623867" y="2441536"/>
                <a:ext cx="1666251" cy="519351"/>
              </a:xfrm>
              <a:prstGeom prst="ellipse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dirty="0"/>
                  <a:t>Predation</a:t>
                </a:r>
              </a:p>
            </p:txBody>
          </p: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F43B8E1B-45E1-0A6A-9057-1533577715E3}"/>
                  </a:ext>
                </a:extLst>
              </p:cNvPr>
              <p:cNvCxnSpPr>
                <a:cxnSpLocks/>
                <a:stCxn id="22" idx="7"/>
                <a:endCxn id="5" idx="3"/>
              </p:cNvCxnSpPr>
              <p:nvPr/>
            </p:nvCxnSpPr>
            <p:spPr>
              <a:xfrm flipV="1">
                <a:off x="6046101" y="2017705"/>
                <a:ext cx="682929" cy="499888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645A832-7FE8-E95F-DF5D-84ACE58EE747}"/>
                </a:ext>
              </a:extLst>
            </p:cNvPr>
            <p:cNvGrpSpPr/>
            <p:nvPr/>
          </p:nvGrpSpPr>
          <p:grpSpPr>
            <a:xfrm>
              <a:off x="2630336" y="4149762"/>
              <a:ext cx="1274032" cy="1596983"/>
              <a:chOff x="4874629" y="1528955"/>
              <a:chExt cx="1274032" cy="1596983"/>
            </a:xfrm>
          </p:grpSpPr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468AA1B-875F-4894-5922-3DD4B433D71C}"/>
                  </a:ext>
                </a:extLst>
              </p:cNvPr>
              <p:cNvSpPr txBox="1"/>
              <p:nvPr/>
            </p:nvSpPr>
            <p:spPr>
              <a:xfrm>
                <a:off x="4874629" y="2217074"/>
                <a:ext cx="1274032" cy="908864"/>
              </a:xfrm>
              <a:prstGeom prst="ellipse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dirty="0"/>
                  <a:t>Age at </a:t>
                </a:r>
                <a:br>
                  <a:rPr lang="en-GB" dirty="0"/>
                </a:br>
                <a:r>
                  <a:rPr lang="en-GB" dirty="0"/>
                  <a:t>death</a:t>
                </a: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EE4F93D5-F1F5-DFF3-A545-0866F67F5B87}"/>
                  </a:ext>
                </a:extLst>
              </p:cNvPr>
              <p:cNvCxnSpPr>
                <a:cxnSpLocks/>
                <a:stCxn id="25" idx="0"/>
                <a:endCxn id="5" idx="4"/>
              </p:cNvCxnSpPr>
              <p:nvPr/>
            </p:nvCxnSpPr>
            <p:spPr>
              <a:xfrm flipV="1">
                <a:off x="5511645" y="1528955"/>
                <a:ext cx="0" cy="688119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22C62965-8A73-1E55-45B7-9056C6914309}"/>
                </a:ext>
              </a:extLst>
            </p:cNvPr>
            <p:cNvGrpSpPr/>
            <p:nvPr/>
          </p:nvGrpSpPr>
          <p:grpSpPr>
            <a:xfrm>
              <a:off x="3681130" y="4016662"/>
              <a:ext cx="2456267" cy="1112086"/>
              <a:chOff x="3994735" y="2082778"/>
              <a:chExt cx="2456267" cy="1112086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227FECF-399F-0662-B028-5DA6BE7EC2AB}"/>
                  </a:ext>
                </a:extLst>
              </p:cNvPr>
              <p:cNvSpPr txBox="1"/>
              <p:nvPr/>
            </p:nvSpPr>
            <p:spPr>
              <a:xfrm>
                <a:off x="4457903" y="2675513"/>
                <a:ext cx="1993099" cy="519351"/>
              </a:xfrm>
              <a:prstGeom prst="ellipse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dirty="0"/>
                  <a:t>Competition</a:t>
                </a:r>
              </a:p>
            </p:txBody>
          </p: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28337562-F395-29B2-10AE-6B9CC73FFF07}"/>
                  </a:ext>
                </a:extLst>
              </p:cNvPr>
              <p:cNvCxnSpPr>
                <a:cxnSpLocks/>
                <a:stCxn id="28" idx="1"/>
                <a:endCxn id="5" idx="5"/>
              </p:cNvCxnSpPr>
              <p:nvPr/>
            </p:nvCxnSpPr>
            <p:spPr>
              <a:xfrm flipH="1" flipV="1">
                <a:off x="3994735" y="2082778"/>
                <a:ext cx="755051" cy="668792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0773215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F19F85-3D39-BD5B-194D-E4164AE8A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question</a:t>
            </a:r>
          </a:p>
        </p:txBody>
      </p:sp>
    </p:spTree>
    <p:extLst>
      <p:ext uri="{BB962C8B-B14F-4D97-AF65-F5344CB8AC3E}">
        <p14:creationId xmlns:p14="http://schemas.microsoft.com/office/powerpoint/2010/main" val="149831611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A68892-D034-777C-4ECB-91D6FB0B44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Trophic cascades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D01988-9960-E389-CBD7-A70849B05D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Hugely popular ecology theory, especially amongst public</a:t>
            </a:r>
          </a:p>
          <a:p>
            <a:pPr lvl="1"/>
            <a:r>
              <a:rPr lang="en-GB" dirty="0"/>
              <a:t>“Nature is healing”</a:t>
            </a:r>
          </a:p>
          <a:p>
            <a:pPr lvl="1"/>
            <a:r>
              <a:rPr lang="en-GB" dirty="0"/>
              <a:t>“Keystone species”</a:t>
            </a:r>
          </a:p>
          <a:p>
            <a:r>
              <a:rPr lang="en-GB" dirty="0"/>
              <a:t>Seminal paper described the process</a:t>
            </a:r>
          </a:p>
        </p:txBody>
      </p:sp>
      <p:pic>
        <p:nvPicPr>
          <p:cNvPr id="37" name="Picture Placeholder 36" descr="A poster with animals and text&#10;&#10;Description automatically generated">
            <a:extLst>
              <a:ext uri="{FF2B5EF4-FFF2-40B4-BE49-F238E27FC236}">
                <a16:creationId xmlns:a16="http://schemas.microsoft.com/office/drawing/2014/main" id="{6210BAC8-1899-8817-66DF-8DA7EACFABE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3" r="1533"/>
          <a:stretch>
            <a:fillRect/>
          </a:stretch>
        </p:blipFill>
        <p:spPr>
          <a:xfrm>
            <a:off x="6359525" y="0"/>
            <a:ext cx="58324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948664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0C97C-1AFC-3E7B-9E5B-3B92C7663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question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D812F5-4804-4580-05C4-4270F1F810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1426614"/>
                <a:ext cx="6201295" cy="376627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GB" dirty="0"/>
                  <a:t>We want to see if wolf presence has a positive relationship with beaver density.</a:t>
                </a:r>
              </a:p>
              <a:p>
                <a:r>
                  <a:rPr lang="en-GB" dirty="0"/>
                  <a:t>How would you use the tools you have learnt to find evidence of a trophic cascade?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𝑁𝑜𝑟𝑚𝑎𝑙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D812F5-4804-4580-05C4-4270F1F810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1426614"/>
                <a:ext cx="6201295" cy="3766276"/>
              </a:xfrm>
              <a:blipFill>
                <a:blip r:embed="rId3"/>
                <a:stretch>
                  <a:fillRect l="-1770" t="-485" r="-127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oup 7">
            <a:extLst>
              <a:ext uri="{FF2B5EF4-FFF2-40B4-BE49-F238E27FC236}">
                <a16:creationId xmlns:a16="http://schemas.microsoft.com/office/drawing/2014/main" id="{8C5FB113-8C0B-A55E-D683-759AFE1888DF}"/>
              </a:ext>
            </a:extLst>
          </p:cNvPr>
          <p:cNvGrpSpPr/>
          <p:nvPr/>
        </p:nvGrpSpPr>
        <p:grpSpPr>
          <a:xfrm>
            <a:off x="899618" y="5431387"/>
            <a:ext cx="4402058" cy="1168539"/>
            <a:chOff x="425814" y="5311368"/>
            <a:chExt cx="4402058" cy="1168539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29726BC-D15A-4A7F-BF04-D98409C20140}"/>
                    </a:ext>
                  </a:extLst>
                </p:cNvPr>
                <p:cNvSpPr txBox="1"/>
                <p:nvPr/>
              </p:nvSpPr>
              <p:spPr>
                <a:xfrm>
                  <a:off x="3059825" y="5311368"/>
                  <a:ext cx="1768047" cy="1168539"/>
                </a:xfrm>
                <a:prstGeom prst="ellipse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GB" sz="24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</m:oMath>
                  </a14:m>
                  <a:r>
                    <a:rPr lang="en-GB" sz="2400" dirty="0" err="1"/>
                    <a:t>eaver</a:t>
                  </a:r>
                  <a:r>
                    <a:rPr lang="en-GB" sz="2400" dirty="0"/>
                    <a:t> </a:t>
                  </a:r>
                  <a:br>
                    <a:rPr lang="en-GB" sz="2400" dirty="0"/>
                  </a:br>
                  <a:r>
                    <a:rPr lang="en-GB" sz="2400" dirty="0"/>
                    <a:t>density</a:t>
                  </a:r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29726BC-D15A-4A7F-BF04-D98409C201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59825" y="5311368"/>
                  <a:ext cx="1768047" cy="1168539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28575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E4B89AD-FE3D-CCDA-710B-E17C8F047F5A}"/>
                </a:ext>
              </a:extLst>
            </p:cNvPr>
            <p:cNvCxnSpPr>
              <a:cxnSpLocks/>
              <a:stCxn id="7" idx="6"/>
              <a:endCxn id="5" idx="2"/>
            </p:cNvCxnSpPr>
            <p:nvPr/>
          </p:nvCxnSpPr>
          <p:spPr>
            <a:xfrm>
              <a:off x="2528643" y="5895638"/>
              <a:ext cx="531182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327AD0F3-BCD5-BB7C-2FA9-1E85E641BE0E}"/>
                    </a:ext>
                  </a:extLst>
                </p:cNvPr>
                <p:cNvSpPr txBox="1"/>
                <p:nvPr/>
              </p:nvSpPr>
              <p:spPr>
                <a:xfrm>
                  <a:off x="425814" y="5311368"/>
                  <a:ext cx="2102829" cy="1168539"/>
                </a:xfrm>
                <a:prstGeom prst="ellipse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GB" sz="2400" dirty="0"/>
                    <a:t>Wolf</a:t>
                  </a:r>
                  <a:br>
                    <a:rPr lang="en-GB" sz="2400" dirty="0"/>
                  </a:br>
                  <a14:m>
                    <m:oMath xmlns:m="http://schemas.openxmlformats.org/officeDocument/2006/math">
                      <m:r>
                        <a:rPr lang="en-GB" sz="24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</m:oMath>
                  </a14:m>
                  <a:r>
                    <a:rPr lang="en-GB" sz="2400" dirty="0" err="1"/>
                    <a:t>resence</a:t>
                  </a:r>
                  <a:endParaRPr lang="en-GB" sz="2400" dirty="0"/>
                </a:p>
              </p:txBody>
            </p:sp>
          </mc:Choice>
          <mc:Fallback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327AD0F3-BCD5-BB7C-2FA9-1E85E641BE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5814" y="5311368"/>
                  <a:ext cx="2102829" cy="1168539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28575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4" name="Picture Placeholder 13" descr="A beaver swimming in water&#10;&#10;Description automatically generated">
            <a:extLst>
              <a:ext uri="{FF2B5EF4-FFF2-40B4-BE49-F238E27FC236}">
                <a16:creationId xmlns:a16="http://schemas.microsoft.com/office/drawing/2014/main" id="{F474F106-B9A4-7B67-CBAF-75AE79AEEA5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28" r="21828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5103149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6BE848-F331-46C7-7717-23CF3EBCA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hypothesis with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025B94-1FD8-1F74-214E-89745CD6D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Wolf presence is categorical</a:t>
            </a:r>
          </a:p>
          <a:p>
            <a:r>
              <a:rPr lang="en-GB" dirty="0"/>
              <a:t>You’re all now comfortable fitting these types of models, so we’ll skip to the results</a:t>
            </a:r>
          </a:p>
          <a:p>
            <a:r>
              <a:rPr lang="en-GB" dirty="0"/>
              <a:t>Do wolves increase beaver density?</a:t>
            </a:r>
          </a:p>
          <a:p>
            <a:r>
              <a:rPr lang="en-GB" dirty="0"/>
              <a:t>Is the system really that simple?</a:t>
            </a:r>
          </a:p>
          <a:p>
            <a:r>
              <a:rPr lang="en-GB" dirty="0"/>
              <a:t>Singular causes and effects are incredibly rare in the real world.</a:t>
            </a:r>
          </a:p>
        </p:txBody>
      </p:sp>
      <p:pic>
        <p:nvPicPr>
          <p:cNvPr id="6" name="Picture Placeholder 5" descr="A screen shot of a black screen&#10;&#10;Description automatically generated">
            <a:extLst>
              <a:ext uri="{FF2B5EF4-FFF2-40B4-BE49-F238E27FC236}">
                <a16:creationId xmlns:a16="http://schemas.microsoft.com/office/drawing/2014/main" id="{682BA5F0-D3A2-9929-994B-40195D0EA11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62381182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6349B-E430-E8AE-0A1E-065051BF5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Complex worlds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D491B0-E393-8943-DF56-145B6EEE68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Misinformation often created by attributing singular causes to complex phenomena</a:t>
            </a:r>
          </a:p>
          <a:p>
            <a:pPr lvl="1"/>
            <a:r>
              <a:rPr lang="en-GB" dirty="0"/>
              <a:t>Most clickbait</a:t>
            </a:r>
          </a:p>
          <a:p>
            <a:pPr lvl="1"/>
            <a:r>
              <a:rPr lang="en-GB" dirty="0"/>
              <a:t>Political sound bites / populism</a:t>
            </a:r>
          </a:p>
          <a:p>
            <a:pPr lvl="1"/>
            <a:r>
              <a:rPr lang="en-GB" dirty="0"/>
              <a:t>Health products</a:t>
            </a:r>
          </a:p>
          <a:p>
            <a:pPr lvl="1"/>
            <a:r>
              <a:rPr lang="en-GB" dirty="0"/>
              <a:t>Advertising</a:t>
            </a:r>
          </a:p>
          <a:p>
            <a:pPr lvl="1"/>
            <a:r>
              <a:rPr lang="en-GB" dirty="0"/>
              <a:t>Fair bit of scientific communication</a:t>
            </a:r>
          </a:p>
        </p:txBody>
      </p:sp>
      <p:pic>
        <p:nvPicPr>
          <p:cNvPr id="6" name="Picture Placeholder 5" descr="A person with a red ribbon and a flag&#10;&#10;Description automatically generated">
            <a:extLst>
              <a:ext uri="{FF2B5EF4-FFF2-40B4-BE49-F238E27FC236}">
                <a16:creationId xmlns:a16="http://schemas.microsoft.com/office/drawing/2014/main" id="{0204DC54-B734-6330-016A-2FCD31B3BAF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3" t="-53725" b="-54240"/>
          <a:stretch/>
        </p:blipFill>
        <p:spPr>
          <a:xfrm>
            <a:off x="6359525" y="0"/>
            <a:ext cx="5832475" cy="6858000"/>
          </a:xfrm>
        </p:spPr>
      </p:pic>
    </p:spTree>
    <p:extLst>
      <p:ext uri="{BB962C8B-B14F-4D97-AF65-F5344CB8AC3E}">
        <p14:creationId xmlns:p14="http://schemas.microsoft.com/office/powerpoint/2010/main" val="111896863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12BD3-6BB9-284D-D024-EC294075A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Incorporate complexity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346D0A-1E68-D3E1-CF03-126DB4C4E2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Wolves won’t be the only thing influencing beaver density</a:t>
            </a:r>
          </a:p>
          <a:p>
            <a:r>
              <a:rPr lang="en-GB" dirty="0"/>
              <a:t>Surely the probability survival to survive from one year to the next will influence beaver density?</a:t>
            </a:r>
          </a:p>
          <a:p>
            <a:r>
              <a:rPr lang="en-GB" dirty="0"/>
              <a:t>How do we include survival?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BB2CFD5-CF3A-C1EB-9A82-22CBF1E47078}"/>
              </a:ext>
            </a:extLst>
          </p:cNvPr>
          <p:cNvGrpSpPr/>
          <p:nvPr/>
        </p:nvGrpSpPr>
        <p:grpSpPr>
          <a:xfrm>
            <a:off x="7028104" y="1814347"/>
            <a:ext cx="4080328" cy="2472152"/>
            <a:chOff x="7028104" y="1814347"/>
            <a:chExt cx="4080328" cy="247215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B30B453-7945-4535-D391-E5F925D4C65C}"/>
                </a:ext>
              </a:extLst>
            </p:cNvPr>
            <p:cNvSpPr txBox="1"/>
            <p:nvPr/>
          </p:nvSpPr>
          <p:spPr>
            <a:xfrm>
              <a:off x="9356525" y="3117960"/>
              <a:ext cx="1751907" cy="1168539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400" dirty="0"/>
                <a:t>Beaver </a:t>
              </a:r>
              <a:br>
                <a:rPr lang="en-GB" sz="2400" dirty="0"/>
              </a:br>
              <a:r>
                <a:rPr lang="en-GB" sz="2400" dirty="0"/>
                <a:t>density</a:t>
              </a: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F220E9FC-B16D-73AD-35F7-938EBB29BB03}"/>
                </a:ext>
              </a:extLst>
            </p:cNvPr>
            <p:cNvCxnSpPr>
              <a:cxnSpLocks/>
              <a:stCxn id="7" idx="5"/>
              <a:endCxn id="5" idx="1"/>
            </p:cNvCxnSpPr>
            <p:nvPr/>
          </p:nvCxnSpPr>
          <p:spPr>
            <a:xfrm>
              <a:off x="8802844" y="2811757"/>
              <a:ext cx="810242" cy="47733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402C318-6316-18F3-6A5F-97B72446D515}"/>
                </a:ext>
              </a:extLst>
            </p:cNvPr>
            <p:cNvSpPr txBox="1"/>
            <p:nvPr/>
          </p:nvSpPr>
          <p:spPr>
            <a:xfrm>
              <a:off x="7028104" y="1814347"/>
              <a:ext cx="2079237" cy="1168539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400" dirty="0"/>
                <a:t>Wolf </a:t>
              </a:r>
              <a:br>
                <a:rPr lang="en-GB" sz="2400" dirty="0"/>
              </a:br>
              <a:r>
                <a:rPr lang="en-GB" sz="2400" dirty="0"/>
                <a:t>presence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CAC9E57-819B-1467-83D3-3D6D51193E11}"/>
              </a:ext>
            </a:extLst>
          </p:cNvPr>
          <p:cNvGrpSpPr/>
          <p:nvPr/>
        </p:nvGrpSpPr>
        <p:grpSpPr>
          <a:xfrm>
            <a:off x="6914815" y="4115370"/>
            <a:ext cx="2698271" cy="1339668"/>
            <a:chOff x="6914815" y="4115370"/>
            <a:chExt cx="2698271" cy="133966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C69D807-3F6C-5335-C35B-27DFFB698035}"/>
                </a:ext>
              </a:extLst>
            </p:cNvPr>
            <p:cNvSpPr txBox="1"/>
            <p:nvPr/>
          </p:nvSpPr>
          <p:spPr>
            <a:xfrm>
              <a:off x="6914815" y="4286499"/>
              <a:ext cx="1808261" cy="1168539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400" dirty="0"/>
                <a:t>Beaver</a:t>
              </a:r>
              <a:br>
                <a:rPr lang="en-GB" sz="2400" dirty="0"/>
              </a:br>
              <a:r>
                <a:rPr lang="en-GB" sz="2400" dirty="0"/>
                <a:t>survival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207740FB-414C-6545-BE04-1EDD11246C0B}"/>
                </a:ext>
              </a:extLst>
            </p:cNvPr>
            <p:cNvCxnSpPr>
              <a:cxnSpLocks/>
              <a:stCxn id="8" idx="7"/>
              <a:endCxn id="5" idx="3"/>
            </p:cNvCxnSpPr>
            <p:nvPr/>
          </p:nvCxnSpPr>
          <p:spPr>
            <a:xfrm flipV="1">
              <a:off x="8458262" y="4115370"/>
              <a:ext cx="1154824" cy="34225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8710735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E3A4713-B8EB-6406-AF91-68F4A46ECCFF}"/>
                  </a:ext>
                </a:extLst>
              </p:cNvPr>
              <p:cNvSpPr txBox="1"/>
              <p:nvPr/>
            </p:nvSpPr>
            <p:spPr>
              <a:xfrm>
                <a:off x="3344509" y="496711"/>
                <a:ext cx="5502980" cy="160204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4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4800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GB" sz="4800" b="0" i="1" smtClean="0">
                          <a:latin typeface="Cambria Math" panose="02040503050406030204" pitchFamily="18" charset="0"/>
                        </a:rPr>
                        <m:t>𝑁𝑜𝑟𝑚𝑎𝑙</m:t>
                      </m:r>
                      <m:d>
                        <m:dPr>
                          <m:ctrlPr>
                            <a:rPr lang="en-GB" sz="4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4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4800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GB" sz="48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sz="48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GB" sz="4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sz="4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4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accent6">
                                  <a:lumMod val="40000"/>
                                  <a:lumOff val="6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accent6">
                                  <a:lumMod val="40000"/>
                                  <a:lumOff val="6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accent6">
                                  <a:lumMod val="40000"/>
                                  <a:lumOff val="6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4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en-GB" sz="48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48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E3A4713-B8EB-6406-AF91-68F4A46ECC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509" y="496711"/>
                <a:ext cx="5502980" cy="160204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2AA4A08-3F53-DD9C-D467-F9D05294631B}"/>
                  </a:ext>
                </a:extLst>
              </p:cNvPr>
              <p:cNvSpPr txBox="1"/>
              <p:nvPr/>
            </p:nvSpPr>
            <p:spPr>
              <a:xfrm>
                <a:off x="304799" y="3612010"/>
                <a:ext cx="11582400" cy="18158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800" b="1" dirty="0">
                    <a:solidFill>
                      <a:srgbClr val="FFFF00"/>
                    </a:solidFill>
                  </a:rPr>
                  <a:t>Beaver density</a:t>
                </a:r>
                <a:r>
                  <a:rPr lang="en-GB" sz="2800" dirty="0">
                    <a:solidFill>
                      <a:srgbClr val="FFFF00"/>
                    </a:solidFill>
                  </a:rPr>
                  <a:t>,</a:t>
                </a:r>
                <a:r>
                  <a:rPr lang="en-GB" sz="2800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 </a:t>
                </a:r>
                <a:r>
                  <a:rPr lang="en-GB" sz="2800" b="1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at each site and year </a:t>
                </a:r>
                <a:r>
                  <a:rPr lang="en-GB" sz="2800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(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sz="2800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)</a:t>
                </a:r>
                <a:r>
                  <a:rPr lang="en-GB" sz="2800" dirty="0"/>
                  <a:t>, is </a:t>
                </a:r>
                <a:r>
                  <a:rPr lang="en-GB" sz="2800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“</a:t>
                </a:r>
                <a:r>
                  <a:rPr lang="en-GB" sz="28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generated</a:t>
                </a:r>
                <a:r>
                  <a:rPr lang="en-GB" sz="2800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”</a:t>
                </a:r>
                <a:r>
                  <a:rPr lang="en-GB" sz="2800" dirty="0"/>
                  <a:t> according to a 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𝑁𝑜𝑟𝑚𝑎𝑙</m:t>
                    </m:r>
                  </m:oMath>
                </a14:m>
                <a:r>
                  <a:rPr lang="en-GB" sz="2800" dirty="0"/>
                  <a:t> distribution, with an </a:t>
                </a:r>
                <a:r>
                  <a:rPr lang="en-GB" sz="2800" b="1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rPr>
                  <a:t>average</a:t>
                </a:r>
                <a:r>
                  <a:rPr lang="en-GB" sz="2800" dirty="0"/>
                  <a:t> and </a:t>
                </a:r>
                <a:r>
                  <a:rPr lang="en-GB" sz="2800" b="1" dirty="0">
                    <a:solidFill>
                      <a:srgbClr val="FF0000"/>
                    </a:solidFill>
                  </a:rPr>
                  <a:t>standard deviation</a:t>
                </a:r>
                <a:r>
                  <a:rPr lang="en-GB" sz="2800" dirty="0"/>
                  <a:t>. The </a:t>
                </a:r>
                <a:r>
                  <a:rPr lang="en-GB" sz="2800" b="1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rPr>
                  <a:t>average</a:t>
                </a:r>
                <a:r>
                  <a:rPr lang="en-GB" sz="2800" dirty="0"/>
                  <a:t> is determined by an </a:t>
                </a:r>
                <a:r>
                  <a:rPr lang="en-GB" sz="2800" b="1" dirty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rPr>
                  <a:t>intercept</a:t>
                </a:r>
                <a:r>
                  <a:rPr lang="en-GB" sz="2800" dirty="0"/>
                  <a:t> and the </a:t>
                </a:r>
                <a:r>
                  <a:rPr lang="en-GB" sz="2800" b="1" dirty="0">
                    <a:solidFill>
                      <a:schemeClr val="accent6">
                        <a:lumMod val="75000"/>
                      </a:schemeClr>
                    </a:solidFill>
                  </a:rPr>
                  <a:t>effect</a:t>
                </a:r>
                <a:r>
                  <a:rPr lang="en-GB" sz="2800" dirty="0"/>
                  <a:t> of an </a:t>
                </a:r>
                <a:r>
                  <a:rPr lang="en-GB" sz="2800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explanatory variable</a:t>
                </a:r>
                <a:r>
                  <a:rPr lang="en-GB" sz="2800" dirty="0"/>
                  <a:t> (called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2800" dirty="0"/>
                  <a:t> here)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2AA4A08-3F53-DD9C-D467-F9D0529463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799" y="3612010"/>
                <a:ext cx="11582400" cy="1815882"/>
              </a:xfrm>
              <a:prstGeom prst="rect">
                <a:avLst/>
              </a:prstGeom>
              <a:blipFill>
                <a:blip r:embed="rId3"/>
                <a:stretch>
                  <a:fillRect l="-1053" t="-4040" b="-841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7" name="Group 36">
            <a:extLst>
              <a:ext uri="{FF2B5EF4-FFF2-40B4-BE49-F238E27FC236}">
                <a16:creationId xmlns:a16="http://schemas.microsoft.com/office/drawing/2014/main" id="{55DF2EE7-1436-29D9-20B6-E923C7DE75AD}"/>
              </a:ext>
            </a:extLst>
          </p:cNvPr>
          <p:cNvGrpSpPr/>
          <p:nvPr/>
        </p:nvGrpSpPr>
        <p:grpSpPr>
          <a:xfrm>
            <a:off x="2942493" y="762000"/>
            <a:ext cx="3774830" cy="3323492"/>
            <a:chOff x="2942493" y="762000"/>
            <a:chExt cx="3774830" cy="3323492"/>
          </a:xfrm>
          <a:solidFill>
            <a:schemeClr val="bg1"/>
          </a:solidFill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0FFFC22-1314-57EB-3C61-6F65DA6A401F}"/>
                </a:ext>
              </a:extLst>
            </p:cNvPr>
            <p:cNvSpPr/>
            <p:nvPr/>
          </p:nvSpPr>
          <p:spPr>
            <a:xfrm>
              <a:off x="3938954" y="762000"/>
              <a:ext cx="187569" cy="574431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1E76978C-84E0-5F98-8EA4-97B8806C3D1A}"/>
                </a:ext>
              </a:extLst>
            </p:cNvPr>
            <p:cNvSpPr/>
            <p:nvPr/>
          </p:nvSpPr>
          <p:spPr>
            <a:xfrm>
              <a:off x="2942493" y="3511061"/>
              <a:ext cx="3774830" cy="574431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766F3F5-B58E-ADA1-041D-76020F033721}"/>
              </a:ext>
            </a:extLst>
          </p:cNvPr>
          <p:cNvGrpSpPr/>
          <p:nvPr/>
        </p:nvGrpSpPr>
        <p:grpSpPr>
          <a:xfrm>
            <a:off x="4278923" y="723301"/>
            <a:ext cx="4853788" cy="3362191"/>
            <a:chOff x="4278923" y="723301"/>
            <a:chExt cx="4853788" cy="3362191"/>
          </a:xfrm>
          <a:solidFill>
            <a:schemeClr val="bg1"/>
          </a:solidFill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3FB3857-B426-616A-8614-73ADB2A09673}"/>
                </a:ext>
              </a:extLst>
            </p:cNvPr>
            <p:cNvSpPr/>
            <p:nvPr/>
          </p:nvSpPr>
          <p:spPr>
            <a:xfrm flipH="1">
              <a:off x="4278923" y="723301"/>
              <a:ext cx="442045" cy="574431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607723D-223C-4B90-F41C-6995F3B7AA3F}"/>
                </a:ext>
              </a:extLst>
            </p:cNvPr>
            <p:cNvSpPr/>
            <p:nvPr/>
          </p:nvSpPr>
          <p:spPr>
            <a:xfrm>
              <a:off x="6717322" y="3511061"/>
              <a:ext cx="2415389" cy="574431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C4033040-5495-E2D6-AD26-4C1CAF56C2A6}"/>
              </a:ext>
            </a:extLst>
          </p:cNvPr>
          <p:cNvGrpSpPr/>
          <p:nvPr/>
        </p:nvGrpSpPr>
        <p:grpSpPr>
          <a:xfrm>
            <a:off x="3645875" y="602324"/>
            <a:ext cx="4302372" cy="3969676"/>
            <a:chOff x="3645875" y="602324"/>
            <a:chExt cx="4302372" cy="3969676"/>
          </a:xfrm>
          <a:solidFill>
            <a:schemeClr val="bg1"/>
          </a:solidFill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45EB67A-011C-B353-11F6-91E9C37222F3}"/>
                </a:ext>
              </a:extLst>
            </p:cNvPr>
            <p:cNvSpPr/>
            <p:nvPr/>
          </p:nvSpPr>
          <p:spPr>
            <a:xfrm flipH="1">
              <a:off x="6998675" y="602324"/>
              <a:ext cx="949572" cy="688131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CE01DEBD-3180-F5A4-311E-A94AA2FF03BB}"/>
                </a:ext>
              </a:extLst>
            </p:cNvPr>
            <p:cNvSpPr/>
            <p:nvPr/>
          </p:nvSpPr>
          <p:spPr>
            <a:xfrm>
              <a:off x="3645875" y="4085492"/>
              <a:ext cx="2661139" cy="486508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80F14756-C889-787B-9ADF-AA7E7AA75346}"/>
              </a:ext>
            </a:extLst>
          </p:cNvPr>
          <p:cNvGrpSpPr/>
          <p:nvPr/>
        </p:nvGrpSpPr>
        <p:grpSpPr>
          <a:xfrm>
            <a:off x="6307014" y="609599"/>
            <a:ext cx="3751385" cy="3962401"/>
            <a:chOff x="6307014" y="609599"/>
            <a:chExt cx="3751385" cy="3962401"/>
          </a:xfrm>
          <a:solidFill>
            <a:schemeClr val="bg1"/>
          </a:solidFill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C916C542-D48C-CF76-7719-D8F09B40E8DB}"/>
                </a:ext>
              </a:extLst>
            </p:cNvPr>
            <p:cNvSpPr/>
            <p:nvPr/>
          </p:nvSpPr>
          <p:spPr>
            <a:xfrm flipH="1">
              <a:off x="7948246" y="609599"/>
              <a:ext cx="949572" cy="688131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2560154E-8906-2E91-046B-0D4CB74EC714}"/>
                </a:ext>
              </a:extLst>
            </p:cNvPr>
            <p:cNvSpPr/>
            <p:nvPr/>
          </p:nvSpPr>
          <p:spPr>
            <a:xfrm>
              <a:off x="6307014" y="4085492"/>
              <a:ext cx="3751385" cy="486508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14CCACD9-8DF7-4B98-D825-9279B1F8D409}"/>
              </a:ext>
            </a:extLst>
          </p:cNvPr>
          <p:cNvGrpSpPr/>
          <p:nvPr/>
        </p:nvGrpSpPr>
        <p:grpSpPr>
          <a:xfrm>
            <a:off x="351693" y="1334827"/>
            <a:ext cx="11125195" cy="3723681"/>
            <a:chOff x="351693" y="1334827"/>
            <a:chExt cx="11125195" cy="3723681"/>
          </a:xfrm>
          <a:solidFill>
            <a:schemeClr val="bg1"/>
          </a:solidFill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CA435EED-832C-65F7-DE5A-FB87B290BB17}"/>
                </a:ext>
              </a:extLst>
            </p:cNvPr>
            <p:cNvSpPr/>
            <p:nvPr/>
          </p:nvSpPr>
          <p:spPr>
            <a:xfrm flipH="1">
              <a:off x="3349362" y="1334827"/>
              <a:ext cx="1371605" cy="688131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AFA3F8F-E5F9-1D5B-3B4B-2494675C4D1E}"/>
                </a:ext>
              </a:extLst>
            </p:cNvPr>
            <p:cNvSpPr/>
            <p:nvPr/>
          </p:nvSpPr>
          <p:spPr>
            <a:xfrm>
              <a:off x="10058399" y="4085492"/>
              <a:ext cx="1418489" cy="486508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7D24D60C-DF85-2511-D21D-2AC8A6DD5709}"/>
                </a:ext>
              </a:extLst>
            </p:cNvPr>
            <p:cNvSpPr/>
            <p:nvPr/>
          </p:nvSpPr>
          <p:spPr>
            <a:xfrm>
              <a:off x="351693" y="4572000"/>
              <a:ext cx="4126521" cy="486508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86088AE0-61FA-3DA9-7D72-1BF63E1EB9A3}"/>
              </a:ext>
            </a:extLst>
          </p:cNvPr>
          <p:cNvGrpSpPr/>
          <p:nvPr/>
        </p:nvGrpSpPr>
        <p:grpSpPr>
          <a:xfrm>
            <a:off x="4478214" y="1354176"/>
            <a:ext cx="2003549" cy="3720613"/>
            <a:chOff x="4478214" y="1354176"/>
            <a:chExt cx="2003549" cy="3720613"/>
          </a:xfrm>
          <a:solidFill>
            <a:schemeClr val="bg1"/>
          </a:solidFill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2E4757D-D748-CA60-0E9B-147E5814FF89}"/>
                </a:ext>
              </a:extLst>
            </p:cNvPr>
            <p:cNvSpPr/>
            <p:nvPr/>
          </p:nvSpPr>
          <p:spPr>
            <a:xfrm flipH="1">
              <a:off x="4724394" y="1354176"/>
              <a:ext cx="914406" cy="688131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06952B77-F001-C018-1C0D-31B6EEF4FCB1}"/>
                </a:ext>
              </a:extLst>
            </p:cNvPr>
            <p:cNvSpPr/>
            <p:nvPr/>
          </p:nvSpPr>
          <p:spPr>
            <a:xfrm>
              <a:off x="4478214" y="4588281"/>
              <a:ext cx="2003549" cy="486508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D1BDCB54-5003-93B1-A4C4-6EF88F88DA0D}"/>
              </a:ext>
            </a:extLst>
          </p:cNvPr>
          <p:cNvGrpSpPr/>
          <p:nvPr/>
        </p:nvGrpSpPr>
        <p:grpSpPr>
          <a:xfrm>
            <a:off x="5638796" y="1354176"/>
            <a:ext cx="3110092" cy="3704332"/>
            <a:chOff x="5638796" y="1354176"/>
            <a:chExt cx="3110092" cy="3704332"/>
          </a:xfrm>
          <a:solidFill>
            <a:schemeClr val="bg1"/>
          </a:solidFill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E48EAF12-7508-7141-421B-EE0FF713936F}"/>
                </a:ext>
              </a:extLst>
            </p:cNvPr>
            <p:cNvSpPr/>
            <p:nvPr/>
          </p:nvSpPr>
          <p:spPr>
            <a:xfrm flipH="1">
              <a:off x="5638796" y="1354176"/>
              <a:ext cx="1172312" cy="688131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654F38A8-534A-428A-F60F-942A4712D62A}"/>
                </a:ext>
              </a:extLst>
            </p:cNvPr>
            <p:cNvSpPr/>
            <p:nvPr/>
          </p:nvSpPr>
          <p:spPr>
            <a:xfrm>
              <a:off x="6474069" y="4572000"/>
              <a:ext cx="2274819" cy="486508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846BCE23-D7FB-9FF0-A671-54A252556909}"/>
              </a:ext>
            </a:extLst>
          </p:cNvPr>
          <p:cNvGrpSpPr/>
          <p:nvPr/>
        </p:nvGrpSpPr>
        <p:grpSpPr>
          <a:xfrm>
            <a:off x="351693" y="1354176"/>
            <a:ext cx="11292250" cy="4143624"/>
            <a:chOff x="351693" y="1354176"/>
            <a:chExt cx="11292250" cy="4143624"/>
          </a:xfrm>
          <a:solidFill>
            <a:schemeClr val="bg1"/>
          </a:solidFill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328AAE4F-4E2B-B9F0-B49E-4B26AFBA403E}"/>
                </a:ext>
              </a:extLst>
            </p:cNvPr>
            <p:cNvSpPr/>
            <p:nvPr/>
          </p:nvSpPr>
          <p:spPr>
            <a:xfrm flipH="1">
              <a:off x="6811108" y="1354176"/>
              <a:ext cx="1172312" cy="688131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CEFB1E0E-D93C-419B-3800-113DB1C33B5F}"/>
                </a:ext>
              </a:extLst>
            </p:cNvPr>
            <p:cNvSpPr/>
            <p:nvPr/>
          </p:nvSpPr>
          <p:spPr>
            <a:xfrm>
              <a:off x="8743776" y="4572000"/>
              <a:ext cx="2900167" cy="486508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8354EBA2-44DE-8C71-C5F6-B8F22493A7C1}"/>
                </a:ext>
              </a:extLst>
            </p:cNvPr>
            <p:cNvSpPr/>
            <p:nvPr/>
          </p:nvSpPr>
          <p:spPr>
            <a:xfrm>
              <a:off x="351693" y="5011292"/>
              <a:ext cx="4062263" cy="486508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7BF297A-5132-A4EA-D4D7-221FC7DD5C4A}"/>
              </a:ext>
            </a:extLst>
          </p:cNvPr>
          <p:cNvGrpSpPr/>
          <p:nvPr/>
        </p:nvGrpSpPr>
        <p:grpSpPr>
          <a:xfrm>
            <a:off x="351693" y="609600"/>
            <a:ext cx="11183812" cy="3962401"/>
            <a:chOff x="351693" y="609600"/>
            <a:chExt cx="11183812" cy="3962401"/>
          </a:xfrm>
          <a:solidFill>
            <a:schemeClr val="bg1"/>
          </a:solidFill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148EE225-ED64-FA87-7B5E-A18A27D66C4F}"/>
                </a:ext>
              </a:extLst>
            </p:cNvPr>
            <p:cNvSpPr/>
            <p:nvPr/>
          </p:nvSpPr>
          <p:spPr>
            <a:xfrm flipH="1">
              <a:off x="4869934" y="609600"/>
              <a:ext cx="2128741" cy="688131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5CEF040B-542F-B3BB-2F79-69731D92DEA5}"/>
                </a:ext>
              </a:extLst>
            </p:cNvPr>
            <p:cNvSpPr/>
            <p:nvPr/>
          </p:nvSpPr>
          <p:spPr>
            <a:xfrm>
              <a:off x="351693" y="4085493"/>
              <a:ext cx="3352799" cy="486508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BAEA0D6A-E0D3-0260-9971-ACAF5AB86987}"/>
                </a:ext>
              </a:extLst>
            </p:cNvPr>
            <p:cNvSpPr/>
            <p:nvPr/>
          </p:nvSpPr>
          <p:spPr>
            <a:xfrm>
              <a:off x="9132711" y="3605497"/>
              <a:ext cx="2402794" cy="486508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86176315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E3A4713-B8EB-6406-AF91-68F4A46ECCFF}"/>
                  </a:ext>
                </a:extLst>
              </p:cNvPr>
              <p:cNvSpPr txBox="1"/>
              <p:nvPr/>
            </p:nvSpPr>
            <p:spPr>
              <a:xfrm>
                <a:off x="3344509" y="496711"/>
                <a:ext cx="5502980" cy="160204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4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GB" sz="4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𝑁𝑜𝑟𝑚𝑎𝑙</m:t>
                      </m:r>
                      <m:d>
                        <m:d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4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4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GB" sz="4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4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4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E3A4713-B8EB-6406-AF91-68F4A46ECC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509" y="496711"/>
                <a:ext cx="5502980" cy="160204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2AA4A08-3F53-DD9C-D467-F9D05294631B}"/>
                  </a:ext>
                </a:extLst>
              </p:cNvPr>
              <p:cNvSpPr txBox="1"/>
              <p:nvPr/>
            </p:nvSpPr>
            <p:spPr>
              <a:xfrm>
                <a:off x="304799" y="3612010"/>
                <a:ext cx="11582400" cy="18158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800" dirty="0">
                    <a:solidFill>
                      <a:schemeClr val="tx1"/>
                    </a:solidFill>
                  </a:rPr>
                  <a:t>Beaver density, at each site and year (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sz="2800" dirty="0">
                    <a:solidFill>
                      <a:schemeClr val="tx1"/>
                    </a:solidFill>
                  </a:rPr>
                  <a:t>), is “generated” according to a 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𝑁𝑜𝑟𝑚𝑎𝑙</m:t>
                    </m:r>
                  </m:oMath>
                </a14:m>
                <a:r>
                  <a:rPr lang="en-GB" sz="2800" dirty="0">
                    <a:solidFill>
                      <a:schemeClr val="tx1"/>
                    </a:solidFill>
                  </a:rPr>
                  <a:t> distribution, with an average and standard deviation. The average is determined by an intercept and the effect of an explanatory variable (called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GB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2800" dirty="0">
                    <a:solidFill>
                      <a:schemeClr val="tx1"/>
                    </a:solidFill>
                  </a:rPr>
                  <a:t> here)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2AA4A08-3F53-DD9C-D467-F9D0529463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799" y="3612010"/>
                <a:ext cx="11582400" cy="1815882"/>
              </a:xfrm>
              <a:prstGeom prst="rect">
                <a:avLst/>
              </a:prstGeom>
              <a:blipFill>
                <a:blip r:embed="rId3"/>
                <a:stretch>
                  <a:fillRect l="-1053" t="-4040" b="-841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3002E4-8B7D-91F4-E39B-8BB24F1339A4}"/>
                  </a:ext>
                </a:extLst>
              </p:cNvPr>
              <p:cNvSpPr txBox="1"/>
              <p:nvPr/>
            </p:nvSpPr>
            <p:spPr>
              <a:xfrm>
                <a:off x="7604873" y="1235375"/>
                <a:ext cx="2485232" cy="86337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8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GB" sz="4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GB" sz="4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en-GB" sz="4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48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3002E4-8B7D-91F4-E39B-8BB24F1339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4873" y="1235375"/>
                <a:ext cx="2485232" cy="86337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6482A8F1-9AD1-DD33-C46C-ADF4B5EFC5BD}"/>
              </a:ext>
            </a:extLst>
          </p:cNvPr>
          <p:cNvSpPr txBox="1"/>
          <p:nvPr/>
        </p:nvSpPr>
        <p:spPr>
          <a:xfrm>
            <a:off x="304799" y="5685556"/>
            <a:ext cx="99680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chemeClr val="tx1"/>
                </a:solidFill>
              </a:rPr>
              <a:t>To add more explanatory variables, we simply </a:t>
            </a:r>
            <a:r>
              <a:rPr lang="en-GB" sz="2800" dirty="0">
                <a:solidFill>
                  <a:srgbClr val="FFFF00"/>
                </a:solidFill>
              </a:rPr>
              <a:t>add them in</a:t>
            </a:r>
          </a:p>
        </p:txBody>
      </p:sp>
    </p:spTree>
    <p:extLst>
      <p:ext uri="{BB962C8B-B14F-4D97-AF65-F5344CB8AC3E}">
        <p14:creationId xmlns:p14="http://schemas.microsoft.com/office/powerpoint/2010/main" val="55695597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8F8AD-407D-64BC-1FFC-FF43FDCC3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Including additional explanatory variables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D7FA0B2-40F9-CBCB-FD15-AA856EBF841D}"/>
                  </a:ext>
                </a:extLst>
              </p:cNvPr>
              <p:cNvSpPr txBox="1"/>
              <p:nvPr/>
            </p:nvSpPr>
            <p:spPr>
              <a:xfrm>
                <a:off x="380043" y="2179714"/>
                <a:ext cx="5502981" cy="38180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4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GB" sz="4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𝑁𝑜𝑟𝑚𝑎𝑙</m:t>
                      </m:r>
                      <m:d>
                        <m:d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4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4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GB" sz="4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4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4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48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48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48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D7FA0B2-40F9-CBCB-FD15-AA856EBF84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043" y="2179714"/>
                <a:ext cx="5502981" cy="381803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C6E65FF8-0CB3-DF7A-24C0-579CB064D72D}"/>
              </a:ext>
            </a:extLst>
          </p:cNvPr>
          <p:cNvGrpSpPr/>
          <p:nvPr/>
        </p:nvGrpSpPr>
        <p:grpSpPr>
          <a:xfrm>
            <a:off x="7349875" y="2109100"/>
            <a:ext cx="3571464" cy="1917724"/>
            <a:chOff x="7349875" y="2109100"/>
            <a:chExt cx="3571464" cy="191772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C82090B-3DA0-2055-FEDC-8182BB958CD6}"/>
                </a:ext>
              </a:extLst>
            </p:cNvPr>
            <p:cNvSpPr txBox="1"/>
            <p:nvPr/>
          </p:nvSpPr>
          <p:spPr>
            <a:xfrm>
              <a:off x="9543617" y="3117960"/>
              <a:ext cx="1377722" cy="90886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Beaver </a:t>
              </a:r>
              <a:br>
                <a:rPr lang="en-GB" dirty="0"/>
              </a:br>
              <a:r>
                <a:rPr lang="en-GB" dirty="0"/>
                <a:t>density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6D968F-EBD8-A184-240B-B0141FFBC8B1}"/>
                </a:ext>
              </a:extLst>
            </p:cNvPr>
            <p:cNvCxnSpPr>
              <a:cxnSpLocks/>
              <a:stCxn id="9" idx="5"/>
              <a:endCxn id="7" idx="1"/>
            </p:cNvCxnSpPr>
            <p:nvPr/>
          </p:nvCxnSpPr>
          <p:spPr>
            <a:xfrm>
              <a:off x="8738498" y="2884864"/>
              <a:ext cx="1006882" cy="366196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0E03EED-0805-D896-9AA3-1032B917DB15}"/>
                </a:ext>
              </a:extLst>
            </p:cNvPr>
            <p:cNvSpPr txBox="1"/>
            <p:nvPr/>
          </p:nvSpPr>
          <p:spPr>
            <a:xfrm>
              <a:off x="7349875" y="2109100"/>
              <a:ext cx="1626873" cy="90886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dirty="0"/>
                <a:t>Wolf </a:t>
              </a:r>
              <a:br>
                <a:rPr lang="en-GB" dirty="0"/>
              </a:br>
              <a:r>
                <a:rPr lang="en-GB" dirty="0"/>
                <a:t>presence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442230EE-8EEB-A4D3-5307-463C995CF089}"/>
              </a:ext>
            </a:extLst>
          </p:cNvPr>
          <p:cNvGrpSpPr/>
          <p:nvPr/>
        </p:nvGrpSpPr>
        <p:grpSpPr>
          <a:xfrm>
            <a:off x="7349875" y="3893724"/>
            <a:ext cx="2395505" cy="1103871"/>
            <a:chOff x="7349875" y="3893724"/>
            <a:chExt cx="2395505" cy="1103871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5E14A46-F0FA-4119-C5AA-16EC80F1DB82}"/>
                </a:ext>
              </a:extLst>
            </p:cNvPr>
            <p:cNvSpPr txBox="1"/>
            <p:nvPr/>
          </p:nvSpPr>
          <p:spPr>
            <a:xfrm>
              <a:off x="7349875" y="4088731"/>
              <a:ext cx="1420551" cy="90886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Beaver</a:t>
              </a:r>
              <a:br>
                <a:rPr lang="en-GB" dirty="0"/>
              </a:br>
              <a:r>
                <a:rPr lang="en-GB" dirty="0"/>
                <a:t>survival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AD002D5E-8009-CED6-3466-F56869269436}"/>
                </a:ext>
              </a:extLst>
            </p:cNvPr>
            <p:cNvCxnSpPr>
              <a:cxnSpLocks/>
              <a:stCxn id="11" idx="7"/>
              <a:endCxn id="7" idx="3"/>
            </p:cNvCxnSpPr>
            <p:nvPr/>
          </p:nvCxnSpPr>
          <p:spPr>
            <a:xfrm flipV="1">
              <a:off x="8562391" y="3893724"/>
              <a:ext cx="1182989" cy="328107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3E4DA8C-C3C5-BD33-50ED-1D4FF4ABD2E0}"/>
              </a:ext>
            </a:extLst>
          </p:cNvPr>
          <p:cNvGrpSpPr/>
          <p:nvPr/>
        </p:nvGrpSpPr>
        <p:grpSpPr>
          <a:xfrm>
            <a:off x="9171688" y="4026824"/>
            <a:ext cx="2151067" cy="1619960"/>
            <a:chOff x="4655053" y="818511"/>
            <a:chExt cx="2151067" cy="161996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11DE231-F052-5EEC-F3AB-921670B2DCE5}"/>
                </a:ext>
              </a:extLst>
            </p:cNvPr>
            <p:cNvSpPr txBox="1"/>
            <p:nvPr/>
          </p:nvSpPr>
          <p:spPr>
            <a:xfrm>
              <a:off x="4655053" y="1529607"/>
              <a:ext cx="2151067" cy="90886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dirty="0"/>
                <a:t>Beaver</a:t>
              </a:r>
              <a:br>
                <a:rPr lang="en-GB" dirty="0"/>
              </a:br>
              <a:r>
                <a:rPr lang="en-GB" dirty="0"/>
                <a:t>reproduction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4F56A83-830B-6616-BA3D-B36DD3E0954F}"/>
                </a:ext>
              </a:extLst>
            </p:cNvPr>
            <p:cNvCxnSpPr>
              <a:cxnSpLocks/>
              <a:stCxn id="14" idx="0"/>
              <a:endCxn id="7" idx="4"/>
            </p:cNvCxnSpPr>
            <p:nvPr/>
          </p:nvCxnSpPr>
          <p:spPr>
            <a:xfrm flipH="1" flipV="1">
              <a:off x="5715843" y="818511"/>
              <a:ext cx="14744" cy="711096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BF9AE4F-CCFF-79D6-9A24-C58EE6305510}"/>
              </a:ext>
            </a:extLst>
          </p:cNvPr>
          <p:cNvGrpSpPr/>
          <p:nvPr/>
        </p:nvGrpSpPr>
        <p:grpSpPr>
          <a:xfrm>
            <a:off x="9365540" y="1333336"/>
            <a:ext cx="1733875" cy="1784624"/>
            <a:chOff x="9365540" y="1333336"/>
            <a:chExt cx="1733875" cy="1784624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0E9B21-807F-E7CF-C607-8854F675E52D}"/>
                </a:ext>
              </a:extLst>
            </p:cNvPr>
            <p:cNvSpPr txBox="1"/>
            <p:nvPr/>
          </p:nvSpPr>
          <p:spPr>
            <a:xfrm>
              <a:off x="9365540" y="1333336"/>
              <a:ext cx="1733875" cy="90886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Park</a:t>
              </a:r>
              <a:br>
                <a:rPr lang="en-GB" dirty="0"/>
              </a:br>
              <a:r>
                <a:rPr lang="en-GB" dirty="0"/>
                <a:t>protection</a:t>
              </a: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091E5B66-C14E-4955-649F-96F303ED0E0A}"/>
                </a:ext>
              </a:extLst>
            </p:cNvPr>
            <p:cNvCxnSpPr>
              <a:cxnSpLocks/>
              <a:stCxn id="17" idx="4"/>
              <a:endCxn id="7" idx="0"/>
            </p:cNvCxnSpPr>
            <p:nvPr/>
          </p:nvCxnSpPr>
          <p:spPr>
            <a:xfrm>
              <a:off x="10232478" y="2242200"/>
              <a:ext cx="0" cy="87576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451734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5BEDC3D-306D-39B5-10FE-18655A3D2027}"/>
              </a:ext>
            </a:extLst>
          </p:cNvPr>
          <p:cNvSpPr txBox="1"/>
          <p:nvPr/>
        </p:nvSpPr>
        <p:spPr>
          <a:xfrm>
            <a:off x="3993369" y="3117400"/>
            <a:ext cx="1339914" cy="908864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Elk </a:t>
            </a:r>
            <a:br>
              <a:rPr lang="en-GB" dirty="0"/>
            </a:br>
            <a:r>
              <a:rPr lang="en-GB" dirty="0"/>
              <a:t>density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F2A1D8-EC65-EE0B-490A-BB8A7ED0E765}"/>
              </a:ext>
            </a:extLst>
          </p:cNvPr>
          <p:cNvGrpSpPr/>
          <p:nvPr/>
        </p:nvGrpSpPr>
        <p:grpSpPr>
          <a:xfrm>
            <a:off x="5272065" y="848811"/>
            <a:ext cx="1865456" cy="1428199"/>
            <a:chOff x="-4118903" y="1971943"/>
            <a:chExt cx="1865456" cy="1428199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B11CD972-E415-4D25-E8B8-118E27B497C5}"/>
                </a:ext>
              </a:extLst>
            </p:cNvPr>
            <p:cNvSpPr txBox="1"/>
            <p:nvPr/>
          </p:nvSpPr>
          <p:spPr>
            <a:xfrm>
              <a:off x="-4118903" y="1971943"/>
              <a:ext cx="1292065" cy="90886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Human</a:t>
              </a:r>
              <a:br>
                <a:rPr lang="en-GB" dirty="0"/>
              </a:br>
              <a:r>
                <a:rPr lang="en-GB" dirty="0"/>
                <a:t>impact</a:t>
              </a: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7ADA557D-912E-7646-2C71-621CF7944B9D}"/>
                </a:ext>
              </a:extLst>
            </p:cNvPr>
            <p:cNvCxnSpPr>
              <a:cxnSpLocks/>
              <a:stCxn id="26" idx="4"/>
              <a:endCxn id="90" idx="1"/>
            </p:cNvCxnSpPr>
            <p:nvPr/>
          </p:nvCxnSpPr>
          <p:spPr>
            <a:xfrm>
              <a:off x="-3472870" y="2880807"/>
              <a:ext cx="1219423" cy="519335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ECD14BB4-A357-C5CC-D5D6-3DCEE76A152D}"/>
              </a:ext>
            </a:extLst>
          </p:cNvPr>
          <p:cNvGrpSpPr/>
          <p:nvPr/>
        </p:nvGrpSpPr>
        <p:grpSpPr>
          <a:xfrm>
            <a:off x="8067112" y="3117960"/>
            <a:ext cx="2854227" cy="908864"/>
            <a:chOff x="1858670" y="3431406"/>
            <a:chExt cx="2854227" cy="908864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979B8EA-8AB6-F056-0D00-3AFD170E4D48}"/>
                </a:ext>
              </a:extLst>
            </p:cNvPr>
            <p:cNvSpPr txBox="1"/>
            <p:nvPr/>
          </p:nvSpPr>
          <p:spPr>
            <a:xfrm>
              <a:off x="3335175" y="3431406"/>
              <a:ext cx="1377722" cy="90886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Beaver </a:t>
              </a:r>
              <a:br>
                <a:rPr lang="en-GB" dirty="0"/>
              </a:br>
              <a:r>
                <a:rPr lang="en-GB" dirty="0"/>
                <a:t>density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8E148381-3D69-9DDF-2816-2306031C1553}"/>
                </a:ext>
              </a:extLst>
            </p:cNvPr>
            <p:cNvCxnSpPr>
              <a:cxnSpLocks/>
              <a:stCxn id="18" idx="6"/>
              <a:endCxn id="22" idx="2"/>
            </p:cNvCxnSpPr>
            <p:nvPr/>
          </p:nvCxnSpPr>
          <p:spPr>
            <a:xfrm>
              <a:off x="1858670" y="3885278"/>
              <a:ext cx="1476505" cy="56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D0B875E2-1FB5-43B3-5356-32D5C31AA8E1}"/>
              </a:ext>
            </a:extLst>
          </p:cNvPr>
          <p:cNvGrpSpPr/>
          <p:nvPr/>
        </p:nvGrpSpPr>
        <p:grpSpPr>
          <a:xfrm>
            <a:off x="648070" y="3099456"/>
            <a:ext cx="3345299" cy="908864"/>
            <a:chOff x="4594491" y="2441536"/>
            <a:chExt cx="3345299" cy="908864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6A63636-0084-5D87-43FE-5BBBC6AC4ACA}"/>
                </a:ext>
              </a:extLst>
            </p:cNvPr>
            <p:cNvSpPr txBox="1"/>
            <p:nvPr/>
          </p:nvSpPr>
          <p:spPr>
            <a:xfrm>
              <a:off x="4594491" y="2441536"/>
              <a:ext cx="1626873" cy="90886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dirty="0"/>
                <a:t>Wolf </a:t>
              </a:r>
              <a:br>
                <a:rPr lang="en-GB" dirty="0"/>
              </a:br>
              <a:r>
                <a:rPr lang="en-GB" dirty="0"/>
                <a:t>presence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667E0CC4-CBFB-6D06-295B-64FBF24322EA}"/>
                </a:ext>
              </a:extLst>
            </p:cNvPr>
            <p:cNvCxnSpPr>
              <a:cxnSpLocks/>
              <a:stCxn id="20" idx="6"/>
              <a:endCxn id="3" idx="2"/>
            </p:cNvCxnSpPr>
            <p:nvPr/>
          </p:nvCxnSpPr>
          <p:spPr>
            <a:xfrm>
              <a:off x="6221364" y="2895968"/>
              <a:ext cx="1718426" cy="1794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D9DE592-4F76-9742-BDFE-349B8D72B2F8}"/>
              </a:ext>
            </a:extLst>
          </p:cNvPr>
          <p:cNvGrpSpPr/>
          <p:nvPr/>
        </p:nvGrpSpPr>
        <p:grpSpPr>
          <a:xfrm>
            <a:off x="5333283" y="3117400"/>
            <a:ext cx="2733829" cy="908864"/>
            <a:chOff x="3456393" y="2344168"/>
            <a:chExt cx="2733829" cy="908864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A417F96-1B77-BA96-0B55-9A6F07543A40}"/>
                </a:ext>
              </a:extLst>
            </p:cNvPr>
            <p:cNvSpPr txBox="1"/>
            <p:nvPr/>
          </p:nvSpPr>
          <p:spPr>
            <a:xfrm>
              <a:off x="4886887" y="2344168"/>
              <a:ext cx="1303335" cy="90886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Aspen </a:t>
              </a:r>
              <a:br>
                <a:rPr lang="en-GB" dirty="0"/>
              </a:br>
              <a:r>
                <a:rPr lang="en-GB" dirty="0"/>
                <a:t>density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B2A3F6F-CFA3-ECFC-B995-0CB3EA7C35FD}"/>
                </a:ext>
              </a:extLst>
            </p:cNvPr>
            <p:cNvCxnSpPr>
              <a:cxnSpLocks/>
              <a:stCxn id="3" idx="6"/>
              <a:endCxn id="18" idx="2"/>
            </p:cNvCxnSpPr>
            <p:nvPr/>
          </p:nvCxnSpPr>
          <p:spPr>
            <a:xfrm>
              <a:off x="3456393" y="2798600"/>
              <a:ext cx="1430494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1D02865E-363C-61CA-331F-00D07B2AA297}"/>
              </a:ext>
            </a:extLst>
          </p:cNvPr>
          <p:cNvGrpSpPr/>
          <p:nvPr/>
        </p:nvGrpSpPr>
        <p:grpSpPr>
          <a:xfrm>
            <a:off x="7349875" y="3893724"/>
            <a:ext cx="2395505" cy="888045"/>
            <a:chOff x="4080355" y="4193662"/>
            <a:chExt cx="2395505" cy="888045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CDB0BD9-2FC8-7876-4C43-0151402000AC}"/>
                </a:ext>
              </a:extLst>
            </p:cNvPr>
            <p:cNvSpPr txBox="1"/>
            <p:nvPr/>
          </p:nvSpPr>
          <p:spPr>
            <a:xfrm>
              <a:off x="4080355" y="4562356"/>
              <a:ext cx="1452109" cy="519351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Survival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3BDD8EB7-E285-6A24-FA11-09E3502A3B3D}"/>
                </a:ext>
              </a:extLst>
            </p:cNvPr>
            <p:cNvCxnSpPr>
              <a:cxnSpLocks/>
              <a:stCxn id="16" idx="7"/>
              <a:endCxn id="22" idx="3"/>
            </p:cNvCxnSpPr>
            <p:nvPr/>
          </p:nvCxnSpPr>
          <p:spPr>
            <a:xfrm flipV="1">
              <a:off x="5319808" y="4193662"/>
              <a:ext cx="1156052" cy="444751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43CDA970-266C-DB18-D94A-AB55106EA238}"/>
              </a:ext>
            </a:extLst>
          </p:cNvPr>
          <p:cNvGrpSpPr/>
          <p:nvPr/>
        </p:nvGrpSpPr>
        <p:grpSpPr>
          <a:xfrm>
            <a:off x="9134493" y="4026824"/>
            <a:ext cx="2195970" cy="1230447"/>
            <a:chOff x="4617858" y="818511"/>
            <a:chExt cx="2195970" cy="123044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C0B57CF-EA76-E80F-9523-E1F8B4681CBE}"/>
                </a:ext>
              </a:extLst>
            </p:cNvPr>
            <p:cNvSpPr txBox="1"/>
            <p:nvPr/>
          </p:nvSpPr>
          <p:spPr>
            <a:xfrm>
              <a:off x="4617858" y="1529607"/>
              <a:ext cx="2195970" cy="519351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Reproduction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A73EEDC-9932-AD7E-C137-2E39B9DFB4B9}"/>
                </a:ext>
              </a:extLst>
            </p:cNvPr>
            <p:cNvCxnSpPr>
              <a:cxnSpLocks/>
              <a:stCxn id="14" idx="0"/>
              <a:endCxn id="22" idx="4"/>
            </p:cNvCxnSpPr>
            <p:nvPr/>
          </p:nvCxnSpPr>
          <p:spPr>
            <a:xfrm flipV="1">
              <a:off x="5715843" y="818511"/>
              <a:ext cx="0" cy="711096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263DEBCC-ABFC-87FA-3F3F-9D47E3913587}"/>
              </a:ext>
            </a:extLst>
          </p:cNvPr>
          <p:cNvCxnSpPr>
            <a:cxnSpLocks/>
            <a:stCxn id="26" idx="4"/>
            <a:endCxn id="82" idx="7"/>
          </p:cNvCxnSpPr>
          <p:nvPr/>
        </p:nvCxnSpPr>
        <p:spPr>
          <a:xfrm flipH="1">
            <a:off x="4804375" y="1757675"/>
            <a:ext cx="1113723" cy="51933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E5A97DFD-6AE3-8D86-2DDF-0DEAFDE6E3AC}"/>
              </a:ext>
            </a:extLst>
          </p:cNvPr>
          <p:cNvSpPr txBox="1"/>
          <p:nvPr/>
        </p:nvSpPr>
        <p:spPr>
          <a:xfrm>
            <a:off x="3095463" y="2200953"/>
            <a:ext cx="2002115" cy="519351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Persecution</a:t>
            </a: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275C00EE-202C-985B-4E69-9E9077606388}"/>
              </a:ext>
            </a:extLst>
          </p:cNvPr>
          <p:cNvCxnSpPr>
            <a:cxnSpLocks/>
            <a:stCxn id="82" idx="3"/>
            <a:endCxn id="20" idx="7"/>
          </p:cNvCxnSpPr>
          <p:nvPr/>
        </p:nvCxnSpPr>
        <p:spPr>
          <a:xfrm flipH="1">
            <a:off x="2036693" y="2644247"/>
            <a:ext cx="1351973" cy="58830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C9AAAC09-F936-2EA3-BC20-6274FB3912C2}"/>
              </a:ext>
            </a:extLst>
          </p:cNvPr>
          <p:cNvSpPr txBox="1"/>
          <p:nvPr/>
        </p:nvSpPr>
        <p:spPr>
          <a:xfrm>
            <a:off x="6934768" y="2200953"/>
            <a:ext cx="1384485" cy="519351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Hunting</a:t>
            </a:r>
          </a:p>
        </p:txBody>
      </p: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6F770718-EEEA-67A5-DDDF-B4A86346B79C}"/>
              </a:ext>
            </a:extLst>
          </p:cNvPr>
          <p:cNvCxnSpPr>
            <a:cxnSpLocks/>
            <a:stCxn id="90" idx="5"/>
            <a:endCxn id="22" idx="1"/>
          </p:cNvCxnSpPr>
          <p:nvPr/>
        </p:nvCxnSpPr>
        <p:spPr>
          <a:xfrm>
            <a:off x="8116500" y="2644247"/>
            <a:ext cx="1628880" cy="60681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65792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5BEDC3D-306D-39B5-10FE-18655A3D2027}"/>
              </a:ext>
            </a:extLst>
          </p:cNvPr>
          <p:cNvSpPr txBox="1"/>
          <p:nvPr/>
        </p:nvSpPr>
        <p:spPr>
          <a:xfrm>
            <a:off x="4099901" y="4218231"/>
            <a:ext cx="1339914" cy="908864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Elk </a:t>
            </a:r>
            <a:br>
              <a:rPr lang="en-GB" dirty="0"/>
            </a:br>
            <a:r>
              <a:rPr lang="en-GB" dirty="0"/>
              <a:t>density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11CD972-E415-4D25-E8B8-118E27B497C5}"/>
              </a:ext>
            </a:extLst>
          </p:cNvPr>
          <p:cNvSpPr txBox="1"/>
          <p:nvPr/>
        </p:nvSpPr>
        <p:spPr>
          <a:xfrm>
            <a:off x="5378597" y="1949642"/>
            <a:ext cx="1292065" cy="908864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Human</a:t>
            </a:r>
            <a:br>
              <a:rPr lang="en-GB" dirty="0"/>
            </a:br>
            <a:r>
              <a:rPr lang="en-GB" dirty="0"/>
              <a:t>impact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ADA557D-912E-7646-2C71-621CF7944B9D}"/>
              </a:ext>
            </a:extLst>
          </p:cNvPr>
          <p:cNvCxnSpPr>
            <a:cxnSpLocks/>
            <a:stCxn id="26" idx="4"/>
            <a:endCxn id="90" idx="1"/>
          </p:cNvCxnSpPr>
          <p:nvPr/>
        </p:nvCxnSpPr>
        <p:spPr>
          <a:xfrm>
            <a:off x="6024630" y="2858506"/>
            <a:ext cx="1219423" cy="51933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979B8EA-8AB6-F056-0D00-3AFD170E4D48}"/>
              </a:ext>
            </a:extLst>
          </p:cNvPr>
          <p:cNvSpPr txBox="1"/>
          <p:nvPr/>
        </p:nvSpPr>
        <p:spPr>
          <a:xfrm>
            <a:off x="9650149" y="4218791"/>
            <a:ext cx="1377722" cy="908864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Beaver </a:t>
            </a:r>
            <a:br>
              <a:rPr lang="en-GB" dirty="0"/>
            </a:br>
            <a:r>
              <a:rPr lang="en-GB" dirty="0"/>
              <a:t>density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E148381-3D69-9DDF-2816-2306031C1553}"/>
              </a:ext>
            </a:extLst>
          </p:cNvPr>
          <p:cNvCxnSpPr>
            <a:cxnSpLocks/>
            <a:stCxn id="18" idx="6"/>
            <a:endCxn id="22" idx="2"/>
          </p:cNvCxnSpPr>
          <p:nvPr/>
        </p:nvCxnSpPr>
        <p:spPr>
          <a:xfrm>
            <a:off x="8173644" y="4672663"/>
            <a:ext cx="1476505" cy="56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6A63636-0084-5D87-43FE-5BBBC6AC4ACA}"/>
              </a:ext>
            </a:extLst>
          </p:cNvPr>
          <p:cNvSpPr txBox="1"/>
          <p:nvPr/>
        </p:nvSpPr>
        <p:spPr>
          <a:xfrm>
            <a:off x="754602" y="4200287"/>
            <a:ext cx="1626873" cy="908864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Wolf </a:t>
            </a:r>
            <a:br>
              <a:rPr lang="en-GB" dirty="0"/>
            </a:br>
            <a:r>
              <a:rPr lang="en-GB" dirty="0"/>
              <a:t>presence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67E0CC4-CBFB-6D06-295B-64FBF24322EA}"/>
              </a:ext>
            </a:extLst>
          </p:cNvPr>
          <p:cNvCxnSpPr>
            <a:cxnSpLocks/>
            <a:stCxn id="20" idx="6"/>
            <a:endCxn id="3" idx="2"/>
          </p:cNvCxnSpPr>
          <p:nvPr/>
        </p:nvCxnSpPr>
        <p:spPr>
          <a:xfrm>
            <a:off x="2381475" y="4654719"/>
            <a:ext cx="1718426" cy="1794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A417F96-1B77-BA96-0B55-9A6F07543A40}"/>
              </a:ext>
            </a:extLst>
          </p:cNvPr>
          <p:cNvSpPr txBox="1"/>
          <p:nvPr/>
        </p:nvSpPr>
        <p:spPr>
          <a:xfrm>
            <a:off x="6870309" y="4218231"/>
            <a:ext cx="1303335" cy="908864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Aspen </a:t>
            </a:r>
            <a:br>
              <a:rPr lang="en-GB" dirty="0"/>
            </a:br>
            <a:r>
              <a:rPr lang="en-GB" dirty="0"/>
              <a:t>density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B2A3F6F-CFA3-ECFC-B995-0CB3EA7C35FD}"/>
              </a:ext>
            </a:extLst>
          </p:cNvPr>
          <p:cNvCxnSpPr>
            <a:cxnSpLocks/>
            <a:stCxn id="3" idx="6"/>
            <a:endCxn id="18" idx="2"/>
          </p:cNvCxnSpPr>
          <p:nvPr/>
        </p:nvCxnSpPr>
        <p:spPr>
          <a:xfrm>
            <a:off x="5439815" y="4672663"/>
            <a:ext cx="143049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3CDB0BD9-2FC8-7876-4C43-0151402000AC}"/>
              </a:ext>
            </a:extLst>
          </p:cNvPr>
          <p:cNvSpPr txBox="1"/>
          <p:nvPr/>
        </p:nvSpPr>
        <p:spPr>
          <a:xfrm>
            <a:off x="7456407" y="5363249"/>
            <a:ext cx="1452109" cy="519351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Survival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BDD8EB7-E285-6A24-FA11-09E3502A3B3D}"/>
              </a:ext>
            </a:extLst>
          </p:cNvPr>
          <p:cNvCxnSpPr>
            <a:cxnSpLocks/>
            <a:stCxn id="16" idx="7"/>
            <a:endCxn id="22" idx="3"/>
          </p:cNvCxnSpPr>
          <p:nvPr/>
        </p:nvCxnSpPr>
        <p:spPr>
          <a:xfrm flipV="1">
            <a:off x="8695860" y="4994555"/>
            <a:ext cx="1156052" cy="44475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C0B57CF-EA76-E80F-9523-E1F8B4681CBE}"/>
              </a:ext>
            </a:extLst>
          </p:cNvPr>
          <p:cNvSpPr txBox="1"/>
          <p:nvPr/>
        </p:nvSpPr>
        <p:spPr>
          <a:xfrm>
            <a:off x="9241025" y="5838751"/>
            <a:ext cx="2195970" cy="519351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Reproduction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A73EEDC-9932-AD7E-C137-2E39B9DFB4B9}"/>
              </a:ext>
            </a:extLst>
          </p:cNvPr>
          <p:cNvCxnSpPr>
            <a:cxnSpLocks/>
            <a:stCxn id="14" idx="0"/>
            <a:endCxn id="22" idx="4"/>
          </p:cNvCxnSpPr>
          <p:nvPr/>
        </p:nvCxnSpPr>
        <p:spPr>
          <a:xfrm flipV="1">
            <a:off x="10339010" y="5127655"/>
            <a:ext cx="0" cy="71109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263DEBCC-ABFC-87FA-3F3F-9D47E3913587}"/>
              </a:ext>
            </a:extLst>
          </p:cNvPr>
          <p:cNvCxnSpPr>
            <a:cxnSpLocks/>
            <a:stCxn id="26" idx="4"/>
            <a:endCxn id="82" idx="7"/>
          </p:cNvCxnSpPr>
          <p:nvPr/>
        </p:nvCxnSpPr>
        <p:spPr>
          <a:xfrm flipH="1">
            <a:off x="4910907" y="2858506"/>
            <a:ext cx="1113723" cy="51933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E5A97DFD-6AE3-8D86-2DDF-0DEAFDE6E3AC}"/>
              </a:ext>
            </a:extLst>
          </p:cNvPr>
          <p:cNvSpPr txBox="1"/>
          <p:nvPr/>
        </p:nvSpPr>
        <p:spPr>
          <a:xfrm>
            <a:off x="3201995" y="3301784"/>
            <a:ext cx="2002115" cy="519351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Persecution</a:t>
            </a: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275C00EE-202C-985B-4E69-9E9077606388}"/>
              </a:ext>
            </a:extLst>
          </p:cNvPr>
          <p:cNvCxnSpPr>
            <a:cxnSpLocks/>
            <a:stCxn id="82" idx="3"/>
            <a:endCxn id="20" idx="7"/>
          </p:cNvCxnSpPr>
          <p:nvPr/>
        </p:nvCxnSpPr>
        <p:spPr>
          <a:xfrm flipH="1">
            <a:off x="2143225" y="3745078"/>
            <a:ext cx="1351973" cy="58830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C9AAAC09-F936-2EA3-BC20-6274FB3912C2}"/>
              </a:ext>
            </a:extLst>
          </p:cNvPr>
          <p:cNvSpPr txBox="1"/>
          <p:nvPr/>
        </p:nvSpPr>
        <p:spPr>
          <a:xfrm>
            <a:off x="7041300" y="3301784"/>
            <a:ext cx="1384485" cy="519351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Hunting</a:t>
            </a:r>
          </a:p>
        </p:txBody>
      </p: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6F770718-EEEA-67A5-DDDF-B4A86346B79C}"/>
              </a:ext>
            </a:extLst>
          </p:cNvPr>
          <p:cNvCxnSpPr>
            <a:cxnSpLocks/>
            <a:stCxn id="90" idx="5"/>
            <a:endCxn id="22" idx="1"/>
          </p:cNvCxnSpPr>
          <p:nvPr/>
        </p:nvCxnSpPr>
        <p:spPr>
          <a:xfrm>
            <a:off x="8223032" y="3745078"/>
            <a:ext cx="1628880" cy="60681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ED0744A-CE2B-0DA9-8612-D332C2509B5E}"/>
              </a:ext>
            </a:extLst>
          </p:cNvPr>
          <p:cNvSpPr txBox="1"/>
          <p:nvPr/>
        </p:nvSpPr>
        <p:spPr>
          <a:xfrm>
            <a:off x="5439815" y="531568"/>
            <a:ext cx="1163581" cy="908864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Park</a:t>
            </a:r>
            <a:br>
              <a:rPr lang="en-GB" dirty="0"/>
            </a:br>
            <a:r>
              <a:rPr lang="en-GB" dirty="0"/>
              <a:t>status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FF4CC03-4393-DF19-48F4-B9143AD2B24C}"/>
              </a:ext>
            </a:extLst>
          </p:cNvPr>
          <p:cNvCxnSpPr>
            <a:cxnSpLocks/>
            <a:stCxn id="2" idx="4"/>
            <a:endCxn id="26" idx="0"/>
          </p:cNvCxnSpPr>
          <p:nvPr/>
        </p:nvCxnSpPr>
        <p:spPr>
          <a:xfrm>
            <a:off x="6021606" y="1440432"/>
            <a:ext cx="3024" cy="50921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939935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sbs_templat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Bahnschrift Light">
      <a:majorFont>
        <a:latin typeface="Bahnschrift Light"/>
        <a:ea typeface=""/>
        <a:cs typeface=""/>
      </a:majorFont>
      <a:minorFont>
        <a:latin typeface="Bahnschrif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bs_slide_template.potx" id="{ECECA26D-C7D9-428D-8AE3-0DEBE87A348A}" vid="{A052F16A-C2E7-4086-BA7D-A0C2C9C1F83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sbs_template</Template>
  <TotalTime>408</TotalTime>
  <Words>597</Words>
  <Application>Microsoft Office PowerPoint</Application>
  <PresentationFormat>Widescreen</PresentationFormat>
  <Paragraphs>113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Arial</vt:lpstr>
      <vt:lpstr>Bahnschrift Light</vt:lpstr>
      <vt:lpstr>Cambria Math</vt:lpstr>
      <vt:lpstr>Courier New</vt:lpstr>
      <vt:lpstr>sbs_template</vt:lpstr>
      <vt:lpstr>Linear modelling theory</vt:lpstr>
      <vt:lpstr>Complexity of the real world</vt:lpstr>
      <vt:lpstr>Complexity of the real world</vt:lpstr>
      <vt:lpstr>Complexity of the real world</vt:lpstr>
      <vt:lpstr>How do we capture the Data Generating Process?</vt:lpstr>
      <vt:lpstr>The question</vt:lpstr>
      <vt:lpstr>Trophic cascades</vt:lpstr>
      <vt:lpstr>The question</vt:lpstr>
      <vt:lpstr>Test hypothesis with lm()</vt:lpstr>
      <vt:lpstr>Complex worlds</vt:lpstr>
      <vt:lpstr>Incorporate complexity</vt:lpstr>
      <vt:lpstr>PowerPoint Presentation</vt:lpstr>
      <vt:lpstr>PowerPoint Presentation</vt:lpstr>
      <vt:lpstr>Including additional explanatory variables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Roos, Deon</dc:creator>
  <cp:lastModifiedBy>Deon Roos</cp:lastModifiedBy>
  <cp:revision>2</cp:revision>
  <dcterms:created xsi:type="dcterms:W3CDTF">2024-07-25T08:53:58Z</dcterms:created>
  <dcterms:modified xsi:type="dcterms:W3CDTF">2024-07-25T15:42:51Z</dcterms:modified>
</cp:coreProperties>
</file>