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59" r:id="rId3"/>
    <p:sldId id="260" r:id="rId4"/>
    <p:sldId id="261" r:id="rId5"/>
    <p:sldId id="262" r:id="rId6"/>
    <p:sldId id="304" r:id="rId7"/>
    <p:sldId id="263" r:id="rId8"/>
    <p:sldId id="266" r:id="rId9"/>
    <p:sldId id="269" r:id="rId10"/>
    <p:sldId id="305" r:id="rId11"/>
    <p:sldId id="270" r:id="rId12"/>
    <p:sldId id="271" r:id="rId13"/>
    <p:sldId id="273" r:id="rId14"/>
    <p:sldId id="274" r:id="rId15"/>
    <p:sldId id="275" r:id="rId16"/>
    <p:sldId id="277" r:id="rId17"/>
    <p:sldId id="278" r:id="rId18"/>
    <p:sldId id="279" r:id="rId19"/>
    <p:sldId id="282" r:id="rId20"/>
    <p:sldId id="281" r:id="rId21"/>
    <p:sldId id="303" r:id="rId22"/>
    <p:sldId id="276" r:id="rId23"/>
    <p:sldId id="283" r:id="rId24"/>
    <p:sldId id="284" r:id="rId25"/>
    <p:sldId id="285" r:id="rId26"/>
    <p:sldId id="286" r:id="rId27"/>
    <p:sldId id="287" r:id="rId28"/>
    <p:sldId id="30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66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337" autoAdjust="0"/>
  </p:normalViewPr>
  <p:slideViewPr>
    <p:cSldViewPr snapToGrid="0">
      <p:cViewPr>
        <p:scale>
          <a:sx n="75" d="100"/>
          <a:sy n="75" d="100"/>
        </p:scale>
        <p:origin x="139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D67F2-B597-4919-9998-0ACE37D1E2C1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5DA6E4-182F-46B6-AB3C-545FE5BE7A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1884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5DA6E4-182F-46B6-AB3C-545FE5BE7AD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227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9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6294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7538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4788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AF10-6734-4981-94E2-61501008211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4339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AF10-6734-4981-94E2-61501008211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284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AF10-6734-4981-94E2-61501008211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807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AF10-6734-4981-94E2-61501008211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942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AF10-6734-4981-94E2-61501008211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39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AF10-6734-4981-94E2-61501008211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33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AF10-6734-4981-94E2-61501008211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352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F93D6-9E21-7B3E-369B-F776AC9D6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E903A-8350-2751-8571-271808406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54915-DF13-4608-CDBA-01CE7C551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AF10-6734-4981-94E2-61501008211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16B72-A20C-13B6-8AFF-74633C9F2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DD46D-D6DE-8C56-D8AD-3480136DD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2651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5CAF10-6734-4981-94E2-61501008211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B8E74C-A18C-49FA-BDAE-72F5B33F46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6341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41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ps.gov/articles/the-big-scientific-debate-trophic-cascades.htm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5FBE4-486C-0837-6D87-D322C8E110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Linear modelling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A1131-0C94-A546-BDC6-575B1531AC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With multiple explanatory variables</a:t>
            </a:r>
          </a:p>
        </p:txBody>
      </p:sp>
    </p:spTree>
    <p:extLst>
      <p:ext uri="{BB962C8B-B14F-4D97-AF65-F5344CB8AC3E}">
        <p14:creationId xmlns:p14="http://schemas.microsoft.com/office/powerpoint/2010/main" val="729582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81271-AEA9-485F-D88D-EF6BEA7B0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Complexity of the real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50642-B669-C0CF-143D-CAE5DD3D4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719741"/>
            <a:ext cx="6201295" cy="2947066"/>
          </a:xfrm>
        </p:spPr>
        <p:txBody>
          <a:bodyPr>
            <a:normAutofit/>
          </a:bodyPr>
          <a:lstStyle/>
          <a:p>
            <a:r>
              <a:rPr lang="en-GB" dirty="0"/>
              <a:t>So far we’ve considered single explanatory variables</a:t>
            </a:r>
          </a:p>
          <a:p>
            <a:r>
              <a:rPr lang="en-GB" dirty="0"/>
              <a:t>Continuous and Categorical</a:t>
            </a:r>
          </a:p>
          <a:p>
            <a:r>
              <a:rPr lang="en-GB" dirty="0"/>
              <a:t>Is this enough to understand the world?</a:t>
            </a:r>
          </a:p>
        </p:txBody>
      </p:sp>
      <p:pic>
        <p:nvPicPr>
          <p:cNvPr id="7" name="Picture Placeholder 8" descr="A ram standing on a rock&#10;&#10;Description automatically generated">
            <a:extLst>
              <a:ext uri="{FF2B5EF4-FFF2-40B4-BE49-F238E27FC236}">
                <a16:creationId xmlns:a16="http://schemas.microsoft.com/office/drawing/2014/main" id="{95CB87D5-807B-49F8-A741-E0CBCC96979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79" r="17079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F00B3CF-2535-C6CA-F471-4D5E4924A2D8}"/>
              </a:ext>
            </a:extLst>
          </p:cNvPr>
          <p:cNvGrpSpPr/>
          <p:nvPr/>
        </p:nvGrpSpPr>
        <p:grpSpPr>
          <a:xfrm>
            <a:off x="1447522" y="2787764"/>
            <a:ext cx="3600910" cy="908864"/>
            <a:chOff x="1447522" y="2229395"/>
            <a:chExt cx="3600910" cy="90886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5A0392E-0D10-5851-9601-55B467A577BF}"/>
                </a:ext>
              </a:extLst>
            </p:cNvPr>
            <p:cNvSpPr txBox="1"/>
            <p:nvPr/>
          </p:nvSpPr>
          <p:spPr>
            <a:xfrm>
              <a:off x="3878090" y="2229395"/>
              <a:ext cx="1170342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Horn </a:t>
              </a:r>
              <a:br>
                <a:rPr lang="en-GB" dirty="0"/>
              </a:br>
              <a:r>
                <a:rPr lang="en-GB" dirty="0"/>
                <a:t>length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C8F5320-0A96-53A9-1796-6A0EAB7B1D36}"/>
                </a:ext>
              </a:extLst>
            </p:cNvPr>
            <p:cNvGrpSpPr/>
            <p:nvPr/>
          </p:nvGrpSpPr>
          <p:grpSpPr>
            <a:xfrm>
              <a:off x="1447522" y="2424151"/>
              <a:ext cx="2430568" cy="519351"/>
              <a:chOff x="275208" y="2618909"/>
              <a:chExt cx="2430568" cy="519351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9CB180-D5A3-9B7D-A366-F03DEF6F8DBF}"/>
                  </a:ext>
                </a:extLst>
              </p:cNvPr>
              <p:cNvSpPr txBox="1"/>
              <p:nvPr/>
            </p:nvSpPr>
            <p:spPr>
              <a:xfrm>
                <a:off x="275208" y="2618909"/>
                <a:ext cx="1258254" cy="51935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/>
                  <a:t>Region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5912F080-7A6B-CDA9-4925-922389AAD7D4}"/>
                  </a:ext>
                </a:extLst>
              </p:cNvPr>
              <p:cNvCxnSpPr>
                <a:cxnSpLocks/>
                <a:stCxn id="6" idx="6"/>
                <a:endCxn id="5" idx="2"/>
              </p:cNvCxnSpPr>
              <p:nvPr/>
            </p:nvCxnSpPr>
            <p:spPr>
              <a:xfrm>
                <a:off x="1533462" y="2878585"/>
                <a:ext cx="1172314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A878032-7BE1-D483-262D-9B5DD018C81A}"/>
              </a:ext>
            </a:extLst>
          </p:cNvPr>
          <p:cNvGrpSpPr/>
          <p:nvPr/>
        </p:nvGrpSpPr>
        <p:grpSpPr>
          <a:xfrm>
            <a:off x="1447522" y="1679690"/>
            <a:ext cx="3594149" cy="914805"/>
            <a:chOff x="1599922" y="2375854"/>
            <a:chExt cx="3594149" cy="91480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37F0F6B-1DDD-D1E5-60C2-F78803CA8273}"/>
                </a:ext>
              </a:extLst>
            </p:cNvPr>
            <p:cNvSpPr txBox="1"/>
            <p:nvPr/>
          </p:nvSpPr>
          <p:spPr>
            <a:xfrm>
              <a:off x="4037254" y="2381795"/>
              <a:ext cx="1156817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Tawny</a:t>
              </a:r>
            </a:p>
            <a:p>
              <a:pPr algn="ctr"/>
              <a:r>
                <a:rPr lang="en-GB" dirty="0"/>
                <a:t>owl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5A60E41-25FD-66E5-F148-24631113ED64}"/>
                </a:ext>
              </a:extLst>
            </p:cNvPr>
            <p:cNvGrpSpPr/>
            <p:nvPr/>
          </p:nvGrpSpPr>
          <p:grpSpPr>
            <a:xfrm>
              <a:off x="1599922" y="2375854"/>
              <a:ext cx="2437332" cy="908864"/>
              <a:chOff x="275208" y="2418212"/>
              <a:chExt cx="2437332" cy="908864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2D9BAF-55B2-780E-CA6B-D7E249D7933A}"/>
                  </a:ext>
                </a:extLst>
              </p:cNvPr>
              <p:cNvSpPr txBox="1"/>
              <p:nvPr/>
            </p:nvSpPr>
            <p:spPr>
              <a:xfrm>
                <a:off x="275208" y="2418212"/>
                <a:ext cx="1307845" cy="90886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/>
                  <a:t>Pine</a:t>
                </a:r>
                <a:br>
                  <a:rPr lang="en-GB" dirty="0"/>
                </a:br>
                <a:r>
                  <a:rPr lang="en-GB" dirty="0"/>
                  <a:t>marten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ADF14E99-4A99-06C0-4B69-36D3DF1DE331}"/>
                  </a:ext>
                </a:extLst>
              </p:cNvPr>
              <p:cNvCxnSpPr>
                <a:cxnSpLocks/>
                <a:stCxn id="16" idx="6"/>
                <a:endCxn id="12" idx="2"/>
              </p:cNvCxnSpPr>
              <p:nvPr/>
            </p:nvCxnSpPr>
            <p:spPr>
              <a:xfrm>
                <a:off x="1583053" y="2872644"/>
                <a:ext cx="1129487" cy="594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5927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81271-AEA9-485F-D88D-EF6BEA7B0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Complexity of the real world</a:t>
            </a:r>
          </a:p>
        </p:txBody>
      </p:sp>
      <p:pic>
        <p:nvPicPr>
          <p:cNvPr id="7" name="Picture Placeholder 8" descr="A ram standing on a rock&#10;&#10;Description automatically generated">
            <a:extLst>
              <a:ext uri="{FF2B5EF4-FFF2-40B4-BE49-F238E27FC236}">
                <a16:creationId xmlns:a16="http://schemas.microsoft.com/office/drawing/2014/main" id="{95CB87D5-807B-49F8-A741-E0CBCC96979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79" r="17079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A0392E-0D10-5851-9601-55B467A577BF}"/>
              </a:ext>
            </a:extLst>
          </p:cNvPr>
          <p:cNvSpPr txBox="1"/>
          <p:nvPr/>
        </p:nvSpPr>
        <p:spPr>
          <a:xfrm>
            <a:off x="2682181" y="3240898"/>
            <a:ext cx="1170342" cy="90886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Horn </a:t>
            </a:r>
            <a:br>
              <a:rPr lang="en-GB" dirty="0"/>
            </a:br>
            <a:r>
              <a:rPr lang="en-GB" dirty="0"/>
              <a:t>length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C8F5320-0A96-53A9-1796-6A0EAB7B1D36}"/>
              </a:ext>
            </a:extLst>
          </p:cNvPr>
          <p:cNvGrpSpPr/>
          <p:nvPr/>
        </p:nvGrpSpPr>
        <p:grpSpPr>
          <a:xfrm>
            <a:off x="251613" y="3435654"/>
            <a:ext cx="2430568" cy="519351"/>
            <a:chOff x="275208" y="2618909"/>
            <a:chExt cx="2430568" cy="51935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49CB180-D5A3-9B7D-A366-F03DEF6F8DBF}"/>
                </a:ext>
              </a:extLst>
            </p:cNvPr>
            <p:cNvSpPr txBox="1"/>
            <p:nvPr/>
          </p:nvSpPr>
          <p:spPr>
            <a:xfrm>
              <a:off x="275208" y="2618909"/>
              <a:ext cx="1258254" cy="51935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Region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912F080-7A6B-CDA9-4925-922389AAD7D4}"/>
                </a:ext>
              </a:extLst>
            </p:cNvPr>
            <p:cNvCxnSpPr>
              <a:cxnSpLocks/>
              <a:stCxn id="6" idx="6"/>
              <a:endCxn id="5" idx="2"/>
            </p:cNvCxnSpPr>
            <p:nvPr/>
          </p:nvCxnSpPr>
          <p:spPr>
            <a:xfrm>
              <a:off x="1533462" y="2878585"/>
              <a:ext cx="117231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9C246CA-7869-0F8C-BBB6-495EA1604164}"/>
              </a:ext>
            </a:extLst>
          </p:cNvPr>
          <p:cNvGrpSpPr/>
          <p:nvPr/>
        </p:nvGrpSpPr>
        <p:grpSpPr>
          <a:xfrm>
            <a:off x="3852523" y="3435653"/>
            <a:ext cx="2267072" cy="519351"/>
            <a:chOff x="3852523" y="2618908"/>
            <a:chExt cx="2267072" cy="51935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98B555E-665B-90AD-B924-D986E72DB40B}"/>
                </a:ext>
              </a:extLst>
            </p:cNvPr>
            <p:cNvSpPr txBox="1"/>
            <p:nvPr/>
          </p:nvSpPr>
          <p:spPr>
            <a:xfrm>
              <a:off x="4883882" y="2618908"/>
              <a:ext cx="1235713" cy="51935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Cohort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6A92C88-CB22-EC83-AE86-AB6A96B526AF}"/>
                </a:ext>
              </a:extLst>
            </p:cNvPr>
            <p:cNvCxnSpPr>
              <a:cxnSpLocks/>
              <a:stCxn id="9" idx="2"/>
              <a:endCxn id="5" idx="6"/>
            </p:cNvCxnSpPr>
            <p:nvPr/>
          </p:nvCxnSpPr>
          <p:spPr>
            <a:xfrm flipH="1">
              <a:off x="3852523" y="2878584"/>
              <a:ext cx="1031359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94C60B8-0D53-4233-916F-54B00DC3CB88}"/>
              </a:ext>
            </a:extLst>
          </p:cNvPr>
          <p:cNvGrpSpPr/>
          <p:nvPr/>
        </p:nvGrpSpPr>
        <p:grpSpPr>
          <a:xfrm>
            <a:off x="3681130" y="2279883"/>
            <a:ext cx="2291104" cy="1094115"/>
            <a:chOff x="3968249" y="2618908"/>
            <a:chExt cx="2291104" cy="109411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0406DEB-4995-D6F7-0CFC-40C2DFFEAF04}"/>
                </a:ext>
              </a:extLst>
            </p:cNvPr>
            <p:cNvSpPr txBox="1"/>
            <p:nvPr/>
          </p:nvSpPr>
          <p:spPr>
            <a:xfrm>
              <a:off x="4744129" y="2618908"/>
              <a:ext cx="1515224" cy="51935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Genetics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13042B4-F028-E8BD-9F0F-F5AB9E51201E}"/>
                </a:ext>
              </a:extLst>
            </p:cNvPr>
            <p:cNvCxnSpPr>
              <a:cxnSpLocks/>
              <a:stCxn id="20" idx="3"/>
              <a:endCxn id="5" idx="7"/>
            </p:cNvCxnSpPr>
            <p:nvPr/>
          </p:nvCxnSpPr>
          <p:spPr>
            <a:xfrm flipH="1">
              <a:off x="3968249" y="3062202"/>
              <a:ext cx="997779" cy="65082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F126029-CD88-C2AF-FD6B-078D3EB7CA18}"/>
              </a:ext>
            </a:extLst>
          </p:cNvPr>
          <p:cNvGrpSpPr/>
          <p:nvPr/>
        </p:nvGrpSpPr>
        <p:grpSpPr>
          <a:xfrm>
            <a:off x="2478182" y="1747764"/>
            <a:ext cx="1578340" cy="1493134"/>
            <a:chOff x="4667816" y="2441536"/>
            <a:chExt cx="1578340" cy="149313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C51D050-542E-B30F-10BB-B2CE40C4614F}"/>
                </a:ext>
              </a:extLst>
            </p:cNvPr>
            <p:cNvSpPr txBox="1"/>
            <p:nvPr/>
          </p:nvSpPr>
          <p:spPr>
            <a:xfrm>
              <a:off x="4667816" y="2441536"/>
              <a:ext cx="1578340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Mother’s</a:t>
              </a:r>
              <a:br>
                <a:rPr lang="en-GB" dirty="0"/>
              </a:br>
              <a:r>
                <a:rPr lang="en-GB" dirty="0"/>
                <a:t>condition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560B541-6899-853B-51D0-4FAAB0DA9B68}"/>
                </a:ext>
              </a:extLst>
            </p:cNvPr>
            <p:cNvCxnSpPr>
              <a:cxnSpLocks/>
              <a:stCxn id="25" idx="4"/>
              <a:endCxn id="5" idx="0"/>
            </p:cNvCxnSpPr>
            <p:nvPr/>
          </p:nvCxnSpPr>
          <p:spPr>
            <a:xfrm>
              <a:off x="5456986" y="3350400"/>
              <a:ext cx="0" cy="58427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F46BE35-1B59-B9E9-DDDB-7124347A5ECF}"/>
              </a:ext>
            </a:extLst>
          </p:cNvPr>
          <p:cNvGrpSpPr/>
          <p:nvPr/>
        </p:nvGrpSpPr>
        <p:grpSpPr>
          <a:xfrm>
            <a:off x="367729" y="2072358"/>
            <a:ext cx="2485845" cy="1301640"/>
            <a:chOff x="4549480" y="2441536"/>
            <a:chExt cx="2485845" cy="130164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E2A80AE-0BE4-4C2B-5B49-FB9E1BCF9572}"/>
                </a:ext>
              </a:extLst>
            </p:cNvPr>
            <p:cNvSpPr txBox="1"/>
            <p:nvPr/>
          </p:nvSpPr>
          <p:spPr>
            <a:xfrm>
              <a:off x="4549480" y="2441536"/>
              <a:ext cx="1815022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Food </a:t>
              </a:r>
              <a:br>
                <a:rPr lang="en-GB" dirty="0"/>
              </a:br>
              <a:r>
                <a:rPr lang="en-GB" dirty="0"/>
                <a:t>availability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76A7706-3385-D730-1645-A4A2D46A85B1}"/>
                </a:ext>
              </a:extLst>
            </p:cNvPr>
            <p:cNvCxnSpPr>
              <a:cxnSpLocks/>
              <a:stCxn id="31" idx="5"/>
              <a:endCxn id="5" idx="1"/>
            </p:cNvCxnSpPr>
            <p:nvPr/>
          </p:nvCxnSpPr>
          <p:spPr>
            <a:xfrm>
              <a:off x="6098698" y="3217300"/>
              <a:ext cx="936627" cy="52587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3D19F2E-0275-00C0-00BC-7A791B708D0E}"/>
              </a:ext>
            </a:extLst>
          </p:cNvPr>
          <p:cNvGrpSpPr/>
          <p:nvPr/>
        </p:nvGrpSpPr>
        <p:grpSpPr>
          <a:xfrm>
            <a:off x="748411" y="4016662"/>
            <a:ext cx="2105163" cy="943182"/>
            <a:chOff x="4623867" y="2017705"/>
            <a:chExt cx="2105163" cy="94318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E4129A3-1108-A433-BA89-6434DCF45996}"/>
                </a:ext>
              </a:extLst>
            </p:cNvPr>
            <p:cNvSpPr txBox="1"/>
            <p:nvPr/>
          </p:nvSpPr>
          <p:spPr>
            <a:xfrm>
              <a:off x="4623867" y="2441536"/>
              <a:ext cx="1666251" cy="51935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Predation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58326E2-E8A8-B10B-2740-1F472F4E9874}"/>
                </a:ext>
              </a:extLst>
            </p:cNvPr>
            <p:cNvCxnSpPr>
              <a:cxnSpLocks/>
              <a:stCxn id="36" idx="7"/>
              <a:endCxn id="5" idx="3"/>
            </p:cNvCxnSpPr>
            <p:nvPr/>
          </p:nvCxnSpPr>
          <p:spPr>
            <a:xfrm flipV="1">
              <a:off x="6046101" y="2017705"/>
              <a:ext cx="682929" cy="4998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80849DC-FF94-C67C-930C-A9374C15828A}"/>
              </a:ext>
            </a:extLst>
          </p:cNvPr>
          <p:cNvGrpSpPr/>
          <p:nvPr/>
        </p:nvGrpSpPr>
        <p:grpSpPr>
          <a:xfrm>
            <a:off x="2630336" y="4149762"/>
            <a:ext cx="1274032" cy="1596983"/>
            <a:chOff x="4874629" y="1528955"/>
            <a:chExt cx="1274032" cy="1596983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02B5EE7-A5D6-4372-6D66-251E7887D4D6}"/>
                </a:ext>
              </a:extLst>
            </p:cNvPr>
            <p:cNvSpPr txBox="1"/>
            <p:nvPr/>
          </p:nvSpPr>
          <p:spPr>
            <a:xfrm>
              <a:off x="4874629" y="2217074"/>
              <a:ext cx="1274032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Age at </a:t>
              </a:r>
              <a:br>
                <a:rPr lang="en-GB" dirty="0"/>
              </a:br>
              <a:r>
                <a:rPr lang="en-GB" dirty="0"/>
                <a:t>death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99FD446-ABB5-36F5-13DC-2CA27D0C71AD}"/>
                </a:ext>
              </a:extLst>
            </p:cNvPr>
            <p:cNvCxnSpPr>
              <a:cxnSpLocks/>
              <a:stCxn id="42" idx="0"/>
              <a:endCxn id="5" idx="4"/>
            </p:cNvCxnSpPr>
            <p:nvPr/>
          </p:nvCxnSpPr>
          <p:spPr>
            <a:xfrm flipV="1">
              <a:off x="5511645" y="1528955"/>
              <a:ext cx="0" cy="68811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141185A-F4FF-AF35-2A5C-FF57278EEA51}"/>
              </a:ext>
            </a:extLst>
          </p:cNvPr>
          <p:cNvGrpSpPr/>
          <p:nvPr/>
        </p:nvGrpSpPr>
        <p:grpSpPr>
          <a:xfrm>
            <a:off x="3681130" y="4016662"/>
            <a:ext cx="2456267" cy="1112086"/>
            <a:chOff x="3994735" y="2082778"/>
            <a:chExt cx="2456267" cy="1112086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38AF04E-13D5-214F-33D9-BC19557F0E10}"/>
                </a:ext>
              </a:extLst>
            </p:cNvPr>
            <p:cNvSpPr txBox="1"/>
            <p:nvPr/>
          </p:nvSpPr>
          <p:spPr>
            <a:xfrm>
              <a:off x="4457903" y="2675513"/>
              <a:ext cx="1993099" cy="51935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Competition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CE2A7E23-7AAD-F1BF-347D-796A68B10B00}"/>
                </a:ext>
              </a:extLst>
            </p:cNvPr>
            <p:cNvCxnSpPr>
              <a:cxnSpLocks/>
              <a:stCxn id="49" idx="1"/>
              <a:endCxn id="5" idx="5"/>
            </p:cNvCxnSpPr>
            <p:nvPr/>
          </p:nvCxnSpPr>
          <p:spPr>
            <a:xfrm flipH="1" flipV="1">
              <a:off x="3994735" y="2082778"/>
              <a:ext cx="755051" cy="66879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693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81271-AEA9-485F-D88D-EF6BEA7B0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Complexity of the real world</a:t>
            </a:r>
          </a:p>
        </p:txBody>
      </p:sp>
      <p:pic>
        <p:nvPicPr>
          <p:cNvPr id="7" name="Picture Placeholder 8" descr="A ram standing on a rock&#10;&#10;Description automatically generated">
            <a:extLst>
              <a:ext uri="{FF2B5EF4-FFF2-40B4-BE49-F238E27FC236}">
                <a16:creationId xmlns:a16="http://schemas.microsoft.com/office/drawing/2014/main" id="{95CB87D5-807B-49F8-A741-E0CBCC96979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79" r="17079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A0392E-0D10-5851-9601-55B467A577BF}"/>
              </a:ext>
            </a:extLst>
          </p:cNvPr>
          <p:cNvSpPr txBox="1"/>
          <p:nvPr/>
        </p:nvSpPr>
        <p:spPr>
          <a:xfrm>
            <a:off x="2682181" y="3240898"/>
            <a:ext cx="1170342" cy="90886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Horn </a:t>
            </a:r>
            <a:br>
              <a:rPr lang="en-GB" dirty="0"/>
            </a:br>
            <a:r>
              <a:rPr lang="en-GB" dirty="0"/>
              <a:t>length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C8F5320-0A96-53A9-1796-6A0EAB7B1D36}"/>
              </a:ext>
            </a:extLst>
          </p:cNvPr>
          <p:cNvGrpSpPr/>
          <p:nvPr/>
        </p:nvGrpSpPr>
        <p:grpSpPr>
          <a:xfrm>
            <a:off x="251613" y="3435654"/>
            <a:ext cx="2430568" cy="519351"/>
            <a:chOff x="275208" y="2618909"/>
            <a:chExt cx="2430568" cy="51935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49CB180-D5A3-9B7D-A366-F03DEF6F8DBF}"/>
                </a:ext>
              </a:extLst>
            </p:cNvPr>
            <p:cNvSpPr txBox="1"/>
            <p:nvPr/>
          </p:nvSpPr>
          <p:spPr>
            <a:xfrm>
              <a:off x="275208" y="2618909"/>
              <a:ext cx="1258254" cy="51935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Region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912F080-7A6B-CDA9-4925-922389AAD7D4}"/>
                </a:ext>
              </a:extLst>
            </p:cNvPr>
            <p:cNvCxnSpPr>
              <a:cxnSpLocks/>
              <a:stCxn id="6" idx="6"/>
              <a:endCxn id="5" idx="2"/>
            </p:cNvCxnSpPr>
            <p:nvPr/>
          </p:nvCxnSpPr>
          <p:spPr>
            <a:xfrm>
              <a:off x="1533462" y="2878585"/>
              <a:ext cx="117231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9C246CA-7869-0F8C-BBB6-495EA1604164}"/>
              </a:ext>
            </a:extLst>
          </p:cNvPr>
          <p:cNvGrpSpPr/>
          <p:nvPr/>
        </p:nvGrpSpPr>
        <p:grpSpPr>
          <a:xfrm>
            <a:off x="3852523" y="3435653"/>
            <a:ext cx="2267072" cy="519351"/>
            <a:chOff x="3852523" y="2618908"/>
            <a:chExt cx="2267072" cy="51935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98B555E-665B-90AD-B924-D986E72DB40B}"/>
                </a:ext>
              </a:extLst>
            </p:cNvPr>
            <p:cNvSpPr txBox="1"/>
            <p:nvPr/>
          </p:nvSpPr>
          <p:spPr>
            <a:xfrm>
              <a:off x="4883882" y="2618908"/>
              <a:ext cx="1235713" cy="51935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FF0000"/>
                  </a:solidFill>
                </a:rPr>
                <a:t>Cohort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6A92C88-CB22-EC83-AE86-AB6A96B526AF}"/>
                </a:ext>
              </a:extLst>
            </p:cNvPr>
            <p:cNvCxnSpPr>
              <a:cxnSpLocks/>
              <a:stCxn id="9" idx="2"/>
              <a:endCxn id="5" idx="6"/>
            </p:cNvCxnSpPr>
            <p:nvPr/>
          </p:nvCxnSpPr>
          <p:spPr>
            <a:xfrm flipH="1">
              <a:off x="3852523" y="2878584"/>
              <a:ext cx="1031359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94C60B8-0D53-4233-916F-54B00DC3CB88}"/>
              </a:ext>
            </a:extLst>
          </p:cNvPr>
          <p:cNvGrpSpPr/>
          <p:nvPr/>
        </p:nvGrpSpPr>
        <p:grpSpPr>
          <a:xfrm>
            <a:off x="3681130" y="2279883"/>
            <a:ext cx="2291104" cy="1094115"/>
            <a:chOff x="3968249" y="2618908"/>
            <a:chExt cx="2291104" cy="109411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0406DEB-4995-D6F7-0CFC-40C2DFFEAF04}"/>
                </a:ext>
              </a:extLst>
            </p:cNvPr>
            <p:cNvSpPr txBox="1"/>
            <p:nvPr/>
          </p:nvSpPr>
          <p:spPr>
            <a:xfrm>
              <a:off x="4744129" y="2618908"/>
              <a:ext cx="1515224" cy="51935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FF0000"/>
                  </a:solidFill>
                </a:rPr>
                <a:t>Genetics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13042B4-F028-E8BD-9F0F-F5AB9E51201E}"/>
                </a:ext>
              </a:extLst>
            </p:cNvPr>
            <p:cNvCxnSpPr>
              <a:cxnSpLocks/>
              <a:stCxn id="20" idx="3"/>
              <a:endCxn id="5" idx="7"/>
            </p:cNvCxnSpPr>
            <p:nvPr/>
          </p:nvCxnSpPr>
          <p:spPr>
            <a:xfrm flipH="1">
              <a:off x="3968249" y="3062202"/>
              <a:ext cx="997779" cy="65082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F126029-CD88-C2AF-FD6B-078D3EB7CA18}"/>
              </a:ext>
            </a:extLst>
          </p:cNvPr>
          <p:cNvGrpSpPr/>
          <p:nvPr/>
        </p:nvGrpSpPr>
        <p:grpSpPr>
          <a:xfrm>
            <a:off x="2478182" y="1747764"/>
            <a:ext cx="1578340" cy="1493134"/>
            <a:chOff x="4667816" y="2441536"/>
            <a:chExt cx="1578340" cy="149313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C51D050-542E-B30F-10BB-B2CE40C4614F}"/>
                </a:ext>
              </a:extLst>
            </p:cNvPr>
            <p:cNvSpPr txBox="1"/>
            <p:nvPr/>
          </p:nvSpPr>
          <p:spPr>
            <a:xfrm>
              <a:off x="4667816" y="2441536"/>
              <a:ext cx="1578340" cy="90886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FF0000"/>
                  </a:solidFill>
                </a:rPr>
                <a:t>Mother’s</a:t>
              </a:r>
              <a:br>
                <a:rPr lang="en-GB" dirty="0">
                  <a:solidFill>
                    <a:srgbClr val="FF0000"/>
                  </a:solidFill>
                </a:rPr>
              </a:br>
              <a:r>
                <a:rPr lang="en-GB" dirty="0">
                  <a:solidFill>
                    <a:srgbClr val="FF0000"/>
                  </a:solidFill>
                </a:rPr>
                <a:t>condition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560B541-6899-853B-51D0-4FAAB0DA9B68}"/>
                </a:ext>
              </a:extLst>
            </p:cNvPr>
            <p:cNvCxnSpPr>
              <a:cxnSpLocks/>
              <a:stCxn id="25" idx="4"/>
              <a:endCxn id="5" idx="0"/>
            </p:cNvCxnSpPr>
            <p:nvPr/>
          </p:nvCxnSpPr>
          <p:spPr>
            <a:xfrm>
              <a:off x="5456986" y="3350400"/>
              <a:ext cx="0" cy="58427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F46BE35-1B59-B9E9-DDDB-7124347A5ECF}"/>
              </a:ext>
            </a:extLst>
          </p:cNvPr>
          <p:cNvGrpSpPr/>
          <p:nvPr/>
        </p:nvGrpSpPr>
        <p:grpSpPr>
          <a:xfrm>
            <a:off x="367729" y="2072358"/>
            <a:ext cx="2485845" cy="1301640"/>
            <a:chOff x="4549480" y="2441536"/>
            <a:chExt cx="2485845" cy="130164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E2A80AE-0BE4-4C2B-5B49-FB9E1BCF9572}"/>
                </a:ext>
              </a:extLst>
            </p:cNvPr>
            <p:cNvSpPr txBox="1"/>
            <p:nvPr/>
          </p:nvSpPr>
          <p:spPr>
            <a:xfrm>
              <a:off x="4549480" y="2441536"/>
              <a:ext cx="1815022" cy="90886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FF0000"/>
                  </a:solidFill>
                </a:rPr>
                <a:t>Food </a:t>
              </a:r>
              <a:br>
                <a:rPr lang="en-GB" dirty="0">
                  <a:solidFill>
                    <a:srgbClr val="FF0000"/>
                  </a:solidFill>
                </a:rPr>
              </a:br>
              <a:r>
                <a:rPr lang="en-GB" dirty="0">
                  <a:solidFill>
                    <a:srgbClr val="FF0000"/>
                  </a:solidFill>
                </a:rPr>
                <a:t>availability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76A7706-3385-D730-1645-A4A2D46A85B1}"/>
                </a:ext>
              </a:extLst>
            </p:cNvPr>
            <p:cNvCxnSpPr>
              <a:cxnSpLocks/>
              <a:stCxn id="31" idx="5"/>
              <a:endCxn id="5" idx="1"/>
            </p:cNvCxnSpPr>
            <p:nvPr/>
          </p:nvCxnSpPr>
          <p:spPr>
            <a:xfrm>
              <a:off x="6098698" y="3217300"/>
              <a:ext cx="936627" cy="52587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3D19F2E-0275-00C0-00BC-7A791B708D0E}"/>
              </a:ext>
            </a:extLst>
          </p:cNvPr>
          <p:cNvGrpSpPr/>
          <p:nvPr/>
        </p:nvGrpSpPr>
        <p:grpSpPr>
          <a:xfrm>
            <a:off x="748411" y="4016662"/>
            <a:ext cx="2105163" cy="943182"/>
            <a:chOff x="4623867" y="2017705"/>
            <a:chExt cx="2105163" cy="94318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E4129A3-1108-A433-BA89-6434DCF45996}"/>
                </a:ext>
              </a:extLst>
            </p:cNvPr>
            <p:cNvSpPr txBox="1"/>
            <p:nvPr/>
          </p:nvSpPr>
          <p:spPr>
            <a:xfrm>
              <a:off x="4623867" y="2441536"/>
              <a:ext cx="1666251" cy="51935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FF0000"/>
                  </a:solidFill>
                </a:rPr>
                <a:t>Predation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58326E2-E8A8-B10B-2740-1F472F4E9874}"/>
                </a:ext>
              </a:extLst>
            </p:cNvPr>
            <p:cNvCxnSpPr>
              <a:cxnSpLocks/>
              <a:stCxn id="36" idx="7"/>
              <a:endCxn id="5" idx="3"/>
            </p:cNvCxnSpPr>
            <p:nvPr/>
          </p:nvCxnSpPr>
          <p:spPr>
            <a:xfrm flipV="1">
              <a:off x="6046101" y="2017705"/>
              <a:ext cx="682929" cy="4998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80849DC-FF94-C67C-930C-A9374C15828A}"/>
              </a:ext>
            </a:extLst>
          </p:cNvPr>
          <p:cNvGrpSpPr/>
          <p:nvPr/>
        </p:nvGrpSpPr>
        <p:grpSpPr>
          <a:xfrm>
            <a:off x="2630336" y="4149762"/>
            <a:ext cx="1274032" cy="1596983"/>
            <a:chOff x="4874629" y="1528955"/>
            <a:chExt cx="1274032" cy="1596983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02B5EE7-A5D6-4372-6D66-251E7887D4D6}"/>
                </a:ext>
              </a:extLst>
            </p:cNvPr>
            <p:cNvSpPr txBox="1"/>
            <p:nvPr/>
          </p:nvSpPr>
          <p:spPr>
            <a:xfrm>
              <a:off x="4874629" y="2217074"/>
              <a:ext cx="1274032" cy="90886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FF0000"/>
                  </a:solidFill>
                </a:rPr>
                <a:t>Age at </a:t>
              </a:r>
              <a:br>
                <a:rPr lang="en-GB" dirty="0">
                  <a:solidFill>
                    <a:srgbClr val="FF0000"/>
                  </a:solidFill>
                </a:rPr>
              </a:br>
              <a:r>
                <a:rPr lang="en-GB" dirty="0">
                  <a:solidFill>
                    <a:srgbClr val="FF0000"/>
                  </a:solidFill>
                </a:rPr>
                <a:t>death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99FD446-ABB5-36F5-13DC-2CA27D0C71AD}"/>
                </a:ext>
              </a:extLst>
            </p:cNvPr>
            <p:cNvCxnSpPr>
              <a:cxnSpLocks/>
              <a:stCxn id="42" idx="0"/>
              <a:endCxn id="5" idx="4"/>
            </p:cNvCxnSpPr>
            <p:nvPr/>
          </p:nvCxnSpPr>
          <p:spPr>
            <a:xfrm flipV="1">
              <a:off x="5511645" y="1528955"/>
              <a:ext cx="0" cy="68811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141185A-F4FF-AF35-2A5C-FF57278EEA51}"/>
              </a:ext>
            </a:extLst>
          </p:cNvPr>
          <p:cNvGrpSpPr/>
          <p:nvPr/>
        </p:nvGrpSpPr>
        <p:grpSpPr>
          <a:xfrm>
            <a:off x="3681130" y="4016662"/>
            <a:ext cx="2456267" cy="1112086"/>
            <a:chOff x="3994735" y="2082778"/>
            <a:chExt cx="2456267" cy="1112086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38AF04E-13D5-214F-33D9-BC19557F0E10}"/>
                </a:ext>
              </a:extLst>
            </p:cNvPr>
            <p:cNvSpPr txBox="1"/>
            <p:nvPr/>
          </p:nvSpPr>
          <p:spPr>
            <a:xfrm>
              <a:off x="4457903" y="2675513"/>
              <a:ext cx="1993099" cy="51935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FF0000"/>
                  </a:solidFill>
                </a:rPr>
                <a:t>Competition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CE2A7E23-7AAD-F1BF-347D-796A68B10B00}"/>
                </a:ext>
              </a:extLst>
            </p:cNvPr>
            <p:cNvCxnSpPr>
              <a:cxnSpLocks/>
              <a:stCxn id="49" idx="1"/>
              <a:endCxn id="5" idx="5"/>
            </p:cNvCxnSpPr>
            <p:nvPr/>
          </p:nvCxnSpPr>
          <p:spPr>
            <a:xfrm flipH="1" flipV="1">
              <a:off x="3994735" y="2082778"/>
              <a:ext cx="755051" cy="66879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696627-B60D-4A27-A4DB-CD202A23BDB3}"/>
                  </a:ext>
                </a:extLst>
              </p:cNvPr>
              <p:cNvSpPr txBox="1"/>
              <p:nvPr/>
            </p:nvSpPr>
            <p:spPr>
              <a:xfrm>
                <a:off x="1598718" y="5873911"/>
                <a:ext cx="335899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𝑆𝑘𝑒𝑒𝑛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E696627-B60D-4A27-A4DB-CD202A23B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718" y="5873911"/>
                <a:ext cx="3358996" cy="830997"/>
              </a:xfrm>
              <a:prstGeom prst="rect">
                <a:avLst/>
              </a:prstGeom>
              <a:blipFill>
                <a:blip r:embed="rId3"/>
                <a:stretch>
                  <a:fillRect r="-3448" b="-154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1076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92DF-2BFA-BC6C-CE02-81A528EC7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How do we capture the </a:t>
            </a:r>
            <a:r>
              <a:rPr lang="en-GB" i="1" dirty="0"/>
              <a:t>Data Generating Process?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EBF9C9-13D4-1862-002E-D97C182600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All other influences are still happening, regardless if they’re in the model or not</a:t>
                </a:r>
              </a:p>
              <a:p>
                <a:r>
                  <a:rPr lang="en-GB" dirty="0"/>
                  <a:t>If we don’t include these, they get lumped into </a:t>
                </a:r>
                <a14:m>
                  <m:oMath xmlns:m="http://schemas.openxmlformats.org/officeDocument/2006/math">
                    <m:r>
                      <a:rPr lang="en-GB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n-GB" dirty="0"/>
                  <a:t> (i.e. unexplained variation)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𝑁𝑜𝑟𝑚𝑎𝑙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</m:d>
                  </m:oMath>
                </a14:m>
                <a:endParaRPr lang="en-GB" dirty="0"/>
              </a:p>
              <a:p>
                <a:r>
                  <a:rPr lang="en-GB" dirty="0"/>
                  <a:t>How do we include more variables so that we can get a deeper understand of the system?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EBF9C9-13D4-1862-002E-D97C182600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E6C677C6-CCF3-6E9A-34C2-649C645AF03C}"/>
              </a:ext>
            </a:extLst>
          </p:cNvPr>
          <p:cNvGrpSpPr/>
          <p:nvPr/>
        </p:nvGrpSpPr>
        <p:grpSpPr>
          <a:xfrm>
            <a:off x="6201295" y="1516945"/>
            <a:ext cx="5885784" cy="3998981"/>
            <a:chOff x="251613" y="1747764"/>
            <a:chExt cx="5885784" cy="399898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B17109F-1725-4ACA-81BE-C277F320578B}"/>
                </a:ext>
              </a:extLst>
            </p:cNvPr>
            <p:cNvSpPr txBox="1"/>
            <p:nvPr/>
          </p:nvSpPr>
          <p:spPr>
            <a:xfrm>
              <a:off x="2682181" y="3240898"/>
              <a:ext cx="1170342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Horn </a:t>
              </a:r>
              <a:br>
                <a:rPr lang="en-GB" dirty="0"/>
              </a:br>
              <a:r>
                <a:rPr lang="en-GB" dirty="0"/>
                <a:t>length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E957EBF-E85A-297F-C63C-5F99E2BC81F0}"/>
                </a:ext>
              </a:extLst>
            </p:cNvPr>
            <p:cNvGrpSpPr/>
            <p:nvPr/>
          </p:nvGrpSpPr>
          <p:grpSpPr>
            <a:xfrm>
              <a:off x="251613" y="3435654"/>
              <a:ext cx="2430568" cy="519351"/>
              <a:chOff x="275208" y="2618909"/>
              <a:chExt cx="2430568" cy="5193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AAE818-7410-1993-22D6-5212F04197B4}"/>
                  </a:ext>
                </a:extLst>
              </p:cNvPr>
              <p:cNvSpPr txBox="1"/>
              <p:nvPr/>
            </p:nvSpPr>
            <p:spPr>
              <a:xfrm>
                <a:off x="275208" y="2618909"/>
                <a:ext cx="1258254" cy="51935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/>
                  <a:t>Region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E46C0FB5-BAA2-7D79-D245-ADF115961D20}"/>
                  </a:ext>
                </a:extLst>
              </p:cNvPr>
              <p:cNvCxnSpPr>
                <a:cxnSpLocks/>
                <a:stCxn id="7" idx="6"/>
                <a:endCxn id="5" idx="2"/>
              </p:cNvCxnSpPr>
              <p:nvPr/>
            </p:nvCxnSpPr>
            <p:spPr>
              <a:xfrm>
                <a:off x="1533462" y="2878585"/>
                <a:ext cx="1172314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6008C3B-0D3E-8D74-7D8D-3768597BDF94}"/>
                </a:ext>
              </a:extLst>
            </p:cNvPr>
            <p:cNvGrpSpPr/>
            <p:nvPr/>
          </p:nvGrpSpPr>
          <p:grpSpPr>
            <a:xfrm>
              <a:off x="3852523" y="3435653"/>
              <a:ext cx="2267072" cy="519351"/>
              <a:chOff x="3852523" y="2618908"/>
              <a:chExt cx="2267072" cy="519351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6222946-B82D-EFD8-1047-8A15BC3BF5E0}"/>
                  </a:ext>
                </a:extLst>
              </p:cNvPr>
              <p:cNvSpPr txBox="1"/>
              <p:nvPr/>
            </p:nvSpPr>
            <p:spPr>
              <a:xfrm>
                <a:off x="4883882" y="2618908"/>
                <a:ext cx="1235713" cy="519351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FF0000"/>
                    </a:solidFill>
                  </a:rPr>
                  <a:t>Cohort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87D264ED-B679-DE34-691A-F23CE6951BE7}"/>
                  </a:ext>
                </a:extLst>
              </p:cNvPr>
              <p:cNvCxnSpPr>
                <a:cxnSpLocks/>
                <a:stCxn id="10" idx="2"/>
                <a:endCxn id="5" idx="6"/>
              </p:cNvCxnSpPr>
              <p:nvPr/>
            </p:nvCxnSpPr>
            <p:spPr>
              <a:xfrm flipH="1">
                <a:off x="3852523" y="2878584"/>
                <a:ext cx="1031359" cy="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44B0369-7556-1B7C-7CF0-250C37C884B9}"/>
                </a:ext>
              </a:extLst>
            </p:cNvPr>
            <p:cNvGrpSpPr/>
            <p:nvPr/>
          </p:nvGrpSpPr>
          <p:grpSpPr>
            <a:xfrm>
              <a:off x="3681130" y="2279883"/>
              <a:ext cx="2291104" cy="1094115"/>
              <a:chOff x="3968249" y="2618908"/>
              <a:chExt cx="2291104" cy="1094115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2B3A41A-7A2C-CC2C-55BE-1E51B48196A3}"/>
                  </a:ext>
                </a:extLst>
              </p:cNvPr>
              <p:cNvSpPr txBox="1"/>
              <p:nvPr/>
            </p:nvSpPr>
            <p:spPr>
              <a:xfrm>
                <a:off x="4744129" y="2618908"/>
                <a:ext cx="1515224" cy="519351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FF0000"/>
                    </a:solidFill>
                  </a:rPr>
                  <a:t>Genetics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C41355FF-DB7F-D324-741F-2843DBDFCCCA}"/>
                  </a:ext>
                </a:extLst>
              </p:cNvPr>
              <p:cNvCxnSpPr>
                <a:cxnSpLocks/>
                <a:stCxn id="13" idx="3"/>
                <a:endCxn id="5" idx="7"/>
              </p:cNvCxnSpPr>
              <p:nvPr/>
            </p:nvCxnSpPr>
            <p:spPr>
              <a:xfrm flipH="1">
                <a:off x="3968249" y="3062202"/>
                <a:ext cx="997779" cy="65082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3373325-E4E3-6731-D009-9129EEAD2FD1}"/>
                </a:ext>
              </a:extLst>
            </p:cNvPr>
            <p:cNvGrpSpPr/>
            <p:nvPr/>
          </p:nvGrpSpPr>
          <p:grpSpPr>
            <a:xfrm>
              <a:off x="2478182" y="1747764"/>
              <a:ext cx="1578340" cy="1493134"/>
              <a:chOff x="4667816" y="2441536"/>
              <a:chExt cx="1578340" cy="1493134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3DC5066-A348-184C-47EF-09A4FE0C4505}"/>
                  </a:ext>
                </a:extLst>
              </p:cNvPr>
              <p:cNvSpPr txBox="1"/>
              <p:nvPr/>
            </p:nvSpPr>
            <p:spPr>
              <a:xfrm>
                <a:off x="4667816" y="2441536"/>
                <a:ext cx="1578340" cy="908864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FF0000"/>
                    </a:solidFill>
                  </a:rPr>
                  <a:t>Mother’s</a:t>
                </a:r>
                <a:br>
                  <a:rPr lang="en-GB" dirty="0">
                    <a:solidFill>
                      <a:srgbClr val="FF0000"/>
                    </a:solidFill>
                  </a:rPr>
                </a:br>
                <a:r>
                  <a:rPr lang="en-GB" dirty="0">
                    <a:solidFill>
                      <a:srgbClr val="FF0000"/>
                    </a:solidFill>
                  </a:rPr>
                  <a:t>condition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218437E5-B322-36A0-6A3D-63B76BD0FA34}"/>
                  </a:ext>
                </a:extLst>
              </p:cNvPr>
              <p:cNvCxnSpPr>
                <a:cxnSpLocks/>
                <a:stCxn id="16" idx="4"/>
                <a:endCxn id="5" idx="0"/>
              </p:cNvCxnSpPr>
              <p:nvPr/>
            </p:nvCxnSpPr>
            <p:spPr>
              <a:xfrm>
                <a:off x="5456986" y="3350400"/>
                <a:ext cx="0" cy="58427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3540DCF-1EED-A713-00D4-572649D59699}"/>
                </a:ext>
              </a:extLst>
            </p:cNvPr>
            <p:cNvGrpSpPr/>
            <p:nvPr/>
          </p:nvGrpSpPr>
          <p:grpSpPr>
            <a:xfrm>
              <a:off x="367729" y="2072358"/>
              <a:ext cx="2485845" cy="1301640"/>
              <a:chOff x="4549480" y="2441536"/>
              <a:chExt cx="2485845" cy="1301640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880C347-9500-06AA-0290-E1F52C7B7F23}"/>
                  </a:ext>
                </a:extLst>
              </p:cNvPr>
              <p:cNvSpPr txBox="1"/>
              <p:nvPr/>
            </p:nvSpPr>
            <p:spPr>
              <a:xfrm>
                <a:off x="4549480" y="2441536"/>
                <a:ext cx="1815022" cy="908864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FF0000"/>
                    </a:solidFill>
                  </a:rPr>
                  <a:t>Food </a:t>
                </a:r>
                <a:br>
                  <a:rPr lang="en-GB" dirty="0">
                    <a:solidFill>
                      <a:srgbClr val="FF0000"/>
                    </a:solidFill>
                  </a:rPr>
                </a:br>
                <a:r>
                  <a:rPr lang="en-GB" dirty="0">
                    <a:solidFill>
                      <a:srgbClr val="FF0000"/>
                    </a:solidFill>
                  </a:rPr>
                  <a:t>availability</a:t>
                </a: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E0E1CC8B-3194-0799-E0E0-ECBB61A307A5}"/>
                  </a:ext>
                </a:extLst>
              </p:cNvPr>
              <p:cNvCxnSpPr>
                <a:cxnSpLocks/>
                <a:stCxn id="19" idx="5"/>
                <a:endCxn id="5" idx="1"/>
              </p:cNvCxnSpPr>
              <p:nvPr/>
            </p:nvCxnSpPr>
            <p:spPr>
              <a:xfrm>
                <a:off x="6098698" y="3217300"/>
                <a:ext cx="936627" cy="52587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595A98E-83B1-EC59-1970-91852D90DCAD}"/>
                </a:ext>
              </a:extLst>
            </p:cNvPr>
            <p:cNvGrpSpPr/>
            <p:nvPr/>
          </p:nvGrpSpPr>
          <p:grpSpPr>
            <a:xfrm>
              <a:off x="748411" y="4016662"/>
              <a:ext cx="2105163" cy="943182"/>
              <a:chOff x="4623867" y="2017705"/>
              <a:chExt cx="2105163" cy="943182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FDA8D5D-A42A-AEC6-C266-5EE74ADF2884}"/>
                  </a:ext>
                </a:extLst>
              </p:cNvPr>
              <p:cNvSpPr txBox="1"/>
              <p:nvPr/>
            </p:nvSpPr>
            <p:spPr>
              <a:xfrm>
                <a:off x="4623867" y="2441536"/>
                <a:ext cx="1666251" cy="519351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FF0000"/>
                    </a:solidFill>
                  </a:rPr>
                  <a:t>Predation</a:t>
                </a: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F43B8E1B-45E1-0A6A-9057-1533577715E3}"/>
                  </a:ext>
                </a:extLst>
              </p:cNvPr>
              <p:cNvCxnSpPr>
                <a:cxnSpLocks/>
                <a:stCxn id="22" idx="7"/>
                <a:endCxn id="5" idx="3"/>
              </p:cNvCxnSpPr>
              <p:nvPr/>
            </p:nvCxnSpPr>
            <p:spPr>
              <a:xfrm flipV="1">
                <a:off x="6046101" y="2017705"/>
                <a:ext cx="682929" cy="49988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645A832-7FE8-E95F-DF5D-84ACE58EE747}"/>
                </a:ext>
              </a:extLst>
            </p:cNvPr>
            <p:cNvGrpSpPr/>
            <p:nvPr/>
          </p:nvGrpSpPr>
          <p:grpSpPr>
            <a:xfrm>
              <a:off x="2630336" y="4149762"/>
              <a:ext cx="1274032" cy="1596983"/>
              <a:chOff x="4874629" y="1528955"/>
              <a:chExt cx="1274032" cy="1596983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468AA1B-875F-4894-5922-3DD4B433D71C}"/>
                  </a:ext>
                </a:extLst>
              </p:cNvPr>
              <p:cNvSpPr txBox="1"/>
              <p:nvPr/>
            </p:nvSpPr>
            <p:spPr>
              <a:xfrm>
                <a:off x="4874629" y="2217074"/>
                <a:ext cx="1274032" cy="908864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FF0000"/>
                    </a:solidFill>
                  </a:rPr>
                  <a:t>Age at </a:t>
                </a:r>
                <a:br>
                  <a:rPr lang="en-GB" dirty="0">
                    <a:solidFill>
                      <a:srgbClr val="FF0000"/>
                    </a:solidFill>
                  </a:rPr>
                </a:br>
                <a:r>
                  <a:rPr lang="en-GB" dirty="0">
                    <a:solidFill>
                      <a:srgbClr val="FF0000"/>
                    </a:solidFill>
                  </a:rPr>
                  <a:t>death</a:t>
                </a: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EE4F93D5-F1F5-DFF3-A545-0866F67F5B87}"/>
                  </a:ext>
                </a:extLst>
              </p:cNvPr>
              <p:cNvCxnSpPr>
                <a:cxnSpLocks/>
                <a:stCxn id="25" idx="0"/>
                <a:endCxn id="5" idx="4"/>
              </p:cNvCxnSpPr>
              <p:nvPr/>
            </p:nvCxnSpPr>
            <p:spPr>
              <a:xfrm flipV="1">
                <a:off x="5511645" y="1528955"/>
                <a:ext cx="0" cy="688119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2C62965-8A73-1E55-45B7-9056C6914309}"/>
                </a:ext>
              </a:extLst>
            </p:cNvPr>
            <p:cNvGrpSpPr/>
            <p:nvPr/>
          </p:nvGrpSpPr>
          <p:grpSpPr>
            <a:xfrm>
              <a:off x="3681130" y="4016662"/>
              <a:ext cx="2456267" cy="1112086"/>
              <a:chOff x="3994735" y="2082778"/>
              <a:chExt cx="2456267" cy="1112086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227FECF-399F-0662-B028-5DA6BE7EC2AB}"/>
                  </a:ext>
                </a:extLst>
              </p:cNvPr>
              <p:cNvSpPr txBox="1"/>
              <p:nvPr/>
            </p:nvSpPr>
            <p:spPr>
              <a:xfrm>
                <a:off x="4457903" y="2675513"/>
                <a:ext cx="1993099" cy="519351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>
                    <a:solidFill>
                      <a:srgbClr val="FF0000"/>
                    </a:solidFill>
                  </a:rPr>
                  <a:t>Competition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28337562-F395-29B2-10AE-6B9CC73FFF07}"/>
                  </a:ext>
                </a:extLst>
              </p:cNvPr>
              <p:cNvCxnSpPr>
                <a:cxnSpLocks/>
                <a:stCxn id="28" idx="1"/>
                <a:endCxn id="5" idx="5"/>
              </p:cNvCxnSpPr>
              <p:nvPr/>
            </p:nvCxnSpPr>
            <p:spPr>
              <a:xfrm flipH="1" flipV="1">
                <a:off x="3994735" y="2082778"/>
                <a:ext cx="755051" cy="668792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7732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8FC84-BE01-D7E6-29F1-3DB202B38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Multiple variables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D8AA2-57E1-D805-236D-B7422518E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Adding multiple variables in R is trivial</a:t>
            </a:r>
          </a:p>
          <a:p>
            <a:r>
              <a:rPr lang="en-GB" dirty="0"/>
              <a:t>We </a:t>
            </a:r>
            <a:r>
              <a:rPr lang="en-GB" i="1" dirty="0"/>
              <a:t>literally</a:t>
            </a:r>
            <a:r>
              <a:rPr lang="en-GB" dirty="0"/>
              <a:t> just add them to the linear model code</a:t>
            </a:r>
          </a:p>
          <a:p>
            <a:r>
              <a:rPr lang="en-GB" dirty="0"/>
              <a:t>We do all of our usual steps:</a:t>
            </a:r>
          </a:p>
          <a:p>
            <a:pPr lvl="1"/>
            <a:r>
              <a:rPr lang="en-GB" dirty="0"/>
              <a:t>Start with a question</a:t>
            </a:r>
          </a:p>
          <a:p>
            <a:pPr lvl="1"/>
            <a:r>
              <a:rPr lang="en-GB" dirty="0"/>
              <a:t>Identify any hidden assumptions</a:t>
            </a:r>
          </a:p>
          <a:p>
            <a:pPr lvl="1"/>
            <a:r>
              <a:rPr lang="en-GB" dirty="0"/>
              <a:t>Carry out data exploration</a:t>
            </a:r>
          </a:p>
          <a:p>
            <a:pPr lvl="1"/>
            <a:r>
              <a:rPr lang="en-GB" dirty="0"/>
              <a:t>Run the model</a:t>
            </a:r>
          </a:p>
          <a:p>
            <a:pPr lvl="1"/>
            <a:r>
              <a:rPr lang="en-GB" dirty="0"/>
              <a:t>Diagnose the model</a:t>
            </a:r>
          </a:p>
          <a:p>
            <a:pPr lvl="2"/>
            <a:r>
              <a:rPr lang="en-GB" dirty="0"/>
              <a:t>Same requirements as before</a:t>
            </a:r>
          </a:p>
          <a:p>
            <a:pPr lvl="1"/>
            <a:r>
              <a:rPr lang="en-GB" dirty="0"/>
              <a:t>Plot the results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536F3E6-760C-5375-34E1-F9F357BA3229}"/>
              </a:ext>
            </a:extLst>
          </p:cNvPr>
          <p:cNvSpPr txBox="1">
            <a:spLocks/>
          </p:cNvSpPr>
          <p:nvPr/>
        </p:nvSpPr>
        <p:spPr>
          <a:xfrm>
            <a:off x="6096000" y="1426613"/>
            <a:ext cx="6201295" cy="5240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shp_mod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(horn ~ region </a:t>
            </a:r>
            <a:r>
              <a:rPr lang="en-GB" sz="24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br>
              <a:rPr lang="en-GB" sz="24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cohort +</a:t>
            </a:r>
            <a:br>
              <a:rPr lang="en-GB" sz="24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GB" sz="2400" dirty="0" err="1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age_death</a:t>
            </a:r>
            <a:r>
              <a:rPr lang="en-GB" sz="24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</a:t>
            </a:r>
            <a:br>
              <a:rPr lang="en-GB" sz="24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food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b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	data =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shp_dat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4036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19F85-3D39-BD5B-194D-E4164AE8A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question</a:t>
            </a:r>
          </a:p>
        </p:txBody>
      </p:sp>
    </p:spTree>
    <p:extLst>
      <p:ext uri="{BB962C8B-B14F-4D97-AF65-F5344CB8AC3E}">
        <p14:creationId xmlns:p14="http://schemas.microsoft.com/office/powerpoint/2010/main" val="149831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68892-D034-777C-4ECB-91D6FB0B4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Trophic cascades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01988-9960-E389-CBD7-A70849B05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Includes lots of hugely popular ecology theories, especially amongst public</a:t>
            </a:r>
          </a:p>
          <a:p>
            <a:pPr lvl="1"/>
            <a:r>
              <a:rPr lang="en-GB" dirty="0"/>
              <a:t>“Food webs”</a:t>
            </a:r>
          </a:p>
          <a:p>
            <a:pPr lvl="1"/>
            <a:r>
              <a:rPr lang="en-GB" dirty="0"/>
              <a:t>“Landscape of fear”</a:t>
            </a:r>
          </a:p>
          <a:p>
            <a:pPr lvl="1"/>
            <a:r>
              <a:rPr lang="en-GB" dirty="0"/>
              <a:t>“Keystone species”</a:t>
            </a:r>
          </a:p>
          <a:p>
            <a:pPr lvl="1"/>
            <a:r>
              <a:rPr lang="en-GB" dirty="0"/>
              <a:t>“Ecosystem balance”</a:t>
            </a:r>
          </a:p>
          <a:p>
            <a:r>
              <a:rPr lang="en-GB" dirty="0"/>
              <a:t>Lots of papers found evidence for trophic cascades, e.g. </a:t>
            </a:r>
            <a:r>
              <a:rPr lang="en-GB"/>
              <a:t>Beyer et al (2007)</a:t>
            </a:r>
            <a:endParaRPr lang="en-GB" dirty="0"/>
          </a:p>
          <a:p>
            <a:r>
              <a:rPr lang="en-GB" dirty="0"/>
              <a:t>But has been heavily critiqued</a:t>
            </a:r>
          </a:p>
        </p:txBody>
      </p:sp>
      <p:pic>
        <p:nvPicPr>
          <p:cNvPr id="37" name="Picture Placeholder 36" descr="A poster with animals and text&#10;&#10;Description automatically generated">
            <a:extLst>
              <a:ext uri="{FF2B5EF4-FFF2-40B4-BE49-F238E27FC236}">
                <a16:creationId xmlns:a16="http://schemas.microsoft.com/office/drawing/2014/main" id="{6210BAC8-1899-8817-66DF-8DA7EACFABE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3" r="1533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486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0C97C-1AFC-3E7B-9E5B-3B92C7663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question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D812F5-4804-4580-05C4-4270F1F810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26614"/>
                <a:ext cx="6201295" cy="376627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/>
                  <a:t>We want to see if wolf presence has a positive relationship with beaver density.</a:t>
                </a:r>
              </a:p>
              <a:p>
                <a:r>
                  <a:rPr lang="en-GB" dirty="0"/>
                  <a:t>How would you use the tools you have learnt to find evidence of a trophic cascade?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D812F5-4804-4580-05C4-4270F1F810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26614"/>
                <a:ext cx="6201295" cy="3766276"/>
              </a:xfrm>
              <a:blipFill>
                <a:blip r:embed="rId3"/>
                <a:stretch>
                  <a:fillRect l="-1967" t="-647" r="-2458" b="-8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8C5FB113-8C0B-A55E-D683-759AFE1888DF}"/>
              </a:ext>
            </a:extLst>
          </p:cNvPr>
          <p:cNvGrpSpPr/>
          <p:nvPr/>
        </p:nvGrpSpPr>
        <p:grpSpPr>
          <a:xfrm>
            <a:off x="924052" y="5431387"/>
            <a:ext cx="4377624" cy="1168539"/>
            <a:chOff x="450248" y="5311368"/>
            <a:chExt cx="4377624" cy="11685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29726BC-D15A-4A7F-BF04-D98409C20140}"/>
                    </a:ext>
                  </a:extLst>
                </p:cNvPr>
                <p:cNvSpPr txBox="1"/>
                <p:nvPr/>
              </p:nvSpPr>
              <p:spPr>
                <a:xfrm>
                  <a:off x="3059825" y="5311368"/>
                  <a:ext cx="1768047" cy="1168539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GB" sz="2400" dirty="0" err="1"/>
                    <a:t>eaver</a:t>
                  </a:r>
                  <a:r>
                    <a:rPr lang="en-GB" sz="2400" dirty="0"/>
                    <a:t> </a:t>
                  </a:r>
                  <a:br>
                    <a:rPr lang="en-GB" sz="2400" dirty="0"/>
                  </a:br>
                  <a:r>
                    <a:rPr lang="en-GB" sz="2400" dirty="0"/>
                    <a:t>density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29726BC-D15A-4A7F-BF04-D98409C201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9825" y="5311368"/>
                  <a:ext cx="1768047" cy="1168539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E4B89AD-FE3D-CCDA-710B-E17C8F047F5A}"/>
                </a:ext>
              </a:extLst>
            </p:cNvPr>
            <p:cNvCxnSpPr>
              <a:cxnSpLocks/>
              <a:stCxn id="7" idx="6"/>
              <a:endCxn id="5" idx="2"/>
            </p:cNvCxnSpPr>
            <p:nvPr/>
          </p:nvCxnSpPr>
          <p:spPr>
            <a:xfrm>
              <a:off x="2504208" y="5895638"/>
              <a:ext cx="55561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27AD0F3-BCD5-BB7C-2FA9-1E85E641BE0E}"/>
                    </a:ext>
                  </a:extLst>
                </p:cNvPr>
                <p:cNvSpPr txBox="1"/>
                <p:nvPr/>
              </p:nvSpPr>
              <p:spPr>
                <a:xfrm>
                  <a:off x="450248" y="5311368"/>
                  <a:ext cx="2053960" cy="1168539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GB" sz="2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a14:m>
                  <a:r>
                    <a:rPr lang="en-GB" sz="2400" dirty="0" err="1"/>
                    <a:t>olf</a:t>
                  </a:r>
                  <a:br>
                    <a:rPr lang="en-GB" sz="2400" dirty="0"/>
                  </a:br>
                  <a:r>
                    <a:rPr lang="en-GB" sz="2400" dirty="0"/>
                    <a:t>presence</a:t>
                  </a: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27AD0F3-BCD5-BB7C-2FA9-1E85E641BE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248" y="5311368"/>
                  <a:ext cx="2053960" cy="1168539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4" name="Picture Placeholder 13" descr="A beaver swimming in water&#10;&#10;Description automatically generated">
            <a:extLst>
              <a:ext uri="{FF2B5EF4-FFF2-40B4-BE49-F238E27FC236}">
                <a16:creationId xmlns:a16="http://schemas.microsoft.com/office/drawing/2014/main" id="{F474F106-B9A4-7B67-CBAF-75AE79AEEA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28" r="2182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1031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white dots&#10;&#10;Description automatically generated">
            <a:extLst>
              <a:ext uri="{FF2B5EF4-FFF2-40B4-BE49-F238E27FC236}">
                <a16:creationId xmlns:a16="http://schemas.microsoft.com/office/drawing/2014/main" id="{031EF7C7-64D3-310D-68C6-0ACFE04E1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8714"/>
            <a:ext cx="12192000" cy="566057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178CA8F-D57C-E4E3-C1BF-07C98CD1BDE1}"/>
              </a:ext>
            </a:extLst>
          </p:cNvPr>
          <p:cNvSpPr/>
          <p:nvPr/>
        </p:nvSpPr>
        <p:spPr>
          <a:xfrm>
            <a:off x="50800" y="660400"/>
            <a:ext cx="4054475" cy="276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245765-4A17-CB8E-6B6D-BE9DE31663A2}"/>
              </a:ext>
            </a:extLst>
          </p:cNvPr>
          <p:cNvSpPr/>
          <p:nvPr/>
        </p:nvSpPr>
        <p:spPr>
          <a:xfrm>
            <a:off x="4094162" y="660400"/>
            <a:ext cx="4054475" cy="276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D85683-8710-4DED-CFA7-42369BBB5292}"/>
              </a:ext>
            </a:extLst>
          </p:cNvPr>
          <p:cNvSpPr/>
          <p:nvPr/>
        </p:nvSpPr>
        <p:spPr>
          <a:xfrm>
            <a:off x="8086723" y="651101"/>
            <a:ext cx="4054475" cy="276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E045BF-7FF1-00DD-2FF2-C562F19979FE}"/>
              </a:ext>
            </a:extLst>
          </p:cNvPr>
          <p:cNvSpPr/>
          <p:nvPr/>
        </p:nvSpPr>
        <p:spPr>
          <a:xfrm>
            <a:off x="50800" y="3428999"/>
            <a:ext cx="4054475" cy="276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B407B5-214B-880C-1E10-E809CFA3FB19}"/>
              </a:ext>
            </a:extLst>
          </p:cNvPr>
          <p:cNvSpPr/>
          <p:nvPr/>
        </p:nvSpPr>
        <p:spPr>
          <a:xfrm>
            <a:off x="4068762" y="3428999"/>
            <a:ext cx="4054475" cy="276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F25218-1213-B118-6D55-4A519EFF2717}"/>
              </a:ext>
            </a:extLst>
          </p:cNvPr>
          <p:cNvSpPr/>
          <p:nvPr/>
        </p:nvSpPr>
        <p:spPr>
          <a:xfrm>
            <a:off x="8086724" y="3410402"/>
            <a:ext cx="4054475" cy="276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347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BE848-F331-46C7-7717-23CF3EBCA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hypothesis with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25B94-1FD8-1F74-214E-89745CD6D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Start with simple model: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(beaver ~ wolf)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wolf</a:t>
            </a:r>
            <a:r>
              <a:rPr lang="en-GB" dirty="0"/>
              <a:t> is categorical (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Present</a:t>
            </a:r>
            <a:r>
              <a:rPr lang="en-GB" dirty="0"/>
              <a:t> or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Absent</a:t>
            </a:r>
            <a:r>
              <a:rPr lang="en-GB" dirty="0"/>
              <a:t>)</a:t>
            </a:r>
          </a:p>
          <a:p>
            <a:r>
              <a:rPr lang="en-GB" dirty="0"/>
              <a:t>Same type of model as in last week, so we’ll skip to the results</a:t>
            </a:r>
          </a:p>
          <a:p>
            <a:r>
              <a:rPr lang="en-GB" dirty="0"/>
              <a:t>Do wolves increase beaver density?</a:t>
            </a:r>
          </a:p>
          <a:p>
            <a:r>
              <a:rPr lang="en-GB" dirty="0"/>
              <a:t>Is the system really that simple?</a:t>
            </a:r>
          </a:p>
          <a:p>
            <a:r>
              <a:rPr lang="en-GB" dirty="0"/>
              <a:t>Singular causes and effects are incredibly rare in the real world.</a:t>
            </a:r>
          </a:p>
        </p:txBody>
      </p:sp>
      <p:pic>
        <p:nvPicPr>
          <p:cNvPr id="6" name="Picture Placeholder 5" descr="A screen shot of a black screen&#10;&#10;Description automatically generated">
            <a:extLst>
              <a:ext uri="{FF2B5EF4-FFF2-40B4-BE49-F238E27FC236}">
                <a16:creationId xmlns:a16="http://schemas.microsoft.com/office/drawing/2014/main" id="{682BA5F0-D3A2-9929-994B-40195D0EA11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23811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6349B-E430-E8AE-0A1E-065051BF5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 worlds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491B0-E393-8943-DF56-145B6EEE6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Misinformation often created by attributing singular causes to complex phenomena</a:t>
            </a:r>
          </a:p>
          <a:p>
            <a:r>
              <a:rPr lang="en-GB" dirty="0"/>
              <a:t>Common in:</a:t>
            </a:r>
          </a:p>
          <a:p>
            <a:pPr lvl="1"/>
            <a:r>
              <a:rPr lang="en-GB" dirty="0"/>
              <a:t>Clickbait</a:t>
            </a:r>
          </a:p>
          <a:p>
            <a:pPr lvl="1"/>
            <a:r>
              <a:rPr lang="en-GB" dirty="0"/>
              <a:t>Political statements</a:t>
            </a:r>
          </a:p>
          <a:p>
            <a:pPr lvl="1"/>
            <a:r>
              <a:rPr lang="en-GB" dirty="0"/>
              <a:t>Health products</a:t>
            </a:r>
          </a:p>
          <a:p>
            <a:pPr lvl="1"/>
            <a:r>
              <a:rPr lang="en-GB" dirty="0"/>
              <a:t>Advertising</a:t>
            </a:r>
          </a:p>
          <a:p>
            <a:pPr lvl="1"/>
            <a:r>
              <a:rPr lang="en-GB" dirty="0"/>
              <a:t>Scientific communication</a:t>
            </a:r>
          </a:p>
        </p:txBody>
      </p:sp>
      <p:pic>
        <p:nvPicPr>
          <p:cNvPr id="6" name="Picture Placeholder 5" descr="A person with a red ribbon and a flag&#10;&#10;Description automatically generated">
            <a:extLst>
              <a:ext uri="{FF2B5EF4-FFF2-40B4-BE49-F238E27FC236}">
                <a16:creationId xmlns:a16="http://schemas.microsoft.com/office/drawing/2014/main" id="{0204DC54-B734-6330-016A-2FCD31B3BAF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" t="-53725" b="-54240"/>
          <a:stretch/>
        </p:blipFill>
        <p:spPr>
          <a:xfrm>
            <a:off x="6359525" y="0"/>
            <a:ext cx="5832475" cy="6858000"/>
          </a:xfrm>
        </p:spPr>
      </p:pic>
      <p:pic>
        <p:nvPicPr>
          <p:cNvPr id="5" name="Picture 4" descr="A group of pills in a row&#10;&#10;Description automatically generated">
            <a:extLst>
              <a:ext uri="{FF2B5EF4-FFF2-40B4-BE49-F238E27FC236}">
                <a16:creationId xmlns:a16="http://schemas.microsoft.com/office/drawing/2014/main" id="{27311900-D6CA-60F4-626B-6D53783B4F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441" y="1669937"/>
            <a:ext cx="5196641" cy="3518126"/>
          </a:xfrm>
          <a:prstGeom prst="rect">
            <a:avLst/>
          </a:prstGeom>
        </p:spPr>
      </p:pic>
      <p:pic>
        <p:nvPicPr>
          <p:cNvPr id="8" name="Picture 7" descr="A red car driving on a road&#10;&#10;Description automatically generated">
            <a:extLst>
              <a:ext uri="{FF2B5EF4-FFF2-40B4-BE49-F238E27FC236}">
                <a16:creationId xmlns:a16="http://schemas.microsoft.com/office/drawing/2014/main" id="{E67E9B5C-8996-9956-BF42-8AB4D8D050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932" y="447868"/>
            <a:ext cx="5747657" cy="57476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3ABA0D-E95D-6F46-ED64-2E55F70BC5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9522" y="2663848"/>
            <a:ext cx="5832475" cy="180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6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12BD3-6BB9-284D-D024-EC294075A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Incorporate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46D0A-1E68-D3E1-CF03-126DB4C4E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Wolves won’t be the only thing influencing beaver density</a:t>
            </a:r>
          </a:p>
          <a:p>
            <a:r>
              <a:rPr lang="en-GB" dirty="0"/>
              <a:t>Surely the probability survival to survive from one year to the next will influence beaver density?</a:t>
            </a:r>
          </a:p>
          <a:p>
            <a:r>
              <a:rPr lang="en-GB" dirty="0"/>
              <a:t>How do we include survival?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BB2CFD5-CF3A-C1EB-9A82-22CBF1E47078}"/>
              </a:ext>
            </a:extLst>
          </p:cNvPr>
          <p:cNvGrpSpPr/>
          <p:nvPr/>
        </p:nvGrpSpPr>
        <p:grpSpPr>
          <a:xfrm>
            <a:off x="7028104" y="1814347"/>
            <a:ext cx="4080328" cy="2472152"/>
            <a:chOff x="7028104" y="1814347"/>
            <a:chExt cx="4080328" cy="247215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B30B453-7945-4535-D391-E5F925D4C65C}"/>
                </a:ext>
              </a:extLst>
            </p:cNvPr>
            <p:cNvSpPr txBox="1"/>
            <p:nvPr/>
          </p:nvSpPr>
          <p:spPr>
            <a:xfrm>
              <a:off x="9356525" y="3117960"/>
              <a:ext cx="1751907" cy="11685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Beaver </a:t>
              </a:r>
              <a:br>
                <a:rPr lang="en-GB" sz="2400" dirty="0"/>
              </a:br>
              <a:r>
                <a:rPr lang="en-GB" sz="2400" dirty="0"/>
                <a:t>density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220E9FC-B16D-73AD-35F7-938EBB29BB03}"/>
                </a:ext>
              </a:extLst>
            </p:cNvPr>
            <p:cNvCxnSpPr>
              <a:cxnSpLocks/>
              <a:stCxn id="7" idx="5"/>
              <a:endCxn id="5" idx="1"/>
            </p:cNvCxnSpPr>
            <p:nvPr/>
          </p:nvCxnSpPr>
          <p:spPr>
            <a:xfrm>
              <a:off x="8802844" y="2811757"/>
              <a:ext cx="810242" cy="47733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402C318-6316-18F3-6A5F-97B72446D515}"/>
                </a:ext>
              </a:extLst>
            </p:cNvPr>
            <p:cNvSpPr txBox="1"/>
            <p:nvPr/>
          </p:nvSpPr>
          <p:spPr>
            <a:xfrm>
              <a:off x="7028104" y="1814347"/>
              <a:ext cx="2079237" cy="11685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Wolf </a:t>
              </a:r>
              <a:br>
                <a:rPr lang="en-GB" sz="2400" dirty="0"/>
              </a:br>
              <a:r>
                <a:rPr lang="en-GB" sz="2400" dirty="0"/>
                <a:t>presence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CAC9E57-819B-1467-83D3-3D6D51193E11}"/>
              </a:ext>
            </a:extLst>
          </p:cNvPr>
          <p:cNvGrpSpPr/>
          <p:nvPr/>
        </p:nvGrpSpPr>
        <p:grpSpPr>
          <a:xfrm>
            <a:off x="6914815" y="4115370"/>
            <a:ext cx="2698271" cy="1339668"/>
            <a:chOff x="6914815" y="4115370"/>
            <a:chExt cx="2698271" cy="133966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C69D807-3F6C-5335-C35B-27DFFB698035}"/>
                </a:ext>
              </a:extLst>
            </p:cNvPr>
            <p:cNvSpPr txBox="1"/>
            <p:nvPr/>
          </p:nvSpPr>
          <p:spPr>
            <a:xfrm>
              <a:off x="6914815" y="4286499"/>
              <a:ext cx="1808261" cy="116853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dirty="0"/>
                <a:t>Beaver</a:t>
              </a:r>
              <a:br>
                <a:rPr lang="en-GB" sz="2400" dirty="0"/>
              </a:br>
              <a:r>
                <a:rPr lang="en-GB" sz="2400" dirty="0"/>
                <a:t>survival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07740FB-414C-6545-BE04-1EDD11246C0B}"/>
                </a:ext>
              </a:extLst>
            </p:cNvPr>
            <p:cNvCxnSpPr>
              <a:cxnSpLocks/>
              <a:stCxn id="8" idx="7"/>
              <a:endCxn id="5" idx="3"/>
            </p:cNvCxnSpPr>
            <p:nvPr/>
          </p:nvCxnSpPr>
          <p:spPr>
            <a:xfrm flipV="1">
              <a:off x="8458262" y="4115370"/>
              <a:ext cx="1154824" cy="34225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87107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3A4713-B8EB-6406-AF91-68F4A46ECCFF}"/>
                  </a:ext>
                </a:extLst>
              </p:cNvPr>
              <p:cNvSpPr txBox="1"/>
              <p:nvPr/>
            </p:nvSpPr>
            <p:spPr>
              <a:xfrm>
                <a:off x="3344509" y="496711"/>
                <a:ext cx="5502980" cy="16020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800" b="0" i="1" smtClean="0">
                                  <a:solidFill>
                                    <a:schemeClr val="accent4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4800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48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4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4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accent4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accent6">
                                  <a:lumMod val="40000"/>
                                  <a:lumOff val="6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GB" sz="4800" b="0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3A4713-B8EB-6406-AF91-68F4A46EC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509" y="496711"/>
                <a:ext cx="5502980" cy="16020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AA4A08-3F53-DD9C-D467-F9D05294631B}"/>
                  </a:ext>
                </a:extLst>
              </p:cNvPr>
              <p:cNvSpPr txBox="1"/>
              <p:nvPr/>
            </p:nvSpPr>
            <p:spPr>
              <a:xfrm>
                <a:off x="304799" y="3612010"/>
                <a:ext cx="11582400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1" dirty="0">
                    <a:solidFill>
                      <a:srgbClr val="FFFF00"/>
                    </a:solidFill>
                  </a:rPr>
                  <a:t>Beaver density</a:t>
                </a:r>
                <a:r>
                  <a:rPr lang="en-GB" sz="2800" dirty="0">
                    <a:solidFill>
                      <a:srgbClr val="FFFF00"/>
                    </a:solidFill>
                  </a:rPr>
                  <a:t>,</a:t>
                </a:r>
                <a:r>
                  <a:rPr lang="en-GB" sz="28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GB" sz="28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at each site and year </a:t>
                </a:r>
                <a:r>
                  <a:rPr lang="en-GB" sz="28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28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</a:rPr>
                  <a:t>)</a:t>
                </a:r>
                <a:r>
                  <a:rPr lang="en-GB" sz="2800" dirty="0"/>
                  <a:t>, is </a:t>
                </a:r>
                <a:r>
                  <a:rPr lang="en-GB" sz="28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“</a:t>
                </a:r>
                <a:r>
                  <a:rPr lang="en-GB" sz="28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generated</a:t>
                </a:r>
                <a:r>
                  <a:rPr lang="en-GB" sz="28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”</a:t>
                </a:r>
                <a:r>
                  <a:rPr lang="en-GB" sz="2800" dirty="0"/>
                  <a:t> according to a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sz="2800" dirty="0"/>
                  <a:t> distribution, with an </a:t>
                </a:r>
                <a:r>
                  <a:rPr lang="en-GB" sz="28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average</a:t>
                </a:r>
                <a:r>
                  <a:rPr lang="en-GB" sz="2800" dirty="0"/>
                  <a:t> and </a:t>
                </a:r>
                <a:r>
                  <a:rPr lang="en-GB" sz="2800" b="1" dirty="0">
                    <a:solidFill>
                      <a:srgbClr val="FF0000"/>
                    </a:solidFill>
                  </a:rPr>
                  <a:t>standard deviation</a:t>
                </a:r>
                <a:r>
                  <a:rPr lang="en-GB" sz="2800" dirty="0"/>
                  <a:t>. The </a:t>
                </a:r>
                <a:r>
                  <a:rPr lang="en-GB" sz="28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average</a:t>
                </a:r>
                <a:r>
                  <a:rPr lang="en-GB" sz="2800" dirty="0"/>
                  <a:t> is determined by an </a:t>
                </a:r>
                <a:r>
                  <a:rPr lang="en-GB" sz="2800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intercept</a:t>
                </a:r>
                <a:r>
                  <a:rPr lang="en-GB" sz="2800" dirty="0"/>
                  <a:t> and the </a:t>
                </a:r>
                <a:r>
                  <a:rPr lang="en-GB" sz="2800" b="1" dirty="0">
                    <a:solidFill>
                      <a:schemeClr val="accent6">
                        <a:lumMod val="75000"/>
                      </a:schemeClr>
                    </a:solidFill>
                  </a:rPr>
                  <a:t>effect</a:t>
                </a:r>
                <a:r>
                  <a:rPr lang="en-GB" sz="2800" dirty="0"/>
                  <a:t> of an </a:t>
                </a:r>
                <a:r>
                  <a:rPr lang="en-GB" sz="28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explanatory variable</a:t>
                </a:r>
                <a:r>
                  <a:rPr lang="en-GB" sz="2800" dirty="0"/>
                  <a:t> (called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800" dirty="0"/>
                  <a:t> here)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AA4A08-3F53-DD9C-D467-F9D052946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3612010"/>
                <a:ext cx="11582400" cy="1815882"/>
              </a:xfrm>
              <a:prstGeom prst="rect">
                <a:avLst/>
              </a:prstGeom>
              <a:blipFill>
                <a:blip r:embed="rId3"/>
                <a:stretch>
                  <a:fillRect l="-1053" t="-4040" b="-84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55DF2EE7-1436-29D9-20B6-E923C7DE75AD}"/>
              </a:ext>
            </a:extLst>
          </p:cNvPr>
          <p:cNvGrpSpPr/>
          <p:nvPr/>
        </p:nvGrpSpPr>
        <p:grpSpPr>
          <a:xfrm>
            <a:off x="2942493" y="762000"/>
            <a:ext cx="3774830" cy="3323492"/>
            <a:chOff x="2942493" y="762000"/>
            <a:chExt cx="3774830" cy="3323492"/>
          </a:xfrm>
          <a:solidFill>
            <a:schemeClr val="bg1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0FFFC22-1314-57EB-3C61-6F65DA6A401F}"/>
                </a:ext>
              </a:extLst>
            </p:cNvPr>
            <p:cNvSpPr/>
            <p:nvPr/>
          </p:nvSpPr>
          <p:spPr>
            <a:xfrm>
              <a:off x="3938954" y="762000"/>
              <a:ext cx="187569" cy="5744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E76978C-84E0-5F98-8EA4-97B8806C3D1A}"/>
                </a:ext>
              </a:extLst>
            </p:cNvPr>
            <p:cNvSpPr/>
            <p:nvPr/>
          </p:nvSpPr>
          <p:spPr>
            <a:xfrm>
              <a:off x="2942493" y="3511061"/>
              <a:ext cx="3774830" cy="5744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766F3F5-B58E-ADA1-041D-76020F033721}"/>
              </a:ext>
            </a:extLst>
          </p:cNvPr>
          <p:cNvGrpSpPr/>
          <p:nvPr/>
        </p:nvGrpSpPr>
        <p:grpSpPr>
          <a:xfrm>
            <a:off x="4278923" y="723301"/>
            <a:ext cx="4853788" cy="3362191"/>
            <a:chOff x="4278923" y="723301"/>
            <a:chExt cx="4853788" cy="3362191"/>
          </a:xfrm>
          <a:solidFill>
            <a:schemeClr val="bg1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3FB3857-B426-616A-8614-73ADB2A09673}"/>
                </a:ext>
              </a:extLst>
            </p:cNvPr>
            <p:cNvSpPr/>
            <p:nvPr/>
          </p:nvSpPr>
          <p:spPr>
            <a:xfrm flipH="1">
              <a:off x="4278923" y="723301"/>
              <a:ext cx="442045" cy="5744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607723D-223C-4B90-F41C-6995F3B7AA3F}"/>
                </a:ext>
              </a:extLst>
            </p:cNvPr>
            <p:cNvSpPr/>
            <p:nvPr/>
          </p:nvSpPr>
          <p:spPr>
            <a:xfrm>
              <a:off x="6717322" y="3511061"/>
              <a:ext cx="2415389" cy="5744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4033040-5495-E2D6-AD26-4C1CAF56C2A6}"/>
              </a:ext>
            </a:extLst>
          </p:cNvPr>
          <p:cNvGrpSpPr/>
          <p:nvPr/>
        </p:nvGrpSpPr>
        <p:grpSpPr>
          <a:xfrm>
            <a:off x="3645875" y="602324"/>
            <a:ext cx="4302372" cy="3969676"/>
            <a:chOff x="3645875" y="602324"/>
            <a:chExt cx="4302372" cy="3969676"/>
          </a:xfrm>
          <a:solidFill>
            <a:schemeClr val="bg1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45EB67A-011C-B353-11F6-91E9C37222F3}"/>
                </a:ext>
              </a:extLst>
            </p:cNvPr>
            <p:cNvSpPr/>
            <p:nvPr/>
          </p:nvSpPr>
          <p:spPr>
            <a:xfrm flipH="1">
              <a:off x="6998675" y="602324"/>
              <a:ext cx="949572" cy="6881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E01DEBD-3180-F5A4-311E-A94AA2FF03BB}"/>
                </a:ext>
              </a:extLst>
            </p:cNvPr>
            <p:cNvSpPr/>
            <p:nvPr/>
          </p:nvSpPr>
          <p:spPr>
            <a:xfrm>
              <a:off x="3645875" y="4085492"/>
              <a:ext cx="2661139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0F14756-C889-787B-9ADF-AA7E7AA75346}"/>
              </a:ext>
            </a:extLst>
          </p:cNvPr>
          <p:cNvGrpSpPr/>
          <p:nvPr/>
        </p:nvGrpSpPr>
        <p:grpSpPr>
          <a:xfrm>
            <a:off x="6307014" y="609599"/>
            <a:ext cx="3751385" cy="3962401"/>
            <a:chOff x="6307014" y="609599"/>
            <a:chExt cx="3751385" cy="3962401"/>
          </a:xfrm>
          <a:solidFill>
            <a:schemeClr val="bg1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916C542-D48C-CF76-7719-D8F09B40E8DB}"/>
                </a:ext>
              </a:extLst>
            </p:cNvPr>
            <p:cNvSpPr/>
            <p:nvPr/>
          </p:nvSpPr>
          <p:spPr>
            <a:xfrm flipH="1">
              <a:off x="7948246" y="609599"/>
              <a:ext cx="949572" cy="6881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560154E-8906-2E91-046B-0D4CB74EC714}"/>
                </a:ext>
              </a:extLst>
            </p:cNvPr>
            <p:cNvSpPr/>
            <p:nvPr/>
          </p:nvSpPr>
          <p:spPr>
            <a:xfrm>
              <a:off x="6307014" y="4085492"/>
              <a:ext cx="3751385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4CCACD9-8DF7-4B98-D825-9279B1F8D409}"/>
              </a:ext>
            </a:extLst>
          </p:cNvPr>
          <p:cNvGrpSpPr/>
          <p:nvPr/>
        </p:nvGrpSpPr>
        <p:grpSpPr>
          <a:xfrm>
            <a:off x="351693" y="1334827"/>
            <a:ext cx="11125195" cy="3723681"/>
            <a:chOff x="351693" y="1334827"/>
            <a:chExt cx="11125195" cy="3723681"/>
          </a:xfrm>
          <a:solidFill>
            <a:schemeClr val="bg1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A435EED-832C-65F7-DE5A-FB87B290BB17}"/>
                </a:ext>
              </a:extLst>
            </p:cNvPr>
            <p:cNvSpPr/>
            <p:nvPr/>
          </p:nvSpPr>
          <p:spPr>
            <a:xfrm flipH="1">
              <a:off x="3349362" y="1334827"/>
              <a:ext cx="1371605" cy="6881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AFA3F8F-E5F9-1D5B-3B4B-2494675C4D1E}"/>
                </a:ext>
              </a:extLst>
            </p:cNvPr>
            <p:cNvSpPr/>
            <p:nvPr/>
          </p:nvSpPr>
          <p:spPr>
            <a:xfrm>
              <a:off x="10058399" y="4085492"/>
              <a:ext cx="1418489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D24D60C-DF85-2511-D21D-2AC8A6DD5709}"/>
                </a:ext>
              </a:extLst>
            </p:cNvPr>
            <p:cNvSpPr/>
            <p:nvPr/>
          </p:nvSpPr>
          <p:spPr>
            <a:xfrm>
              <a:off x="351693" y="4572000"/>
              <a:ext cx="4126521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6088AE0-61FA-3DA9-7D72-1BF63E1EB9A3}"/>
              </a:ext>
            </a:extLst>
          </p:cNvPr>
          <p:cNvGrpSpPr/>
          <p:nvPr/>
        </p:nvGrpSpPr>
        <p:grpSpPr>
          <a:xfrm>
            <a:off x="4478214" y="1354176"/>
            <a:ext cx="2003549" cy="3720613"/>
            <a:chOff x="4478214" y="1354176"/>
            <a:chExt cx="2003549" cy="3720613"/>
          </a:xfrm>
          <a:solidFill>
            <a:schemeClr val="bg1"/>
          </a:solid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2E4757D-D748-CA60-0E9B-147E5814FF89}"/>
                </a:ext>
              </a:extLst>
            </p:cNvPr>
            <p:cNvSpPr/>
            <p:nvPr/>
          </p:nvSpPr>
          <p:spPr>
            <a:xfrm flipH="1">
              <a:off x="4724394" y="1354176"/>
              <a:ext cx="914406" cy="6881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6952B77-F001-C018-1C0D-31B6EEF4FCB1}"/>
                </a:ext>
              </a:extLst>
            </p:cNvPr>
            <p:cNvSpPr/>
            <p:nvPr/>
          </p:nvSpPr>
          <p:spPr>
            <a:xfrm>
              <a:off x="4478214" y="4588281"/>
              <a:ext cx="2003549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1BDCB54-5003-93B1-A4C4-6EF88F88DA0D}"/>
              </a:ext>
            </a:extLst>
          </p:cNvPr>
          <p:cNvGrpSpPr/>
          <p:nvPr/>
        </p:nvGrpSpPr>
        <p:grpSpPr>
          <a:xfrm>
            <a:off x="5638796" y="1354176"/>
            <a:ext cx="3110092" cy="3704332"/>
            <a:chOff x="5638796" y="1354176"/>
            <a:chExt cx="3110092" cy="3704332"/>
          </a:xfrm>
          <a:solidFill>
            <a:schemeClr val="bg1"/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48EAF12-7508-7141-421B-EE0FF713936F}"/>
                </a:ext>
              </a:extLst>
            </p:cNvPr>
            <p:cNvSpPr/>
            <p:nvPr/>
          </p:nvSpPr>
          <p:spPr>
            <a:xfrm flipH="1">
              <a:off x="5638796" y="1354176"/>
              <a:ext cx="1172312" cy="6881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54F38A8-534A-428A-F60F-942A4712D62A}"/>
                </a:ext>
              </a:extLst>
            </p:cNvPr>
            <p:cNvSpPr/>
            <p:nvPr/>
          </p:nvSpPr>
          <p:spPr>
            <a:xfrm>
              <a:off x="6474069" y="4572000"/>
              <a:ext cx="2274819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46BCE23-D7FB-9FF0-A671-54A252556909}"/>
              </a:ext>
            </a:extLst>
          </p:cNvPr>
          <p:cNvGrpSpPr/>
          <p:nvPr/>
        </p:nvGrpSpPr>
        <p:grpSpPr>
          <a:xfrm>
            <a:off x="351693" y="1354176"/>
            <a:ext cx="11292250" cy="4143624"/>
            <a:chOff x="351693" y="1354176"/>
            <a:chExt cx="11292250" cy="4143624"/>
          </a:xfrm>
          <a:solidFill>
            <a:schemeClr val="bg1"/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28AAE4F-4E2B-B9F0-B49E-4B26AFBA403E}"/>
                </a:ext>
              </a:extLst>
            </p:cNvPr>
            <p:cNvSpPr/>
            <p:nvPr/>
          </p:nvSpPr>
          <p:spPr>
            <a:xfrm flipH="1">
              <a:off x="6811108" y="1354176"/>
              <a:ext cx="1172312" cy="6881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EFB1E0E-D93C-419B-3800-113DB1C33B5F}"/>
                </a:ext>
              </a:extLst>
            </p:cNvPr>
            <p:cNvSpPr/>
            <p:nvPr/>
          </p:nvSpPr>
          <p:spPr>
            <a:xfrm>
              <a:off x="8743776" y="4572000"/>
              <a:ext cx="2900167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354EBA2-44DE-8C71-C5F6-B8F22493A7C1}"/>
                </a:ext>
              </a:extLst>
            </p:cNvPr>
            <p:cNvSpPr/>
            <p:nvPr/>
          </p:nvSpPr>
          <p:spPr>
            <a:xfrm>
              <a:off x="351693" y="5011292"/>
              <a:ext cx="4062263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7BF297A-5132-A4EA-D4D7-221FC7DD5C4A}"/>
              </a:ext>
            </a:extLst>
          </p:cNvPr>
          <p:cNvGrpSpPr/>
          <p:nvPr/>
        </p:nvGrpSpPr>
        <p:grpSpPr>
          <a:xfrm>
            <a:off x="351693" y="609600"/>
            <a:ext cx="11183812" cy="3962401"/>
            <a:chOff x="351693" y="609600"/>
            <a:chExt cx="11183812" cy="3962401"/>
          </a:xfrm>
          <a:solidFill>
            <a:schemeClr val="bg1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48EE225-ED64-FA87-7B5E-A18A27D66C4F}"/>
                </a:ext>
              </a:extLst>
            </p:cNvPr>
            <p:cNvSpPr/>
            <p:nvPr/>
          </p:nvSpPr>
          <p:spPr>
            <a:xfrm flipH="1">
              <a:off x="4869934" y="609600"/>
              <a:ext cx="2128741" cy="688131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CEF040B-542F-B3BB-2F79-69731D92DEA5}"/>
                </a:ext>
              </a:extLst>
            </p:cNvPr>
            <p:cNvSpPr/>
            <p:nvPr/>
          </p:nvSpPr>
          <p:spPr>
            <a:xfrm>
              <a:off x="351693" y="4085493"/>
              <a:ext cx="3352799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AEA0D6A-E0D3-0260-9971-ACAF5AB86987}"/>
                </a:ext>
              </a:extLst>
            </p:cNvPr>
            <p:cNvSpPr/>
            <p:nvPr/>
          </p:nvSpPr>
          <p:spPr>
            <a:xfrm>
              <a:off x="9132711" y="3605497"/>
              <a:ext cx="2402794" cy="486508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861763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3A4713-B8EB-6406-AF91-68F4A46ECCFF}"/>
                  </a:ext>
                </a:extLst>
              </p:cNvPr>
              <p:cNvSpPr txBox="1"/>
              <p:nvPr/>
            </p:nvSpPr>
            <p:spPr>
              <a:xfrm>
                <a:off x="3344509" y="496711"/>
                <a:ext cx="5502980" cy="16020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E3A4713-B8EB-6406-AF91-68F4A46EC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509" y="496711"/>
                <a:ext cx="5502980" cy="16020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AA4A08-3F53-DD9C-D467-F9D05294631B}"/>
                  </a:ext>
                </a:extLst>
              </p:cNvPr>
              <p:cNvSpPr txBox="1"/>
              <p:nvPr/>
            </p:nvSpPr>
            <p:spPr>
              <a:xfrm>
                <a:off x="304799" y="3612010"/>
                <a:ext cx="11582400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solidFill>
                      <a:schemeClr val="tx1"/>
                    </a:solidFill>
                  </a:rPr>
                  <a:t>Beaver density, at each site and year (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</a:rPr>
                  <a:t>), is “generated” according to a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sz="2800" dirty="0">
                    <a:solidFill>
                      <a:schemeClr val="tx1"/>
                    </a:solidFill>
                  </a:rPr>
                  <a:t> distribution, with an average and standard deviation. The average is determined by an intercept and the effect of an explanatory variable (called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800" dirty="0">
                    <a:solidFill>
                      <a:schemeClr val="tx1"/>
                    </a:solidFill>
                  </a:rPr>
                  <a:t> here)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AA4A08-3F53-DD9C-D467-F9D052946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" y="3612010"/>
                <a:ext cx="11582400" cy="1815882"/>
              </a:xfrm>
              <a:prstGeom prst="rect">
                <a:avLst/>
              </a:prstGeom>
              <a:blipFill>
                <a:blip r:embed="rId3"/>
                <a:stretch>
                  <a:fillRect l="-1053" t="-4040" b="-84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3002E4-8B7D-91F4-E39B-8BB24F1339A4}"/>
                  </a:ext>
                </a:extLst>
              </p:cNvPr>
              <p:cNvSpPr txBox="1"/>
              <p:nvPr/>
            </p:nvSpPr>
            <p:spPr>
              <a:xfrm>
                <a:off x="7604873" y="1235375"/>
                <a:ext cx="2485232" cy="8633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B3002E4-8B7D-91F4-E39B-8BB24F133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4873" y="1235375"/>
                <a:ext cx="2485232" cy="8633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482A8F1-9AD1-DD33-C46C-ADF4B5EFC5BD}"/>
              </a:ext>
            </a:extLst>
          </p:cNvPr>
          <p:cNvSpPr txBox="1"/>
          <p:nvPr/>
        </p:nvSpPr>
        <p:spPr>
          <a:xfrm>
            <a:off x="304799" y="5685556"/>
            <a:ext cx="99680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tx1"/>
                </a:solidFill>
              </a:rPr>
              <a:t>To add more explanatory variables, we simply </a:t>
            </a:r>
            <a:r>
              <a:rPr lang="en-GB" sz="2800" dirty="0">
                <a:solidFill>
                  <a:srgbClr val="FFFF00"/>
                </a:solidFill>
              </a:rPr>
              <a:t>add them in</a:t>
            </a:r>
          </a:p>
        </p:txBody>
      </p:sp>
    </p:spTree>
    <p:extLst>
      <p:ext uri="{BB962C8B-B14F-4D97-AF65-F5344CB8AC3E}">
        <p14:creationId xmlns:p14="http://schemas.microsoft.com/office/powerpoint/2010/main" val="556955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8F8AD-407D-64BC-1FFC-FF43FDCC3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Including additional explanatory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7FA0B2-40F9-CBCB-FD15-AA856EBF841D}"/>
                  </a:ext>
                </a:extLst>
              </p:cNvPr>
              <p:cNvSpPr txBox="1"/>
              <p:nvPr/>
            </p:nvSpPr>
            <p:spPr>
              <a:xfrm>
                <a:off x="380043" y="2179714"/>
                <a:ext cx="5474126" cy="23407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7FA0B2-40F9-CBCB-FD15-AA856EBF8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43" y="2179714"/>
                <a:ext cx="5474126" cy="2340705"/>
              </a:xfrm>
              <a:prstGeom prst="rect">
                <a:avLst/>
              </a:prstGeom>
              <a:blipFill>
                <a:blip r:embed="rId2"/>
                <a:stretch>
                  <a:fillRect b="-109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C6E65FF8-0CB3-DF7A-24C0-579CB064D72D}"/>
              </a:ext>
            </a:extLst>
          </p:cNvPr>
          <p:cNvGrpSpPr/>
          <p:nvPr/>
        </p:nvGrpSpPr>
        <p:grpSpPr>
          <a:xfrm>
            <a:off x="7349875" y="2109100"/>
            <a:ext cx="3571464" cy="1917724"/>
            <a:chOff x="7349875" y="2109100"/>
            <a:chExt cx="3571464" cy="191772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C82090B-3DA0-2055-FEDC-8182BB958CD6}"/>
                </a:ext>
              </a:extLst>
            </p:cNvPr>
            <p:cNvSpPr txBox="1"/>
            <p:nvPr/>
          </p:nvSpPr>
          <p:spPr>
            <a:xfrm>
              <a:off x="9543617" y="3117960"/>
              <a:ext cx="1377722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Beaver </a:t>
              </a:r>
              <a:br>
                <a:rPr lang="en-GB" dirty="0"/>
              </a:br>
              <a:r>
                <a:rPr lang="en-GB" dirty="0"/>
                <a:t>density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E6D968F-EBD8-A184-240B-B0141FFBC8B1}"/>
                </a:ext>
              </a:extLst>
            </p:cNvPr>
            <p:cNvCxnSpPr>
              <a:cxnSpLocks/>
              <a:stCxn id="9" idx="5"/>
              <a:endCxn id="7" idx="1"/>
            </p:cNvCxnSpPr>
            <p:nvPr/>
          </p:nvCxnSpPr>
          <p:spPr>
            <a:xfrm>
              <a:off x="8738498" y="2884864"/>
              <a:ext cx="1006882" cy="36619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0E03EED-0805-D896-9AA3-1032B917DB15}"/>
                </a:ext>
              </a:extLst>
            </p:cNvPr>
            <p:cNvSpPr txBox="1"/>
            <p:nvPr/>
          </p:nvSpPr>
          <p:spPr>
            <a:xfrm>
              <a:off x="7349875" y="2109100"/>
              <a:ext cx="1626873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Wolf </a:t>
              </a:r>
              <a:br>
                <a:rPr lang="en-GB" dirty="0"/>
              </a:br>
              <a:r>
                <a:rPr lang="en-GB" dirty="0"/>
                <a:t>presence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42230EE-8EEB-A4D3-5307-463C995CF089}"/>
              </a:ext>
            </a:extLst>
          </p:cNvPr>
          <p:cNvGrpSpPr/>
          <p:nvPr/>
        </p:nvGrpSpPr>
        <p:grpSpPr>
          <a:xfrm>
            <a:off x="7349875" y="3893724"/>
            <a:ext cx="2395505" cy="1103871"/>
            <a:chOff x="7349875" y="3893724"/>
            <a:chExt cx="2395505" cy="110387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5E14A46-F0FA-4119-C5AA-16EC80F1DB82}"/>
                </a:ext>
              </a:extLst>
            </p:cNvPr>
            <p:cNvSpPr txBox="1"/>
            <p:nvPr/>
          </p:nvSpPr>
          <p:spPr>
            <a:xfrm>
              <a:off x="7349875" y="4088731"/>
              <a:ext cx="1420551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Beaver</a:t>
              </a:r>
              <a:br>
                <a:rPr lang="en-GB" dirty="0"/>
              </a:br>
              <a:r>
                <a:rPr lang="en-GB" dirty="0"/>
                <a:t>survival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D002D5E-8009-CED6-3466-F56869269436}"/>
                </a:ext>
              </a:extLst>
            </p:cNvPr>
            <p:cNvCxnSpPr>
              <a:cxnSpLocks/>
              <a:stCxn id="11" idx="7"/>
              <a:endCxn id="7" idx="3"/>
            </p:cNvCxnSpPr>
            <p:nvPr/>
          </p:nvCxnSpPr>
          <p:spPr>
            <a:xfrm flipV="1">
              <a:off x="8562391" y="3893724"/>
              <a:ext cx="1182989" cy="32810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49957B-F319-2335-C1F5-123D8489E5ED}"/>
                  </a:ext>
                </a:extLst>
              </p:cNvPr>
              <p:cNvSpPr txBox="1"/>
              <p:nvPr/>
            </p:nvSpPr>
            <p:spPr>
              <a:xfrm>
                <a:off x="809624" y="5286374"/>
                <a:ext cx="9477375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/>
                  <a:t>This equation will create two lines; one for beaver survival when wolves are present (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2800" dirty="0"/>
                  <a:t>), and another for beaver survival when wolves are absent (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800" dirty="0"/>
                  <a:t>)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49957B-F319-2335-C1F5-123D8489E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624" y="5286374"/>
                <a:ext cx="9477375" cy="1384995"/>
              </a:xfrm>
              <a:prstGeom prst="rect">
                <a:avLst/>
              </a:prstGeom>
              <a:blipFill>
                <a:blip r:embed="rId3"/>
                <a:stretch>
                  <a:fillRect l="-1351" t="-4846" r="-2059" b="-105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955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7A6465E-99F5-B3A1-DDDB-33AB393B2C6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4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br>
                  <a:rPr lang="en-GB" sz="4400" dirty="0">
                    <a:solidFill>
                      <a:schemeClr val="tx1"/>
                    </a:solidFill>
                  </a:rPr>
                </a:br>
                <a:endParaRPr lang="en-GB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7A6465E-99F5-B3A1-DDDB-33AB393B2C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b="-69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graph with red and yellow dots&#10;&#10;Description automatically generated">
            <a:extLst>
              <a:ext uri="{FF2B5EF4-FFF2-40B4-BE49-F238E27FC236}">
                <a16:creationId xmlns:a16="http://schemas.microsoft.com/office/drawing/2014/main" id="{91CBFF9E-0F9C-87F0-326D-AC879595D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83" y="1920875"/>
            <a:ext cx="4572000" cy="4572000"/>
          </a:xfrm>
          <a:prstGeom prst="rect">
            <a:avLst/>
          </a:prstGeom>
        </p:spPr>
      </p:pic>
      <p:pic>
        <p:nvPicPr>
          <p:cNvPr id="8" name="Picture 7" descr="A graph of a function&#10;&#10;Description automatically generated">
            <a:extLst>
              <a:ext uri="{FF2B5EF4-FFF2-40B4-BE49-F238E27FC236}">
                <a16:creationId xmlns:a16="http://schemas.microsoft.com/office/drawing/2014/main" id="{79F76D74-B529-18BE-55B8-BF4E13CCFF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418" y="192087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039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7A6465E-99F5-B3A1-DDDB-33AB393B2C6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7A6465E-99F5-B3A1-DDDB-33AB393B2C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202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graph with red and yellow dots&#10;&#10;Description automatically generated">
            <a:extLst>
              <a:ext uri="{FF2B5EF4-FFF2-40B4-BE49-F238E27FC236}">
                <a16:creationId xmlns:a16="http://schemas.microsoft.com/office/drawing/2014/main" id="{91CBFF9E-0F9C-87F0-326D-AC879595D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83" y="1920875"/>
            <a:ext cx="4572000" cy="4572000"/>
          </a:xfrm>
          <a:prstGeom prst="rect">
            <a:avLst/>
          </a:prstGeom>
        </p:spPr>
      </p:pic>
      <p:pic>
        <p:nvPicPr>
          <p:cNvPr id="5" name="Picture 4" descr="A graph of a graph&#10;&#10;Description automatically generated">
            <a:extLst>
              <a:ext uri="{FF2B5EF4-FFF2-40B4-BE49-F238E27FC236}">
                <a16:creationId xmlns:a16="http://schemas.microsoft.com/office/drawing/2014/main" id="{F54BCAB3-D105-5A6B-4F0E-3F020685B9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784" y="192087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747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BE848-F331-46C7-7717-23CF3EBCA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our parameters mean?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025B94-1FD8-1F74-214E-89745CD6D3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/>
                  <a:t> is the average number of beavers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So when wolves are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Absent</a:t>
                </a:r>
                <a:r>
                  <a:rPr lang="en-GB" dirty="0"/>
                  <a:t> and survival is 0 %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is difference in the number of beavers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When wolves are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Present</a:t>
                </a:r>
                <a:r>
                  <a:rPr lang="en-GB" dirty="0"/>
                  <a:t> and survival is 0 %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is the slope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GB" dirty="0"/>
              </a:p>
              <a:p>
                <a:pPr lvl="2"/>
                <a:r>
                  <a:rPr lang="en-GB" dirty="0"/>
                  <a:t>How many extra beavers there are 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dirty="0"/>
                  <a:t> increases by 1 (here 0 is 0% and 1 is 100%)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025B94-1FD8-1F74-214E-89745CD6D3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r="-13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Placeholder 8" descr="A graph with different colored lines&#10;&#10;Description automatically generated">
            <a:extLst>
              <a:ext uri="{FF2B5EF4-FFF2-40B4-BE49-F238E27FC236}">
                <a16:creationId xmlns:a16="http://schemas.microsoft.com/office/drawing/2014/main" id="{FB7C20CD-4A13-90ED-2D65-1DB1A47D82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6840EC-0085-9283-9722-E282AC58AFF8}"/>
              </a:ext>
            </a:extLst>
          </p:cNvPr>
          <p:cNvCxnSpPr/>
          <p:nvPr/>
        </p:nvCxnSpPr>
        <p:spPr>
          <a:xfrm>
            <a:off x="6976872" y="3776472"/>
            <a:ext cx="0" cy="233172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36DE72-A756-C0B9-9C93-E1471D0FEF8D}"/>
                  </a:ext>
                </a:extLst>
              </p:cNvPr>
              <p:cNvSpPr txBox="1"/>
              <p:nvPr/>
            </p:nvSpPr>
            <p:spPr>
              <a:xfrm>
                <a:off x="6912864" y="4581144"/>
                <a:ext cx="64325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36DE72-A756-C0B9-9C93-E1471D0FE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2864" y="4581144"/>
                <a:ext cx="643253" cy="523220"/>
              </a:xfrm>
              <a:prstGeom prst="rect">
                <a:avLst/>
              </a:prstGeom>
              <a:blipFill>
                <a:blip r:embed="rId4"/>
                <a:stretch>
                  <a:fillRect t="-15294" r="-25472" b="-294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3E9EB66-FCAF-7DA9-20B0-DB3560696188}"/>
              </a:ext>
            </a:extLst>
          </p:cNvPr>
          <p:cNvCxnSpPr>
            <a:cxnSpLocks/>
          </p:cNvCxnSpPr>
          <p:nvPr/>
        </p:nvCxnSpPr>
        <p:spPr>
          <a:xfrm flipH="1">
            <a:off x="6976871" y="2048256"/>
            <a:ext cx="1" cy="1710077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D4F434-0628-ED18-D59A-212C04601052}"/>
                  </a:ext>
                </a:extLst>
              </p:cNvPr>
              <p:cNvSpPr txBox="1"/>
              <p:nvPr/>
            </p:nvSpPr>
            <p:spPr>
              <a:xfrm>
                <a:off x="6912864" y="2565898"/>
                <a:ext cx="63498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D4F434-0628-ED18-D59A-212C04601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2864" y="2565898"/>
                <a:ext cx="634982" cy="523220"/>
              </a:xfrm>
              <a:prstGeom prst="rect">
                <a:avLst/>
              </a:prstGeom>
              <a:blipFill>
                <a:blip r:embed="rId5"/>
                <a:stretch>
                  <a:fillRect t="-15116" r="-26923" b="-290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10C5018F-E90C-5659-3BFD-7F8D0992187C}"/>
              </a:ext>
            </a:extLst>
          </p:cNvPr>
          <p:cNvGrpSpPr/>
          <p:nvPr/>
        </p:nvGrpSpPr>
        <p:grpSpPr>
          <a:xfrm>
            <a:off x="6976870" y="900113"/>
            <a:ext cx="3904489" cy="1200150"/>
            <a:chOff x="6976870" y="900113"/>
            <a:chExt cx="3904489" cy="120015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F701DB7-29E2-3258-C851-951565C3AEBC}"/>
                </a:ext>
              </a:extLst>
            </p:cNvPr>
            <p:cNvCxnSpPr/>
            <p:nvPr/>
          </p:nvCxnSpPr>
          <p:spPr>
            <a:xfrm>
              <a:off x="6976870" y="2064058"/>
              <a:ext cx="3904489" cy="18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C0EC299-D219-8DF7-8612-F760B141A597}"/>
                </a:ext>
              </a:extLst>
            </p:cNvPr>
            <p:cNvCxnSpPr>
              <a:cxnSpLocks/>
            </p:cNvCxnSpPr>
            <p:nvPr/>
          </p:nvCxnSpPr>
          <p:spPr>
            <a:xfrm>
              <a:off x="10881359" y="900113"/>
              <a:ext cx="0" cy="12001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964B263-6B2A-AC7F-71C6-23A77F1C83FD}"/>
              </a:ext>
            </a:extLst>
          </p:cNvPr>
          <p:cNvGrpSpPr/>
          <p:nvPr/>
        </p:nvGrpSpPr>
        <p:grpSpPr>
          <a:xfrm>
            <a:off x="6976871" y="2576322"/>
            <a:ext cx="3904489" cy="1200150"/>
            <a:chOff x="6976871" y="2576322"/>
            <a:chExt cx="3904489" cy="120015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FD03A85-3154-DD96-92C0-62414D2A5DF1}"/>
                </a:ext>
              </a:extLst>
            </p:cNvPr>
            <p:cNvCxnSpPr/>
            <p:nvPr/>
          </p:nvCxnSpPr>
          <p:spPr>
            <a:xfrm>
              <a:off x="6976871" y="3758333"/>
              <a:ext cx="3904489" cy="181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AC25F6-EF89-00A0-49F0-1A029F4EF133}"/>
                </a:ext>
              </a:extLst>
            </p:cNvPr>
            <p:cNvCxnSpPr>
              <a:cxnSpLocks/>
            </p:cNvCxnSpPr>
            <p:nvPr/>
          </p:nvCxnSpPr>
          <p:spPr>
            <a:xfrm>
              <a:off x="10881359" y="2576322"/>
              <a:ext cx="0" cy="120015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9A8B336-9150-5316-BA68-48332E76B927}"/>
                  </a:ext>
                </a:extLst>
              </p:cNvPr>
              <p:cNvSpPr txBox="1"/>
              <p:nvPr/>
            </p:nvSpPr>
            <p:spPr>
              <a:xfrm>
                <a:off x="8865107" y="2042478"/>
                <a:ext cx="64325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9A8B336-9150-5316-BA68-48332E76B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107" y="2042478"/>
                <a:ext cx="643253" cy="523220"/>
              </a:xfrm>
              <a:prstGeom prst="rect">
                <a:avLst/>
              </a:prstGeom>
              <a:blipFill>
                <a:blip r:embed="rId6"/>
                <a:stretch>
                  <a:fillRect t="-13953" r="-26415" b="-290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69A7CB4-842C-2E2E-93D6-19995F0FE4C1}"/>
                  </a:ext>
                </a:extLst>
              </p:cNvPr>
              <p:cNvSpPr txBox="1"/>
              <p:nvPr/>
            </p:nvSpPr>
            <p:spPr>
              <a:xfrm>
                <a:off x="8856089" y="3729643"/>
                <a:ext cx="64325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69A7CB4-842C-2E2E-93D6-19995F0FE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6089" y="3729643"/>
                <a:ext cx="643253" cy="523220"/>
              </a:xfrm>
              <a:prstGeom prst="rect">
                <a:avLst/>
              </a:prstGeom>
              <a:blipFill>
                <a:blip r:embed="rId7"/>
                <a:stretch>
                  <a:fillRect t="-15116" r="-26667" b="-290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1540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/>
      <p:bldP spid="17" grpId="0"/>
      <p:bldP spid="30" grpId="0"/>
      <p:bldP spid="3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BE848-F331-46C7-7717-23CF3EBCA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 trophic cascade with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025B94-1FD8-1F74-214E-89745CD6D3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Go through the usual steps (not shown)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=3.4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=2.4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=1.7</m:t>
                    </m:r>
                  </m:oMath>
                </a14:m>
                <a:endParaRPr lang="en-GB" dirty="0"/>
              </a:p>
              <a:p>
                <a:r>
                  <a:rPr lang="en-GB" dirty="0"/>
                  <a:t>Do wolves increase beaver density?</a:t>
                </a:r>
              </a:p>
              <a:p>
                <a:r>
                  <a:rPr lang="en-GB" dirty="0"/>
                  <a:t>How strong is the evidence for a trophic cascade?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025B94-1FD8-1F74-214E-89745CD6D3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r="-16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Placeholder 11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0C6EFA7B-EE87-70E1-437D-1BB71067559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1596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BE848-F331-46C7-7717-23CF3EBCA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Predicting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025B94-1FD8-1F74-214E-89745CD6D3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GB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=3.4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=2.4</m:t>
                    </m:r>
                  </m:oMath>
                </a14:m>
                <a:endParaRPr lang="en-GB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=1.7</m:t>
                    </m:r>
                  </m:oMath>
                </a14:m>
                <a:endParaRPr lang="en-GB" dirty="0"/>
              </a:p>
              <a:p>
                <a:r>
                  <a:rPr lang="en-GB" dirty="0"/>
                  <a:t>How many beavers if:</a:t>
                </a:r>
              </a:p>
              <a:p>
                <a:pPr lvl="1"/>
                <a:r>
                  <a:rPr lang="en-GB" dirty="0"/>
                  <a:t>Wolves are </a:t>
                </a:r>
                <a:r>
                  <a:rPr lang="en-GB" dirty="0">
                    <a:solidFill>
                      <a:srgbClr val="FFFF00"/>
                    </a:solidFill>
                  </a:rPr>
                  <a:t>absent</a:t>
                </a:r>
                <a:r>
                  <a:rPr lang="en-GB" dirty="0"/>
                  <a:t> and survival is </a:t>
                </a:r>
                <a:r>
                  <a:rPr lang="en-GB" dirty="0">
                    <a:solidFill>
                      <a:srgbClr val="FFFF00"/>
                    </a:solidFill>
                  </a:rPr>
                  <a:t>0</a:t>
                </a:r>
                <a:r>
                  <a:rPr lang="en-GB" dirty="0"/>
                  <a:t>?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3.4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2.4×</m:t>
                    </m:r>
                    <m:r>
                      <a:rPr lang="en-GB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1.7×</m:t>
                    </m:r>
                    <m:r>
                      <a:rPr lang="en-GB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=3.40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Wolves are </a:t>
                </a:r>
                <a:r>
                  <a:rPr lang="en-GB" dirty="0">
                    <a:solidFill>
                      <a:srgbClr val="FFFF00"/>
                    </a:solidFill>
                  </a:rPr>
                  <a:t>absent</a:t>
                </a:r>
                <a:r>
                  <a:rPr lang="en-GB" dirty="0"/>
                  <a:t> and survival is </a:t>
                </a:r>
                <a:r>
                  <a:rPr lang="en-GB" dirty="0">
                    <a:solidFill>
                      <a:srgbClr val="FFFF00"/>
                    </a:solidFill>
                  </a:rPr>
                  <a:t>0.5</a:t>
                </a:r>
                <a:r>
                  <a:rPr lang="en-GB" dirty="0"/>
                  <a:t>?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3.4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2.4×</m:t>
                    </m:r>
                    <m:r>
                      <a:rPr lang="en-GB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1.7×</m:t>
                    </m:r>
                    <m:r>
                      <a:rPr lang="en-GB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.5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Wolves are </a:t>
                </a:r>
                <a:r>
                  <a:rPr lang="en-GB" dirty="0">
                    <a:solidFill>
                      <a:srgbClr val="FFFF00"/>
                    </a:solidFill>
                  </a:rPr>
                  <a:t>present</a:t>
                </a:r>
                <a:r>
                  <a:rPr lang="en-GB" dirty="0"/>
                  <a:t> and survival is </a:t>
                </a:r>
                <a:r>
                  <a:rPr lang="en-GB" dirty="0">
                    <a:solidFill>
                      <a:srgbClr val="FFFF00"/>
                    </a:solidFill>
                  </a:rPr>
                  <a:t>0</a:t>
                </a:r>
                <a:r>
                  <a:rPr lang="en-GB" dirty="0"/>
                  <a:t>?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3.4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2.4×</m:t>
                    </m:r>
                    <m:r>
                      <a:rPr lang="en-GB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1.7×</m:t>
                    </m:r>
                    <m:r>
                      <a:rPr lang="en-GB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5.80</m:t>
                    </m:r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Wolves are </a:t>
                </a:r>
                <a:r>
                  <a:rPr lang="en-GB" dirty="0">
                    <a:solidFill>
                      <a:srgbClr val="FFFF00"/>
                    </a:solidFill>
                  </a:rPr>
                  <a:t>present</a:t>
                </a:r>
                <a:r>
                  <a:rPr lang="en-GB" dirty="0"/>
                  <a:t> and survival is </a:t>
                </a:r>
                <a:r>
                  <a:rPr lang="en-GB" dirty="0">
                    <a:solidFill>
                      <a:srgbClr val="FFFF00"/>
                    </a:solidFill>
                  </a:rPr>
                  <a:t>0.7</a:t>
                </a:r>
                <a:r>
                  <a:rPr lang="en-GB" dirty="0"/>
                  <a:t>?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3.4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2.4×</m:t>
                    </m:r>
                    <m:r>
                      <a:rPr lang="en-GB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1.7×</m:t>
                    </m:r>
                    <m:r>
                      <a:rPr lang="en-GB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.7</m:t>
                    </m:r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6.99</m:t>
                    </m:r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025B94-1FD8-1F74-214E-89745CD6D3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 t="-814" r="-2360" b="-4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Placeholder 11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0C6EFA7B-EE87-70E1-437D-1BB71067559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51264BB-E37A-E237-B01E-2DFFA513B439}"/>
              </a:ext>
            </a:extLst>
          </p:cNvPr>
          <p:cNvSpPr/>
          <p:nvPr/>
        </p:nvSpPr>
        <p:spPr>
          <a:xfrm>
            <a:off x="3803904" y="4069080"/>
            <a:ext cx="731520" cy="3474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C41145-5C92-172F-DB38-67B588274553}"/>
              </a:ext>
            </a:extLst>
          </p:cNvPr>
          <p:cNvSpPr/>
          <p:nvPr/>
        </p:nvSpPr>
        <p:spPr>
          <a:xfrm>
            <a:off x="3965448" y="4785360"/>
            <a:ext cx="826008" cy="3474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17F3BB-254E-B0CB-D80E-37721E1C5CD9}"/>
              </a:ext>
            </a:extLst>
          </p:cNvPr>
          <p:cNvSpPr/>
          <p:nvPr/>
        </p:nvSpPr>
        <p:spPr>
          <a:xfrm>
            <a:off x="3756660" y="5468112"/>
            <a:ext cx="826008" cy="3474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228152-6A1F-EB4D-89F4-0DB4A7E8F93A}"/>
              </a:ext>
            </a:extLst>
          </p:cNvPr>
          <p:cNvSpPr/>
          <p:nvPr/>
        </p:nvSpPr>
        <p:spPr>
          <a:xfrm>
            <a:off x="3965448" y="6215338"/>
            <a:ext cx="826008" cy="3474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6649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8F8AD-407D-64BC-1FFC-FF43FDCC3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Including even more variables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7FA0B2-40F9-CBCB-FD15-AA856EBF841D}"/>
                  </a:ext>
                </a:extLst>
              </p:cNvPr>
              <p:cNvSpPr txBox="1"/>
              <p:nvPr/>
            </p:nvSpPr>
            <p:spPr>
              <a:xfrm>
                <a:off x="380043" y="2179714"/>
                <a:ext cx="5502981" cy="38180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4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7FA0B2-40F9-CBCB-FD15-AA856EBF8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43" y="2179714"/>
                <a:ext cx="5502981" cy="3818033"/>
              </a:xfrm>
              <a:prstGeom prst="rect">
                <a:avLst/>
              </a:prstGeom>
              <a:blipFill>
                <a:blip r:embed="rId2"/>
                <a:stretch>
                  <a:fillRect b="-63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C6E65FF8-0CB3-DF7A-24C0-579CB064D72D}"/>
              </a:ext>
            </a:extLst>
          </p:cNvPr>
          <p:cNvGrpSpPr/>
          <p:nvPr/>
        </p:nvGrpSpPr>
        <p:grpSpPr>
          <a:xfrm>
            <a:off x="7349875" y="2109100"/>
            <a:ext cx="3571464" cy="1917724"/>
            <a:chOff x="7349875" y="2109100"/>
            <a:chExt cx="3571464" cy="191772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C82090B-3DA0-2055-FEDC-8182BB958CD6}"/>
                </a:ext>
              </a:extLst>
            </p:cNvPr>
            <p:cNvSpPr txBox="1"/>
            <p:nvPr/>
          </p:nvSpPr>
          <p:spPr>
            <a:xfrm>
              <a:off x="9543617" y="3117960"/>
              <a:ext cx="1377722" cy="9088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Beaver </a:t>
              </a:r>
              <a:br>
                <a:rPr lang="en-GB" dirty="0"/>
              </a:br>
              <a:r>
                <a:rPr lang="en-GB" dirty="0"/>
                <a:t>density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E6D968F-EBD8-A184-240B-B0141FFBC8B1}"/>
                </a:ext>
              </a:extLst>
            </p:cNvPr>
            <p:cNvCxnSpPr>
              <a:cxnSpLocks/>
              <a:stCxn id="9" idx="5"/>
              <a:endCxn id="7" idx="1"/>
            </p:cNvCxnSpPr>
            <p:nvPr/>
          </p:nvCxnSpPr>
          <p:spPr>
            <a:xfrm>
              <a:off x="8738498" y="2884864"/>
              <a:ext cx="1006882" cy="36619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0E03EED-0805-D896-9AA3-1032B917DB15}"/>
                    </a:ext>
                  </a:extLst>
                </p:cNvPr>
                <p:cNvSpPr txBox="1"/>
                <p:nvPr/>
              </p:nvSpPr>
              <p:spPr>
                <a:xfrm>
                  <a:off x="7349875" y="2109100"/>
                  <a:ext cx="1626873" cy="90886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a14:m>
                  <a:r>
                    <a:rPr lang="en-GB" dirty="0"/>
                    <a:t>olf </a:t>
                  </a:r>
                  <a:br>
                    <a:rPr lang="en-GB" dirty="0"/>
                  </a:br>
                  <a:r>
                    <a:rPr lang="en-GB" dirty="0"/>
                    <a:t>presence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0E03EED-0805-D896-9AA3-1032B917DB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9875" y="2109100"/>
                  <a:ext cx="1626873" cy="908864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42230EE-8EEB-A4D3-5307-463C995CF089}"/>
              </a:ext>
            </a:extLst>
          </p:cNvPr>
          <p:cNvGrpSpPr/>
          <p:nvPr/>
        </p:nvGrpSpPr>
        <p:grpSpPr>
          <a:xfrm>
            <a:off x="7334096" y="3893724"/>
            <a:ext cx="2411284" cy="1103871"/>
            <a:chOff x="7334096" y="3893724"/>
            <a:chExt cx="2411284" cy="11038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5E14A46-F0FA-4119-C5AA-16EC80F1DB82}"/>
                    </a:ext>
                  </a:extLst>
                </p:cNvPr>
                <p:cNvSpPr txBox="1"/>
                <p:nvPr/>
              </p:nvSpPr>
              <p:spPr>
                <a:xfrm>
                  <a:off x="7334096" y="4088731"/>
                  <a:ext cx="1452109" cy="90886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GB" dirty="0"/>
                    <a:t>Beaver</a:t>
                  </a:r>
                  <a:br>
                    <a:rPr lang="en-GB" dirty="0"/>
                  </a:br>
                  <a14:m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</m:oMath>
                  </a14:m>
                  <a:r>
                    <a:rPr lang="en-GB" dirty="0"/>
                    <a:t>urvival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5E14A46-F0FA-4119-C5AA-16EC80F1DB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4096" y="4088731"/>
                  <a:ext cx="1452109" cy="90886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D002D5E-8009-CED6-3466-F56869269436}"/>
                </a:ext>
              </a:extLst>
            </p:cNvPr>
            <p:cNvCxnSpPr>
              <a:cxnSpLocks/>
              <a:stCxn id="11" idx="7"/>
              <a:endCxn id="7" idx="3"/>
            </p:cNvCxnSpPr>
            <p:nvPr/>
          </p:nvCxnSpPr>
          <p:spPr>
            <a:xfrm flipV="1">
              <a:off x="8573549" y="3893724"/>
              <a:ext cx="1171831" cy="32810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3E4DA8C-C3C5-BD33-50ED-1D4FF4ABD2E0}"/>
              </a:ext>
            </a:extLst>
          </p:cNvPr>
          <p:cNvGrpSpPr/>
          <p:nvPr/>
        </p:nvGrpSpPr>
        <p:grpSpPr>
          <a:xfrm>
            <a:off x="9112465" y="4026824"/>
            <a:ext cx="2240024" cy="1650913"/>
            <a:chOff x="4655053" y="787558"/>
            <a:chExt cx="2240024" cy="16509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11DE231-F052-5EEC-F3AB-921670B2DCE5}"/>
                    </a:ext>
                  </a:extLst>
                </p:cNvPr>
                <p:cNvSpPr txBox="1"/>
                <p:nvPr/>
              </p:nvSpPr>
              <p:spPr>
                <a:xfrm>
                  <a:off x="4655053" y="1529607"/>
                  <a:ext cx="2240024" cy="90886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dirty="0"/>
                    <a:t>Beaver</a:t>
                  </a:r>
                  <a:br>
                    <a:rPr lang="en-GB" dirty="0"/>
                  </a:br>
                  <a14:m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r>
                    <a:rPr lang="en-GB" dirty="0"/>
                    <a:t>eproduction</a:t>
                  </a: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11DE231-F052-5EEC-F3AB-921670B2DC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5053" y="1529607"/>
                  <a:ext cx="2240024" cy="908864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4F56A83-830B-6616-BA3D-B36DD3E0954F}"/>
                </a:ext>
              </a:extLst>
            </p:cNvPr>
            <p:cNvCxnSpPr>
              <a:cxnSpLocks/>
              <a:stCxn id="14" idx="0"/>
              <a:endCxn id="7" idx="4"/>
            </p:cNvCxnSpPr>
            <p:nvPr/>
          </p:nvCxnSpPr>
          <p:spPr>
            <a:xfrm flipV="1">
              <a:off x="5775065" y="787558"/>
              <a:ext cx="1" cy="74204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BF9AE4F-CCFF-79D6-9A24-C58EE6305510}"/>
              </a:ext>
            </a:extLst>
          </p:cNvPr>
          <p:cNvGrpSpPr/>
          <p:nvPr/>
        </p:nvGrpSpPr>
        <p:grpSpPr>
          <a:xfrm>
            <a:off x="9365540" y="1333336"/>
            <a:ext cx="1733875" cy="1784624"/>
            <a:chOff x="9365540" y="1333336"/>
            <a:chExt cx="1733875" cy="17846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70E9B21-807F-E7CF-C607-8854F675E52D}"/>
                    </a:ext>
                  </a:extLst>
                </p:cNvPr>
                <p:cNvSpPr txBox="1"/>
                <p:nvPr/>
              </p:nvSpPr>
              <p:spPr>
                <a:xfrm>
                  <a:off x="9365540" y="1333336"/>
                  <a:ext cx="1733875" cy="908864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GB" b="1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</m:oMath>
                  </a14:m>
                  <a:r>
                    <a:rPr lang="en-GB" dirty="0"/>
                    <a:t>ark</a:t>
                  </a:r>
                  <a:br>
                    <a:rPr lang="en-GB" dirty="0"/>
                  </a:br>
                  <a:r>
                    <a:rPr lang="en-GB" dirty="0"/>
                    <a:t>protection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70E9B21-807F-E7CF-C607-8854F675E5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5540" y="1333336"/>
                  <a:ext cx="1733875" cy="908864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857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91E5B66-C14E-4955-649F-96F303ED0E0A}"/>
                </a:ext>
              </a:extLst>
            </p:cNvPr>
            <p:cNvCxnSpPr>
              <a:cxnSpLocks/>
              <a:stCxn id="17" idx="4"/>
              <a:endCxn id="7" idx="0"/>
            </p:cNvCxnSpPr>
            <p:nvPr/>
          </p:nvCxnSpPr>
          <p:spPr>
            <a:xfrm>
              <a:off x="10232478" y="2242200"/>
              <a:ext cx="0" cy="87576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45173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different types of graphs&#10;&#10;Description automatically generated with medium confidence">
            <a:extLst>
              <a:ext uri="{FF2B5EF4-FFF2-40B4-BE49-F238E27FC236}">
                <a16:creationId xmlns:a16="http://schemas.microsoft.com/office/drawing/2014/main" id="{7F955FF8-92C0-90D5-0787-597711551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197429"/>
            <a:ext cx="12192000" cy="56605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855C6F0-45DD-7097-5E52-74EF904494EE}"/>
              </a:ext>
            </a:extLst>
          </p:cNvPr>
          <p:cNvSpPr/>
          <p:nvPr/>
        </p:nvSpPr>
        <p:spPr>
          <a:xfrm>
            <a:off x="47624" y="1243013"/>
            <a:ext cx="6048375" cy="27254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5EB55-FA0F-5E3B-8EE2-CBAD57C66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What do we learn from the new model?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99ABB0-F370-AB86-E62C-DC346D87FFC5}"/>
              </a:ext>
            </a:extLst>
          </p:cNvPr>
          <p:cNvSpPr/>
          <p:nvPr/>
        </p:nvSpPr>
        <p:spPr>
          <a:xfrm>
            <a:off x="6095999" y="1243013"/>
            <a:ext cx="6048375" cy="27254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E2297C-F105-9F27-CDF4-C2C365592B6F}"/>
              </a:ext>
            </a:extLst>
          </p:cNvPr>
          <p:cNvSpPr/>
          <p:nvPr/>
        </p:nvSpPr>
        <p:spPr>
          <a:xfrm>
            <a:off x="47624" y="3968496"/>
            <a:ext cx="6048375" cy="28228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54FCEF-39CC-E3F0-0A11-5B67A783FE32}"/>
              </a:ext>
            </a:extLst>
          </p:cNvPr>
          <p:cNvSpPr/>
          <p:nvPr/>
        </p:nvSpPr>
        <p:spPr>
          <a:xfrm>
            <a:off x="6095999" y="3968496"/>
            <a:ext cx="6048375" cy="28228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36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FB2C4-9FDB-8B9A-C980-B83479999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What happened to our trophic cascade?</a:t>
            </a:r>
          </a:p>
        </p:txBody>
      </p:sp>
      <p:pic>
        <p:nvPicPr>
          <p:cNvPr id="4" name="Picture 3" descr="A screen shot of a cell phone&#10;&#10;Description automatically generated">
            <a:extLst>
              <a:ext uri="{FF2B5EF4-FFF2-40B4-BE49-F238E27FC236}">
                <a16:creationId xmlns:a16="http://schemas.microsoft.com/office/drawing/2014/main" id="{528E0C44-214B-24BA-B917-41568B4C2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513" y="1567226"/>
            <a:ext cx="3458800" cy="41239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F65A78-D829-4D21-4DA2-D17FA864B98B}"/>
                  </a:ext>
                </a:extLst>
              </p:cNvPr>
              <p:cNvSpPr txBox="1"/>
              <p:nvPr/>
            </p:nvSpPr>
            <p:spPr>
              <a:xfrm>
                <a:off x="1783538" y="5691180"/>
                <a:ext cx="26130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F65A78-D829-4D21-4DA2-D17FA864B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38" y="5691180"/>
                <a:ext cx="2613088" cy="523220"/>
              </a:xfrm>
              <a:prstGeom prst="rect">
                <a:avLst/>
              </a:prstGeom>
              <a:blipFill>
                <a:blip r:embed="rId3"/>
                <a:stretch>
                  <a:fillRect t="-15294" r="-6308" b="-305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517AE0-DA73-6DFF-629C-FD84C9B93709}"/>
                  </a:ext>
                </a:extLst>
              </p:cNvPr>
              <p:cNvSpPr txBox="1"/>
              <p:nvPr/>
            </p:nvSpPr>
            <p:spPr>
              <a:xfrm>
                <a:off x="5526188" y="5691180"/>
                <a:ext cx="6096000" cy="9730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517AE0-DA73-6DFF-629C-FD84C9B93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6188" y="5691180"/>
                <a:ext cx="6096000" cy="973023"/>
              </a:xfrm>
              <a:prstGeom prst="rect">
                <a:avLst/>
              </a:prstGeom>
              <a:blipFill>
                <a:blip r:embed="rId4"/>
                <a:stretch>
                  <a:fillRect b="-13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screenshot of a cell phone screen&#10;&#10;Description automatically generated">
            <a:extLst>
              <a:ext uri="{FF2B5EF4-FFF2-40B4-BE49-F238E27FC236}">
                <a16:creationId xmlns:a16="http://schemas.microsoft.com/office/drawing/2014/main" id="{EEFC78AA-E2A8-4180-2B7E-7CDAEE4841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381" y="1567226"/>
            <a:ext cx="3458800" cy="412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3093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66613-6E94-21B3-DAB0-47B4712A6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representation of the system was wrong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13B66-6D5B-B138-E37E-9F36ED891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we originally assumed</a:t>
            </a:r>
          </a:p>
          <a:p>
            <a:r>
              <a:rPr lang="en-GB" dirty="0"/>
              <a:t>But this was wrong</a:t>
            </a:r>
          </a:p>
          <a:p>
            <a:r>
              <a:rPr lang="en-GB" dirty="0"/>
              <a:t>I only know it’s wrong because I simulated this data</a:t>
            </a:r>
          </a:p>
          <a:p>
            <a:r>
              <a:rPr lang="en-GB" dirty="0"/>
              <a:t>Wolves never influenced beaver density</a:t>
            </a:r>
          </a:p>
          <a:p>
            <a:r>
              <a:rPr lang="en-GB" dirty="0"/>
              <a:t>But both beavers and wolves benefitted from Yellowstone being fully protected</a:t>
            </a:r>
          </a:p>
          <a:p>
            <a:r>
              <a:rPr lang="en-GB" dirty="0"/>
              <a:t>Wolves and beavers are confounded by park protection!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FD80C64-4740-E158-02A0-BFAD32749D89}"/>
              </a:ext>
            </a:extLst>
          </p:cNvPr>
          <p:cNvGrpSpPr/>
          <p:nvPr/>
        </p:nvGrpSpPr>
        <p:grpSpPr>
          <a:xfrm>
            <a:off x="7334096" y="1333336"/>
            <a:ext cx="4018393" cy="4344401"/>
            <a:chOff x="7334096" y="1333336"/>
            <a:chExt cx="4018393" cy="4344401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B3FB1DE-5AAB-8D7E-54DF-57F125102530}"/>
                </a:ext>
              </a:extLst>
            </p:cNvPr>
            <p:cNvGrpSpPr/>
            <p:nvPr/>
          </p:nvGrpSpPr>
          <p:grpSpPr>
            <a:xfrm>
              <a:off x="7349875" y="2109100"/>
              <a:ext cx="3571464" cy="1917724"/>
              <a:chOff x="7349875" y="2109100"/>
              <a:chExt cx="3571464" cy="1917724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7A76E5-4E73-39FE-4CC3-119B1B0A9F24}"/>
                  </a:ext>
                </a:extLst>
              </p:cNvPr>
              <p:cNvSpPr txBox="1"/>
              <p:nvPr/>
            </p:nvSpPr>
            <p:spPr>
              <a:xfrm>
                <a:off x="9543617" y="3117960"/>
                <a:ext cx="1377722" cy="90886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/>
                  <a:t>Beaver </a:t>
                </a:r>
                <a:br>
                  <a:rPr lang="en-GB" dirty="0"/>
                </a:br>
                <a:r>
                  <a:rPr lang="en-GB" dirty="0"/>
                  <a:t>density</a:t>
                </a:r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5BD3795F-3FBB-FE66-8165-B8BF87775BC8}"/>
                  </a:ext>
                </a:extLst>
              </p:cNvPr>
              <p:cNvCxnSpPr>
                <a:cxnSpLocks/>
                <a:stCxn id="8" idx="5"/>
                <a:endCxn id="6" idx="1"/>
              </p:cNvCxnSpPr>
              <p:nvPr/>
            </p:nvCxnSpPr>
            <p:spPr>
              <a:xfrm>
                <a:off x="8738498" y="2884864"/>
                <a:ext cx="1006882" cy="36619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9233E614-0E62-5FDD-576A-C6825D64D846}"/>
                      </a:ext>
                    </a:extLst>
                  </p:cNvPr>
                  <p:cNvSpPr txBox="1"/>
                  <p:nvPr/>
                </p:nvSpPr>
                <p:spPr>
                  <a:xfrm>
                    <a:off x="7349875" y="2109100"/>
                    <a:ext cx="1626873" cy="9088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oMath>
                    </a14:m>
                    <a:r>
                      <a:rPr lang="en-GB" dirty="0"/>
                      <a:t>olf </a:t>
                    </a:r>
                    <a:br>
                      <a:rPr lang="en-GB" dirty="0"/>
                    </a:br>
                    <a:r>
                      <a:rPr lang="en-GB" dirty="0"/>
                      <a:t>presence</a:t>
                    </a:r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9233E614-0E62-5FDD-576A-C6825D64D8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49875" y="2109100"/>
                    <a:ext cx="1626873" cy="908864"/>
                  </a:xfrm>
                  <a:prstGeom prst="ellipse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2D57263-B87D-9DA2-9E87-F06E6D51AE52}"/>
                </a:ext>
              </a:extLst>
            </p:cNvPr>
            <p:cNvGrpSpPr/>
            <p:nvPr/>
          </p:nvGrpSpPr>
          <p:grpSpPr>
            <a:xfrm>
              <a:off x="7334096" y="3893724"/>
              <a:ext cx="2411284" cy="1103871"/>
              <a:chOff x="7334096" y="3893724"/>
              <a:chExt cx="2411284" cy="110387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24589F1E-60C6-1A63-BE1C-E524816F1269}"/>
                      </a:ext>
                    </a:extLst>
                  </p:cNvPr>
                  <p:cNvSpPr txBox="1"/>
                  <p:nvPr/>
                </p:nvSpPr>
                <p:spPr>
                  <a:xfrm>
                    <a:off x="7334096" y="4088731"/>
                    <a:ext cx="1452109" cy="9088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GB" dirty="0"/>
                      <a:t>Beaver</a:t>
                    </a:r>
                    <a:br>
                      <a:rPr lang="en-GB" dirty="0"/>
                    </a:br>
                    <a14:m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oMath>
                    </a14:m>
                    <a:r>
                      <a:rPr lang="en-GB" dirty="0"/>
                      <a:t>urvival</a:t>
                    </a:r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24589F1E-60C6-1A63-BE1C-E524816F12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4096" y="4088731"/>
                    <a:ext cx="1452109" cy="908864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FAD63899-5AA5-F6A6-14C4-EB6887F1FD74}"/>
                  </a:ext>
                </a:extLst>
              </p:cNvPr>
              <p:cNvCxnSpPr>
                <a:cxnSpLocks/>
                <a:stCxn id="10" idx="7"/>
                <a:endCxn id="6" idx="3"/>
              </p:cNvCxnSpPr>
              <p:nvPr/>
            </p:nvCxnSpPr>
            <p:spPr>
              <a:xfrm flipV="1">
                <a:off x="8573549" y="3893724"/>
                <a:ext cx="1171831" cy="32810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98ACE8F-86C1-058D-8DCA-5528B6EBFD44}"/>
                </a:ext>
              </a:extLst>
            </p:cNvPr>
            <p:cNvGrpSpPr/>
            <p:nvPr/>
          </p:nvGrpSpPr>
          <p:grpSpPr>
            <a:xfrm>
              <a:off x="9112465" y="4026824"/>
              <a:ext cx="2240024" cy="1650913"/>
              <a:chOff x="4655053" y="787558"/>
              <a:chExt cx="2240024" cy="165091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4B2EC0B5-3B5D-7BFC-E533-EA15BCFDC0EA}"/>
                      </a:ext>
                    </a:extLst>
                  </p:cNvPr>
                  <p:cNvSpPr txBox="1"/>
                  <p:nvPr/>
                </p:nvSpPr>
                <p:spPr>
                  <a:xfrm>
                    <a:off x="4655053" y="1529607"/>
                    <a:ext cx="2240024" cy="9088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dirty="0"/>
                      <a:t>Beaver</a:t>
                    </a:r>
                    <a:br>
                      <a:rPr lang="en-GB" dirty="0"/>
                    </a:br>
                    <a14:m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a14:m>
                    <a:r>
                      <a:rPr lang="en-GB" dirty="0"/>
                      <a:t>eproduction</a:t>
                    </a: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4B2EC0B5-3B5D-7BFC-E533-EA15BCFDC0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55053" y="1529607"/>
                    <a:ext cx="2240024" cy="908864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0C0AC92B-75CF-6121-BF0B-B5CFC8F2D4CE}"/>
                  </a:ext>
                </a:extLst>
              </p:cNvPr>
              <p:cNvCxnSpPr>
                <a:cxnSpLocks/>
                <a:stCxn id="13" idx="0"/>
                <a:endCxn id="6" idx="4"/>
              </p:cNvCxnSpPr>
              <p:nvPr/>
            </p:nvCxnSpPr>
            <p:spPr>
              <a:xfrm flipV="1">
                <a:off x="5775065" y="787558"/>
                <a:ext cx="1" cy="74204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9BE62DC-A25E-91EA-10E0-E7C641288DAC}"/>
                </a:ext>
              </a:extLst>
            </p:cNvPr>
            <p:cNvGrpSpPr/>
            <p:nvPr/>
          </p:nvGrpSpPr>
          <p:grpSpPr>
            <a:xfrm>
              <a:off x="9365540" y="1333336"/>
              <a:ext cx="1733875" cy="1784624"/>
              <a:chOff x="9365540" y="1333336"/>
              <a:chExt cx="1733875" cy="17846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0FBE8477-C033-59B9-3854-C405F69014AA}"/>
                      </a:ext>
                    </a:extLst>
                  </p:cNvPr>
                  <p:cNvSpPr txBox="1"/>
                  <p:nvPr/>
                </p:nvSpPr>
                <p:spPr>
                  <a:xfrm>
                    <a:off x="9365540" y="1333336"/>
                    <a:ext cx="1733875" cy="9088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oMath>
                    </a14:m>
                    <a:r>
                      <a:rPr lang="en-GB" dirty="0"/>
                      <a:t>ark</a:t>
                    </a:r>
                    <a:br>
                      <a:rPr lang="en-GB" dirty="0"/>
                    </a:br>
                    <a:r>
                      <a:rPr lang="en-GB" dirty="0"/>
                      <a:t>protection</a:t>
                    </a: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0FBE8477-C033-59B9-3854-C405F69014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65540" y="1333336"/>
                    <a:ext cx="1733875" cy="908864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1DC2DB47-D875-AF11-40ED-8C8B88E59859}"/>
                  </a:ext>
                </a:extLst>
              </p:cNvPr>
              <p:cNvCxnSpPr>
                <a:cxnSpLocks/>
                <a:stCxn id="16" idx="4"/>
                <a:endCxn id="6" idx="0"/>
              </p:cNvCxnSpPr>
              <p:nvPr/>
            </p:nvCxnSpPr>
            <p:spPr>
              <a:xfrm>
                <a:off x="10232478" y="2242200"/>
                <a:ext cx="0" cy="87576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2E0F9BE-1237-4C9A-81EF-114DCFE020B4}"/>
              </a:ext>
            </a:extLst>
          </p:cNvPr>
          <p:cNvGrpSpPr/>
          <p:nvPr/>
        </p:nvGrpSpPr>
        <p:grpSpPr>
          <a:xfrm>
            <a:off x="6923511" y="1340610"/>
            <a:ext cx="4428979" cy="4344401"/>
            <a:chOff x="7428336" y="1447636"/>
            <a:chExt cx="4428979" cy="434440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F3CE162-60FD-E736-5F77-50A9A7E0F6C1}"/>
                </a:ext>
              </a:extLst>
            </p:cNvPr>
            <p:cNvGrpSpPr/>
            <p:nvPr/>
          </p:nvGrpSpPr>
          <p:grpSpPr>
            <a:xfrm>
              <a:off x="7428336" y="1447636"/>
              <a:ext cx="3997828" cy="2693488"/>
              <a:chOff x="6923511" y="1333336"/>
              <a:chExt cx="3997828" cy="2693488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6B9692-B3C6-590A-AF84-EAB237395CAC}"/>
                  </a:ext>
                </a:extLst>
              </p:cNvPr>
              <p:cNvSpPr txBox="1"/>
              <p:nvPr/>
            </p:nvSpPr>
            <p:spPr>
              <a:xfrm>
                <a:off x="9543617" y="3117960"/>
                <a:ext cx="1377722" cy="90886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dirty="0"/>
                  <a:t>Beaver </a:t>
                </a:r>
                <a:br>
                  <a:rPr lang="en-GB" dirty="0"/>
                </a:br>
                <a:r>
                  <a:rPr lang="en-GB" dirty="0"/>
                  <a:t>density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00DB4058-2CA5-24F9-68EC-DDBA153A74AD}"/>
                      </a:ext>
                    </a:extLst>
                  </p:cNvPr>
                  <p:cNvSpPr txBox="1"/>
                  <p:nvPr/>
                </p:nvSpPr>
                <p:spPr>
                  <a:xfrm>
                    <a:off x="6923511" y="1333336"/>
                    <a:ext cx="1626873" cy="9088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oMath>
                    </a14:m>
                    <a:r>
                      <a:rPr lang="en-GB" dirty="0"/>
                      <a:t>olf </a:t>
                    </a:r>
                    <a:br>
                      <a:rPr lang="en-GB" dirty="0"/>
                    </a:br>
                    <a:r>
                      <a:rPr lang="en-GB" dirty="0"/>
                      <a:t>presence</a:t>
                    </a:r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00DB4058-2CA5-24F9-68EC-DDBA153A74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23511" y="1333336"/>
                    <a:ext cx="1626873" cy="908864"/>
                  </a:xfrm>
                  <a:prstGeom prst="ellipse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4E9F10A-24EB-DA79-D6DA-163E0CC44C5B}"/>
                </a:ext>
              </a:extLst>
            </p:cNvPr>
            <p:cNvGrpSpPr/>
            <p:nvPr/>
          </p:nvGrpSpPr>
          <p:grpSpPr>
            <a:xfrm>
              <a:off x="7476763" y="3232260"/>
              <a:ext cx="2571679" cy="908864"/>
              <a:chOff x="7334096" y="4088731"/>
              <a:chExt cx="2571679" cy="90886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27D1BCBB-794D-43FB-3C7C-05EF04E15FC6}"/>
                      </a:ext>
                    </a:extLst>
                  </p:cNvPr>
                  <p:cNvSpPr txBox="1"/>
                  <p:nvPr/>
                </p:nvSpPr>
                <p:spPr>
                  <a:xfrm>
                    <a:off x="7334096" y="4088731"/>
                    <a:ext cx="1452109" cy="9088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GB" dirty="0"/>
                      <a:t>Beaver</a:t>
                    </a:r>
                    <a:br>
                      <a:rPr lang="en-GB" dirty="0"/>
                    </a:br>
                    <a14:m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oMath>
                    </a14:m>
                    <a:r>
                      <a:rPr lang="en-GB" dirty="0"/>
                      <a:t>urvival</a:t>
                    </a:r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27D1BCBB-794D-43FB-3C7C-05EF04E15F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34096" y="4088731"/>
                    <a:ext cx="1452109" cy="908864"/>
                  </a:xfrm>
                  <a:prstGeom prst="ellipse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892698ED-DFDD-4A85-039F-620E9E15BE3B}"/>
                  </a:ext>
                </a:extLst>
              </p:cNvPr>
              <p:cNvCxnSpPr>
                <a:cxnSpLocks/>
                <a:stCxn id="29" idx="6"/>
                <a:endCxn id="31" idx="2"/>
              </p:cNvCxnSpPr>
              <p:nvPr/>
            </p:nvCxnSpPr>
            <p:spPr>
              <a:xfrm>
                <a:off x="8786205" y="4543163"/>
                <a:ext cx="1119570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C327011-2BF3-55FC-2D88-CA0E1717B739}"/>
                </a:ext>
              </a:extLst>
            </p:cNvPr>
            <p:cNvGrpSpPr/>
            <p:nvPr/>
          </p:nvGrpSpPr>
          <p:grpSpPr>
            <a:xfrm>
              <a:off x="9617291" y="4141124"/>
              <a:ext cx="2240024" cy="1650913"/>
              <a:chOff x="4655054" y="901858"/>
              <a:chExt cx="2240024" cy="165091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1D14FF42-E3F0-DA45-E49B-4C887CFE7CBB}"/>
                      </a:ext>
                    </a:extLst>
                  </p:cNvPr>
                  <p:cNvSpPr txBox="1"/>
                  <p:nvPr/>
                </p:nvSpPr>
                <p:spPr>
                  <a:xfrm>
                    <a:off x="4655054" y="1643907"/>
                    <a:ext cx="2240024" cy="9088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dirty="0"/>
                      <a:t>Beaver</a:t>
                    </a:r>
                    <a:br>
                      <a:rPr lang="en-GB" dirty="0"/>
                    </a:br>
                    <a14:m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oMath>
                    </a14:m>
                    <a:r>
                      <a:rPr lang="en-GB" dirty="0"/>
                      <a:t>eproduction</a:t>
                    </a: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1D14FF42-E3F0-DA45-E49B-4C887CFE7C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55054" y="1643907"/>
                    <a:ext cx="2240024" cy="908864"/>
                  </a:xfrm>
                  <a:prstGeom prst="ellipse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B63413DF-D3CE-10FC-F4ED-0D2A91EA4767}"/>
                  </a:ext>
                </a:extLst>
              </p:cNvPr>
              <p:cNvCxnSpPr>
                <a:cxnSpLocks/>
                <a:stCxn id="27" idx="0"/>
                <a:endCxn id="31" idx="4"/>
              </p:cNvCxnSpPr>
              <p:nvPr/>
            </p:nvCxnSpPr>
            <p:spPr>
              <a:xfrm flipV="1">
                <a:off x="5775066" y="901858"/>
                <a:ext cx="0" cy="74204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E22F21A-A46A-B5B4-ABAE-192EA7E5DC11}"/>
                </a:ext>
              </a:extLst>
            </p:cNvPr>
            <p:cNvGrpSpPr/>
            <p:nvPr/>
          </p:nvGrpSpPr>
          <p:grpSpPr>
            <a:xfrm>
              <a:off x="9870365" y="1447636"/>
              <a:ext cx="1733875" cy="1784624"/>
              <a:chOff x="9365540" y="1333336"/>
              <a:chExt cx="1733875" cy="178462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A4F8AB6F-4AE9-30E0-EA78-F48B998B21EE}"/>
                      </a:ext>
                    </a:extLst>
                  </p:cNvPr>
                  <p:cNvSpPr txBox="1"/>
                  <p:nvPr/>
                </p:nvSpPr>
                <p:spPr>
                  <a:xfrm>
                    <a:off x="9365540" y="1333336"/>
                    <a:ext cx="1733875" cy="908864"/>
                  </a:xfrm>
                  <a:prstGeom prst="ellipse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GB" b="1" i="1" dirty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oMath>
                    </a14:m>
                    <a:r>
                      <a:rPr lang="en-GB" dirty="0"/>
                      <a:t>ark</a:t>
                    </a:r>
                    <a:br>
                      <a:rPr lang="en-GB" dirty="0"/>
                    </a:br>
                    <a:r>
                      <a:rPr lang="en-GB" dirty="0"/>
                      <a:t>protection</a:t>
                    </a: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A4F8AB6F-4AE9-30E0-EA78-F48B998B21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65540" y="1333336"/>
                    <a:ext cx="1733875" cy="908864"/>
                  </a:xfrm>
                  <a:prstGeom prst="ellipse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2857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E0459210-5A16-7485-256E-B0DB436BEF0B}"/>
                  </a:ext>
                </a:extLst>
              </p:cNvPr>
              <p:cNvCxnSpPr>
                <a:cxnSpLocks/>
                <a:stCxn id="25" idx="4"/>
                <a:endCxn id="31" idx="0"/>
              </p:cNvCxnSpPr>
              <p:nvPr/>
            </p:nvCxnSpPr>
            <p:spPr>
              <a:xfrm>
                <a:off x="10232478" y="2242200"/>
                <a:ext cx="0" cy="87576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6E7B00A-5114-B66D-9B31-C4800FB5129C}"/>
                </a:ext>
              </a:extLst>
            </p:cNvPr>
            <p:cNvCxnSpPr>
              <a:cxnSpLocks/>
              <a:stCxn id="25" idx="2"/>
              <a:endCxn id="32" idx="6"/>
            </p:cNvCxnSpPr>
            <p:nvPr/>
          </p:nvCxnSpPr>
          <p:spPr>
            <a:xfrm flipH="1">
              <a:off x="9055209" y="1902068"/>
              <a:ext cx="81515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6858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ell phone screen&#10;&#10;Description automatically generated">
            <a:extLst>
              <a:ext uri="{FF2B5EF4-FFF2-40B4-BE49-F238E27FC236}">
                <a16:creationId xmlns:a16="http://schemas.microsoft.com/office/drawing/2014/main" id="{41935A0D-B8C3-DABD-740D-2EF721A5C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381" y="1567226"/>
            <a:ext cx="3458800" cy="41239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BFB2C4-9FDB-8B9A-C980-B83479999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What happened to our trophic cascade?</a:t>
            </a:r>
          </a:p>
        </p:txBody>
      </p:sp>
      <p:pic>
        <p:nvPicPr>
          <p:cNvPr id="4" name="Picture 3" descr="A screen shot of a cell phone&#10;&#10;Description automatically generated">
            <a:extLst>
              <a:ext uri="{FF2B5EF4-FFF2-40B4-BE49-F238E27FC236}">
                <a16:creationId xmlns:a16="http://schemas.microsoft.com/office/drawing/2014/main" id="{528E0C44-214B-24BA-B917-41568B4C2C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513" y="1567226"/>
            <a:ext cx="3458800" cy="41239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F65A78-D829-4D21-4DA2-D17FA864B98B}"/>
                  </a:ext>
                </a:extLst>
              </p:cNvPr>
              <p:cNvSpPr txBox="1"/>
              <p:nvPr/>
            </p:nvSpPr>
            <p:spPr>
              <a:xfrm>
                <a:off x="1783538" y="5691180"/>
                <a:ext cx="26130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F65A78-D829-4D21-4DA2-D17FA864B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38" y="5691180"/>
                <a:ext cx="2613088" cy="523220"/>
              </a:xfrm>
              <a:prstGeom prst="rect">
                <a:avLst/>
              </a:prstGeom>
              <a:blipFill>
                <a:blip r:embed="rId4"/>
                <a:stretch>
                  <a:fillRect t="-15294" r="-6308" b="-305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517AE0-DA73-6DFF-629C-FD84C9B93709}"/>
                  </a:ext>
                </a:extLst>
              </p:cNvPr>
              <p:cNvSpPr txBox="1"/>
              <p:nvPr/>
            </p:nvSpPr>
            <p:spPr>
              <a:xfrm>
                <a:off x="5526188" y="5691180"/>
                <a:ext cx="6096000" cy="9730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E517AE0-DA73-6DFF-629C-FD84C9B93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6188" y="5691180"/>
                <a:ext cx="6096000" cy="973023"/>
              </a:xfrm>
              <a:prstGeom prst="rect">
                <a:avLst/>
              </a:prstGeom>
              <a:blipFill>
                <a:blip r:embed="rId5"/>
                <a:stretch>
                  <a:fillRect b="-13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A6B16DF-CD8C-CF0C-ECF1-727BA9FEAB4F}"/>
              </a:ext>
            </a:extLst>
          </p:cNvPr>
          <p:cNvSpPr txBox="1"/>
          <p:nvPr/>
        </p:nvSpPr>
        <p:spPr>
          <a:xfrm>
            <a:off x="1642148" y="2828687"/>
            <a:ext cx="2895868" cy="1532334"/>
          </a:xfrm>
          <a:prstGeom prst="roundRect">
            <a:avLst/>
          </a:prstGeom>
          <a:solidFill>
            <a:srgbClr val="000000">
              <a:alpha val="89020"/>
            </a:srgb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800" dirty="0"/>
              <a:t>Confounded </a:t>
            </a:r>
            <a:br>
              <a:rPr lang="en-GB" sz="2800" dirty="0"/>
            </a:br>
            <a:r>
              <a:rPr lang="en-GB" sz="2800" dirty="0"/>
              <a:t>and incorrect:</a:t>
            </a:r>
            <a:br>
              <a:rPr lang="en-GB" sz="2800" dirty="0"/>
            </a:br>
            <a:r>
              <a:rPr lang="en-GB" sz="2800" i="1" dirty="0"/>
              <a:t>Trophic cascade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5D9183-3A95-8CD9-5518-6925CAC678FF}"/>
              </a:ext>
            </a:extLst>
          </p:cNvPr>
          <p:cNvSpPr txBox="1"/>
          <p:nvPr/>
        </p:nvSpPr>
        <p:spPr>
          <a:xfrm>
            <a:off x="6879036" y="2828687"/>
            <a:ext cx="3390303" cy="1532334"/>
          </a:xfrm>
          <a:prstGeom prst="roundRect">
            <a:avLst/>
          </a:prstGeom>
          <a:solidFill>
            <a:srgbClr val="000000">
              <a:alpha val="89020"/>
            </a:srgb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800" dirty="0"/>
              <a:t>Unconfounded </a:t>
            </a:r>
            <a:br>
              <a:rPr lang="en-GB" sz="2800" dirty="0"/>
            </a:br>
            <a:r>
              <a:rPr lang="en-GB" sz="2800" dirty="0"/>
              <a:t>and correct:</a:t>
            </a:r>
            <a:br>
              <a:rPr lang="en-GB" sz="2800" dirty="0"/>
            </a:br>
            <a:r>
              <a:rPr lang="en-GB" sz="2800" i="1" dirty="0"/>
              <a:t>No trophic cascade</a:t>
            </a:r>
          </a:p>
        </p:txBody>
      </p:sp>
    </p:spTree>
    <p:extLst>
      <p:ext uri="{BB962C8B-B14F-4D97-AF65-F5344CB8AC3E}">
        <p14:creationId xmlns:p14="http://schemas.microsoft.com/office/powerpoint/2010/main" val="4080013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BCAC8-EE7F-0B67-2C21-CE3402B62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Confounding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B9E1A-7995-1683-94AE-00855EFE4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Confounding is a huge problem in science</a:t>
            </a:r>
          </a:p>
          <a:p>
            <a:r>
              <a:rPr lang="en-GB" dirty="0"/>
              <a:t>Big cause of scientists producing misinformation</a:t>
            </a:r>
          </a:p>
          <a:p>
            <a:pPr lvl="1"/>
            <a:r>
              <a:rPr lang="en-GB" dirty="0"/>
              <a:t>Without knowing they are</a:t>
            </a:r>
          </a:p>
          <a:p>
            <a:r>
              <a:rPr lang="en-GB" dirty="0"/>
              <a:t>Often reason for exciting results</a:t>
            </a:r>
          </a:p>
          <a:p>
            <a:pPr lvl="1"/>
            <a:r>
              <a:rPr lang="en-GB" dirty="0"/>
              <a:t>Which get published in big journals</a:t>
            </a:r>
          </a:p>
          <a:p>
            <a:r>
              <a:rPr lang="en-GB" dirty="0"/>
              <a:t>In the next lecture, we will talk more about confounding</a:t>
            </a:r>
          </a:p>
        </p:txBody>
      </p:sp>
      <p:pic>
        <p:nvPicPr>
          <p:cNvPr id="5" name="Google Shape;65;p14">
            <a:extLst>
              <a:ext uri="{FF2B5EF4-FFF2-40B4-BE49-F238E27FC236}">
                <a16:creationId xmlns:a16="http://schemas.microsoft.com/office/drawing/2014/main" id="{69C08994-5394-059D-D330-31BA828DE4EF}"/>
              </a:ext>
            </a:extLst>
          </p:cNvPr>
          <p:cNvPicPr preferRelativeResize="0">
            <a:picLocks noGrp="1"/>
          </p:cNvPicPr>
          <p:nvPr>
            <p:ph type="pic" sz="quarter" idx="10"/>
          </p:nvPr>
        </p:nvPicPr>
        <p:blipFill>
          <a:blip r:embed="rId2">
            <a:alphaModFix/>
          </a:blip>
          <a:srcRect t="8649" b="8649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3862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CB778-27FE-F11F-3899-530F9B253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 err="1"/>
              <a:t>tl;dr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D8CE4-617E-577E-05F7-6375C1C2B259}"/>
              </a:ext>
            </a:extLst>
          </p:cNvPr>
          <p:cNvSpPr txBox="1">
            <a:spLocks/>
          </p:cNvSpPr>
          <p:nvPr/>
        </p:nvSpPr>
        <p:spPr>
          <a:xfrm>
            <a:off x="0" y="1197864"/>
            <a:ext cx="12011025" cy="54689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 always start with a question</a:t>
            </a:r>
          </a:p>
          <a:p>
            <a:r>
              <a:rPr lang="en-GB" dirty="0"/>
              <a:t>Statistics is merely how we answer the question</a:t>
            </a:r>
          </a:p>
          <a:p>
            <a:r>
              <a:rPr lang="en-GB" dirty="0"/>
              <a:t>Start by plotting your data – get a feel for what’s going on</a:t>
            </a:r>
          </a:p>
          <a:p>
            <a:pPr lvl="1"/>
            <a:r>
              <a:rPr lang="en-GB" dirty="0">
                <a:cs typeface="Courier New" panose="02070309020205020404" pitchFamily="49" charset="0"/>
              </a:rPr>
              <a:t>Also </a:t>
            </a:r>
            <a:r>
              <a:rPr lang="en-GB" i="1" u="sng" dirty="0">
                <a:cs typeface="Courier New" panose="02070309020205020404" pitchFamily="49" charset="0"/>
              </a:rPr>
              <a:t>really</a:t>
            </a:r>
            <a:r>
              <a:rPr lang="en-GB" dirty="0">
                <a:cs typeface="Courier New" panose="02070309020205020404" pitchFamily="49" charset="0"/>
              </a:rPr>
              <a:t> useful to draw your data generating process</a:t>
            </a:r>
            <a:endParaRPr lang="en-GB" dirty="0"/>
          </a:p>
          <a:p>
            <a:r>
              <a:rPr lang="en-GB" dirty="0"/>
              <a:t>Run your model, including variables you think are appropriate</a:t>
            </a:r>
          </a:p>
          <a:p>
            <a:pPr lvl="1"/>
            <a:r>
              <a:rPr lang="en-GB" dirty="0"/>
              <a:t>Appreciate the underlying theory</a:t>
            </a:r>
          </a:p>
          <a:p>
            <a:r>
              <a:rPr lang="en-GB" dirty="0"/>
              <a:t>Interpret what those parameter values mean biologically</a:t>
            </a:r>
          </a:p>
          <a:p>
            <a:r>
              <a:rPr lang="en-GB" dirty="0"/>
              <a:t>Be cautious of confounding (more in next lecture)</a:t>
            </a:r>
          </a:p>
          <a:p>
            <a:pPr lvl="1"/>
            <a:r>
              <a:rPr lang="en-GB" dirty="0"/>
              <a:t>Be aware, running a model with only one variable does not protect you against confounding nor does running one with multiple variables</a:t>
            </a:r>
          </a:p>
          <a:p>
            <a:r>
              <a:rPr lang="en-GB" dirty="0"/>
              <a:t>See here: </a:t>
            </a:r>
            <a:r>
              <a:rPr lang="en-GB" dirty="0">
                <a:hlinkClick r:id="rId2"/>
              </a:rPr>
              <a:t>https://www.nps.gov/articles/the-big-scientific-debate-trophic-cascades.htm</a:t>
            </a:r>
            <a:r>
              <a:rPr lang="en-GB" dirty="0"/>
              <a:t> for discussion of Yellowstone results</a:t>
            </a:r>
          </a:p>
        </p:txBody>
      </p:sp>
    </p:spTree>
    <p:extLst>
      <p:ext uri="{BB962C8B-B14F-4D97-AF65-F5344CB8AC3E}">
        <p14:creationId xmlns:p14="http://schemas.microsoft.com/office/powerpoint/2010/main" val="3221499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762</TotalTime>
  <Words>1304</Words>
  <Application>Microsoft Office PowerPoint</Application>
  <PresentationFormat>Widescreen</PresentationFormat>
  <Paragraphs>201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Arial</vt:lpstr>
      <vt:lpstr>Bahnschrift Light</vt:lpstr>
      <vt:lpstr>Cambria Math</vt:lpstr>
      <vt:lpstr>Courier New</vt:lpstr>
      <vt:lpstr>sbs_template</vt:lpstr>
      <vt:lpstr>Linear modelling theory</vt:lpstr>
      <vt:lpstr>Complexity of the real world</vt:lpstr>
      <vt:lpstr>Complexity of the real world</vt:lpstr>
      <vt:lpstr>Complexity of the real world</vt:lpstr>
      <vt:lpstr>How do we capture the Data Generating Process?</vt:lpstr>
      <vt:lpstr>Multiple variables in R</vt:lpstr>
      <vt:lpstr>The question</vt:lpstr>
      <vt:lpstr>Trophic cascades</vt:lpstr>
      <vt:lpstr>The question</vt:lpstr>
      <vt:lpstr>PowerPoint Presentation</vt:lpstr>
      <vt:lpstr>Test hypothesis with lm()</vt:lpstr>
      <vt:lpstr>Complex worlds</vt:lpstr>
      <vt:lpstr>Incorporate complexity</vt:lpstr>
      <vt:lpstr>PowerPoint Presentation</vt:lpstr>
      <vt:lpstr>PowerPoint Presentation</vt:lpstr>
      <vt:lpstr>Including additional explanatory variables</vt:lpstr>
      <vt:lpstr>μ_i=β_0+β_1 W_i+β_2 S_i </vt:lpstr>
      <vt:lpstr>B_i∼Normal(μ_i, σ) μ_i=β_0+β_1 W_i+β_2 S_i</vt:lpstr>
      <vt:lpstr>What do our parameters mean?</vt:lpstr>
      <vt:lpstr>Test trophic cascade with lm()</vt:lpstr>
      <vt:lpstr>Predicting</vt:lpstr>
      <vt:lpstr>Including even more variables</vt:lpstr>
      <vt:lpstr>What do we learn from the new model?</vt:lpstr>
      <vt:lpstr>What happened to our trophic cascade?</vt:lpstr>
      <vt:lpstr>Our representation of the system was wrong</vt:lpstr>
      <vt:lpstr>What happened to our trophic cascade?</vt:lpstr>
      <vt:lpstr>Confounding</vt:lpstr>
      <vt:lpstr>tl;dr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10</cp:revision>
  <dcterms:created xsi:type="dcterms:W3CDTF">2024-07-25T08:53:58Z</dcterms:created>
  <dcterms:modified xsi:type="dcterms:W3CDTF">2024-07-26T14:55:45Z</dcterms:modified>
</cp:coreProperties>
</file>